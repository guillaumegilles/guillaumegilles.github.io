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3" r:id="rId5"/>
    <p:sldId id="259" r:id="rId6"/>
    <p:sldId id="262" r:id="rId7"/>
    <p:sldId id="264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0CBF8-D1D8-4922-A968-E90E226146FA}" v="16" dt="2021-10-14T14:36:49.848"/>
    <p1510:client id="{4ABD2275-C5F7-41A4-8E89-05497293A01B}" v="298" dt="2021-10-15T12:54:04.799"/>
    <p1510:client id="{9DB9D0F6-702B-4124-8092-98911D29BF5A}" v="261" dt="2021-10-15T11:29:48.807"/>
    <p1510:client id="{A485481B-7CFB-49EC-B580-AB3492269FCD}" v="352" dt="2021-10-14T16:19:40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7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température matinale (i.e. mesurée entre 7h et 7h 30) sur 200 jours choisis au hasard parmi les périodes d’hiver observées durant 20 dernières années. </a:t>
            </a: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de variation </a:t>
            </a: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interquartile relatif 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Température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Fréquence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/>
              <a:t>Exercice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2199" t="-8333" r="-2837" b="-6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4590182" y="1683109"/>
                <a:ext cx="8116167" cy="3936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×40+0×34+2 ×86+3 ×20+7×20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fr-FR" dirty="0"/>
              </a:p>
              <a:p>
                <a:r>
                  <a:rPr lang="fr-FR" dirty="0"/>
                  <a:t>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=−1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×0.2+0×0.17+2×0.43+3×0.1+7×0.1</m:t>
                    </m:r>
                  </m:oMath>
                </a14:m>
                <a:endParaRPr lang="fr-FR" dirty="0"/>
              </a:p>
              <a:p>
                <a:r>
                  <a:rPr lang="fr-FR" dirty="0"/>
                  <a:t> 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=1.66</m:t>
                    </m:r>
                  </m:oMath>
                </a14:m>
                <a:endParaRPr lang="fr-FR" dirty="0"/>
              </a:p>
              <a:p>
                <a:endParaRPr lang="fr-FR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(−1)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×40+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×34+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×86+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×20</m:t>
                              </m:r>
                              <m:r>
                                <a:rPr lang="fr-FR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×20</m:t>
                              </m:r>
                            </m:num>
                            <m:den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200</m:t>
                              </m:r>
                            </m:den>
                          </m:f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sSup>
                            <m:s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1.66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600" dirty="0"/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0.17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0.43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0.1) −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1.66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600" dirty="0"/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i="1">
                          <a:latin typeface="Cambria Math" panose="02040503050406030204" pitchFamily="18" charset="0"/>
                        </a:rPr>
                        <m:t>=2.228093</m:t>
                      </m:r>
                    </m:oMath>
                  </m:oMathPara>
                </a14:m>
                <a:endParaRPr lang="fr-FR" sz="1600" dirty="0"/>
              </a:p>
              <a:p>
                <a:pPr lvl="1"/>
                <a:endParaRPr lang="fr-FR" sz="16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×100=134.2225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%&gt;15%</m:t>
                      </m:r>
                    </m:oMath>
                  </m:oMathPara>
                </a14:m>
                <a:endParaRPr lang="fr-FR" sz="1600" dirty="0"/>
              </a:p>
            </p:txBody>
          </p:sp>
        </mc:Choice>
        <mc:Fallback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182" y="1683109"/>
                <a:ext cx="8116167" cy="39365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/>
              <a:t>Exercice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5533158" y="2060554"/>
                <a:ext cx="6096868" cy="2157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𝑑𝑖𝑎𝑛𝑒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=100%&gt;15%</m:t>
                    </m:r>
                  </m:oMath>
                </a14:m>
                <a:r>
                  <a:rPr lang="fr-FR" i="1" dirty="0">
                    <a:latin typeface="Cambria Math" panose="02040503050406030204" pitchFamily="18" charset="0"/>
                  </a:rPr>
                  <a:t> </a:t>
                </a:r>
              </a:p>
              <a:p>
                <a:pPr/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:endParaRPr lang="fr-FR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158" y="2060554"/>
                <a:ext cx="6096868" cy="21577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C960491C-B5FD-4D83-9566-AD3C9234B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262639"/>
                  </p:ext>
                </p:extLst>
              </p:nvPr>
            </p:nvGraphicFramePr>
            <p:xfrm>
              <a:off x="152400" y="1840229"/>
              <a:ext cx="4610100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63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73822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98099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747545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2330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56174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C960491C-B5FD-4D83-9566-AD3C9234B2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0262639"/>
                  </p:ext>
                </p:extLst>
              </p:nvPr>
            </p:nvGraphicFramePr>
            <p:xfrm>
              <a:off x="152400" y="1840229"/>
              <a:ext cx="4610100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63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573822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98099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747545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385496" t="-4762" r="-96947" b="-35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3"/>
                          <a:stretch>
                            <a:fillRect l="-517073" t="-4762" r="-3252" b="-35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67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vitesse matinale (i.e. mesurée (en Km/h) entre 7h et 7h 30) du vent sur 240 jours choisis au hasard parmi les périodes d’hiver observées durant 20 dernières années. </a:t>
            </a:r>
          </a:p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de variation </a:t>
            </a:r>
          </a:p>
          <a:p>
            <a:pPr marL="285750" indent="-285750">
              <a:buFontTx/>
              <a:buChar char="-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le coefficient interquartile relatif </a:t>
            </a:r>
            <a:endParaRPr lang="fr-FR" sz="1600" dirty="0"/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53735"/>
              </p:ext>
            </p:extLst>
          </p:nvPr>
        </p:nvGraphicFramePr>
        <p:xfrm>
          <a:off x="5103283" y="3093244"/>
          <a:ext cx="36120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Vitesse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/>
              <a:t>Exercice 2 - 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3946117"/>
                  </p:ext>
                </p:extLst>
              </p:nvPr>
            </p:nvGraphicFramePr>
            <p:xfrm>
              <a:off x="236131" y="2776766"/>
              <a:ext cx="32309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3946117"/>
                  </p:ext>
                </p:extLst>
              </p:nvPr>
            </p:nvGraphicFramePr>
            <p:xfrm>
              <a:off x="236131" y="2776766"/>
              <a:ext cx="32309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05645" t="-6098" r="-126613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47712" t="-6098" r="-2614" b="-5939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/>
              <p:nvPr/>
            </p:nvSpPr>
            <p:spPr>
              <a:xfrm>
                <a:off x="4150906" y="2676139"/>
                <a:ext cx="6881038" cy="3845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×42+20×48+50×90+85×24+125×36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240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=50.875</m:t>
                      </m:r>
                    </m:oMath>
                  </m:oMathPara>
                </a14:m>
                <a:endParaRPr lang="fr-FR" dirty="0"/>
              </a:p>
              <a:p>
                <a:pPr/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×4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×4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50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90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fr-FR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85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×2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fr-FR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125</m:t>
                                  </m:r>
                                </m:e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36</m:t>
                              </m:r>
                            </m:num>
                            <m:den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sSup>
                            <m:s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50.875</m:t>
                                  </m:r>
                                  <m:r>
                                    <m:rPr>
                                      <m:nor/>
                                    </m:rPr>
                                    <a:rPr lang="fr-FR" sz="1600" dirty="0"/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175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50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75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85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125</m:t>
                              </m:r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−</m:t>
                          </m:r>
                          <m:sSup>
                            <m:sSup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50.875</m:t>
                                  </m:r>
                                </m:e>
                              </m:d>
                            </m:e>
                            <m:sup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 lvl="1"/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i="1">
                        <a:latin typeface="Cambria Math" panose="02040503050406030204" pitchFamily="18" charset="0"/>
                      </a:rPr>
                      <m:t>38.72802</m:t>
                    </m:r>
                  </m:oMath>
                </a14:m>
                <a:r>
                  <a:rPr lang="fr-FR" sz="1600" dirty="0"/>
                  <a:t> </a:t>
                </a:r>
              </a:p>
              <a:p>
                <a:pPr lvl="1"/>
                <a:endParaRPr lang="fr-FR" sz="16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×100=</m:t>
                      </m:r>
                      <m:r>
                        <a:rPr lang="fr-F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76.12387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%&gt;15%</m:t>
                      </m:r>
                    </m:oMath>
                  </m:oMathPara>
                </a14:m>
                <a:endParaRPr lang="fr-FR" sz="1600" dirty="0"/>
              </a:p>
              <a:p>
                <a:pPr/>
                <a:endParaRPr lang="fr-FR" dirty="0"/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906" y="2676139"/>
                <a:ext cx="6881038" cy="3845092"/>
              </a:xfrm>
              <a:prstGeom prst="rect">
                <a:avLst/>
              </a:prstGeom>
              <a:blipFill>
                <a:blip r:embed="rId3"/>
                <a:stretch>
                  <a:fillRect r="-90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/>
              <a:t>Exercice 2 - Solution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4416" y="2716244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7892771"/>
                  </p:ext>
                </p:extLst>
              </p:nvPr>
            </p:nvGraphicFramePr>
            <p:xfrm>
              <a:off x="554416" y="2716244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134197" t="-6250" r="-101554" b="-60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235417" t="-6250" r="-2083" b="-60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/>
              <p:nvPr/>
            </p:nvSpPr>
            <p:spPr>
              <a:xfrm>
                <a:off x="5638800" y="2971800"/>
                <a:ext cx="4960332" cy="1788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17.5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43.33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fr-FR" dirty="0"/>
              </a:p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𝐼𝑄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121.1632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%&gt;15%</m:t>
                    </m:r>
                  </m:oMath>
                </a14:m>
                <a:r>
                  <a:rPr lang="fr-FR" i="1" dirty="0">
                    <a:latin typeface="Cambria Math" panose="02040503050406030204" pitchFamily="18" charset="0"/>
                  </a:rPr>
                  <a:t> </a:t>
                </a:r>
              </a:p>
              <a:p>
                <a:pPr/>
                <a:endParaRPr lang="fr-FR" dirty="0"/>
              </a:p>
              <a:p>
                <a:endParaRPr lang="fr-FR" dirty="0"/>
              </a:p>
            </p:txBody>
          </p:sp>
        </mc:Choice>
        <mc:Fallback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971800"/>
                <a:ext cx="4960332" cy="1788438"/>
              </a:xfrm>
              <a:prstGeom prst="rect">
                <a:avLst/>
              </a:prstGeom>
              <a:blipFill>
                <a:blip r:embed="rId3"/>
                <a:stretch>
                  <a:fillRect l="-15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7615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454</Words>
  <Application>Microsoft Office PowerPoint</Application>
  <PresentationFormat>Grand écran</PresentationFormat>
  <Paragraphs>181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Exercice 1</vt:lpstr>
      <vt:lpstr>Exercice 1 - Solution</vt:lpstr>
      <vt:lpstr>Exercice 1 - Solution</vt:lpstr>
      <vt:lpstr>Exercice 2</vt:lpstr>
      <vt:lpstr>Exercice 2 - Solution</vt:lpstr>
      <vt:lpstr>Exercice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2021-10-15T12:54:31Z</dcterms:modified>
</cp:coreProperties>
</file>