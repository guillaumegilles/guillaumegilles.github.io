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16" r:id="rId6"/>
    <p:sldId id="317" r:id="rId7"/>
    <p:sldId id="318" r:id="rId8"/>
    <p:sldId id="319" r:id="rId9"/>
    <p:sldId id="320" r:id="rId10"/>
    <p:sldId id="321" r:id="rId11"/>
    <p:sldId id="322" r:id="rId12"/>
    <p:sldId id="323" r:id="rId13"/>
    <p:sldId id="324" r:id="rId14"/>
    <p:sldId id="325" r:id="rId15"/>
    <p:sldId id="326" r:id="rId16"/>
    <p:sldId id="327" r:id="rId17"/>
    <p:sldId id="328" r:id="rId18"/>
    <p:sldId id="329"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02/02/2021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02/02/2021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Séance 8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319FEE-4859-44AC-B8F4-C60BFFD5E60C}"/>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Les indicateurs de forme</a:t>
            </a:r>
            <a:endParaRPr lang="fr-FR" dirty="0"/>
          </a:p>
        </p:txBody>
      </p:sp>
      <p:sp>
        <p:nvSpPr>
          <p:cNvPr id="3" name="Espace réservé du contenu 2">
            <a:extLst>
              <a:ext uri="{FF2B5EF4-FFF2-40B4-BE49-F238E27FC236}">
                <a16:creationId xmlns:a16="http://schemas.microsoft.com/office/drawing/2014/main" id="{91C66DD1-318B-4FCB-89C4-573006772987}"/>
              </a:ext>
            </a:extLst>
          </p:cNvPr>
          <p:cNvSpPr>
            <a:spLocks noGrp="1"/>
          </p:cNvSpPr>
          <p:nvPr>
            <p:ph idx="1"/>
          </p:nvPr>
        </p:nvSpPr>
        <p:spPr>
          <a:xfrm>
            <a:off x="0" y="1166018"/>
            <a:ext cx="9144000" cy="4525963"/>
          </a:xfrm>
        </p:spPr>
        <p:txBody>
          <a:bodyPr>
            <a:normAutofit fontScale="92500"/>
          </a:bodyPr>
          <a:lstStyle/>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Un indicateur numérique est dit de dispersion s’il s’agit d’un nombre clé permettent de caractériser la répartition des observations d’une série statistique autour d’une valeur centrale (en particulier, la moyenne et la médiane). </a:t>
            </a: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Dans ce cours, nous allons nous concentrer sur les coefficients d’asymétrie</a:t>
            </a:r>
          </a:p>
          <a:p>
            <a:pPr marL="0" indent="0">
              <a:buNone/>
            </a:pPr>
            <a:r>
              <a:rPr lang="fr-FR" sz="2400" dirty="0">
                <a:latin typeface="Cambria" panose="02040503050406030204" pitchFamily="18" charset="0"/>
                <a:ea typeface="Cambria" panose="02040503050406030204" pitchFamily="18" charset="0"/>
              </a:rPr>
              <a:t>Explicitement, nous allons étudier les indicateurs suivants :</a:t>
            </a:r>
          </a:p>
          <a:p>
            <a:pPr marL="0" indent="0">
              <a:buNone/>
            </a:pPr>
            <a:endParaRPr lang="fr-FR" sz="24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2400" dirty="0">
                <a:latin typeface="Cambria" panose="02040503050406030204" pitchFamily="18" charset="0"/>
                <a:ea typeface="Cambria" panose="02040503050406030204" pitchFamily="18" charset="0"/>
              </a:rPr>
              <a:t>Le coefficient de Pearson</a:t>
            </a:r>
          </a:p>
          <a:p>
            <a:pPr>
              <a:buFont typeface="Wingdings" panose="05000000000000000000" pitchFamily="2" charset="2"/>
              <a:buChar char="q"/>
            </a:pPr>
            <a:r>
              <a:rPr lang="fr-FR" sz="2400" dirty="0">
                <a:latin typeface="Cambria" panose="02040503050406030204" pitchFamily="18" charset="0"/>
                <a:ea typeface="Cambria" panose="02040503050406030204" pitchFamily="18" charset="0"/>
              </a:rPr>
              <a:t>Le coefficient de Yule et Kendall</a:t>
            </a:r>
          </a:p>
        </p:txBody>
      </p:sp>
      <p:sp>
        <p:nvSpPr>
          <p:cNvPr id="4" name="Bulle narrative : ronde 3">
            <a:extLst>
              <a:ext uri="{FF2B5EF4-FFF2-40B4-BE49-F238E27FC236}">
                <a16:creationId xmlns:a16="http://schemas.microsoft.com/office/drawing/2014/main" id="{69D084A7-4459-4A72-A946-2477CC8D2B0F}"/>
              </a:ext>
            </a:extLst>
          </p:cNvPr>
          <p:cNvSpPr/>
          <p:nvPr/>
        </p:nvSpPr>
        <p:spPr>
          <a:xfrm>
            <a:off x="5724128" y="4981242"/>
            <a:ext cx="3096344" cy="1008112"/>
          </a:xfrm>
          <a:prstGeom prst="wedgeEllipseCallout">
            <a:avLst>
              <a:gd name="adj1" fmla="val -99276"/>
              <a:gd name="adj2" fmla="val -55605"/>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E550BC2-C7A2-4DA3-97F1-4930C0DB2312}"/>
              </a:ext>
            </a:extLst>
          </p:cNvPr>
          <p:cNvSpPr txBox="1"/>
          <p:nvPr/>
        </p:nvSpPr>
        <p:spPr>
          <a:xfrm>
            <a:off x="6336196" y="5185216"/>
            <a:ext cx="1872208" cy="600164"/>
          </a:xfrm>
          <a:prstGeom prst="rect">
            <a:avLst/>
          </a:prstGeom>
          <a:noFill/>
        </p:spPr>
        <p:txBody>
          <a:bodyPr wrap="square" rtlCol="0">
            <a:spAutoFit/>
          </a:bodyPr>
          <a:lstStyle/>
          <a:p>
            <a:r>
              <a:rPr lang="fr-FR" sz="1100" dirty="0">
                <a:latin typeface="Cambria" panose="02040503050406030204" pitchFamily="18" charset="0"/>
                <a:ea typeface="Cambria" panose="02040503050406030204" pitchFamily="18" charset="0"/>
              </a:rPr>
              <a:t>Indicateurs associés aux données d’une variable quantitative uniquement</a:t>
            </a:r>
          </a:p>
        </p:txBody>
      </p:sp>
    </p:spTree>
    <p:extLst>
      <p:ext uri="{BB962C8B-B14F-4D97-AF65-F5344CB8AC3E}">
        <p14:creationId xmlns:p14="http://schemas.microsoft.com/office/powerpoint/2010/main" val="233475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C387E-2F2E-4F1B-9F66-09F48FBB0003}"/>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Les indicateurs d’asymétrie –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Le coefficient de Pearson</a:t>
            </a:r>
            <a:endParaRPr lang="fr-FR"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BE02A17-E83C-48A9-867B-C76F11D5BD39}"/>
                  </a:ext>
                </a:extLst>
              </p:cNvPr>
              <p:cNvSpPr>
                <a:spLocks noGrp="1"/>
              </p:cNvSpPr>
              <p:nvPr>
                <p:ph idx="1"/>
              </p:nvPr>
            </p:nvSpPr>
            <p:spPr/>
            <p:txBody>
              <a:bodyPr>
                <a:normAutofit fontScale="92500" lnSpcReduction="10000"/>
              </a:bodyPr>
              <a:lstStyle/>
              <a:p>
                <a:pPr marL="0" indent="0">
                  <a:buNone/>
                </a:pPr>
                <a:r>
                  <a:rPr lang="fr-FR" sz="2200" dirty="0">
                    <a:latin typeface="Cambria" panose="02040503050406030204" pitchFamily="18" charset="0"/>
                    <a:ea typeface="Cambria" panose="02040503050406030204" pitchFamily="18" charset="0"/>
                  </a:rPr>
                  <a:t>Le coefficient de Pearson est défini par :</a:t>
                </a:r>
              </a:p>
              <a:p>
                <a:pPr marL="0" indent="0">
                  <a:buNone/>
                </a:pPr>
                <a:endParaRPr lang="fr-FR" sz="3000" dirty="0">
                  <a:latin typeface="Cambria" panose="02040503050406030204" pitchFamily="18" charset="0"/>
                  <a:ea typeface="Cambria"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rPr>
                        <m:t>𝑆</m:t>
                      </m:r>
                      <m:r>
                        <a:rPr lang="fr-FR" b="0" i="1" smtClean="0">
                          <a:solidFill>
                            <a:srgbClr val="FF0000"/>
                          </a:solidFill>
                          <a:latin typeface="Cambria Math" panose="02040503050406030204" pitchFamily="18" charset="0"/>
                        </a:rPr>
                        <m:t>= </m:t>
                      </m:r>
                      <m:f>
                        <m:fPr>
                          <m:ctrlPr>
                            <a:rPr lang="fr-FR" b="0" i="1" smtClean="0">
                              <a:solidFill>
                                <a:srgbClr val="FF0000"/>
                              </a:solidFill>
                              <a:latin typeface="Cambria Math" panose="02040503050406030204" pitchFamily="18" charset="0"/>
                            </a:rPr>
                          </m:ctrlPr>
                        </m:fPr>
                        <m:num>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𝑀𝑜𝑦𝑒𝑛𝑛𝑒</m:t>
                          </m:r>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𝑀𝑜𝑑𝑒</m:t>
                          </m:r>
                          <m:r>
                            <a:rPr lang="fr-FR" b="0" i="1" smtClean="0">
                              <a:solidFill>
                                <a:srgbClr val="FF0000"/>
                              </a:solidFill>
                              <a:latin typeface="Cambria Math" panose="02040503050406030204" pitchFamily="18" charset="0"/>
                            </a:rPr>
                            <m:t>)</m:t>
                          </m:r>
                        </m:num>
                        <m:den>
                          <m:r>
                            <a:rPr lang="fr-FR" b="0" i="1" smtClean="0">
                              <a:solidFill>
                                <a:srgbClr val="FF0000"/>
                              </a:solidFill>
                              <a:latin typeface="Cambria Math" panose="02040503050406030204" pitchFamily="18" charset="0"/>
                            </a:rPr>
                            <m:t>é</m:t>
                          </m:r>
                          <m:r>
                            <a:rPr lang="fr-FR" b="0" i="1" smtClean="0">
                              <a:solidFill>
                                <a:srgbClr val="FF0000"/>
                              </a:solidFill>
                              <a:latin typeface="Cambria Math" panose="02040503050406030204" pitchFamily="18" charset="0"/>
                            </a:rPr>
                            <m:t>𝑐𝑎𝑟𝑡</m:t>
                          </m:r>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𝑡𝑦𝑝𝑒</m:t>
                          </m:r>
                        </m:den>
                      </m:f>
                      <m:r>
                        <a:rPr lang="fr-FR" b="0" i="1" smtClean="0">
                          <a:solidFill>
                            <a:srgbClr val="FF0000"/>
                          </a:solidFill>
                          <a:latin typeface="Cambria Math" panose="02040503050406030204" pitchFamily="18" charset="0"/>
                        </a:rPr>
                        <m:t>= </m:t>
                      </m:r>
                      <m:f>
                        <m:fPr>
                          <m:ctrlPr>
                            <a:rPr lang="fr-FR" b="0" i="1" smtClean="0">
                              <a:solidFill>
                                <a:srgbClr val="FF0000"/>
                              </a:solidFill>
                              <a:latin typeface="Cambria Math" panose="02040503050406030204" pitchFamily="18" charset="0"/>
                            </a:rPr>
                          </m:ctrlPr>
                        </m:fPr>
                        <m:num>
                          <m:d>
                            <m:dPr>
                              <m:ctrlPr>
                                <a:rPr lang="fr-FR" b="0" i="1" smtClean="0">
                                  <a:solidFill>
                                    <a:srgbClr val="FF0000"/>
                                  </a:solidFill>
                                  <a:latin typeface="Cambria Math" panose="02040503050406030204" pitchFamily="18" charset="0"/>
                                </a:rPr>
                              </m:ctrlPr>
                            </m:dPr>
                            <m:e>
                              <m:acc>
                                <m:accPr>
                                  <m:chr m:val="̅"/>
                                  <m:ctrlPr>
                                    <a:rPr lang="fr-FR" b="0"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𝑀𝑜𝑑𝑒</m:t>
                              </m:r>
                            </m:e>
                          </m:d>
                        </m:num>
                        <m:den>
                          <m:r>
                            <a:rPr lang="fr-FR" b="0" i="1" smtClean="0">
                              <a:solidFill>
                                <a:srgbClr val="FF0000"/>
                              </a:solidFill>
                              <a:latin typeface="Cambria Math" panose="02040503050406030204" pitchFamily="18" charset="0"/>
                            </a:rPr>
                            <m:t>𝑠</m:t>
                          </m:r>
                        </m:den>
                      </m:f>
                    </m:oMath>
                  </m:oMathPara>
                </a14:m>
                <a:endParaRPr lang="fr-FR" dirty="0">
                  <a:solidFill>
                    <a:srgbClr val="FF0000"/>
                  </a:solidFill>
                </a:endParaRPr>
              </a:p>
              <a:p>
                <a:pPr marL="0" indent="0" algn="ctr">
                  <a:buNone/>
                </a:pPr>
                <a:endParaRPr lang="fr-FR" dirty="0">
                  <a:solidFill>
                    <a:srgbClr val="FF0000"/>
                  </a:solidFill>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S = 0 </a:t>
                </a:r>
                <a:r>
                  <a:rPr lang="fr-FR" sz="1800" dirty="0">
                    <a:latin typeface="Cambria" panose="02040503050406030204" pitchFamily="18" charset="0"/>
                    <a:ea typeface="Cambria" panose="02040503050406030204" pitchFamily="18" charset="0"/>
                  </a:rPr>
                  <a:t>implique que les observations se répartissent de manière uniforme /symétrique (autour de la moyenne)</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S &gt; 0 </a:t>
                </a:r>
                <a:r>
                  <a:rPr lang="fr-FR" sz="1800" dirty="0">
                    <a:latin typeface="Cambria" panose="02040503050406030204" pitchFamily="18" charset="0"/>
                    <a:ea typeface="Cambria" panose="02040503050406030204" pitchFamily="18" charset="0"/>
                  </a:rPr>
                  <a:t>implique que la répartition des données est étalée à droite (de la moyenne) </a:t>
                </a:r>
              </a:p>
              <a:p>
                <a:pPr marL="0" indent="0">
                  <a:buNone/>
                </a:pPr>
                <a:r>
                  <a:rPr lang="fr-FR" sz="1800" dirty="0">
                    <a:latin typeface="Cambria" panose="02040503050406030204" pitchFamily="18" charset="0"/>
                    <a:ea typeface="Cambria" panose="02040503050406030204" pitchFamily="18" charset="0"/>
                    <a:sym typeface="Wingdings" panose="05000000000000000000" pitchFamily="2" charset="2"/>
                  </a:rPr>
                  <a:t>        les observations / modalités inférieures (à la moyenne) possèdent plus de poids  </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S &lt; 0 </a:t>
                </a:r>
                <a:r>
                  <a:rPr lang="fr-FR" sz="1800" dirty="0">
                    <a:latin typeface="Cambria" panose="02040503050406030204" pitchFamily="18" charset="0"/>
                    <a:ea typeface="Cambria" panose="02040503050406030204" pitchFamily="18" charset="0"/>
                  </a:rPr>
                  <a:t>implique que la répartition des données est étalée à gauche (de la moyenne) </a:t>
                </a:r>
                <a:r>
                  <a:rPr lang="fr-FR" sz="1800" dirty="0">
                    <a:latin typeface="Cambria" panose="02040503050406030204" pitchFamily="18" charset="0"/>
                    <a:ea typeface="Cambria" panose="02040503050406030204" pitchFamily="18" charset="0"/>
                    <a:sym typeface="Wingdings" panose="05000000000000000000" pitchFamily="2" charset="2"/>
                  </a:rPr>
                  <a:t> les observations / modalités supérieures (à la moyenne) possèdent plus de poids </a:t>
                </a:r>
                <a:endParaRPr lang="fr-FR" sz="18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EBE02A17-E83C-48A9-867B-C76F11D5BD39}"/>
                  </a:ext>
                </a:extLst>
              </p:cNvPr>
              <p:cNvSpPr>
                <a:spLocks noGrp="1" noRot="1" noChangeAspect="1" noMove="1" noResize="1" noEditPoints="1" noAdjustHandles="1" noChangeArrowheads="1" noChangeShapeType="1" noTextEdit="1"/>
              </p:cNvSpPr>
              <p:nvPr>
                <p:ph idx="1"/>
              </p:nvPr>
            </p:nvSpPr>
            <p:spPr>
              <a:blipFill>
                <a:blip r:embed="rId2"/>
                <a:stretch>
                  <a:fillRect l="-741" t="-1482" r="-593" b="-809"/>
                </a:stretch>
              </a:blipFill>
            </p:spPr>
            <p:txBody>
              <a:bodyPr/>
              <a:lstStyle/>
              <a:p>
                <a:r>
                  <a:rPr lang="fr-FR">
                    <a:noFill/>
                  </a:rPr>
                  <a:t> </a:t>
                </a:r>
              </a:p>
            </p:txBody>
          </p:sp>
        </mc:Fallback>
      </mc:AlternateContent>
    </p:spTree>
    <p:extLst>
      <p:ext uri="{BB962C8B-B14F-4D97-AF65-F5344CB8AC3E}">
        <p14:creationId xmlns:p14="http://schemas.microsoft.com/office/powerpoint/2010/main" val="3377541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D7C387E-2F2E-4F1B-9F66-09F48FBB0003}"/>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Les indicateurs d’asymétrie – </a:t>
            </a:r>
            <a:br>
              <a:rPr lang="fr-FR" dirty="0">
                <a:latin typeface="Cambria" panose="02040503050406030204" pitchFamily="18" charset="0"/>
                <a:ea typeface="Cambria" panose="02040503050406030204" pitchFamily="18" charset="0"/>
              </a:rPr>
            </a:br>
            <a:r>
              <a:rPr lang="fr-FR" dirty="0">
                <a:latin typeface="Cambria" panose="02040503050406030204" pitchFamily="18" charset="0"/>
                <a:ea typeface="Cambria" panose="02040503050406030204" pitchFamily="18" charset="0"/>
              </a:rPr>
              <a:t>Le coefficient de Yule et Kendall</a:t>
            </a:r>
            <a:endParaRPr lang="fr-FR"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EBE02A17-E83C-48A9-867B-C76F11D5BD39}"/>
                  </a:ext>
                </a:extLst>
              </p:cNvPr>
              <p:cNvSpPr>
                <a:spLocks noGrp="1"/>
              </p:cNvSpPr>
              <p:nvPr>
                <p:ph idx="1"/>
              </p:nvPr>
            </p:nvSpPr>
            <p:spPr/>
            <p:txBody>
              <a:bodyPr>
                <a:normAutofit fontScale="92500" lnSpcReduction="10000"/>
              </a:bodyPr>
              <a:lstStyle/>
              <a:p>
                <a:pPr marL="0" indent="0">
                  <a:buNone/>
                </a:pPr>
                <a:r>
                  <a:rPr lang="fr-FR" sz="2200" dirty="0">
                    <a:latin typeface="Cambria" panose="02040503050406030204" pitchFamily="18" charset="0"/>
                    <a:ea typeface="Cambria" panose="02040503050406030204" pitchFamily="18" charset="0"/>
                  </a:rPr>
                  <a:t>Le coefficient de Yule et Kendall est défini par :</a:t>
                </a:r>
              </a:p>
              <a:p>
                <a:pPr marL="0" indent="0">
                  <a:buNone/>
                </a:pPr>
                <a:endParaRPr lang="fr-FR" dirty="0">
                  <a:latin typeface="Cambria" panose="02040503050406030204" pitchFamily="18" charset="0"/>
                  <a:ea typeface="Cambria"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fr-FR" b="0"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 </m:t>
                      </m:r>
                      <m:f>
                        <m:fPr>
                          <m:ctrlPr>
                            <a:rPr lang="fr-FR" b="0" i="1" smtClean="0">
                              <a:solidFill>
                                <a:srgbClr val="FF0000"/>
                              </a:solidFill>
                              <a:latin typeface="Cambria Math" panose="02040503050406030204" pitchFamily="18" charset="0"/>
                            </a:rPr>
                          </m:ctrlPr>
                        </m:fPr>
                        <m:num>
                          <m:d>
                            <m:dPr>
                              <m:ctrlPr>
                                <a:rPr lang="fr-FR" b="0" i="1" smtClean="0">
                                  <a:solidFill>
                                    <a:srgbClr val="FF0000"/>
                                  </a:solidFill>
                                  <a:latin typeface="Cambria Math" panose="02040503050406030204" pitchFamily="18" charset="0"/>
                                </a:rPr>
                              </m:ctrlPr>
                            </m:dPr>
                            <m:e>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𝑞</m:t>
                                  </m:r>
                                </m:e>
                                <m:sub>
                                  <m:r>
                                    <a:rPr lang="fr-FR" b="0" i="1" smtClean="0">
                                      <a:solidFill>
                                        <a:srgbClr val="FF0000"/>
                                      </a:solidFill>
                                      <a:latin typeface="Cambria Math" panose="02040503050406030204" pitchFamily="18" charset="0"/>
                                    </a:rPr>
                                    <m:t>3</m:t>
                                  </m:r>
                                </m:sub>
                              </m:sSub>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𝑀</m:t>
                              </m:r>
                              <m:r>
                                <a:rPr lang="fr-FR" b="0" i="1" smtClean="0">
                                  <a:solidFill>
                                    <a:srgbClr val="FF0000"/>
                                  </a:solidFill>
                                  <a:latin typeface="Cambria Math" panose="02040503050406030204" pitchFamily="18" charset="0"/>
                                </a:rPr>
                                <m:t>é</m:t>
                              </m:r>
                              <m:r>
                                <a:rPr lang="fr-FR" b="0" i="1" smtClean="0">
                                  <a:solidFill>
                                    <a:srgbClr val="FF0000"/>
                                  </a:solidFill>
                                  <a:latin typeface="Cambria Math" panose="02040503050406030204" pitchFamily="18" charset="0"/>
                                </a:rPr>
                                <m:t>𝑑𝑖𝑎𝑛𝑒</m:t>
                              </m:r>
                            </m:e>
                          </m:d>
                          <m:r>
                            <a:rPr lang="fr-FR" b="0"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𝑀</m:t>
                          </m:r>
                          <m:r>
                            <a:rPr lang="fr-FR" b="0" i="1" smtClean="0">
                              <a:solidFill>
                                <a:srgbClr val="FF0000"/>
                              </a:solidFill>
                              <a:latin typeface="Cambria Math" panose="02040503050406030204" pitchFamily="18" charset="0"/>
                            </a:rPr>
                            <m:t>é</m:t>
                          </m:r>
                          <m:r>
                            <a:rPr lang="fr-FR" b="0" i="1" smtClean="0">
                              <a:solidFill>
                                <a:srgbClr val="FF0000"/>
                              </a:solidFill>
                              <a:latin typeface="Cambria Math" panose="02040503050406030204" pitchFamily="18" charset="0"/>
                            </a:rPr>
                            <m:t>𝑑𝑖𝑎𝑛𝑒</m:t>
                          </m:r>
                          <m:r>
                            <a:rPr lang="fr-FR" b="0" i="1" smtClean="0">
                              <a:solidFill>
                                <a:srgbClr val="FF0000"/>
                              </a:solidFill>
                              <a:latin typeface="Cambria Math" panose="02040503050406030204" pitchFamily="18" charset="0"/>
                            </a:rPr>
                            <m:t> − </m:t>
                          </m:r>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𝑞</m:t>
                              </m:r>
                            </m:e>
                            <m:sub>
                              <m:r>
                                <a:rPr lang="fr-FR" b="0" i="1" smtClean="0">
                                  <a:solidFill>
                                    <a:srgbClr val="FF0000"/>
                                  </a:solidFill>
                                  <a:latin typeface="Cambria Math" panose="02040503050406030204" pitchFamily="18" charset="0"/>
                                </a:rPr>
                                <m:t>1</m:t>
                              </m:r>
                            </m:sub>
                          </m:sSub>
                          <m:r>
                            <a:rPr lang="fr-FR" b="0" i="1" smtClean="0">
                              <a:solidFill>
                                <a:srgbClr val="FF0000"/>
                              </a:solidFill>
                              <a:latin typeface="Cambria Math" panose="02040503050406030204" pitchFamily="18" charset="0"/>
                            </a:rPr>
                            <m:t>)</m:t>
                          </m:r>
                        </m:num>
                        <m:den>
                          <m:r>
                            <a:rPr lang="fr-FR" b="0" i="1" smtClean="0">
                              <a:solidFill>
                                <a:srgbClr val="FF0000"/>
                              </a:solidFill>
                              <a:latin typeface="Cambria Math" panose="02040503050406030204" pitchFamily="18" charset="0"/>
                            </a:rPr>
                            <m:t>(</m:t>
                          </m:r>
                          <m:sSub>
                            <m:sSubPr>
                              <m:ctrlPr>
                                <a:rPr lang="fr-FR" i="1">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𝑞</m:t>
                              </m:r>
                            </m:e>
                            <m:sub>
                              <m:r>
                                <a:rPr lang="fr-FR" i="1">
                                  <a:solidFill>
                                    <a:srgbClr val="FF0000"/>
                                  </a:solidFill>
                                  <a:latin typeface="Cambria Math" panose="02040503050406030204" pitchFamily="18" charset="0"/>
                                </a:rPr>
                                <m:t>3</m:t>
                              </m:r>
                            </m:sub>
                          </m:sSub>
                          <m:r>
                            <a:rPr lang="fr-FR" b="0" i="1" smtClean="0">
                              <a:solidFill>
                                <a:srgbClr val="FF0000"/>
                              </a:solidFill>
                              <a:latin typeface="Cambria Math" panose="02040503050406030204" pitchFamily="18" charset="0"/>
                            </a:rPr>
                            <m:t> −</m:t>
                          </m:r>
                          <m:sSub>
                            <m:sSubPr>
                              <m:ctrlPr>
                                <a:rPr lang="fr-FR" i="1">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𝑞</m:t>
                              </m:r>
                            </m:e>
                            <m:sub>
                              <m:r>
                                <a:rPr lang="fr-FR" b="0" i="1" smtClean="0">
                                  <a:solidFill>
                                    <a:srgbClr val="FF0000"/>
                                  </a:solidFill>
                                  <a:latin typeface="Cambria Math" panose="02040503050406030204" pitchFamily="18" charset="0"/>
                                </a:rPr>
                                <m:t>1</m:t>
                              </m:r>
                            </m:sub>
                          </m:sSub>
                          <m:r>
                            <a:rPr lang="fr-FR" b="0" i="1" smtClean="0">
                              <a:solidFill>
                                <a:srgbClr val="FF0000"/>
                              </a:solidFill>
                              <a:latin typeface="Cambria Math" panose="02040503050406030204" pitchFamily="18" charset="0"/>
                            </a:rPr>
                            <m:t>)</m:t>
                          </m:r>
                        </m:den>
                      </m:f>
                    </m:oMath>
                  </m:oMathPara>
                </a14:m>
                <a:endParaRPr lang="fr-FR" dirty="0">
                  <a:solidFill>
                    <a:srgbClr val="FF0000"/>
                  </a:solidFill>
                </a:endParaRPr>
              </a:p>
              <a:p>
                <a:pPr marL="0" indent="0" algn="ctr">
                  <a:buNone/>
                </a:pPr>
                <a:endParaRPr lang="fr-FR" dirty="0">
                  <a:solidFill>
                    <a:srgbClr val="FF0000"/>
                  </a:solidFill>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Y = 0 </a:t>
                </a:r>
                <a:r>
                  <a:rPr lang="fr-FR" sz="1800" dirty="0">
                    <a:latin typeface="Cambria" panose="02040503050406030204" pitchFamily="18" charset="0"/>
                    <a:ea typeface="Cambria" panose="02040503050406030204" pitchFamily="18" charset="0"/>
                  </a:rPr>
                  <a:t>implique que les observations se répartissent de manière uniforme /symétrique (autour de la médiane)</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Y &gt; 0 </a:t>
                </a:r>
                <a:r>
                  <a:rPr lang="fr-FR" sz="1800" dirty="0">
                    <a:latin typeface="Cambria" panose="02040503050406030204" pitchFamily="18" charset="0"/>
                    <a:ea typeface="Cambria" panose="02040503050406030204" pitchFamily="18" charset="0"/>
                  </a:rPr>
                  <a:t>implique que la répartition des données est étalée à droite (de la médiane) </a:t>
                </a:r>
              </a:p>
              <a:p>
                <a:pPr marL="0" indent="0">
                  <a:buNone/>
                </a:pPr>
                <a:r>
                  <a:rPr lang="fr-FR" sz="1800" dirty="0">
                    <a:latin typeface="Cambria" panose="02040503050406030204" pitchFamily="18" charset="0"/>
                    <a:ea typeface="Cambria" panose="02040503050406030204" pitchFamily="18" charset="0"/>
                    <a:sym typeface="Wingdings" panose="05000000000000000000" pitchFamily="2" charset="2"/>
                  </a:rPr>
                  <a:t>        les observations / modalités inférieures (à la médiane) possèdent plus de poids  </a:t>
                </a:r>
              </a:p>
              <a:p>
                <a:pPr marL="0" indent="0">
                  <a:buNone/>
                </a:pPr>
                <a:endParaRPr lang="fr-FR" sz="18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fr-FR" sz="1800" dirty="0">
                    <a:solidFill>
                      <a:srgbClr val="FF0000"/>
                    </a:solidFill>
                    <a:latin typeface="Cambria" panose="02040503050406030204" pitchFamily="18" charset="0"/>
                    <a:ea typeface="Cambria" panose="02040503050406030204" pitchFamily="18" charset="0"/>
                  </a:rPr>
                  <a:t>Y &lt; 0 </a:t>
                </a:r>
                <a:r>
                  <a:rPr lang="fr-FR" sz="1800" dirty="0">
                    <a:latin typeface="Cambria" panose="02040503050406030204" pitchFamily="18" charset="0"/>
                    <a:ea typeface="Cambria" panose="02040503050406030204" pitchFamily="18" charset="0"/>
                  </a:rPr>
                  <a:t>implique que la répartition des données est étalée à gauche (de la médiane) </a:t>
                </a:r>
                <a:r>
                  <a:rPr lang="fr-FR" sz="1800" dirty="0">
                    <a:latin typeface="Cambria" panose="02040503050406030204" pitchFamily="18" charset="0"/>
                    <a:ea typeface="Cambria" panose="02040503050406030204" pitchFamily="18" charset="0"/>
                    <a:sym typeface="Wingdings" panose="05000000000000000000" pitchFamily="2" charset="2"/>
                  </a:rPr>
                  <a:t> les observations / modalités supérieures (à la médiane) possèdent plus de poids </a:t>
                </a:r>
                <a:endParaRPr lang="fr-FR" sz="18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EBE02A17-E83C-48A9-867B-C76F11D5BD39}"/>
                  </a:ext>
                </a:extLst>
              </p:cNvPr>
              <p:cNvSpPr>
                <a:spLocks noGrp="1" noRot="1" noChangeAspect="1" noMove="1" noResize="1" noEditPoints="1" noAdjustHandles="1" noChangeArrowheads="1" noChangeShapeType="1" noTextEdit="1"/>
              </p:cNvSpPr>
              <p:nvPr>
                <p:ph idx="1"/>
              </p:nvPr>
            </p:nvSpPr>
            <p:spPr>
              <a:blipFill>
                <a:blip r:embed="rId2"/>
                <a:stretch>
                  <a:fillRect l="-741" t="-1482" r="-74" b="-1617"/>
                </a:stretch>
              </a:blipFill>
            </p:spPr>
            <p:txBody>
              <a:bodyPr/>
              <a:lstStyle/>
              <a:p>
                <a:r>
                  <a:rPr lang="fr-FR">
                    <a:noFill/>
                  </a:rPr>
                  <a:t> </a:t>
                </a:r>
              </a:p>
            </p:txBody>
          </p:sp>
        </mc:Fallback>
      </mc:AlternateContent>
    </p:spTree>
    <p:extLst>
      <p:ext uri="{BB962C8B-B14F-4D97-AF65-F5344CB8AC3E}">
        <p14:creationId xmlns:p14="http://schemas.microsoft.com/office/powerpoint/2010/main" val="3014763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209AB2-F8E2-475D-A5F7-675444A59993}"/>
              </a:ext>
            </a:extLst>
          </p:cNvPr>
          <p:cNvSpPr>
            <a:spLocks noGrp="1"/>
          </p:cNvSpPr>
          <p:nvPr>
            <p:ph type="title"/>
          </p:nvPr>
        </p:nvSpPr>
        <p:spPr/>
        <p:txBody>
          <a:bodyPr>
            <a:normAutofit/>
          </a:bodyPr>
          <a:lstStyle/>
          <a:p>
            <a:r>
              <a:rPr lang="fr-FR" sz="3600" dirty="0">
                <a:latin typeface="Cambria" panose="02040503050406030204" pitchFamily="18" charset="0"/>
                <a:ea typeface="Cambria" panose="02040503050406030204" pitchFamily="18" charset="0"/>
              </a:rPr>
              <a:t>L’asymétrie - Graphiquement </a:t>
            </a:r>
          </a:p>
        </p:txBody>
      </p:sp>
      <p:pic>
        <p:nvPicPr>
          <p:cNvPr id="5" name="Espace réservé du contenu 4">
            <a:extLst>
              <a:ext uri="{FF2B5EF4-FFF2-40B4-BE49-F238E27FC236}">
                <a16:creationId xmlns:a16="http://schemas.microsoft.com/office/drawing/2014/main" id="{ED0A8704-8012-4824-B470-6731332588DB}"/>
              </a:ext>
            </a:extLst>
          </p:cNvPr>
          <p:cNvPicPr>
            <a:picLocks noGrp="1" noChangeAspect="1"/>
          </p:cNvPicPr>
          <p:nvPr>
            <p:ph idx="1"/>
          </p:nvPr>
        </p:nvPicPr>
        <p:blipFill>
          <a:blip r:embed="rId2"/>
          <a:stretch>
            <a:fillRect/>
          </a:stretch>
        </p:blipFill>
        <p:spPr>
          <a:xfrm>
            <a:off x="127733" y="1852821"/>
            <a:ext cx="3168352" cy="2839161"/>
          </a:xfrm>
        </p:spPr>
      </p:pic>
      <p:pic>
        <p:nvPicPr>
          <p:cNvPr id="7" name="Image 6">
            <a:extLst>
              <a:ext uri="{FF2B5EF4-FFF2-40B4-BE49-F238E27FC236}">
                <a16:creationId xmlns:a16="http://schemas.microsoft.com/office/drawing/2014/main" id="{D9C05761-A305-44E3-802F-CFCD2A719DDA}"/>
              </a:ext>
            </a:extLst>
          </p:cNvPr>
          <p:cNvPicPr>
            <a:picLocks noChangeAspect="1"/>
          </p:cNvPicPr>
          <p:nvPr/>
        </p:nvPicPr>
        <p:blipFill>
          <a:blip r:embed="rId3"/>
          <a:stretch>
            <a:fillRect/>
          </a:stretch>
        </p:blipFill>
        <p:spPr>
          <a:xfrm>
            <a:off x="3286714" y="1696222"/>
            <a:ext cx="2990653" cy="3152357"/>
          </a:xfrm>
          <a:prstGeom prst="rect">
            <a:avLst/>
          </a:prstGeom>
        </p:spPr>
      </p:pic>
      <p:pic>
        <p:nvPicPr>
          <p:cNvPr id="9" name="Image 8">
            <a:extLst>
              <a:ext uri="{FF2B5EF4-FFF2-40B4-BE49-F238E27FC236}">
                <a16:creationId xmlns:a16="http://schemas.microsoft.com/office/drawing/2014/main" id="{A4BB10C8-D899-4ABF-BD82-CC4FCBDFCA48}"/>
              </a:ext>
            </a:extLst>
          </p:cNvPr>
          <p:cNvPicPr>
            <a:picLocks noChangeAspect="1"/>
          </p:cNvPicPr>
          <p:nvPr/>
        </p:nvPicPr>
        <p:blipFill>
          <a:blip r:embed="rId4"/>
          <a:stretch>
            <a:fillRect/>
          </a:stretch>
        </p:blipFill>
        <p:spPr>
          <a:xfrm>
            <a:off x="6172459" y="1852821"/>
            <a:ext cx="2843808" cy="3152357"/>
          </a:xfrm>
          <a:prstGeom prst="rect">
            <a:avLst/>
          </a:prstGeom>
        </p:spPr>
      </p:pic>
      <p:pic>
        <p:nvPicPr>
          <p:cNvPr id="11" name="Image 10">
            <a:extLst>
              <a:ext uri="{FF2B5EF4-FFF2-40B4-BE49-F238E27FC236}">
                <a16:creationId xmlns:a16="http://schemas.microsoft.com/office/drawing/2014/main" id="{84423DA3-2581-4F1A-AFF9-C3AB7E5DA2C8}"/>
              </a:ext>
            </a:extLst>
          </p:cNvPr>
          <p:cNvPicPr>
            <a:picLocks noChangeAspect="1"/>
          </p:cNvPicPr>
          <p:nvPr/>
        </p:nvPicPr>
        <p:blipFill>
          <a:blip r:embed="rId5"/>
          <a:stretch>
            <a:fillRect/>
          </a:stretch>
        </p:blipFill>
        <p:spPr>
          <a:xfrm>
            <a:off x="2156180" y="5161777"/>
            <a:ext cx="5251720" cy="571529"/>
          </a:xfrm>
          <a:prstGeom prst="rect">
            <a:avLst/>
          </a:prstGeom>
        </p:spPr>
      </p:pic>
    </p:spTree>
    <p:extLst>
      <p:ext uri="{BB962C8B-B14F-4D97-AF65-F5344CB8AC3E}">
        <p14:creationId xmlns:p14="http://schemas.microsoft.com/office/powerpoint/2010/main" val="2553972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7316481C-0A49-4796-812B-0D64F063B7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2469691-F636-4953-AF98-56AEE8A2DFE1}"/>
              </a:ext>
            </a:extLst>
          </p:cNvPr>
          <p:cNvSpPr>
            <a:spLocks noGrp="1"/>
          </p:cNvSpPr>
          <p:nvPr>
            <p:ph type="title"/>
          </p:nvPr>
        </p:nvSpPr>
        <p:spPr>
          <a:xfrm>
            <a:off x="837373" y="655128"/>
            <a:ext cx="3460439" cy="1499616"/>
          </a:xfrm>
        </p:spPr>
        <p:txBody>
          <a:bodyPr vert="horz" lIns="91440" tIns="45720" rIns="91440" bIns="45720" rtlCol="0" anchor="b">
            <a:normAutofit/>
          </a:bodyPr>
          <a:lstStyle/>
          <a:p>
            <a:pPr algn="l">
              <a:lnSpc>
                <a:spcPct val="90000"/>
              </a:lnSpc>
            </a:pPr>
            <a:r>
              <a:rPr lang="fr-FR" sz="2600" dirty="0">
                <a:latin typeface="Cambria" panose="02040503050406030204" pitchFamily="18" charset="0"/>
                <a:ea typeface="Cambria" panose="02040503050406030204" pitchFamily="18" charset="0"/>
              </a:rPr>
              <a:t>Le signe du coefficient de Yule et Kendall – Graphiquement </a:t>
            </a:r>
          </a:p>
        </p:txBody>
      </p:sp>
      <p:sp>
        <p:nvSpPr>
          <p:cNvPr id="16" name="Rectangle 15">
            <a:extLst>
              <a:ext uri="{FF2B5EF4-FFF2-40B4-BE49-F238E27FC236}">
                <a16:creationId xmlns:a16="http://schemas.microsoft.com/office/drawing/2014/main" id="{A5271697-90F1-4A23-8EF2-0179F2EAF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5228" cy="3233984"/>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1F49CE81-B2F4-47B2-9D4A-886DCE0A84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91533" y="73152"/>
            <a:ext cx="884223" cy="232963"/>
            <a:chOff x="7763256" y="73152"/>
            <a:chExt cx="1178966" cy="232963"/>
          </a:xfrm>
        </p:grpSpPr>
        <p:sp>
          <p:nvSpPr>
            <p:cNvPr id="19" name="Rectangle 64">
              <a:extLst>
                <a:ext uri="{FF2B5EF4-FFF2-40B4-BE49-F238E27FC236}">
                  <a16:creationId xmlns:a16="http://schemas.microsoft.com/office/drawing/2014/main" id="{4BE32177-3EAD-42DA-997C-8DAE1BFEE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6">
              <a:extLst>
                <a:ext uri="{FF2B5EF4-FFF2-40B4-BE49-F238E27FC236}">
                  <a16:creationId xmlns:a16="http://schemas.microsoft.com/office/drawing/2014/main" id="{A0DEE160-9825-4DB5-8188-911AC13EA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6307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64">
              <a:extLst>
                <a:ext uri="{FF2B5EF4-FFF2-40B4-BE49-F238E27FC236}">
                  <a16:creationId xmlns:a16="http://schemas.microsoft.com/office/drawing/2014/main" id="{9C5FEDB5-0AEE-40E4-9CA6-6718B956D9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66">
              <a:extLst>
                <a:ext uri="{FF2B5EF4-FFF2-40B4-BE49-F238E27FC236}">
                  <a16:creationId xmlns:a16="http://schemas.microsoft.com/office/drawing/2014/main" id="{1A11DF2D-1D4B-45DA-906B-2A1F84C99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38122"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4">
              <a:extLst>
                <a:ext uri="{FF2B5EF4-FFF2-40B4-BE49-F238E27FC236}">
                  <a16:creationId xmlns:a16="http://schemas.microsoft.com/office/drawing/2014/main" id="{B6A5BAC0-9806-4124-A584-7F924A658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66">
              <a:extLst>
                <a:ext uri="{FF2B5EF4-FFF2-40B4-BE49-F238E27FC236}">
                  <a16:creationId xmlns:a16="http://schemas.microsoft.com/office/drawing/2014/main" id="{A8F6BFA3-38BE-4F0A-94D9-EF0E6EA01A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13167"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64">
              <a:extLst>
                <a:ext uri="{FF2B5EF4-FFF2-40B4-BE49-F238E27FC236}">
                  <a16:creationId xmlns:a16="http://schemas.microsoft.com/office/drawing/2014/main" id="{BE6BCF21-959F-419E-BCA4-B20AF92EF4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66">
              <a:extLst>
                <a:ext uri="{FF2B5EF4-FFF2-40B4-BE49-F238E27FC236}">
                  <a16:creationId xmlns:a16="http://schemas.microsoft.com/office/drawing/2014/main" id="{54B6E037-E222-42EB-9AEB-C45EF2090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88211"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64">
              <a:extLst>
                <a:ext uri="{FF2B5EF4-FFF2-40B4-BE49-F238E27FC236}">
                  <a16:creationId xmlns:a16="http://schemas.microsoft.com/office/drawing/2014/main" id="{A0494426-372E-42B8-87E1-170F1B596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66">
              <a:extLst>
                <a:ext uri="{FF2B5EF4-FFF2-40B4-BE49-F238E27FC236}">
                  <a16:creationId xmlns:a16="http://schemas.microsoft.com/office/drawing/2014/main" id="{14DB5AB5-5D73-4375-8CF4-DF4B7A5D7F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3256"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64">
              <a:extLst>
                <a:ext uri="{FF2B5EF4-FFF2-40B4-BE49-F238E27FC236}">
                  <a16:creationId xmlns:a16="http://schemas.microsoft.com/office/drawing/2014/main" id="{009B2A6E-6D36-4A9A-AFAA-CF4D85914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66">
              <a:extLst>
                <a:ext uri="{FF2B5EF4-FFF2-40B4-BE49-F238E27FC236}">
                  <a16:creationId xmlns:a16="http://schemas.microsoft.com/office/drawing/2014/main" id="{85DC0718-B29F-47A6-931F-F0EF9FA99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88785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64">
              <a:extLst>
                <a:ext uri="{FF2B5EF4-FFF2-40B4-BE49-F238E27FC236}">
                  <a16:creationId xmlns:a16="http://schemas.microsoft.com/office/drawing/2014/main" id="{AAED958D-AFCC-4BEF-818A-EFF7E41D17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66">
              <a:extLst>
                <a:ext uri="{FF2B5EF4-FFF2-40B4-BE49-F238E27FC236}">
                  <a16:creationId xmlns:a16="http://schemas.microsoft.com/office/drawing/2014/main" id="{C216DD5A-D1AE-429E-937E-456A50345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762899"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64">
              <a:extLst>
                <a:ext uri="{FF2B5EF4-FFF2-40B4-BE49-F238E27FC236}">
                  <a16:creationId xmlns:a16="http://schemas.microsoft.com/office/drawing/2014/main" id="{A845B253-9DEE-45AC-AADA-FAA6812C39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66">
              <a:extLst>
                <a:ext uri="{FF2B5EF4-FFF2-40B4-BE49-F238E27FC236}">
                  <a16:creationId xmlns:a16="http://schemas.microsoft.com/office/drawing/2014/main" id="{CE7B6CBF-757B-4B55-84CB-062B712D3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37944"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64">
              <a:extLst>
                <a:ext uri="{FF2B5EF4-FFF2-40B4-BE49-F238E27FC236}">
                  <a16:creationId xmlns:a16="http://schemas.microsoft.com/office/drawing/2014/main" id="{2CC28C7A-EF33-43D3-90CD-DCAC92546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66">
              <a:extLst>
                <a:ext uri="{FF2B5EF4-FFF2-40B4-BE49-F238E27FC236}">
                  <a16:creationId xmlns:a16="http://schemas.microsoft.com/office/drawing/2014/main" id="{BC0C9DCF-F15B-4B7A-A16B-37B4335E6B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512988"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64">
              <a:extLst>
                <a:ext uri="{FF2B5EF4-FFF2-40B4-BE49-F238E27FC236}">
                  <a16:creationId xmlns:a16="http://schemas.microsoft.com/office/drawing/2014/main" id="{94991FD1-406A-4958-87D4-8DFA9FEA4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73152"/>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66">
              <a:extLst>
                <a:ext uri="{FF2B5EF4-FFF2-40B4-BE49-F238E27FC236}">
                  <a16:creationId xmlns:a16="http://schemas.microsoft.com/office/drawing/2014/main" id="{5CD32F69-27AD-4088-877C-E2A40F8B07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388033" y="246888"/>
              <a:ext cx="54368" cy="5922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Espace réservé du contenu 4">
            <a:extLst>
              <a:ext uri="{FF2B5EF4-FFF2-40B4-BE49-F238E27FC236}">
                <a16:creationId xmlns:a16="http://schemas.microsoft.com/office/drawing/2014/main" id="{6294B267-ABFD-451C-9183-3D5868408683}"/>
              </a:ext>
            </a:extLst>
          </p:cNvPr>
          <p:cNvPicPr>
            <a:picLocks noGrp="1" noChangeAspect="1"/>
          </p:cNvPicPr>
          <p:nvPr>
            <p:ph idx="1"/>
          </p:nvPr>
        </p:nvPicPr>
        <p:blipFill>
          <a:blip r:embed="rId2"/>
          <a:stretch>
            <a:fillRect/>
          </a:stretch>
        </p:blipFill>
        <p:spPr>
          <a:xfrm>
            <a:off x="4859877" y="768736"/>
            <a:ext cx="4190207" cy="1738935"/>
          </a:xfrm>
          <a:prstGeom prst="rect">
            <a:avLst/>
          </a:prstGeom>
        </p:spPr>
      </p:pic>
      <p:sp>
        <p:nvSpPr>
          <p:cNvPr id="40" name="Rectangle 39">
            <a:extLst>
              <a:ext uri="{FF2B5EF4-FFF2-40B4-BE49-F238E27FC236}">
                <a16:creationId xmlns:a16="http://schemas.microsoft.com/office/drawing/2014/main" id="{D9F5512A-48E1-4C07-B75E-3CCC517B68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33984"/>
            <a:ext cx="455228" cy="362401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a:extLst>
              <a:ext uri="{FF2B5EF4-FFF2-40B4-BE49-F238E27FC236}">
                <a16:creationId xmlns:a16="http://schemas.microsoft.com/office/drawing/2014/main" id="{E19739A1-4ECB-45FF-BA80-DF9E03B2A082}"/>
              </a:ext>
            </a:extLst>
          </p:cNvPr>
          <p:cNvPicPr>
            <a:picLocks noChangeAspect="1"/>
          </p:cNvPicPr>
          <p:nvPr/>
        </p:nvPicPr>
        <p:blipFill>
          <a:blip r:embed="rId3"/>
          <a:stretch>
            <a:fillRect/>
          </a:stretch>
        </p:blipFill>
        <p:spPr>
          <a:xfrm>
            <a:off x="561903" y="4148003"/>
            <a:ext cx="4190206" cy="1791313"/>
          </a:xfrm>
          <a:prstGeom prst="rect">
            <a:avLst/>
          </a:prstGeom>
        </p:spPr>
      </p:pic>
      <p:pic>
        <p:nvPicPr>
          <p:cNvPr id="7" name="Image 6">
            <a:extLst>
              <a:ext uri="{FF2B5EF4-FFF2-40B4-BE49-F238E27FC236}">
                <a16:creationId xmlns:a16="http://schemas.microsoft.com/office/drawing/2014/main" id="{BA8D8200-24B4-4759-92B3-CE2F23AEB238}"/>
              </a:ext>
            </a:extLst>
          </p:cNvPr>
          <p:cNvPicPr>
            <a:picLocks noChangeAspect="1"/>
          </p:cNvPicPr>
          <p:nvPr/>
        </p:nvPicPr>
        <p:blipFill>
          <a:blip r:embed="rId4"/>
          <a:stretch>
            <a:fillRect/>
          </a:stretch>
        </p:blipFill>
        <p:spPr>
          <a:xfrm>
            <a:off x="4859878" y="4168954"/>
            <a:ext cx="4190207" cy="1749411"/>
          </a:xfrm>
          <a:prstGeom prst="rect">
            <a:avLst/>
          </a:prstGeom>
        </p:spPr>
      </p:pic>
    </p:spTree>
    <p:extLst>
      <p:ext uri="{BB962C8B-B14F-4D97-AF65-F5344CB8AC3E}">
        <p14:creationId xmlns:p14="http://schemas.microsoft.com/office/powerpoint/2010/main" val="131069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CDAA49A-9770-4CEA-95B0-8BCA690AF806}"/>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Les indicateurs d’asymétrie – Remarques générales</a:t>
            </a:r>
            <a:endParaRPr lang="fr-FR" dirty="0"/>
          </a:p>
        </p:txBody>
      </p:sp>
      <p:sp>
        <p:nvSpPr>
          <p:cNvPr id="3" name="Espace réservé du contenu 2">
            <a:extLst>
              <a:ext uri="{FF2B5EF4-FFF2-40B4-BE49-F238E27FC236}">
                <a16:creationId xmlns:a16="http://schemas.microsoft.com/office/drawing/2014/main" id="{A20EECF8-BB90-4531-8612-DF9E4F7358EA}"/>
              </a:ext>
            </a:extLst>
          </p:cNvPr>
          <p:cNvSpPr>
            <a:spLocks noGrp="1"/>
          </p:cNvSpPr>
          <p:nvPr>
            <p:ph idx="1"/>
          </p:nvPr>
        </p:nvSpPr>
        <p:spPr/>
        <p:txBody>
          <a:bodyPr/>
          <a:lstStyle/>
          <a:p>
            <a:pPr marL="0" indent="0">
              <a:buNone/>
            </a:pPr>
            <a:r>
              <a:rPr lang="fr-FR" dirty="0">
                <a:latin typeface="Cambria" panose="02040503050406030204" pitchFamily="18" charset="0"/>
                <a:ea typeface="Cambria" panose="02040503050406030204" pitchFamily="18" charset="0"/>
              </a:rPr>
              <a:t>Remarque 1 : </a:t>
            </a:r>
          </a:p>
          <a:p>
            <a:pPr marL="0" indent="0">
              <a:buNone/>
            </a:pPr>
            <a:endParaRPr lang="fr-FR" dirty="0">
              <a:latin typeface="Cambria" panose="02040503050406030204" pitchFamily="18" charset="0"/>
              <a:ea typeface="Cambria" panose="02040503050406030204" pitchFamily="18" charset="0"/>
            </a:endParaRPr>
          </a:p>
          <a:p>
            <a:pPr marL="0" indent="0">
              <a:buNone/>
            </a:pPr>
            <a:endParaRPr lang="fr-FR" dirty="0">
              <a:latin typeface="Cambria" panose="02040503050406030204" pitchFamily="18" charset="0"/>
              <a:ea typeface="Cambria" panose="02040503050406030204" pitchFamily="18" charset="0"/>
            </a:endParaRPr>
          </a:p>
          <a:p>
            <a:pPr marL="0" indent="0">
              <a:buNone/>
            </a:pPr>
            <a:endParaRPr lang="fr-FR" dirty="0">
              <a:latin typeface="Cambria" panose="02040503050406030204" pitchFamily="18" charset="0"/>
              <a:ea typeface="Cambria" panose="02040503050406030204" pitchFamily="18" charset="0"/>
            </a:endParaRPr>
          </a:p>
          <a:p>
            <a:pPr marL="0" indent="0">
              <a:buNone/>
            </a:pPr>
            <a:r>
              <a:rPr lang="fr-FR" dirty="0">
                <a:latin typeface="Cambria" panose="02040503050406030204" pitchFamily="18" charset="0"/>
                <a:ea typeface="Cambria" panose="02040503050406030204" pitchFamily="18" charset="0"/>
              </a:rPr>
              <a:t>Remarque 2 : </a:t>
            </a:r>
          </a:p>
        </p:txBody>
      </p:sp>
      <p:pic>
        <p:nvPicPr>
          <p:cNvPr id="5" name="Image 4">
            <a:extLst>
              <a:ext uri="{FF2B5EF4-FFF2-40B4-BE49-F238E27FC236}">
                <a16:creationId xmlns:a16="http://schemas.microsoft.com/office/drawing/2014/main" id="{B037650D-F837-44EC-8236-FA44C4E15C71}"/>
              </a:ext>
            </a:extLst>
          </p:cNvPr>
          <p:cNvPicPr>
            <a:picLocks noChangeAspect="1"/>
          </p:cNvPicPr>
          <p:nvPr/>
        </p:nvPicPr>
        <p:blipFill>
          <a:blip r:embed="rId2"/>
          <a:stretch>
            <a:fillRect/>
          </a:stretch>
        </p:blipFill>
        <p:spPr>
          <a:xfrm>
            <a:off x="3203848" y="1772816"/>
            <a:ext cx="5162815" cy="1656184"/>
          </a:xfrm>
          <a:prstGeom prst="rect">
            <a:avLst/>
          </a:prstGeom>
        </p:spPr>
      </p:pic>
      <p:pic>
        <p:nvPicPr>
          <p:cNvPr id="7" name="Image 6">
            <a:extLst>
              <a:ext uri="{FF2B5EF4-FFF2-40B4-BE49-F238E27FC236}">
                <a16:creationId xmlns:a16="http://schemas.microsoft.com/office/drawing/2014/main" id="{FD79CCED-813C-44CA-9DCC-A6102BAE0576}"/>
              </a:ext>
            </a:extLst>
          </p:cNvPr>
          <p:cNvPicPr>
            <a:picLocks noChangeAspect="1"/>
          </p:cNvPicPr>
          <p:nvPr/>
        </p:nvPicPr>
        <p:blipFill>
          <a:blip r:embed="rId3"/>
          <a:stretch>
            <a:fillRect/>
          </a:stretch>
        </p:blipFill>
        <p:spPr>
          <a:xfrm>
            <a:off x="3014479" y="4149080"/>
            <a:ext cx="5353325" cy="1009702"/>
          </a:xfrm>
          <a:prstGeom prst="rect">
            <a:avLst/>
          </a:prstGeom>
        </p:spPr>
      </p:pic>
    </p:spTree>
    <p:extLst>
      <p:ext uri="{BB962C8B-B14F-4D97-AF65-F5344CB8AC3E}">
        <p14:creationId xmlns:p14="http://schemas.microsoft.com/office/powerpoint/2010/main" val="365230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768A4-4B47-4390-BDD0-0AD3CDD008CB}"/>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Exercice d’application</a:t>
            </a:r>
          </a:p>
        </p:txBody>
      </p:sp>
      <p:sp>
        <p:nvSpPr>
          <p:cNvPr id="4" name="Espace réservé du contenu 3">
            <a:extLst>
              <a:ext uri="{FF2B5EF4-FFF2-40B4-BE49-F238E27FC236}">
                <a16:creationId xmlns:a16="http://schemas.microsoft.com/office/drawing/2014/main" id="{DB8C8501-2113-4D12-B48F-5F2AFF5EF948}"/>
              </a:ext>
            </a:extLst>
          </p:cNvPr>
          <p:cNvSpPr txBox="1">
            <a:spLocks noGrp="1"/>
          </p:cNvSpPr>
          <p:nvPr>
            <p:ph idx="1"/>
          </p:nvPr>
        </p:nvSpPr>
        <p:spPr>
          <a:xfrm>
            <a:off x="1538" y="1124744"/>
            <a:ext cx="9142462" cy="5570756"/>
          </a:xfrm>
          <a:prstGeom prst="rect">
            <a:avLst/>
          </a:prstGeom>
          <a:noFill/>
        </p:spPr>
        <p:txBody>
          <a:bodyPr wrap="square" rtlCol="0">
            <a:spAutoFit/>
          </a:bodyPr>
          <a:lstStyle/>
          <a:p>
            <a:pPr marL="0" indent="0">
              <a:buNone/>
            </a:pPr>
            <a:r>
              <a:rPr lang="fr-FR" sz="2000" dirty="0">
                <a:latin typeface="Cambria" panose="02040503050406030204" pitchFamily="18" charset="0"/>
                <a:ea typeface="Cambria" panose="02040503050406030204" pitchFamily="18" charset="0"/>
              </a:rPr>
              <a:t>Les données ci-dessous représentent l’âge des visiteurs d’un site internet :</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marL="0" indent="0">
              <a:buNone/>
            </a:pPr>
            <a:r>
              <a:rPr lang="fr-FR" sz="2000" dirty="0">
                <a:latin typeface="Cambria" panose="02040503050406030204" pitchFamily="18" charset="0"/>
                <a:ea typeface="Cambria" panose="02040503050406030204" pitchFamily="18" charset="0"/>
              </a:rPr>
              <a:t> </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variation est inférieur à 25%</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Pearson est positif</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mode est égal à 21.22 ans</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L’âge moyen est égal à 35.25 ans </a:t>
            </a:r>
          </a:p>
        </p:txBody>
      </p:sp>
      <p:pic>
        <p:nvPicPr>
          <p:cNvPr id="6" name="Image 5">
            <a:extLst>
              <a:ext uri="{FF2B5EF4-FFF2-40B4-BE49-F238E27FC236}">
                <a16:creationId xmlns:a16="http://schemas.microsoft.com/office/drawing/2014/main" id="{385013CD-D160-4EC1-8005-EFD72F1F0BDE}"/>
              </a:ext>
            </a:extLst>
          </p:cNvPr>
          <p:cNvPicPr>
            <a:picLocks noChangeAspect="1"/>
          </p:cNvPicPr>
          <p:nvPr/>
        </p:nvPicPr>
        <p:blipFill>
          <a:blip r:embed="rId2"/>
          <a:stretch>
            <a:fillRect/>
          </a:stretch>
        </p:blipFill>
        <p:spPr>
          <a:xfrm>
            <a:off x="2052228" y="1844824"/>
            <a:ext cx="5039544" cy="2232248"/>
          </a:xfrm>
          <a:prstGeom prst="rect">
            <a:avLst/>
          </a:prstGeom>
        </p:spPr>
      </p:pic>
    </p:spTree>
    <p:extLst>
      <p:ext uri="{BB962C8B-B14F-4D97-AF65-F5344CB8AC3E}">
        <p14:creationId xmlns:p14="http://schemas.microsoft.com/office/powerpoint/2010/main" val="270720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768A4-4B47-4390-BDD0-0AD3CDD008CB}"/>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Exercice d’application</a:t>
            </a:r>
          </a:p>
        </p:txBody>
      </p:sp>
      <p:sp>
        <p:nvSpPr>
          <p:cNvPr id="4" name="Espace réservé du contenu 3">
            <a:extLst>
              <a:ext uri="{FF2B5EF4-FFF2-40B4-BE49-F238E27FC236}">
                <a16:creationId xmlns:a16="http://schemas.microsoft.com/office/drawing/2014/main" id="{DB8C8501-2113-4D12-B48F-5F2AFF5EF948}"/>
              </a:ext>
            </a:extLst>
          </p:cNvPr>
          <p:cNvSpPr txBox="1">
            <a:spLocks noGrp="1"/>
          </p:cNvSpPr>
          <p:nvPr>
            <p:ph idx="1"/>
          </p:nvPr>
        </p:nvSpPr>
        <p:spPr>
          <a:xfrm>
            <a:off x="1538" y="1124744"/>
            <a:ext cx="9142462" cy="5570756"/>
          </a:xfrm>
          <a:prstGeom prst="rect">
            <a:avLst/>
          </a:prstGeom>
          <a:noFill/>
        </p:spPr>
        <p:txBody>
          <a:bodyPr wrap="square" rtlCol="0">
            <a:spAutoFit/>
          </a:bodyPr>
          <a:lstStyle/>
          <a:p>
            <a:pPr marL="0" indent="0">
              <a:buNone/>
            </a:pPr>
            <a:r>
              <a:rPr lang="fr-FR" sz="2000" dirty="0">
                <a:latin typeface="Cambria" panose="02040503050406030204" pitchFamily="18" charset="0"/>
                <a:ea typeface="Cambria" panose="02040503050406030204" pitchFamily="18" charset="0"/>
              </a:rPr>
              <a:t>Les données ci-dessous représentent l’âge des visiteurs d’un site internet :</a:t>
            </a: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marL="0" indent="0">
              <a:buNone/>
            </a:pPr>
            <a:endParaRPr lang="fr-FR" sz="20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variation est inférieur à 25%</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a:t>
            </a:r>
            <a:r>
              <a:rPr lang="fr-FR" sz="2000" dirty="0">
                <a:solidFill>
                  <a:srgbClr val="FF0000"/>
                </a:solidFill>
                <a:latin typeface="Cambria" panose="02040503050406030204" pitchFamily="18" charset="0"/>
                <a:ea typeface="Cambria" panose="02040503050406030204" pitchFamily="18" charset="0"/>
              </a:rPr>
              <a:t>Le coefficient de Pearson est positif</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mode est égal à 21.22 ans</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L’âge moyen est égal à 35.25 ans </a:t>
            </a:r>
          </a:p>
        </p:txBody>
      </p:sp>
      <p:pic>
        <p:nvPicPr>
          <p:cNvPr id="6" name="Image 5">
            <a:extLst>
              <a:ext uri="{FF2B5EF4-FFF2-40B4-BE49-F238E27FC236}">
                <a16:creationId xmlns:a16="http://schemas.microsoft.com/office/drawing/2014/main" id="{385013CD-D160-4EC1-8005-EFD72F1F0BDE}"/>
              </a:ext>
            </a:extLst>
          </p:cNvPr>
          <p:cNvPicPr>
            <a:picLocks noChangeAspect="1"/>
          </p:cNvPicPr>
          <p:nvPr/>
        </p:nvPicPr>
        <p:blipFill>
          <a:blip r:embed="rId2"/>
          <a:stretch>
            <a:fillRect/>
          </a:stretch>
        </p:blipFill>
        <p:spPr>
          <a:xfrm>
            <a:off x="2052228" y="1844824"/>
            <a:ext cx="5039544" cy="2232248"/>
          </a:xfrm>
          <a:prstGeom prst="rect">
            <a:avLst/>
          </a:prstGeom>
        </p:spPr>
      </p:pic>
    </p:spTree>
    <p:extLst>
      <p:ext uri="{BB962C8B-B14F-4D97-AF65-F5344CB8AC3E}">
        <p14:creationId xmlns:p14="http://schemas.microsoft.com/office/powerpoint/2010/main" val="2919770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768A4-4B47-4390-BDD0-0AD3CDD008CB}"/>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Exercice d’application</a:t>
            </a:r>
          </a:p>
        </p:txBody>
      </p:sp>
      <p:sp>
        <p:nvSpPr>
          <p:cNvPr id="4" name="Espace réservé du contenu 3">
            <a:extLst>
              <a:ext uri="{FF2B5EF4-FFF2-40B4-BE49-F238E27FC236}">
                <a16:creationId xmlns:a16="http://schemas.microsoft.com/office/drawing/2014/main" id="{DB8C8501-2113-4D12-B48F-5F2AFF5EF948}"/>
              </a:ext>
            </a:extLst>
          </p:cNvPr>
          <p:cNvSpPr txBox="1">
            <a:spLocks noGrp="1"/>
          </p:cNvSpPr>
          <p:nvPr>
            <p:ph idx="1"/>
          </p:nvPr>
        </p:nvSpPr>
        <p:spPr>
          <a:xfrm>
            <a:off x="1538" y="1124744"/>
            <a:ext cx="9142462" cy="5570756"/>
          </a:xfrm>
          <a:prstGeom prst="rect">
            <a:avLst/>
          </a:prstGeom>
          <a:noFill/>
        </p:spPr>
        <p:txBody>
          <a:bodyPr wrap="square" rtlCol="0">
            <a:spAutoFit/>
          </a:bodyPr>
          <a:lstStyle/>
          <a:p>
            <a:pPr marL="0" indent="0">
              <a:buNone/>
            </a:pPr>
            <a:r>
              <a:rPr lang="fr-FR" sz="2000" dirty="0">
                <a:latin typeface="Cambria" panose="02040503050406030204" pitchFamily="18" charset="0"/>
                <a:ea typeface="Cambria" panose="02040503050406030204" pitchFamily="18" charset="0"/>
              </a:rPr>
              <a:t>Les données ci-dessous représentent l’âge des visiteurs d’un site internet :</a:t>
            </a: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marL="0" indent="0">
              <a:buNone/>
            </a:pPr>
            <a:endParaRPr lang="fr-FR" sz="20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premier quartile est égal à 31.233</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médiane est égale à 29.431</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troisième quartile est égale 36.28</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coefficient de Yule et Kendall est négatif </a:t>
            </a:r>
          </a:p>
        </p:txBody>
      </p:sp>
      <p:pic>
        <p:nvPicPr>
          <p:cNvPr id="6" name="Image 5">
            <a:extLst>
              <a:ext uri="{FF2B5EF4-FFF2-40B4-BE49-F238E27FC236}">
                <a16:creationId xmlns:a16="http://schemas.microsoft.com/office/drawing/2014/main" id="{385013CD-D160-4EC1-8005-EFD72F1F0BDE}"/>
              </a:ext>
            </a:extLst>
          </p:cNvPr>
          <p:cNvPicPr>
            <a:picLocks noChangeAspect="1"/>
          </p:cNvPicPr>
          <p:nvPr/>
        </p:nvPicPr>
        <p:blipFill>
          <a:blip r:embed="rId2"/>
          <a:stretch>
            <a:fillRect/>
          </a:stretch>
        </p:blipFill>
        <p:spPr>
          <a:xfrm>
            <a:off x="2052228" y="1844824"/>
            <a:ext cx="5039544" cy="2232248"/>
          </a:xfrm>
          <a:prstGeom prst="rect">
            <a:avLst/>
          </a:prstGeom>
        </p:spPr>
      </p:pic>
    </p:spTree>
    <p:extLst>
      <p:ext uri="{BB962C8B-B14F-4D97-AF65-F5344CB8AC3E}">
        <p14:creationId xmlns:p14="http://schemas.microsoft.com/office/powerpoint/2010/main" val="2440598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D768A4-4B47-4390-BDD0-0AD3CDD008CB}"/>
              </a:ext>
            </a:extLst>
          </p:cNvPr>
          <p:cNvSpPr>
            <a:spLocks noGrp="1"/>
          </p:cNvSpPr>
          <p:nvPr>
            <p:ph type="title"/>
          </p:nvPr>
        </p:nvSpPr>
        <p:spPr/>
        <p:txBody>
          <a:bodyPr>
            <a:normAutofit/>
          </a:bodyPr>
          <a:lstStyle/>
          <a:p>
            <a:r>
              <a:rPr lang="fr-FR" sz="4000" dirty="0">
                <a:latin typeface="Cambria" panose="02040503050406030204" pitchFamily="18" charset="0"/>
                <a:ea typeface="Cambria" panose="02040503050406030204" pitchFamily="18" charset="0"/>
              </a:rPr>
              <a:t>Exercice d’application</a:t>
            </a:r>
          </a:p>
        </p:txBody>
      </p:sp>
      <p:sp>
        <p:nvSpPr>
          <p:cNvPr id="4" name="Espace réservé du contenu 3">
            <a:extLst>
              <a:ext uri="{FF2B5EF4-FFF2-40B4-BE49-F238E27FC236}">
                <a16:creationId xmlns:a16="http://schemas.microsoft.com/office/drawing/2014/main" id="{DB8C8501-2113-4D12-B48F-5F2AFF5EF948}"/>
              </a:ext>
            </a:extLst>
          </p:cNvPr>
          <p:cNvSpPr txBox="1">
            <a:spLocks noGrp="1"/>
          </p:cNvSpPr>
          <p:nvPr>
            <p:ph idx="1"/>
          </p:nvPr>
        </p:nvSpPr>
        <p:spPr>
          <a:xfrm>
            <a:off x="1538" y="1124744"/>
            <a:ext cx="9142462" cy="5570756"/>
          </a:xfrm>
          <a:prstGeom prst="rect">
            <a:avLst/>
          </a:prstGeom>
          <a:noFill/>
        </p:spPr>
        <p:txBody>
          <a:bodyPr wrap="square" rtlCol="0">
            <a:spAutoFit/>
          </a:bodyPr>
          <a:lstStyle/>
          <a:p>
            <a:pPr marL="0" indent="0">
              <a:buNone/>
            </a:pPr>
            <a:r>
              <a:rPr lang="fr-FR" sz="2000" dirty="0">
                <a:latin typeface="Cambria" panose="02040503050406030204" pitchFamily="18" charset="0"/>
                <a:ea typeface="Cambria" panose="02040503050406030204" pitchFamily="18" charset="0"/>
              </a:rPr>
              <a:t>Les données ci-dessous représentent l’âge des visiteurs d’un site internet :</a:t>
            </a: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marL="0" indent="0">
              <a:buNone/>
            </a:pPr>
            <a:endParaRPr lang="fr-FR" sz="20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premier quartile est égal à 31.233</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médiane est égale à 29.431</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Le troisième quartile est égale 36.28</a:t>
            </a:r>
          </a:p>
          <a:p>
            <a:pPr marL="285750" indent="-285750">
              <a:buFont typeface="Wingdings" panose="05000000000000000000" pitchFamily="2" charset="2"/>
              <a:buChar char="q"/>
            </a:pPr>
            <a:r>
              <a:rPr lang="fr-FR" sz="2000" dirty="0">
                <a:latin typeface="Cambria" panose="02040503050406030204" pitchFamily="18" charset="0"/>
                <a:ea typeface="Cambria" panose="02040503050406030204" pitchFamily="18" charset="0"/>
              </a:rPr>
              <a:t> </a:t>
            </a:r>
            <a:r>
              <a:rPr lang="fr-FR" sz="2000" dirty="0">
                <a:solidFill>
                  <a:srgbClr val="FF0000"/>
                </a:solidFill>
                <a:latin typeface="Cambria" panose="02040503050406030204" pitchFamily="18" charset="0"/>
                <a:ea typeface="Cambria" panose="02040503050406030204" pitchFamily="18" charset="0"/>
              </a:rPr>
              <a:t>Le coefficient de Yule et Kendall est négatif </a:t>
            </a:r>
          </a:p>
        </p:txBody>
      </p:sp>
      <p:pic>
        <p:nvPicPr>
          <p:cNvPr id="6" name="Image 5">
            <a:extLst>
              <a:ext uri="{FF2B5EF4-FFF2-40B4-BE49-F238E27FC236}">
                <a16:creationId xmlns:a16="http://schemas.microsoft.com/office/drawing/2014/main" id="{385013CD-D160-4EC1-8005-EFD72F1F0BDE}"/>
              </a:ext>
            </a:extLst>
          </p:cNvPr>
          <p:cNvPicPr>
            <a:picLocks noChangeAspect="1"/>
          </p:cNvPicPr>
          <p:nvPr/>
        </p:nvPicPr>
        <p:blipFill>
          <a:blip r:embed="rId2"/>
          <a:stretch>
            <a:fillRect/>
          </a:stretch>
        </p:blipFill>
        <p:spPr>
          <a:xfrm>
            <a:off x="2052228" y="1844824"/>
            <a:ext cx="5039544" cy="2232248"/>
          </a:xfrm>
          <a:prstGeom prst="rect">
            <a:avLst/>
          </a:prstGeom>
        </p:spPr>
      </p:pic>
    </p:spTree>
    <p:extLst>
      <p:ext uri="{BB962C8B-B14F-4D97-AF65-F5344CB8AC3E}">
        <p14:creationId xmlns:p14="http://schemas.microsoft.com/office/powerpoint/2010/main" val="3916437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ED741-9FC0-4920-95C4-950CC56AF35B}"/>
              </a:ext>
            </a:extLst>
          </p:cNvPr>
          <p:cNvSpPr>
            <a:spLocks noGrp="1"/>
          </p:cNvSpPr>
          <p:nvPr>
            <p:ph type="title"/>
          </p:nvPr>
        </p:nvSpPr>
        <p:spPr>
          <a:xfrm>
            <a:off x="457200" y="53752"/>
            <a:ext cx="8229600" cy="1143000"/>
          </a:xfrm>
        </p:spPr>
        <p:txBody>
          <a:bodyPr/>
          <a:lstStyle/>
          <a:p>
            <a:r>
              <a:rPr lang="fr-FR" sz="4400" dirty="0">
                <a:latin typeface="Cambria" panose="02040503050406030204" pitchFamily="18" charset="0"/>
                <a:ea typeface="Cambria" panose="02040503050406030204" pitchFamily="18" charset="0"/>
              </a:rPr>
              <a:t>Exercice d’application</a:t>
            </a:r>
            <a:endParaRPr lang="fr-FR" dirty="0"/>
          </a:p>
        </p:txBody>
      </p:sp>
      <p:sp>
        <p:nvSpPr>
          <p:cNvPr id="3" name="Espace réservé du contenu 2">
            <a:extLst>
              <a:ext uri="{FF2B5EF4-FFF2-40B4-BE49-F238E27FC236}">
                <a16:creationId xmlns:a16="http://schemas.microsoft.com/office/drawing/2014/main" id="{DD5D8AB6-C0B4-46D4-9A63-F313BD09795D}"/>
              </a:ext>
            </a:extLst>
          </p:cNvPr>
          <p:cNvSpPr>
            <a:spLocks noGrp="1"/>
          </p:cNvSpPr>
          <p:nvPr>
            <p:ph idx="1"/>
          </p:nvPr>
        </p:nvSpPr>
        <p:spPr>
          <a:xfrm>
            <a:off x="47625" y="1009476"/>
            <a:ext cx="9077325" cy="5791374"/>
          </a:xfrm>
        </p:spPr>
        <p:txBody>
          <a:bodyPr/>
          <a:lstStyle/>
          <a:p>
            <a:pPr marL="0" indent="0">
              <a:buNone/>
            </a:pPr>
            <a:r>
              <a:rPr lang="fr-FR" sz="2000" dirty="0">
                <a:latin typeface="Cambria" panose="02040503050406030204" pitchFamily="18" charset="0"/>
                <a:ea typeface="Cambria" panose="02040503050406030204" pitchFamily="18" charset="0"/>
              </a:rPr>
              <a:t>Les données ci-dessous représentent le nombre des produits achetés lors de la visite de 100 visiteurs d’un  centre commercial :</a:t>
            </a: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La moyenne est égale à 2</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Pearson est négatif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L’écart-type est égal à 1.470238</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variation est supérieur à 95%</a:t>
            </a:r>
          </a:p>
        </p:txBody>
      </p:sp>
      <p:graphicFrame>
        <p:nvGraphicFramePr>
          <p:cNvPr id="4" name="Tableau 4">
            <a:extLst>
              <a:ext uri="{FF2B5EF4-FFF2-40B4-BE49-F238E27FC236}">
                <a16:creationId xmlns:a16="http://schemas.microsoft.com/office/drawing/2014/main" id="{29778709-180E-49EC-AB31-E4E6271C9889}"/>
              </a:ext>
            </a:extLst>
          </p:cNvPr>
          <p:cNvGraphicFramePr>
            <a:graphicFrameLocks noGrp="1"/>
          </p:cNvGraphicFramePr>
          <p:nvPr>
            <p:extLst>
              <p:ext uri="{D42A27DB-BD31-4B8C-83A1-F6EECF244321}">
                <p14:modId xmlns:p14="http://schemas.microsoft.com/office/powerpoint/2010/main" val="1635811472"/>
              </p:ext>
            </p:extLst>
          </p:nvPr>
        </p:nvGraphicFramePr>
        <p:xfrm>
          <a:off x="1187624" y="1977842"/>
          <a:ext cx="6600056" cy="2225040"/>
        </p:xfrm>
        <a:graphic>
          <a:graphicData uri="http://schemas.openxmlformats.org/drawingml/2006/table">
            <a:tbl>
              <a:tblPr firstRow="1" bandRow="1">
                <a:tableStyleId>{5C22544A-7EE6-4342-B048-85BDC9FD1C3A}</a:tableStyleId>
              </a:tblPr>
              <a:tblGrid>
                <a:gridCol w="3552056">
                  <a:extLst>
                    <a:ext uri="{9D8B030D-6E8A-4147-A177-3AD203B41FA5}">
                      <a16:colId xmlns:a16="http://schemas.microsoft.com/office/drawing/2014/main" val="3092902957"/>
                    </a:ext>
                  </a:extLst>
                </a:gridCol>
                <a:gridCol w="3048000">
                  <a:extLst>
                    <a:ext uri="{9D8B030D-6E8A-4147-A177-3AD203B41FA5}">
                      <a16:colId xmlns:a16="http://schemas.microsoft.com/office/drawing/2014/main" val="1933152891"/>
                    </a:ext>
                  </a:extLst>
                </a:gridCol>
              </a:tblGrid>
              <a:tr h="370840">
                <a:tc>
                  <a:txBody>
                    <a:bodyPr/>
                    <a:lstStyle/>
                    <a:p>
                      <a:r>
                        <a:rPr lang="fr-FR" dirty="0">
                          <a:latin typeface="Cambria" panose="02040503050406030204" pitchFamily="18" charset="0"/>
                          <a:ea typeface="Cambria" panose="02040503050406030204" pitchFamily="18" charset="0"/>
                        </a:rPr>
                        <a:t>Nombre des produits achetés</a:t>
                      </a:r>
                    </a:p>
                  </a:txBody>
                  <a:tcPr/>
                </a:tc>
                <a:tc>
                  <a:txBody>
                    <a:bodyPr/>
                    <a:lstStyle/>
                    <a:p>
                      <a:r>
                        <a:rPr lang="fr-FR" dirty="0">
                          <a:latin typeface="Cambria" panose="02040503050406030204" pitchFamily="18" charset="0"/>
                          <a:ea typeface="Cambria" panose="02040503050406030204" pitchFamily="18" charset="0"/>
                        </a:rPr>
                        <a:t>Nombre des visiteurs</a:t>
                      </a:r>
                    </a:p>
                  </a:txBody>
                  <a:tcPr/>
                </a:tc>
                <a:extLst>
                  <a:ext uri="{0D108BD9-81ED-4DB2-BD59-A6C34878D82A}">
                    <a16:rowId xmlns:a16="http://schemas.microsoft.com/office/drawing/2014/main" val="2940949208"/>
                  </a:ext>
                </a:extLst>
              </a:tr>
              <a:tr h="370840">
                <a:tc>
                  <a:txBody>
                    <a:bodyPr/>
                    <a:lstStyle/>
                    <a:p>
                      <a:r>
                        <a:rPr lang="fr-FR" dirty="0">
                          <a:latin typeface="Cambria" panose="02040503050406030204" pitchFamily="18" charset="0"/>
                          <a:ea typeface="Cambria" panose="02040503050406030204" pitchFamily="18" charset="0"/>
                        </a:rPr>
                        <a:t>0</a:t>
                      </a:r>
                    </a:p>
                  </a:txBody>
                  <a:tcPr/>
                </a:tc>
                <a:tc>
                  <a:txBody>
                    <a:bodyPr/>
                    <a:lstStyle/>
                    <a:p>
                      <a:r>
                        <a:rPr lang="fr-FR" dirty="0">
                          <a:latin typeface="Cambria" panose="02040503050406030204" pitchFamily="18" charset="0"/>
                          <a:ea typeface="Cambria" panose="02040503050406030204" pitchFamily="18" charset="0"/>
                        </a:rPr>
                        <a:t>20</a:t>
                      </a:r>
                    </a:p>
                  </a:txBody>
                  <a:tcPr/>
                </a:tc>
                <a:extLst>
                  <a:ext uri="{0D108BD9-81ED-4DB2-BD59-A6C34878D82A}">
                    <a16:rowId xmlns:a16="http://schemas.microsoft.com/office/drawing/2014/main" val="281738957"/>
                  </a:ext>
                </a:extLst>
              </a:tr>
              <a:tr h="370840">
                <a:tc>
                  <a:txBody>
                    <a:bodyPr/>
                    <a:lstStyle/>
                    <a:p>
                      <a:r>
                        <a:rPr lang="fr-FR" dirty="0">
                          <a:latin typeface="Cambria" panose="02040503050406030204" pitchFamily="18" charset="0"/>
                          <a:ea typeface="Cambria" panose="02040503050406030204" pitchFamily="18" charset="0"/>
                        </a:rPr>
                        <a:t>1</a:t>
                      </a:r>
                    </a:p>
                  </a:txBody>
                  <a:tcPr/>
                </a:tc>
                <a:tc>
                  <a:txBody>
                    <a:bodyPr/>
                    <a:lstStyle/>
                    <a:p>
                      <a:r>
                        <a:rPr lang="fr-FR" dirty="0">
                          <a:latin typeface="Cambria" panose="02040503050406030204" pitchFamily="18" charset="0"/>
                          <a:ea typeface="Cambria" panose="02040503050406030204" pitchFamily="18" charset="0"/>
                        </a:rPr>
                        <a:t>35</a:t>
                      </a:r>
                    </a:p>
                  </a:txBody>
                  <a:tcPr/>
                </a:tc>
                <a:extLst>
                  <a:ext uri="{0D108BD9-81ED-4DB2-BD59-A6C34878D82A}">
                    <a16:rowId xmlns:a16="http://schemas.microsoft.com/office/drawing/2014/main" val="2177175961"/>
                  </a:ext>
                </a:extLst>
              </a:tr>
              <a:tr h="370840">
                <a:tc>
                  <a:txBody>
                    <a:bodyPr/>
                    <a:lstStyle/>
                    <a:p>
                      <a:r>
                        <a:rPr lang="fr-FR" dirty="0">
                          <a:latin typeface="Cambria" panose="02040503050406030204" pitchFamily="18" charset="0"/>
                          <a:ea typeface="Cambria" panose="02040503050406030204" pitchFamily="18" charset="0"/>
                        </a:rPr>
                        <a:t>2</a:t>
                      </a:r>
                    </a:p>
                  </a:txBody>
                  <a:tcPr/>
                </a:tc>
                <a:tc>
                  <a:txBody>
                    <a:bodyPr/>
                    <a:lstStyle/>
                    <a:p>
                      <a:r>
                        <a:rPr lang="fr-FR" dirty="0">
                          <a:latin typeface="Cambria" panose="02040503050406030204" pitchFamily="18" charset="0"/>
                          <a:ea typeface="Cambria" panose="02040503050406030204" pitchFamily="18" charset="0"/>
                        </a:rPr>
                        <a:t>24</a:t>
                      </a:r>
                    </a:p>
                  </a:txBody>
                  <a:tcPr/>
                </a:tc>
                <a:extLst>
                  <a:ext uri="{0D108BD9-81ED-4DB2-BD59-A6C34878D82A}">
                    <a16:rowId xmlns:a16="http://schemas.microsoft.com/office/drawing/2014/main" val="787455244"/>
                  </a:ext>
                </a:extLst>
              </a:tr>
              <a:tr h="370840">
                <a:tc>
                  <a:txBody>
                    <a:bodyPr/>
                    <a:lstStyle/>
                    <a:p>
                      <a:r>
                        <a:rPr lang="fr-FR" dirty="0">
                          <a:latin typeface="Cambria" panose="02040503050406030204" pitchFamily="18" charset="0"/>
                          <a:ea typeface="Cambria" panose="02040503050406030204" pitchFamily="18" charset="0"/>
                        </a:rPr>
                        <a:t>4</a:t>
                      </a:r>
                    </a:p>
                  </a:txBody>
                  <a:tcPr/>
                </a:tc>
                <a:tc>
                  <a:txBody>
                    <a:bodyPr/>
                    <a:lstStyle/>
                    <a:p>
                      <a:r>
                        <a:rPr lang="fr-FR" dirty="0">
                          <a:latin typeface="Cambria" panose="02040503050406030204" pitchFamily="18" charset="0"/>
                          <a:ea typeface="Cambria" panose="02040503050406030204" pitchFamily="18" charset="0"/>
                        </a:rPr>
                        <a:t>16</a:t>
                      </a:r>
                    </a:p>
                  </a:txBody>
                  <a:tcPr/>
                </a:tc>
                <a:extLst>
                  <a:ext uri="{0D108BD9-81ED-4DB2-BD59-A6C34878D82A}">
                    <a16:rowId xmlns:a16="http://schemas.microsoft.com/office/drawing/2014/main" val="896779349"/>
                  </a:ext>
                </a:extLst>
              </a:tr>
              <a:tr h="370840">
                <a:tc>
                  <a:txBody>
                    <a:bodyPr/>
                    <a:lstStyle/>
                    <a:p>
                      <a:r>
                        <a:rPr lang="fr-FR" dirty="0">
                          <a:latin typeface="Cambria" panose="02040503050406030204" pitchFamily="18" charset="0"/>
                          <a:ea typeface="Cambria" panose="02040503050406030204" pitchFamily="18" charset="0"/>
                        </a:rPr>
                        <a:t>5</a:t>
                      </a:r>
                    </a:p>
                  </a:txBody>
                  <a:tcPr/>
                </a:tc>
                <a:tc>
                  <a:txBody>
                    <a:bodyPr/>
                    <a:lstStyle/>
                    <a:p>
                      <a:r>
                        <a:rPr lang="fr-FR" dirty="0">
                          <a:latin typeface="Cambria" panose="02040503050406030204" pitchFamily="18" charset="0"/>
                          <a:ea typeface="Cambria" panose="02040503050406030204" pitchFamily="18" charset="0"/>
                        </a:rPr>
                        <a:t>5</a:t>
                      </a:r>
                    </a:p>
                  </a:txBody>
                  <a:tcPr/>
                </a:tc>
                <a:extLst>
                  <a:ext uri="{0D108BD9-81ED-4DB2-BD59-A6C34878D82A}">
                    <a16:rowId xmlns:a16="http://schemas.microsoft.com/office/drawing/2014/main" val="1650868847"/>
                  </a:ext>
                </a:extLst>
              </a:tr>
            </a:tbl>
          </a:graphicData>
        </a:graphic>
      </p:graphicFrame>
    </p:spTree>
    <p:extLst>
      <p:ext uri="{BB962C8B-B14F-4D97-AF65-F5344CB8AC3E}">
        <p14:creationId xmlns:p14="http://schemas.microsoft.com/office/powerpoint/2010/main" val="2330945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ED741-9FC0-4920-95C4-950CC56AF35B}"/>
              </a:ext>
            </a:extLst>
          </p:cNvPr>
          <p:cNvSpPr>
            <a:spLocks noGrp="1"/>
          </p:cNvSpPr>
          <p:nvPr>
            <p:ph type="title"/>
          </p:nvPr>
        </p:nvSpPr>
        <p:spPr>
          <a:xfrm>
            <a:off x="457200" y="53752"/>
            <a:ext cx="8229600" cy="1143000"/>
          </a:xfrm>
        </p:spPr>
        <p:txBody>
          <a:bodyPr/>
          <a:lstStyle/>
          <a:p>
            <a:r>
              <a:rPr lang="fr-FR" sz="4400" dirty="0">
                <a:latin typeface="Cambria" panose="02040503050406030204" pitchFamily="18" charset="0"/>
                <a:ea typeface="Cambria" panose="02040503050406030204" pitchFamily="18" charset="0"/>
              </a:rPr>
              <a:t>Exercice d’application</a:t>
            </a:r>
            <a:endParaRPr lang="fr-FR" dirty="0"/>
          </a:p>
        </p:txBody>
      </p:sp>
      <p:sp>
        <p:nvSpPr>
          <p:cNvPr id="3" name="Espace réservé du contenu 2">
            <a:extLst>
              <a:ext uri="{FF2B5EF4-FFF2-40B4-BE49-F238E27FC236}">
                <a16:creationId xmlns:a16="http://schemas.microsoft.com/office/drawing/2014/main" id="{DD5D8AB6-C0B4-46D4-9A63-F313BD09795D}"/>
              </a:ext>
            </a:extLst>
          </p:cNvPr>
          <p:cNvSpPr>
            <a:spLocks noGrp="1"/>
          </p:cNvSpPr>
          <p:nvPr>
            <p:ph idx="1"/>
          </p:nvPr>
        </p:nvSpPr>
        <p:spPr>
          <a:xfrm>
            <a:off x="47625" y="1009476"/>
            <a:ext cx="9077325" cy="5791374"/>
          </a:xfrm>
        </p:spPr>
        <p:txBody>
          <a:bodyPr/>
          <a:lstStyle/>
          <a:p>
            <a:pPr marL="0" indent="0">
              <a:buNone/>
            </a:pPr>
            <a:r>
              <a:rPr lang="fr-FR" sz="2000" dirty="0">
                <a:latin typeface="Cambria" panose="02040503050406030204" pitchFamily="18" charset="0"/>
                <a:ea typeface="Cambria" panose="02040503050406030204" pitchFamily="18" charset="0"/>
              </a:rPr>
              <a:t>Les données ci-dessous représentent le nombre des produits achetés lors de la visite de 100 visiteurs d’un  centre commercial :</a:t>
            </a: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La moyenne est égale à 2</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Pearson est négatif </a:t>
            </a:r>
          </a:p>
          <a:p>
            <a:pPr>
              <a:buFont typeface="Wingdings" panose="05000000000000000000" pitchFamily="2" charset="2"/>
              <a:buChar char="q"/>
            </a:pPr>
            <a:r>
              <a:rPr lang="fr-FR" sz="2000" dirty="0">
                <a:solidFill>
                  <a:srgbClr val="FF0000"/>
                </a:solidFill>
                <a:latin typeface="Cambria" panose="02040503050406030204" pitchFamily="18" charset="0"/>
                <a:ea typeface="Cambria" panose="02040503050406030204" pitchFamily="18" charset="0"/>
              </a:rPr>
              <a:t>L’écart-type est égal à 1.470238</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variation est supérieur à 95%</a:t>
            </a:r>
          </a:p>
        </p:txBody>
      </p:sp>
      <p:graphicFrame>
        <p:nvGraphicFramePr>
          <p:cNvPr id="4" name="Tableau 4">
            <a:extLst>
              <a:ext uri="{FF2B5EF4-FFF2-40B4-BE49-F238E27FC236}">
                <a16:creationId xmlns:a16="http://schemas.microsoft.com/office/drawing/2014/main" id="{29778709-180E-49EC-AB31-E4E6271C9889}"/>
              </a:ext>
            </a:extLst>
          </p:cNvPr>
          <p:cNvGraphicFramePr>
            <a:graphicFrameLocks noGrp="1"/>
          </p:cNvGraphicFramePr>
          <p:nvPr/>
        </p:nvGraphicFramePr>
        <p:xfrm>
          <a:off x="1187624" y="1977842"/>
          <a:ext cx="6600056" cy="2225040"/>
        </p:xfrm>
        <a:graphic>
          <a:graphicData uri="http://schemas.openxmlformats.org/drawingml/2006/table">
            <a:tbl>
              <a:tblPr firstRow="1" bandRow="1">
                <a:tableStyleId>{5C22544A-7EE6-4342-B048-85BDC9FD1C3A}</a:tableStyleId>
              </a:tblPr>
              <a:tblGrid>
                <a:gridCol w="3552056">
                  <a:extLst>
                    <a:ext uri="{9D8B030D-6E8A-4147-A177-3AD203B41FA5}">
                      <a16:colId xmlns:a16="http://schemas.microsoft.com/office/drawing/2014/main" val="3092902957"/>
                    </a:ext>
                  </a:extLst>
                </a:gridCol>
                <a:gridCol w="3048000">
                  <a:extLst>
                    <a:ext uri="{9D8B030D-6E8A-4147-A177-3AD203B41FA5}">
                      <a16:colId xmlns:a16="http://schemas.microsoft.com/office/drawing/2014/main" val="1933152891"/>
                    </a:ext>
                  </a:extLst>
                </a:gridCol>
              </a:tblGrid>
              <a:tr h="370840">
                <a:tc>
                  <a:txBody>
                    <a:bodyPr/>
                    <a:lstStyle/>
                    <a:p>
                      <a:r>
                        <a:rPr lang="fr-FR" dirty="0">
                          <a:latin typeface="Cambria" panose="02040503050406030204" pitchFamily="18" charset="0"/>
                          <a:ea typeface="Cambria" panose="02040503050406030204" pitchFamily="18" charset="0"/>
                        </a:rPr>
                        <a:t>Nombre des produits achetés</a:t>
                      </a:r>
                    </a:p>
                  </a:txBody>
                  <a:tcPr/>
                </a:tc>
                <a:tc>
                  <a:txBody>
                    <a:bodyPr/>
                    <a:lstStyle/>
                    <a:p>
                      <a:r>
                        <a:rPr lang="fr-FR" dirty="0">
                          <a:latin typeface="Cambria" panose="02040503050406030204" pitchFamily="18" charset="0"/>
                          <a:ea typeface="Cambria" panose="02040503050406030204" pitchFamily="18" charset="0"/>
                        </a:rPr>
                        <a:t>Nombre des visiteurs</a:t>
                      </a:r>
                    </a:p>
                  </a:txBody>
                  <a:tcPr/>
                </a:tc>
                <a:extLst>
                  <a:ext uri="{0D108BD9-81ED-4DB2-BD59-A6C34878D82A}">
                    <a16:rowId xmlns:a16="http://schemas.microsoft.com/office/drawing/2014/main" val="2940949208"/>
                  </a:ext>
                </a:extLst>
              </a:tr>
              <a:tr h="370840">
                <a:tc>
                  <a:txBody>
                    <a:bodyPr/>
                    <a:lstStyle/>
                    <a:p>
                      <a:r>
                        <a:rPr lang="fr-FR" dirty="0">
                          <a:latin typeface="Cambria" panose="02040503050406030204" pitchFamily="18" charset="0"/>
                          <a:ea typeface="Cambria" panose="02040503050406030204" pitchFamily="18" charset="0"/>
                        </a:rPr>
                        <a:t>0</a:t>
                      </a:r>
                    </a:p>
                  </a:txBody>
                  <a:tcPr/>
                </a:tc>
                <a:tc>
                  <a:txBody>
                    <a:bodyPr/>
                    <a:lstStyle/>
                    <a:p>
                      <a:r>
                        <a:rPr lang="fr-FR" dirty="0">
                          <a:latin typeface="Cambria" panose="02040503050406030204" pitchFamily="18" charset="0"/>
                          <a:ea typeface="Cambria" panose="02040503050406030204" pitchFamily="18" charset="0"/>
                        </a:rPr>
                        <a:t>20</a:t>
                      </a:r>
                    </a:p>
                  </a:txBody>
                  <a:tcPr/>
                </a:tc>
                <a:extLst>
                  <a:ext uri="{0D108BD9-81ED-4DB2-BD59-A6C34878D82A}">
                    <a16:rowId xmlns:a16="http://schemas.microsoft.com/office/drawing/2014/main" val="281738957"/>
                  </a:ext>
                </a:extLst>
              </a:tr>
              <a:tr h="370840">
                <a:tc>
                  <a:txBody>
                    <a:bodyPr/>
                    <a:lstStyle/>
                    <a:p>
                      <a:r>
                        <a:rPr lang="fr-FR" dirty="0">
                          <a:latin typeface="Cambria" panose="02040503050406030204" pitchFamily="18" charset="0"/>
                          <a:ea typeface="Cambria" panose="02040503050406030204" pitchFamily="18" charset="0"/>
                        </a:rPr>
                        <a:t>1</a:t>
                      </a:r>
                    </a:p>
                  </a:txBody>
                  <a:tcPr/>
                </a:tc>
                <a:tc>
                  <a:txBody>
                    <a:bodyPr/>
                    <a:lstStyle/>
                    <a:p>
                      <a:r>
                        <a:rPr lang="fr-FR" dirty="0">
                          <a:latin typeface="Cambria" panose="02040503050406030204" pitchFamily="18" charset="0"/>
                          <a:ea typeface="Cambria" panose="02040503050406030204" pitchFamily="18" charset="0"/>
                        </a:rPr>
                        <a:t>35</a:t>
                      </a:r>
                    </a:p>
                  </a:txBody>
                  <a:tcPr/>
                </a:tc>
                <a:extLst>
                  <a:ext uri="{0D108BD9-81ED-4DB2-BD59-A6C34878D82A}">
                    <a16:rowId xmlns:a16="http://schemas.microsoft.com/office/drawing/2014/main" val="2177175961"/>
                  </a:ext>
                </a:extLst>
              </a:tr>
              <a:tr h="370840">
                <a:tc>
                  <a:txBody>
                    <a:bodyPr/>
                    <a:lstStyle/>
                    <a:p>
                      <a:r>
                        <a:rPr lang="fr-FR" dirty="0">
                          <a:latin typeface="Cambria" panose="02040503050406030204" pitchFamily="18" charset="0"/>
                          <a:ea typeface="Cambria" panose="02040503050406030204" pitchFamily="18" charset="0"/>
                        </a:rPr>
                        <a:t>2</a:t>
                      </a:r>
                    </a:p>
                  </a:txBody>
                  <a:tcPr/>
                </a:tc>
                <a:tc>
                  <a:txBody>
                    <a:bodyPr/>
                    <a:lstStyle/>
                    <a:p>
                      <a:r>
                        <a:rPr lang="fr-FR" dirty="0">
                          <a:latin typeface="Cambria" panose="02040503050406030204" pitchFamily="18" charset="0"/>
                          <a:ea typeface="Cambria" panose="02040503050406030204" pitchFamily="18" charset="0"/>
                        </a:rPr>
                        <a:t>24</a:t>
                      </a:r>
                    </a:p>
                  </a:txBody>
                  <a:tcPr/>
                </a:tc>
                <a:extLst>
                  <a:ext uri="{0D108BD9-81ED-4DB2-BD59-A6C34878D82A}">
                    <a16:rowId xmlns:a16="http://schemas.microsoft.com/office/drawing/2014/main" val="787455244"/>
                  </a:ext>
                </a:extLst>
              </a:tr>
              <a:tr h="370840">
                <a:tc>
                  <a:txBody>
                    <a:bodyPr/>
                    <a:lstStyle/>
                    <a:p>
                      <a:r>
                        <a:rPr lang="fr-FR" dirty="0">
                          <a:latin typeface="Cambria" panose="02040503050406030204" pitchFamily="18" charset="0"/>
                          <a:ea typeface="Cambria" panose="02040503050406030204" pitchFamily="18" charset="0"/>
                        </a:rPr>
                        <a:t>4</a:t>
                      </a:r>
                    </a:p>
                  </a:txBody>
                  <a:tcPr/>
                </a:tc>
                <a:tc>
                  <a:txBody>
                    <a:bodyPr/>
                    <a:lstStyle/>
                    <a:p>
                      <a:r>
                        <a:rPr lang="fr-FR" dirty="0">
                          <a:latin typeface="Cambria" panose="02040503050406030204" pitchFamily="18" charset="0"/>
                          <a:ea typeface="Cambria" panose="02040503050406030204" pitchFamily="18" charset="0"/>
                        </a:rPr>
                        <a:t>16</a:t>
                      </a:r>
                    </a:p>
                  </a:txBody>
                  <a:tcPr/>
                </a:tc>
                <a:extLst>
                  <a:ext uri="{0D108BD9-81ED-4DB2-BD59-A6C34878D82A}">
                    <a16:rowId xmlns:a16="http://schemas.microsoft.com/office/drawing/2014/main" val="896779349"/>
                  </a:ext>
                </a:extLst>
              </a:tr>
              <a:tr h="370840">
                <a:tc>
                  <a:txBody>
                    <a:bodyPr/>
                    <a:lstStyle/>
                    <a:p>
                      <a:r>
                        <a:rPr lang="fr-FR" dirty="0">
                          <a:latin typeface="Cambria" panose="02040503050406030204" pitchFamily="18" charset="0"/>
                          <a:ea typeface="Cambria" panose="02040503050406030204" pitchFamily="18" charset="0"/>
                        </a:rPr>
                        <a:t>5</a:t>
                      </a:r>
                    </a:p>
                  </a:txBody>
                  <a:tcPr/>
                </a:tc>
                <a:tc>
                  <a:txBody>
                    <a:bodyPr/>
                    <a:lstStyle/>
                    <a:p>
                      <a:r>
                        <a:rPr lang="fr-FR" dirty="0">
                          <a:latin typeface="Cambria" panose="02040503050406030204" pitchFamily="18" charset="0"/>
                          <a:ea typeface="Cambria" panose="02040503050406030204" pitchFamily="18" charset="0"/>
                        </a:rPr>
                        <a:t>5</a:t>
                      </a:r>
                    </a:p>
                  </a:txBody>
                  <a:tcPr/>
                </a:tc>
                <a:extLst>
                  <a:ext uri="{0D108BD9-81ED-4DB2-BD59-A6C34878D82A}">
                    <a16:rowId xmlns:a16="http://schemas.microsoft.com/office/drawing/2014/main" val="1650868847"/>
                  </a:ext>
                </a:extLst>
              </a:tr>
            </a:tbl>
          </a:graphicData>
        </a:graphic>
      </p:graphicFrame>
    </p:spTree>
    <p:extLst>
      <p:ext uri="{BB962C8B-B14F-4D97-AF65-F5344CB8AC3E}">
        <p14:creationId xmlns:p14="http://schemas.microsoft.com/office/powerpoint/2010/main" val="578277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ED741-9FC0-4920-95C4-950CC56AF35B}"/>
              </a:ext>
            </a:extLst>
          </p:cNvPr>
          <p:cNvSpPr>
            <a:spLocks noGrp="1"/>
          </p:cNvSpPr>
          <p:nvPr>
            <p:ph type="title"/>
          </p:nvPr>
        </p:nvSpPr>
        <p:spPr>
          <a:xfrm>
            <a:off x="457200" y="53752"/>
            <a:ext cx="8229600" cy="1143000"/>
          </a:xfrm>
        </p:spPr>
        <p:txBody>
          <a:bodyPr/>
          <a:lstStyle/>
          <a:p>
            <a:r>
              <a:rPr lang="fr-FR" sz="4400" dirty="0">
                <a:latin typeface="Cambria" panose="02040503050406030204" pitchFamily="18" charset="0"/>
                <a:ea typeface="Cambria" panose="02040503050406030204" pitchFamily="18" charset="0"/>
              </a:rPr>
              <a:t>Exercice d’application</a:t>
            </a:r>
            <a:endParaRPr lang="fr-FR" dirty="0"/>
          </a:p>
        </p:txBody>
      </p:sp>
      <p:sp>
        <p:nvSpPr>
          <p:cNvPr id="3" name="Espace réservé du contenu 2">
            <a:extLst>
              <a:ext uri="{FF2B5EF4-FFF2-40B4-BE49-F238E27FC236}">
                <a16:creationId xmlns:a16="http://schemas.microsoft.com/office/drawing/2014/main" id="{DD5D8AB6-C0B4-46D4-9A63-F313BD09795D}"/>
              </a:ext>
            </a:extLst>
          </p:cNvPr>
          <p:cNvSpPr>
            <a:spLocks noGrp="1"/>
          </p:cNvSpPr>
          <p:nvPr>
            <p:ph idx="1"/>
          </p:nvPr>
        </p:nvSpPr>
        <p:spPr>
          <a:xfrm>
            <a:off x="47625" y="1009476"/>
            <a:ext cx="9077325" cy="5791374"/>
          </a:xfrm>
        </p:spPr>
        <p:txBody>
          <a:bodyPr/>
          <a:lstStyle/>
          <a:p>
            <a:pPr marL="0" indent="0">
              <a:buNone/>
            </a:pPr>
            <a:r>
              <a:rPr lang="fr-FR" sz="2000" dirty="0">
                <a:latin typeface="Cambria" panose="02040503050406030204" pitchFamily="18" charset="0"/>
                <a:ea typeface="Cambria" panose="02040503050406030204" pitchFamily="18" charset="0"/>
              </a:rPr>
              <a:t>Les données ci-dessous représentent le nombre des produits achetés lors de la visite de 100 visiteurs d’un  centre commercial :</a:t>
            </a: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premier quartile est égal à 0</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La médiane est égale à 2</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coefficient de Yule et Kendall est Positif</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L’écart interquartile est égal à 2</a:t>
            </a:r>
          </a:p>
        </p:txBody>
      </p:sp>
      <p:graphicFrame>
        <p:nvGraphicFramePr>
          <p:cNvPr id="4" name="Tableau 4">
            <a:extLst>
              <a:ext uri="{FF2B5EF4-FFF2-40B4-BE49-F238E27FC236}">
                <a16:creationId xmlns:a16="http://schemas.microsoft.com/office/drawing/2014/main" id="{29778709-180E-49EC-AB31-E4E6271C9889}"/>
              </a:ext>
            </a:extLst>
          </p:cNvPr>
          <p:cNvGraphicFramePr>
            <a:graphicFrameLocks noGrp="1"/>
          </p:cNvGraphicFramePr>
          <p:nvPr/>
        </p:nvGraphicFramePr>
        <p:xfrm>
          <a:off x="1187624" y="1977842"/>
          <a:ext cx="6600056" cy="2225040"/>
        </p:xfrm>
        <a:graphic>
          <a:graphicData uri="http://schemas.openxmlformats.org/drawingml/2006/table">
            <a:tbl>
              <a:tblPr firstRow="1" bandRow="1">
                <a:tableStyleId>{5C22544A-7EE6-4342-B048-85BDC9FD1C3A}</a:tableStyleId>
              </a:tblPr>
              <a:tblGrid>
                <a:gridCol w="3552056">
                  <a:extLst>
                    <a:ext uri="{9D8B030D-6E8A-4147-A177-3AD203B41FA5}">
                      <a16:colId xmlns:a16="http://schemas.microsoft.com/office/drawing/2014/main" val="3092902957"/>
                    </a:ext>
                  </a:extLst>
                </a:gridCol>
                <a:gridCol w="3048000">
                  <a:extLst>
                    <a:ext uri="{9D8B030D-6E8A-4147-A177-3AD203B41FA5}">
                      <a16:colId xmlns:a16="http://schemas.microsoft.com/office/drawing/2014/main" val="1933152891"/>
                    </a:ext>
                  </a:extLst>
                </a:gridCol>
              </a:tblGrid>
              <a:tr h="370840">
                <a:tc>
                  <a:txBody>
                    <a:bodyPr/>
                    <a:lstStyle/>
                    <a:p>
                      <a:r>
                        <a:rPr lang="fr-FR" dirty="0">
                          <a:latin typeface="Cambria" panose="02040503050406030204" pitchFamily="18" charset="0"/>
                          <a:ea typeface="Cambria" panose="02040503050406030204" pitchFamily="18" charset="0"/>
                        </a:rPr>
                        <a:t>Nombre des produits achetés</a:t>
                      </a:r>
                    </a:p>
                  </a:txBody>
                  <a:tcPr/>
                </a:tc>
                <a:tc>
                  <a:txBody>
                    <a:bodyPr/>
                    <a:lstStyle/>
                    <a:p>
                      <a:r>
                        <a:rPr lang="fr-FR" dirty="0">
                          <a:latin typeface="Cambria" panose="02040503050406030204" pitchFamily="18" charset="0"/>
                          <a:ea typeface="Cambria" panose="02040503050406030204" pitchFamily="18" charset="0"/>
                        </a:rPr>
                        <a:t>Nombre des visiteurs</a:t>
                      </a:r>
                    </a:p>
                  </a:txBody>
                  <a:tcPr/>
                </a:tc>
                <a:extLst>
                  <a:ext uri="{0D108BD9-81ED-4DB2-BD59-A6C34878D82A}">
                    <a16:rowId xmlns:a16="http://schemas.microsoft.com/office/drawing/2014/main" val="2940949208"/>
                  </a:ext>
                </a:extLst>
              </a:tr>
              <a:tr h="370840">
                <a:tc>
                  <a:txBody>
                    <a:bodyPr/>
                    <a:lstStyle/>
                    <a:p>
                      <a:r>
                        <a:rPr lang="fr-FR" dirty="0">
                          <a:latin typeface="Cambria" panose="02040503050406030204" pitchFamily="18" charset="0"/>
                          <a:ea typeface="Cambria" panose="02040503050406030204" pitchFamily="18" charset="0"/>
                        </a:rPr>
                        <a:t>0</a:t>
                      </a:r>
                    </a:p>
                  </a:txBody>
                  <a:tcPr/>
                </a:tc>
                <a:tc>
                  <a:txBody>
                    <a:bodyPr/>
                    <a:lstStyle/>
                    <a:p>
                      <a:r>
                        <a:rPr lang="fr-FR" dirty="0">
                          <a:latin typeface="Cambria" panose="02040503050406030204" pitchFamily="18" charset="0"/>
                          <a:ea typeface="Cambria" panose="02040503050406030204" pitchFamily="18" charset="0"/>
                        </a:rPr>
                        <a:t>20</a:t>
                      </a:r>
                    </a:p>
                  </a:txBody>
                  <a:tcPr/>
                </a:tc>
                <a:extLst>
                  <a:ext uri="{0D108BD9-81ED-4DB2-BD59-A6C34878D82A}">
                    <a16:rowId xmlns:a16="http://schemas.microsoft.com/office/drawing/2014/main" val="281738957"/>
                  </a:ext>
                </a:extLst>
              </a:tr>
              <a:tr h="370840">
                <a:tc>
                  <a:txBody>
                    <a:bodyPr/>
                    <a:lstStyle/>
                    <a:p>
                      <a:r>
                        <a:rPr lang="fr-FR" dirty="0">
                          <a:latin typeface="Cambria" panose="02040503050406030204" pitchFamily="18" charset="0"/>
                          <a:ea typeface="Cambria" panose="02040503050406030204" pitchFamily="18" charset="0"/>
                        </a:rPr>
                        <a:t>1</a:t>
                      </a:r>
                    </a:p>
                  </a:txBody>
                  <a:tcPr/>
                </a:tc>
                <a:tc>
                  <a:txBody>
                    <a:bodyPr/>
                    <a:lstStyle/>
                    <a:p>
                      <a:r>
                        <a:rPr lang="fr-FR" dirty="0">
                          <a:latin typeface="Cambria" panose="02040503050406030204" pitchFamily="18" charset="0"/>
                          <a:ea typeface="Cambria" panose="02040503050406030204" pitchFamily="18" charset="0"/>
                        </a:rPr>
                        <a:t>35</a:t>
                      </a:r>
                    </a:p>
                  </a:txBody>
                  <a:tcPr/>
                </a:tc>
                <a:extLst>
                  <a:ext uri="{0D108BD9-81ED-4DB2-BD59-A6C34878D82A}">
                    <a16:rowId xmlns:a16="http://schemas.microsoft.com/office/drawing/2014/main" val="2177175961"/>
                  </a:ext>
                </a:extLst>
              </a:tr>
              <a:tr h="370840">
                <a:tc>
                  <a:txBody>
                    <a:bodyPr/>
                    <a:lstStyle/>
                    <a:p>
                      <a:r>
                        <a:rPr lang="fr-FR" dirty="0">
                          <a:latin typeface="Cambria" panose="02040503050406030204" pitchFamily="18" charset="0"/>
                          <a:ea typeface="Cambria" panose="02040503050406030204" pitchFamily="18" charset="0"/>
                        </a:rPr>
                        <a:t>2</a:t>
                      </a:r>
                    </a:p>
                  </a:txBody>
                  <a:tcPr/>
                </a:tc>
                <a:tc>
                  <a:txBody>
                    <a:bodyPr/>
                    <a:lstStyle/>
                    <a:p>
                      <a:r>
                        <a:rPr lang="fr-FR" dirty="0">
                          <a:latin typeface="Cambria" panose="02040503050406030204" pitchFamily="18" charset="0"/>
                          <a:ea typeface="Cambria" panose="02040503050406030204" pitchFamily="18" charset="0"/>
                        </a:rPr>
                        <a:t>24</a:t>
                      </a:r>
                    </a:p>
                  </a:txBody>
                  <a:tcPr/>
                </a:tc>
                <a:extLst>
                  <a:ext uri="{0D108BD9-81ED-4DB2-BD59-A6C34878D82A}">
                    <a16:rowId xmlns:a16="http://schemas.microsoft.com/office/drawing/2014/main" val="787455244"/>
                  </a:ext>
                </a:extLst>
              </a:tr>
              <a:tr h="370840">
                <a:tc>
                  <a:txBody>
                    <a:bodyPr/>
                    <a:lstStyle/>
                    <a:p>
                      <a:r>
                        <a:rPr lang="fr-FR" dirty="0">
                          <a:latin typeface="Cambria" panose="02040503050406030204" pitchFamily="18" charset="0"/>
                          <a:ea typeface="Cambria" panose="02040503050406030204" pitchFamily="18" charset="0"/>
                        </a:rPr>
                        <a:t>4</a:t>
                      </a:r>
                    </a:p>
                  </a:txBody>
                  <a:tcPr/>
                </a:tc>
                <a:tc>
                  <a:txBody>
                    <a:bodyPr/>
                    <a:lstStyle/>
                    <a:p>
                      <a:r>
                        <a:rPr lang="fr-FR" dirty="0">
                          <a:latin typeface="Cambria" panose="02040503050406030204" pitchFamily="18" charset="0"/>
                          <a:ea typeface="Cambria" panose="02040503050406030204" pitchFamily="18" charset="0"/>
                        </a:rPr>
                        <a:t>16</a:t>
                      </a:r>
                    </a:p>
                  </a:txBody>
                  <a:tcPr/>
                </a:tc>
                <a:extLst>
                  <a:ext uri="{0D108BD9-81ED-4DB2-BD59-A6C34878D82A}">
                    <a16:rowId xmlns:a16="http://schemas.microsoft.com/office/drawing/2014/main" val="896779349"/>
                  </a:ext>
                </a:extLst>
              </a:tr>
              <a:tr h="370840">
                <a:tc>
                  <a:txBody>
                    <a:bodyPr/>
                    <a:lstStyle/>
                    <a:p>
                      <a:r>
                        <a:rPr lang="fr-FR" dirty="0">
                          <a:latin typeface="Cambria" panose="02040503050406030204" pitchFamily="18" charset="0"/>
                          <a:ea typeface="Cambria" panose="02040503050406030204" pitchFamily="18" charset="0"/>
                        </a:rPr>
                        <a:t>5</a:t>
                      </a:r>
                    </a:p>
                  </a:txBody>
                  <a:tcPr/>
                </a:tc>
                <a:tc>
                  <a:txBody>
                    <a:bodyPr/>
                    <a:lstStyle/>
                    <a:p>
                      <a:r>
                        <a:rPr lang="fr-FR" dirty="0">
                          <a:latin typeface="Cambria" panose="02040503050406030204" pitchFamily="18" charset="0"/>
                          <a:ea typeface="Cambria" panose="02040503050406030204" pitchFamily="18" charset="0"/>
                        </a:rPr>
                        <a:t>5</a:t>
                      </a:r>
                    </a:p>
                  </a:txBody>
                  <a:tcPr/>
                </a:tc>
                <a:extLst>
                  <a:ext uri="{0D108BD9-81ED-4DB2-BD59-A6C34878D82A}">
                    <a16:rowId xmlns:a16="http://schemas.microsoft.com/office/drawing/2014/main" val="1650868847"/>
                  </a:ext>
                </a:extLst>
              </a:tr>
            </a:tbl>
          </a:graphicData>
        </a:graphic>
      </p:graphicFrame>
    </p:spTree>
    <p:extLst>
      <p:ext uri="{BB962C8B-B14F-4D97-AF65-F5344CB8AC3E}">
        <p14:creationId xmlns:p14="http://schemas.microsoft.com/office/powerpoint/2010/main" val="3768866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8ED741-9FC0-4920-95C4-950CC56AF35B}"/>
              </a:ext>
            </a:extLst>
          </p:cNvPr>
          <p:cNvSpPr>
            <a:spLocks noGrp="1"/>
          </p:cNvSpPr>
          <p:nvPr>
            <p:ph type="title"/>
          </p:nvPr>
        </p:nvSpPr>
        <p:spPr>
          <a:xfrm>
            <a:off x="457200" y="53752"/>
            <a:ext cx="8229600" cy="1143000"/>
          </a:xfrm>
        </p:spPr>
        <p:txBody>
          <a:bodyPr/>
          <a:lstStyle/>
          <a:p>
            <a:r>
              <a:rPr lang="fr-FR" sz="4400" dirty="0">
                <a:latin typeface="Cambria" panose="02040503050406030204" pitchFamily="18" charset="0"/>
                <a:ea typeface="Cambria" panose="02040503050406030204" pitchFamily="18" charset="0"/>
              </a:rPr>
              <a:t>Exercice d’application</a:t>
            </a:r>
            <a:endParaRPr lang="fr-FR" dirty="0"/>
          </a:p>
        </p:txBody>
      </p:sp>
      <p:sp>
        <p:nvSpPr>
          <p:cNvPr id="3" name="Espace réservé du contenu 2">
            <a:extLst>
              <a:ext uri="{FF2B5EF4-FFF2-40B4-BE49-F238E27FC236}">
                <a16:creationId xmlns:a16="http://schemas.microsoft.com/office/drawing/2014/main" id="{DD5D8AB6-C0B4-46D4-9A63-F313BD09795D}"/>
              </a:ext>
            </a:extLst>
          </p:cNvPr>
          <p:cNvSpPr>
            <a:spLocks noGrp="1"/>
          </p:cNvSpPr>
          <p:nvPr>
            <p:ph idx="1"/>
          </p:nvPr>
        </p:nvSpPr>
        <p:spPr>
          <a:xfrm>
            <a:off x="47625" y="1009476"/>
            <a:ext cx="9077325" cy="5791374"/>
          </a:xfrm>
        </p:spPr>
        <p:txBody>
          <a:bodyPr/>
          <a:lstStyle/>
          <a:p>
            <a:pPr marL="0" indent="0">
              <a:buNone/>
            </a:pPr>
            <a:r>
              <a:rPr lang="fr-FR" sz="2000" dirty="0">
                <a:latin typeface="Cambria" panose="02040503050406030204" pitchFamily="18" charset="0"/>
                <a:ea typeface="Cambria" panose="02040503050406030204" pitchFamily="18" charset="0"/>
              </a:rPr>
              <a:t>Les données ci-dessous représentent le nombre des produits achetés lors de la visite de 100 visiteurs d’un  centre commercial :</a:t>
            </a:r>
          </a:p>
          <a:p>
            <a:pPr marL="0" indent="0" algn="ctr">
              <a:buNone/>
            </a:pPr>
            <a:endParaRPr lang="fr-FR" sz="2000" dirty="0">
              <a:latin typeface="Cambria" panose="02040503050406030204" pitchFamily="18" charset="0"/>
              <a:ea typeface="Cambria" panose="02040503050406030204" pitchFamily="18" charset="0"/>
            </a:endParaRP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r>
              <a:rPr lang="fr-FR" sz="2000" dirty="0">
                <a:latin typeface="Cambria" panose="02040503050406030204" pitchFamily="18" charset="0"/>
                <a:ea typeface="Cambria" panose="02040503050406030204" pitchFamily="18" charset="0"/>
              </a:rPr>
              <a:t>Trouver la bonne proposition (parmi les quatre propositions ci-dessous)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Le premier quartile est égal à 0</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La médiane est égale à 2</a:t>
            </a:r>
          </a:p>
          <a:p>
            <a:pPr>
              <a:buFont typeface="Wingdings" panose="05000000000000000000" pitchFamily="2" charset="2"/>
              <a:buChar char="q"/>
            </a:pPr>
            <a:r>
              <a:rPr lang="fr-FR" sz="2000" dirty="0">
                <a:solidFill>
                  <a:srgbClr val="FF0000"/>
                </a:solidFill>
                <a:latin typeface="Cambria" panose="02040503050406030204" pitchFamily="18" charset="0"/>
                <a:ea typeface="Cambria" panose="02040503050406030204" pitchFamily="18" charset="0"/>
              </a:rPr>
              <a:t>Le coefficient de Yule et Kendall est Positif</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L’écart interquartile est égal à 2</a:t>
            </a:r>
          </a:p>
        </p:txBody>
      </p:sp>
      <p:graphicFrame>
        <p:nvGraphicFramePr>
          <p:cNvPr id="4" name="Tableau 4">
            <a:extLst>
              <a:ext uri="{FF2B5EF4-FFF2-40B4-BE49-F238E27FC236}">
                <a16:creationId xmlns:a16="http://schemas.microsoft.com/office/drawing/2014/main" id="{29778709-180E-49EC-AB31-E4E6271C9889}"/>
              </a:ext>
            </a:extLst>
          </p:cNvPr>
          <p:cNvGraphicFramePr>
            <a:graphicFrameLocks noGrp="1"/>
          </p:cNvGraphicFramePr>
          <p:nvPr/>
        </p:nvGraphicFramePr>
        <p:xfrm>
          <a:off x="1187624" y="1977842"/>
          <a:ext cx="6600056" cy="2225040"/>
        </p:xfrm>
        <a:graphic>
          <a:graphicData uri="http://schemas.openxmlformats.org/drawingml/2006/table">
            <a:tbl>
              <a:tblPr firstRow="1" bandRow="1">
                <a:tableStyleId>{5C22544A-7EE6-4342-B048-85BDC9FD1C3A}</a:tableStyleId>
              </a:tblPr>
              <a:tblGrid>
                <a:gridCol w="3552056">
                  <a:extLst>
                    <a:ext uri="{9D8B030D-6E8A-4147-A177-3AD203B41FA5}">
                      <a16:colId xmlns:a16="http://schemas.microsoft.com/office/drawing/2014/main" val="3092902957"/>
                    </a:ext>
                  </a:extLst>
                </a:gridCol>
                <a:gridCol w="3048000">
                  <a:extLst>
                    <a:ext uri="{9D8B030D-6E8A-4147-A177-3AD203B41FA5}">
                      <a16:colId xmlns:a16="http://schemas.microsoft.com/office/drawing/2014/main" val="1933152891"/>
                    </a:ext>
                  </a:extLst>
                </a:gridCol>
              </a:tblGrid>
              <a:tr h="370840">
                <a:tc>
                  <a:txBody>
                    <a:bodyPr/>
                    <a:lstStyle/>
                    <a:p>
                      <a:r>
                        <a:rPr lang="fr-FR" dirty="0">
                          <a:latin typeface="Cambria" panose="02040503050406030204" pitchFamily="18" charset="0"/>
                          <a:ea typeface="Cambria" panose="02040503050406030204" pitchFamily="18" charset="0"/>
                        </a:rPr>
                        <a:t>Nombre des produits achetés</a:t>
                      </a:r>
                    </a:p>
                  </a:txBody>
                  <a:tcPr/>
                </a:tc>
                <a:tc>
                  <a:txBody>
                    <a:bodyPr/>
                    <a:lstStyle/>
                    <a:p>
                      <a:r>
                        <a:rPr lang="fr-FR" dirty="0">
                          <a:latin typeface="Cambria" panose="02040503050406030204" pitchFamily="18" charset="0"/>
                          <a:ea typeface="Cambria" panose="02040503050406030204" pitchFamily="18" charset="0"/>
                        </a:rPr>
                        <a:t>Nombre des visiteurs</a:t>
                      </a:r>
                    </a:p>
                  </a:txBody>
                  <a:tcPr/>
                </a:tc>
                <a:extLst>
                  <a:ext uri="{0D108BD9-81ED-4DB2-BD59-A6C34878D82A}">
                    <a16:rowId xmlns:a16="http://schemas.microsoft.com/office/drawing/2014/main" val="2940949208"/>
                  </a:ext>
                </a:extLst>
              </a:tr>
              <a:tr h="370840">
                <a:tc>
                  <a:txBody>
                    <a:bodyPr/>
                    <a:lstStyle/>
                    <a:p>
                      <a:r>
                        <a:rPr lang="fr-FR" dirty="0">
                          <a:latin typeface="Cambria" panose="02040503050406030204" pitchFamily="18" charset="0"/>
                          <a:ea typeface="Cambria" panose="02040503050406030204" pitchFamily="18" charset="0"/>
                        </a:rPr>
                        <a:t>0</a:t>
                      </a:r>
                    </a:p>
                  </a:txBody>
                  <a:tcPr/>
                </a:tc>
                <a:tc>
                  <a:txBody>
                    <a:bodyPr/>
                    <a:lstStyle/>
                    <a:p>
                      <a:r>
                        <a:rPr lang="fr-FR" dirty="0">
                          <a:latin typeface="Cambria" panose="02040503050406030204" pitchFamily="18" charset="0"/>
                          <a:ea typeface="Cambria" panose="02040503050406030204" pitchFamily="18" charset="0"/>
                        </a:rPr>
                        <a:t>20</a:t>
                      </a:r>
                    </a:p>
                  </a:txBody>
                  <a:tcPr/>
                </a:tc>
                <a:extLst>
                  <a:ext uri="{0D108BD9-81ED-4DB2-BD59-A6C34878D82A}">
                    <a16:rowId xmlns:a16="http://schemas.microsoft.com/office/drawing/2014/main" val="281738957"/>
                  </a:ext>
                </a:extLst>
              </a:tr>
              <a:tr h="370840">
                <a:tc>
                  <a:txBody>
                    <a:bodyPr/>
                    <a:lstStyle/>
                    <a:p>
                      <a:r>
                        <a:rPr lang="fr-FR" dirty="0">
                          <a:latin typeface="Cambria" panose="02040503050406030204" pitchFamily="18" charset="0"/>
                          <a:ea typeface="Cambria" panose="02040503050406030204" pitchFamily="18" charset="0"/>
                        </a:rPr>
                        <a:t>1</a:t>
                      </a:r>
                    </a:p>
                  </a:txBody>
                  <a:tcPr/>
                </a:tc>
                <a:tc>
                  <a:txBody>
                    <a:bodyPr/>
                    <a:lstStyle/>
                    <a:p>
                      <a:r>
                        <a:rPr lang="fr-FR" dirty="0">
                          <a:latin typeface="Cambria" panose="02040503050406030204" pitchFamily="18" charset="0"/>
                          <a:ea typeface="Cambria" panose="02040503050406030204" pitchFamily="18" charset="0"/>
                        </a:rPr>
                        <a:t>35</a:t>
                      </a:r>
                    </a:p>
                  </a:txBody>
                  <a:tcPr/>
                </a:tc>
                <a:extLst>
                  <a:ext uri="{0D108BD9-81ED-4DB2-BD59-A6C34878D82A}">
                    <a16:rowId xmlns:a16="http://schemas.microsoft.com/office/drawing/2014/main" val="2177175961"/>
                  </a:ext>
                </a:extLst>
              </a:tr>
              <a:tr h="370840">
                <a:tc>
                  <a:txBody>
                    <a:bodyPr/>
                    <a:lstStyle/>
                    <a:p>
                      <a:r>
                        <a:rPr lang="fr-FR" dirty="0">
                          <a:latin typeface="Cambria" panose="02040503050406030204" pitchFamily="18" charset="0"/>
                          <a:ea typeface="Cambria" panose="02040503050406030204" pitchFamily="18" charset="0"/>
                        </a:rPr>
                        <a:t>2</a:t>
                      </a:r>
                    </a:p>
                  </a:txBody>
                  <a:tcPr/>
                </a:tc>
                <a:tc>
                  <a:txBody>
                    <a:bodyPr/>
                    <a:lstStyle/>
                    <a:p>
                      <a:r>
                        <a:rPr lang="fr-FR" dirty="0">
                          <a:latin typeface="Cambria" panose="02040503050406030204" pitchFamily="18" charset="0"/>
                          <a:ea typeface="Cambria" panose="02040503050406030204" pitchFamily="18" charset="0"/>
                        </a:rPr>
                        <a:t>24</a:t>
                      </a:r>
                    </a:p>
                  </a:txBody>
                  <a:tcPr/>
                </a:tc>
                <a:extLst>
                  <a:ext uri="{0D108BD9-81ED-4DB2-BD59-A6C34878D82A}">
                    <a16:rowId xmlns:a16="http://schemas.microsoft.com/office/drawing/2014/main" val="787455244"/>
                  </a:ext>
                </a:extLst>
              </a:tr>
              <a:tr h="370840">
                <a:tc>
                  <a:txBody>
                    <a:bodyPr/>
                    <a:lstStyle/>
                    <a:p>
                      <a:r>
                        <a:rPr lang="fr-FR" dirty="0">
                          <a:latin typeface="Cambria" panose="02040503050406030204" pitchFamily="18" charset="0"/>
                          <a:ea typeface="Cambria" panose="02040503050406030204" pitchFamily="18" charset="0"/>
                        </a:rPr>
                        <a:t>4</a:t>
                      </a:r>
                    </a:p>
                  </a:txBody>
                  <a:tcPr/>
                </a:tc>
                <a:tc>
                  <a:txBody>
                    <a:bodyPr/>
                    <a:lstStyle/>
                    <a:p>
                      <a:r>
                        <a:rPr lang="fr-FR" dirty="0">
                          <a:latin typeface="Cambria" panose="02040503050406030204" pitchFamily="18" charset="0"/>
                          <a:ea typeface="Cambria" panose="02040503050406030204" pitchFamily="18" charset="0"/>
                        </a:rPr>
                        <a:t>16</a:t>
                      </a:r>
                    </a:p>
                  </a:txBody>
                  <a:tcPr/>
                </a:tc>
                <a:extLst>
                  <a:ext uri="{0D108BD9-81ED-4DB2-BD59-A6C34878D82A}">
                    <a16:rowId xmlns:a16="http://schemas.microsoft.com/office/drawing/2014/main" val="896779349"/>
                  </a:ext>
                </a:extLst>
              </a:tr>
              <a:tr h="370840">
                <a:tc>
                  <a:txBody>
                    <a:bodyPr/>
                    <a:lstStyle/>
                    <a:p>
                      <a:r>
                        <a:rPr lang="fr-FR" dirty="0">
                          <a:latin typeface="Cambria" panose="02040503050406030204" pitchFamily="18" charset="0"/>
                          <a:ea typeface="Cambria" panose="02040503050406030204" pitchFamily="18" charset="0"/>
                        </a:rPr>
                        <a:t>5</a:t>
                      </a:r>
                    </a:p>
                  </a:txBody>
                  <a:tcPr/>
                </a:tc>
                <a:tc>
                  <a:txBody>
                    <a:bodyPr/>
                    <a:lstStyle/>
                    <a:p>
                      <a:r>
                        <a:rPr lang="fr-FR" dirty="0">
                          <a:latin typeface="Cambria" panose="02040503050406030204" pitchFamily="18" charset="0"/>
                          <a:ea typeface="Cambria" panose="02040503050406030204" pitchFamily="18" charset="0"/>
                        </a:rPr>
                        <a:t>5</a:t>
                      </a:r>
                    </a:p>
                  </a:txBody>
                  <a:tcPr/>
                </a:tc>
                <a:extLst>
                  <a:ext uri="{0D108BD9-81ED-4DB2-BD59-A6C34878D82A}">
                    <a16:rowId xmlns:a16="http://schemas.microsoft.com/office/drawing/2014/main" val="1650868847"/>
                  </a:ext>
                </a:extLst>
              </a:tr>
            </a:tbl>
          </a:graphicData>
        </a:graphic>
      </p:graphicFrame>
    </p:spTree>
    <p:extLst>
      <p:ext uri="{BB962C8B-B14F-4D97-AF65-F5344CB8AC3E}">
        <p14:creationId xmlns:p14="http://schemas.microsoft.com/office/powerpoint/2010/main" val="360308234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9924D1ECC420D47A2456556BC94F7370400BDF4491DEA4973499845289601F88B9F" ma:contentTypeVersion="55" ma:contentTypeDescription="Create a new document." ma:contentTypeScope="" ma:versionID="41eb558a2b826e6e4f9defd990175bec">
  <xsd:schema xmlns:xsd="http://www.w3.org/2001/XMLSchema" xmlns:xs="http://www.w3.org/2001/XMLSchema" xmlns:p="http://schemas.microsoft.com/office/2006/metadata/properties" xmlns:ns2="6d93d202-47fc-4405-873a-cab67cc5f1b2" xmlns:ns3="64acb2c5-0a2b-4bda-bd34-58e36cbb80d2" targetNamespace="http://schemas.microsoft.com/office/2006/metadata/properties" ma:root="true" ma:fieldsID="19deea0185cf7bc57eee9b90b1ba2ace" ns2:_="" ns3:_="">
    <xsd:import namespace="6d93d202-47fc-4405-873a-cab67cc5f1b2"/>
    <xsd:import namespace="64acb2c5-0a2b-4bda-bd34-58e36cbb80d2"/>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element ref="ns3:Description0" minOccurs="0"/>
                <xsd:element ref="ns3:Compon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93d202-47fc-4405-873a-cab67cc5f1b2"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0:00:00Z"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dc79c007-7f28-4db9-9ba1-525d19a3279b}"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80C6DD30-196A-4C6B-B1BF-A43F3B8ACD4F}" ma:internalName="CSXSubmissionMarket" ma:readOnly="false" ma:showField="MarketName" ma:web="6d93d202-47fc-4405-873a-cab67cc5f1b2">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bb16b974-ed24-4278-8820-8e232d38904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7E2D4CA2-442A-4FDA-AA57-71B8C7B2C53C}" ma:internalName="InProjectListLookup" ma:readOnly="true" ma:showField="InProjectLis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fd9a49dc-3dbf-4047-b62d-1d587abe7b40}"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7E2D4CA2-442A-4FDA-AA57-71B8C7B2C53C}" ma:internalName="LastCompleteVersionLookup" ma:readOnly="true" ma:showField="LastComplete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7E2D4CA2-442A-4FDA-AA57-71B8C7B2C53C}" ma:internalName="LastPreviewErrorLookup" ma:readOnly="true" ma:showField="LastPreview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7E2D4CA2-442A-4FDA-AA57-71B8C7B2C53C}" ma:internalName="LastPreviewResultLookup" ma:readOnly="true" ma:showField="LastPreview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7E2D4CA2-442A-4FDA-AA57-71B8C7B2C53C}" ma:internalName="LastPreviewAttemptDateLookup" ma:readOnly="true" ma:showField="LastPreview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7E2D4CA2-442A-4FDA-AA57-71B8C7B2C53C}" ma:internalName="LastPreviewedByLookup" ma:readOnly="true" ma:showField="LastPreview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7E2D4CA2-442A-4FDA-AA57-71B8C7B2C53C}" ma:internalName="LastPreviewTimeLookup" ma:readOnly="true" ma:showField="LastPreview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7E2D4CA2-442A-4FDA-AA57-71B8C7B2C53C}" ma:internalName="LastPreviewVersionLookup" ma:readOnly="true" ma:showField="LastPreview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7E2D4CA2-442A-4FDA-AA57-71B8C7B2C53C}" ma:internalName="LastPublishErrorLookup" ma:readOnly="true" ma:showField="LastPublishError"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7E2D4CA2-442A-4FDA-AA57-71B8C7B2C53C}" ma:internalName="LastPublishResultLookup" ma:readOnly="true" ma:showField="LastPublishResult"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7E2D4CA2-442A-4FDA-AA57-71B8C7B2C53C}" ma:internalName="LastPublishAttemptDateLookup" ma:readOnly="true" ma:showField="LastPublishAttemptDat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7E2D4CA2-442A-4FDA-AA57-71B8C7B2C53C}" ma:internalName="LastPublishedByLookup" ma:readOnly="true" ma:showField="LastPublishedBy"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7E2D4CA2-442A-4FDA-AA57-71B8C7B2C53C}" ma:internalName="LastPublishTimeLookup" ma:readOnly="true" ma:showField="LastPublishTi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7E2D4CA2-442A-4FDA-AA57-71B8C7B2C53C}" ma:internalName="LastPublishVersionLookup" ma:readOnly="true" ma:showField="LastPublishVersion"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4CDE398E-75A7-4993-8C61-2BFD31F64754}" ma:internalName="LocLastLocAttemptVersionLookup" ma:readOnly="false" ma:showField="LastLocAttemptVersion" ma:web="6d93d202-47fc-4405-873a-cab67cc5f1b2">
      <xsd:simpleType>
        <xsd:restriction base="dms:Lookup"/>
      </xsd:simpleType>
    </xsd:element>
    <xsd:element name="LocLastLocAttemptVersionTypeLookup" ma:index="72" nillable="true" ma:displayName="Loc Last Loc Attempt Version Type" ma:default="" ma:list="{4CDE398E-75A7-4993-8C61-2BFD31F64754}" ma:internalName="LocLastLocAttemptVersionTypeLookup" ma:readOnly="true" ma:showField="LastLocAttemptVersionType" ma:web="6d93d202-47fc-4405-873a-cab67cc5f1b2">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4CDE398E-75A7-4993-8C61-2BFD31F64754}" ma:internalName="LocNewPublishedVersionLookup" ma:readOnly="true" ma:showField="NewPublishedVersion" ma:web="6d93d202-47fc-4405-873a-cab67cc5f1b2">
      <xsd:simpleType>
        <xsd:restriction base="dms:Lookup"/>
      </xsd:simpleType>
    </xsd:element>
    <xsd:element name="LocOverallHandbackStatusLookup" ma:index="76" nillable="true" ma:displayName="Loc Overall Handback Status" ma:default="" ma:list="{4CDE398E-75A7-4993-8C61-2BFD31F64754}" ma:internalName="LocOverallHandbackStatusLookup" ma:readOnly="true" ma:showField="OverallHandbackStatus" ma:web="6d93d202-47fc-4405-873a-cab67cc5f1b2">
      <xsd:simpleType>
        <xsd:restriction base="dms:Lookup"/>
      </xsd:simpleType>
    </xsd:element>
    <xsd:element name="LocOverallLocStatusLookup" ma:index="77" nillable="true" ma:displayName="Loc Overall Localize Status" ma:default="" ma:list="{4CDE398E-75A7-4993-8C61-2BFD31F64754}" ma:internalName="LocOverallLocStatusLookup" ma:readOnly="true" ma:showField="OverallLocStatus" ma:web="6d93d202-47fc-4405-873a-cab67cc5f1b2">
      <xsd:simpleType>
        <xsd:restriction base="dms:Lookup"/>
      </xsd:simpleType>
    </xsd:element>
    <xsd:element name="LocOverallPreviewStatusLookup" ma:index="78" nillable="true" ma:displayName="Loc Overall Preview Status" ma:default="" ma:list="{4CDE398E-75A7-4993-8C61-2BFD31F64754}" ma:internalName="LocOverallPreviewStatusLookup" ma:readOnly="true" ma:showField="OverallPreviewStatus" ma:web="6d93d202-47fc-4405-873a-cab67cc5f1b2">
      <xsd:simpleType>
        <xsd:restriction base="dms:Lookup"/>
      </xsd:simpleType>
    </xsd:element>
    <xsd:element name="LocOverallPublishStatusLookup" ma:index="79" nillable="true" ma:displayName="Loc Overall Publish Status" ma:default="" ma:list="{4CDE398E-75A7-4993-8C61-2BFD31F64754}" ma:internalName="LocOverallPublishStatusLookup" ma:readOnly="true" ma:showField="OverallPublishStatus" ma:web="6d93d202-47fc-4405-873a-cab67cc5f1b2">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4CDE398E-75A7-4993-8C61-2BFD31F64754}" ma:internalName="LocProcessedForHandoffsLookup" ma:readOnly="true" ma:showField="ProcessedForHandoffs" ma:web="6d93d202-47fc-4405-873a-cab67cc5f1b2">
      <xsd:simpleType>
        <xsd:restriction base="dms:Lookup"/>
      </xsd:simpleType>
    </xsd:element>
    <xsd:element name="LocProcessedForMarketsLookup" ma:index="82" nillable="true" ma:displayName="Loc Processed For Markets" ma:default="" ma:list="{4CDE398E-75A7-4993-8C61-2BFD31F64754}" ma:internalName="LocProcessedForMarketsLookup" ma:readOnly="true" ma:showField="ProcessedForMarkets" ma:web="6d93d202-47fc-4405-873a-cab67cc5f1b2">
      <xsd:simpleType>
        <xsd:restriction base="dms:Lookup"/>
      </xsd:simpleType>
    </xsd:element>
    <xsd:element name="LocPublishedDependentAssetsLookup" ma:index="83" nillable="true" ma:displayName="Loc Published Dependent Assets" ma:default="" ma:list="{4CDE398E-75A7-4993-8C61-2BFD31F64754}" ma:internalName="LocPublishedDependentAssetsLookup" ma:readOnly="true" ma:showField="PublishedDependentAssets" ma:web="6d93d202-47fc-4405-873a-cab67cc5f1b2">
      <xsd:simpleType>
        <xsd:restriction base="dms:Lookup"/>
      </xsd:simpleType>
    </xsd:element>
    <xsd:element name="LocPublishedLinkedAssetsLookup" ma:index="84" nillable="true" ma:displayName="Loc Published Linked Assets" ma:default="" ma:list="{4CDE398E-75A7-4993-8C61-2BFD31F64754}" ma:internalName="LocPublishedLinkedAssetsLookup" ma:readOnly="true" ma:showField="PublishedLinkedAssets" ma:web="6d93d202-47fc-4405-873a-cab67cc5f1b2">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db560eb5-700a-4f94-8fda-b57de4261f12}"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80C6DD30-196A-4C6B-B1BF-A43F3B8ACD4F}" ma:internalName="Markets" ma:readOnly="false" ma:showField="MarketName"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7E2D4CA2-442A-4FDA-AA57-71B8C7B2C53C}" ma:internalName="NumOfRatingsLookup" ma:readOnly="true" ma:showField="NumOfRating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7E2D4CA2-442A-4FDA-AA57-71B8C7B2C53C}" ma:internalName="PublishStatusLookup" ma:readOnly="false" ma:showField="PublishStatus"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6e3f7319-fb8f-4449-8902-000ab73a8566}"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11d213f5-ec09-44b6-a8be-9da225be7a8d}" ma:internalName="TaxCatchAll" ma:showField="CatchAllData"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11d213f5-ec09-44b6-a8be-9da225be7a8d}" ma:internalName="TaxCatchAllLabel" ma:readOnly="true" ma:showField="CatchAllDataLabel" ma:web="6d93d202-47fc-4405-873a-cab67cc5f1b2">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4acb2c5-0a2b-4bda-bd34-58e36cbb80d2" elementFormDefault="qualified">
    <xsd:import namespace="http://schemas.microsoft.com/office/2006/documentManagement/types"/>
    <xsd:import namespace="http://schemas.microsoft.com/office/infopath/2007/PartnerControls"/>
    <xsd:element name="Description0" ma:index="134" nillable="true" ma:displayName="Description" ma:internalName="Description0">
      <xsd:simpleType>
        <xsd:restriction base="dms:Note"/>
      </xsd:simpleType>
    </xsd:element>
    <xsd:element name="Component" ma:index="135" nillable="true" ma:displayName="Component" ma:internalName="Component">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cquiredFrom xmlns="6d93d202-47fc-4405-873a-cab67cc5f1b2" xsi:nil="true"/>
    <IsSearchable xmlns="6d93d202-47fc-4405-873a-cab67cc5f1b2">true</IsSearchable>
    <EditorialStatus xmlns="6d93d202-47fc-4405-873a-cab67cc5f1b2">Complete</EditorialStatus>
    <OriginAsset xmlns="6d93d202-47fc-4405-873a-cab67cc5f1b2" xsi:nil="true"/>
    <ThumbnailAssetId xmlns="6d93d202-47fc-4405-873a-cab67cc5f1b2" xsi:nil="true"/>
    <TrustLevel xmlns="6d93d202-47fc-4405-873a-cab67cc5f1b2">3 Community New</TrustLevel>
    <MarketSpecific xmlns="6d93d202-47fc-4405-873a-cab67cc5f1b2">true</MarketSpecific>
    <TPNamespace xmlns="6d93d202-47fc-4405-873a-cab67cc5f1b2" xsi:nil="true"/>
    <DirectSourceMarket xmlns="6d93d202-47fc-4405-873a-cab67cc5f1b2">english</DirectSourceMarket>
    <MachineTranslated xmlns="6d93d202-47fc-4405-873a-cab67cc5f1b2">false</MachineTranslated>
    <PlannedPubDate xmlns="6d93d202-47fc-4405-873a-cab67cc5f1b2" xsi:nil="true"/>
    <SubmitterId xmlns="6d93d202-47fc-4405-873a-cab67cc5f1b2">9c60ae39-ee33-43c2-b863-454968d0f2cc</SubmitterId>
    <Downloads xmlns="6d93d202-47fc-4405-873a-cab67cc5f1b2">0</Downloads>
    <OriginalSourceMarket xmlns="6d93d202-47fc-4405-873a-cab67cc5f1b2">english</OriginalSourceMarket>
    <PublishTargets xmlns="6d93d202-47fc-4405-873a-cab67cc5f1b2">OfficeOnline</PublishTargets>
    <ArtSampleDocs xmlns="6d93d202-47fc-4405-873a-cab67cc5f1b2" xsi:nil="true"/>
    <ApprovalLog xmlns="6d93d202-47fc-4405-873a-cab67cc5f1b2" xsi:nil="true"/>
    <ApprovalStatus xmlns="6d93d202-47fc-4405-873a-cab67cc5f1b2">InProgress</ApprovalStatus>
    <TPComponent xmlns="6d93d202-47fc-4405-873a-cab67cc5f1b2">PPTFiles</TPComponent>
    <EditorialTags xmlns="6d93d202-47fc-4405-873a-cab67cc5f1b2" xsi:nil="true"/>
    <TPExecutable xmlns="6d93d202-47fc-4405-873a-cab67cc5f1b2" xsi:nil="true"/>
    <LastHandOff xmlns="6d93d202-47fc-4405-873a-cab67cc5f1b2" xsi:nil="true"/>
    <BusinessGroup xmlns="6d93d202-47fc-4405-873a-cab67cc5f1b2" xsi:nil="true"/>
    <TPAppVersion xmlns="6d93d202-47fc-4405-873a-cab67cc5f1b2">12</TPAppVersion>
    <VoteCount xmlns="6d93d202-47fc-4405-873a-cab67cc5f1b2" xsi:nil="true"/>
    <APAuthor xmlns="6d93d202-47fc-4405-873a-cab67cc5f1b2">
      <UserInfo>
        <DisplayName>_o14migrate</DisplayName>
        <AccountId>266</AccountId>
        <AccountType/>
      </UserInfo>
    </APAuthor>
    <TPCommandLine xmlns="6d93d202-47fc-4405-873a-cab67cc5f1b2">{PP} /n {FilePath}</TPCommandLine>
    <UACurrentWords xmlns="6d93d202-47fc-4405-873a-cab67cc5f1b2" xsi:nil="true"/>
    <AssetId xmlns="6d93d202-47fc-4405-873a-cab67cc5f1b2">TP030007281</AssetId>
    <Manager xmlns="6d93d202-47fc-4405-873a-cab67cc5f1b2" xsi:nil="true"/>
    <NumericId xmlns="6d93d202-47fc-4405-873a-cab67cc5f1b2">-1</NumericId>
    <Component xmlns="64acb2c5-0a2b-4bda-bd34-58e36cbb80d2" xsi:nil="true"/>
    <HandoffToMSDN xmlns="6d93d202-47fc-4405-873a-cab67cc5f1b2" xsi:nil="true"/>
    <Markets xmlns="6d93d202-47fc-4405-873a-cab67cc5f1b2">
      <Value>2</Value>
    </Markets>
    <UALocComments xmlns="6d93d202-47fc-4405-873a-cab67cc5f1b2" xsi:nil="true"/>
    <UALocRecommendation xmlns="6d93d202-47fc-4405-873a-cab67cc5f1b2">Localize</UALocRecommendation>
    <AssetStart xmlns="6d93d202-47fc-4405-873a-cab67cc5f1b2">2010-04-16T13:47:45+00:00</AssetStart>
    <CrawlForDependencies xmlns="6d93d202-47fc-4405-873a-cab67cc5f1b2">false</CrawlForDependencies>
    <LastModifiedDateTime xmlns="6d93d202-47fc-4405-873a-cab67cc5f1b2" xsi:nil="true"/>
    <LastPublishResultLookup xmlns="6d93d202-47fc-4405-873a-cab67cc5f1b2" xsi:nil="true"/>
    <PublishStatusLookup xmlns="6d93d202-47fc-4405-873a-cab67cc5f1b2">
      <Value>327671</Value>
      <Value>503520</Value>
    </PublishStatusLookup>
    <AverageRating xmlns="6d93d202-47fc-4405-873a-cab67cc5f1b2" xsi:nil="true"/>
    <CSXUpdate xmlns="6d93d202-47fc-4405-873a-cab67cc5f1b2">false</CSXUpdate>
    <UAProjectedTotalWords xmlns="6d93d202-47fc-4405-873a-cab67cc5f1b2" xsi:nil="true"/>
    <AssetExpire xmlns="6d93d202-47fc-4405-873a-cab67cc5f1b2">2100-01-01T00:00:00+00:00</AssetExpire>
    <AssetType xmlns="6d93d202-47fc-4405-873a-cab67cc5f1b2">TP</AssetType>
    <IntlLangReviewDate xmlns="6d93d202-47fc-4405-873a-cab67cc5f1b2" xsi:nil="true"/>
    <TPFriendlyName xmlns="6d93d202-47fc-4405-873a-cab67cc5f1b2">Thème design - Tunnel</TPFriendlyName>
    <IntlLangReview xmlns="6d93d202-47fc-4405-873a-cab67cc5f1b2" xsi:nil="true"/>
    <OOCacheId xmlns="6d93d202-47fc-4405-873a-cab67cc5f1b2" xsi:nil="true"/>
    <PolicheckWords xmlns="6d93d202-47fc-4405-873a-cab67cc5f1b2" xsi:nil="true"/>
    <TemplateStatus xmlns="6d93d202-47fc-4405-873a-cab67cc5f1b2">Complete</TemplateStatus>
    <CSXSubmissionMarket xmlns="6d93d202-47fc-4405-873a-cab67cc5f1b2" xsi:nil="true"/>
    <FriendlyTitle xmlns="6d93d202-47fc-4405-873a-cab67cc5f1b2" xsi:nil="true"/>
    <TPLaunchHelpLinkType xmlns="6d93d202-47fc-4405-873a-cab67cc5f1b2" xsi:nil="true"/>
    <Providers xmlns="6d93d202-47fc-4405-873a-cab67cc5f1b2" xsi:nil="true"/>
    <SourceTitle xmlns="6d93d202-47fc-4405-873a-cab67cc5f1b2">Thème design - Tunnel</SourceTitle>
    <TemplateTemplateType xmlns="6d93d202-47fc-4405-873a-cab67cc5f1b2">PowerPoint 12 Default</TemplateTemplateType>
    <TimesCloned xmlns="6d93d202-47fc-4405-873a-cab67cc5f1b2" xsi:nil="true"/>
    <ClipArtFilename xmlns="6d93d202-47fc-4405-873a-cab67cc5f1b2" xsi:nil="true"/>
    <APDescription xmlns="6d93d202-47fc-4405-873a-cab67cc5f1b2" xsi:nil="true"/>
    <TPApplication xmlns="6d93d202-47fc-4405-873a-cab67cc5f1b2">PowerPoint</TPApplication>
    <CSXHash xmlns="6d93d202-47fc-4405-873a-cab67cc5f1b2">ONP5ejdaZ6pIyJWiKjJC7LRpyB8=</CSXHash>
    <PrimaryImageGen xmlns="6d93d202-47fc-4405-873a-cab67cc5f1b2">true</PrimaryImageGen>
    <ContentItem xmlns="6d93d202-47fc-4405-873a-cab67cc5f1b2" xsi:nil="true"/>
    <IsDeleted xmlns="6d93d202-47fc-4405-873a-cab67cc5f1b2">false</IsDeleted>
    <ShowIn xmlns="6d93d202-47fc-4405-873a-cab67cc5f1b2">Show everywhere</ShowIn>
    <BugNumber xmlns="6d93d202-47fc-4405-873a-cab67cc5f1b2" xsi:nil="true"/>
    <LegacyData xmlns="6d93d202-47fc-4405-873a-cab67cc5f1b2">ListingID:;Manager:;BuildStatus:Publish Passed;MockupPath:</LegacyData>
    <TPLaunchHelpLink xmlns="6d93d202-47fc-4405-873a-cab67cc5f1b2" xsi:nil="true"/>
    <Milestone xmlns="6d93d202-47fc-4405-873a-cab67cc5f1b2" xsi:nil="true"/>
    <UANotes xmlns="6d93d202-47fc-4405-873a-cab67cc5f1b2" xsi:nil="true"/>
    <Description0 xmlns="64acb2c5-0a2b-4bda-bd34-58e36cbb80d2" xsi:nil="true"/>
    <IntlLangReviewer xmlns="6d93d202-47fc-4405-873a-cab67cc5f1b2" xsi:nil="true"/>
    <IntlLocPriority xmlns="6d93d202-47fc-4405-873a-cab67cc5f1b2" xsi:nil="true"/>
    <OpenTemplate xmlns="6d93d202-47fc-4405-873a-cab67cc5f1b2">true</OpenTemplate>
    <Provider xmlns="6d93d202-47fc-4405-873a-cab67cc5f1b2" xsi:nil="true"/>
    <CSXSubmissionDate xmlns="6d93d202-47fc-4405-873a-cab67cc5f1b2">2009-10-10T07:00:00+00:00</CSXSubmissionDate>
    <TPClientViewer xmlns="6d93d202-47fc-4405-873a-cab67cc5f1b2" xsi:nil="true"/>
    <DSATActionTaken xmlns="6d93d202-47fc-4405-873a-cab67cc5f1b2" xsi:nil="true"/>
    <APEditor xmlns="6d93d202-47fc-4405-873a-cab67cc5f1b2">
      <UserInfo>
        <DisplayName>_o14migrate</DisplayName>
        <AccountId>266</AccountId>
        <AccountType/>
      </UserInfo>
    </APEditor>
    <TPInstallLocation xmlns="6d93d202-47fc-4405-873a-cab67cc5f1b2">{My Templates}</TPInstallLocation>
    <OutputCachingOn xmlns="6d93d202-47fc-4405-873a-cab67cc5f1b2">false</OutputCachingOn>
    <ParentAssetId xmlns="6d93d202-47fc-4405-873a-cab67cc5f1b2" xsi:nil="true"/>
    <LocManualTestRequired xmlns="6d93d202-47fc-4405-873a-cab67cc5f1b2">false</LocManualTestRequired>
    <LocalizationTagsTaxHTField0 xmlns="6d93d202-47fc-4405-873a-cab67cc5f1b2">
      <Terms xmlns="http://schemas.microsoft.com/office/infopath/2007/PartnerControls"/>
    </LocalizationTagsTaxHTField0>
    <CampaignTagsTaxHTField0 xmlns="6d93d202-47fc-4405-873a-cab67cc5f1b2">
      <Terms xmlns="http://schemas.microsoft.com/office/infopath/2007/PartnerControls"/>
    </CampaignTagsTaxHTField0>
    <LocLastLocAttemptVersionLookup xmlns="6d93d202-47fc-4405-873a-cab67cc5f1b2">170195</LocLastLocAttemptVersionLookup>
    <InternalTagsTaxHTField0 xmlns="6d93d202-47fc-4405-873a-cab67cc5f1b2">
      <Terms xmlns="http://schemas.microsoft.com/office/infopath/2007/PartnerControls"/>
    </InternalTagsTaxHTField0>
    <LocRecommendedHandoff xmlns="6d93d202-47fc-4405-873a-cab67cc5f1b2" xsi:nil="true"/>
    <BlockPublish xmlns="6d93d202-47fc-4405-873a-cab67cc5f1b2">false</BlockPublish>
    <LocComments xmlns="6d93d202-47fc-4405-873a-cab67cc5f1b2" xsi:nil="true"/>
    <TaxCatchAll xmlns="6d93d202-47fc-4405-873a-cab67cc5f1b2"/>
    <OriginalRelease xmlns="6d93d202-47fc-4405-873a-cab67cc5f1b2">14</OriginalRelease>
    <RecommendationsModifier xmlns="6d93d202-47fc-4405-873a-cab67cc5f1b2" xsi:nil="true"/>
    <ScenarioTagsTaxHTField0 xmlns="6d93d202-47fc-4405-873a-cab67cc5f1b2">
      <Terms xmlns="http://schemas.microsoft.com/office/infopath/2007/PartnerControls"/>
    </ScenarioTagsTaxHTField0>
    <FeatureTagsTaxHTField0 xmlns="6d93d202-47fc-4405-873a-cab67cc5f1b2">
      <Terms xmlns="http://schemas.microsoft.com/office/infopath/2007/PartnerControls"/>
    </FeatureTagsTaxHTField0>
    <LocMarketGroupTiers2 xmlns="6d93d202-47fc-4405-873a-cab67cc5f1b2"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BAFB9779-B3DB-419D-A1B1-72B8188D35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93d202-47fc-4405-873a-cab67cc5f1b2"/>
    <ds:schemaRef ds:uri="64acb2c5-0a2b-4bda-bd34-58e36cbb80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FC4AD9E9-A9C0-46F2-BF42-B91887159A3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62</TotalTime>
  <Words>870</Words>
  <Application>Microsoft Office PowerPoint</Application>
  <PresentationFormat>Affichage à l'écran (4:3)</PresentationFormat>
  <Paragraphs>202</Paragraphs>
  <Slides>15</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Arial</vt:lpstr>
      <vt:lpstr>Calibri</vt:lpstr>
      <vt:lpstr>Cambria</vt:lpstr>
      <vt:lpstr>Cambria Math</vt:lpstr>
      <vt:lpstr>Wingdings</vt:lpstr>
      <vt:lpstr>Thème Office</vt:lpstr>
      <vt:lpstr>Data Description </vt:lpstr>
      <vt:lpstr>Les indicateurs de forme</vt:lpstr>
      <vt:lpstr>Les indicateurs d’asymétrie –  Le coefficient de Pearson</vt:lpstr>
      <vt:lpstr>Les indicateurs d’asymétrie –  Le coefficient de Yule et Kendall</vt:lpstr>
      <vt:lpstr>L’asymétrie - Graphiquement </vt:lpstr>
      <vt:lpstr>Le signe du coefficient de Yule et Kendall – Graphiquement </vt:lpstr>
      <vt:lpstr>Les indicateurs d’asymétrie – Remarques générales</vt:lpstr>
      <vt:lpstr>Exercice d’application</vt:lpstr>
      <vt:lpstr>Exercice d’application</vt:lpstr>
      <vt:lpstr>Exercice d’application</vt:lpstr>
      <vt:lpstr>Exercice d’application</vt:lpstr>
      <vt:lpstr>Exercice d’application</vt:lpstr>
      <vt:lpstr>Exercice d’application</vt:lpstr>
      <vt:lpstr>Exercice d’application</vt:lpstr>
      <vt:lpstr>Exercice d’application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8</cp:revision>
  <dcterms:created xsi:type="dcterms:W3CDTF">2021-02-02T16:40:54Z</dcterms:created>
  <dcterms:modified xsi:type="dcterms:W3CDTF">2021-02-02T20:18:34Z</dcterms:modified>
</cp:coreProperties>
</file>