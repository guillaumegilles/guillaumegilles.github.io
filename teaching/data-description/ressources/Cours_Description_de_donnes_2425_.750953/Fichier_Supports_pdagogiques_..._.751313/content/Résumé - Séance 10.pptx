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16" r:id="rId6"/>
    <p:sldId id="338" r:id="rId7"/>
    <p:sldId id="317" r:id="rId8"/>
    <p:sldId id="339" r:id="rId9"/>
    <p:sldId id="318" r:id="rId10"/>
    <p:sldId id="340" r:id="rId11"/>
    <p:sldId id="319" r:id="rId12"/>
    <p:sldId id="341" r:id="rId13"/>
    <p:sldId id="320" r:id="rId14"/>
    <p:sldId id="342" r:id="rId15"/>
    <p:sldId id="321" r:id="rId16"/>
    <p:sldId id="343" r:id="rId17"/>
    <p:sldId id="322" r:id="rId18"/>
    <p:sldId id="344" r:id="rId19"/>
    <p:sldId id="355" r:id="rId20"/>
    <p:sldId id="323" r:id="rId21"/>
    <p:sldId id="345" r:id="rId22"/>
    <p:sldId id="324" r:id="rId23"/>
    <p:sldId id="347" r:id="rId24"/>
    <p:sldId id="325" r:id="rId25"/>
    <p:sldId id="346" r:id="rId26"/>
    <p:sldId id="326" r:id="rId27"/>
    <p:sldId id="348" r:id="rId28"/>
    <p:sldId id="327" r:id="rId29"/>
    <p:sldId id="349" r:id="rId30"/>
    <p:sldId id="328" r:id="rId31"/>
    <p:sldId id="350" r:id="rId32"/>
    <p:sldId id="329" r:id="rId33"/>
    <p:sldId id="351" r:id="rId34"/>
    <p:sldId id="354" r:id="rId35"/>
    <p:sldId id="330" r:id="rId36"/>
    <p:sldId id="352" r:id="rId37"/>
    <p:sldId id="331" r:id="rId38"/>
    <p:sldId id="353" r:id="rId3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7C6CD8-14D5-4F35-9713-A1FDD4B166CF}" v="45" dt="2021-10-15T14:17:23.850"/>
    <p1510:client id="{CDE1888A-38C3-4632-A1EF-CF0AF7EDE096}" v="1" dt="2021-10-15T14:20:15.59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12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CDE1888A-38C3-4632-A1EF-CF0AF7EDE096}"/>
    <pc:docChg chg="custSel addSld delSld modSld sldOrd">
      <pc:chgData name="KACHOUR Maher" userId="09775c39-7739-40bf-ba04-c8ef3ab24a94" providerId="ADAL" clId="{CDE1888A-38C3-4632-A1EF-CF0AF7EDE096}" dt="2021-10-15T14:27:27.926" v="60" actId="2890"/>
      <pc:docMkLst>
        <pc:docMk/>
      </pc:docMkLst>
      <pc:sldChg chg="del">
        <pc:chgData name="KACHOUR Maher" userId="09775c39-7739-40bf-ba04-c8ef3ab24a94" providerId="ADAL" clId="{CDE1888A-38C3-4632-A1EF-CF0AF7EDE096}" dt="2021-10-15T14:20:55.677" v="26" actId="47"/>
        <pc:sldMkLst>
          <pc:docMk/>
          <pc:sldMk cId="1677666644" sldId="332"/>
        </pc:sldMkLst>
      </pc:sldChg>
      <pc:sldChg chg="del">
        <pc:chgData name="KACHOUR Maher" userId="09775c39-7739-40bf-ba04-c8ef3ab24a94" providerId="ADAL" clId="{CDE1888A-38C3-4632-A1EF-CF0AF7EDE096}" dt="2021-10-15T14:21:17.411" v="36" actId="47"/>
        <pc:sldMkLst>
          <pc:docMk/>
          <pc:sldMk cId="1002137659" sldId="333"/>
        </pc:sldMkLst>
      </pc:sldChg>
      <pc:sldChg chg="del">
        <pc:chgData name="KACHOUR Maher" userId="09775c39-7739-40bf-ba04-c8ef3ab24a94" providerId="ADAL" clId="{CDE1888A-38C3-4632-A1EF-CF0AF7EDE096}" dt="2021-10-15T14:21:46.313" v="46" actId="47"/>
        <pc:sldMkLst>
          <pc:docMk/>
          <pc:sldMk cId="796070099" sldId="334"/>
        </pc:sldMkLst>
      </pc:sldChg>
      <pc:sldChg chg="del">
        <pc:chgData name="KACHOUR Maher" userId="09775c39-7739-40bf-ba04-c8ef3ab24a94" providerId="ADAL" clId="{CDE1888A-38C3-4632-A1EF-CF0AF7EDE096}" dt="2021-10-15T14:21:53.884" v="50" actId="47"/>
        <pc:sldMkLst>
          <pc:docMk/>
          <pc:sldMk cId="830284284" sldId="335"/>
        </pc:sldMkLst>
      </pc:sldChg>
      <pc:sldChg chg="del">
        <pc:chgData name="KACHOUR Maher" userId="09775c39-7739-40bf-ba04-c8ef3ab24a94" providerId="ADAL" clId="{CDE1888A-38C3-4632-A1EF-CF0AF7EDE096}" dt="2021-10-15T14:22:03.998" v="54" actId="47"/>
        <pc:sldMkLst>
          <pc:docMk/>
          <pc:sldMk cId="3314646112" sldId="336"/>
        </pc:sldMkLst>
      </pc:sldChg>
      <pc:sldChg chg="del">
        <pc:chgData name="KACHOUR Maher" userId="09775c39-7739-40bf-ba04-c8ef3ab24a94" providerId="ADAL" clId="{CDE1888A-38C3-4632-A1EF-CF0AF7EDE096}" dt="2021-10-15T14:22:11.918" v="58" actId="47"/>
        <pc:sldMkLst>
          <pc:docMk/>
          <pc:sldMk cId="947254802" sldId="337"/>
        </pc:sldMkLst>
      </pc:sldChg>
      <pc:sldChg chg="addSp delSp modSp new mod">
        <pc:chgData name="KACHOUR Maher" userId="09775c39-7739-40bf-ba04-c8ef3ab24a94" providerId="ADAL" clId="{CDE1888A-38C3-4632-A1EF-CF0AF7EDE096}" dt="2021-10-15T14:20:18.997" v="7" actId="13822"/>
        <pc:sldMkLst>
          <pc:docMk/>
          <pc:sldMk cId="1125905521" sldId="338"/>
        </pc:sldMkLst>
        <pc:spChg chg="mod">
          <ac:chgData name="KACHOUR Maher" userId="09775c39-7739-40bf-ba04-c8ef3ab24a94" providerId="ADAL" clId="{CDE1888A-38C3-4632-A1EF-CF0AF7EDE096}" dt="2021-10-15T14:20:04.659" v="4" actId="20577"/>
          <ac:spMkLst>
            <pc:docMk/>
            <pc:sldMk cId="1125905521" sldId="338"/>
            <ac:spMk id="2" creationId="{D40D925D-C6E8-47D5-9A47-8B9D4202131F}"/>
          </ac:spMkLst>
        </pc:spChg>
        <pc:spChg chg="del">
          <ac:chgData name="KACHOUR Maher" userId="09775c39-7739-40bf-ba04-c8ef3ab24a94" providerId="ADAL" clId="{CDE1888A-38C3-4632-A1EF-CF0AF7EDE096}" dt="2021-10-15T14:20:07.716" v="5" actId="478"/>
          <ac:spMkLst>
            <pc:docMk/>
            <pc:sldMk cId="1125905521" sldId="338"/>
            <ac:spMk id="3" creationId="{69199AA3-42DC-4497-94A9-3A386BAEF807}"/>
          </ac:spMkLst>
        </pc:spChg>
        <pc:spChg chg="add mod">
          <ac:chgData name="KACHOUR Maher" userId="09775c39-7739-40bf-ba04-c8ef3ab24a94" providerId="ADAL" clId="{CDE1888A-38C3-4632-A1EF-CF0AF7EDE096}" dt="2021-10-15T14:20:18.997" v="7" actId="13822"/>
          <ac:spMkLst>
            <pc:docMk/>
            <pc:sldMk cId="1125905521" sldId="338"/>
            <ac:spMk id="4" creationId="{C79A092A-0E4F-41AC-AF91-360FE51A894F}"/>
          </ac:spMkLst>
        </pc:spChg>
      </pc:sldChg>
      <pc:sldChg chg="add ord">
        <pc:chgData name="KACHOUR Maher" userId="09775c39-7739-40bf-ba04-c8ef3ab24a94" providerId="ADAL" clId="{CDE1888A-38C3-4632-A1EF-CF0AF7EDE096}" dt="2021-10-15T14:20:26.965" v="10"/>
        <pc:sldMkLst>
          <pc:docMk/>
          <pc:sldMk cId="1075001739" sldId="339"/>
        </pc:sldMkLst>
      </pc:sldChg>
      <pc:sldChg chg="add ord">
        <pc:chgData name="KACHOUR Maher" userId="09775c39-7739-40bf-ba04-c8ef3ab24a94" providerId="ADAL" clId="{CDE1888A-38C3-4632-A1EF-CF0AF7EDE096}" dt="2021-10-15T14:20:32.995" v="13"/>
        <pc:sldMkLst>
          <pc:docMk/>
          <pc:sldMk cId="2258338319" sldId="340"/>
        </pc:sldMkLst>
      </pc:sldChg>
      <pc:sldChg chg="add ord">
        <pc:chgData name="KACHOUR Maher" userId="09775c39-7739-40bf-ba04-c8ef3ab24a94" providerId="ADAL" clId="{CDE1888A-38C3-4632-A1EF-CF0AF7EDE096}" dt="2021-10-15T14:20:39.094" v="16"/>
        <pc:sldMkLst>
          <pc:docMk/>
          <pc:sldMk cId="949299388" sldId="341"/>
        </pc:sldMkLst>
      </pc:sldChg>
      <pc:sldChg chg="add ord">
        <pc:chgData name="KACHOUR Maher" userId="09775c39-7739-40bf-ba04-c8ef3ab24a94" providerId="ADAL" clId="{CDE1888A-38C3-4632-A1EF-CF0AF7EDE096}" dt="2021-10-15T14:20:44.243" v="19"/>
        <pc:sldMkLst>
          <pc:docMk/>
          <pc:sldMk cId="360040174" sldId="342"/>
        </pc:sldMkLst>
      </pc:sldChg>
      <pc:sldChg chg="add ord">
        <pc:chgData name="KACHOUR Maher" userId="09775c39-7739-40bf-ba04-c8ef3ab24a94" providerId="ADAL" clId="{CDE1888A-38C3-4632-A1EF-CF0AF7EDE096}" dt="2021-10-15T14:20:49.397" v="22"/>
        <pc:sldMkLst>
          <pc:docMk/>
          <pc:sldMk cId="1590973533" sldId="343"/>
        </pc:sldMkLst>
      </pc:sldChg>
      <pc:sldChg chg="add ord">
        <pc:chgData name="KACHOUR Maher" userId="09775c39-7739-40bf-ba04-c8ef3ab24a94" providerId="ADAL" clId="{CDE1888A-38C3-4632-A1EF-CF0AF7EDE096}" dt="2021-10-15T14:20:53.773" v="25"/>
        <pc:sldMkLst>
          <pc:docMk/>
          <pc:sldMk cId="27306429" sldId="344"/>
        </pc:sldMkLst>
      </pc:sldChg>
      <pc:sldChg chg="add ord">
        <pc:chgData name="KACHOUR Maher" userId="09775c39-7739-40bf-ba04-c8ef3ab24a94" providerId="ADAL" clId="{CDE1888A-38C3-4632-A1EF-CF0AF7EDE096}" dt="2021-10-15T14:21:01.204" v="29"/>
        <pc:sldMkLst>
          <pc:docMk/>
          <pc:sldMk cId="2208625652" sldId="345"/>
        </pc:sldMkLst>
      </pc:sldChg>
      <pc:sldChg chg="add ord">
        <pc:chgData name="KACHOUR Maher" userId="09775c39-7739-40bf-ba04-c8ef3ab24a94" providerId="ADAL" clId="{CDE1888A-38C3-4632-A1EF-CF0AF7EDE096}" dt="2021-10-15T14:21:08.524" v="32"/>
        <pc:sldMkLst>
          <pc:docMk/>
          <pc:sldMk cId="3260540991" sldId="346"/>
        </pc:sldMkLst>
      </pc:sldChg>
      <pc:sldChg chg="add ord">
        <pc:chgData name="KACHOUR Maher" userId="09775c39-7739-40bf-ba04-c8ef3ab24a94" providerId="ADAL" clId="{CDE1888A-38C3-4632-A1EF-CF0AF7EDE096}" dt="2021-10-15T14:21:13.469" v="35"/>
        <pc:sldMkLst>
          <pc:docMk/>
          <pc:sldMk cId="719420979" sldId="347"/>
        </pc:sldMkLst>
      </pc:sldChg>
      <pc:sldChg chg="add ord">
        <pc:chgData name="KACHOUR Maher" userId="09775c39-7739-40bf-ba04-c8ef3ab24a94" providerId="ADAL" clId="{CDE1888A-38C3-4632-A1EF-CF0AF7EDE096}" dt="2021-10-15T14:21:23.767" v="39"/>
        <pc:sldMkLst>
          <pc:docMk/>
          <pc:sldMk cId="847483943" sldId="348"/>
        </pc:sldMkLst>
      </pc:sldChg>
      <pc:sldChg chg="add ord">
        <pc:chgData name="KACHOUR Maher" userId="09775c39-7739-40bf-ba04-c8ef3ab24a94" providerId="ADAL" clId="{CDE1888A-38C3-4632-A1EF-CF0AF7EDE096}" dt="2021-10-15T14:21:31.159" v="42"/>
        <pc:sldMkLst>
          <pc:docMk/>
          <pc:sldMk cId="3384736364" sldId="349"/>
        </pc:sldMkLst>
      </pc:sldChg>
      <pc:sldChg chg="add ord">
        <pc:chgData name="KACHOUR Maher" userId="09775c39-7739-40bf-ba04-c8ef3ab24a94" providerId="ADAL" clId="{CDE1888A-38C3-4632-A1EF-CF0AF7EDE096}" dt="2021-10-15T14:21:42.277" v="45"/>
        <pc:sldMkLst>
          <pc:docMk/>
          <pc:sldMk cId="743784882" sldId="350"/>
        </pc:sldMkLst>
      </pc:sldChg>
      <pc:sldChg chg="add ord">
        <pc:chgData name="KACHOUR Maher" userId="09775c39-7739-40bf-ba04-c8ef3ab24a94" providerId="ADAL" clId="{CDE1888A-38C3-4632-A1EF-CF0AF7EDE096}" dt="2021-10-15T14:21:52.408" v="49"/>
        <pc:sldMkLst>
          <pc:docMk/>
          <pc:sldMk cId="1232554632" sldId="351"/>
        </pc:sldMkLst>
      </pc:sldChg>
      <pc:sldChg chg="add ord">
        <pc:chgData name="KACHOUR Maher" userId="09775c39-7739-40bf-ba04-c8ef3ab24a94" providerId="ADAL" clId="{CDE1888A-38C3-4632-A1EF-CF0AF7EDE096}" dt="2021-10-15T14:22:02.145" v="53"/>
        <pc:sldMkLst>
          <pc:docMk/>
          <pc:sldMk cId="348807581" sldId="352"/>
        </pc:sldMkLst>
      </pc:sldChg>
      <pc:sldChg chg="add ord">
        <pc:chgData name="KACHOUR Maher" userId="09775c39-7739-40bf-ba04-c8ef3ab24a94" providerId="ADAL" clId="{CDE1888A-38C3-4632-A1EF-CF0AF7EDE096}" dt="2021-10-15T14:22:09.630" v="57"/>
        <pc:sldMkLst>
          <pc:docMk/>
          <pc:sldMk cId="2864638937" sldId="353"/>
        </pc:sldMkLst>
      </pc:sldChg>
      <pc:sldChg chg="add">
        <pc:chgData name="KACHOUR Maher" userId="09775c39-7739-40bf-ba04-c8ef3ab24a94" providerId="ADAL" clId="{CDE1888A-38C3-4632-A1EF-CF0AF7EDE096}" dt="2021-10-15T14:23:05.928" v="59" actId="2890"/>
        <pc:sldMkLst>
          <pc:docMk/>
          <pc:sldMk cId="3903261423" sldId="354"/>
        </pc:sldMkLst>
      </pc:sldChg>
      <pc:sldChg chg="add">
        <pc:chgData name="KACHOUR Maher" userId="09775c39-7739-40bf-ba04-c8ef3ab24a94" providerId="ADAL" clId="{CDE1888A-38C3-4632-A1EF-CF0AF7EDE096}" dt="2021-10-15T14:27:27.926" v="60" actId="2890"/>
        <pc:sldMkLst>
          <pc:docMk/>
          <pc:sldMk cId="406749401" sldId="355"/>
        </pc:sldMkLst>
      </pc:sldChg>
    </pc:docChg>
  </pc:docChgLst>
  <pc:docChgLst>
    <pc:chgData name="KACHOUR Maher" userId="09775c39-7739-40bf-ba04-c8ef3ab24a94" providerId="ADAL" clId="{B57C6CD8-14D5-4F35-9713-A1FDD4B166CF}"/>
    <pc:docChg chg="undo custSel addSld modSld">
      <pc:chgData name="KACHOUR Maher" userId="09775c39-7739-40bf-ba04-c8ef3ab24a94" providerId="ADAL" clId="{B57C6CD8-14D5-4F35-9713-A1FDD4B166CF}" dt="2021-10-15T14:18:21.482" v="182" actId="1076"/>
      <pc:docMkLst>
        <pc:docMk/>
      </pc:docMkLst>
      <pc:sldChg chg="delSp modSp mod">
        <pc:chgData name="KACHOUR Maher" userId="09775c39-7739-40bf-ba04-c8ef3ab24a94" providerId="ADAL" clId="{B57C6CD8-14D5-4F35-9713-A1FDD4B166CF}" dt="2021-10-15T13:58:58.642" v="71" actId="1076"/>
        <pc:sldMkLst>
          <pc:docMk/>
          <pc:sldMk cId="2681370754" sldId="322"/>
        </pc:sldMkLst>
        <pc:spChg chg="mod">
          <ac:chgData name="KACHOUR Maher" userId="09775c39-7739-40bf-ba04-c8ef3ab24a94" providerId="ADAL" clId="{B57C6CD8-14D5-4F35-9713-A1FDD4B166CF}" dt="2021-10-15T13:58:58.642" v="71" actId="1076"/>
          <ac:spMkLst>
            <pc:docMk/>
            <pc:sldMk cId="2681370754" sldId="322"/>
            <ac:spMk id="8" creationId="{54A4E8D2-1598-4ACE-ADED-358F71D8CE30}"/>
          </ac:spMkLst>
        </pc:spChg>
        <pc:picChg chg="del">
          <ac:chgData name="KACHOUR Maher" userId="09775c39-7739-40bf-ba04-c8ef3ab24a94" providerId="ADAL" clId="{B57C6CD8-14D5-4F35-9713-A1FDD4B166CF}" dt="2021-10-15T13:57:53.742" v="1" actId="478"/>
          <ac:picMkLst>
            <pc:docMk/>
            <pc:sldMk cId="2681370754" sldId="322"/>
            <ac:picMk id="7" creationId="{24D3B6EC-0969-441C-87C7-E6A5F24D7140}"/>
          </ac:picMkLst>
        </pc:picChg>
      </pc:sldChg>
      <pc:sldChg chg="addSp delSp modSp mod">
        <pc:chgData name="KACHOUR Maher" userId="09775c39-7739-40bf-ba04-c8ef3ab24a94" providerId="ADAL" clId="{B57C6CD8-14D5-4F35-9713-A1FDD4B166CF}" dt="2021-10-15T14:07:12.286" v="81" actId="14100"/>
        <pc:sldMkLst>
          <pc:docMk/>
          <pc:sldMk cId="2857484422" sldId="325"/>
        </pc:sldMkLst>
        <pc:spChg chg="add mod">
          <ac:chgData name="KACHOUR Maher" userId="09775c39-7739-40bf-ba04-c8ef3ab24a94" providerId="ADAL" clId="{B57C6CD8-14D5-4F35-9713-A1FDD4B166CF}" dt="2021-10-15T14:07:12.286" v="81" actId="14100"/>
          <ac:spMkLst>
            <pc:docMk/>
            <pc:sldMk cId="2857484422" sldId="325"/>
            <ac:spMk id="3" creationId="{8BF504E5-9F22-4382-9233-50670CFCFD1F}"/>
          </ac:spMkLst>
        </pc:spChg>
        <pc:spChg chg="del">
          <ac:chgData name="KACHOUR Maher" userId="09775c39-7739-40bf-ba04-c8ef3ab24a94" providerId="ADAL" clId="{B57C6CD8-14D5-4F35-9713-A1FDD4B166CF}" dt="2021-10-15T14:07:01.512" v="78" actId="478"/>
          <ac:spMkLst>
            <pc:docMk/>
            <pc:sldMk cId="2857484422" sldId="325"/>
            <ac:spMk id="14" creationId="{3A7E6A75-250B-4C25-B018-A8FDF7A65C25}"/>
          </ac:spMkLst>
        </pc:spChg>
        <pc:spChg chg="del">
          <ac:chgData name="KACHOUR Maher" userId="09775c39-7739-40bf-ba04-c8ef3ab24a94" providerId="ADAL" clId="{B57C6CD8-14D5-4F35-9713-A1FDD4B166CF}" dt="2021-10-15T14:06:55.459" v="77" actId="478"/>
          <ac:spMkLst>
            <pc:docMk/>
            <pc:sldMk cId="2857484422" sldId="325"/>
            <ac:spMk id="15" creationId="{AAB15116-9340-4663-9C45-0E78287E95FB}"/>
          </ac:spMkLst>
        </pc:spChg>
        <pc:picChg chg="del">
          <ac:chgData name="KACHOUR Maher" userId="09775c39-7739-40bf-ba04-c8ef3ab24a94" providerId="ADAL" clId="{B57C6CD8-14D5-4F35-9713-A1FDD4B166CF}" dt="2021-10-15T14:06:48.938" v="74" actId="478"/>
          <ac:picMkLst>
            <pc:docMk/>
            <pc:sldMk cId="2857484422" sldId="325"/>
            <ac:picMk id="6" creationId="{74CB1984-BBA4-4DE5-9692-58688C645B42}"/>
          </ac:picMkLst>
        </pc:picChg>
        <pc:picChg chg="del">
          <ac:chgData name="KACHOUR Maher" userId="09775c39-7739-40bf-ba04-c8ef3ab24a94" providerId="ADAL" clId="{B57C6CD8-14D5-4F35-9713-A1FDD4B166CF}" dt="2021-10-15T14:06:46.485" v="73" actId="478"/>
          <ac:picMkLst>
            <pc:docMk/>
            <pc:sldMk cId="2857484422" sldId="325"/>
            <ac:picMk id="9" creationId="{C569CAFE-C8D1-4A97-8F48-715FDECE8124}"/>
          </ac:picMkLst>
        </pc:picChg>
        <pc:picChg chg="del">
          <ac:chgData name="KACHOUR Maher" userId="09775c39-7739-40bf-ba04-c8ef3ab24a94" providerId="ADAL" clId="{B57C6CD8-14D5-4F35-9713-A1FDD4B166CF}" dt="2021-10-15T14:06:51.161" v="75" actId="478"/>
          <ac:picMkLst>
            <pc:docMk/>
            <pc:sldMk cId="2857484422" sldId="325"/>
            <ac:picMk id="11" creationId="{7EBE519B-394F-4F13-A87D-257BFBAADB81}"/>
          </ac:picMkLst>
        </pc:picChg>
        <pc:picChg chg="del">
          <ac:chgData name="KACHOUR Maher" userId="09775c39-7739-40bf-ba04-c8ef3ab24a94" providerId="ADAL" clId="{B57C6CD8-14D5-4F35-9713-A1FDD4B166CF}" dt="2021-10-15T14:06:53.514" v="76" actId="478"/>
          <ac:picMkLst>
            <pc:docMk/>
            <pc:sldMk cId="2857484422" sldId="325"/>
            <ac:picMk id="13" creationId="{7A1A0099-DF88-431E-B318-D11AB7D88369}"/>
          </ac:picMkLst>
        </pc:picChg>
      </pc:sldChg>
      <pc:sldChg chg="modSp mod">
        <pc:chgData name="KACHOUR Maher" userId="09775c39-7739-40bf-ba04-c8ef3ab24a94" providerId="ADAL" clId="{B57C6CD8-14D5-4F35-9713-A1FDD4B166CF}" dt="2021-10-15T14:07:53.298" v="89" actId="20577"/>
        <pc:sldMkLst>
          <pc:docMk/>
          <pc:sldMk cId="69239066" sldId="328"/>
        </pc:sldMkLst>
        <pc:graphicFrameChg chg="modGraphic">
          <ac:chgData name="KACHOUR Maher" userId="09775c39-7739-40bf-ba04-c8ef3ab24a94" providerId="ADAL" clId="{B57C6CD8-14D5-4F35-9713-A1FDD4B166CF}" dt="2021-10-15T14:07:43.669" v="85" actId="6549"/>
          <ac:graphicFrameMkLst>
            <pc:docMk/>
            <pc:sldMk cId="69239066" sldId="328"/>
            <ac:graphicFrameMk id="4" creationId="{B4129A5B-B832-4F02-A03F-E8D0190CCAB5}"/>
          </ac:graphicFrameMkLst>
        </pc:graphicFrameChg>
        <pc:graphicFrameChg chg="modGraphic">
          <ac:chgData name="KACHOUR Maher" userId="09775c39-7739-40bf-ba04-c8ef3ab24a94" providerId="ADAL" clId="{B57C6CD8-14D5-4F35-9713-A1FDD4B166CF}" dt="2021-10-15T14:07:53.298" v="89" actId="20577"/>
          <ac:graphicFrameMkLst>
            <pc:docMk/>
            <pc:sldMk cId="69239066" sldId="328"/>
            <ac:graphicFrameMk id="12" creationId="{36B5C094-F949-42AC-801F-29F51B4960B9}"/>
          </ac:graphicFrameMkLst>
        </pc:graphicFrameChg>
      </pc:sldChg>
      <pc:sldChg chg="modSp">
        <pc:chgData name="KACHOUR Maher" userId="09775c39-7739-40bf-ba04-c8ef3ab24a94" providerId="ADAL" clId="{B57C6CD8-14D5-4F35-9713-A1FDD4B166CF}" dt="2021-10-15T14:10:40.971" v="126" actId="20577"/>
        <pc:sldMkLst>
          <pc:docMk/>
          <pc:sldMk cId="3655098803" sldId="329"/>
        </pc:sldMkLst>
        <pc:spChg chg="mod">
          <ac:chgData name="KACHOUR Maher" userId="09775c39-7739-40bf-ba04-c8ef3ab24a94" providerId="ADAL" clId="{B57C6CD8-14D5-4F35-9713-A1FDD4B166CF}" dt="2021-10-15T14:10:21.468" v="107" actId="20577"/>
          <ac:spMkLst>
            <pc:docMk/>
            <pc:sldMk cId="3655098803" sldId="329"/>
            <ac:spMk id="7" creationId="{55E00811-B112-4A74-944D-6D2FF20D1720}"/>
          </ac:spMkLst>
        </pc:spChg>
        <pc:spChg chg="mod">
          <ac:chgData name="KACHOUR Maher" userId="09775c39-7739-40bf-ba04-c8ef3ab24a94" providerId="ADAL" clId="{B57C6CD8-14D5-4F35-9713-A1FDD4B166CF}" dt="2021-10-15T14:10:40.971" v="126" actId="20577"/>
          <ac:spMkLst>
            <pc:docMk/>
            <pc:sldMk cId="3655098803" sldId="329"/>
            <ac:spMk id="13" creationId="{606ED027-C258-4AA2-AB4D-9D49588A3CE5}"/>
          </ac:spMkLst>
        </pc:spChg>
      </pc:sldChg>
      <pc:sldChg chg="addSp delSp modSp mod">
        <pc:chgData name="KACHOUR Maher" userId="09775c39-7739-40bf-ba04-c8ef3ab24a94" providerId="ADAL" clId="{B57C6CD8-14D5-4F35-9713-A1FDD4B166CF}" dt="2021-10-15T14:14:22.681" v="143" actId="20577"/>
        <pc:sldMkLst>
          <pc:docMk/>
          <pc:sldMk cId="3919538397" sldId="330"/>
        </pc:sldMkLst>
        <pc:spChg chg="add mod">
          <ac:chgData name="KACHOUR Maher" userId="09775c39-7739-40bf-ba04-c8ef3ab24a94" providerId="ADAL" clId="{B57C6CD8-14D5-4F35-9713-A1FDD4B166CF}" dt="2021-10-15T14:14:07.124" v="131" actId="1076"/>
          <ac:spMkLst>
            <pc:docMk/>
            <pc:sldMk cId="3919538397" sldId="330"/>
            <ac:spMk id="10" creationId="{52845B21-1838-4091-89D4-7AB0A8DCB908}"/>
          </ac:spMkLst>
        </pc:spChg>
        <pc:spChg chg="add mod">
          <ac:chgData name="KACHOUR Maher" userId="09775c39-7739-40bf-ba04-c8ef3ab24a94" providerId="ADAL" clId="{B57C6CD8-14D5-4F35-9713-A1FDD4B166CF}" dt="2021-10-15T14:14:14.747" v="133" actId="1076"/>
          <ac:spMkLst>
            <pc:docMk/>
            <pc:sldMk cId="3919538397" sldId="330"/>
            <ac:spMk id="12" creationId="{ED25F934-A79B-49CF-93FF-20BF31D1CEA9}"/>
          </ac:spMkLst>
        </pc:spChg>
        <pc:spChg chg="del">
          <ac:chgData name="KACHOUR Maher" userId="09775c39-7739-40bf-ba04-c8ef3ab24a94" providerId="ADAL" clId="{B57C6CD8-14D5-4F35-9713-A1FDD4B166CF}" dt="2021-10-15T14:13:52.343" v="128" actId="478"/>
          <ac:spMkLst>
            <pc:docMk/>
            <pc:sldMk cId="3919538397" sldId="330"/>
            <ac:spMk id="15" creationId="{1ED4E3CC-3B9A-4F18-AA14-442FEAD0104F}"/>
          </ac:spMkLst>
        </pc:spChg>
        <pc:spChg chg="mod">
          <ac:chgData name="KACHOUR Maher" userId="09775c39-7739-40bf-ba04-c8ef3ab24a94" providerId="ADAL" clId="{B57C6CD8-14D5-4F35-9713-A1FDD4B166CF}" dt="2021-10-15T14:14:22.681" v="143" actId="20577"/>
          <ac:spMkLst>
            <pc:docMk/>
            <pc:sldMk cId="3919538397" sldId="330"/>
            <ac:spMk id="16" creationId="{9D37E00B-689E-4493-93D9-A757205BD570}"/>
          </ac:spMkLst>
        </pc:spChg>
      </pc:sldChg>
      <pc:sldChg chg="addSp modSp mod">
        <pc:chgData name="KACHOUR Maher" userId="09775c39-7739-40bf-ba04-c8ef3ab24a94" providerId="ADAL" clId="{B57C6CD8-14D5-4F35-9713-A1FDD4B166CF}" dt="2021-10-15T14:18:21.482" v="182" actId="1076"/>
        <pc:sldMkLst>
          <pc:docMk/>
          <pc:sldMk cId="2386313475" sldId="331"/>
        </pc:sldMkLst>
        <pc:spChg chg="mod">
          <ac:chgData name="KACHOUR Maher" userId="09775c39-7739-40bf-ba04-c8ef3ab24a94" providerId="ADAL" clId="{B57C6CD8-14D5-4F35-9713-A1FDD4B166CF}" dt="2021-10-15T14:16:58.419" v="166" actId="20577"/>
          <ac:spMkLst>
            <pc:docMk/>
            <pc:sldMk cId="2386313475" sldId="331"/>
            <ac:spMk id="3" creationId="{3CD4BB95-B942-4CE7-BD65-7AA2BEAF0331}"/>
          </ac:spMkLst>
        </pc:spChg>
        <pc:spChg chg="add mod">
          <ac:chgData name="KACHOUR Maher" userId="09775c39-7739-40bf-ba04-c8ef3ab24a94" providerId="ADAL" clId="{B57C6CD8-14D5-4F35-9713-A1FDD4B166CF}" dt="2021-10-15T14:17:29.531" v="174" actId="1076"/>
          <ac:spMkLst>
            <pc:docMk/>
            <pc:sldMk cId="2386313475" sldId="331"/>
            <ac:spMk id="6" creationId="{EC4DCBE7-C9CE-410E-BEB3-7C59927D0928}"/>
          </ac:spMkLst>
        </pc:spChg>
        <pc:spChg chg="mod">
          <ac:chgData name="KACHOUR Maher" userId="09775c39-7739-40bf-ba04-c8ef3ab24a94" providerId="ADAL" clId="{B57C6CD8-14D5-4F35-9713-A1FDD4B166CF}" dt="2021-10-15T14:17:14.729" v="170" actId="20577"/>
          <ac:spMkLst>
            <pc:docMk/>
            <pc:sldMk cId="2386313475" sldId="331"/>
            <ac:spMk id="16" creationId="{9D37E00B-689E-4493-93D9-A757205BD570}"/>
          </ac:spMkLst>
        </pc:spChg>
        <pc:picChg chg="mod">
          <ac:chgData name="KACHOUR Maher" userId="09775c39-7739-40bf-ba04-c8ef3ab24a94" providerId="ADAL" clId="{B57C6CD8-14D5-4F35-9713-A1FDD4B166CF}" dt="2021-10-15T14:18:21.482" v="182" actId="1076"/>
          <ac:picMkLst>
            <pc:docMk/>
            <pc:sldMk cId="2386313475" sldId="331"/>
            <ac:picMk id="10" creationId="{CBAB60F6-58BF-4851-A6EE-63E7967D0B6A}"/>
          </ac:picMkLst>
        </pc:picChg>
      </pc:sldChg>
      <pc:sldChg chg="add">
        <pc:chgData name="KACHOUR Maher" userId="09775c39-7739-40bf-ba04-c8ef3ab24a94" providerId="ADAL" clId="{B57C6CD8-14D5-4F35-9713-A1FDD4B166CF}" dt="2021-10-15T13:57:49.817" v="0" actId="2890"/>
        <pc:sldMkLst>
          <pc:docMk/>
          <pc:sldMk cId="1677666644" sldId="332"/>
        </pc:sldMkLst>
      </pc:sldChg>
      <pc:sldChg chg="add">
        <pc:chgData name="KACHOUR Maher" userId="09775c39-7739-40bf-ba04-c8ef3ab24a94" providerId="ADAL" clId="{B57C6CD8-14D5-4F35-9713-A1FDD4B166CF}" dt="2021-10-15T14:06:42.449" v="72" actId="2890"/>
        <pc:sldMkLst>
          <pc:docMk/>
          <pc:sldMk cId="1002137659" sldId="333"/>
        </pc:sldMkLst>
      </pc:sldChg>
      <pc:sldChg chg="add">
        <pc:chgData name="KACHOUR Maher" userId="09775c39-7739-40bf-ba04-c8ef3ab24a94" providerId="ADAL" clId="{B57C6CD8-14D5-4F35-9713-A1FDD4B166CF}" dt="2021-10-15T14:07:34.188" v="82" actId="2890"/>
        <pc:sldMkLst>
          <pc:docMk/>
          <pc:sldMk cId="796070099" sldId="334"/>
        </pc:sldMkLst>
      </pc:sldChg>
      <pc:sldChg chg="add">
        <pc:chgData name="KACHOUR Maher" userId="09775c39-7739-40bf-ba04-c8ef3ab24a94" providerId="ADAL" clId="{B57C6CD8-14D5-4F35-9713-A1FDD4B166CF}" dt="2021-10-15T14:10:04.574" v="90" actId="2890"/>
        <pc:sldMkLst>
          <pc:docMk/>
          <pc:sldMk cId="830284284" sldId="335"/>
        </pc:sldMkLst>
      </pc:sldChg>
      <pc:sldChg chg="modSp add">
        <pc:chgData name="KACHOUR Maher" userId="09775c39-7739-40bf-ba04-c8ef3ab24a94" providerId="ADAL" clId="{B57C6CD8-14D5-4F35-9713-A1FDD4B166CF}" dt="2021-10-15T14:14:31.503" v="145" actId="20577"/>
        <pc:sldMkLst>
          <pc:docMk/>
          <pc:sldMk cId="3314646112" sldId="336"/>
        </pc:sldMkLst>
        <pc:spChg chg="mod">
          <ac:chgData name="KACHOUR Maher" userId="09775c39-7739-40bf-ba04-c8ef3ab24a94" providerId="ADAL" clId="{B57C6CD8-14D5-4F35-9713-A1FDD4B166CF}" dt="2021-10-15T14:14:31.503" v="145" actId="20577"/>
          <ac:spMkLst>
            <pc:docMk/>
            <pc:sldMk cId="3314646112" sldId="336"/>
            <ac:spMk id="16" creationId="{9D37E00B-689E-4493-93D9-A757205BD570}"/>
          </ac:spMkLst>
        </pc:spChg>
      </pc:sldChg>
      <pc:sldChg chg="add">
        <pc:chgData name="KACHOUR Maher" userId="09775c39-7739-40bf-ba04-c8ef3ab24a94" providerId="ADAL" clId="{B57C6CD8-14D5-4F35-9713-A1FDD4B166CF}" dt="2021-10-15T14:16:44.753" v="146" actId="2890"/>
        <pc:sldMkLst>
          <pc:docMk/>
          <pc:sldMk cId="947254802" sldId="33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Séance 10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319FEE-4859-44AC-B8F4-C60BFFD5E60C}"/>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Statistiques descriptives – Bivariées </a:t>
            </a:r>
            <a:endParaRPr lang="fr-FR" dirty="0"/>
          </a:p>
        </p:txBody>
      </p:sp>
      <p:sp>
        <p:nvSpPr>
          <p:cNvPr id="3" name="Espace réservé du contenu 2">
            <a:extLst>
              <a:ext uri="{FF2B5EF4-FFF2-40B4-BE49-F238E27FC236}">
                <a16:creationId xmlns:a16="http://schemas.microsoft.com/office/drawing/2014/main" id="{91C66DD1-318B-4FCB-89C4-573006772987}"/>
              </a:ext>
            </a:extLst>
          </p:cNvPr>
          <p:cNvSpPr>
            <a:spLocks noGrp="1"/>
          </p:cNvSpPr>
          <p:nvPr>
            <p:ph idx="1"/>
          </p:nvPr>
        </p:nvSpPr>
        <p:spPr>
          <a:xfrm>
            <a:off x="0" y="1166018"/>
            <a:ext cx="9144000" cy="5691982"/>
          </a:xfrm>
        </p:spPr>
        <p:txBody>
          <a:bodyPr>
            <a:normAutofit/>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Objectif :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On cherche à caractériser </a:t>
            </a:r>
            <a:r>
              <a:rPr lang="fr-FR" sz="2000" b="1" dirty="0">
                <a:solidFill>
                  <a:srgbClr val="FF0000"/>
                </a:solidFill>
                <a:latin typeface="Cambria" panose="02040503050406030204" pitchFamily="18" charset="0"/>
                <a:ea typeface="Cambria" panose="02040503050406030204" pitchFamily="18" charset="0"/>
              </a:rPr>
              <a:t>le lien </a:t>
            </a:r>
            <a:r>
              <a:rPr lang="fr-FR" sz="2000" dirty="0">
                <a:latin typeface="Cambria" panose="02040503050406030204" pitchFamily="18" charset="0"/>
                <a:ea typeface="Cambria" panose="02040503050406030204" pitchFamily="18" charset="0"/>
              </a:rPr>
              <a:t>(s’il existe) entre les données de deux variables étudiées simultanément sur les individus d’une même  population( ou d’une partie de cette dernière).</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Remarque :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L’existence du lien entre les données de deux variables n’implique pas la «</a:t>
            </a:r>
            <a:r>
              <a:rPr lang="fr-FR" sz="2000" b="1" i="1" dirty="0">
                <a:latin typeface="Cambria" panose="02040503050406030204" pitchFamily="18" charset="0"/>
                <a:ea typeface="Cambria" panose="02040503050406030204" pitchFamily="18" charset="0"/>
              </a:rPr>
              <a:t> causalité </a:t>
            </a:r>
            <a:r>
              <a:rPr lang="fr-FR" sz="2000" dirty="0">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sym typeface="Wingdings" panose="05000000000000000000" pitchFamily="2" charset="2"/>
              </a:rPr>
              <a:t> </a:t>
            </a:r>
            <a:r>
              <a:rPr lang="fr-FR" sz="2000" dirty="0">
                <a:latin typeface="Cambria" panose="02040503050406030204" pitchFamily="18" charset="0"/>
                <a:ea typeface="Cambria" panose="02040503050406030204" pitchFamily="18" charset="0"/>
                <a:cs typeface="Times New Roman" panose="02020603050405020304" pitchFamily="18" charset="0"/>
              </a:rPr>
              <a:t>un lien qui affirme que les données d’une variable agissent sur les données d’une autre. </a:t>
            </a:r>
          </a:p>
          <a:p>
            <a:pPr marL="0" indent="0">
              <a:buNone/>
            </a:pP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fr-FR" sz="2000" dirty="0">
                <a:latin typeface="Cambria" panose="02040503050406030204" pitchFamily="18" charset="0"/>
                <a:ea typeface="Cambria" panose="02040503050406030204" pitchFamily="18" charset="0"/>
                <a:cs typeface="Times New Roman" panose="02020603050405020304" pitchFamily="18" charset="0"/>
              </a:rPr>
              <a:t>Par exemple : une étude a montré l’existence de lien entre </a:t>
            </a:r>
            <a:r>
              <a:rPr lang="fr-FR" sz="2000" dirty="0">
                <a:latin typeface="Times New Roman" panose="02020603050405020304" pitchFamily="18" charset="0"/>
                <a:cs typeface="Times New Roman" panose="02020603050405020304" pitchFamily="18" charset="0"/>
              </a:rPr>
              <a:t>le nombre de lapins en Australie et l’indice du Dow Jones. Cependant, il semble difficile d’affirmer qu’il y a une causalité.</a:t>
            </a:r>
          </a:p>
          <a:p>
            <a:pPr marL="0" indent="0">
              <a:buNone/>
            </a:pP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endParaRPr lang="fr-FR"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3475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125905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AA30DE-86D7-44DB-BC6B-9390EB9D1EC4}"/>
              </a:ext>
            </a:extLst>
          </p:cNvPr>
          <p:cNvSpPr>
            <a:spLocks noGrp="1"/>
          </p:cNvSpPr>
          <p:nvPr>
            <p:ph type="title"/>
          </p:nvPr>
        </p:nvSpPr>
        <p:spPr/>
        <p:txBody>
          <a:bodyPr>
            <a:normAutofit/>
          </a:bodyPr>
          <a:lstStyle/>
          <a:p>
            <a:r>
              <a:rPr lang="fr-FR" sz="2800" dirty="0">
                <a:latin typeface="Cambria" panose="02040503050406030204" pitchFamily="18" charset="0"/>
                <a:ea typeface="Cambria" panose="02040503050406030204" pitchFamily="18" charset="0"/>
              </a:rPr>
              <a:t>Le cas de deux quantitatives dont les données sont présentées à l’état brut</a:t>
            </a:r>
          </a:p>
        </p:txBody>
      </p:sp>
      <p:pic>
        <p:nvPicPr>
          <p:cNvPr id="5" name="Espace réservé du contenu 4">
            <a:extLst>
              <a:ext uri="{FF2B5EF4-FFF2-40B4-BE49-F238E27FC236}">
                <a16:creationId xmlns:a16="http://schemas.microsoft.com/office/drawing/2014/main" id="{7CBD37E6-8441-4E19-9376-BE684402FAF1}"/>
              </a:ext>
            </a:extLst>
          </p:cNvPr>
          <p:cNvPicPr>
            <a:picLocks noGrp="1" noChangeAspect="1"/>
          </p:cNvPicPr>
          <p:nvPr>
            <p:ph idx="1"/>
          </p:nvPr>
        </p:nvPicPr>
        <p:blipFill>
          <a:blip r:embed="rId2"/>
          <a:stretch>
            <a:fillRect/>
          </a:stretch>
        </p:blipFill>
        <p:spPr>
          <a:xfrm>
            <a:off x="179512" y="1556792"/>
            <a:ext cx="5832648" cy="2448272"/>
          </a:xfrm>
        </p:spPr>
      </p:pic>
      <p:sp>
        <p:nvSpPr>
          <p:cNvPr id="6" name="Flèche : angle droit 5">
            <a:extLst>
              <a:ext uri="{FF2B5EF4-FFF2-40B4-BE49-F238E27FC236}">
                <a16:creationId xmlns:a16="http://schemas.microsoft.com/office/drawing/2014/main" id="{62AFA264-ED18-4C37-9A96-D296FD78042E}"/>
              </a:ext>
            </a:extLst>
          </p:cNvPr>
          <p:cNvSpPr/>
          <p:nvPr/>
        </p:nvSpPr>
        <p:spPr>
          <a:xfrm rot="5400000">
            <a:off x="2013577" y="4144218"/>
            <a:ext cx="720080" cy="72008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E16C7BC4-6A2C-4C26-8B9E-DE5BD3FFAD94}"/>
              </a:ext>
            </a:extLst>
          </p:cNvPr>
          <p:cNvPicPr>
            <a:picLocks noChangeAspect="1"/>
          </p:cNvPicPr>
          <p:nvPr/>
        </p:nvPicPr>
        <p:blipFill>
          <a:blip r:embed="rId3"/>
          <a:stretch>
            <a:fillRect/>
          </a:stretch>
        </p:blipFill>
        <p:spPr>
          <a:xfrm>
            <a:off x="2740478" y="4581128"/>
            <a:ext cx="6155939" cy="1872208"/>
          </a:xfrm>
          <a:prstGeom prst="rect">
            <a:avLst/>
          </a:prstGeom>
        </p:spPr>
      </p:pic>
    </p:spTree>
    <p:extLst>
      <p:ext uri="{BB962C8B-B14F-4D97-AF65-F5344CB8AC3E}">
        <p14:creationId xmlns:p14="http://schemas.microsoft.com/office/powerpoint/2010/main" val="2301801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075001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AA2583-0470-4755-A799-EAC5E770AEDD}"/>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Exemple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1234A3BA-56BF-4FF4-9012-F84973A1FA64}"/>
                  </a:ext>
                </a:extLst>
              </p:cNvPr>
              <p:cNvSpPr>
                <a:spLocks noGrp="1"/>
              </p:cNvSpPr>
              <p:nvPr>
                <p:ph idx="1"/>
              </p:nvPr>
            </p:nvSpPr>
            <p:spPr>
              <a:xfrm>
                <a:off x="107504" y="1166018"/>
                <a:ext cx="8928992" cy="4525963"/>
              </a:xfrm>
            </p:spPr>
            <p:txBody>
              <a:bodyPr>
                <a:normAutofit/>
              </a:bodyPr>
              <a:lstStyle/>
              <a:p>
                <a:pPr marL="0" indent="0">
                  <a:buNone/>
                </a:pPr>
                <a:r>
                  <a:rPr lang="fr-FR" sz="1800" dirty="0">
                    <a:latin typeface="Cambria" panose="02040503050406030204" pitchFamily="18" charset="0"/>
                    <a:ea typeface="Cambria" panose="02040503050406030204" pitchFamily="18" charset="0"/>
                  </a:rPr>
                  <a:t>Population : les foyers français où l’homme et la femmes sont actifs </a:t>
                </a:r>
              </a:p>
              <a:p>
                <a:pPr marL="0" indent="0">
                  <a:buNone/>
                </a:pPr>
                <a:r>
                  <a:rPr lang="fr-FR" sz="1800" dirty="0">
                    <a:latin typeface="Cambria" panose="02040503050406030204" pitchFamily="18" charset="0"/>
                    <a:ea typeface="Cambria" panose="02040503050406030204" pitchFamily="18" charset="0"/>
                  </a:rPr>
                  <a:t>Nombre de foyers étudiés = 15</a:t>
                </a:r>
              </a:p>
              <a:p>
                <a:pPr marL="0" indent="0">
                  <a:buNone/>
                </a:pPr>
                <a:r>
                  <a:rPr lang="fr-FR" sz="1800" dirty="0">
                    <a:latin typeface="Cambria" panose="02040503050406030204" pitchFamily="18" charset="0"/>
                    <a:ea typeface="Cambria" panose="02040503050406030204" pitchFamily="18" charset="0"/>
                  </a:rPr>
                  <a:t>Les variables étudiées simultanément sur chaque foyer :</a:t>
                </a:r>
              </a:p>
              <a:p>
                <a:pPr lvl="2">
                  <a:buFont typeface="Wingdings" panose="05000000000000000000" pitchFamily="2" charset="2"/>
                  <a:buChar char="q"/>
                </a:pPr>
                <a:r>
                  <a:rPr lang="fr-FR" sz="1800" dirty="0">
                    <a:latin typeface="Cambria" panose="02040503050406030204" pitchFamily="18" charset="0"/>
                    <a:ea typeface="Cambria" panose="02040503050406030204" pitchFamily="18" charset="0"/>
                  </a:rPr>
                  <a:t>Le salaire de la femme </a:t>
                </a:r>
                <a:r>
                  <a:rPr lang="fr-FR" sz="18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𝑥</m:t>
                    </m:r>
                  </m:oMath>
                </a14:m>
                <a:endParaRPr lang="fr-FR" sz="18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fr-FR" sz="1800" dirty="0">
                    <a:latin typeface="Cambria" panose="02040503050406030204" pitchFamily="18" charset="0"/>
                    <a:ea typeface="Cambria" panose="02040503050406030204" pitchFamily="18" charset="0"/>
                  </a:rPr>
                  <a:t>Le salaire de l’homme </a:t>
                </a:r>
                <a:r>
                  <a:rPr lang="fr-FR" sz="18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𝑦</m:t>
                    </m:r>
                  </m:oMath>
                </a14:m>
                <a:endParaRPr lang="fr-FR" sz="1800" dirty="0">
                  <a:latin typeface="Cambria" panose="02040503050406030204" pitchFamily="18" charset="0"/>
                  <a:ea typeface="Cambria" panose="02040503050406030204" pitchFamily="18" charset="0"/>
                </a:endParaRPr>
              </a:p>
              <a:p>
                <a:pPr marL="0" indent="0">
                  <a:buNone/>
                </a:pPr>
                <a:r>
                  <a:rPr lang="fr-FR" sz="1800" dirty="0">
                    <a:latin typeface="Cambria" panose="02040503050406030204" pitchFamily="18" charset="0"/>
                    <a:ea typeface="Cambria" panose="02040503050406030204" pitchFamily="18" charset="0"/>
                  </a:rPr>
                  <a:t>Objectif : évaluer l’existence de lien entre les données de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𝑥</m:t>
                    </m:r>
                  </m:oMath>
                </a14:m>
                <a:r>
                  <a:rPr lang="fr-FR" sz="1800" dirty="0">
                    <a:latin typeface="Cambria" panose="02040503050406030204" pitchFamily="18" charset="0"/>
                    <a:ea typeface="Cambria" panose="02040503050406030204" pitchFamily="18" charset="0"/>
                  </a:rPr>
                  <a:t> et </a:t>
                </a:r>
                <a14:m>
                  <m:oMath xmlns:m="http://schemas.openxmlformats.org/officeDocument/2006/math">
                    <m:r>
                      <a:rPr lang="fr-FR" sz="1800" i="1">
                        <a:solidFill>
                          <a:srgbClr val="FF0000"/>
                        </a:solidFill>
                        <a:latin typeface="Cambria Math" panose="02040503050406030204" pitchFamily="18" charset="0"/>
                        <a:ea typeface="Cambria" panose="02040503050406030204" pitchFamily="18" charset="0"/>
                      </a:rPr>
                      <m:t>𝑦</m:t>
                    </m:r>
                  </m:oMath>
                </a14:m>
                <a:endParaRPr lang="fr-FR" sz="18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1800" dirty="0">
                    <a:latin typeface="Cambria" panose="02040503050406030204" pitchFamily="18" charset="0"/>
                    <a:ea typeface="Cambria" panose="02040503050406030204" pitchFamily="18" charset="0"/>
                  </a:rPr>
                  <a:t>Les données : </a:t>
                </a:r>
              </a:p>
            </p:txBody>
          </p:sp>
        </mc:Choice>
        <mc:Fallback xmlns="">
          <p:sp>
            <p:nvSpPr>
              <p:cNvPr id="3" name="Espace réservé du contenu 2">
                <a:extLst>
                  <a:ext uri="{FF2B5EF4-FFF2-40B4-BE49-F238E27FC236}">
                    <a16:creationId xmlns:a16="http://schemas.microsoft.com/office/drawing/2014/main" id="{1234A3BA-56BF-4FF4-9012-F84973A1FA64}"/>
                  </a:ext>
                </a:extLst>
              </p:cNvPr>
              <p:cNvSpPr>
                <a:spLocks noGrp="1" noRot="1" noChangeAspect="1" noMove="1" noResize="1" noEditPoints="1" noAdjustHandles="1" noChangeArrowheads="1" noChangeShapeType="1" noTextEdit="1"/>
              </p:cNvSpPr>
              <p:nvPr>
                <p:ph idx="1"/>
              </p:nvPr>
            </p:nvSpPr>
            <p:spPr>
              <a:xfrm>
                <a:off x="107504" y="1166018"/>
                <a:ext cx="8928992" cy="4525963"/>
              </a:xfrm>
              <a:blipFill>
                <a:blip r:embed="rId2"/>
                <a:stretch>
                  <a:fillRect l="-615" t="-808"/>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FCF1F942-3350-44C4-B077-5D18F31A92D3}"/>
              </a:ext>
            </a:extLst>
          </p:cNvPr>
          <p:cNvPicPr>
            <a:picLocks noChangeAspect="1"/>
          </p:cNvPicPr>
          <p:nvPr/>
        </p:nvPicPr>
        <p:blipFill>
          <a:blip r:embed="rId3"/>
          <a:stretch>
            <a:fillRect/>
          </a:stretch>
        </p:blipFill>
        <p:spPr>
          <a:xfrm>
            <a:off x="1438775" y="3501008"/>
            <a:ext cx="6085554" cy="3240360"/>
          </a:xfrm>
          <a:prstGeom prst="rect">
            <a:avLst/>
          </a:prstGeom>
        </p:spPr>
      </p:pic>
      <p:sp>
        <p:nvSpPr>
          <p:cNvPr id="6" name="Bulle narrative : ronde 5">
            <a:extLst>
              <a:ext uri="{FF2B5EF4-FFF2-40B4-BE49-F238E27FC236}">
                <a16:creationId xmlns:a16="http://schemas.microsoft.com/office/drawing/2014/main" id="{4F82CFDF-DDF3-48D7-813B-A0A3283D39BE}"/>
              </a:ext>
            </a:extLst>
          </p:cNvPr>
          <p:cNvSpPr/>
          <p:nvPr/>
        </p:nvSpPr>
        <p:spPr>
          <a:xfrm>
            <a:off x="7236296" y="1417638"/>
            <a:ext cx="1728192" cy="1296144"/>
          </a:xfrm>
          <a:prstGeom prst="wedgeEllipseCallout">
            <a:avLst>
              <a:gd name="adj1" fmla="val -139882"/>
              <a:gd name="adj2" fmla="val 12202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978714C5-EF7C-4075-AC77-1E633D61175B}"/>
                  </a:ext>
                </a:extLst>
              </p:cNvPr>
              <p:cNvSpPr txBox="1"/>
              <p:nvPr/>
            </p:nvSpPr>
            <p:spPr>
              <a:xfrm>
                <a:off x="7462664" y="1859159"/>
                <a:ext cx="1224136" cy="60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sz="1100" i="1" smtClean="0">
                              <a:latin typeface="Cambria Math" panose="02040503050406030204" pitchFamily="18" charset="0"/>
                            </a:rPr>
                          </m:ctrlPr>
                        </m:accPr>
                        <m:e>
                          <m:r>
                            <a:rPr lang="fr-FR" sz="1100" b="0" i="1" smtClean="0">
                              <a:latin typeface="Cambria Math" panose="02040503050406030204" pitchFamily="18" charset="0"/>
                            </a:rPr>
                            <m:t>𝑥</m:t>
                          </m:r>
                        </m:e>
                      </m:acc>
                      <m:r>
                        <a:rPr lang="fr-FR" sz="1100" b="0" i="1" smtClean="0">
                          <a:latin typeface="Cambria Math" panose="02040503050406030204" pitchFamily="18" charset="0"/>
                        </a:rPr>
                        <m:t>=1631.993</m:t>
                      </m:r>
                    </m:oMath>
                  </m:oMathPara>
                </a14:m>
                <a:endParaRPr lang="fr-FR" sz="1100" b="0" i="1" dirty="0">
                  <a:latin typeface="Cambria Math" panose="02040503050406030204" pitchFamily="18" charset="0"/>
                </a:endParaRPr>
              </a:p>
              <a:p>
                <a:r>
                  <a:rPr lang="fr-FR" sz="1100" b="0" dirty="0"/>
                  <a:t>       &amp;</a:t>
                </a:r>
                <a14:m>
                  <m:oMath xmlns:m="http://schemas.openxmlformats.org/officeDocument/2006/math">
                    <m:r>
                      <a:rPr lang="fr-FR" sz="1100" b="0" i="1" smtClean="0">
                        <a:latin typeface="Cambria Math" panose="02040503050406030204" pitchFamily="18" charset="0"/>
                      </a:rPr>
                      <m:t> </m:t>
                    </m:r>
                  </m:oMath>
                </a14:m>
                <a:endParaRPr lang="fr-FR" sz="1100" dirty="0"/>
              </a:p>
              <a:p>
                <a14:m>
                  <m:oMath xmlns:m="http://schemas.openxmlformats.org/officeDocument/2006/math">
                    <m:r>
                      <a:rPr lang="fr-FR" sz="1100" b="0" i="1" smtClean="0">
                        <a:latin typeface="Cambria Math" panose="02040503050406030204" pitchFamily="18" charset="0"/>
                      </a:rPr>
                      <m:t>    </m:t>
                    </m:r>
                    <m:acc>
                      <m:accPr>
                        <m:chr m:val="̅"/>
                        <m:ctrlPr>
                          <a:rPr lang="fr-FR" sz="1100" i="1" smtClean="0">
                            <a:latin typeface="Cambria Math" panose="02040503050406030204" pitchFamily="18" charset="0"/>
                          </a:rPr>
                        </m:ctrlPr>
                      </m:accPr>
                      <m:e>
                        <m:r>
                          <a:rPr lang="fr-FR" sz="1100" b="0" i="1" smtClean="0">
                            <a:latin typeface="Cambria Math" panose="02040503050406030204" pitchFamily="18" charset="0"/>
                          </a:rPr>
                          <m:t>𝑦</m:t>
                        </m:r>
                      </m:e>
                    </m:acc>
                    <m:r>
                      <a:rPr lang="fr-FR" sz="1100" b="0" i="1" smtClean="0">
                        <a:latin typeface="Cambria Math" panose="02040503050406030204" pitchFamily="18" charset="0"/>
                      </a:rPr>
                      <m:t>=1670</m:t>
                    </m:r>
                  </m:oMath>
                </a14:m>
                <a:r>
                  <a:rPr lang="fr-FR" sz="1100" dirty="0"/>
                  <a:t> </a:t>
                </a:r>
              </a:p>
            </p:txBody>
          </p:sp>
        </mc:Choice>
        <mc:Fallback xmlns="">
          <p:sp>
            <p:nvSpPr>
              <p:cNvPr id="7" name="ZoneTexte 6">
                <a:extLst>
                  <a:ext uri="{FF2B5EF4-FFF2-40B4-BE49-F238E27FC236}">
                    <a16:creationId xmlns:a16="http://schemas.microsoft.com/office/drawing/2014/main" id="{978714C5-EF7C-4075-AC77-1E633D61175B}"/>
                  </a:ext>
                </a:extLst>
              </p:cNvPr>
              <p:cNvSpPr txBox="1">
                <a:spLocks noRot="1" noChangeAspect="1" noMove="1" noResize="1" noEditPoints="1" noAdjustHandles="1" noChangeArrowheads="1" noChangeShapeType="1" noTextEdit="1"/>
              </p:cNvSpPr>
              <p:nvPr/>
            </p:nvSpPr>
            <p:spPr>
              <a:xfrm>
                <a:off x="7462664" y="1859159"/>
                <a:ext cx="1224136" cy="600164"/>
              </a:xfrm>
              <a:prstGeom prst="rect">
                <a:avLst/>
              </a:prstGeom>
              <a:blipFill>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000542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258338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35BE68-D8AD-4963-87CD-96F1ED91A302}"/>
              </a:ext>
            </a:extLst>
          </p:cNvPr>
          <p:cNvSpPr>
            <a:spLocks noGrp="1"/>
          </p:cNvSpPr>
          <p:nvPr>
            <p:ph type="title"/>
          </p:nvPr>
        </p:nvSpPr>
        <p:spPr/>
        <p:txBody>
          <a:bodyPr>
            <a:normAutofit/>
          </a:bodyPr>
          <a:lstStyle/>
          <a:p>
            <a:r>
              <a:rPr lang="fr-FR" sz="3200" dirty="0">
                <a:latin typeface="Cambria" panose="02040503050406030204" pitchFamily="18" charset="0"/>
                <a:ea typeface="Cambria" panose="02040503050406030204" pitchFamily="18" charset="0"/>
              </a:rPr>
              <a:t>Représentation graphique – Nuage des points </a:t>
            </a:r>
          </a:p>
        </p:txBody>
      </p:sp>
      <p:pic>
        <p:nvPicPr>
          <p:cNvPr id="5" name="Espace réservé du contenu 4">
            <a:extLst>
              <a:ext uri="{FF2B5EF4-FFF2-40B4-BE49-F238E27FC236}">
                <a16:creationId xmlns:a16="http://schemas.microsoft.com/office/drawing/2014/main" id="{DDD3002A-53E9-40F8-984F-EA865C0F64D7}"/>
              </a:ext>
            </a:extLst>
          </p:cNvPr>
          <p:cNvPicPr>
            <a:picLocks noGrp="1" noChangeAspect="1"/>
          </p:cNvPicPr>
          <p:nvPr>
            <p:ph idx="1"/>
          </p:nvPr>
        </p:nvPicPr>
        <p:blipFill>
          <a:blip r:embed="rId2"/>
          <a:stretch>
            <a:fillRect/>
          </a:stretch>
        </p:blipFill>
        <p:spPr>
          <a:xfrm>
            <a:off x="353618" y="1484784"/>
            <a:ext cx="8436763" cy="5373216"/>
          </a:xfrm>
        </p:spPr>
      </p:pic>
    </p:spTree>
    <p:extLst>
      <p:ext uri="{BB962C8B-B14F-4D97-AF65-F5344CB8AC3E}">
        <p14:creationId xmlns:p14="http://schemas.microsoft.com/office/powerpoint/2010/main" val="156218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949299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BBF0C3-FFF3-4931-9566-A3866775DD75}"/>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Calcul de la covariance  </a:t>
            </a:r>
          </a:p>
        </p:txBody>
      </p:sp>
      <p:sp>
        <p:nvSpPr>
          <p:cNvPr id="3" name="Espace réservé du contenu 2">
            <a:extLst>
              <a:ext uri="{FF2B5EF4-FFF2-40B4-BE49-F238E27FC236}">
                <a16:creationId xmlns:a16="http://schemas.microsoft.com/office/drawing/2014/main" id="{70793508-9C6C-4E54-9C63-5028A211F2E2}"/>
              </a:ext>
            </a:extLst>
          </p:cNvPr>
          <p:cNvSpPr>
            <a:spLocks noGrp="1"/>
          </p:cNvSpPr>
          <p:nvPr>
            <p:ph idx="1"/>
          </p:nvPr>
        </p:nvSpPr>
        <p:spPr>
          <a:xfrm>
            <a:off x="0" y="1166018"/>
            <a:ext cx="9144000" cy="4525963"/>
          </a:xfrm>
        </p:spPr>
        <p:txBody>
          <a:bodyPr>
            <a:normAutofit/>
          </a:bodyPr>
          <a:lstStyle/>
          <a:p>
            <a:pPr marL="0" indent="0">
              <a:buNone/>
            </a:pPr>
            <a:r>
              <a:rPr lang="fr-FR" sz="2400" dirty="0">
                <a:latin typeface="Cambria" panose="02040503050406030204" pitchFamily="18" charset="0"/>
                <a:ea typeface="Cambria" panose="02040503050406030204" pitchFamily="18" charset="0"/>
              </a:rPr>
              <a:t>La covariance (la variance en commun) est un indice du sens de variation des données des deux variables. </a:t>
            </a:r>
          </a:p>
          <a:p>
            <a:pPr marL="0" indent="0">
              <a:buNone/>
            </a:pPr>
            <a:r>
              <a:rPr lang="fr-FR" sz="2400" dirty="0">
                <a:latin typeface="Cambria" panose="02040503050406030204" pitchFamily="18" charset="0"/>
                <a:ea typeface="Cambria" panose="02040503050406030204" pitchFamily="18" charset="0"/>
              </a:rPr>
              <a:t>La covariance est notée</a:t>
            </a: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Formule permettant de calculer la covariance :</a:t>
            </a: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 </a:t>
            </a:r>
          </a:p>
        </p:txBody>
      </p:sp>
      <p:pic>
        <p:nvPicPr>
          <p:cNvPr id="5" name="Image 4">
            <a:extLst>
              <a:ext uri="{FF2B5EF4-FFF2-40B4-BE49-F238E27FC236}">
                <a16:creationId xmlns:a16="http://schemas.microsoft.com/office/drawing/2014/main" id="{3EF419A1-CF5E-43A4-9AA6-ED94095177A6}"/>
              </a:ext>
            </a:extLst>
          </p:cNvPr>
          <p:cNvPicPr>
            <a:picLocks noChangeAspect="1"/>
          </p:cNvPicPr>
          <p:nvPr/>
        </p:nvPicPr>
        <p:blipFill>
          <a:blip r:embed="rId2"/>
          <a:stretch>
            <a:fillRect/>
          </a:stretch>
        </p:blipFill>
        <p:spPr>
          <a:xfrm>
            <a:off x="3223572" y="2420888"/>
            <a:ext cx="1780476" cy="384516"/>
          </a:xfrm>
          <a:prstGeom prst="rect">
            <a:avLst/>
          </a:prstGeom>
        </p:spPr>
      </p:pic>
      <p:pic>
        <p:nvPicPr>
          <p:cNvPr id="7" name="Image 6">
            <a:extLst>
              <a:ext uri="{FF2B5EF4-FFF2-40B4-BE49-F238E27FC236}">
                <a16:creationId xmlns:a16="http://schemas.microsoft.com/office/drawing/2014/main" id="{8A69D269-3C71-4597-8061-7FCC93F7BDC6}"/>
              </a:ext>
            </a:extLst>
          </p:cNvPr>
          <p:cNvPicPr>
            <a:picLocks noChangeAspect="1"/>
          </p:cNvPicPr>
          <p:nvPr/>
        </p:nvPicPr>
        <p:blipFill>
          <a:blip r:embed="rId3"/>
          <a:stretch>
            <a:fillRect/>
          </a:stretch>
        </p:blipFill>
        <p:spPr>
          <a:xfrm>
            <a:off x="2552542" y="3309152"/>
            <a:ext cx="4038916" cy="893339"/>
          </a:xfrm>
          <a:prstGeom prst="rect">
            <a:avLst/>
          </a:prstGeom>
        </p:spPr>
      </p:pic>
      <p:pic>
        <p:nvPicPr>
          <p:cNvPr id="9" name="Image 8">
            <a:extLst>
              <a:ext uri="{FF2B5EF4-FFF2-40B4-BE49-F238E27FC236}">
                <a16:creationId xmlns:a16="http://schemas.microsoft.com/office/drawing/2014/main" id="{E2426AF9-4F53-4D83-B42D-B571CAB92A41}"/>
              </a:ext>
            </a:extLst>
          </p:cNvPr>
          <p:cNvPicPr>
            <a:picLocks noChangeAspect="1"/>
          </p:cNvPicPr>
          <p:nvPr/>
        </p:nvPicPr>
        <p:blipFill>
          <a:blip r:embed="rId4"/>
          <a:stretch>
            <a:fillRect/>
          </a:stretch>
        </p:blipFill>
        <p:spPr>
          <a:xfrm>
            <a:off x="857250" y="4077072"/>
            <a:ext cx="7429500" cy="2181225"/>
          </a:xfrm>
          <a:prstGeom prst="rect">
            <a:avLst/>
          </a:prstGeom>
        </p:spPr>
      </p:pic>
    </p:spTree>
    <p:extLst>
      <p:ext uri="{BB962C8B-B14F-4D97-AF65-F5344CB8AC3E}">
        <p14:creationId xmlns:p14="http://schemas.microsoft.com/office/powerpoint/2010/main" val="64244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6004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3FE50-2DA4-48C1-BB9C-B93DCAECFDC0}"/>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Interprétation de la covariance </a:t>
            </a:r>
            <a:endParaRPr lang="fr-FR" dirty="0"/>
          </a:p>
        </p:txBody>
      </p:sp>
      <p:sp>
        <p:nvSpPr>
          <p:cNvPr id="3" name="Espace réservé du contenu 2">
            <a:extLst>
              <a:ext uri="{FF2B5EF4-FFF2-40B4-BE49-F238E27FC236}">
                <a16:creationId xmlns:a16="http://schemas.microsoft.com/office/drawing/2014/main" id="{DD8871DB-1082-49FC-8CC6-DA796624F597}"/>
              </a:ext>
            </a:extLst>
          </p:cNvPr>
          <p:cNvSpPr>
            <a:spLocks noGrp="1"/>
          </p:cNvSpPr>
          <p:nvPr>
            <p:ph idx="1"/>
          </p:nvPr>
        </p:nvSpPr>
        <p:spPr/>
        <p:txBody>
          <a:bodyPr>
            <a:normAutofit lnSpcReduction="10000"/>
          </a:bodyPr>
          <a:lstStyle/>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la covariance est strictement positive, alors on peut en déduire que les données des deux variables varient dans le même sens (autrement dit, si les données d’une variable augmentent (resp. baissent) alors les données de l’autre auront une tendance à augmenter (resp. baisser) aussi)</a:t>
            </a:r>
          </a:p>
          <a:p>
            <a:pPr marL="0" indent="0">
              <a:buNone/>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la covariance est strictement négative, alors on peut en déduire que les données des deux variables varient dans un sens opposé (autrement dit, si les données d’une variable augmentent (resp. baissent) alors les données de l’autre auront une tendance à baisser (resp. augmenter))</a:t>
            </a:r>
          </a:p>
          <a:p>
            <a:pPr marL="0" indent="0">
              <a:buNone/>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Une covariance nulle n’implique pas nécessairement l’absence de lien entre les données des deux variables </a:t>
            </a:r>
          </a:p>
        </p:txBody>
      </p:sp>
    </p:spTree>
    <p:extLst>
      <p:ext uri="{BB962C8B-B14F-4D97-AF65-F5344CB8AC3E}">
        <p14:creationId xmlns:p14="http://schemas.microsoft.com/office/powerpoint/2010/main" val="2693306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590973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Retour à l’exemple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788024"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54A4E8D2-1598-4ACE-ADED-358F71D8CE30}"/>
              </a:ext>
            </a:extLst>
          </p:cNvPr>
          <p:cNvSpPr txBox="1"/>
          <p:nvPr/>
        </p:nvSpPr>
        <p:spPr>
          <a:xfrm>
            <a:off x="5948511" y="2407330"/>
            <a:ext cx="2746648" cy="738664"/>
          </a:xfrm>
          <a:prstGeom prst="rect">
            <a:avLst/>
          </a:prstGeom>
          <a:noFill/>
        </p:spPr>
        <p:txBody>
          <a:bodyPr wrap="square" rtlCol="0">
            <a:spAutoFit/>
          </a:bodyPr>
          <a:lstStyle/>
          <a:p>
            <a:r>
              <a:rPr lang="fr-FR" sz="1400" dirty="0">
                <a:latin typeface="Cambria" panose="02040503050406030204" pitchFamily="18" charset="0"/>
                <a:ea typeface="Cambria" panose="02040503050406030204" pitchFamily="18" charset="0"/>
              </a:rPr>
              <a:t>Objectif : </a:t>
            </a:r>
          </a:p>
          <a:p>
            <a:r>
              <a:rPr lang="fr-FR" sz="1400" dirty="0">
                <a:latin typeface="Cambria" panose="02040503050406030204" pitchFamily="18" charset="0"/>
                <a:ea typeface="Cambria" panose="02040503050406030204" pitchFamily="18" charset="0"/>
              </a:rPr>
              <a:t>Calculer la covariance. Commenter le résultat  </a:t>
            </a:r>
          </a:p>
        </p:txBody>
      </p:sp>
    </p:spTree>
    <p:extLst>
      <p:ext uri="{BB962C8B-B14F-4D97-AF65-F5344CB8AC3E}">
        <p14:creationId xmlns:p14="http://schemas.microsoft.com/office/powerpoint/2010/main" val="2681370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7306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406749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9A5D58-9492-44C0-8103-5DB9B4CB75F1}"/>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Le coefficient de corrélation linéaire</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008A13A-13EF-4A19-AD10-4C493D0DAC80}"/>
                  </a:ext>
                </a:extLst>
              </p:cNvPr>
              <p:cNvSpPr>
                <a:spLocks noGrp="1"/>
              </p:cNvSpPr>
              <p:nvPr>
                <p:ph idx="1"/>
              </p:nvPr>
            </p:nvSpPr>
            <p:spPr>
              <a:xfrm>
                <a:off x="32495" y="1268760"/>
                <a:ext cx="9139758" cy="5440362"/>
              </a:xfrm>
            </p:spPr>
            <p:txBody>
              <a:bodyPr>
                <a:normAutofit/>
              </a:bodyPr>
              <a:lstStyle/>
              <a:p>
                <a:pPr marL="0" indent="0">
                  <a:buNone/>
                </a:pPr>
                <a:r>
                  <a:rPr lang="fr-FR" sz="2000" dirty="0">
                    <a:latin typeface="Cambria" panose="02040503050406030204" pitchFamily="18" charset="0"/>
                    <a:ea typeface="Cambria" panose="02040503050406030204" pitchFamily="18" charset="0"/>
                  </a:rPr>
                  <a:t>Le coefficient de corrélation linéaire, noté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𝑟</m:t>
                    </m:r>
                    <m:r>
                      <a:rPr lang="fr-FR" sz="2000" b="0" i="1" smtClean="0">
                        <a:solidFill>
                          <a:srgbClr val="FF0000"/>
                        </a:solidFill>
                        <a:latin typeface="Cambria Math" panose="02040503050406030204" pitchFamily="18" charset="0"/>
                        <a:ea typeface="Cambria" panose="02040503050406030204" pitchFamily="18" charset="0"/>
                      </a:rPr>
                      <m:t> (</m:t>
                    </m:r>
                    <m:r>
                      <a:rPr lang="fr-FR" sz="2000" b="0" i="1" smtClean="0">
                        <a:solidFill>
                          <a:srgbClr val="FF0000"/>
                        </a:solidFill>
                        <a:latin typeface="Cambria Math" panose="02040503050406030204" pitchFamily="18" charset="0"/>
                        <a:ea typeface="Cambria" panose="02040503050406030204" pitchFamily="18" charset="0"/>
                      </a:rPr>
                      <m:t>𝑥</m:t>
                    </m:r>
                    <m:r>
                      <a:rPr lang="fr-FR" sz="2000" b="0" i="1" smtClean="0">
                        <a:solidFill>
                          <a:srgbClr val="FF0000"/>
                        </a:solidFill>
                        <a:latin typeface="Cambria Math" panose="02040503050406030204" pitchFamily="18" charset="0"/>
                        <a:ea typeface="Cambria" panose="02040503050406030204" pitchFamily="18" charset="0"/>
                      </a:rPr>
                      <m:t>, </m:t>
                    </m:r>
                    <m:r>
                      <a:rPr lang="fr-FR" sz="2000" b="0" i="1" smtClean="0">
                        <a:solidFill>
                          <a:srgbClr val="FF0000"/>
                        </a:solidFill>
                        <a:latin typeface="Cambria Math" panose="02040503050406030204" pitchFamily="18" charset="0"/>
                        <a:ea typeface="Cambria" panose="02040503050406030204" pitchFamily="18" charset="0"/>
                      </a:rPr>
                      <m:t>𝑦</m:t>
                    </m:r>
                    <m:r>
                      <a:rPr lang="fr-FR" sz="2000" b="0" i="1" smtClean="0">
                        <a:solidFill>
                          <a:srgbClr val="FF0000"/>
                        </a:solidFill>
                        <a:latin typeface="Cambria Math" panose="02040503050406030204" pitchFamily="18" charset="0"/>
                        <a:ea typeface="Cambria" panose="02040503050406030204" pitchFamily="18" charset="0"/>
                      </a:rPr>
                      <m:t>)</m:t>
                    </m:r>
                  </m:oMath>
                </a14:m>
                <a:r>
                  <a:rPr lang="fr-FR" sz="2000" dirty="0">
                    <a:latin typeface="Cambria" panose="02040503050406030204" pitchFamily="18" charset="0"/>
                    <a:ea typeface="Cambria" panose="02040503050406030204" pitchFamily="18" charset="0"/>
                  </a:rPr>
                  <a:t>,</a:t>
                </a:r>
                <a:r>
                  <a:rPr lang="fr-FR" sz="2000" dirty="0">
                    <a:solidFill>
                      <a:srgbClr val="FF0000"/>
                    </a:solidFill>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rPr>
                  <a:t>est indicateur de l’intensité de la relation linéaire entre les données de deux variables.</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Formule permettant de calculer ce coefficient :</a:t>
                </a: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Où </a:t>
                </a:r>
                <a14:m>
                  <m:oMath xmlns:m="http://schemas.openxmlformats.org/officeDocument/2006/math">
                    <m:sSub>
                      <m:sSubPr>
                        <m:ctrlPr>
                          <a:rPr lang="fr-FR" sz="2000" i="1" smtClean="0">
                            <a:solidFill>
                              <a:srgbClr val="FF0000"/>
                            </a:solidFill>
                            <a:latin typeface="Cambria Math" panose="02040503050406030204" pitchFamily="18" charset="0"/>
                            <a:ea typeface="Cambria" panose="02040503050406030204" pitchFamily="18" charset="0"/>
                          </a:rPr>
                        </m:ctrlPr>
                      </m:sSubPr>
                      <m:e>
                        <m:r>
                          <a:rPr lang="fr-FR" sz="2000" b="0" i="1" smtClean="0">
                            <a:solidFill>
                              <a:srgbClr val="FF0000"/>
                            </a:solidFill>
                            <a:latin typeface="Cambria Math" panose="02040503050406030204" pitchFamily="18" charset="0"/>
                            <a:ea typeface="Cambria" panose="02040503050406030204" pitchFamily="18" charset="0"/>
                          </a:rPr>
                          <m:t>𝑠</m:t>
                        </m:r>
                      </m:e>
                      <m:sub>
                        <m:r>
                          <a:rPr lang="fr-FR" sz="2000" b="0" i="1" smtClean="0">
                            <a:solidFill>
                              <a:srgbClr val="FF0000"/>
                            </a:solidFill>
                            <a:latin typeface="Cambria Math" panose="02040503050406030204" pitchFamily="18" charset="0"/>
                            <a:ea typeface="Cambria" panose="02040503050406030204" pitchFamily="18" charset="0"/>
                          </a:rPr>
                          <m:t>𝑥</m:t>
                        </m:r>
                      </m:sub>
                    </m:sSub>
                  </m:oMath>
                </a14:m>
                <a:r>
                  <a:rPr lang="fr-FR" sz="2000" dirty="0">
                    <a:latin typeface="Cambria" panose="02040503050406030204" pitchFamily="18" charset="0"/>
                    <a:ea typeface="Cambria" panose="02040503050406030204" pitchFamily="18" charset="0"/>
                  </a:rPr>
                  <a:t> est l’écart-type des données de la variable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𝑥</m:t>
                    </m:r>
                  </m:oMath>
                </a14:m>
                <a:r>
                  <a:rPr lang="fr-FR" sz="2000" dirty="0">
                    <a:solidFill>
                      <a:srgbClr val="FF0000"/>
                    </a:solidFill>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rPr>
                  <a:t>et</a:t>
                </a:r>
                <a:r>
                  <a:rPr lang="fr-FR" sz="20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
                      <m:sSubPr>
                        <m:ctrlPr>
                          <a:rPr lang="fr-FR" sz="2000" i="1">
                            <a:solidFill>
                              <a:srgbClr val="FF0000"/>
                            </a:solidFill>
                            <a:latin typeface="Cambria Math" panose="02040503050406030204" pitchFamily="18" charset="0"/>
                            <a:ea typeface="Cambria" panose="02040503050406030204" pitchFamily="18" charset="0"/>
                          </a:rPr>
                        </m:ctrlPr>
                      </m:sSubPr>
                      <m:e>
                        <m:r>
                          <a:rPr lang="fr-FR" sz="2000" i="1">
                            <a:solidFill>
                              <a:srgbClr val="FF0000"/>
                            </a:solidFill>
                            <a:latin typeface="Cambria Math" panose="02040503050406030204" pitchFamily="18" charset="0"/>
                            <a:ea typeface="Cambria" panose="02040503050406030204" pitchFamily="18" charset="0"/>
                          </a:rPr>
                          <m:t>𝑠</m:t>
                        </m:r>
                      </m:e>
                      <m:sub>
                        <m:r>
                          <a:rPr lang="fr-FR" sz="2000" b="0" i="1" smtClean="0">
                            <a:solidFill>
                              <a:srgbClr val="FF0000"/>
                            </a:solidFill>
                            <a:latin typeface="Cambria Math" panose="02040503050406030204" pitchFamily="18" charset="0"/>
                            <a:ea typeface="Cambria" panose="02040503050406030204" pitchFamily="18" charset="0"/>
                          </a:rPr>
                          <m:t>𝑦</m:t>
                        </m:r>
                      </m:sub>
                    </m:sSub>
                  </m:oMath>
                </a14:m>
                <a:r>
                  <a:rPr lang="fr-FR" sz="2000" dirty="0">
                    <a:latin typeface="Cambria" panose="02040503050406030204" pitchFamily="18" charset="0"/>
                    <a:ea typeface="Cambria" panose="02040503050406030204" pitchFamily="18" charset="0"/>
                  </a:rPr>
                  <a:t> est l’écart-type des données de la variable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𝑦</m:t>
                    </m:r>
                  </m:oMath>
                </a14:m>
                <a:endParaRPr lang="fr-FR" sz="2000" dirty="0">
                  <a:solidFill>
                    <a:srgbClr val="FF0000"/>
                  </a:solidFill>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 </a:t>
                </a:r>
              </a:p>
              <a:p>
                <a:pPr marL="0" indent="0">
                  <a:buNone/>
                </a:pPr>
                <a:r>
                  <a:rPr lang="fr-FR" sz="2000" dirty="0">
                    <a:latin typeface="Cambria" panose="02040503050406030204" pitchFamily="18" charset="0"/>
                    <a:ea typeface="Cambria" panose="02040503050406030204" pitchFamily="18" charset="0"/>
                  </a:rPr>
                  <a:t>Notez que :</a:t>
                </a:r>
              </a:p>
              <a:p>
                <a:pPr marL="0" indent="0" algn="ctr">
                  <a:buNone/>
                </a:pPr>
                <a14:m>
                  <m:oMathPara xmlns:m="http://schemas.openxmlformats.org/officeDocument/2006/math">
                    <m:oMathParaPr>
                      <m:jc m:val="centerGroup"/>
                    </m:oMathParaPr>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−1 </m:t>
                      </m:r>
                      <m:r>
                        <a:rPr lang="fr-FR" sz="2000" b="0" i="1" smtClean="0">
                          <a:solidFill>
                            <a:srgbClr val="FF0000"/>
                          </a:solidFill>
                          <a:latin typeface="Cambria Math" panose="02040503050406030204" pitchFamily="18" charset="0"/>
                          <a:ea typeface="Cambria Math" panose="02040503050406030204" pitchFamily="18" charset="0"/>
                        </a:rPr>
                        <m:t>≤ </m:t>
                      </m:r>
                      <m:r>
                        <a:rPr lang="fr-FR" sz="2000" i="1">
                          <a:solidFill>
                            <a:srgbClr val="FF0000"/>
                          </a:solidFill>
                          <a:latin typeface="Cambria Math" panose="02040503050406030204" pitchFamily="18" charset="0"/>
                          <a:ea typeface="Cambria" panose="02040503050406030204" pitchFamily="18" charset="0"/>
                        </a:rPr>
                        <m:t>𝑟</m:t>
                      </m:r>
                      <m:r>
                        <a:rPr lang="fr-FR" sz="2000" i="1">
                          <a:solidFill>
                            <a:srgbClr val="FF0000"/>
                          </a:solidFill>
                          <a:latin typeface="Cambria Math" panose="02040503050406030204" pitchFamily="18" charset="0"/>
                          <a:ea typeface="Cambria" panose="02040503050406030204" pitchFamily="18" charset="0"/>
                        </a:rPr>
                        <m:t> </m:t>
                      </m:r>
                      <m:d>
                        <m:dPr>
                          <m:ctrlPr>
                            <a:rPr lang="fr-FR" sz="2000" i="1">
                              <a:solidFill>
                                <a:srgbClr val="FF0000"/>
                              </a:solidFill>
                              <a:latin typeface="Cambria Math" panose="02040503050406030204" pitchFamily="18" charset="0"/>
                              <a:ea typeface="Cambria" panose="02040503050406030204" pitchFamily="18" charset="0"/>
                            </a:rPr>
                          </m:ctrlPr>
                        </m:dPr>
                        <m:e>
                          <m:r>
                            <a:rPr lang="fr-FR" sz="2000" i="1">
                              <a:solidFill>
                                <a:srgbClr val="FF0000"/>
                              </a:solidFill>
                              <a:latin typeface="Cambria Math" panose="02040503050406030204" pitchFamily="18" charset="0"/>
                              <a:ea typeface="Cambria" panose="02040503050406030204" pitchFamily="18" charset="0"/>
                            </a:rPr>
                            <m:t>𝑥</m:t>
                          </m:r>
                          <m:r>
                            <a:rPr lang="fr-FR" sz="2000" i="1">
                              <a:solidFill>
                                <a:srgbClr val="FF0000"/>
                              </a:solidFill>
                              <a:latin typeface="Cambria Math" panose="02040503050406030204" pitchFamily="18" charset="0"/>
                              <a:ea typeface="Cambria" panose="02040503050406030204" pitchFamily="18" charset="0"/>
                            </a:rPr>
                            <m:t>, </m:t>
                          </m:r>
                          <m:r>
                            <a:rPr lang="fr-FR" sz="2000" i="1">
                              <a:solidFill>
                                <a:srgbClr val="FF0000"/>
                              </a:solidFill>
                              <a:latin typeface="Cambria Math" panose="02040503050406030204" pitchFamily="18" charset="0"/>
                              <a:ea typeface="Cambria" panose="02040503050406030204" pitchFamily="18" charset="0"/>
                            </a:rPr>
                            <m:t>𝑦</m:t>
                          </m:r>
                        </m:e>
                      </m:d>
                      <m:r>
                        <a:rPr lang="fr-FR" sz="2000" i="1" smtClean="0">
                          <a:solidFill>
                            <a:srgbClr val="FF0000"/>
                          </a:solidFill>
                          <a:latin typeface="Cambria Math" panose="02040503050406030204" pitchFamily="18" charset="0"/>
                          <a:ea typeface="Cambria Math" panose="02040503050406030204" pitchFamily="18" charset="0"/>
                        </a:rPr>
                        <m:t>≤</m:t>
                      </m:r>
                      <m:r>
                        <a:rPr lang="fr-FR" sz="2000" b="0" i="1" smtClean="0">
                          <a:solidFill>
                            <a:srgbClr val="FF0000"/>
                          </a:solidFill>
                          <a:latin typeface="Cambria Math" panose="02040503050406030204" pitchFamily="18" charset="0"/>
                          <a:ea typeface="Cambria Math" panose="02040503050406030204" pitchFamily="18" charset="0"/>
                        </a:rPr>
                        <m:t>1</m:t>
                      </m:r>
                    </m:oMath>
                  </m:oMathPara>
                </a14:m>
                <a:endParaRPr lang="fr-FR" sz="2000" dirty="0">
                  <a:solidFill>
                    <a:srgbClr val="FF0000"/>
                  </a:solidFill>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Remarque : </a:t>
                </a:r>
              </a:p>
              <a:p>
                <a:pPr marL="0" indent="0">
                  <a:buNone/>
                </a:pPr>
                <a:r>
                  <a:rPr lang="fr-FR" sz="2000" dirty="0">
                    <a:latin typeface="Cambria" panose="02040503050406030204" pitchFamily="18" charset="0"/>
                    <a:ea typeface="Cambria" panose="02040503050406030204" pitchFamily="18" charset="0"/>
                  </a:rPr>
                  <a:t>Le coefficient de corrélation linéaire et la covariance ont le même signe</a:t>
                </a: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D008A13A-13EF-4A19-AD10-4C493D0DAC80}"/>
                  </a:ext>
                </a:extLst>
              </p:cNvPr>
              <p:cNvSpPr>
                <a:spLocks noGrp="1" noRot="1" noChangeAspect="1" noMove="1" noResize="1" noEditPoints="1" noAdjustHandles="1" noChangeArrowheads="1" noChangeShapeType="1" noTextEdit="1"/>
              </p:cNvSpPr>
              <p:nvPr>
                <p:ph idx="1"/>
              </p:nvPr>
            </p:nvSpPr>
            <p:spPr>
              <a:xfrm>
                <a:off x="32495" y="1268760"/>
                <a:ext cx="9139758" cy="5440362"/>
              </a:xfrm>
              <a:blipFill>
                <a:blip r:embed="rId2"/>
                <a:stretch>
                  <a:fillRect l="-667" t="-560" r="-1000" b="-448"/>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660DA2FE-DF16-4A84-9093-93EAF0F2DBFD}"/>
              </a:ext>
            </a:extLst>
          </p:cNvPr>
          <p:cNvPicPr>
            <a:picLocks noChangeAspect="1"/>
          </p:cNvPicPr>
          <p:nvPr/>
        </p:nvPicPr>
        <p:blipFill>
          <a:blip r:embed="rId3"/>
          <a:stretch>
            <a:fillRect/>
          </a:stretch>
        </p:blipFill>
        <p:spPr>
          <a:xfrm>
            <a:off x="2843808" y="3356992"/>
            <a:ext cx="3744416" cy="804324"/>
          </a:xfrm>
          <a:prstGeom prst="rect">
            <a:avLst/>
          </a:prstGeom>
        </p:spPr>
      </p:pic>
    </p:spTree>
    <p:extLst>
      <p:ext uri="{BB962C8B-B14F-4D97-AF65-F5344CB8AC3E}">
        <p14:creationId xmlns:p14="http://schemas.microsoft.com/office/powerpoint/2010/main" val="2987058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208625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63F176-0B72-405B-9445-25B4193FC083}"/>
              </a:ext>
            </a:extLst>
          </p:cNvPr>
          <p:cNvSpPr>
            <a:spLocks noGrp="1"/>
          </p:cNvSpPr>
          <p:nvPr>
            <p:ph type="title"/>
          </p:nvPr>
        </p:nvSpPr>
        <p:spPr/>
        <p:txBody>
          <a:bodyPr>
            <a:normAutofit/>
          </a:bodyPr>
          <a:lstStyle/>
          <a:p>
            <a:r>
              <a:rPr lang="fr-FR" sz="2800" dirty="0">
                <a:latin typeface="Cambria" panose="02040503050406030204" pitchFamily="18" charset="0"/>
                <a:ea typeface="Cambria" panose="02040503050406030204" pitchFamily="18" charset="0"/>
              </a:rPr>
              <a:t>Interprétation - Le coefficient de corrélation linéaire</a:t>
            </a:r>
            <a:endParaRPr lang="fr-FR" sz="2800"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015B1943-2771-4557-9DE0-3AADFC2ED44B}"/>
                  </a:ext>
                </a:extLst>
              </p:cNvPr>
              <p:cNvSpPr>
                <a:spLocks noGrp="1"/>
              </p:cNvSpPr>
              <p:nvPr>
                <p:ph idx="1"/>
              </p:nvPr>
            </p:nvSpPr>
            <p:spPr>
              <a:xfrm>
                <a:off x="0" y="1166018"/>
                <a:ext cx="9144000" cy="5691982"/>
              </a:xfrm>
            </p:spPr>
            <p:txBody>
              <a:bodyPr>
                <a:normAutofit/>
              </a:bodyPr>
              <a:lstStyle/>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Math" panose="02040503050406030204" pitchFamily="18" charset="0"/>
                      </a:rPr>
                      <m:t>≠0</m:t>
                    </m:r>
                  </m:oMath>
                </a14:m>
                <a:r>
                  <a:rPr lang="fr-FR" sz="2000" dirty="0">
                    <a:latin typeface="Cambria" panose="02040503050406030204" pitchFamily="18" charset="0"/>
                    <a:ea typeface="Cambria" panose="02040503050406030204" pitchFamily="18" charset="0"/>
                  </a:rPr>
                  <a:t>, alors on peut en déduire qu’il existe une relation entre les données des deux variables.</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panose="02040503050406030204" pitchFamily="18" charset="0"/>
                      </a:rPr>
                      <m:t>=1</m:t>
                    </m:r>
                  </m:oMath>
                </a14:m>
                <a:r>
                  <a:rPr lang="fr-FR" sz="2000" dirty="0">
                    <a:latin typeface="Cambria" panose="02040503050406030204" pitchFamily="18" charset="0"/>
                    <a:ea typeface="Cambria" panose="02040503050406030204" pitchFamily="18" charset="0"/>
                  </a:rPr>
                  <a:t> ou </a:t>
                </a:r>
                <a14:m>
                  <m:oMath xmlns:m="http://schemas.openxmlformats.org/officeDocument/2006/math">
                    <m:r>
                      <a:rPr lang="fr-FR" sz="2000" i="1">
                        <a:latin typeface="Cambria Math" panose="02040503050406030204" pitchFamily="18" charset="0"/>
                        <a:ea typeface="Cambria" panose="02040503050406030204" pitchFamily="18" charset="0"/>
                      </a:rPr>
                      <m:t>𝑟</m:t>
                    </m:r>
                    <m:r>
                      <a:rPr lang="fr-FR" sz="2000" i="1">
                        <a:latin typeface="Cambria Math" panose="02040503050406030204" pitchFamily="18" charset="0"/>
                        <a:ea typeface="Cambria" panose="02040503050406030204" pitchFamily="18" charset="0"/>
                      </a:rPr>
                      <m:t> </m:t>
                    </m:r>
                    <m:d>
                      <m:dPr>
                        <m:ctrlPr>
                          <a:rPr lang="fr-FR" sz="2000" i="1">
                            <a:latin typeface="Cambria Math" panose="02040503050406030204" pitchFamily="18" charset="0"/>
                            <a:ea typeface="Cambria" panose="02040503050406030204" pitchFamily="18" charset="0"/>
                          </a:rPr>
                        </m:ctrlPr>
                      </m:dPr>
                      <m:e>
                        <m:r>
                          <a:rPr lang="fr-FR" sz="2000" i="1">
                            <a:latin typeface="Cambria Math" panose="02040503050406030204" pitchFamily="18" charset="0"/>
                            <a:ea typeface="Cambria" panose="02040503050406030204" pitchFamily="18" charset="0"/>
                          </a:rPr>
                          <m:t>𝑥</m:t>
                        </m:r>
                        <m:r>
                          <a:rPr lang="fr-FR" sz="2000" i="1">
                            <a:latin typeface="Cambria Math" panose="02040503050406030204" pitchFamily="18" charset="0"/>
                            <a:ea typeface="Cambria" panose="02040503050406030204" pitchFamily="18" charset="0"/>
                          </a:rPr>
                          <m:t>, </m:t>
                        </m:r>
                        <m:r>
                          <a:rPr lang="fr-FR" sz="2000" i="1">
                            <a:latin typeface="Cambria Math" panose="02040503050406030204" pitchFamily="18" charset="0"/>
                            <a:ea typeface="Cambria" panose="02040503050406030204" pitchFamily="18" charset="0"/>
                          </a:rPr>
                          <m:t>𝑦</m:t>
                        </m:r>
                      </m:e>
                    </m:d>
                    <m:r>
                      <a:rPr lang="fr-FR" sz="2000" i="1">
                        <a:latin typeface="Cambria Math" panose="02040503050406030204" pitchFamily="18" charset="0"/>
                        <a:ea typeface="Cambria" panose="02040503050406030204" pitchFamily="18" charset="0"/>
                      </a:rPr>
                      <m:t>=</m:t>
                    </m:r>
                    <m:r>
                      <a:rPr lang="fr-FR" sz="2000" b="0" i="1" smtClean="0">
                        <a:latin typeface="Cambria Math" panose="02040503050406030204" pitchFamily="18" charset="0"/>
                        <a:ea typeface="Cambria" panose="02040503050406030204" pitchFamily="18" charset="0"/>
                      </a:rPr>
                      <m:t>−</m:t>
                    </m:r>
                    <m:r>
                      <a:rPr lang="fr-FR" sz="2000" i="1">
                        <a:latin typeface="Cambria Math" panose="02040503050406030204" pitchFamily="18" charset="0"/>
                        <a:ea typeface="Cambria" panose="02040503050406030204" pitchFamily="18" charset="0"/>
                      </a:rPr>
                      <m:t>1</m:t>
                    </m:r>
                    <m:r>
                      <a:rPr lang="fr-FR" sz="2000" b="0" i="0" smtClean="0">
                        <a:latin typeface="Cambria Math" panose="02040503050406030204" pitchFamily="18" charset="0"/>
                        <a:ea typeface="Cambria" panose="02040503050406030204" pitchFamily="18" charset="0"/>
                      </a:rPr>
                      <m:t>,</m:t>
                    </m:r>
                  </m:oMath>
                </a14:m>
                <a:r>
                  <a:rPr lang="fr-FR" sz="2000" dirty="0">
                    <a:latin typeface="Cambria" panose="02040503050406030204" pitchFamily="18" charset="0"/>
                    <a:ea typeface="Cambria" panose="02040503050406030204" pitchFamily="18" charset="0"/>
                  </a:rPr>
                  <a:t> alors on peut en déduire que la relation entre les données des deux variables est parfaitement linéaire </a:t>
                </a:r>
                <a:r>
                  <a:rPr lang="fr-FR" sz="2000" dirty="0">
                    <a:latin typeface="Cambria" panose="02040503050406030204" pitchFamily="18" charset="0"/>
                    <a:ea typeface="Cambria" panose="02040503050406030204" pitchFamily="18" charset="0"/>
                    <a:sym typeface="Wingdings" panose="05000000000000000000" pitchFamily="2" charset="2"/>
                  </a:rPr>
                  <a:t> </a:t>
                </a:r>
              </a:p>
              <a:p>
                <a:pPr marL="0" indent="0">
                  <a:buNone/>
                </a:pPr>
                <a:r>
                  <a:rPr lang="fr-FR" sz="2000" dirty="0">
                    <a:latin typeface="Cambria" panose="02040503050406030204" pitchFamily="18" charset="0"/>
                    <a:ea typeface="Cambria" panose="02040503050406030204" pitchFamily="18" charset="0"/>
                    <a:sym typeface="Wingdings" panose="05000000000000000000" pitchFamily="2" charset="2"/>
                  </a:rPr>
                  <a:t>      Le nuage des points a la forme d’une droite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appartient à ]-1 ; -0.9] ou [0.9 ; 1[, alors on peut en déduire que l’intensité linéaire entre les données des deux variable est très forte</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appartient à ]-0.9 ; -0.7] ou [0.7 ; 0.9[, alors on peut en déduire que l’intensité linéaire entre les données des deux variable est forte / valide</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appartient à ]-0.7 ; -0.5] ou [0.5 ; 0.7[, alors on peut en déduire que l’intensité linéaire entre les données des deux variable est moyenne</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est proche de 0, alors on peut en déduire que l’intensité linéaire entre les données des deux variable est faible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Si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panose="02040503050406030204" pitchFamily="18" charset="0"/>
                      </a:rPr>
                      <m:t>=0</m:t>
                    </m:r>
                  </m:oMath>
                </a14:m>
                <a:r>
                  <a:rPr lang="fr-FR" sz="2000" dirty="0">
                    <a:latin typeface="Cambria" panose="02040503050406030204" pitchFamily="18" charset="0"/>
                    <a:ea typeface="Cambria" panose="02040503050406030204" pitchFamily="18" charset="0"/>
                  </a:rPr>
                  <a:t> (ou il est très proche de 0) on peut constater l’absence d’une linéarité apparente entre les données des deux variables (mais cela n’implique pas nécessairement l’absence de lien)</a:t>
                </a:r>
              </a:p>
              <a:p>
                <a:pPr>
                  <a:buFont typeface="Wingdings" panose="05000000000000000000" pitchFamily="2" charset="2"/>
                  <a:buChar char="q"/>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015B1943-2771-4557-9DE0-3AADFC2ED44B}"/>
                  </a:ext>
                </a:extLst>
              </p:cNvPr>
              <p:cNvSpPr>
                <a:spLocks noGrp="1" noRot="1" noChangeAspect="1" noMove="1" noResize="1" noEditPoints="1" noAdjustHandles="1" noChangeArrowheads="1" noChangeShapeType="1" noTextEdit="1"/>
              </p:cNvSpPr>
              <p:nvPr>
                <p:ph idx="1"/>
              </p:nvPr>
            </p:nvSpPr>
            <p:spPr>
              <a:xfrm>
                <a:off x="0" y="1166018"/>
                <a:ext cx="9144000" cy="5691982"/>
              </a:xfrm>
              <a:blipFill>
                <a:blip r:embed="rId2"/>
                <a:stretch>
                  <a:fillRect l="-600" t="-535" r="-667"/>
                </a:stretch>
              </a:blipFill>
            </p:spPr>
            <p:txBody>
              <a:bodyPr/>
              <a:lstStyle/>
              <a:p>
                <a:r>
                  <a:rPr lang="fr-FR">
                    <a:noFill/>
                  </a:rPr>
                  <a:t> </a:t>
                </a:r>
              </a:p>
            </p:txBody>
          </p:sp>
        </mc:Fallback>
      </mc:AlternateContent>
    </p:spTree>
    <p:extLst>
      <p:ext uri="{BB962C8B-B14F-4D97-AF65-F5344CB8AC3E}">
        <p14:creationId xmlns:p14="http://schemas.microsoft.com/office/powerpoint/2010/main" val="1764311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719420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Retour à l’exemple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360342"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8BF504E5-9F22-4382-9233-50670CFCFD1F}"/>
              </a:ext>
            </a:extLst>
          </p:cNvPr>
          <p:cNvSpPr txBox="1"/>
          <p:nvPr/>
        </p:nvSpPr>
        <p:spPr>
          <a:xfrm>
            <a:off x="5508104" y="2708920"/>
            <a:ext cx="2808312" cy="1200329"/>
          </a:xfrm>
          <a:prstGeom prst="rect">
            <a:avLst/>
          </a:prstGeom>
          <a:noFill/>
        </p:spPr>
        <p:txBody>
          <a:bodyPr wrap="square" rtlCol="0">
            <a:spAutoFit/>
          </a:bodyPr>
          <a:lstStyle/>
          <a:p>
            <a:r>
              <a:rPr lang="fr-FR" dirty="0"/>
              <a:t>Objectif :</a:t>
            </a:r>
          </a:p>
          <a:p>
            <a:r>
              <a:rPr lang="fr-FR" dirty="0"/>
              <a:t>Calculer le coefficient de corrélation linéaire </a:t>
            </a:r>
          </a:p>
          <a:p>
            <a:r>
              <a:rPr lang="fr-FR" dirty="0"/>
              <a:t>Interpréter les résultats</a:t>
            </a:r>
          </a:p>
        </p:txBody>
      </p:sp>
    </p:spTree>
    <p:extLst>
      <p:ext uri="{BB962C8B-B14F-4D97-AF65-F5344CB8AC3E}">
        <p14:creationId xmlns:p14="http://schemas.microsoft.com/office/powerpoint/2010/main" val="2857484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260540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Population : </a:t>
                </a:r>
                <a:r>
                  <a:rPr lang="fr-FR" sz="2000" dirty="0">
                    <a:latin typeface="Cambria" panose="02040503050406030204" pitchFamily="18" charset="0"/>
                    <a:ea typeface="Cambria" panose="02040503050406030204" pitchFamily="18" charset="0"/>
                  </a:rPr>
                  <a:t>les étudiants qui ont participé à un examen de maths (cet examen est sous format QCM – Note par question : 1 point (bonne réponse) 0 point (sans réponse et -0.25 point (mauvaise réponse))</a:t>
                </a:r>
              </a:p>
              <a:p>
                <a:pPr marL="0" indent="0">
                  <a:buNone/>
                </a:pPr>
                <a:r>
                  <a:rPr lang="fr-FR" sz="2000" u="sng" dirty="0">
                    <a:latin typeface="Cambria" panose="02040503050406030204" pitchFamily="18" charset="0"/>
                    <a:ea typeface="Cambria" panose="02040503050406030204" pitchFamily="18" charset="0"/>
                  </a:rPr>
                  <a:t>Nombre d’étudiants étudiés </a:t>
                </a:r>
                <a:r>
                  <a:rPr lang="fr-FR" sz="2000" dirty="0">
                    <a:latin typeface="Cambria" panose="02040503050406030204" pitchFamily="18" charset="0"/>
                    <a:ea typeface="Cambria" panose="02040503050406030204" pitchFamily="18" charset="0"/>
                  </a:rPr>
                  <a:t>= 20 </a:t>
                </a:r>
              </a:p>
              <a:p>
                <a:pPr marL="0" indent="0">
                  <a:buNone/>
                </a:pPr>
                <a:r>
                  <a:rPr lang="fr-FR" sz="2000" u="sng" dirty="0">
                    <a:latin typeface="Cambria" panose="02040503050406030204" pitchFamily="18" charset="0"/>
                    <a:ea typeface="Cambria" panose="02040503050406030204" pitchFamily="18" charset="0"/>
                  </a:rPr>
                  <a:t>Les variables étudiées simultanément sur chaque étudiant :</a:t>
                </a:r>
              </a:p>
              <a:p>
                <a:pPr marL="0" indent="0">
                  <a:buNone/>
                </a:pPr>
                <a:endParaRPr lang="fr-FR" sz="20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fr-FR" sz="2000" dirty="0">
                    <a:latin typeface="Cambria" panose="02040503050406030204" pitchFamily="18" charset="0"/>
                    <a:ea typeface="Cambria" panose="02040503050406030204" pitchFamily="18" charset="0"/>
                  </a:rPr>
                  <a:t>La note obtenue à la question 1</a:t>
                </a:r>
                <a:r>
                  <a:rPr lang="fr-FR" sz="20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𝑥</m:t>
                    </m:r>
                  </m:oMath>
                </a14:m>
                <a:endParaRPr lang="fr-FR" sz="20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fr-FR" sz="2000" dirty="0">
                    <a:latin typeface="Cambria" panose="02040503050406030204" pitchFamily="18" charset="0"/>
                    <a:ea typeface="Cambria" panose="02040503050406030204" pitchFamily="18" charset="0"/>
                  </a:rPr>
                  <a:t>La note obtenue à la question 2</a:t>
                </a:r>
                <a:r>
                  <a:rPr lang="fr-FR" sz="20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𝑦</m:t>
                    </m:r>
                  </m:oMath>
                </a14:m>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3CD4BB95-B942-4CE7-BD65-7AA2BEAF0331}"/>
                  </a:ext>
                </a:extLst>
              </p:cNvPr>
              <p:cNvSpPr>
                <a:spLocks noGrp="1" noRot="1" noChangeAspect="1" noMove="1" noResize="1" noEditPoints="1" noAdjustHandles="1" noChangeArrowheads="1" noChangeShapeType="1" noTextEdit="1"/>
              </p:cNvSpPr>
              <p:nvPr>
                <p:ph idx="1"/>
              </p:nvPr>
            </p:nvSpPr>
            <p:spPr>
              <a:xfrm>
                <a:off x="0" y="1268760"/>
                <a:ext cx="9144000" cy="5589240"/>
              </a:xfrm>
              <a:blipFill>
                <a:blip r:embed="rId2"/>
                <a:stretch>
                  <a:fillRect l="-667"/>
                </a:stretch>
              </a:blipFill>
            </p:spPr>
            <p:txBody>
              <a:bodyPr/>
              <a:lstStyle/>
              <a:p>
                <a:r>
                  <a:rPr lang="fr-FR">
                    <a:noFill/>
                  </a:rPr>
                  <a:t> </a:t>
                </a:r>
              </a:p>
            </p:txBody>
          </p:sp>
        </mc:Fallback>
      </mc:AlternateContent>
    </p:spTree>
    <p:extLst>
      <p:ext uri="{BB962C8B-B14F-4D97-AF65-F5344CB8AC3E}">
        <p14:creationId xmlns:p14="http://schemas.microsoft.com/office/powerpoint/2010/main" val="3294301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847483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Les données</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pic>
        <p:nvPicPr>
          <p:cNvPr id="5" name="Image 4">
            <a:extLst>
              <a:ext uri="{FF2B5EF4-FFF2-40B4-BE49-F238E27FC236}">
                <a16:creationId xmlns:a16="http://schemas.microsoft.com/office/drawing/2014/main" id="{E4F84CEC-F527-4242-B038-6267C985ED5D}"/>
              </a:ext>
            </a:extLst>
          </p:cNvPr>
          <p:cNvPicPr>
            <a:picLocks noChangeAspect="1"/>
          </p:cNvPicPr>
          <p:nvPr/>
        </p:nvPicPr>
        <p:blipFill>
          <a:blip r:embed="rId2"/>
          <a:stretch>
            <a:fillRect/>
          </a:stretch>
        </p:blipFill>
        <p:spPr>
          <a:xfrm>
            <a:off x="1691680" y="2708920"/>
            <a:ext cx="1500672" cy="3337891"/>
          </a:xfrm>
          <a:prstGeom prst="rect">
            <a:avLst/>
          </a:prstGeom>
        </p:spPr>
      </p:pic>
      <p:sp>
        <p:nvSpPr>
          <p:cNvPr id="6" name="Flèche : droite 5">
            <a:extLst>
              <a:ext uri="{FF2B5EF4-FFF2-40B4-BE49-F238E27FC236}">
                <a16:creationId xmlns:a16="http://schemas.microsoft.com/office/drawing/2014/main" id="{ABA39DB7-A081-4815-B0FE-B9DD2FA46E2D}"/>
              </a:ext>
            </a:extLst>
          </p:cNvPr>
          <p:cNvSpPr/>
          <p:nvPr/>
        </p:nvSpPr>
        <p:spPr>
          <a:xfrm>
            <a:off x="4211960" y="3356992"/>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gauche 6">
            <a:extLst>
              <a:ext uri="{FF2B5EF4-FFF2-40B4-BE49-F238E27FC236}">
                <a16:creationId xmlns:a16="http://schemas.microsoft.com/office/drawing/2014/main" id="{353965B3-DFF1-4948-99B2-5A998239298B}"/>
              </a:ext>
            </a:extLst>
          </p:cNvPr>
          <p:cNvSpPr/>
          <p:nvPr/>
        </p:nvSpPr>
        <p:spPr>
          <a:xfrm>
            <a:off x="4211960" y="4161841"/>
            <a:ext cx="576064" cy="504056"/>
          </a:xfrm>
          <a:prstGeom prst="left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extLst>
              <p:ext uri="{D42A27DB-BD31-4B8C-83A1-F6EECF244321}">
                <p14:modId xmlns:p14="http://schemas.microsoft.com/office/powerpoint/2010/main" val="432199103"/>
              </p:ext>
            </p:extLst>
          </p:nvPr>
        </p:nvGraphicFramePr>
        <p:xfrm>
          <a:off x="5277644" y="3321700"/>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9" name="ZoneTexte 8">
            <a:extLst>
              <a:ext uri="{FF2B5EF4-FFF2-40B4-BE49-F238E27FC236}">
                <a16:creationId xmlns:a16="http://schemas.microsoft.com/office/drawing/2014/main" id="{20A8E440-20DB-44BA-BAC7-A219D68BCE37}"/>
              </a:ext>
            </a:extLst>
          </p:cNvPr>
          <p:cNvSpPr txBox="1"/>
          <p:nvPr/>
        </p:nvSpPr>
        <p:spPr>
          <a:xfrm>
            <a:off x="1475656" y="2204864"/>
            <a:ext cx="2232248" cy="369332"/>
          </a:xfrm>
          <a:prstGeom prst="rect">
            <a:avLst/>
          </a:prstGeom>
          <a:noFill/>
        </p:spPr>
        <p:txBody>
          <a:bodyPr wrap="square" rtlCol="0">
            <a:spAutoFit/>
          </a:bodyPr>
          <a:lstStyle/>
          <a:p>
            <a:pPr algn="ctr"/>
            <a:r>
              <a:rPr lang="fr-FR" dirty="0">
                <a:latin typeface="Cambria" panose="02040503050406030204" pitchFamily="18" charset="0"/>
                <a:ea typeface="Cambria" panose="02040503050406030204" pitchFamily="18" charset="0"/>
              </a:rPr>
              <a:t>A l’état brut </a:t>
            </a:r>
          </a:p>
        </p:txBody>
      </p:sp>
      <p:sp>
        <p:nvSpPr>
          <p:cNvPr id="10" name="ZoneTexte 9">
            <a:extLst>
              <a:ext uri="{FF2B5EF4-FFF2-40B4-BE49-F238E27FC236}">
                <a16:creationId xmlns:a16="http://schemas.microsoft.com/office/drawing/2014/main" id="{3075134F-A0D9-41B8-855D-FBE88B801756}"/>
              </a:ext>
            </a:extLst>
          </p:cNvPr>
          <p:cNvSpPr txBox="1"/>
          <p:nvPr/>
        </p:nvSpPr>
        <p:spPr>
          <a:xfrm>
            <a:off x="5580112" y="2241471"/>
            <a:ext cx="2232248" cy="646331"/>
          </a:xfrm>
          <a:prstGeom prst="rect">
            <a:avLst/>
          </a:prstGeom>
          <a:noFill/>
        </p:spPr>
        <p:txBody>
          <a:bodyPr wrap="square" rtlCol="0">
            <a:spAutoFit/>
          </a:bodyPr>
          <a:lstStyle/>
          <a:p>
            <a:pPr algn="ctr"/>
            <a:r>
              <a:rPr lang="fr-FR" dirty="0">
                <a:latin typeface="Cambria" panose="02040503050406030204" pitchFamily="18" charset="0"/>
                <a:ea typeface="Cambria" panose="02040503050406030204" pitchFamily="18" charset="0"/>
              </a:rPr>
              <a:t>Dans un tableau de contingence</a:t>
            </a:r>
          </a:p>
        </p:txBody>
      </p:sp>
    </p:spTree>
    <p:extLst>
      <p:ext uri="{BB962C8B-B14F-4D97-AF65-F5344CB8AC3E}">
        <p14:creationId xmlns:p14="http://schemas.microsoft.com/office/powerpoint/2010/main" val="1077747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384736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Les données</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rot="19573550">
            <a:off x="4217135" y="296328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extLst>
              <p:ext uri="{D42A27DB-BD31-4B8C-83A1-F6EECF244321}">
                <p14:modId xmlns:p14="http://schemas.microsoft.com/office/powerpoint/2010/main" val="2511690611"/>
              </p:ext>
            </p:extLst>
          </p:nvPr>
        </p:nvGraphicFramePr>
        <p:xfrm>
          <a:off x="295035" y="3029762"/>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11" name="Flèche : droite 10">
            <a:extLst>
              <a:ext uri="{FF2B5EF4-FFF2-40B4-BE49-F238E27FC236}">
                <a16:creationId xmlns:a16="http://schemas.microsoft.com/office/drawing/2014/main" id="{3AED65F5-7C9D-4280-A08E-7D831E617C8F}"/>
              </a:ext>
            </a:extLst>
          </p:cNvPr>
          <p:cNvSpPr/>
          <p:nvPr/>
        </p:nvSpPr>
        <p:spPr>
          <a:xfrm rot="1916742">
            <a:off x="4217940" y="418306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extLst>
              <p:ext uri="{D42A27DB-BD31-4B8C-83A1-F6EECF244321}">
                <p14:modId xmlns:p14="http://schemas.microsoft.com/office/powerpoint/2010/main" val="3618496653"/>
              </p:ext>
            </p:extLst>
          </p:nvPr>
        </p:nvGraphicFramePr>
        <p:xfrm>
          <a:off x="5395397" y="183834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extLst>
              <p:ext uri="{D42A27DB-BD31-4B8C-83A1-F6EECF244321}">
                <p14:modId xmlns:p14="http://schemas.microsoft.com/office/powerpoint/2010/main" val="1069892745"/>
              </p:ext>
            </p:extLst>
          </p:nvPr>
        </p:nvGraphicFramePr>
        <p:xfrm>
          <a:off x="5395397" y="439909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1840458399"/>
                  </a:ext>
                </a:extLst>
              </a:tr>
            </a:tbl>
          </a:graphicData>
        </a:graphic>
      </p:graphicFrame>
    </p:spTree>
    <p:extLst>
      <p:ext uri="{BB962C8B-B14F-4D97-AF65-F5344CB8AC3E}">
        <p14:creationId xmlns:p14="http://schemas.microsoft.com/office/powerpoint/2010/main" val="69239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743784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Les données</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3995936" y="2737683"/>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droite 10">
            <a:extLst>
              <a:ext uri="{FF2B5EF4-FFF2-40B4-BE49-F238E27FC236}">
                <a16:creationId xmlns:a16="http://schemas.microsoft.com/office/drawing/2014/main" id="{3AED65F5-7C9D-4280-A08E-7D831E617C8F}"/>
              </a:ext>
            </a:extLst>
          </p:cNvPr>
          <p:cNvSpPr/>
          <p:nvPr/>
        </p:nvSpPr>
        <p:spPr>
          <a:xfrm>
            <a:off x="3995936" y="5046010"/>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extLst>
              <p:ext uri="{D42A27DB-BD31-4B8C-83A1-F6EECF244321}">
                <p14:modId xmlns:p14="http://schemas.microsoft.com/office/powerpoint/2010/main" val="690605760"/>
              </p:ext>
            </p:extLst>
          </p:nvPr>
        </p:nvGraphicFramePr>
        <p:xfrm>
          <a:off x="27409" y="2182708"/>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7</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9</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extLst>
              <p:ext uri="{D42A27DB-BD31-4B8C-83A1-F6EECF244321}">
                <p14:modId xmlns:p14="http://schemas.microsoft.com/office/powerpoint/2010/main" val="3853991714"/>
              </p:ext>
            </p:extLst>
          </p:nvPr>
        </p:nvGraphicFramePr>
        <p:xfrm>
          <a:off x="41176" y="4520354"/>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Nombre d’étudiants</a:t>
                      </a:r>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12</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sp>
        <p:nvSpPr>
          <p:cNvPr id="5" name="Accolade ouvrante 4">
            <a:extLst>
              <a:ext uri="{FF2B5EF4-FFF2-40B4-BE49-F238E27FC236}">
                <a16:creationId xmlns:a16="http://schemas.microsoft.com/office/drawing/2014/main" id="{19F82EA2-7E5A-4CEB-9B82-920FC00980DA}"/>
              </a:ext>
            </a:extLst>
          </p:cNvPr>
          <p:cNvSpPr/>
          <p:nvPr/>
        </p:nvSpPr>
        <p:spPr>
          <a:xfrm>
            <a:off x="5058011" y="2372344"/>
            <a:ext cx="1080120" cy="1151016"/>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0" name="Accolade ouvrante 9">
            <a:extLst>
              <a:ext uri="{FF2B5EF4-FFF2-40B4-BE49-F238E27FC236}">
                <a16:creationId xmlns:a16="http://schemas.microsoft.com/office/drawing/2014/main" id="{3511B3C5-1397-4BD7-BD89-174EEC011CD2}"/>
              </a:ext>
            </a:extLst>
          </p:cNvPr>
          <p:cNvSpPr/>
          <p:nvPr/>
        </p:nvSpPr>
        <p:spPr>
          <a:xfrm>
            <a:off x="5106382" y="4664292"/>
            <a:ext cx="1080120" cy="1195484"/>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55E00811-B112-4A74-944D-6D2FF20D1720}"/>
                  </a:ext>
                </a:extLst>
              </p:cNvPr>
              <p:cNvSpPr txBox="1"/>
              <p:nvPr/>
            </p:nvSpPr>
            <p:spPr>
              <a:xfrm>
                <a:off x="5508104" y="2588725"/>
                <a:ext cx="274664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𝑥</m:t>
                          </m:r>
                        </m:e>
                      </m:acc>
                      <m:r>
                        <a:rPr lang="fr-FR" b="0" i="1" smtClean="0">
                          <a:solidFill>
                            <a:srgbClr val="FF0000"/>
                          </a:solidFill>
                          <a:latin typeface="Cambria Math" panose="02040503050406030204" pitchFamily="18" charset="0"/>
                        </a:rPr>
                        <m:t>= ??</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𝑥</m:t>
                          </m:r>
                        </m:sub>
                      </m:sSub>
                      <m:r>
                        <a:rPr lang="fr-FR" b="0" i="1" smtClean="0">
                          <a:solidFill>
                            <a:srgbClr val="FF0000"/>
                          </a:solidFill>
                          <a:latin typeface="Cambria Math" panose="02040503050406030204" pitchFamily="18" charset="0"/>
                        </a:rPr>
                        <m:t>= ??</m:t>
                      </m:r>
                    </m:oMath>
                  </m:oMathPara>
                </a14:m>
                <a:endParaRPr lang="fr-FR" dirty="0">
                  <a:solidFill>
                    <a:srgbClr val="FF0000"/>
                  </a:solidFill>
                </a:endParaRPr>
              </a:p>
            </p:txBody>
          </p:sp>
        </mc:Choice>
        <mc:Fallback xmlns="">
          <p:sp>
            <p:nvSpPr>
              <p:cNvPr id="7" name="ZoneTexte 6">
                <a:extLst>
                  <a:ext uri="{FF2B5EF4-FFF2-40B4-BE49-F238E27FC236}">
                    <a16:creationId xmlns:a16="http://schemas.microsoft.com/office/drawing/2014/main" id="{55E00811-B112-4A74-944D-6D2FF20D1720}"/>
                  </a:ext>
                </a:extLst>
              </p:cNvPr>
              <p:cNvSpPr txBox="1">
                <a:spLocks noRot="1" noChangeAspect="1" noMove="1" noResize="1" noEditPoints="1" noAdjustHandles="1" noChangeArrowheads="1" noChangeShapeType="1" noTextEdit="1"/>
              </p:cNvSpPr>
              <p:nvPr/>
            </p:nvSpPr>
            <p:spPr>
              <a:xfrm>
                <a:off x="5508104" y="2588725"/>
                <a:ext cx="2746648" cy="646331"/>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606ED027-C258-4AA2-AB4D-9D49588A3CE5}"/>
                  </a:ext>
                </a:extLst>
              </p:cNvPr>
              <p:cNvSpPr txBox="1"/>
              <p:nvPr/>
            </p:nvSpPr>
            <p:spPr>
              <a:xfrm>
                <a:off x="5531185" y="4938011"/>
                <a:ext cx="2746648" cy="6707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𝑦</m:t>
                          </m:r>
                        </m:e>
                      </m:acc>
                      <m:r>
                        <a:rPr lang="fr-FR" b="0" i="1" smtClean="0">
                          <a:solidFill>
                            <a:srgbClr val="FF0000"/>
                          </a:solidFill>
                          <a:latin typeface="Cambria Math" panose="02040503050406030204" pitchFamily="18" charset="0"/>
                        </a:rPr>
                        <m:t>= ??</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𝑦</m:t>
                          </m:r>
                        </m:sub>
                      </m:sSub>
                      <m:r>
                        <a:rPr lang="fr-FR" b="0" i="1" smtClean="0">
                          <a:solidFill>
                            <a:srgbClr val="FF0000"/>
                          </a:solidFill>
                          <a:latin typeface="Cambria Math" panose="02040503050406030204" pitchFamily="18" charset="0"/>
                        </a:rPr>
                        <m:t>= ??</m:t>
                      </m:r>
                    </m:oMath>
                  </m:oMathPara>
                </a14:m>
                <a:endParaRPr lang="fr-FR" dirty="0">
                  <a:solidFill>
                    <a:srgbClr val="FF0000"/>
                  </a:solidFill>
                </a:endParaRPr>
              </a:p>
            </p:txBody>
          </p:sp>
        </mc:Choice>
        <mc:Fallback xmlns="">
          <p:sp>
            <p:nvSpPr>
              <p:cNvPr id="13" name="ZoneTexte 12">
                <a:extLst>
                  <a:ext uri="{FF2B5EF4-FFF2-40B4-BE49-F238E27FC236}">
                    <a16:creationId xmlns:a16="http://schemas.microsoft.com/office/drawing/2014/main" id="{606ED027-C258-4AA2-AB4D-9D49588A3CE5}"/>
                  </a:ext>
                </a:extLst>
              </p:cNvPr>
              <p:cNvSpPr txBox="1">
                <a:spLocks noRot="1" noChangeAspect="1" noMove="1" noResize="1" noEditPoints="1" noAdjustHandles="1" noChangeArrowheads="1" noChangeShapeType="1" noTextEdit="1"/>
              </p:cNvSpPr>
              <p:nvPr/>
            </p:nvSpPr>
            <p:spPr>
              <a:xfrm>
                <a:off x="5531185" y="4938011"/>
                <a:ext cx="2746648" cy="670761"/>
              </a:xfrm>
              <a:prstGeom prst="rect">
                <a:avLst/>
              </a:prstGeom>
              <a:blipFill>
                <a:blip r:embed="rId3"/>
                <a:stretch>
                  <a:fillRect b="-1818"/>
                </a:stretch>
              </a:blipFill>
            </p:spPr>
            <p:txBody>
              <a:bodyPr/>
              <a:lstStyle/>
              <a:p>
                <a:r>
                  <a:rPr lang="fr-FR">
                    <a:noFill/>
                  </a:rPr>
                  <a:t> </a:t>
                </a:r>
              </a:p>
            </p:txBody>
          </p:sp>
        </mc:Fallback>
      </mc:AlternateContent>
    </p:spTree>
    <p:extLst>
      <p:ext uri="{BB962C8B-B14F-4D97-AF65-F5344CB8AC3E}">
        <p14:creationId xmlns:p14="http://schemas.microsoft.com/office/powerpoint/2010/main" val="3655098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232554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903261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Calcul de la covariance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2987825" y="3374566"/>
            <a:ext cx="360039"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3A4B2561-C7C2-487A-88C8-C0D4FA60A49D}"/>
              </a:ext>
            </a:extLst>
          </p:cNvPr>
          <p:cNvPicPr>
            <a:picLocks noChangeAspect="1"/>
          </p:cNvPicPr>
          <p:nvPr/>
        </p:nvPicPr>
        <p:blipFill>
          <a:blip r:embed="rId2"/>
          <a:stretch>
            <a:fillRect/>
          </a:stretch>
        </p:blipFill>
        <p:spPr>
          <a:xfrm>
            <a:off x="107505" y="2207320"/>
            <a:ext cx="2692054" cy="3165896"/>
          </a:xfrm>
          <a:prstGeom prst="rect">
            <a:avLst/>
          </a:prstGeom>
        </p:spPr>
      </p:pic>
      <p:pic>
        <p:nvPicPr>
          <p:cNvPr id="14" name="Image 13">
            <a:extLst>
              <a:ext uri="{FF2B5EF4-FFF2-40B4-BE49-F238E27FC236}">
                <a16:creationId xmlns:a16="http://schemas.microsoft.com/office/drawing/2014/main" id="{9A42703A-E6DA-4827-A404-539F03F9578E}"/>
              </a:ext>
            </a:extLst>
          </p:cNvPr>
          <p:cNvPicPr>
            <a:picLocks noChangeAspect="1"/>
          </p:cNvPicPr>
          <p:nvPr/>
        </p:nvPicPr>
        <p:blipFill>
          <a:blip r:embed="rId3"/>
          <a:stretch>
            <a:fillRect/>
          </a:stretch>
        </p:blipFill>
        <p:spPr>
          <a:xfrm>
            <a:off x="3851920" y="1854086"/>
            <a:ext cx="1009702" cy="527077"/>
          </a:xfrm>
          <a:prstGeom prst="rect">
            <a:avLst/>
          </a:prstGeom>
        </p:spPr>
      </p:pic>
      <p:sp>
        <p:nvSpPr>
          <p:cNvPr id="16" name="ZoneTexte 15">
            <a:extLst>
              <a:ext uri="{FF2B5EF4-FFF2-40B4-BE49-F238E27FC236}">
                <a16:creationId xmlns:a16="http://schemas.microsoft.com/office/drawing/2014/main" id="{9D37E00B-689E-4493-93D9-A757205BD570}"/>
              </a:ext>
            </a:extLst>
          </p:cNvPr>
          <p:cNvSpPr txBox="1"/>
          <p:nvPr/>
        </p:nvSpPr>
        <p:spPr>
          <a:xfrm>
            <a:off x="3807161" y="3268426"/>
            <a:ext cx="4392488" cy="1477328"/>
          </a:xfrm>
          <a:prstGeom prst="rect">
            <a:avLst/>
          </a:prstGeom>
          <a:noFill/>
        </p:spPr>
        <p:txBody>
          <a:bodyPr wrap="square" rtlCol="0">
            <a:spAutoFit/>
          </a:bodyPr>
          <a:lstStyle/>
          <a:p>
            <a:r>
              <a:rPr lang="fr-FR" dirty="0">
                <a:latin typeface="Cambria" panose="02040503050406030204" pitchFamily="18" charset="0"/>
                <a:ea typeface="Cambria" panose="02040503050406030204" pitchFamily="18" charset="0"/>
              </a:rPr>
              <a:t>La covariance :</a:t>
            </a: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endParaRPr lang="fr-FR" dirty="0"/>
          </a:p>
        </p:txBody>
      </p:sp>
      <p:pic>
        <p:nvPicPr>
          <p:cNvPr id="18" name="Image 17">
            <a:extLst>
              <a:ext uri="{FF2B5EF4-FFF2-40B4-BE49-F238E27FC236}">
                <a16:creationId xmlns:a16="http://schemas.microsoft.com/office/drawing/2014/main" id="{8D9431E3-1B57-4A42-9850-C1E5E7948850}"/>
              </a:ext>
            </a:extLst>
          </p:cNvPr>
          <p:cNvPicPr>
            <a:picLocks noChangeAspect="1"/>
          </p:cNvPicPr>
          <p:nvPr/>
        </p:nvPicPr>
        <p:blipFill>
          <a:blip r:embed="rId4"/>
          <a:stretch>
            <a:fillRect/>
          </a:stretch>
        </p:blipFill>
        <p:spPr>
          <a:xfrm>
            <a:off x="3995936" y="3659870"/>
            <a:ext cx="2876698" cy="584230"/>
          </a:xfrm>
          <a:prstGeom prst="rect">
            <a:avLst/>
          </a:prstGeom>
        </p:spPr>
      </p:pic>
      <p:sp>
        <p:nvSpPr>
          <p:cNvPr id="10" name="ZoneTexte 9">
            <a:extLst>
              <a:ext uri="{FF2B5EF4-FFF2-40B4-BE49-F238E27FC236}">
                <a16:creationId xmlns:a16="http://schemas.microsoft.com/office/drawing/2014/main" id="{52845B21-1838-4091-89D4-7AB0A8DCB908}"/>
              </a:ext>
            </a:extLst>
          </p:cNvPr>
          <p:cNvSpPr txBox="1"/>
          <p:nvPr/>
        </p:nvSpPr>
        <p:spPr>
          <a:xfrm>
            <a:off x="4826945" y="1875130"/>
            <a:ext cx="864096" cy="369332"/>
          </a:xfrm>
          <a:prstGeom prst="rect">
            <a:avLst/>
          </a:prstGeom>
          <a:noFill/>
        </p:spPr>
        <p:txBody>
          <a:bodyPr wrap="square" rtlCol="0">
            <a:spAutoFit/>
          </a:bodyPr>
          <a:lstStyle/>
          <a:p>
            <a:r>
              <a:rPr lang="fr-FR" dirty="0">
                <a:solidFill>
                  <a:srgbClr val="FF0000"/>
                </a:solidFill>
              </a:rPr>
              <a:t>= ??</a:t>
            </a:r>
          </a:p>
        </p:txBody>
      </p:sp>
      <p:sp>
        <p:nvSpPr>
          <p:cNvPr id="12" name="ZoneTexte 11">
            <a:extLst>
              <a:ext uri="{FF2B5EF4-FFF2-40B4-BE49-F238E27FC236}">
                <a16:creationId xmlns:a16="http://schemas.microsoft.com/office/drawing/2014/main" id="{ED25F934-A79B-49CF-93FF-20BF31D1CEA9}"/>
              </a:ext>
            </a:extLst>
          </p:cNvPr>
          <p:cNvSpPr txBox="1"/>
          <p:nvPr/>
        </p:nvSpPr>
        <p:spPr>
          <a:xfrm>
            <a:off x="6672045" y="3790268"/>
            <a:ext cx="864096" cy="369332"/>
          </a:xfrm>
          <a:prstGeom prst="rect">
            <a:avLst/>
          </a:prstGeom>
          <a:noFill/>
        </p:spPr>
        <p:txBody>
          <a:bodyPr wrap="square" rtlCol="0">
            <a:spAutoFit/>
          </a:bodyPr>
          <a:lstStyle/>
          <a:p>
            <a:r>
              <a:rPr lang="fr-FR" dirty="0">
                <a:solidFill>
                  <a:srgbClr val="FF0000"/>
                </a:solidFill>
              </a:rPr>
              <a:t>= ??</a:t>
            </a:r>
          </a:p>
        </p:txBody>
      </p:sp>
    </p:spTree>
    <p:extLst>
      <p:ext uri="{BB962C8B-B14F-4D97-AF65-F5344CB8AC3E}">
        <p14:creationId xmlns:p14="http://schemas.microsoft.com/office/powerpoint/2010/main" val="3919538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48807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fr-FR" sz="3200" dirty="0">
                <a:latin typeface="Cambria" panose="02040503050406030204" pitchFamily="18" charset="0"/>
                <a:ea typeface="Cambria" panose="02040503050406030204" pitchFamily="18" charset="0"/>
              </a:rPr>
              <a:t>Le cas de deux quantitatives dont les données sont présentées dans un tableau de contingence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a:latin typeface="Cambria" panose="02040503050406030204" pitchFamily="18" charset="0"/>
                <a:ea typeface="Cambria" panose="02040503050406030204" pitchFamily="18" charset="0"/>
              </a:rPr>
              <a:t>Exemple introductif :</a:t>
            </a:r>
          </a:p>
          <a:p>
            <a:pPr marL="0" indent="0">
              <a:buNone/>
            </a:pPr>
            <a:r>
              <a:rPr lang="fr-FR" sz="2000" u="sng" dirty="0">
                <a:latin typeface="Cambria" panose="02040503050406030204" pitchFamily="18" charset="0"/>
                <a:ea typeface="Cambria" panose="02040503050406030204" pitchFamily="18" charset="0"/>
              </a:rPr>
              <a:t>Calcul et interprétation du coefficient de corrélation linéaire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9D37E00B-689E-4493-93D9-A757205BD570}"/>
                  </a:ext>
                </a:extLst>
              </p:cNvPr>
              <p:cNvSpPr txBox="1"/>
              <p:nvPr/>
            </p:nvSpPr>
            <p:spPr>
              <a:xfrm>
                <a:off x="1619672" y="2391197"/>
                <a:ext cx="6480720" cy="3139321"/>
              </a:xfrm>
              <a:prstGeom prst="rect">
                <a:avLst/>
              </a:prstGeom>
              <a:noFill/>
            </p:spPr>
            <p:txBody>
              <a:bodyPr wrap="square" rtlCol="0">
                <a:spAutoFit/>
              </a:bodyPr>
              <a:lstStyle/>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b="0" i="1" dirty="0">
                  <a:latin typeface="Cambria Math" panose="02040503050406030204" pitchFamily="18" charset="0"/>
                  <a:ea typeface="Cambria" panose="02040503050406030204" pitchFamily="18" charset="0"/>
                </a:endParaRPr>
              </a:p>
              <a:p>
                <a:pPr/>
                <a14:m>
                  <m:oMathPara xmlns:m="http://schemas.openxmlformats.org/officeDocument/2006/math">
                    <m:oMathParaPr>
                      <m:jc m:val="centerGroup"/>
                    </m:oMathParaPr>
                    <m:oMath xmlns:m="http://schemas.openxmlformats.org/officeDocument/2006/math">
                      <m:r>
                        <a:rPr lang="fr-FR" b="0" i="1" smtClean="0">
                          <a:solidFill>
                            <a:srgbClr val="FF0000"/>
                          </a:solidFill>
                          <a:latin typeface="Cambria Math" panose="02040503050406030204" pitchFamily="18" charset="0"/>
                          <a:ea typeface="Cambria" panose="02040503050406030204" pitchFamily="18" charset="0"/>
                        </a:rPr>
                        <m:t>=</m:t>
                      </m:r>
                    </m:oMath>
                  </m:oMathPara>
                </a14:m>
                <a:endParaRPr lang="fr-FR" sz="1800"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r>
                  <a:rPr lang="fr-FR" dirty="0"/>
                  <a:t> </a:t>
                </a:r>
              </a:p>
            </p:txBody>
          </p:sp>
        </mc:Choice>
        <mc:Fallback xmlns="">
          <p:sp>
            <p:nvSpPr>
              <p:cNvPr id="16" name="ZoneTexte 15">
                <a:extLst>
                  <a:ext uri="{FF2B5EF4-FFF2-40B4-BE49-F238E27FC236}">
                    <a16:creationId xmlns:a16="http://schemas.microsoft.com/office/drawing/2014/main" id="{9D37E00B-689E-4493-93D9-A757205BD570}"/>
                  </a:ext>
                </a:extLst>
              </p:cNvPr>
              <p:cNvSpPr txBox="1">
                <a:spLocks noRot="1" noChangeAspect="1" noMove="1" noResize="1" noEditPoints="1" noAdjustHandles="1" noChangeArrowheads="1" noChangeShapeType="1" noTextEdit="1"/>
              </p:cNvSpPr>
              <p:nvPr/>
            </p:nvSpPr>
            <p:spPr>
              <a:xfrm>
                <a:off x="1619672" y="2391197"/>
                <a:ext cx="6480720" cy="3139321"/>
              </a:xfrm>
              <a:prstGeom prst="rect">
                <a:avLst/>
              </a:prstGeom>
              <a:blipFill>
                <a:blip r:embed="rId2"/>
                <a:stretch>
                  <a:fillRect/>
                </a:stretch>
              </a:blipFill>
            </p:spPr>
            <p:txBody>
              <a:bodyPr/>
              <a:lstStyle/>
              <a:p>
                <a:r>
                  <a:rPr lang="fr-FR">
                    <a:noFill/>
                  </a:rPr>
                  <a:t> </a:t>
                </a:r>
              </a:p>
            </p:txBody>
          </p:sp>
        </mc:Fallback>
      </mc:AlternateContent>
      <p:pic>
        <p:nvPicPr>
          <p:cNvPr id="10" name="Image 9">
            <a:extLst>
              <a:ext uri="{FF2B5EF4-FFF2-40B4-BE49-F238E27FC236}">
                <a16:creationId xmlns:a16="http://schemas.microsoft.com/office/drawing/2014/main" id="{CBAB60F6-58BF-4851-A6EE-63E7967D0B6A}"/>
              </a:ext>
            </a:extLst>
          </p:cNvPr>
          <p:cNvPicPr>
            <a:picLocks noChangeAspect="1"/>
          </p:cNvPicPr>
          <p:nvPr/>
        </p:nvPicPr>
        <p:blipFill>
          <a:blip r:embed="rId3"/>
          <a:stretch>
            <a:fillRect/>
          </a:stretch>
        </p:blipFill>
        <p:spPr>
          <a:xfrm>
            <a:off x="2135088" y="2780928"/>
            <a:ext cx="3312368" cy="1008881"/>
          </a:xfrm>
          <a:prstGeom prst="rect">
            <a:avLst/>
          </a:prstGeom>
        </p:spPr>
      </p:pic>
      <p:sp>
        <p:nvSpPr>
          <p:cNvPr id="6" name="ZoneTexte 5">
            <a:extLst>
              <a:ext uri="{FF2B5EF4-FFF2-40B4-BE49-F238E27FC236}">
                <a16:creationId xmlns:a16="http://schemas.microsoft.com/office/drawing/2014/main" id="{EC4DCBE7-C9CE-410E-BEB3-7C59927D0928}"/>
              </a:ext>
            </a:extLst>
          </p:cNvPr>
          <p:cNvSpPr txBox="1"/>
          <p:nvPr/>
        </p:nvSpPr>
        <p:spPr>
          <a:xfrm>
            <a:off x="4834880" y="2988362"/>
            <a:ext cx="864096" cy="369332"/>
          </a:xfrm>
          <a:prstGeom prst="rect">
            <a:avLst/>
          </a:prstGeom>
          <a:noFill/>
        </p:spPr>
        <p:txBody>
          <a:bodyPr wrap="square" rtlCol="0">
            <a:spAutoFit/>
          </a:bodyPr>
          <a:lstStyle/>
          <a:p>
            <a:r>
              <a:rPr lang="fr-FR" dirty="0">
                <a:solidFill>
                  <a:srgbClr val="FF0000"/>
                </a:solidFill>
              </a:rPr>
              <a:t>= ??</a:t>
            </a:r>
          </a:p>
        </p:txBody>
      </p:sp>
    </p:spTree>
    <p:extLst>
      <p:ext uri="{BB962C8B-B14F-4D97-AF65-F5344CB8AC3E}">
        <p14:creationId xmlns:p14="http://schemas.microsoft.com/office/powerpoint/2010/main" val="2386313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D925D-C6E8-47D5-9A47-8B9D4202131F}"/>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C79A092A-0E4F-41AC-AF91-360FE51A894F}"/>
              </a:ext>
            </a:extLst>
          </p:cNvPr>
          <p:cNvSpPr txBox="1"/>
          <p:nvPr/>
        </p:nvSpPr>
        <p:spPr>
          <a:xfrm>
            <a:off x="395536" y="1628800"/>
            <a:ext cx="8496944" cy="460851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86463893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cquiredFrom xmlns="6d93d202-47fc-4405-873a-cab67cc5f1b2" xsi:nil="true"/>
    <IsSearchable xmlns="6d93d202-47fc-4405-873a-cab67cc5f1b2">true</IsSearchable>
    <EditorialStatus xmlns="6d93d202-47fc-4405-873a-cab67cc5f1b2">Complete</EditorialStatus>
    <OriginAsset xmlns="6d93d202-47fc-4405-873a-cab67cc5f1b2" xsi:nil="true"/>
    <ThumbnailAssetId xmlns="6d93d202-47fc-4405-873a-cab67cc5f1b2" xsi:nil="true"/>
    <TrustLevel xmlns="6d93d202-47fc-4405-873a-cab67cc5f1b2">3 Community New</TrustLevel>
    <MarketSpecific xmlns="6d93d202-47fc-4405-873a-cab67cc5f1b2">true</MarketSpecific>
    <TPNamespace xmlns="6d93d202-47fc-4405-873a-cab67cc5f1b2" xsi:nil="true"/>
    <DirectSourceMarket xmlns="6d93d202-47fc-4405-873a-cab67cc5f1b2">english</DirectSourceMarket>
    <MachineTranslated xmlns="6d93d202-47fc-4405-873a-cab67cc5f1b2">false</MachineTranslated>
    <PlannedPubDate xmlns="6d93d202-47fc-4405-873a-cab67cc5f1b2" xsi:nil="true"/>
    <SubmitterId xmlns="6d93d202-47fc-4405-873a-cab67cc5f1b2">9c60ae39-ee33-43c2-b863-454968d0f2cc</SubmitterId>
    <Downloads xmlns="6d93d202-47fc-4405-873a-cab67cc5f1b2">0</Downloads>
    <OriginalSourceMarket xmlns="6d93d202-47fc-4405-873a-cab67cc5f1b2">english</OriginalSourceMarket>
    <PublishTargets xmlns="6d93d202-47fc-4405-873a-cab67cc5f1b2">OfficeOnline</PublishTargets>
    <ArtSampleDocs xmlns="6d93d202-47fc-4405-873a-cab67cc5f1b2" xsi:nil="true"/>
    <ApprovalLog xmlns="6d93d202-47fc-4405-873a-cab67cc5f1b2" xsi:nil="true"/>
    <ApprovalStatus xmlns="6d93d202-47fc-4405-873a-cab67cc5f1b2">InProgress</ApprovalStatus>
    <TPComponent xmlns="6d93d202-47fc-4405-873a-cab67cc5f1b2">PPTFiles</TPComponent>
    <EditorialTags xmlns="6d93d202-47fc-4405-873a-cab67cc5f1b2" xsi:nil="true"/>
    <TPExecutable xmlns="6d93d202-47fc-4405-873a-cab67cc5f1b2" xsi:nil="true"/>
    <LastHandOff xmlns="6d93d202-47fc-4405-873a-cab67cc5f1b2" xsi:nil="true"/>
    <BusinessGroup xmlns="6d93d202-47fc-4405-873a-cab67cc5f1b2" xsi:nil="true"/>
    <TPAppVersion xmlns="6d93d202-47fc-4405-873a-cab67cc5f1b2">12</TPAppVersion>
    <VoteCount xmlns="6d93d202-47fc-4405-873a-cab67cc5f1b2" xsi:nil="true"/>
    <APAuthor xmlns="6d93d202-47fc-4405-873a-cab67cc5f1b2">
      <UserInfo>
        <DisplayName>_o14migrate</DisplayName>
        <AccountId>266</AccountId>
        <AccountType/>
      </UserInfo>
    </APAuthor>
    <TPCommandLine xmlns="6d93d202-47fc-4405-873a-cab67cc5f1b2">{PP} /n {FilePath}</TPCommandLine>
    <UACurrentWords xmlns="6d93d202-47fc-4405-873a-cab67cc5f1b2" xsi:nil="true"/>
    <AssetId xmlns="6d93d202-47fc-4405-873a-cab67cc5f1b2">TP030007281</AssetId>
    <Manager xmlns="6d93d202-47fc-4405-873a-cab67cc5f1b2" xsi:nil="true"/>
    <NumericId xmlns="6d93d202-47fc-4405-873a-cab67cc5f1b2">-1</NumericId>
    <Component xmlns="64acb2c5-0a2b-4bda-bd34-58e36cbb80d2" xsi:nil="true"/>
    <HandoffToMSDN xmlns="6d93d202-47fc-4405-873a-cab67cc5f1b2" xsi:nil="true"/>
    <Markets xmlns="6d93d202-47fc-4405-873a-cab67cc5f1b2">
      <Value>2</Value>
    </Markets>
    <UALocComments xmlns="6d93d202-47fc-4405-873a-cab67cc5f1b2" xsi:nil="true"/>
    <UALocRecommendation xmlns="6d93d202-47fc-4405-873a-cab67cc5f1b2">Localize</UALocRecommendation>
    <AssetStart xmlns="6d93d202-47fc-4405-873a-cab67cc5f1b2">2010-04-16T13:47:45+00:00</AssetStart>
    <CrawlForDependencies xmlns="6d93d202-47fc-4405-873a-cab67cc5f1b2">false</CrawlForDependencies>
    <LastModifiedDateTime xmlns="6d93d202-47fc-4405-873a-cab67cc5f1b2" xsi:nil="true"/>
    <LastPublishResultLookup xmlns="6d93d202-47fc-4405-873a-cab67cc5f1b2" xsi:nil="true"/>
    <PublishStatusLookup xmlns="6d93d202-47fc-4405-873a-cab67cc5f1b2">
      <Value>327671</Value>
      <Value>503520</Value>
    </PublishStatusLookup>
    <AverageRating xmlns="6d93d202-47fc-4405-873a-cab67cc5f1b2" xsi:nil="true"/>
    <CSXUpdate xmlns="6d93d202-47fc-4405-873a-cab67cc5f1b2">false</CSXUpdate>
    <UAProjectedTotalWords xmlns="6d93d202-47fc-4405-873a-cab67cc5f1b2" xsi:nil="true"/>
    <AssetExpire xmlns="6d93d202-47fc-4405-873a-cab67cc5f1b2">2100-01-01T00:00:00+00:00</AssetExpire>
    <AssetType xmlns="6d93d202-47fc-4405-873a-cab67cc5f1b2">TP</AssetType>
    <IntlLangReviewDate xmlns="6d93d202-47fc-4405-873a-cab67cc5f1b2" xsi:nil="true"/>
    <TPFriendlyName xmlns="6d93d202-47fc-4405-873a-cab67cc5f1b2">Thème design - Tunnel</TPFriendlyName>
    <IntlLangReview xmlns="6d93d202-47fc-4405-873a-cab67cc5f1b2" xsi:nil="true"/>
    <OOCacheId xmlns="6d93d202-47fc-4405-873a-cab67cc5f1b2" xsi:nil="true"/>
    <PolicheckWords xmlns="6d93d202-47fc-4405-873a-cab67cc5f1b2" xsi:nil="true"/>
    <TemplateStatus xmlns="6d93d202-47fc-4405-873a-cab67cc5f1b2">Complete</TemplateStatus>
    <CSXSubmissionMarket xmlns="6d93d202-47fc-4405-873a-cab67cc5f1b2" xsi:nil="true"/>
    <FriendlyTitle xmlns="6d93d202-47fc-4405-873a-cab67cc5f1b2" xsi:nil="true"/>
    <TPLaunchHelpLinkType xmlns="6d93d202-47fc-4405-873a-cab67cc5f1b2" xsi:nil="true"/>
    <Providers xmlns="6d93d202-47fc-4405-873a-cab67cc5f1b2" xsi:nil="true"/>
    <SourceTitle xmlns="6d93d202-47fc-4405-873a-cab67cc5f1b2">Thème design - Tunnel</SourceTitle>
    <TemplateTemplateType xmlns="6d93d202-47fc-4405-873a-cab67cc5f1b2">PowerPoint 12 Default</TemplateTemplateType>
    <TimesCloned xmlns="6d93d202-47fc-4405-873a-cab67cc5f1b2" xsi:nil="true"/>
    <ClipArtFilename xmlns="6d93d202-47fc-4405-873a-cab67cc5f1b2" xsi:nil="true"/>
    <APDescription xmlns="6d93d202-47fc-4405-873a-cab67cc5f1b2" xsi:nil="true"/>
    <TPApplication xmlns="6d93d202-47fc-4405-873a-cab67cc5f1b2">PowerPoint</TPApplication>
    <CSXHash xmlns="6d93d202-47fc-4405-873a-cab67cc5f1b2">ONP5ejdaZ6pIyJWiKjJC7LRpyB8=</CSXHash>
    <PrimaryImageGen xmlns="6d93d202-47fc-4405-873a-cab67cc5f1b2">true</PrimaryImageGen>
    <ContentItem xmlns="6d93d202-47fc-4405-873a-cab67cc5f1b2" xsi:nil="true"/>
    <IsDeleted xmlns="6d93d202-47fc-4405-873a-cab67cc5f1b2">false</IsDeleted>
    <ShowIn xmlns="6d93d202-47fc-4405-873a-cab67cc5f1b2">Show everywhere</ShowIn>
    <BugNumber xmlns="6d93d202-47fc-4405-873a-cab67cc5f1b2" xsi:nil="true"/>
    <LegacyData xmlns="6d93d202-47fc-4405-873a-cab67cc5f1b2">ListingID:;Manager:;BuildStatus:Publish Passed;MockupPath:</LegacyData>
    <TPLaunchHelpLink xmlns="6d93d202-47fc-4405-873a-cab67cc5f1b2" xsi:nil="true"/>
    <Milestone xmlns="6d93d202-47fc-4405-873a-cab67cc5f1b2" xsi:nil="true"/>
    <UANotes xmlns="6d93d202-47fc-4405-873a-cab67cc5f1b2" xsi:nil="true"/>
    <Description0 xmlns="64acb2c5-0a2b-4bda-bd34-58e36cbb80d2" xsi:nil="true"/>
    <IntlLangReviewer xmlns="6d93d202-47fc-4405-873a-cab67cc5f1b2" xsi:nil="true"/>
    <IntlLocPriority xmlns="6d93d202-47fc-4405-873a-cab67cc5f1b2" xsi:nil="true"/>
    <OpenTemplate xmlns="6d93d202-47fc-4405-873a-cab67cc5f1b2">true</OpenTemplate>
    <Provider xmlns="6d93d202-47fc-4405-873a-cab67cc5f1b2" xsi:nil="true"/>
    <CSXSubmissionDate xmlns="6d93d202-47fc-4405-873a-cab67cc5f1b2">2009-10-10T07:00:00+00:00</CSXSubmissionDate>
    <TPClientViewer xmlns="6d93d202-47fc-4405-873a-cab67cc5f1b2" xsi:nil="true"/>
    <DSATActionTaken xmlns="6d93d202-47fc-4405-873a-cab67cc5f1b2" xsi:nil="true"/>
    <APEditor xmlns="6d93d202-47fc-4405-873a-cab67cc5f1b2">
      <UserInfo>
        <DisplayName>_o14migrate</DisplayName>
        <AccountId>266</AccountId>
        <AccountType/>
      </UserInfo>
    </APEditor>
    <TPInstallLocation xmlns="6d93d202-47fc-4405-873a-cab67cc5f1b2">{My Templates}</TPInstallLocation>
    <OutputCachingOn xmlns="6d93d202-47fc-4405-873a-cab67cc5f1b2">false</OutputCachingOn>
    <ParentAssetId xmlns="6d93d202-47fc-4405-873a-cab67cc5f1b2" xsi:nil="true"/>
    <LocManualTestRequired xmlns="6d93d202-47fc-4405-873a-cab67cc5f1b2">false</LocManualTestRequired>
    <LocalizationTagsTaxHTField0 xmlns="6d93d202-47fc-4405-873a-cab67cc5f1b2">
      <Terms xmlns="http://schemas.microsoft.com/office/infopath/2007/PartnerControls"/>
    </LocalizationTagsTaxHTField0>
    <CampaignTagsTaxHTField0 xmlns="6d93d202-47fc-4405-873a-cab67cc5f1b2">
      <Terms xmlns="http://schemas.microsoft.com/office/infopath/2007/PartnerControls"/>
    </CampaignTagsTaxHTField0>
    <LocLastLocAttemptVersionLookup xmlns="6d93d202-47fc-4405-873a-cab67cc5f1b2">170195</LocLastLocAttemptVersionLookup>
    <InternalTagsTaxHTField0 xmlns="6d93d202-47fc-4405-873a-cab67cc5f1b2">
      <Terms xmlns="http://schemas.microsoft.com/office/infopath/2007/PartnerControls"/>
    </InternalTagsTaxHTField0>
    <LocRecommendedHandoff xmlns="6d93d202-47fc-4405-873a-cab67cc5f1b2" xsi:nil="true"/>
    <BlockPublish xmlns="6d93d202-47fc-4405-873a-cab67cc5f1b2">false</BlockPublish>
    <LocComments xmlns="6d93d202-47fc-4405-873a-cab67cc5f1b2" xsi:nil="true"/>
    <TaxCatchAll xmlns="6d93d202-47fc-4405-873a-cab67cc5f1b2"/>
    <OriginalRelease xmlns="6d93d202-47fc-4405-873a-cab67cc5f1b2">14</OriginalRelease>
    <RecommendationsModifier xmlns="6d93d202-47fc-4405-873a-cab67cc5f1b2" xsi:nil="true"/>
    <ScenarioTagsTaxHTField0 xmlns="6d93d202-47fc-4405-873a-cab67cc5f1b2">
      <Terms xmlns="http://schemas.microsoft.com/office/infopath/2007/PartnerControls"/>
    </ScenarioTagsTaxHTField0>
    <FeatureTagsTaxHTField0 xmlns="6d93d202-47fc-4405-873a-cab67cc5f1b2">
      <Terms xmlns="http://schemas.microsoft.com/office/infopath/2007/PartnerControls"/>
    </FeatureTagsTaxHTField0>
    <LocMarketGroupTiers2 xmlns="6d93d202-47fc-4405-873a-cab67cc5f1b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9924D1ECC420D47A2456556BC94F7370400BDF4491DEA4973499845289601F88B9F" ma:contentTypeVersion="55" ma:contentTypeDescription="Create a new document." ma:contentTypeScope="" ma:versionID="41eb558a2b826e6e4f9defd990175bec">
  <xsd:schema xmlns:xsd="http://www.w3.org/2001/XMLSchema" xmlns:xs="http://www.w3.org/2001/XMLSchema" xmlns:p="http://schemas.microsoft.com/office/2006/metadata/properties" xmlns:ns2="6d93d202-47fc-4405-873a-cab67cc5f1b2" xmlns:ns3="64acb2c5-0a2b-4bda-bd34-58e36cbb80d2" targetNamespace="http://schemas.microsoft.com/office/2006/metadata/properties" ma:root="true" ma:fieldsID="19deea0185cf7bc57eee9b90b1ba2ace" ns2:_="" ns3:_="">
    <xsd:import namespace="6d93d202-47fc-4405-873a-cab67cc5f1b2"/>
    <xsd:import namespace="64acb2c5-0a2b-4bda-bd34-58e36cbb80d2"/>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element ref="ns3:Description0" minOccurs="0"/>
                <xsd:element ref="ns3:Compon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93d202-47fc-4405-873a-cab67cc5f1b2"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0:00:00Z"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dc79c007-7f28-4db9-9ba1-525d19a3279b}"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80C6DD30-196A-4C6B-B1BF-A43F3B8ACD4F}" ma:internalName="CSXSubmissionMarket" ma:readOnly="false" ma:showField="MarketName" ma:web="6d93d202-47fc-4405-873a-cab67cc5f1b2">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bb16b974-ed24-4278-8820-8e232d38904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7E2D4CA2-442A-4FDA-AA57-71B8C7B2C53C}" ma:internalName="InProjectListLookup" ma:readOnly="true" ma:showField="InProjectLis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fd9a49dc-3dbf-4047-b62d-1d587abe7b40}"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7E2D4CA2-442A-4FDA-AA57-71B8C7B2C53C}" ma:internalName="LastCompleteVersionLookup" ma:readOnly="true" ma:showField="LastComplete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7E2D4CA2-442A-4FDA-AA57-71B8C7B2C53C}" ma:internalName="LastPreviewErrorLookup" ma:readOnly="true" ma:showField="LastPreview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7E2D4CA2-442A-4FDA-AA57-71B8C7B2C53C}" ma:internalName="LastPreviewResultLookup" ma:readOnly="true" ma:showField="LastPreview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7E2D4CA2-442A-4FDA-AA57-71B8C7B2C53C}" ma:internalName="LastPreviewAttemptDateLookup" ma:readOnly="true" ma:showField="LastPreview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7E2D4CA2-442A-4FDA-AA57-71B8C7B2C53C}" ma:internalName="LastPreviewedByLookup" ma:readOnly="true" ma:showField="LastPreview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7E2D4CA2-442A-4FDA-AA57-71B8C7B2C53C}" ma:internalName="LastPreviewTimeLookup" ma:readOnly="true" ma:showField="LastPreview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7E2D4CA2-442A-4FDA-AA57-71B8C7B2C53C}" ma:internalName="LastPreviewVersionLookup" ma:readOnly="true" ma:showField="LastPreview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7E2D4CA2-442A-4FDA-AA57-71B8C7B2C53C}" ma:internalName="LastPublishErrorLookup" ma:readOnly="true" ma:showField="LastPublish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7E2D4CA2-442A-4FDA-AA57-71B8C7B2C53C}" ma:internalName="LastPublishResultLookup" ma:readOnly="true" ma:showField="LastPublish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7E2D4CA2-442A-4FDA-AA57-71B8C7B2C53C}" ma:internalName="LastPublishAttemptDateLookup" ma:readOnly="true" ma:showField="LastPublish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7E2D4CA2-442A-4FDA-AA57-71B8C7B2C53C}" ma:internalName="LastPublishedByLookup" ma:readOnly="true" ma:showField="LastPublish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7E2D4CA2-442A-4FDA-AA57-71B8C7B2C53C}" ma:internalName="LastPublishTimeLookup" ma:readOnly="true" ma:showField="LastPublish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7E2D4CA2-442A-4FDA-AA57-71B8C7B2C53C}" ma:internalName="LastPublishVersionLookup" ma:readOnly="true" ma:showField="LastPublish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4CDE398E-75A7-4993-8C61-2BFD31F64754}" ma:internalName="LocLastLocAttemptVersionLookup" ma:readOnly="false" ma:showField="LastLocAttemptVersion" ma:web="6d93d202-47fc-4405-873a-cab67cc5f1b2">
      <xsd:simpleType>
        <xsd:restriction base="dms:Lookup"/>
      </xsd:simpleType>
    </xsd:element>
    <xsd:element name="LocLastLocAttemptVersionTypeLookup" ma:index="72" nillable="true" ma:displayName="Loc Last Loc Attempt Version Type" ma:default="" ma:list="{4CDE398E-75A7-4993-8C61-2BFD31F64754}" ma:internalName="LocLastLocAttemptVersionTypeLookup" ma:readOnly="true" ma:showField="LastLocAttemptVersionType" ma:web="6d93d202-47fc-4405-873a-cab67cc5f1b2">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4CDE398E-75A7-4993-8C61-2BFD31F64754}" ma:internalName="LocNewPublishedVersionLookup" ma:readOnly="true" ma:showField="NewPublishedVersion" ma:web="6d93d202-47fc-4405-873a-cab67cc5f1b2">
      <xsd:simpleType>
        <xsd:restriction base="dms:Lookup"/>
      </xsd:simpleType>
    </xsd:element>
    <xsd:element name="LocOverallHandbackStatusLookup" ma:index="76" nillable="true" ma:displayName="Loc Overall Handback Status" ma:default="" ma:list="{4CDE398E-75A7-4993-8C61-2BFD31F64754}" ma:internalName="LocOverallHandbackStatusLookup" ma:readOnly="true" ma:showField="OverallHandbackStatus" ma:web="6d93d202-47fc-4405-873a-cab67cc5f1b2">
      <xsd:simpleType>
        <xsd:restriction base="dms:Lookup"/>
      </xsd:simpleType>
    </xsd:element>
    <xsd:element name="LocOverallLocStatusLookup" ma:index="77" nillable="true" ma:displayName="Loc Overall Localize Status" ma:default="" ma:list="{4CDE398E-75A7-4993-8C61-2BFD31F64754}" ma:internalName="LocOverallLocStatusLookup" ma:readOnly="true" ma:showField="OverallLocStatus" ma:web="6d93d202-47fc-4405-873a-cab67cc5f1b2">
      <xsd:simpleType>
        <xsd:restriction base="dms:Lookup"/>
      </xsd:simpleType>
    </xsd:element>
    <xsd:element name="LocOverallPreviewStatusLookup" ma:index="78" nillable="true" ma:displayName="Loc Overall Preview Status" ma:default="" ma:list="{4CDE398E-75A7-4993-8C61-2BFD31F64754}" ma:internalName="LocOverallPreviewStatusLookup" ma:readOnly="true" ma:showField="OverallPreviewStatus" ma:web="6d93d202-47fc-4405-873a-cab67cc5f1b2">
      <xsd:simpleType>
        <xsd:restriction base="dms:Lookup"/>
      </xsd:simpleType>
    </xsd:element>
    <xsd:element name="LocOverallPublishStatusLookup" ma:index="79" nillable="true" ma:displayName="Loc Overall Publish Status" ma:default="" ma:list="{4CDE398E-75A7-4993-8C61-2BFD31F64754}" ma:internalName="LocOverallPublishStatusLookup" ma:readOnly="true" ma:showField="OverallPublishStatus" ma:web="6d93d202-47fc-4405-873a-cab67cc5f1b2">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4CDE398E-75A7-4993-8C61-2BFD31F64754}" ma:internalName="LocProcessedForHandoffsLookup" ma:readOnly="true" ma:showField="ProcessedForHandoffs" ma:web="6d93d202-47fc-4405-873a-cab67cc5f1b2">
      <xsd:simpleType>
        <xsd:restriction base="dms:Lookup"/>
      </xsd:simpleType>
    </xsd:element>
    <xsd:element name="LocProcessedForMarketsLookup" ma:index="82" nillable="true" ma:displayName="Loc Processed For Markets" ma:default="" ma:list="{4CDE398E-75A7-4993-8C61-2BFD31F64754}" ma:internalName="LocProcessedForMarketsLookup" ma:readOnly="true" ma:showField="ProcessedForMarkets" ma:web="6d93d202-47fc-4405-873a-cab67cc5f1b2">
      <xsd:simpleType>
        <xsd:restriction base="dms:Lookup"/>
      </xsd:simpleType>
    </xsd:element>
    <xsd:element name="LocPublishedDependentAssetsLookup" ma:index="83" nillable="true" ma:displayName="Loc Published Dependent Assets" ma:default="" ma:list="{4CDE398E-75A7-4993-8C61-2BFD31F64754}" ma:internalName="LocPublishedDependentAssetsLookup" ma:readOnly="true" ma:showField="PublishedDependentAssets" ma:web="6d93d202-47fc-4405-873a-cab67cc5f1b2">
      <xsd:simpleType>
        <xsd:restriction base="dms:Lookup"/>
      </xsd:simpleType>
    </xsd:element>
    <xsd:element name="LocPublishedLinkedAssetsLookup" ma:index="84" nillable="true" ma:displayName="Loc Published Linked Assets" ma:default="" ma:list="{4CDE398E-75A7-4993-8C61-2BFD31F64754}" ma:internalName="LocPublishedLinkedAssetsLookup" ma:readOnly="true" ma:showField="PublishedLinkedAssets" ma:web="6d93d202-47fc-4405-873a-cab67cc5f1b2">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db560eb5-700a-4f94-8fda-b57de4261f12}"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80C6DD30-196A-4C6B-B1BF-A43F3B8ACD4F}" ma:internalName="Markets" ma:readOnly="false" ma:showField="MarketNa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7E2D4CA2-442A-4FDA-AA57-71B8C7B2C53C}" ma:internalName="NumOfRatingsLookup" ma:readOnly="true" ma:showField="NumOfRating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7E2D4CA2-442A-4FDA-AA57-71B8C7B2C53C}" ma:internalName="PublishStatusLookup" ma:readOnly="false" ma:showField="PublishStatu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6e3f7319-fb8f-4449-8902-000ab73a8566}"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11d213f5-ec09-44b6-a8be-9da225be7a8d}" ma:internalName="TaxCatchAll" ma:showField="CatchAllData"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11d213f5-ec09-44b6-a8be-9da225be7a8d}" ma:internalName="TaxCatchAllLabel" ma:readOnly="true" ma:showField="CatchAllDataLabel"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4acb2c5-0a2b-4bda-bd34-58e36cbb80d2" elementFormDefault="qualified">
    <xsd:import namespace="http://schemas.microsoft.com/office/2006/documentManagement/types"/>
    <xsd:import namespace="http://schemas.microsoft.com/office/infopath/2007/PartnerControls"/>
    <xsd:element name="Description0" ma:index="134" nillable="true" ma:displayName="Description" ma:internalName="Description0">
      <xsd:simpleType>
        <xsd:restriction base="dms:Note"/>
      </xsd:simpleType>
    </xsd:element>
    <xsd:element name="Component" ma:index="135" nillable="true" ma:displayName="Component" ma:internalName="Component">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BAFB9779-B3DB-419D-A1B1-72B8188D35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93d202-47fc-4405-873a-cab67cc5f1b2"/>
    <ds:schemaRef ds:uri="64acb2c5-0a2b-4bda-bd34-58e36cbb80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C4AD9E9-A9C0-46F2-BF42-B91887159A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552</TotalTime>
  <Words>1026</Words>
  <Application>Microsoft Office PowerPoint</Application>
  <PresentationFormat>Affichage à l'écran (4:3)</PresentationFormat>
  <Paragraphs>203</Paragraphs>
  <Slides>35</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35</vt:i4>
      </vt:variant>
    </vt:vector>
  </HeadingPairs>
  <TitlesOfParts>
    <vt:vector size="42" baseType="lpstr">
      <vt:lpstr>Arial</vt:lpstr>
      <vt:lpstr>Calibri</vt:lpstr>
      <vt:lpstr>Cambria</vt:lpstr>
      <vt:lpstr>Cambria Math</vt:lpstr>
      <vt:lpstr>Times New Roman</vt:lpstr>
      <vt:lpstr>Wingdings</vt:lpstr>
      <vt:lpstr>Thème Office</vt:lpstr>
      <vt:lpstr>Data Description </vt:lpstr>
      <vt:lpstr>Statistiques descriptives – Bivariées </vt:lpstr>
      <vt:lpstr>Note</vt:lpstr>
      <vt:lpstr>Le cas de deux quantitatives dont les données sont présentées à l’état brut</vt:lpstr>
      <vt:lpstr>Note</vt:lpstr>
      <vt:lpstr>Exemple </vt:lpstr>
      <vt:lpstr>Note</vt:lpstr>
      <vt:lpstr>Représentation graphique – Nuage des points </vt:lpstr>
      <vt:lpstr>Note</vt:lpstr>
      <vt:lpstr>Calcul de la covariance  </vt:lpstr>
      <vt:lpstr>Note</vt:lpstr>
      <vt:lpstr>Interprétation de la covariance </vt:lpstr>
      <vt:lpstr>Note</vt:lpstr>
      <vt:lpstr>Retour à l’exemple </vt:lpstr>
      <vt:lpstr>Note</vt:lpstr>
      <vt:lpstr>Note</vt:lpstr>
      <vt:lpstr>Le coefficient de corrélation linéaire</vt:lpstr>
      <vt:lpstr>Note</vt:lpstr>
      <vt:lpstr>Interprétation - Le coefficient de corrélation linéaire</vt:lpstr>
      <vt:lpstr>Note</vt:lpstr>
      <vt:lpstr>Retour à l’exemple </vt:lpstr>
      <vt:lpstr>Note</vt:lpstr>
      <vt:lpstr>Le cas de deux quantitatives dont les données sont présentées dans un tableau de contingence </vt:lpstr>
      <vt:lpstr>Note</vt:lpstr>
      <vt:lpstr>Le cas de deux quantitatives dont les données sont présentées dans un tableau de contingence </vt:lpstr>
      <vt:lpstr>Note</vt:lpstr>
      <vt:lpstr>Le cas de deux quantitatives dont les données sont présentées dans un tableau de contingence </vt:lpstr>
      <vt:lpstr>Note</vt:lpstr>
      <vt:lpstr>Le cas de deux quantitatives dont les données sont présentées dans un tableau de contingence </vt:lpstr>
      <vt:lpstr>Note</vt:lpstr>
      <vt:lpstr>Note</vt:lpstr>
      <vt:lpstr>Le cas de deux quantitatives dont les données sont présentées dans un tableau de contingence </vt:lpstr>
      <vt:lpstr>Note</vt:lpstr>
      <vt:lpstr>Le cas de deux quantitatives dont les données sont présentées dans un tableau de contingence </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35</cp:revision>
  <dcterms:created xsi:type="dcterms:W3CDTF">2021-02-02T16:40:54Z</dcterms:created>
  <dcterms:modified xsi:type="dcterms:W3CDTF">2021-10-15T14:27:34Z</dcterms:modified>
</cp:coreProperties>
</file>