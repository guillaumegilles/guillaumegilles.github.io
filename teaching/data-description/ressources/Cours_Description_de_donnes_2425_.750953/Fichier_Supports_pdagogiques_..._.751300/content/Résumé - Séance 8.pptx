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16" r:id="rId6"/>
    <p:sldId id="330" r:id="rId7"/>
    <p:sldId id="317" r:id="rId8"/>
    <p:sldId id="331" r:id="rId9"/>
    <p:sldId id="318" r:id="rId10"/>
    <p:sldId id="332" r:id="rId11"/>
    <p:sldId id="319" r:id="rId12"/>
    <p:sldId id="333" r:id="rId13"/>
    <p:sldId id="320" r:id="rId14"/>
    <p:sldId id="335" r:id="rId15"/>
    <p:sldId id="321" r:id="rId16"/>
    <p:sldId id="334" r:id="rId17"/>
    <p:sldId id="322" r:id="rId18"/>
    <p:sldId id="336" r:id="rId19"/>
    <p:sldId id="324" r:id="rId20"/>
    <p:sldId id="337" r:id="rId21"/>
    <p:sldId id="326" r:id="rId22"/>
    <p:sldId id="338" r:id="rId23"/>
    <p:sldId id="328" r:id="rId24"/>
    <p:sldId id="339" r:id="rId2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A18158-E939-42C0-BED6-50C8326F3D2F}" v="1" dt="2021-10-15T13:20:34.84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12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3CA18158-E939-42C0-BED6-50C8326F3D2F}"/>
    <pc:docChg chg="custSel addSld delSld modSld sldOrd">
      <pc:chgData name="KACHOUR Maher" userId="09775c39-7739-40bf-ba04-c8ef3ab24a94" providerId="ADAL" clId="{3CA18158-E939-42C0-BED6-50C8326F3D2F}" dt="2021-10-15T13:21:38.104" v="39" actId="47"/>
      <pc:docMkLst>
        <pc:docMk/>
      </pc:docMkLst>
      <pc:sldChg chg="del">
        <pc:chgData name="KACHOUR Maher" userId="09775c39-7739-40bf-ba04-c8ef3ab24a94" providerId="ADAL" clId="{3CA18158-E939-42C0-BED6-50C8326F3D2F}" dt="2021-10-15T13:21:16.717" v="27" actId="47"/>
        <pc:sldMkLst>
          <pc:docMk/>
          <pc:sldMk cId="2919770957" sldId="323"/>
        </pc:sldMkLst>
      </pc:sldChg>
      <pc:sldChg chg="del">
        <pc:chgData name="KACHOUR Maher" userId="09775c39-7739-40bf-ba04-c8ef3ab24a94" providerId="ADAL" clId="{3CA18158-E939-42C0-BED6-50C8326F3D2F}" dt="2021-10-15T13:21:24.040" v="31" actId="47"/>
        <pc:sldMkLst>
          <pc:docMk/>
          <pc:sldMk cId="3916437358" sldId="325"/>
        </pc:sldMkLst>
      </pc:sldChg>
      <pc:sldChg chg="del">
        <pc:chgData name="KACHOUR Maher" userId="09775c39-7739-40bf-ba04-c8ef3ab24a94" providerId="ADAL" clId="{3CA18158-E939-42C0-BED6-50C8326F3D2F}" dt="2021-10-15T13:21:31.766" v="35" actId="47"/>
        <pc:sldMkLst>
          <pc:docMk/>
          <pc:sldMk cId="578277410" sldId="327"/>
        </pc:sldMkLst>
      </pc:sldChg>
      <pc:sldChg chg="del">
        <pc:chgData name="KACHOUR Maher" userId="09775c39-7739-40bf-ba04-c8ef3ab24a94" providerId="ADAL" clId="{3CA18158-E939-42C0-BED6-50C8326F3D2F}" dt="2021-10-15T13:21:38.104" v="39" actId="47"/>
        <pc:sldMkLst>
          <pc:docMk/>
          <pc:sldMk cId="3603082345" sldId="329"/>
        </pc:sldMkLst>
      </pc:sldChg>
      <pc:sldChg chg="addSp delSp modSp new mod">
        <pc:chgData name="KACHOUR Maher" userId="09775c39-7739-40bf-ba04-c8ef3ab24a94" providerId="ADAL" clId="{3CA18158-E939-42C0-BED6-50C8326F3D2F}" dt="2021-10-15T13:20:37.802" v="8" actId="13822"/>
        <pc:sldMkLst>
          <pc:docMk/>
          <pc:sldMk cId="1635735146" sldId="330"/>
        </pc:sldMkLst>
        <pc:spChg chg="mod">
          <ac:chgData name="KACHOUR Maher" userId="09775c39-7739-40bf-ba04-c8ef3ab24a94" providerId="ADAL" clId="{3CA18158-E939-42C0-BED6-50C8326F3D2F}" dt="2021-10-15T13:20:21.831" v="5" actId="20577"/>
          <ac:spMkLst>
            <pc:docMk/>
            <pc:sldMk cId="1635735146" sldId="330"/>
            <ac:spMk id="2" creationId="{FBCC1179-95A1-40D3-B067-AE783802B945}"/>
          </ac:spMkLst>
        </pc:spChg>
        <pc:spChg chg="del">
          <ac:chgData name="KACHOUR Maher" userId="09775c39-7739-40bf-ba04-c8ef3ab24a94" providerId="ADAL" clId="{3CA18158-E939-42C0-BED6-50C8326F3D2F}" dt="2021-10-15T13:20:25.267" v="6" actId="478"/>
          <ac:spMkLst>
            <pc:docMk/>
            <pc:sldMk cId="1635735146" sldId="330"/>
            <ac:spMk id="3" creationId="{F2421D5C-9DBA-4380-941E-FCA2DA30C118}"/>
          </ac:spMkLst>
        </pc:spChg>
        <pc:spChg chg="add mod">
          <ac:chgData name="KACHOUR Maher" userId="09775c39-7739-40bf-ba04-c8ef3ab24a94" providerId="ADAL" clId="{3CA18158-E939-42C0-BED6-50C8326F3D2F}" dt="2021-10-15T13:20:37.802" v="8" actId="13822"/>
          <ac:spMkLst>
            <pc:docMk/>
            <pc:sldMk cId="1635735146" sldId="330"/>
            <ac:spMk id="4" creationId="{8CB100CD-01C7-468F-B9C2-79C4537CF209}"/>
          </ac:spMkLst>
        </pc:spChg>
      </pc:sldChg>
      <pc:sldChg chg="add ord">
        <pc:chgData name="KACHOUR Maher" userId="09775c39-7739-40bf-ba04-c8ef3ab24a94" providerId="ADAL" clId="{3CA18158-E939-42C0-BED6-50C8326F3D2F}" dt="2021-10-15T13:20:46.079" v="11"/>
        <pc:sldMkLst>
          <pc:docMk/>
          <pc:sldMk cId="670644588" sldId="331"/>
        </pc:sldMkLst>
      </pc:sldChg>
      <pc:sldChg chg="add ord">
        <pc:chgData name="KACHOUR Maher" userId="09775c39-7739-40bf-ba04-c8ef3ab24a94" providerId="ADAL" clId="{3CA18158-E939-42C0-BED6-50C8326F3D2F}" dt="2021-10-15T13:20:50.474" v="14"/>
        <pc:sldMkLst>
          <pc:docMk/>
          <pc:sldMk cId="1978434742" sldId="332"/>
        </pc:sldMkLst>
      </pc:sldChg>
      <pc:sldChg chg="add ord">
        <pc:chgData name="KACHOUR Maher" userId="09775c39-7739-40bf-ba04-c8ef3ab24a94" providerId="ADAL" clId="{3CA18158-E939-42C0-BED6-50C8326F3D2F}" dt="2021-10-15T13:20:55.121" v="17"/>
        <pc:sldMkLst>
          <pc:docMk/>
          <pc:sldMk cId="595782996" sldId="333"/>
        </pc:sldMkLst>
      </pc:sldChg>
      <pc:sldChg chg="add ord">
        <pc:chgData name="KACHOUR Maher" userId="09775c39-7739-40bf-ba04-c8ef3ab24a94" providerId="ADAL" clId="{3CA18158-E939-42C0-BED6-50C8326F3D2F}" dt="2021-10-15T13:21:03.304" v="20"/>
        <pc:sldMkLst>
          <pc:docMk/>
          <pc:sldMk cId="984392683" sldId="334"/>
        </pc:sldMkLst>
      </pc:sldChg>
      <pc:sldChg chg="add ord">
        <pc:chgData name="KACHOUR Maher" userId="09775c39-7739-40bf-ba04-c8ef3ab24a94" providerId="ADAL" clId="{3CA18158-E939-42C0-BED6-50C8326F3D2F}" dt="2021-10-15T13:21:08.779" v="23"/>
        <pc:sldMkLst>
          <pc:docMk/>
          <pc:sldMk cId="2863118230" sldId="335"/>
        </pc:sldMkLst>
      </pc:sldChg>
      <pc:sldChg chg="add ord">
        <pc:chgData name="KACHOUR Maher" userId="09775c39-7739-40bf-ba04-c8ef3ab24a94" providerId="ADAL" clId="{3CA18158-E939-42C0-BED6-50C8326F3D2F}" dt="2021-10-15T13:21:14.875" v="26"/>
        <pc:sldMkLst>
          <pc:docMk/>
          <pc:sldMk cId="3395944910" sldId="336"/>
        </pc:sldMkLst>
      </pc:sldChg>
      <pc:sldChg chg="add ord">
        <pc:chgData name="KACHOUR Maher" userId="09775c39-7739-40bf-ba04-c8ef3ab24a94" providerId="ADAL" clId="{3CA18158-E939-42C0-BED6-50C8326F3D2F}" dt="2021-10-15T13:21:22.290" v="30"/>
        <pc:sldMkLst>
          <pc:docMk/>
          <pc:sldMk cId="420883968" sldId="337"/>
        </pc:sldMkLst>
      </pc:sldChg>
      <pc:sldChg chg="add ord">
        <pc:chgData name="KACHOUR Maher" userId="09775c39-7739-40bf-ba04-c8ef3ab24a94" providerId="ADAL" clId="{3CA18158-E939-42C0-BED6-50C8326F3D2F}" dt="2021-10-15T13:21:28.395" v="34"/>
        <pc:sldMkLst>
          <pc:docMk/>
          <pc:sldMk cId="3407138090" sldId="338"/>
        </pc:sldMkLst>
      </pc:sldChg>
      <pc:sldChg chg="add ord">
        <pc:chgData name="KACHOUR Maher" userId="09775c39-7739-40bf-ba04-c8ef3ab24a94" providerId="ADAL" clId="{3CA18158-E939-42C0-BED6-50C8326F3D2F}" dt="2021-10-15T13:21:36.730" v="38"/>
        <pc:sldMkLst>
          <pc:docMk/>
          <pc:sldMk cId="1497322231" sldId="33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Séance 8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319FEE-4859-44AC-B8F4-C60BFFD5E60C}"/>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Les indicateurs de forme</a:t>
            </a:r>
            <a:endParaRPr lang="fr-FR" dirty="0"/>
          </a:p>
        </p:txBody>
      </p:sp>
      <p:sp>
        <p:nvSpPr>
          <p:cNvPr id="3" name="Espace réservé du contenu 2">
            <a:extLst>
              <a:ext uri="{FF2B5EF4-FFF2-40B4-BE49-F238E27FC236}">
                <a16:creationId xmlns:a16="http://schemas.microsoft.com/office/drawing/2014/main" id="{91C66DD1-318B-4FCB-89C4-573006772987}"/>
              </a:ext>
            </a:extLst>
          </p:cNvPr>
          <p:cNvSpPr>
            <a:spLocks noGrp="1"/>
          </p:cNvSpPr>
          <p:nvPr>
            <p:ph idx="1"/>
          </p:nvPr>
        </p:nvSpPr>
        <p:spPr>
          <a:xfrm>
            <a:off x="0" y="1166018"/>
            <a:ext cx="9144000" cy="4525963"/>
          </a:xfrm>
        </p:spPr>
        <p:txBody>
          <a:bodyPr>
            <a:normAutofit fontScale="92500"/>
          </a:bodyPr>
          <a:lstStyle/>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Un indicateur numérique est dit de dispersion s’il s’agit d’un nombre clé permettent de caractériser la répartition des observations d’une série statistique autour d’une valeur centrale (en particulier, la moyenne et la médiane). </a:t>
            </a: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Dans ce cours, nous allons nous concentrer sur les coefficients d’asymétrie</a:t>
            </a:r>
          </a:p>
          <a:p>
            <a:pPr marL="0" indent="0">
              <a:buNone/>
            </a:pPr>
            <a:r>
              <a:rPr lang="fr-FR" sz="2400" dirty="0">
                <a:latin typeface="Cambria" panose="02040503050406030204" pitchFamily="18" charset="0"/>
                <a:ea typeface="Cambria" panose="02040503050406030204" pitchFamily="18" charset="0"/>
              </a:rPr>
              <a:t>Explicitement, nous allons étudier les indicateurs suivants :</a:t>
            </a:r>
          </a:p>
          <a:p>
            <a:pPr marL="0" indent="0">
              <a:buNone/>
            </a:pPr>
            <a:endParaRPr lang="fr-FR" sz="24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2400" dirty="0">
                <a:latin typeface="Cambria" panose="02040503050406030204" pitchFamily="18" charset="0"/>
                <a:ea typeface="Cambria" panose="02040503050406030204" pitchFamily="18" charset="0"/>
              </a:rPr>
              <a:t>Le coefficient de Pearson</a:t>
            </a:r>
          </a:p>
          <a:p>
            <a:pPr>
              <a:buFont typeface="Wingdings" panose="05000000000000000000" pitchFamily="2" charset="2"/>
              <a:buChar char="q"/>
            </a:pPr>
            <a:r>
              <a:rPr lang="fr-FR" sz="2400" dirty="0">
                <a:latin typeface="Cambria" panose="02040503050406030204" pitchFamily="18" charset="0"/>
                <a:ea typeface="Cambria" panose="02040503050406030204" pitchFamily="18" charset="0"/>
              </a:rPr>
              <a:t>Le coefficient de Yule et Kendall</a:t>
            </a:r>
          </a:p>
        </p:txBody>
      </p:sp>
      <p:sp>
        <p:nvSpPr>
          <p:cNvPr id="4" name="Bulle narrative : ronde 3">
            <a:extLst>
              <a:ext uri="{FF2B5EF4-FFF2-40B4-BE49-F238E27FC236}">
                <a16:creationId xmlns:a16="http://schemas.microsoft.com/office/drawing/2014/main" id="{69D084A7-4459-4A72-A946-2477CC8D2B0F}"/>
              </a:ext>
            </a:extLst>
          </p:cNvPr>
          <p:cNvSpPr/>
          <p:nvPr/>
        </p:nvSpPr>
        <p:spPr>
          <a:xfrm>
            <a:off x="5724128" y="4981242"/>
            <a:ext cx="3096344" cy="1008112"/>
          </a:xfrm>
          <a:prstGeom prst="wedgeEllipseCallout">
            <a:avLst>
              <a:gd name="adj1" fmla="val -99276"/>
              <a:gd name="adj2" fmla="val -5560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E550BC2-C7A2-4DA3-97F1-4930C0DB2312}"/>
              </a:ext>
            </a:extLst>
          </p:cNvPr>
          <p:cNvSpPr txBox="1"/>
          <p:nvPr/>
        </p:nvSpPr>
        <p:spPr>
          <a:xfrm>
            <a:off x="6336196" y="5185216"/>
            <a:ext cx="1872208" cy="600164"/>
          </a:xfrm>
          <a:prstGeom prst="rect">
            <a:avLst/>
          </a:prstGeom>
          <a:noFill/>
        </p:spPr>
        <p:txBody>
          <a:bodyPr wrap="square" rtlCol="0">
            <a:spAutoFit/>
          </a:bodyPr>
          <a:lstStyle/>
          <a:p>
            <a:r>
              <a:rPr lang="fr-FR" sz="1100" dirty="0">
                <a:latin typeface="Cambria" panose="02040503050406030204" pitchFamily="18" charset="0"/>
                <a:ea typeface="Cambria" panose="02040503050406030204" pitchFamily="18" charset="0"/>
              </a:rPr>
              <a:t>Indicateurs associés aux données d’une variable quantitative uniquement</a:t>
            </a:r>
          </a:p>
        </p:txBody>
      </p:sp>
    </p:spTree>
    <p:extLst>
      <p:ext uri="{BB962C8B-B14F-4D97-AF65-F5344CB8AC3E}">
        <p14:creationId xmlns:p14="http://schemas.microsoft.com/office/powerpoint/2010/main" val="233475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635735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C387E-2F2E-4F1B-9F66-09F48FBB0003}"/>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Les indicateurs d’asymétrie –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Le coefficient de Pearson</a:t>
            </a:r>
            <a:endParaRPr lang="fr-FR"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BE02A17-E83C-48A9-867B-C76F11D5BD39}"/>
                  </a:ext>
                </a:extLst>
              </p:cNvPr>
              <p:cNvSpPr>
                <a:spLocks noGrp="1"/>
              </p:cNvSpPr>
              <p:nvPr>
                <p:ph idx="1"/>
              </p:nvPr>
            </p:nvSpPr>
            <p:spPr/>
            <p:txBody>
              <a:bodyPr>
                <a:normAutofit fontScale="92500" lnSpcReduction="10000"/>
              </a:bodyPr>
              <a:lstStyle/>
              <a:p>
                <a:pPr marL="0" indent="0">
                  <a:buNone/>
                </a:pPr>
                <a:r>
                  <a:rPr lang="fr-FR" sz="2200" dirty="0">
                    <a:latin typeface="Cambria" panose="02040503050406030204" pitchFamily="18" charset="0"/>
                    <a:ea typeface="Cambria" panose="02040503050406030204" pitchFamily="18" charset="0"/>
                  </a:rPr>
                  <a:t>Le coefficient de Pearson est défini par :</a:t>
                </a:r>
              </a:p>
              <a:p>
                <a:pPr marL="0" indent="0">
                  <a:buNone/>
                </a:pPr>
                <a:endParaRPr lang="fr-FR" sz="3000" dirty="0">
                  <a:latin typeface="Cambria" panose="02040503050406030204" pitchFamily="18" charset="0"/>
                  <a:ea typeface="Cambria"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fr-FR" b="0" i="1" smtClean="0">
                          <a:solidFill>
                            <a:srgbClr val="FF0000"/>
                          </a:solidFill>
                          <a:latin typeface="Cambria Math" panose="02040503050406030204" pitchFamily="18" charset="0"/>
                        </a:rPr>
                        <m:t>𝑆</m:t>
                      </m:r>
                      <m:r>
                        <a:rPr lang="fr-FR" b="0" i="1" smtClean="0">
                          <a:solidFill>
                            <a:srgbClr val="FF0000"/>
                          </a:solidFill>
                          <a:latin typeface="Cambria Math" panose="02040503050406030204" pitchFamily="18" charset="0"/>
                        </a:rPr>
                        <m:t>= </m:t>
                      </m:r>
                      <m:f>
                        <m:fPr>
                          <m:ctrlPr>
                            <a:rPr lang="fr-FR" b="0" i="1" smtClean="0">
                              <a:solidFill>
                                <a:srgbClr val="FF0000"/>
                              </a:solidFill>
                              <a:latin typeface="Cambria Math" panose="02040503050406030204" pitchFamily="18" charset="0"/>
                            </a:rPr>
                          </m:ctrlPr>
                        </m:fPr>
                        <m:num>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𝑀𝑜𝑦𝑒𝑛𝑛𝑒</m:t>
                          </m:r>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𝑀𝑜𝑑𝑒</m:t>
                          </m:r>
                          <m:r>
                            <a:rPr lang="fr-FR" b="0" i="1" smtClean="0">
                              <a:solidFill>
                                <a:srgbClr val="FF0000"/>
                              </a:solidFill>
                              <a:latin typeface="Cambria Math" panose="02040503050406030204" pitchFamily="18" charset="0"/>
                            </a:rPr>
                            <m:t>)</m:t>
                          </m:r>
                        </m:num>
                        <m:den>
                          <m:r>
                            <a:rPr lang="fr-FR" b="0" i="1" smtClean="0">
                              <a:solidFill>
                                <a:srgbClr val="FF0000"/>
                              </a:solidFill>
                              <a:latin typeface="Cambria Math" panose="02040503050406030204" pitchFamily="18" charset="0"/>
                            </a:rPr>
                            <m:t>é</m:t>
                          </m:r>
                          <m:r>
                            <a:rPr lang="fr-FR" b="0" i="1" smtClean="0">
                              <a:solidFill>
                                <a:srgbClr val="FF0000"/>
                              </a:solidFill>
                              <a:latin typeface="Cambria Math" panose="02040503050406030204" pitchFamily="18" charset="0"/>
                            </a:rPr>
                            <m:t>𝑐𝑎𝑟𝑡</m:t>
                          </m:r>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𝑡𝑦𝑝𝑒</m:t>
                          </m:r>
                        </m:den>
                      </m:f>
                      <m:r>
                        <a:rPr lang="fr-FR" b="0" i="1" smtClean="0">
                          <a:solidFill>
                            <a:srgbClr val="FF0000"/>
                          </a:solidFill>
                          <a:latin typeface="Cambria Math" panose="02040503050406030204" pitchFamily="18" charset="0"/>
                        </a:rPr>
                        <m:t>= </m:t>
                      </m:r>
                      <m:f>
                        <m:fPr>
                          <m:ctrlPr>
                            <a:rPr lang="fr-FR" b="0" i="1" smtClean="0">
                              <a:solidFill>
                                <a:srgbClr val="FF0000"/>
                              </a:solidFill>
                              <a:latin typeface="Cambria Math" panose="02040503050406030204" pitchFamily="18" charset="0"/>
                            </a:rPr>
                          </m:ctrlPr>
                        </m:fPr>
                        <m:num>
                          <m:d>
                            <m:dPr>
                              <m:ctrlPr>
                                <a:rPr lang="fr-FR" b="0" i="1" smtClean="0">
                                  <a:solidFill>
                                    <a:srgbClr val="FF0000"/>
                                  </a:solidFill>
                                  <a:latin typeface="Cambria Math" panose="02040503050406030204" pitchFamily="18" charset="0"/>
                                </a:rPr>
                              </m:ctrlPr>
                            </m:dPr>
                            <m:e>
                              <m:acc>
                                <m:accPr>
                                  <m:chr m:val="̅"/>
                                  <m:ctrlPr>
                                    <a:rPr lang="fr-FR" b="0"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𝑥</m:t>
                                  </m:r>
                                </m:e>
                              </m:acc>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𝑀𝑜𝑑𝑒</m:t>
                              </m:r>
                            </m:e>
                          </m:d>
                        </m:num>
                        <m:den>
                          <m:r>
                            <a:rPr lang="fr-FR" b="0" i="1" smtClean="0">
                              <a:solidFill>
                                <a:srgbClr val="FF0000"/>
                              </a:solidFill>
                              <a:latin typeface="Cambria Math" panose="02040503050406030204" pitchFamily="18" charset="0"/>
                            </a:rPr>
                            <m:t>𝑠</m:t>
                          </m:r>
                        </m:den>
                      </m:f>
                    </m:oMath>
                  </m:oMathPara>
                </a14:m>
                <a:endParaRPr lang="fr-FR" dirty="0">
                  <a:solidFill>
                    <a:srgbClr val="FF0000"/>
                  </a:solidFill>
                </a:endParaRPr>
              </a:p>
              <a:p>
                <a:pPr marL="0" indent="0" algn="ctr">
                  <a:buNone/>
                </a:pPr>
                <a:endParaRPr lang="fr-FR" dirty="0">
                  <a:solidFill>
                    <a:srgbClr val="FF0000"/>
                  </a:solidFill>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S = 0 </a:t>
                </a:r>
                <a:r>
                  <a:rPr lang="fr-FR" sz="1800" dirty="0">
                    <a:latin typeface="Cambria" panose="02040503050406030204" pitchFamily="18" charset="0"/>
                    <a:ea typeface="Cambria" panose="02040503050406030204" pitchFamily="18" charset="0"/>
                  </a:rPr>
                  <a:t>implique que les observations se répartissent de manière uniforme /symétrique (autour de la moyenne)</a:t>
                </a: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S &gt; 0 </a:t>
                </a:r>
                <a:r>
                  <a:rPr lang="fr-FR" sz="1800" dirty="0">
                    <a:latin typeface="Cambria" panose="02040503050406030204" pitchFamily="18" charset="0"/>
                    <a:ea typeface="Cambria" panose="02040503050406030204" pitchFamily="18" charset="0"/>
                  </a:rPr>
                  <a:t>implique que la répartition des données est étalée à droite (de la moyenne) </a:t>
                </a:r>
              </a:p>
              <a:p>
                <a:pPr marL="0" indent="0">
                  <a:buNone/>
                </a:pPr>
                <a:r>
                  <a:rPr lang="fr-FR" sz="1800" dirty="0">
                    <a:latin typeface="Cambria" panose="02040503050406030204" pitchFamily="18" charset="0"/>
                    <a:ea typeface="Cambria" panose="02040503050406030204" pitchFamily="18" charset="0"/>
                    <a:sym typeface="Wingdings" panose="05000000000000000000" pitchFamily="2" charset="2"/>
                  </a:rPr>
                  <a:t>        les observations / modalités inférieures (à la moyenne) possèdent plus de poids  </a:t>
                </a: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S &lt; 0 </a:t>
                </a:r>
                <a:r>
                  <a:rPr lang="fr-FR" sz="1800" dirty="0">
                    <a:latin typeface="Cambria" panose="02040503050406030204" pitchFamily="18" charset="0"/>
                    <a:ea typeface="Cambria" panose="02040503050406030204" pitchFamily="18" charset="0"/>
                  </a:rPr>
                  <a:t>implique que la répartition des données est étalée à gauche (de la moyenne) </a:t>
                </a:r>
                <a:r>
                  <a:rPr lang="fr-FR" sz="1800" dirty="0">
                    <a:latin typeface="Cambria" panose="02040503050406030204" pitchFamily="18" charset="0"/>
                    <a:ea typeface="Cambria" panose="02040503050406030204" pitchFamily="18" charset="0"/>
                    <a:sym typeface="Wingdings" panose="05000000000000000000" pitchFamily="2" charset="2"/>
                  </a:rPr>
                  <a:t> les observations / modalités supérieures (à la moyenne) possèdent plus de poids </a:t>
                </a:r>
                <a:endParaRPr lang="fr-FR" sz="18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EBE02A17-E83C-48A9-867B-C76F11D5BD39}"/>
                  </a:ext>
                </a:extLst>
              </p:cNvPr>
              <p:cNvSpPr>
                <a:spLocks noGrp="1" noRot="1" noChangeAspect="1" noMove="1" noResize="1" noEditPoints="1" noAdjustHandles="1" noChangeArrowheads="1" noChangeShapeType="1" noTextEdit="1"/>
              </p:cNvSpPr>
              <p:nvPr>
                <p:ph idx="1"/>
              </p:nvPr>
            </p:nvSpPr>
            <p:spPr>
              <a:blipFill>
                <a:blip r:embed="rId2"/>
                <a:stretch>
                  <a:fillRect l="-741" t="-1482" r="-593" b="-809"/>
                </a:stretch>
              </a:blipFill>
            </p:spPr>
            <p:txBody>
              <a:bodyPr/>
              <a:lstStyle/>
              <a:p>
                <a:r>
                  <a:rPr lang="fr-FR">
                    <a:noFill/>
                  </a:rPr>
                  <a:t> </a:t>
                </a:r>
              </a:p>
            </p:txBody>
          </p:sp>
        </mc:Fallback>
      </mc:AlternateContent>
    </p:spTree>
    <p:extLst>
      <p:ext uri="{BB962C8B-B14F-4D97-AF65-F5344CB8AC3E}">
        <p14:creationId xmlns:p14="http://schemas.microsoft.com/office/powerpoint/2010/main" val="3377541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670644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C387E-2F2E-4F1B-9F66-09F48FBB0003}"/>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Les indicateurs d’asymétrie –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Le coefficient de Yule et Kendall</a:t>
            </a:r>
            <a:endParaRPr lang="fr-FR"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BE02A17-E83C-48A9-867B-C76F11D5BD39}"/>
                  </a:ext>
                </a:extLst>
              </p:cNvPr>
              <p:cNvSpPr>
                <a:spLocks noGrp="1"/>
              </p:cNvSpPr>
              <p:nvPr>
                <p:ph idx="1"/>
              </p:nvPr>
            </p:nvSpPr>
            <p:spPr/>
            <p:txBody>
              <a:bodyPr>
                <a:normAutofit fontScale="92500" lnSpcReduction="10000"/>
              </a:bodyPr>
              <a:lstStyle/>
              <a:p>
                <a:pPr marL="0" indent="0">
                  <a:buNone/>
                </a:pPr>
                <a:r>
                  <a:rPr lang="fr-FR" sz="2200" dirty="0">
                    <a:latin typeface="Cambria" panose="02040503050406030204" pitchFamily="18" charset="0"/>
                    <a:ea typeface="Cambria" panose="02040503050406030204" pitchFamily="18" charset="0"/>
                  </a:rPr>
                  <a:t>Le coefficient de Yule et Kendall est défini par :</a:t>
                </a:r>
              </a:p>
              <a:p>
                <a:pPr marL="0" indent="0">
                  <a:buNone/>
                </a:pPr>
                <a:endParaRPr lang="fr-FR" dirty="0">
                  <a:latin typeface="Cambria" panose="02040503050406030204" pitchFamily="18" charset="0"/>
                  <a:ea typeface="Cambria"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fr-FR" b="0" i="1" smtClean="0">
                          <a:solidFill>
                            <a:srgbClr val="FF0000"/>
                          </a:solidFill>
                          <a:latin typeface="Cambria Math" panose="02040503050406030204" pitchFamily="18" charset="0"/>
                        </a:rPr>
                        <m:t>𝑌</m:t>
                      </m:r>
                      <m:r>
                        <a:rPr lang="fr-FR" b="0" i="1" smtClean="0">
                          <a:solidFill>
                            <a:srgbClr val="FF0000"/>
                          </a:solidFill>
                          <a:latin typeface="Cambria Math" panose="02040503050406030204" pitchFamily="18" charset="0"/>
                        </a:rPr>
                        <m:t>= </m:t>
                      </m:r>
                      <m:f>
                        <m:fPr>
                          <m:ctrlPr>
                            <a:rPr lang="fr-FR" b="0" i="1" smtClean="0">
                              <a:solidFill>
                                <a:srgbClr val="FF0000"/>
                              </a:solidFill>
                              <a:latin typeface="Cambria Math" panose="02040503050406030204" pitchFamily="18" charset="0"/>
                            </a:rPr>
                          </m:ctrlPr>
                        </m:fPr>
                        <m:num>
                          <m:d>
                            <m:dPr>
                              <m:ctrlPr>
                                <a:rPr lang="fr-FR" b="0" i="1" smtClean="0">
                                  <a:solidFill>
                                    <a:srgbClr val="FF0000"/>
                                  </a:solidFill>
                                  <a:latin typeface="Cambria Math" panose="02040503050406030204" pitchFamily="18" charset="0"/>
                                </a:rPr>
                              </m:ctrlPr>
                            </m:dPr>
                            <m:e>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𝑞</m:t>
                                  </m:r>
                                </m:e>
                                <m:sub>
                                  <m:r>
                                    <a:rPr lang="fr-FR" b="0" i="1" smtClean="0">
                                      <a:solidFill>
                                        <a:srgbClr val="FF0000"/>
                                      </a:solidFill>
                                      <a:latin typeface="Cambria Math" panose="02040503050406030204" pitchFamily="18" charset="0"/>
                                    </a:rPr>
                                    <m:t>3</m:t>
                                  </m:r>
                                </m:sub>
                              </m:sSub>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𝑀</m:t>
                              </m:r>
                              <m:r>
                                <a:rPr lang="fr-FR" b="0" i="1" smtClean="0">
                                  <a:solidFill>
                                    <a:srgbClr val="FF0000"/>
                                  </a:solidFill>
                                  <a:latin typeface="Cambria Math" panose="02040503050406030204" pitchFamily="18" charset="0"/>
                                </a:rPr>
                                <m:t>é</m:t>
                              </m:r>
                              <m:r>
                                <a:rPr lang="fr-FR" b="0" i="1" smtClean="0">
                                  <a:solidFill>
                                    <a:srgbClr val="FF0000"/>
                                  </a:solidFill>
                                  <a:latin typeface="Cambria Math" panose="02040503050406030204" pitchFamily="18" charset="0"/>
                                </a:rPr>
                                <m:t>𝑑𝑖𝑎𝑛𝑒</m:t>
                              </m:r>
                            </m:e>
                          </m:d>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𝑀</m:t>
                          </m:r>
                          <m:r>
                            <a:rPr lang="fr-FR" b="0" i="1" smtClean="0">
                              <a:solidFill>
                                <a:srgbClr val="FF0000"/>
                              </a:solidFill>
                              <a:latin typeface="Cambria Math" panose="02040503050406030204" pitchFamily="18" charset="0"/>
                            </a:rPr>
                            <m:t>é</m:t>
                          </m:r>
                          <m:r>
                            <a:rPr lang="fr-FR" b="0" i="1" smtClean="0">
                              <a:solidFill>
                                <a:srgbClr val="FF0000"/>
                              </a:solidFill>
                              <a:latin typeface="Cambria Math" panose="02040503050406030204" pitchFamily="18" charset="0"/>
                            </a:rPr>
                            <m:t>𝑑𝑖𝑎𝑛𝑒</m:t>
                          </m:r>
                          <m:r>
                            <a:rPr lang="fr-FR" b="0" i="1" smtClean="0">
                              <a:solidFill>
                                <a:srgbClr val="FF0000"/>
                              </a:solidFill>
                              <a:latin typeface="Cambria Math" panose="02040503050406030204" pitchFamily="18" charset="0"/>
                            </a:rPr>
                            <m:t> − </m:t>
                          </m:r>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𝑞</m:t>
                              </m:r>
                            </m:e>
                            <m:sub>
                              <m:r>
                                <a:rPr lang="fr-FR" b="0" i="1" smtClean="0">
                                  <a:solidFill>
                                    <a:srgbClr val="FF0000"/>
                                  </a:solidFill>
                                  <a:latin typeface="Cambria Math" panose="02040503050406030204" pitchFamily="18" charset="0"/>
                                </a:rPr>
                                <m:t>1</m:t>
                              </m:r>
                            </m:sub>
                          </m:sSub>
                          <m:r>
                            <a:rPr lang="fr-FR" b="0" i="1" smtClean="0">
                              <a:solidFill>
                                <a:srgbClr val="FF0000"/>
                              </a:solidFill>
                              <a:latin typeface="Cambria Math" panose="02040503050406030204" pitchFamily="18" charset="0"/>
                            </a:rPr>
                            <m:t>)</m:t>
                          </m:r>
                        </m:num>
                        <m:den>
                          <m:r>
                            <a:rPr lang="fr-FR" b="0" i="1" smtClean="0">
                              <a:solidFill>
                                <a:srgbClr val="FF0000"/>
                              </a:solidFill>
                              <a:latin typeface="Cambria Math" panose="02040503050406030204" pitchFamily="18" charset="0"/>
                            </a:rPr>
                            <m:t>(</m:t>
                          </m:r>
                          <m:sSub>
                            <m:sSubPr>
                              <m:ctrlPr>
                                <a:rPr lang="fr-FR" i="1">
                                  <a:solidFill>
                                    <a:srgbClr val="FF0000"/>
                                  </a:solidFill>
                                  <a:latin typeface="Cambria Math" panose="02040503050406030204" pitchFamily="18" charset="0"/>
                                </a:rPr>
                              </m:ctrlPr>
                            </m:sSubPr>
                            <m:e>
                              <m:r>
                                <a:rPr lang="fr-FR" i="1">
                                  <a:solidFill>
                                    <a:srgbClr val="FF0000"/>
                                  </a:solidFill>
                                  <a:latin typeface="Cambria Math" panose="02040503050406030204" pitchFamily="18" charset="0"/>
                                </a:rPr>
                                <m:t>𝑞</m:t>
                              </m:r>
                            </m:e>
                            <m:sub>
                              <m:r>
                                <a:rPr lang="fr-FR" i="1">
                                  <a:solidFill>
                                    <a:srgbClr val="FF0000"/>
                                  </a:solidFill>
                                  <a:latin typeface="Cambria Math" panose="02040503050406030204" pitchFamily="18" charset="0"/>
                                </a:rPr>
                                <m:t>3</m:t>
                              </m:r>
                            </m:sub>
                          </m:sSub>
                          <m:r>
                            <a:rPr lang="fr-FR" b="0" i="1" smtClean="0">
                              <a:solidFill>
                                <a:srgbClr val="FF0000"/>
                              </a:solidFill>
                              <a:latin typeface="Cambria Math" panose="02040503050406030204" pitchFamily="18" charset="0"/>
                            </a:rPr>
                            <m:t> −</m:t>
                          </m:r>
                          <m:sSub>
                            <m:sSubPr>
                              <m:ctrlPr>
                                <a:rPr lang="fr-FR" i="1">
                                  <a:solidFill>
                                    <a:srgbClr val="FF0000"/>
                                  </a:solidFill>
                                  <a:latin typeface="Cambria Math" panose="02040503050406030204" pitchFamily="18" charset="0"/>
                                </a:rPr>
                              </m:ctrlPr>
                            </m:sSubPr>
                            <m:e>
                              <m:r>
                                <a:rPr lang="fr-FR" i="1">
                                  <a:solidFill>
                                    <a:srgbClr val="FF0000"/>
                                  </a:solidFill>
                                  <a:latin typeface="Cambria Math" panose="02040503050406030204" pitchFamily="18" charset="0"/>
                                </a:rPr>
                                <m:t>𝑞</m:t>
                              </m:r>
                            </m:e>
                            <m:sub>
                              <m:r>
                                <a:rPr lang="fr-FR" b="0" i="1" smtClean="0">
                                  <a:solidFill>
                                    <a:srgbClr val="FF0000"/>
                                  </a:solidFill>
                                  <a:latin typeface="Cambria Math" panose="02040503050406030204" pitchFamily="18" charset="0"/>
                                </a:rPr>
                                <m:t>1</m:t>
                              </m:r>
                            </m:sub>
                          </m:sSub>
                          <m:r>
                            <a:rPr lang="fr-FR" b="0" i="1" smtClean="0">
                              <a:solidFill>
                                <a:srgbClr val="FF0000"/>
                              </a:solidFill>
                              <a:latin typeface="Cambria Math" panose="02040503050406030204" pitchFamily="18" charset="0"/>
                            </a:rPr>
                            <m:t>)</m:t>
                          </m:r>
                        </m:den>
                      </m:f>
                    </m:oMath>
                  </m:oMathPara>
                </a14:m>
                <a:endParaRPr lang="fr-FR" dirty="0">
                  <a:solidFill>
                    <a:srgbClr val="FF0000"/>
                  </a:solidFill>
                </a:endParaRPr>
              </a:p>
              <a:p>
                <a:pPr marL="0" indent="0" algn="ctr">
                  <a:buNone/>
                </a:pPr>
                <a:endParaRPr lang="fr-FR" dirty="0">
                  <a:solidFill>
                    <a:srgbClr val="FF0000"/>
                  </a:solidFill>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Y = 0 </a:t>
                </a:r>
                <a:r>
                  <a:rPr lang="fr-FR" sz="1800" dirty="0">
                    <a:latin typeface="Cambria" panose="02040503050406030204" pitchFamily="18" charset="0"/>
                    <a:ea typeface="Cambria" panose="02040503050406030204" pitchFamily="18" charset="0"/>
                  </a:rPr>
                  <a:t>implique que les observations se répartissent de manière uniforme /symétrique (autour de la médiane)</a:t>
                </a: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Y &gt; 0 </a:t>
                </a:r>
                <a:r>
                  <a:rPr lang="fr-FR" sz="1800" dirty="0">
                    <a:latin typeface="Cambria" panose="02040503050406030204" pitchFamily="18" charset="0"/>
                    <a:ea typeface="Cambria" panose="02040503050406030204" pitchFamily="18" charset="0"/>
                  </a:rPr>
                  <a:t>implique que la répartition des données est étalée à droite (de la médiane) </a:t>
                </a:r>
              </a:p>
              <a:p>
                <a:pPr marL="0" indent="0">
                  <a:buNone/>
                </a:pPr>
                <a:r>
                  <a:rPr lang="fr-FR" sz="1800" dirty="0">
                    <a:latin typeface="Cambria" panose="02040503050406030204" pitchFamily="18" charset="0"/>
                    <a:ea typeface="Cambria" panose="02040503050406030204" pitchFamily="18" charset="0"/>
                    <a:sym typeface="Wingdings" panose="05000000000000000000" pitchFamily="2" charset="2"/>
                  </a:rPr>
                  <a:t>        les observations / modalités inférieures (à la médiane) possèdent plus de poids  </a:t>
                </a: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Y &lt; 0 </a:t>
                </a:r>
                <a:r>
                  <a:rPr lang="fr-FR" sz="1800" dirty="0">
                    <a:latin typeface="Cambria" panose="02040503050406030204" pitchFamily="18" charset="0"/>
                    <a:ea typeface="Cambria" panose="02040503050406030204" pitchFamily="18" charset="0"/>
                  </a:rPr>
                  <a:t>implique que la répartition des données est étalée à gauche (de la médiane) </a:t>
                </a:r>
                <a:r>
                  <a:rPr lang="fr-FR" sz="1800" dirty="0">
                    <a:latin typeface="Cambria" panose="02040503050406030204" pitchFamily="18" charset="0"/>
                    <a:ea typeface="Cambria" panose="02040503050406030204" pitchFamily="18" charset="0"/>
                    <a:sym typeface="Wingdings" panose="05000000000000000000" pitchFamily="2" charset="2"/>
                  </a:rPr>
                  <a:t> les observations / modalités supérieures (à la médiane) possèdent plus de poids </a:t>
                </a:r>
                <a:endParaRPr lang="fr-FR" sz="18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EBE02A17-E83C-48A9-867B-C76F11D5BD39}"/>
                  </a:ext>
                </a:extLst>
              </p:cNvPr>
              <p:cNvSpPr>
                <a:spLocks noGrp="1" noRot="1" noChangeAspect="1" noMove="1" noResize="1" noEditPoints="1" noAdjustHandles="1" noChangeArrowheads="1" noChangeShapeType="1" noTextEdit="1"/>
              </p:cNvSpPr>
              <p:nvPr>
                <p:ph idx="1"/>
              </p:nvPr>
            </p:nvSpPr>
            <p:spPr>
              <a:blipFill>
                <a:blip r:embed="rId2"/>
                <a:stretch>
                  <a:fillRect l="-741" t="-1482" r="-74" b="-1617"/>
                </a:stretch>
              </a:blipFill>
            </p:spPr>
            <p:txBody>
              <a:bodyPr/>
              <a:lstStyle/>
              <a:p>
                <a:r>
                  <a:rPr lang="fr-FR">
                    <a:noFill/>
                  </a:rPr>
                  <a:t> </a:t>
                </a:r>
              </a:p>
            </p:txBody>
          </p:sp>
        </mc:Fallback>
      </mc:AlternateContent>
    </p:spTree>
    <p:extLst>
      <p:ext uri="{BB962C8B-B14F-4D97-AF65-F5344CB8AC3E}">
        <p14:creationId xmlns:p14="http://schemas.microsoft.com/office/powerpoint/2010/main" val="3014763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978434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209AB2-F8E2-475D-A5F7-675444A59993}"/>
              </a:ext>
            </a:extLst>
          </p:cNvPr>
          <p:cNvSpPr>
            <a:spLocks noGrp="1"/>
          </p:cNvSpPr>
          <p:nvPr>
            <p:ph type="title"/>
          </p:nvPr>
        </p:nvSpPr>
        <p:spPr/>
        <p:txBody>
          <a:bodyPr>
            <a:normAutofit/>
          </a:bodyPr>
          <a:lstStyle/>
          <a:p>
            <a:r>
              <a:rPr lang="fr-FR" sz="3600" dirty="0">
                <a:latin typeface="Cambria" panose="02040503050406030204" pitchFamily="18" charset="0"/>
                <a:ea typeface="Cambria" panose="02040503050406030204" pitchFamily="18" charset="0"/>
              </a:rPr>
              <a:t>L’asymétrie - Graphiquement </a:t>
            </a:r>
          </a:p>
        </p:txBody>
      </p:sp>
      <p:pic>
        <p:nvPicPr>
          <p:cNvPr id="5" name="Espace réservé du contenu 4">
            <a:extLst>
              <a:ext uri="{FF2B5EF4-FFF2-40B4-BE49-F238E27FC236}">
                <a16:creationId xmlns:a16="http://schemas.microsoft.com/office/drawing/2014/main" id="{ED0A8704-8012-4824-B470-6731332588DB}"/>
              </a:ext>
            </a:extLst>
          </p:cNvPr>
          <p:cNvPicPr>
            <a:picLocks noGrp="1" noChangeAspect="1"/>
          </p:cNvPicPr>
          <p:nvPr>
            <p:ph idx="1"/>
          </p:nvPr>
        </p:nvPicPr>
        <p:blipFill>
          <a:blip r:embed="rId2"/>
          <a:stretch>
            <a:fillRect/>
          </a:stretch>
        </p:blipFill>
        <p:spPr>
          <a:xfrm>
            <a:off x="127733" y="1852821"/>
            <a:ext cx="3168352" cy="2839161"/>
          </a:xfrm>
        </p:spPr>
      </p:pic>
      <p:pic>
        <p:nvPicPr>
          <p:cNvPr id="7" name="Image 6">
            <a:extLst>
              <a:ext uri="{FF2B5EF4-FFF2-40B4-BE49-F238E27FC236}">
                <a16:creationId xmlns:a16="http://schemas.microsoft.com/office/drawing/2014/main" id="{D9C05761-A305-44E3-802F-CFCD2A719DDA}"/>
              </a:ext>
            </a:extLst>
          </p:cNvPr>
          <p:cNvPicPr>
            <a:picLocks noChangeAspect="1"/>
          </p:cNvPicPr>
          <p:nvPr/>
        </p:nvPicPr>
        <p:blipFill>
          <a:blip r:embed="rId3"/>
          <a:stretch>
            <a:fillRect/>
          </a:stretch>
        </p:blipFill>
        <p:spPr>
          <a:xfrm>
            <a:off x="3286714" y="1696222"/>
            <a:ext cx="2990653" cy="3152357"/>
          </a:xfrm>
          <a:prstGeom prst="rect">
            <a:avLst/>
          </a:prstGeom>
        </p:spPr>
      </p:pic>
      <p:pic>
        <p:nvPicPr>
          <p:cNvPr id="9" name="Image 8">
            <a:extLst>
              <a:ext uri="{FF2B5EF4-FFF2-40B4-BE49-F238E27FC236}">
                <a16:creationId xmlns:a16="http://schemas.microsoft.com/office/drawing/2014/main" id="{A4BB10C8-D899-4ABF-BD82-CC4FCBDFCA48}"/>
              </a:ext>
            </a:extLst>
          </p:cNvPr>
          <p:cNvPicPr>
            <a:picLocks noChangeAspect="1"/>
          </p:cNvPicPr>
          <p:nvPr/>
        </p:nvPicPr>
        <p:blipFill>
          <a:blip r:embed="rId4"/>
          <a:stretch>
            <a:fillRect/>
          </a:stretch>
        </p:blipFill>
        <p:spPr>
          <a:xfrm>
            <a:off x="6172459" y="1852821"/>
            <a:ext cx="2843808" cy="3152357"/>
          </a:xfrm>
          <a:prstGeom prst="rect">
            <a:avLst/>
          </a:prstGeom>
        </p:spPr>
      </p:pic>
      <p:pic>
        <p:nvPicPr>
          <p:cNvPr id="11" name="Image 10">
            <a:extLst>
              <a:ext uri="{FF2B5EF4-FFF2-40B4-BE49-F238E27FC236}">
                <a16:creationId xmlns:a16="http://schemas.microsoft.com/office/drawing/2014/main" id="{84423DA3-2581-4F1A-AFF9-C3AB7E5DA2C8}"/>
              </a:ext>
            </a:extLst>
          </p:cNvPr>
          <p:cNvPicPr>
            <a:picLocks noChangeAspect="1"/>
          </p:cNvPicPr>
          <p:nvPr/>
        </p:nvPicPr>
        <p:blipFill>
          <a:blip r:embed="rId5"/>
          <a:stretch>
            <a:fillRect/>
          </a:stretch>
        </p:blipFill>
        <p:spPr>
          <a:xfrm>
            <a:off x="2156180" y="5161777"/>
            <a:ext cx="5251720" cy="571529"/>
          </a:xfrm>
          <a:prstGeom prst="rect">
            <a:avLst/>
          </a:prstGeom>
        </p:spPr>
      </p:pic>
    </p:spTree>
    <p:extLst>
      <p:ext uri="{BB962C8B-B14F-4D97-AF65-F5344CB8AC3E}">
        <p14:creationId xmlns:p14="http://schemas.microsoft.com/office/powerpoint/2010/main" val="255397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595782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2469691-F636-4953-AF98-56AEE8A2DFE1}"/>
              </a:ext>
            </a:extLst>
          </p:cNvPr>
          <p:cNvSpPr>
            <a:spLocks noGrp="1"/>
          </p:cNvSpPr>
          <p:nvPr>
            <p:ph type="title"/>
          </p:nvPr>
        </p:nvSpPr>
        <p:spPr>
          <a:xfrm>
            <a:off x="837373" y="655128"/>
            <a:ext cx="3460439" cy="1499616"/>
          </a:xfrm>
        </p:spPr>
        <p:txBody>
          <a:bodyPr vert="horz" lIns="91440" tIns="45720" rIns="91440" bIns="45720" rtlCol="0" anchor="b">
            <a:normAutofit/>
          </a:bodyPr>
          <a:lstStyle/>
          <a:p>
            <a:pPr algn="l">
              <a:lnSpc>
                <a:spcPct val="90000"/>
              </a:lnSpc>
            </a:pPr>
            <a:r>
              <a:rPr lang="fr-FR" sz="2600" dirty="0">
                <a:latin typeface="Cambria" panose="02040503050406030204" pitchFamily="18" charset="0"/>
                <a:ea typeface="Cambria" panose="02040503050406030204" pitchFamily="18" charset="0"/>
              </a:rPr>
              <a:t>Le signe du coefficient de Yule et Kendall – Graphiquement </a:t>
            </a:r>
          </a:p>
        </p:txBody>
      </p:sp>
      <p:sp>
        <p:nvSpPr>
          <p:cNvPr id="16" name="Rectangle 15">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5228"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1F49CE81-B2F4-47B2-9D4A-886DCE0A84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91533" y="73152"/>
            <a:ext cx="884223" cy="232963"/>
            <a:chOff x="7763256" y="73152"/>
            <a:chExt cx="1178966" cy="232963"/>
          </a:xfrm>
        </p:grpSpPr>
        <p:sp>
          <p:nvSpPr>
            <p:cNvPr id="19" name="Rectangle 64">
              <a:extLst>
                <a:ext uri="{FF2B5EF4-FFF2-40B4-BE49-F238E27FC236}">
                  <a16:creationId xmlns:a16="http://schemas.microsoft.com/office/drawing/2014/main" id="{4BE32177-3EAD-42DA-997C-8DAE1BFEE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6">
              <a:extLst>
                <a:ext uri="{FF2B5EF4-FFF2-40B4-BE49-F238E27FC236}">
                  <a16:creationId xmlns:a16="http://schemas.microsoft.com/office/drawing/2014/main" id="{A0DEE160-9825-4DB5-8188-911AC13EA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4">
              <a:extLst>
                <a:ext uri="{FF2B5EF4-FFF2-40B4-BE49-F238E27FC236}">
                  <a16:creationId xmlns:a16="http://schemas.microsoft.com/office/drawing/2014/main" id="{9C5FEDB5-0AEE-40E4-9CA6-6718B956D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6">
              <a:extLst>
                <a:ext uri="{FF2B5EF4-FFF2-40B4-BE49-F238E27FC236}">
                  <a16:creationId xmlns:a16="http://schemas.microsoft.com/office/drawing/2014/main" id="{1A11DF2D-1D4B-45DA-906B-2A1F84C99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4">
              <a:extLst>
                <a:ext uri="{FF2B5EF4-FFF2-40B4-BE49-F238E27FC236}">
                  <a16:creationId xmlns:a16="http://schemas.microsoft.com/office/drawing/2014/main" id="{B6A5BAC0-9806-4124-A584-7F924A658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6">
              <a:extLst>
                <a:ext uri="{FF2B5EF4-FFF2-40B4-BE49-F238E27FC236}">
                  <a16:creationId xmlns:a16="http://schemas.microsoft.com/office/drawing/2014/main" id="{A8F6BFA3-38BE-4F0A-94D9-EF0E6EA01A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4">
              <a:extLst>
                <a:ext uri="{FF2B5EF4-FFF2-40B4-BE49-F238E27FC236}">
                  <a16:creationId xmlns:a16="http://schemas.microsoft.com/office/drawing/2014/main" id="{BE6BCF21-959F-419E-BCA4-B20AF92EF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66">
              <a:extLst>
                <a:ext uri="{FF2B5EF4-FFF2-40B4-BE49-F238E27FC236}">
                  <a16:creationId xmlns:a16="http://schemas.microsoft.com/office/drawing/2014/main" id="{54B6E037-E222-42EB-9AEB-C45EF2090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4">
              <a:extLst>
                <a:ext uri="{FF2B5EF4-FFF2-40B4-BE49-F238E27FC236}">
                  <a16:creationId xmlns:a16="http://schemas.microsoft.com/office/drawing/2014/main" id="{A0494426-372E-42B8-87E1-170F1B596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6">
              <a:extLst>
                <a:ext uri="{FF2B5EF4-FFF2-40B4-BE49-F238E27FC236}">
                  <a16:creationId xmlns:a16="http://schemas.microsoft.com/office/drawing/2014/main" id="{14DB5AB5-5D73-4375-8CF4-DF4B7A5D7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4">
              <a:extLst>
                <a:ext uri="{FF2B5EF4-FFF2-40B4-BE49-F238E27FC236}">
                  <a16:creationId xmlns:a16="http://schemas.microsoft.com/office/drawing/2014/main" id="{009B2A6E-6D36-4A9A-AFAA-CF4D85914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6">
              <a:extLst>
                <a:ext uri="{FF2B5EF4-FFF2-40B4-BE49-F238E27FC236}">
                  <a16:creationId xmlns:a16="http://schemas.microsoft.com/office/drawing/2014/main" id="{85DC0718-B29F-47A6-931F-F0EF9FA99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64">
              <a:extLst>
                <a:ext uri="{FF2B5EF4-FFF2-40B4-BE49-F238E27FC236}">
                  <a16:creationId xmlns:a16="http://schemas.microsoft.com/office/drawing/2014/main" id="{AAED958D-AFCC-4BEF-818A-EFF7E41D1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6">
              <a:extLst>
                <a:ext uri="{FF2B5EF4-FFF2-40B4-BE49-F238E27FC236}">
                  <a16:creationId xmlns:a16="http://schemas.microsoft.com/office/drawing/2014/main" id="{C216DD5A-D1AE-429E-937E-456A50345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4">
              <a:extLst>
                <a:ext uri="{FF2B5EF4-FFF2-40B4-BE49-F238E27FC236}">
                  <a16:creationId xmlns:a16="http://schemas.microsoft.com/office/drawing/2014/main" id="{A845B253-9DEE-45AC-AADA-FAA6812C3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6">
              <a:extLst>
                <a:ext uri="{FF2B5EF4-FFF2-40B4-BE49-F238E27FC236}">
                  <a16:creationId xmlns:a16="http://schemas.microsoft.com/office/drawing/2014/main" id="{CE7B6CBF-757B-4B55-84CB-062B712D3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4">
              <a:extLst>
                <a:ext uri="{FF2B5EF4-FFF2-40B4-BE49-F238E27FC236}">
                  <a16:creationId xmlns:a16="http://schemas.microsoft.com/office/drawing/2014/main" id="{2CC28C7A-EF33-43D3-90CD-DCAC92546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6">
              <a:extLst>
                <a:ext uri="{FF2B5EF4-FFF2-40B4-BE49-F238E27FC236}">
                  <a16:creationId xmlns:a16="http://schemas.microsoft.com/office/drawing/2014/main" id="{BC0C9DCF-F15B-4B7A-A16B-37B4335E6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4">
              <a:extLst>
                <a:ext uri="{FF2B5EF4-FFF2-40B4-BE49-F238E27FC236}">
                  <a16:creationId xmlns:a16="http://schemas.microsoft.com/office/drawing/2014/main" id="{94991FD1-406A-4958-87D4-8DFA9FEA4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66">
              <a:extLst>
                <a:ext uri="{FF2B5EF4-FFF2-40B4-BE49-F238E27FC236}">
                  <a16:creationId xmlns:a16="http://schemas.microsoft.com/office/drawing/2014/main" id="{5CD32F69-27AD-4088-877C-E2A40F8B0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Espace réservé du contenu 4">
            <a:extLst>
              <a:ext uri="{FF2B5EF4-FFF2-40B4-BE49-F238E27FC236}">
                <a16:creationId xmlns:a16="http://schemas.microsoft.com/office/drawing/2014/main" id="{6294B267-ABFD-451C-9183-3D5868408683}"/>
              </a:ext>
            </a:extLst>
          </p:cNvPr>
          <p:cNvPicPr>
            <a:picLocks noGrp="1" noChangeAspect="1"/>
          </p:cNvPicPr>
          <p:nvPr>
            <p:ph idx="1"/>
          </p:nvPr>
        </p:nvPicPr>
        <p:blipFill>
          <a:blip r:embed="rId2"/>
          <a:stretch>
            <a:fillRect/>
          </a:stretch>
        </p:blipFill>
        <p:spPr>
          <a:xfrm>
            <a:off x="4859877" y="768736"/>
            <a:ext cx="4190207" cy="1738935"/>
          </a:xfrm>
          <a:prstGeom prst="rect">
            <a:avLst/>
          </a:prstGeom>
        </p:spPr>
      </p:pic>
      <p:sp>
        <p:nvSpPr>
          <p:cNvPr id="40" name="Rectangle 39">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33984"/>
            <a:ext cx="455228"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a:extLst>
              <a:ext uri="{FF2B5EF4-FFF2-40B4-BE49-F238E27FC236}">
                <a16:creationId xmlns:a16="http://schemas.microsoft.com/office/drawing/2014/main" id="{E19739A1-4ECB-45FF-BA80-DF9E03B2A082}"/>
              </a:ext>
            </a:extLst>
          </p:cNvPr>
          <p:cNvPicPr>
            <a:picLocks noChangeAspect="1"/>
          </p:cNvPicPr>
          <p:nvPr/>
        </p:nvPicPr>
        <p:blipFill>
          <a:blip r:embed="rId3"/>
          <a:stretch>
            <a:fillRect/>
          </a:stretch>
        </p:blipFill>
        <p:spPr>
          <a:xfrm>
            <a:off x="561903" y="4148003"/>
            <a:ext cx="4190206" cy="1791313"/>
          </a:xfrm>
          <a:prstGeom prst="rect">
            <a:avLst/>
          </a:prstGeom>
        </p:spPr>
      </p:pic>
      <p:pic>
        <p:nvPicPr>
          <p:cNvPr id="7" name="Image 6">
            <a:extLst>
              <a:ext uri="{FF2B5EF4-FFF2-40B4-BE49-F238E27FC236}">
                <a16:creationId xmlns:a16="http://schemas.microsoft.com/office/drawing/2014/main" id="{BA8D8200-24B4-4759-92B3-CE2F23AEB238}"/>
              </a:ext>
            </a:extLst>
          </p:cNvPr>
          <p:cNvPicPr>
            <a:picLocks noChangeAspect="1"/>
          </p:cNvPicPr>
          <p:nvPr/>
        </p:nvPicPr>
        <p:blipFill>
          <a:blip r:embed="rId4"/>
          <a:stretch>
            <a:fillRect/>
          </a:stretch>
        </p:blipFill>
        <p:spPr>
          <a:xfrm>
            <a:off x="4859878" y="4168954"/>
            <a:ext cx="4190207" cy="1749411"/>
          </a:xfrm>
          <a:prstGeom prst="rect">
            <a:avLst/>
          </a:prstGeom>
        </p:spPr>
      </p:pic>
    </p:spTree>
    <p:extLst>
      <p:ext uri="{BB962C8B-B14F-4D97-AF65-F5344CB8AC3E}">
        <p14:creationId xmlns:p14="http://schemas.microsoft.com/office/powerpoint/2010/main" val="13106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863118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DAA49A-9770-4CEA-95B0-8BCA690AF806}"/>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Les indicateurs d’asymétrie – Remarques générales</a:t>
            </a:r>
            <a:endParaRPr lang="fr-FR" dirty="0"/>
          </a:p>
        </p:txBody>
      </p:sp>
      <p:sp>
        <p:nvSpPr>
          <p:cNvPr id="3" name="Espace réservé du contenu 2">
            <a:extLst>
              <a:ext uri="{FF2B5EF4-FFF2-40B4-BE49-F238E27FC236}">
                <a16:creationId xmlns:a16="http://schemas.microsoft.com/office/drawing/2014/main" id="{A20EECF8-BB90-4531-8612-DF9E4F7358EA}"/>
              </a:ext>
            </a:extLst>
          </p:cNvPr>
          <p:cNvSpPr>
            <a:spLocks noGrp="1"/>
          </p:cNvSpPr>
          <p:nvPr>
            <p:ph idx="1"/>
          </p:nvPr>
        </p:nvSpPr>
        <p:spPr/>
        <p:txBody>
          <a:bodyPr/>
          <a:lstStyle/>
          <a:p>
            <a:pPr marL="0" indent="0">
              <a:buNone/>
            </a:pPr>
            <a:r>
              <a:rPr lang="fr-FR" dirty="0">
                <a:latin typeface="Cambria" panose="02040503050406030204" pitchFamily="18" charset="0"/>
                <a:ea typeface="Cambria" panose="02040503050406030204" pitchFamily="18" charset="0"/>
              </a:rPr>
              <a:t>Remarque 1 : </a:t>
            </a:r>
          </a:p>
          <a:p>
            <a:pPr marL="0" indent="0">
              <a:buNone/>
            </a:pPr>
            <a:endParaRPr lang="fr-FR" dirty="0">
              <a:latin typeface="Cambria" panose="02040503050406030204" pitchFamily="18" charset="0"/>
              <a:ea typeface="Cambria" panose="02040503050406030204" pitchFamily="18" charset="0"/>
            </a:endParaRPr>
          </a:p>
          <a:p>
            <a:pPr marL="0" indent="0">
              <a:buNone/>
            </a:pPr>
            <a:endParaRPr lang="fr-FR" dirty="0">
              <a:latin typeface="Cambria" panose="02040503050406030204" pitchFamily="18" charset="0"/>
              <a:ea typeface="Cambria" panose="02040503050406030204" pitchFamily="18" charset="0"/>
            </a:endParaRPr>
          </a:p>
          <a:p>
            <a:pPr marL="0" indent="0">
              <a:buNone/>
            </a:pPr>
            <a:endParaRPr lang="fr-FR" dirty="0">
              <a:latin typeface="Cambria" panose="02040503050406030204" pitchFamily="18" charset="0"/>
              <a:ea typeface="Cambria" panose="02040503050406030204" pitchFamily="18" charset="0"/>
            </a:endParaRPr>
          </a:p>
          <a:p>
            <a:pPr marL="0" indent="0">
              <a:buNone/>
            </a:pPr>
            <a:r>
              <a:rPr lang="fr-FR" dirty="0">
                <a:latin typeface="Cambria" panose="02040503050406030204" pitchFamily="18" charset="0"/>
                <a:ea typeface="Cambria" panose="02040503050406030204" pitchFamily="18" charset="0"/>
              </a:rPr>
              <a:t>Remarque 2 : </a:t>
            </a:r>
          </a:p>
        </p:txBody>
      </p:sp>
      <p:pic>
        <p:nvPicPr>
          <p:cNvPr id="5" name="Image 4">
            <a:extLst>
              <a:ext uri="{FF2B5EF4-FFF2-40B4-BE49-F238E27FC236}">
                <a16:creationId xmlns:a16="http://schemas.microsoft.com/office/drawing/2014/main" id="{B037650D-F837-44EC-8236-FA44C4E15C71}"/>
              </a:ext>
            </a:extLst>
          </p:cNvPr>
          <p:cNvPicPr>
            <a:picLocks noChangeAspect="1"/>
          </p:cNvPicPr>
          <p:nvPr/>
        </p:nvPicPr>
        <p:blipFill>
          <a:blip r:embed="rId2"/>
          <a:stretch>
            <a:fillRect/>
          </a:stretch>
        </p:blipFill>
        <p:spPr>
          <a:xfrm>
            <a:off x="3203848" y="1772816"/>
            <a:ext cx="5162815" cy="1656184"/>
          </a:xfrm>
          <a:prstGeom prst="rect">
            <a:avLst/>
          </a:prstGeom>
        </p:spPr>
      </p:pic>
      <p:pic>
        <p:nvPicPr>
          <p:cNvPr id="7" name="Image 6">
            <a:extLst>
              <a:ext uri="{FF2B5EF4-FFF2-40B4-BE49-F238E27FC236}">
                <a16:creationId xmlns:a16="http://schemas.microsoft.com/office/drawing/2014/main" id="{FD79CCED-813C-44CA-9DCC-A6102BAE0576}"/>
              </a:ext>
            </a:extLst>
          </p:cNvPr>
          <p:cNvPicPr>
            <a:picLocks noChangeAspect="1"/>
          </p:cNvPicPr>
          <p:nvPr/>
        </p:nvPicPr>
        <p:blipFill>
          <a:blip r:embed="rId3"/>
          <a:stretch>
            <a:fillRect/>
          </a:stretch>
        </p:blipFill>
        <p:spPr>
          <a:xfrm>
            <a:off x="3014479" y="4149080"/>
            <a:ext cx="5353325" cy="1009702"/>
          </a:xfrm>
          <a:prstGeom prst="rect">
            <a:avLst/>
          </a:prstGeom>
        </p:spPr>
      </p:pic>
    </p:spTree>
    <p:extLst>
      <p:ext uri="{BB962C8B-B14F-4D97-AF65-F5344CB8AC3E}">
        <p14:creationId xmlns:p14="http://schemas.microsoft.com/office/powerpoint/2010/main" val="3652302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984392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D768A4-4B47-4390-BDD0-0AD3CDD008CB}"/>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Exercice d’application</a:t>
            </a:r>
          </a:p>
        </p:txBody>
      </p:sp>
      <p:sp>
        <p:nvSpPr>
          <p:cNvPr id="4" name="Espace réservé du contenu 3">
            <a:extLst>
              <a:ext uri="{FF2B5EF4-FFF2-40B4-BE49-F238E27FC236}">
                <a16:creationId xmlns:a16="http://schemas.microsoft.com/office/drawing/2014/main" id="{DB8C8501-2113-4D12-B48F-5F2AFF5EF948}"/>
              </a:ext>
            </a:extLst>
          </p:cNvPr>
          <p:cNvSpPr txBox="1">
            <a:spLocks noGrp="1"/>
          </p:cNvSpPr>
          <p:nvPr>
            <p:ph idx="1"/>
          </p:nvPr>
        </p:nvSpPr>
        <p:spPr>
          <a:xfrm>
            <a:off x="1538" y="1124744"/>
            <a:ext cx="9142462" cy="5570756"/>
          </a:xfrm>
          <a:prstGeom prst="rect">
            <a:avLst/>
          </a:prstGeom>
          <a:noFill/>
        </p:spPr>
        <p:txBody>
          <a:bodyPr wrap="square" rtlCol="0">
            <a:spAutoFit/>
          </a:bodyPr>
          <a:lstStyle/>
          <a:p>
            <a:pPr marL="0" indent="0">
              <a:buNone/>
            </a:pPr>
            <a:r>
              <a:rPr lang="fr-FR" sz="2000" dirty="0">
                <a:latin typeface="Cambria" panose="02040503050406030204" pitchFamily="18" charset="0"/>
                <a:ea typeface="Cambria" panose="02040503050406030204" pitchFamily="18" charset="0"/>
              </a:rPr>
              <a:t>Les données ci-dessous représentent l’âge des visiteurs d’un site internet :</a:t>
            </a: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marL="0" indent="0">
              <a:buNone/>
            </a:pPr>
            <a:r>
              <a:rPr lang="fr-FR" sz="2000" dirty="0">
                <a:latin typeface="Cambria" panose="02040503050406030204" pitchFamily="18" charset="0"/>
                <a:ea typeface="Cambria" panose="02040503050406030204" pitchFamily="18" charset="0"/>
              </a:rPr>
              <a:t> </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coefficient de variation est inférieur à 25%</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coefficient de Pearson est positif</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mode est égal à 21.22 ans</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L’âge moyen est égal à 35.25 ans </a:t>
            </a:r>
          </a:p>
        </p:txBody>
      </p:sp>
      <p:pic>
        <p:nvPicPr>
          <p:cNvPr id="6" name="Image 5">
            <a:extLst>
              <a:ext uri="{FF2B5EF4-FFF2-40B4-BE49-F238E27FC236}">
                <a16:creationId xmlns:a16="http://schemas.microsoft.com/office/drawing/2014/main" id="{385013CD-D160-4EC1-8005-EFD72F1F0BDE}"/>
              </a:ext>
            </a:extLst>
          </p:cNvPr>
          <p:cNvPicPr>
            <a:picLocks noChangeAspect="1"/>
          </p:cNvPicPr>
          <p:nvPr/>
        </p:nvPicPr>
        <p:blipFill>
          <a:blip r:embed="rId2"/>
          <a:stretch>
            <a:fillRect/>
          </a:stretch>
        </p:blipFill>
        <p:spPr>
          <a:xfrm>
            <a:off x="2052228" y="1844824"/>
            <a:ext cx="5039544" cy="2232248"/>
          </a:xfrm>
          <a:prstGeom prst="rect">
            <a:avLst/>
          </a:prstGeom>
        </p:spPr>
      </p:pic>
    </p:spTree>
    <p:extLst>
      <p:ext uri="{BB962C8B-B14F-4D97-AF65-F5344CB8AC3E}">
        <p14:creationId xmlns:p14="http://schemas.microsoft.com/office/powerpoint/2010/main" val="270720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395944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D768A4-4B47-4390-BDD0-0AD3CDD008CB}"/>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Exercice d’application</a:t>
            </a:r>
          </a:p>
        </p:txBody>
      </p:sp>
      <p:sp>
        <p:nvSpPr>
          <p:cNvPr id="4" name="Espace réservé du contenu 3">
            <a:extLst>
              <a:ext uri="{FF2B5EF4-FFF2-40B4-BE49-F238E27FC236}">
                <a16:creationId xmlns:a16="http://schemas.microsoft.com/office/drawing/2014/main" id="{DB8C8501-2113-4D12-B48F-5F2AFF5EF948}"/>
              </a:ext>
            </a:extLst>
          </p:cNvPr>
          <p:cNvSpPr txBox="1">
            <a:spLocks noGrp="1"/>
          </p:cNvSpPr>
          <p:nvPr>
            <p:ph idx="1"/>
          </p:nvPr>
        </p:nvSpPr>
        <p:spPr>
          <a:xfrm>
            <a:off x="1538" y="1124744"/>
            <a:ext cx="9142462" cy="5570756"/>
          </a:xfrm>
          <a:prstGeom prst="rect">
            <a:avLst/>
          </a:prstGeom>
          <a:noFill/>
        </p:spPr>
        <p:txBody>
          <a:bodyPr wrap="square" rtlCol="0">
            <a:spAutoFit/>
          </a:bodyPr>
          <a:lstStyle/>
          <a:p>
            <a:pPr marL="0" indent="0">
              <a:buNone/>
            </a:pPr>
            <a:r>
              <a:rPr lang="fr-FR" sz="2000" dirty="0">
                <a:latin typeface="Cambria" panose="02040503050406030204" pitchFamily="18" charset="0"/>
                <a:ea typeface="Cambria" panose="02040503050406030204" pitchFamily="18" charset="0"/>
              </a:rPr>
              <a:t>Les données ci-dessous représentent l’âge des visiteurs d’un site internet :</a:t>
            </a: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marL="0" indent="0">
              <a:buNone/>
            </a:pPr>
            <a:endParaRPr lang="fr-FR" sz="20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premier quartile est égal à 31.233</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médiane est égale à 29.431</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troisième quartile est égale 36.28</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coefficient de Yule et Kendall est négatif </a:t>
            </a:r>
          </a:p>
        </p:txBody>
      </p:sp>
      <p:pic>
        <p:nvPicPr>
          <p:cNvPr id="6" name="Image 5">
            <a:extLst>
              <a:ext uri="{FF2B5EF4-FFF2-40B4-BE49-F238E27FC236}">
                <a16:creationId xmlns:a16="http://schemas.microsoft.com/office/drawing/2014/main" id="{385013CD-D160-4EC1-8005-EFD72F1F0BDE}"/>
              </a:ext>
            </a:extLst>
          </p:cNvPr>
          <p:cNvPicPr>
            <a:picLocks noChangeAspect="1"/>
          </p:cNvPicPr>
          <p:nvPr/>
        </p:nvPicPr>
        <p:blipFill>
          <a:blip r:embed="rId2"/>
          <a:stretch>
            <a:fillRect/>
          </a:stretch>
        </p:blipFill>
        <p:spPr>
          <a:xfrm>
            <a:off x="2052228" y="1844824"/>
            <a:ext cx="5039544" cy="2232248"/>
          </a:xfrm>
          <a:prstGeom prst="rect">
            <a:avLst/>
          </a:prstGeom>
        </p:spPr>
      </p:pic>
    </p:spTree>
    <p:extLst>
      <p:ext uri="{BB962C8B-B14F-4D97-AF65-F5344CB8AC3E}">
        <p14:creationId xmlns:p14="http://schemas.microsoft.com/office/powerpoint/2010/main" val="2440598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420883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ED741-9FC0-4920-95C4-950CC56AF35B}"/>
              </a:ext>
            </a:extLst>
          </p:cNvPr>
          <p:cNvSpPr>
            <a:spLocks noGrp="1"/>
          </p:cNvSpPr>
          <p:nvPr>
            <p:ph type="title"/>
          </p:nvPr>
        </p:nvSpPr>
        <p:spPr>
          <a:xfrm>
            <a:off x="457200" y="53752"/>
            <a:ext cx="8229600" cy="1143000"/>
          </a:xfrm>
        </p:spPr>
        <p:txBody>
          <a:bodyPr/>
          <a:lstStyle/>
          <a:p>
            <a:r>
              <a:rPr lang="fr-FR" sz="4400" dirty="0">
                <a:latin typeface="Cambria" panose="02040503050406030204" pitchFamily="18" charset="0"/>
                <a:ea typeface="Cambria" panose="02040503050406030204" pitchFamily="18" charset="0"/>
              </a:rPr>
              <a:t>Exercice d’application</a:t>
            </a:r>
            <a:endParaRPr lang="fr-FR" dirty="0"/>
          </a:p>
        </p:txBody>
      </p:sp>
      <p:sp>
        <p:nvSpPr>
          <p:cNvPr id="3" name="Espace réservé du contenu 2">
            <a:extLst>
              <a:ext uri="{FF2B5EF4-FFF2-40B4-BE49-F238E27FC236}">
                <a16:creationId xmlns:a16="http://schemas.microsoft.com/office/drawing/2014/main" id="{DD5D8AB6-C0B4-46D4-9A63-F313BD09795D}"/>
              </a:ext>
            </a:extLst>
          </p:cNvPr>
          <p:cNvSpPr>
            <a:spLocks noGrp="1"/>
          </p:cNvSpPr>
          <p:nvPr>
            <p:ph idx="1"/>
          </p:nvPr>
        </p:nvSpPr>
        <p:spPr>
          <a:xfrm>
            <a:off x="47625" y="1009476"/>
            <a:ext cx="9077325" cy="5791374"/>
          </a:xfrm>
        </p:spPr>
        <p:txBody>
          <a:bodyPr/>
          <a:lstStyle/>
          <a:p>
            <a:pPr marL="0" indent="0">
              <a:buNone/>
            </a:pPr>
            <a:r>
              <a:rPr lang="fr-FR" sz="2000" dirty="0">
                <a:latin typeface="Cambria" panose="02040503050406030204" pitchFamily="18" charset="0"/>
                <a:ea typeface="Cambria" panose="02040503050406030204" pitchFamily="18" charset="0"/>
              </a:rPr>
              <a:t>Les données ci-dessous représentent le nombre des produits achetés lors de la visite de 100 visiteurs d’un  centre commercial :</a:t>
            </a: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La moyenne est égale à 2</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coefficient de Pearson est négatif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L’écart-type est égal à 1.470238</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coefficient de variation est supérieur à 95%</a:t>
            </a:r>
          </a:p>
        </p:txBody>
      </p:sp>
      <p:graphicFrame>
        <p:nvGraphicFramePr>
          <p:cNvPr id="4" name="Tableau 4">
            <a:extLst>
              <a:ext uri="{FF2B5EF4-FFF2-40B4-BE49-F238E27FC236}">
                <a16:creationId xmlns:a16="http://schemas.microsoft.com/office/drawing/2014/main" id="{29778709-180E-49EC-AB31-E4E6271C9889}"/>
              </a:ext>
            </a:extLst>
          </p:cNvPr>
          <p:cNvGraphicFramePr>
            <a:graphicFrameLocks noGrp="1"/>
          </p:cNvGraphicFramePr>
          <p:nvPr>
            <p:extLst>
              <p:ext uri="{D42A27DB-BD31-4B8C-83A1-F6EECF244321}">
                <p14:modId xmlns:p14="http://schemas.microsoft.com/office/powerpoint/2010/main" val="1635811472"/>
              </p:ext>
            </p:extLst>
          </p:nvPr>
        </p:nvGraphicFramePr>
        <p:xfrm>
          <a:off x="1187624" y="1977842"/>
          <a:ext cx="6600056" cy="2225040"/>
        </p:xfrm>
        <a:graphic>
          <a:graphicData uri="http://schemas.openxmlformats.org/drawingml/2006/table">
            <a:tbl>
              <a:tblPr firstRow="1" bandRow="1">
                <a:tableStyleId>{5C22544A-7EE6-4342-B048-85BDC9FD1C3A}</a:tableStyleId>
              </a:tblPr>
              <a:tblGrid>
                <a:gridCol w="3552056">
                  <a:extLst>
                    <a:ext uri="{9D8B030D-6E8A-4147-A177-3AD203B41FA5}">
                      <a16:colId xmlns:a16="http://schemas.microsoft.com/office/drawing/2014/main" val="3092902957"/>
                    </a:ext>
                  </a:extLst>
                </a:gridCol>
                <a:gridCol w="3048000">
                  <a:extLst>
                    <a:ext uri="{9D8B030D-6E8A-4147-A177-3AD203B41FA5}">
                      <a16:colId xmlns:a16="http://schemas.microsoft.com/office/drawing/2014/main" val="1933152891"/>
                    </a:ext>
                  </a:extLst>
                </a:gridCol>
              </a:tblGrid>
              <a:tr h="370840">
                <a:tc>
                  <a:txBody>
                    <a:bodyPr/>
                    <a:lstStyle/>
                    <a:p>
                      <a:r>
                        <a:rPr lang="fr-FR" dirty="0">
                          <a:latin typeface="Cambria" panose="02040503050406030204" pitchFamily="18" charset="0"/>
                          <a:ea typeface="Cambria" panose="02040503050406030204" pitchFamily="18" charset="0"/>
                        </a:rPr>
                        <a:t>Nombre des produits achetés</a:t>
                      </a:r>
                    </a:p>
                  </a:txBody>
                  <a:tcPr/>
                </a:tc>
                <a:tc>
                  <a:txBody>
                    <a:bodyPr/>
                    <a:lstStyle/>
                    <a:p>
                      <a:r>
                        <a:rPr lang="fr-FR" dirty="0">
                          <a:latin typeface="Cambria" panose="02040503050406030204" pitchFamily="18" charset="0"/>
                          <a:ea typeface="Cambria" panose="02040503050406030204" pitchFamily="18" charset="0"/>
                        </a:rPr>
                        <a:t>Nombre des visiteurs</a:t>
                      </a:r>
                    </a:p>
                  </a:txBody>
                  <a:tcPr/>
                </a:tc>
                <a:extLst>
                  <a:ext uri="{0D108BD9-81ED-4DB2-BD59-A6C34878D82A}">
                    <a16:rowId xmlns:a16="http://schemas.microsoft.com/office/drawing/2014/main" val="2940949208"/>
                  </a:ext>
                </a:extLst>
              </a:tr>
              <a:tr h="370840">
                <a:tc>
                  <a:txBody>
                    <a:bodyPr/>
                    <a:lstStyle/>
                    <a:p>
                      <a:r>
                        <a:rPr lang="fr-FR" dirty="0">
                          <a:latin typeface="Cambria" panose="02040503050406030204" pitchFamily="18" charset="0"/>
                          <a:ea typeface="Cambria" panose="02040503050406030204" pitchFamily="18" charset="0"/>
                        </a:rPr>
                        <a:t>0</a:t>
                      </a:r>
                    </a:p>
                  </a:txBody>
                  <a:tcPr/>
                </a:tc>
                <a:tc>
                  <a:txBody>
                    <a:bodyPr/>
                    <a:lstStyle/>
                    <a:p>
                      <a:r>
                        <a:rPr lang="fr-FR" dirty="0">
                          <a:latin typeface="Cambria" panose="02040503050406030204" pitchFamily="18" charset="0"/>
                          <a:ea typeface="Cambria" panose="02040503050406030204" pitchFamily="18" charset="0"/>
                        </a:rPr>
                        <a:t>20</a:t>
                      </a:r>
                    </a:p>
                  </a:txBody>
                  <a:tcPr/>
                </a:tc>
                <a:extLst>
                  <a:ext uri="{0D108BD9-81ED-4DB2-BD59-A6C34878D82A}">
                    <a16:rowId xmlns:a16="http://schemas.microsoft.com/office/drawing/2014/main" val="281738957"/>
                  </a:ext>
                </a:extLst>
              </a:tr>
              <a:tr h="370840">
                <a:tc>
                  <a:txBody>
                    <a:bodyPr/>
                    <a:lstStyle/>
                    <a:p>
                      <a:r>
                        <a:rPr lang="fr-FR" dirty="0">
                          <a:latin typeface="Cambria" panose="02040503050406030204" pitchFamily="18" charset="0"/>
                          <a:ea typeface="Cambria" panose="02040503050406030204" pitchFamily="18" charset="0"/>
                        </a:rPr>
                        <a:t>1</a:t>
                      </a:r>
                    </a:p>
                  </a:txBody>
                  <a:tcPr/>
                </a:tc>
                <a:tc>
                  <a:txBody>
                    <a:bodyPr/>
                    <a:lstStyle/>
                    <a:p>
                      <a:r>
                        <a:rPr lang="fr-FR" dirty="0">
                          <a:latin typeface="Cambria" panose="02040503050406030204" pitchFamily="18" charset="0"/>
                          <a:ea typeface="Cambria" panose="02040503050406030204" pitchFamily="18" charset="0"/>
                        </a:rPr>
                        <a:t>35</a:t>
                      </a:r>
                    </a:p>
                  </a:txBody>
                  <a:tcPr/>
                </a:tc>
                <a:extLst>
                  <a:ext uri="{0D108BD9-81ED-4DB2-BD59-A6C34878D82A}">
                    <a16:rowId xmlns:a16="http://schemas.microsoft.com/office/drawing/2014/main" val="2177175961"/>
                  </a:ext>
                </a:extLst>
              </a:tr>
              <a:tr h="370840">
                <a:tc>
                  <a:txBody>
                    <a:bodyPr/>
                    <a:lstStyle/>
                    <a:p>
                      <a:r>
                        <a:rPr lang="fr-FR" dirty="0">
                          <a:latin typeface="Cambria" panose="02040503050406030204" pitchFamily="18" charset="0"/>
                          <a:ea typeface="Cambria" panose="02040503050406030204" pitchFamily="18" charset="0"/>
                        </a:rPr>
                        <a:t>2</a:t>
                      </a:r>
                    </a:p>
                  </a:txBody>
                  <a:tcPr/>
                </a:tc>
                <a:tc>
                  <a:txBody>
                    <a:bodyPr/>
                    <a:lstStyle/>
                    <a:p>
                      <a:r>
                        <a:rPr lang="fr-FR" dirty="0">
                          <a:latin typeface="Cambria" panose="02040503050406030204" pitchFamily="18" charset="0"/>
                          <a:ea typeface="Cambria" panose="02040503050406030204" pitchFamily="18" charset="0"/>
                        </a:rPr>
                        <a:t>24</a:t>
                      </a:r>
                    </a:p>
                  </a:txBody>
                  <a:tcPr/>
                </a:tc>
                <a:extLst>
                  <a:ext uri="{0D108BD9-81ED-4DB2-BD59-A6C34878D82A}">
                    <a16:rowId xmlns:a16="http://schemas.microsoft.com/office/drawing/2014/main" val="787455244"/>
                  </a:ext>
                </a:extLst>
              </a:tr>
              <a:tr h="370840">
                <a:tc>
                  <a:txBody>
                    <a:bodyPr/>
                    <a:lstStyle/>
                    <a:p>
                      <a:r>
                        <a:rPr lang="fr-FR" dirty="0">
                          <a:latin typeface="Cambria" panose="02040503050406030204" pitchFamily="18" charset="0"/>
                          <a:ea typeface="Cambria" panose="02040503050406030204" pitchFamily="18" charset="0"/>
                        </a:rPr>
                        <a:t>4</a:t>
                      </a:r>
                    </a:p>
                  </a:txBody>
                  <a:tcPr/>
                </a:tc>
                <a:tc>
                  <a:txBody>
                    <a:bodyPr/>
                    <a:lstStyle/>
                    <a:p>
                      <a:r>
                        <a:rPr lang="fr-FR" dirty="0">
                          <a:latin typeface="Cambria" panose="02040503050406030204" pitchFamily="18" charset="0"/>
                          <a:ea typeface="Cambria" panose="02040503050406030204" pitchFamily="18" charset="0"/>
                        </a:rPr>
                        <a:t>16</a:t>
                      </a:r>
                    </a:p>
                  </a:txBody>
                  <a:tcPr/>
                </a:tc>
                <a:extLst>
                  <a:ext uri="{0D108BD9-81ED-4DB2-BD59-A6C34878D82A}">
                    <a16:rowId xmlns:a16="http://schemas.microsoft.com/office/drawing/2014/main" val="896779349"/>
                  </a:ext>
                </a:extLst>
              </a:tr>
              <a:tr h="370840">
                <a:tc>
                  <a:txBody>
                    <a:bodyPr/>
                    <a:lstStyle/>
                    <a:p>
                      <a:r>
                        <a:rPr lang="fr-FR" dirty="0">
                          <a:latin typeface="Cambria" panose="02040503050406030204" pitchFamily="18" charset="0"/>
                          <a:ea typeface="Cambria" panose="02040503050406030204" pitchFamily="18" charset="0"/>
                        </a:rPr>
                        <a:t>5</a:t>
                      </a:r>
                    </a:p>
                  </a:txBody>
                  <a:tcPr/>
                </a:tc>
                <a:tc>
                  <a:txBody>
                    <a:bodyPr/>
                    <a:lstStyle/>
                    <a:p>
                      <a:r>
                        <a:rPr lang="fr-FR" dirty="0">
                          <a:latin typeface="Cambria" panose="02040503050406030204" pitchFamily="18" charset="0"/>
                          <a:ea typeface="Cambria" panose="02040503050406030204" pitchFamily="18" charset="0"/>
                        </a:rPr>
                        <a:t>5</a:t>
                      </a:r>
                    </a:p>
                  </a:txBody>
                  <a:tcPr/>
                </a:tc>
                <a:extLst>
                  <a:ext uri="{0D108BD9-81ED-4DB2-BD59-A6C34878D82A}">
                    <a16:rowId xmlns:a16="http://schemas.microsoft.com/office/drawing/2014/main" val="1650868847"/>
                  </a:ext>
                </a:extLst>
              </a:tr>
            </a:tbl>
          </a:graphicData>
        </a:graphic>
      </p:graphicFrame>
    </p:spTree>
    <p:extLst>
      <p:ext uri="{BB962C8B-B14F-4D97-AF65-F5344CB8AC3E}">
        <p14:creationId xmlns:p14="http://schemas.microsoft.com/office/powerpoint/2010/main" val="2330945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407138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ED741-9FC0-4920-95C4-950CC56AF35B}"/>
              </a:ext>
            </a:extLst>
          </p:cNvPr>
          <p:cNvSpPr>
            <a:spLocks noGrp="1"/>
          </p:cNvSpPr>
          <p:nvPr>
            <p:ph type="title"/>
          </p:nvPr>
        </p:nvSpPr>
        <p:spPr>
          <a:xfrm>
            <a:off x="457200" y="53752"/>
            <a:ext cx="8229600" cy="1143000"/>
          </a:xfrm>
        </p:spPr>
        <p:txBody>
          <a:bodyPr/>
          <a:lstStyle/>
          <a:p>
            <a:r>
              <a:rPr lang="fr-FR" sz="4400" dirty="0">
                <a:latin typeface="Cambria" panose="02040503050406030204" pitchFamily="18" charset="0"/>
                <a:ea typeface="Cambria" panose="02040503050406030204" pitchFamily="18" charset="0"/>
              </a:rPr>
              <a:t>Exercice d’application</a:t>
            </a:r>
            <a:endParaRPr lang="fr-FR" dirty="0"/>
          </a:p>
        </p:txBody>
      </p:sp>
      <p:sp>
        <p:nvSpPr>
          <p:cNvPr id="3" name="Espace réservé du contenu 2">
            <a:extLst>
              <a:ext uri="{FF2B5EF4-FFF2-40B4-BE49-F238E27FC236}">
                <a16:creationId xmlns:a16="http://schemas.microsoft.com/office/drawing/2014/main" id="{DD5D8AB6-C0B4-46D4-9A63-F313BD09795D}"/>
              </a:ext>
            </a:extLst>
          </p:cNvPr>
          <p:cNvSpPr>
            <a:spLocks noGrp="1"/>
          </p:cNvSpPr>
          <p:nvPr>
            <p:ph idx="1"/>
          </p:nvPr>
        </p:nvSpPr>
        <p:spPr>
          <a:xfrm>
            <a:off x="47625" y="1009476"/>
            <a:ext cx="9077325" cy="5791374"/>
          </a:xfrm>
        </p:spPr>
        <p:txBody>
          <a:bodyPr/>
          <a:lstStyle/>
          <a:p>
            <a:pPr marL="0" indent="0">
              <a:buNone/>
            </a:pPr>
            <a:r>
              <a:rPr lang="fr-FR" sz="2000" dirty="0">
                <a:latin typeface="Cambria" panose="02040503050406030204" pitchFamily="18" charset="0"/>
                <a:ea typeface="Cambria" panose="02040503050406030204" pitchFamily="18" charset="0"/>
              </a:rPr>
              <a:t>Les données ci-dessous représentent le nombre des produits achetés lors de la visite de 100 visiteurs d’un  centre commercial :</a:t>
            </a: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premier quartile est égal à 0</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La médiane est égale à 2</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coefficient de Yule et Kendall est Positif</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L’écart interquartile est égal à 2</a:t>
            </a:r>
          </a:p>
        </p:txBody>
      </p:sp>
      <p:graphicFrame>
        <p:nvGraphicFramePr>
          <p:cNvPr id="4" name="Tableau 4">
            <a:extLst>
              <a:ext uri="{FF2B5EF4-FFF2-40B4-BE49-F238E27FC236}">
                <a16:creationId xmlns:a16="http://schemas.microsoft.com/office/drawing/2014/main" id="{29778709-180E-49EC-AB31-E4E6271C9889}"/>
              </a:ext>
            </a:extLst>
          </p:cNvPr>
          <p:cNvGraphicFramePr>
            <a:graphicFrameLocks noGrp="1"/>
          </p:cNvGraphicFramePr>
          <p:nvPr/>
        </p:nvGraphicFramePr>
        <p:xfrm>
          <a:off x="1187624" y="1977842"/>
          <a:ext cx="6600056" cy="2225040"/>
        </p:xfrm>
        <a:graphic>
          <a:graphicData uri="http://schemas.openxmlformats.org/drawingml/2006/table">
            <a:tbl>
              <a:tblPr firstRow="1" bandRow="1">
                <a:tableStyleId>{5C22544A-7EE6-4342-B048-85BDC9FD1C3A}</a:tableStyleId>
              </a:tblPr>
              <a:tblGrid>
                <a:gridCol w="3552056">
                  <a:extLst>
                    <a:ext uri="{9D8B030D-6E8A-4147-A177-3AD203B41FA5}">
                      <a16:colId xmlns:a16="http://schemas.microsoft.com/office/drawing/2014/main" val="3092902957"/>
                    </a:ext>
                  </a:extLst>
                </a:gridCol>
                <a:gridCol w="3048000">
                  <a:extLst>
                    <a:ext uri="{9D8B030D-6E8A-4147-A177-3AD203B41FA5}">
                      <a16:colId xmlns:a16="http://schemas.microsoft.com/office/drawing/2014/main" val="1933152891"/>
                    </a:ext>
                  </a:extLst>
                </a:gridCol>
              </a:tblGrid>
              <a:tr h="370840">
                <a:tc>
                  <a:txBody>
                    <a:bodyPr/>
                    <a:lstStyle/>
                    <a:p>
                      <a:r>
                        <a:rPr lang="fr-FR" dirty="0">
                          <a:latin typeface="Cambria" panose="02040503050406030204" pitchFamily="18" charset="0"/>
                          <a:ea typeface="Cambria" panose="02040503050406030204" pitchFamily="18" charset="0"/>
                        </a:rPr>
                        <a:t>Nombre des produits achetés</a:t>
                      </a:r>
                    </a:p>
                  </a:txBody>
                  <a:tcPr/>
                </a:tc>
                <a:tc>
                  <a:txBody>
                    <a:bodyPr/>
                    <a:lstStyle/>
                    <a:p>
                      <a:r>
                        <a:rPr lang="fr-FR" dirty="0">
                          <a:latin typeface="Cambria" panose="02040503050406030204" pitchFamily="18" charset="0"/>
                          <a:ea typeface="Cambria" panose="02040503050406030204" pitchFamily="18" charset="0"/>
                        </a:rPr>
                        <a:t>Nombre des visiteurs</a:t>
                      </a:r>
                    </a:p>
                  </a:txBody>
                  <a:tcPr/>
                </a:tc>
                <a:extLst>
                  <a:ext uri="{0D108BD9-81ED-4DB2-BD59-A6C34878D82A}">
                    <a16:rowId xmlns:a16="http://schemas.microsoft.com/office/drawing/2014/main" val="2940949208"/>
                  </a:ext>
                </a:extLst>
              </a:tr>
              <a:tr h="370840">
                <a:tc>
                  <a:txBody>
                    <a:bodyPr/>
                    <a:lstStyle/>
                    <a:p>
                      <a:r>
                        <a:rPr lang="fr-FR" dirty="0">
                          <a:latin typeface="Cambria" panose="02040503050406030204" pitchFamily="18" charset="0"/>
                          <a:ea typeface="Cambria" panose="02040503050406030204" pitchFamily="18" charset="0"/>
                        </a:rPr>
                        <a:t>0</a:t>
                      </a:r>
                    </a:p>
                  </a:txBody>
                  <a:tcPr/>
                </a:tc>
                <a:tc>
                  <a:txBody>
                    <a:bodyPr/>
                    <a:lstStyle/>
                    <a:p>
                      <a:r>
                        <a:rPr lang="fr-FR" dirty="0">
                          <a:latin typeface="Cambria" panose="02040503050406030204" pitchFamily="18" charset="0"/>
                          <a:ea typeface="Cambria" panose="02040503050406030204" pitchFamily="18" charset="0"/>
                        </a:rPr>
                        <a:t>20</a:t>
                      </a:r>
                    </a:p>
                  </a:txBody>
                  <a:tcPr/>
                </a:tc>
                <a:extLst>
                  <a:ext uri="{0D108BD9-81ED-4DB2-BD59-A6C34878D82A}">
                    <a16:rowId xmlns:a16="http://schemas.microsoft.com/office/drawing/2014/main" val="281738957"/>
                  </a:ext>
                </a:extLst>
              </a:tr>
              <a:tr h="370840">
                <a:tc>
                  <a:txBody>
                    <a:bodyPr/>
                    <a:lstStyle/>
                    <a:p>
                      <a:r>
                        <a:rPr lang="fr-FR" dirty="0">
                          <a:latin typeface="Cambria" panose="02040503050406030204" pitchFamily="18" charset="0"/>
                          <a:ea typeface="Cambria" panose="02040503050406030204" pitchFamily="18" charset="0"/>
                        </a:rPr>
                        <a:t>1</a:t>
                      </a:r>
                    </a:p>
                  </a:txBody>
                  <a:tcPr/>
                </a:tc>
                <a:tc>
                  <a:txBody>
                    <a:bodyPr/>
                    <a:lstStyle/>
                    <a:p>
                      <a:r>
                        <a:rPr lang="fr-FR" dirty="0">
                          <a:latin typeface="Cambria" panose="02040503050406030204" pitchFamily="18" charset="0"/>
                          <a:ea typeface="Cambria" panose="02040503050406030204" pitchFamily="18" charset="0"/>
                        </a:rPr>
                        <a:t>35</a:t>
                      </a:r>
                    </a:p>
                  </a:txBody>
                  <a:tcPr/>
                </a:tc>
                <a:extLst>
                  <a:ext uri="{0D108BD9-81ED-4DB2-BD59-A6C34878D82A}">
                    <a16:rowId xmlns:a16="http://schemas.microsoft.com/office/drawing/2014/main" val="2177175961"/>
                  </a:ext>
                </a:extLst>
              </a:tr>
              <a:tr h="370840">
                <a:tc>
                  <a:txBody>
                    <a:bodyPr/>
                    <a:lstStyle/>
                    <a:p>
                      <a:r>
                        <a:rPr lang="fr-FR" dirty="0">
                          <a:latin typeface="Cambria" panose="02040503050406030204" pitchFamily="18" charset="0"/>
                          <a:ea typeface="Cambria" panose="02040503050406030204" pitchFamily="18" charset="0"/>
                        </a:rPr>
                        <a:t>2</a:t>
                      </a:r>
                    </a:p>
                  </a:txBody>
                  <a:tcPr/>
                </a:tc>
                <a:tc>
                  <a:txBody>
                    <a:bodyPr/>
                    <a:lstStyle/>
                    <a:p>
                      <a:r>
                        <a:rPr lang="fr-FR" dirty="0">
                          <a:latin typeface="Cambria" panose="02040503050406030204" pitchFamily="18" charset="0"/>
                          <a:ea typeface="Cambria" panose="02040503050406030204" pitchFamily="18" charset="0"/>
                        </a:rPr>
                        <a:t>24</a:t>
                      </a:r>
                    </a:p>
                  </a:txBody>
                  <a:tcPr/>
                </a:tc>
                <a:extLst>
                  <a:ext uri="{0D108BD9-81ED-4DB2-BD59-A6C34878D82A}">
                    <a16:rowId xmlns:a16="http://schemas.microsoft.com/office/drawing/2014/main" val="787455244"/>
                  </a:ext>
                </a:extLst>
              </a:tr>
              <a:tr h="370840">
                <a:tc>
                  <a:txBody>
                    <a:bodyPr/>
                    <a:lstStyle/>
                    <a:p>
                      <a:r>
                        <a:rPr lang="fr-FR" dirty="0">
                          <a:latin typeface="Cambria" panose="02040503050406030204" pitchFamily="18" charset="0"/>
                          <a:ea typeface="Cambria" panose="02040503050406030204" pitchFamily="18" charset="0"/>
                        </a:rPr>
                        <a:t>4</a:t>
                      </a:r>
                    </a:p>
                  </a:txBody>
                  <a:tcPr/>
                </a:tc>
                <a:tc>
                  <a:txBody>
                    <a:bodyPr/>
                    <a:lstStyle/>
                    <a:p>
                      <a:r>
                        <a:rPr lang="fr-FR" dirty="0">
                          <a:latin typeface="Cambria" panose="02040503050406030204" pitchFamily="18" charset="0"/>
                          <a:ea typeface="Cambria" panose="02040503050406030204" pitchFamily="18" charset="0"/>
                        </a:rPr>
                        <a:t>16</a:t>
                      </a:r>
                    </a:p>
                  </a:txBody>
                  <a:tcPr/>
                </a:tc>
                <a:extLst>
                  <a:ext uri="{0D108BD9-81ED-4DB2-BD59-A6C34878D82A}">
                    <a16:rowId xmlns:a16="http://schemas.microsoft.com/office/drawing/2014/main" val="896779349"/>
                  </a:ext>
                </a:extLst>
              </a:tr>
              <a:tr h="370840">
                <a:tc>
                  <a:txBody>
                    <a:bodyPr/>
                    <a:lstStyle/>
                    <a:p>
                      <a:r>
                        <a:rPr lang="fr-FR" dirty="0">
                          <a:latin typeface="Cambria" panose="02040503050406030204" pitchFamily="18" charset="0"/>
                          <a:ea typeface="Cambria" panose="02040503050406030204" pitchFamily="18" charset="0"/>
                        </a:rPr>
                        <a:t>5</a:t>
                      </a:r>
                    </a:p>
                  </a:txBody>
                  <a:tcPr/>
                </a:tc>
                <a:tc>
                  <a:txBody>
                    <a:bodyPr/>
                    <a:lstStyle/>
                    <a:p>
                      <a:r>
                        <a:rPr lang="fr-FR" dirty="0">
                          <a:latin typeface="Cambria" panose="02040503050406030204" pitchFamily="18" charset="0"/>
                          <a:ea typeface="Cambria" panose="02040503050406030204" pitchFamily="18" charset="0"/>
                        </a:rPr>
                        <a:t>5</a:t>
                      </a:r>
                    </a:p>
                  </a:txBody>
                  <a:tcPr/>
                </a:tc>
                <a:extLst>
                  <a:ext uri="{0D108BD9-81ED-4DB2-BD59-A6C34878D82A}">
                    <a16:rowId xmlns:a16="http://schemas.microsoft.com/office/drawing/2014/main" val="1650868847"/>
                  </a:ext>
                </a:extLst>
              </a:tr>
            </a:tbl>
          </a:graphicData>
        </a:graphic>
      </p:graphicFrame>
    </p:spTree>
    <p:extLst>
      <p:ext uri="{BB962C8B-B14F-4D97-AF65-F5344CB8AC3E}">
        <p14:creationId xmlns:p14="http://schemas.microsoft.com/office/powerpoint/2010/main" val="3768866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C1179-95A1-40D3-B067-AE783802B945}"/>
              </a:ext>
            </a:extLst>
          </p:cNvPr>
          <p:cNvSpPr>
            <a:spLocks noGrp="1"/>
          </p:cNvSpPr>
          <p:nvPr>
            <p:ph type="title"/>
          </p:nvPr>
        </p:nvSpPr>
        <p:spPr/>
        <p:txBody>
          <a:bodyPr/>
          <a:lstStyle/>
          <a:p>
            <a:r>
              <a:rPr lang="fr-FR" dirty="0"/>
              <a:t>Note </a:t>
            </a:r>
          </a:p>
        </p:txBody>
      </p:sp>
      <p:sp>
        <p:nvSpPr>
          <p:cNvPr id="4" name="ZoneTexte 3">
            <a:extLst>
              <a:ext uri="{FF2B5EF4-FFF2-40B4-BE49-F238E27FC236}">
                <a16:creationId xmlns:a16="http://schemas.microsoft.com/office/drawing/2014/main" id="{8CB100CD-01C7-468F-B9C2-79C4537CF209}"/>
              </a:ext>
            </a:extLst>
          </p:cNvPr>
          <p:cNvSpPr txBox="1"/>
          <p:nvPr/>
        </p:nvSpPr>
        <p:spPr>
          <a:xfrm>
            <a:off x="611560" y="1700808"/>
            <a:ext cx="792088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4973222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9924D1ECC420D47A2456556BC94F7370400BDF4491DEA4973499845289601F88B9F" ma:contentTypeVersion="55" ma:contentTypeDescription="Create a new document." ma:contentTypeScope="" ma:versionID="41eb558a2b826e6e4f9defd990175bec">
  <xsd:schema xmlns:xsd="http://www.w3.org/2001/XMLSchema" xmlns:xs="http://www.w3.org/2001/XMLSchema" xmlns:p="http://schemas.microsoft.com/office/2006/metadata/properties" xmlns:ns2="6d93d202-47fc-4405-873a-cab67cc5f1b2" xmlns:ns3="64acb2c5-0a2b-4bda-bd34-58e36cbb80d2" targetNamespace="http://schemas.microsoft.com/office/2006/metadata/properties" ma:root="true" ma:fieldsID="19deea0185cf7bc57eee9b90b1ba2ace" ns2:_="" ns3:_="">
    <xsd:import namespace="6d93d202-47fc-4405-873a-cab67cc5f1b2"/>
    <xsd:import namespace="64acb2c5-0a2b-4bda-bd34-58e36cbb80d2"/>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element ref="ns3:Description0" minOccurs="0"/>
                <xsd:element ref="ns3:Compon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93d202-47fc-4405-873a-cab67cc5f1b2"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0:00:00Z"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dc79c007-7f28-4db9-9ba1-525d19a3279b}"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80C6DD30-196A-4C6B-B1BF-A43F3B8ACD4F}" ma:internalName="CSXSubmissionMarket" ma:readOnly="false" ma:showField="MarketName" ma:web="6d93d202-47fc-4405-873a-cab67cc5f1b2">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bb16b974-ed24-4278-8820-8e232d38904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7E2D4CA2-442A-4FDA-AA57-71B8C7B2C53C}" ma:internalName="InProjectListLookup" ma:readOnly="true" ma:showField="InProjectLis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fd9a49dc-3dbf-4047-b62d-1d587abe7b40}"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7E2D4CA2-442A-4FDA-AA57-71B8C7B2C53C}" ma:internalName="LastCompleteVersionLookup" ma:readOnly="true" ma:showField="LastComplete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7E2D4CA2-442A-4FDA-AA57-71B8C7B2C53C}" ma:internalName="LastPreviewErrorLookup" ma:readOnly="true" ma:showField="LastPreview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7E2D4CA2-442A-4FDA-AA57-71B8C7B2C53C}" ma:internalName="LastPreviewResultLookup" ma:readOnly="true" ma:showField="LastPreview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7E2D4CA2-442A-4FDA-AA57-71B8C7B2C53C}" ma:internalName="LastPreviewAttemptDateLookup" ma:readOnly="true" ma:showField="LastPreview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7E2D4CA2-442A-4FDA-AA57-71B8C7B2C53C}" ma:internalName="LastPreviewedByLookup" ma:readOnly="true" ma:showField="LastPreview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7E2D4CA2-442A-4FDA-AA57-71B8C7B2C53C}" ma:internalName="LastPreviewTimeLookup" ma:readOnly="true" ma:showField="LastPreview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7E2D4CA2-442A-4FDA-AA57-71B8C7B2C53C}" ma:internalName="LastPreviewVersionLookup" ma:readOnly="true" ma:showField="LastPreview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7E2D4CA2-442A-4FDA-AA57-71B8C7B2C53C}" ma:internalName="LastPublishErrorLookup" ma:readOnly="true" ma:showField="LastPublish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7E2D4CA2-442A-4FDA-AA57-71B8C7B2C53C}" ma:internalName="LastPublishResultLookup" ma:readOnly="true" ma:showField="LastPublish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7E2D4CA2-442A-4FDA-AA57-71B8C7B2C53C}" ma:internalName="LastPublishAttemptDateLookup" ma:readOnly="true" ma:showField="LastPublish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7E2D4CA2-442A-4FDA-AA57-71B8C7B2C53C}" ma:internalName="LastPublishedByLookup" ma:readOnly="true" ma:showField="LastPublish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7E2D4CA2-442A-4FDA-AA57-71B8C7B2C53C}" ma:internalName="LastPublishTimeLookup" ma:readOnly="true" ma:showField="LastPublish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7E2D4CA2-442A-4FDA-AA57-71B8C7B2C53C}" ma:internalName="LastPublishVersionLookup" ma:readOnly="true" ma:showField="LastPublish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4CDE398E-75A7-4993-8C61-2BFD31F64754}" ma:internalName="LocLastLocAttemptVersionLookup" ma:readOnly="false" ma:showField="LastLocAttemptVersion" ma:web="6d93d202-47fc-4405-873a-cab67cc5f1b2">
      <xsd:simpleType>
        <xsd:restriction base="dms:Lookup"/>
      </xsd:simpleType>
    </xsd:element>
    <xsd:element name="LocLastLocAttemptVersionTypeLookup" ma:index="72" nillable="true" ma:displayName="Loc Last Loc Attempt Version Type" ma:default="" ma:list="{4CDE398E-75A7-4993-8C61-2BFD31F64754}" ma:internalName="LocLastLocAttemptVersionTypeLookup" ma:readOnly="true" ma:showField="LastLocAttemptVersionType" ma:web="6d93d202-47fc-4405-873a-cab67cc5f1b2">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4CDE398E-75A7-4993-8C61-2BFD31F64754}" ma:internalName="LocNewPublishedVersionLookup" ma:readOnly="true" ma:showField="NewPublishedVersion" ma:web="6d93d202-47fc-4405-873a-cab67cc5f1b2">
      <xsd:simpleType>
        <xsd:restriction base="dms:Lookup"/>
      </xsd:simpleType>
    </xsd:element>
    <xsd:element name="LocOverallHandbackStatusLookup" ma:index="76" nillable="true" ma:displayName="Loc Overall Handback Status" ma:default="" ma:list="{4CDE398E-75A7-4993-8C61-2BFD31F64754}" ma:internalName="LocOverallHandbackStatusLookup" ma:readOnly="true" ma:showField="OverallHandbackStatus" ma:web="6d93d202-47fc-4405-873a-cab67cc5f1b2">
      <xsd:simpleType>
        <xsd:restriction base="dms:Lookup"/>
      </xsd:simpleType>
    </xsd:element>
    <xsd:element name="LocOverallLocStatusLookup" ma:index="77" nillable="true" ma:displayName="Loc Overall Localize Status" ma:default="" ma:list="{4CDE398E-75A7-4993-8C61-2BFD31F64754}" ma:internalName="LocOverallLocStatusLookup" ma:readOnly="true" ma:showField="OverallLocStatus" ma:web="6d93d202-47fc-4405-873a-cab67cc5f1b2">
      <xsd:simpleType>
        <xsd:restriction base="dms:Lookup"/>
      </xsd:simpleType>
    </xsd:element>
    <xsd:element name="LocOverallPreviewStatusLookup" ma:index="78" nillable="true" ma:displayName="Loc Overall Preview Status" ma:default="" ma:list="{4CDE398E-75A7-4993-8C61-2BFD31F64754}" ma:internalName="LocOverallPreviewStatusLookup" ma:readOnly="true" ma:showField="OverallPreviewStatus" ma:web="6d93d202-47fc-4405-873a-cab67cc5f1b2">
      <xsd:simpleType>
        <xsd:restriction base="dms:Lookup"/>
      </xsd:simpleType>
    </xsd:element>
    <xsd:element name="LocOverallPublishStatusLookup" ma:index="79" nillable="true" ma:displayName="Loc Overall Publish Status" ma:default="" ma:list="{4CDE398E-75A7-4993-8C61-2BFD31F64754}" ma:internalName="LocOverallPublishStatusLookup" ma:readOnly="true" ma:showField="OverallPublishStatus" ma:web="6d93d202-47fc-4405-873a-cab67cc5f1b2">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4CDE398E-75A7-4993-8C61-2BFD31F64754}" ma:internalName="LocProcessedForHandoffsLookup" ma:readOnly="true" ma:showField="ProcessedForHandoffs" ma:web="6d93d202-47fc-4405-873a-cab67cc5f1b2">
      <xsd:simpleType>
        <xsd:restriction base="dms:Lookup"/>
      </xsd:simpleType>
    </xsd:element>
    <xsd:element name="LocProcessedForMarketsLookup" ma:index="82" nillable="true" ma:displayName="Loc Processed For Markets" ma:default="" ma:list="{4CDE398E-75A7-4993-8C61-2BFD31F64754}" ma:internalName="LocProcessedForMarketsLookup" ma:readOnly="true" ma:showField="ProcessedForMarkets" ma:web="6d93d202-47fc-4405-873a-cab67cc5f1b2">
      <xsd:simpleType>
        <xsd:restriction base="dms:Lookup"/>
      </xsd:simpleType>
    </xsd:element>
    <xsd:element name="LocPublishedDependentAssetsLookup" ma:index="83" nillable="true" ma:displayName="Loc Published Dependent Assets" ma:default="" ma:list="{4CDE398E-75A7-4993-8C61-2BFD31F64754}" ma:internalName="LocPublishedDependentAssetsLookup" ma:readOnly="true" ma:showField="PublishedDependentAssets" ma:web="6d93d202-47fc-4405-873a-cab67cc5f1b2">
      <xsd:simpleType>
        <xsd:restriction base="dms:Lookup"/>
      </xsd:simpleType>
    </xsd:element>
    <xsd:element name="LocPublishedLinkedAssetsLookup" ma:index="84" nillable="true" ma:displayName="Loc Published Linked Assets" ma:default="" ma:list="{4CDE398E-75A7-4993-8C61-2BFD31F64754}" ma:internalName="LocPublishedLinkedAssetsLookup" ma:readOnly="true" ma:showField="PublishedLinkedAssets" ma:web="6d93d202-47fc-4405-873a-cab67cc5f1b2">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db560eb5-700a-4f94-8fda-b57de4261f12}"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80C6DD30-196A-4C6B-B1BF-A43F3B8ACD4F}" ma:internalName="Markets" ma:readOnly="false" ma:showField="MarketNa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7E2D4CA2-442A-4FDA-AA57-71B8C7B2C53C}" ma:internalName="NumOfRatingsLookup" ma:readOnly="true" ma:showField="NumOfRating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7E2D4CA2-442A-4FDA-AA57-71B8C7B2C53C}" ma:internalName="PublishStatusLookup" ma:readOnly="false" ma:showField="PublishStatu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6e3f7319-fb8f-4449-8902-000ab73a8566}"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11d213f5-ec09-44b6-a8be-9da225be7a8d}" ma:internalName="TaxCatchAll" ma:showField="CatchAllData"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11d213f5-ec09-44b6-a8be-9da225be7a8d}" ma:internalName="TaxCatchAllLabel" ma:readOnly="true" ma:showField="CatchAllDataLabel"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4acb2c5-0a2b-4bda-bd34-58e36cbb80d2" elementFormDefault="qualified">
    <xsd:import namespace="http://schemas.microsoft.com/office/2006/documentManagement/types"/>
    <xsd:import namespace="http://schemas.microsoft.com/office/infopath/2007/PartnerControls"/>
    <xsd:element name="Description0" ma:index="134" nillable="true" ma:displayName="Description" ma:internalName="Description0">
      <xsd:simpleType>
        <xsd:restriction base="dms:Note"/>
      </xsd:simpleType>
    </xsd:element>
    <xsd:element name="Component" ma:index="135" nillable="true" ma:displayName="Component" ma:internalName="Component">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cquiredFrom xmlns="6d93d202-47fc-4405-873a-cab67cc5f1b2" xsi:nil="true"/>
    <IsSearchable xmlns="6d93d202-47fc-4405-873a-cab67cc5f1b2">true</IsSearchable>
    <EditorialStatus xmlns="6d93d202-47fc-4405-873a-cab67cc5f1b2">Complete</EditorialStatus>
    <OriginAsset xmlns="6d93d202-47fc-4405-873a-cab67cc5f1b2" xsi:nil="true"/>
    <ThumbnailAssetId xmlns="6d93d202-47fc-4405-873a-cab67cc5f1b2" xsi:nil="true"/>
    <TrustLevel xmlns="6d93d202-47fc-4405-873a-cab67cc5f1b2">3 Community New</TrustLevel>
    <MarketSpecific xmlns="6d93d202-47fc-4405-873a-cab67cc5f1b2">true</MarketSpecific>
    <TPNamespace xmlns="6d93d202-47fc-4405-873a-cab67cc5f1b2" xsi:nil="true"/>
    <DirectSourceMarket xmlns="6d93d202-47fc-4405-873a-cab67cc5f1b2">english</DirectSourceMarket>
    <MachineTranslated xmlns="6d93d202-47fc-4405-873a-cab67cc5f1b2">false</MachineTranslated>
    <PlannedPubDate xmlns="6d93d202-47fc-4405-873a-cab67cc5f1b2" xsi:nil="true"/>
    <SubmitterId xmlns="6d93d202-47fc-4405-873a-cab67cc5f1b2">9c60ae39-ee33-43c2-b863-454968d0f2cc</SubmitterId>
    <Downloads xmlns="6d93d202-47fc-4405-873a-cab67cc5f1b2">0</Downloads>
    <OriginalSourceMarket xmlns="6d93d202-47fc-4405-873a-cab67cc5f1b2">english</OriginalSourceMarket>
    <PublishTargets xmlns="6d93d202-47fc-4405-873a-cab67cc5f1b2">OfficeOnline</PublishTargets>
    <ArtSampleDocs xmlns="6d93d202-47fc-4405-873a-cab67cc5f1b2" xsi:nil="true"/>
    <ApprovalLog xmlns="6d93d202-47fc-4405-873a-cab67cc5f1b2" xsi:nil="true"/>
    <ApprovalStatus xmlns="6d93d202-47fc-4405-873a-cab67cc5f1b2">InProgress</ApprovalStatus>
    <TPComponent xmlns="6d93d202-47fc-4405-873a-cab67cc5f1b2">PPTFiles</TPComponent>
    <EditorialTags xmlns="6d93d202-47fc-4405-873a-cab67cc5f1b2" xsi:nil="true"/>
    <TPExecutable xmlns="6d93d202-47fc-4405-873a-cab67cc5f1b2" xsi:nil="true"/>
    <LastHandOff xmlns="6d93d202-47fc-4405-873a-cab67cc5f1b2" xsi:nil="true"/>
    <BusinessGroup xmlns="6d93d202-47fc-4405-873a-cab67cc5f1b2" xsi:nil="true"/>
    <TPAppVersion xmlns="6d93d202-47fc-4405-873a-cab67cc5f1b2">12</TPAppVersion>
    <VoteCount xmlns="6d93d202-47fc-4405-873a-cab67cc5f1b2" xsi:nil="true"/>
    <APAuthor xmlns="6d93d202-47fc-4405-873a-cab67cc5f1b2">
      <UserInfo>
        <DisplayName>_o14migrate</DisplayName>
        <AccountId>266</AccountId>
        <AccountType/>
      </UserInfo>
    </APAuthor>
    <TPCommandLine xmlns="6d93d202-47fc-4405-873a-cab67cc5f1b2">{PP} /n {FilePath}</TPCommandLine>
    <UACurrentWords xmlns="6d93d202-47fc-4405-873a-cab67cc5f1b2" xsi:nil="true"/>
    <AssetId xmlns="6d93d202-47fc-4405-873a-cab67cc5f1b2">TP030007281</AssetId>
    <Manager xmlns="6d93d202-47fc-4405-873a-cab67cc5f1b2" xsi:nil="true"/>
    <NumericId xmlns="6d93d202-47fc-4405-873a-cab67cc5f1b2">-1</NumericId>
    <Component xmlns="64acb2c5-0a2b-4bda-bd34-58e36cbb80d2" xsi:nil="true"/>
    <HandoffToMSDN xmlns="6d93d202-47fc-4405-873a-cab67cc5f1b2" xsi:nil="true"/>
    <Markets xmlns="6d93d202-47fc-4405-873a-cab67cc5f1b2">
      <Value>2</Value>
    </Markets>
    <UALocComments xmlns="6d93d202-47fc-4405-873a-cab67cc5f1b2" xsi:nil="true"/>
    <UALocRecommendation xmlns="6d93d202-47fc-4405-873a-cab67cc5f1b2">Localize</UALocRecommendation>
    <AssetStart xmlns="6d93d202-47fc-4405-873a-cab67cc5f1b2">2010-04-16T13:47:45+00:00</AssetStart>
    <CrawlForDependencies xmlns="6d93d202-47fc-4405-873a-cab67cc5f1b2">false</CrawlForDependencies>
    <LastModifiedDateTime xmlns="6d93d202-47fc-4405-873a-cab67cc5f1b2" xsi:nil="true"/>
    <LastPublishResultLookup xmlns="6d93d202-47fc-4405-873a-cab67cc5f1b2" xsi:nil="true"/>
    <PublishStatusLookup xmlns="6d93d202-47fc-4405-873a-cab67cc5f1b2">
      <Value>327671</Value>
      <Value>503520</Value>
    </PublishStatusLookup>
    <AverageRating xmlns="6d93d202-47fc-4405-873a-cab67cc5f1b2" xsi:nil="true"/>
    <CSXUpdate xmlns="6d93d202-47fc-4405-873a-cab67cc5f1b2">false</CSXUpdate>
    <UAProjectedTotalWords xmlns="6d93d202-47fc-4405-873a-cab67cc5f1b2" xsi:nil="true"/>
    <AssetExpire xmlns="6d93d202-47fc-4405-873a-cab67cc5f1b2">2100-01-01T00:00:00+00:00</AssetExpire>
    <AssetType xmlns="6d93d202-47fc-4405-873a-cab67cc5f1b2">TP</AssetType>
    <IntlLangReviewDate xmlns="6d93d202-47fc-4405-873a-cab67cc5f1b2" xsi:nil="true"/>
    <TPFriendlyName xmlns="6d93d202-47fc-4405-873a-cab67cc5f1b2">Thème design - Tunnel</TPFriendlyName>
    <IntlLangReview xmlns="6d93d202-47fc-4405-873a-cab67cc5f1b2" xsi:nil="true"/>
    <OOCacheId xmlns="6d93d202-47fc-4405-873a-cab67cc5f1b2" xsi:nil="true"/>
    <PolicheckWords xmlns="6d93d202-47fc-4405-873a-cab67cc5f1b2" xsi:nil="true"/>
    <TemplateStatus xmlns="6d93d202-47fc-4405-873a-cab67cc5f1b2">Complete</TemplateStatus>
    <CSXSubmissionMarket xmlns="6d93d202-47fc-4405-873a-cab67cc5f1b2" xsi:nil="true"/>
    <FriendlyTitle xmlns="6d93d202-47fc-4405-873a-cab67cc5f1b2" xsi:nil="true"/>
    <TPLaunchHelpLinkType xmlns="6d93d202-47fc-4405-873a-cab67cc5f1b2" xsi:nil="true"/>
    <Providers xmlns="6d93d202-47fc-4405-873a-cab67cc5f1b2" xsi:nil="true"/>
    <SourceTitle xmlns="6d93d202-47fc-4405-873a-cab67cc5f1b2">Thème design - Tunnel</SourceTitle>
    <TemplateTemplateType xmlns="6d93d202-47fc-4405-873a-cab67cc5f1b2">PowerPoint 12 Default</TemplateTemplateType>
    <TimesCloned xmlns="6d93d202-47fc-4405-873a-cab67cc5f1b2" xsi:nil="true"/>
    <ClipArtFilename xmlns="6d93d202-47fc-4405-873a-cab67cc5f1b2" xsi:nil="true"/>
    <APDescription xmlns="6d93d202-47fc-4405-873a-cab67cc5f1b2" xsi:nil="true"/>
    <TPApplication xmlns="6d93d202-47fc-4405-873a-cab67cc5f1b2">PowerPoint</TPApplication>
    <CSXHash xmlns="6d93d202-47fc-4405-873a-cab67cc5f1b2">ONP5ejdaZ6pIyJWiKjJC7LRpyB8=</CSXHash>
    <PrimaryImageGen xmlns="6d93d202-47fc-4405-873a-cab67cc5f1b2">true</PrimaryImageGen>
    <ContentItem xmlns="6d93d202-47fc-4405-873a-cab67cc5f1b2" xsi:nil="true"/>
    <IsDeleted xmlns="6d93d202-47fc-4405-873a-cab67cc5f1b2">false</IsDeleted>
    <ShowIn xmlns="6d93d202-47fc-4405-873a-cab67cc5f1b2">Show everywhere</ShowIn>
    <BugNumber xmlns="6d93d202-47fc-4405-873a-cab67cc5f1b2" xsi:nil="true"/>
    <LegacyData xmlns="6d93d202-47fc-4405-873a-cab67cc5f1b2">ListingID:;Manager:;BuildStatus:Publish Passed;MockupPath:</LegacyData>
    <TPLaunchHelpLink xmlns="6d93d202-47fc-4405-873a-cab67cc5f1b2" xsi:nil="true"/>
    <Milestone xmlns="6d93d202-47fc-4405-873a-cab67cc5f1b2" xsi:nil="true"/>
    <UANotes xmlns="6d93d202-47fc-4405-873a-cab67cc5f1b2" xsi:nil="true"/>
    <Description0 xmlns="64acb2c5-0a2b-4bda-bd34-58e36cbb80d2" xsi:nil="true"/>
    <IntlLangReviewer xmlns="6d93d202-47fc-4405-873a-cab67cc5f1b2" xsi:nil="true"/>
    <IntlLocPriority xmlns="6d93d202-47fc-4405-873a-cab67cc5f1b2" xsi:nil="true"/>
    <OpenTemplate xmlns="6d93d202-47fc-4405-873a-cab67cc5f1b2">true</OpenTemplate>
    <Provider xmlns="6d93d202-47fc-4405-873a-cab67cc5f1b2" xsi:nil="true"/>
    <CSXSubmissionDate xmlns="6d93d202-47fc-4405-873a-cab67cc5f1b2">2009-10-10T07:00:00+00:00</CSXSubmissionDate>
    <TPClientViewer xmlns="6d93d202-47fc-4405-873a-cab67cc5f1b2" xsi:nil="true"/>
    <DSATActionTaken xmlns="6d93d202-47fc-4405-873a-cab67cc5f1b2" xsi:nil="true"/>
    <APEditor xmlns="6d93d202-47fc-4405-873a-cab67cc5f1b2">
      <UserInfo>
        <DisplayName>_o14migrate</DisplayName>
        <AccountId>266</AccountId>
        <AccountType/>
      </UserInfo>
    </APEditor>
    <TPInstallLocation xmlns="6d93d202-47fc-4405-873a-cab67cc5f1b2">{My Templates}</TPInstallLocation>
    <OutputCachingOn xmlns="6d93d202-47fc-4405-873a-cab67cc5f1b2">false</OutputCachingOn>
    <ParentAssetId xmlns="6d93d202-47fc-4405-873a-cab67cc5f1b2" xsi:nil="true"/>
    <LocManualTestRequired xmlns="6d93d202-47fc-4405-873a-cab67cc5f1b2">false</LocManualTestRequired>
    <LocalizationTagsTaxHTField0 xmlns="6d93d202-47fc-4405-873a-cab67cc5f1b2">
      <Terms xmlns="http://schemas.microsoft.com/office/infopath/2007/PartnerControls"/>
    </LocalizationTagsTaxHTField0>
    <CampaignTagsTaxHTField0 xmlns="6d93d202-47fc-4405-873a-cab67cc5f1b2">
      <Terms xmlns="http://schemas.microsoft.com/office/infopath/2007/PartnerControls"/>
    </CampaignTagsTaxHTField0>
    <LocLastLocAttemptVersionLookup xmlns="6d93d202-47fc-4405-873a-cab67cc5f1b2">170195</LocLastLocAttemptVersionLookup>
    <InternalTagsTaxHTField0 xmlns="6d93d202-47fc-4405-873a-cab67cc5f1b2">
      <Terms xmlns="http://schemas.microsoft.com/office/infopath/2007/PartnerControls"/>
    </InternalTagsTaxHTField0>
    <LocRecommendedHandoff xmlns="6d93d202-47fc-4405-873a-cab67cc5f1b2" xsi:nil="true"/>
    <BlockPublish xmlns="6d93d202-47fc-4405-873a-cab67cc5f1b2">false</BlockPublish>
    <LocComments xmlns="6d93d202-47fc-4405-873a-cab67cc5f1b2" xsi:nil="true"/>
    <TaxCatchAll xmlns="6d93d202-47fc-4405-873a-cab67cc5f1b2"/>
    <OriginalRelease xmlns="6d93d202-47fc-4405-873a-cab67cc5f1b2">14</OriginalRelease>
    <RecommendationsModifier xmlns="6d93d202-47fc-4405-873a-cab67cc5f1b2" xsi:nil="true"/>
    <ScenarioTagsTaxHTField0 xmlns="6d93d202-47fc-4405-873a-cab67cc5f1b2">
      <Terms xmlns="http://schemas.microsoft.com/office/infopath/2007/PartnerControls"/>
    </ScenarioTagsTaxHTField0>
    <FeatureTagsTaxHTField0 xmlns="6d93d202-47fc-4405-873a-cab67cc5f1b2">
      <Terms xmlns="http://schemas.microsoft.com/office/infopath/2007/PartnerControls"/>
    </FeatureTagsTaxHTField0>
    <LocMarketGroupTiers2 xmlns="6d93d202-47fc-4405-873a-cab67cc5f1b2" xsi:nil="true"/>
  </documentManagement>
</p:properties>
</file>

<file path=customXml/itemProps1.xml><?xml version="1.0" encoding="utf-8"?>
<ds:datastoreItem xmlns:ds="http://schemas.openxmlformats.org/officeDocument/2006/customXml" ds:itemID="{BAFB9779-B3DB-419D-A1B1-72B8188D35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93d202-47fc-4405-873a-cab67cc5f1b2"/>
    <ds:schemaRef ds:uri="64acb2c5-0a2b-4bda-bd34-58e36cbb80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C4AD9E9-A9C0-46F2-BF42-B91887159A3F}">
  <ds:schemaRefs>
    <ds:schemaRef ds:uri="http://schemas.microsoft.com/sharepoint/v3/contenttype/forms"/>
  </ds:schemaRefs>
</ds:datastoreItem>
</file>

<file path=customXml/itemProps3.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63</TotalTime>
  <Words>611</Words>
  <Application>Microsoft Office PowerPoint</Application>
  <PresentationFormat>Affichage à l'écran (4:3)</PresentationFormat>
  <Paragraphs>132</Paragraphs>
  <Slides>21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Arial</vt:lpstr>
      <vt:lpstr>Calibri</vt:lpstr>
      <vt:lpstr>Cambria</vt:lpstr>
      <vt:lpstr>Cambria Math</vt:lpstr>
      <vt:lpstr>Wingdings</vt:lpstr>
      <vt:lpstr>Thème Office</vt:lpstr>
      <vt:lpstr>Data Description </vt:lpstr>
      <vt:lpstr>Les indicateurs de forme</vt:lpstr>
      <vt:lpstr>Note </vt:lpstr>
      <vt:lpstr>Les indicateurs d’asymétrie –  Le coefficient de Pearson</vt:lpstr>
      <vt:lpstr>Note </vt:lpstr>
      <vt:lpstr>Les indicateurs d’asymétrie –  Le coefficient de Yule et Kendall</vt:lpstr>
      <vt:lpstr>Note </vt:lpstr>
      <vt:lpstr>L’asymétrie - Graphiquement </vt:lpstr>
      <vt:lpstr>Note </vt:lpstr>
      <vt:lpstr>Le signe du coefficient de Yule et Kendall – Graphiquement </vt:lpstr>
      <vt:lpstr>Note </vt:lpstr>
      <vt:lpstr>Les indicateurs d’asymétrie – Remarques générales</vt:lpstr>
      <vt:lpstr>Note </vt:lpstr>
      <vt:lpstr>Exercice d’application</vt:lpstr>
      <vt:lpstr>Note </vt:lpstr>
      <vt:lpstr>Exercice d’application</vt:lpstr>
      <vt:lpstr>Note </vt:lpstr>
      <vt:lpstr>Exercice d’application</vt:lpstr>
      <vt:lpstr>Note </vt:lpstr>
      <vt:lpstr>Exercice d’application</vt:lpstr>
      <vt:lpstr>Note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8</cp:revision>
  <dcterms:created xsi:type="dcterms:W3CDTF">2021-02-02T16:40:54Z</dcterms:created>
  <dcterms:modified xsi:type="dcterms:W3CDTF">2021-10-15T13:21:43Z</dcterms:modified>
</cp:coreProperties>
</file>