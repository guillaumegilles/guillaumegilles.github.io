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2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0CBF8-D1D8-4922-A968-E90E226146FA}" v="16" dt="2021-10-14T14:36:49.848"/>
    <p1510:client id="{A485481B-7CFB-49EC-B580-AB3492269FCD}" v="387" dt="2021-10-15T12:38:21.8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5T12:42:35.113" v="503" actId="1076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5T12:42:35.113" v="503" actId="1076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5T12:38:21.834" v="502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">
          <ac:chgData name="KACHOUR Maher" userId="09775c39-7739-40bf-ba04-c8ef3ab24a94" providerId="ADAL" clId="{A485481B-7CFB-49EC-B580-AB3492269FCD}" dt="2021-10-15T12:42:35.113" v="503" actId="1076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4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température matinale (i.e. mesurée entre 7h et 7h 30) sur 200 jours choisis au hasard parmi les périodes d’hiver observées durant 20 dernières années. </a:t>
            </a: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Etudier l’existence de valeurs aberrantes 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899791"/>
              </p:ext>
            </p:extLst>
          </p:nvPr>
        </p:nvGraphicFramePr>
        <p:xfrm>
          <a:off x="4337050" y="2743200"/>
          <a:ext cx="371157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Température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/>
              <a:t>Exercice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7560139"/>
                  </p:ext>
                </p:extLst>
              </p:nvPr>
            </p:nvGraphicFramePr>
            <p:xfrm>
              <a:off x="285750" y="1840229"/>
              <a:ext cx="5133975" cy="25657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9152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37115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36826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7560139"/>
                  </p:ext>
                </p:extLst>
              </p:nvPr>
            </p:nvGraphicFramePr>
            <p:xfrm>
              <a:off x="285750" y="1840229"/>
              <a:ext cx="5133975" cy="256571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6544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1804873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91526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857291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</a:tblGrid>
                  <a:tr h="371158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Température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Nombre de jours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369333" t="-8197" r="-96667" b="-6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99291" t="-8197" r="-2837" b="-6180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37%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17%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80%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43%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90%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fr-FR" b="1" dirty="0"/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/>
              <p:nvPr/>
            </p:nvSpPr>
            <p:spPr>
              <a:xfrm>
                <a:off x="6515099" y="2295525"/>
                <a:ext cx="5591176" cy="2330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𝑑𝑖𝑎𝑛𝑒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endParaRPr lang="fr-F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−1.5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=−3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1.5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 ≠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endParaRPr lang="fr-FR" b="0" i="1" dirty="0">
                  <a:latin typeface="Cambria Math" panose="02040503050406030204" pitchFamily="18" charset="0"/>
                </a:endParaRPr>
              </a:p>
              <a:p>
                <a:r>
                  <a:rPr lang="fr-FR" dirty="0">
                    <a:latin typeface="Cambria Math" panose="02040503050406030204" pitchFamily="18" charset="0"/>
                  </a:rPr>
                  <a:t>Les données possèdent une valeur aberrante (= 7)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C9FE004-1C6E-4667-8710-CA96506DE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099" y="2295525"/>
                <a:ext cx="5591176" cy="2330895"/>
              </a:xfrm>
              <a:prstGeom prst="rect">
                <a:avLst/>
              </a:prstGeom>
              <a:blipFill>
                <a:blip r:embed="rId3"/>
                <a:stretch>
                  <a:fillRect l="-981" b="-28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vitesse matinale (i.e. mesurée (en Km/h) entre 7h et 7h 30) du vent sur 240 jours choisis au hasard parmi les périodes d’hiver observées durant 20 dernières années. </a:t>
            </a:r>
          </a:p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Etudier l’existence de valeurs aberrantes </a:t>
            </a:r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753735"/>
              </p:ext>
            </p:extLst>
          </p:nvPr>
        </p:nvGraphicFramePr>
        <p:xfrm>
          <a:off x="5103283" y="3093244"/>
          <a:ext cx="36120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Vitesse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>
            <a:normAutofit/>
          </a:bodyPr>
          <a:lstStyle/>
          <a:p>
            <a:r>
              <a:rPr lang="fr-FR" sz="3200"/>
              <a:t>Exercice 2 - Solution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endParaRPr lang="fr-FR" sz="180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7892771"/>
                  </p:ext>
                </p:extLst>
              </p:nvPr>
            </p:nvGraphicFramePr>
            <p:xfrm>
              <a:off x="554416" y="2716244"/>
              <a:ext cx="3908460" cy="3374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2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22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2200" b="1" dirty="0"/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2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/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7892771"/>
                  </p:ext>
                </p:extLst>
              </p:nvPr>
            </p:nvGraphicFramePr>
            <p:xfrm>
              <a:off x="554416" y="2716244"/>
              <a:ext cx="3908460" cy="33746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8338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170061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</a:tblGrid>
                  <a:tr h="487885">
                    <a:tc>
                      <a:txBody>
                        <a:bodyPr/>
                        <a:lstStyle/>
                        <a:p>
                          <a:r>
                            <a:rPr lang="fr-FR" sz="2200" dirty="0"/>
                            <a:t>Vitesse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134197" t="-6250" r="-101554" b="-60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111141" marR="111141" marT="55570" marB="55570">
                        <a:blipFill>
                          <a:blip r:embed="rId2"/>
                          <a:stretch>
                            <a:fillRect l="-235417" t="-6250" r="-2083" b="-60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[0 ; 10[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 ; 30[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20%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[30 ; 70[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75%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37.5%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[70 ; 100[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85%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/>
                            <a:t>[100 ; 150[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>
                              <a:solidFill>
                                <a:schemeClr val="tx1"/>
                              </a:solidFill>
                            </a:rPr>
                            <a:t>15%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81124">
                    <a:tc>
                      <a:txBody>
                        <a:bodyPr/>
                        <a:lstStyle/>
                        <a:p>
                          <a:r>
                            <a:rPr lang="fr-FR" sz="2200" b="1"/>
                            <a:t>Total </a:t>
                          </a: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endParaRPr lang="fr-FR" sz="22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1141" marR="111141" marT="55570" marB="55570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200" dirty="0">
                              <a:solidFill>
                                <a:schemeClr val="tx1"/>
                              </a:solidFill>
                            </a:rPr>
                            <a:t>100%</a:t>
                          </a:r>
                        </a:p>
                      </a:txBody>
                      <a:tcPr marL="111141" marR="111141" marT="55570" marB="55570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/>
              <p:nvPr/>
            </p:nvSpPr>
            <p:spPr>
              <a:xfrm>
                <a:off x="5638800" y="2971800"/>
                <a:ext cx="6161815" cy="3691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=10+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30 −10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(0.25 −0.175)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(0.375 −0.175)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=17.5</m:t>
                      </m:r>
                    </m:oMath>
                  </m:oMathPara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𝑑𝑖𝑎𝑛𝑒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=30+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70 −30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(0.5 −0.375)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(0.75 −0.375)</m:t>
                          </m:r>
                        </m:den>
                      </m:f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43.33</m:t>
                      </m:r>
                    </m:oMath>
                  </m:oMathPara>
                </a14:m>
                <a:endParaRPr lang="fr-FR" dirty="0"/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=70+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100 −70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(0.75 −0.75)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(0.85 −0.75)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=70</m:t>
                      </m:r>
                    </m:oMath>
                  </m:oMathPara>
                </a14:m>
                <a:endParaRPr lang="fr-FR" dirty="0"/>
              </a:p>
              <a:p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−1.5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61.25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</m:t>
                      </m:r>
                    </m:oMath>
                  </m:oMathPara>
                </a14:m>
                <a:endParaRPr lang="fr-F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1.5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=148.75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100 ≠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𝑚𝑎𝑥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endParaRPr lang="fr-FR" dirty="0"/>
              </a:p>
              <a:p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La classe [100, 150[ est aberrante 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D7B24147-55AB-4BC4-B183-ED51FCA4D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971800"/>
                <a:ext cx="6161815" cy="3691844"/>
              </a:xfrm>
              <a:prstGeom prst="rect">
                <a:avLst/>
              </a:prstGeom>
              <a:blipFill>
                <a:blip r:embed="rId3"/>
                <a:stretch>
                  <a:fillRect l="-2275" b="-281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5077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385</Words>
  <Application>Microsoft Office PowerPoint</Application>
  <PresentationFormat>Grand écran</PresentationFormat>
  <Paragraphs>125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Cambria Math</vt:lpstr>
      <vt:lpstr>Thème Office</vt:lpstr>
      <vt:lpstr>Data Description </vt:lpstr>
      <vt:lpstr>Exercice 1</vt:lpstr>
      <vt:lpstr>Exercice 1 - Solution</vt:lpstr>
      <vt:lpstr>Exercice 2</vt:lpstr>
      <vt:lpstr>Exercice 2 -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2021-10-15T12:43:02Z</dcterms:modified>
</cp:coreProperties>
</file>