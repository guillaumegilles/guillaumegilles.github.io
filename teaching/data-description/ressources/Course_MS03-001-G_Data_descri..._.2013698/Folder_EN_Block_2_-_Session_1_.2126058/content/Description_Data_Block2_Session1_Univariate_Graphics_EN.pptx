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3F-E149-A5D4-5B230D01E49E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3F-E149-A5D4-5B230D01E49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3F-E149-A5D4-5B230D01E49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3F-E149-A5D4-5B230D01E4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</c:v>
                </c:pt>
                <c:pt idx="1">
                  <c:v>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3F-E149-A5D4-5B230D01E4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Counts by grade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Counts by grade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7</c:v>
                </c:pt>
                <c:pt idx="1">
                  <c:v>8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16.5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28-1445-9107-A75511B99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Increasing cumulative frequencies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Increasing cumulative frequencies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37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0C-6C4A-A4B4-E6C9E0DCE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Budget by source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source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VAT</c:v>
                </c:pt>
                <c:pt idx="1">
                  <c:v>Income taxes</c:v>
                </c:pt>
                <c:pt idx="2">
                  <c:v>Corporate taxes</c:v>
                </c:pt>
                <c:pt idx="3">
                  <c:v>Petroleum products</c:v>
                </c:pt>
                <c:pt idx="4">
                  <c:v>Other taxes</c:v>
                </c:pt>
                <c:pt idx="5">
                  <c:v>Non-tax revenue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348</c:v>
                </c:pt>
                <c:pt idx="1">
                  <c:v>163</c:v>
                </c:pt>
                <c:pt idx="2">
                  <c:v>71</c:v>
                </c:pt>
                <c:pt idx="3">
                  <c:v>54</c:v>
                </c:pt>
                <c:pt idx="4">
                  <c:v>161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30-E041-ACDB-3A09FFB14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Budget by source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94-AA44-9923-03E421BFEEC2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94-AA44-9923-03E421BFEEC2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94-AA44-9923-03E421BFEEC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94-AA44-9923-03E421BFEEC2}"/>
              </c:ext>
            </c:extLst>
          </c:dPt>
          <c:dPt>
            <c:idx val="4"/>
            <c:bubble3D val="0"/>
            <c:spPr>
              <a:solidFill>
                <a:srgbClr val="5B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394-AA44-9923-03E421BFEEC2}"/>
              </c:ext>
            </c:extLst>
          </c:dPt>
          <c:dPt>
            <c:idx val="5"/>
            <c:bubble3D val="0"/>
            <c:spPr>
              <a:solidFill>
                <a:srgbClr val="A5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394-AA44-9923-03E421BFEE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94-AA44-9923-03E421BFEE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94-AA44-9923-03E421BFEE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94-AA44-9923-03E421BFEEC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394-AA44-9923-03E421BFEEC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394-AA44-9923-03E421BFEEC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NL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94-AA44-9923-03E421BFEE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VAT</c:v>
                </c:pt>
                <c:pt idx="1">
                  <c:v>Income taxes</c:v>
                </c:pt>
                <c:pt idx="2">
                  <c:v>Corporate taxes</c:v>
                </c:pt>
                <c:pt idx="3">
                  <c:v>Petroleum products</c:v>
                </c:pt>
                <c:pt idx="4">
                  <c:v>Other taxes</c:v>
                </c:pt>
                <c:pt idx="5">
                  <c:v>Non-tax revenue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348</c:v>
                </c:pt>
                <c:pt idx="1">
                  <c:v>163</c:v>
                </c:pt>
                <c:pt idx="2">
                  <c:v>71</c:v>
                </c:pt>
                <c:pt idx="3">
                  <c:v>54</c:v>
                </c:pt>
                <c:pt idx="4">
                  <c:v>161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94-AA44-9923-03E421BFEE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Number of calls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calls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</c:v>
                </c:pt>
                <c:pt idx="1">
                  <c:v>140</c:v>
                </c:pt>
                <c:pt idx="2">
                  <c:v>92</c:v>
                </c:pt>
                <c:pt idx="3">
                  <c:v>42</c:v>
                </c:pt>
                <c:pt idx="4">
                  <c:v>18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7-D247-BE0C-25E0F5A0D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Increasing cumulative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Increasing cumulative curve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25.5</c:v>
                </c:pt>
                <c:pt idx="1">
                  <c:v>60.9</c:v>
                </c:pt>
                <c:pt idx="2">
                  <c:v>84.1</c:v>
                </c:pt>
                <c:pt idx="3">
                  <c:v>94.7</c:v>
                </c:pt>
                <c:pt idx="4">
                  <c:v>99.2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40-4E45-BC7C-304DE9ED3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session </a:t>
            </a:r>
            <a:r>
              <a:rPr lang="fr-FR" sz="180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n°3 </a:t>
            </a:r>
            <a:r>
              <a:rPr lang="fr-FR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</a:t>
            </a:r>
            <a:r>
              <a:rPr lang="fr-FR" sz="180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</a:t>
            </a:r>
            <a:endParaRPr lang="fr-FR" sz="1800" dirty="0"/>
          </a:p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Duration: 6h</a:t>
            </a:r>
            <a:endParaRPr lang="fr-FR" sz="1800" dirty="0"/>
          </a:p>
        </p:txBody>
      </p:sp>
      <p:pic>
        <p:nvPicPr>
          <p:cNvPr id="3" name="Image 0" descr="/mnt/data/essc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0292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FF0000"/>
                </a:solidFill>
              </a:rPr>
              <a:t>Data Description</a:t>
            </a:r>
            <a:endParaRPr lang="fr-FR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315468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FF0000"/>
                </a:solidFill>
              </a:rPr>
              <a:t>Block 2 – Session 1: Graphical representation of data and application</a:t>
            </a:r>
            <a:endParaRPr lang="fr-FR" sz="4400" dirty="0"/>
          </a:p>
        </p:txBody>
      </p:sp>
      <p:sp>
        <p:nvSpPr>
          <p:cNvPr id="6" name="Text 3"/>
          <p:cNvSpPr/>
          <p:nvPr/>
        </p:nvSpPr>
        <p:spPr>
          <a:xfrm>
            <a:off x="283464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dirty="0">
                <a:solidFill>
                  <a:srgbClr val="112B46"/>
                </a:solidFill>
              </a:rPr>
              <a:t>Instructor: INSERT NAME</a:t>
            </a:r>
            <a:endParaRPr lang="fr-FR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dirty="0">
                <a:solidFill>
                  <a:srgbClr val="112B46"/>
                </a:solidFill>
              </a:rPr>
              <a:t>Module coordinators: Mercedeh ERFANIANGHASAB &amp; Jérémy CELSE</a:t>
            </a:r>
            <a:endParaRPr lang="fr-FR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208" y="548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Session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25208" y="181624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333333"/>
                </a:solidFill>
              </a:rPr>
              <a:t>Concepts covered in the session: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7840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Identify a population, an individual and the nature of a variable.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Move from raw data to a summary table.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Calculate counts, frequencies and cumulative frequencies.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Choose and interpret the right graphical tool according to the variable.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Use Excel to summarize the data and produce graphs.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Breakdown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>of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>the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>session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0467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1. Vocabulary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Population, individual, variable and modalities.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42823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2. Raw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Organize a statistical series in a table.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80467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3. 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Counts, frequencies, increasing and decreasing cumulative values.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BE5D6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42823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4. Graphs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Bar charts, pie charts, histogram and cumulative curve.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66160" y="41605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730752" y="4361688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5. Excel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30752" y="478231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Company case study, tables and graphs.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</a:rPr>
              <a:t>Each concept is linked to an example or a short activity.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1. Statistical vocabulary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20"/>
            <a:ext cx="9222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Population, individual, variable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Population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Set of elements studied. It can be finite when the number of individuals is known, or infinite when it cannot be determined exactly.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3533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Statistical individual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An element of the population on which one or more variables are observed.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657600"/>
            <a:ext cx="8412480" cy="109728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Variable = observed characteristic
</a:t>
            </a:r>
            <a:r>
              <a:rPr lang="en-US" sz="1300" dirty="0">
                <a:solidFill>
                  <a:srgbClr val="333333"/>
                </a:solidFill>
              </a:rPr>
              <a:t>Examples: gender, level of education, number of children, net salary.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Nature of variables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2517289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04672" y="1088136"/>
            <a:ext cx="2462425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4529" y="1051560"/>
            <a:ext cx="4405256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3321961" y="1088136"/>
            <a:ext cx="43503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Examples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99786" y="1051560"/>
            <a:ext cx="3775934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727218" y="1088136"/>
            <a:ext cx="372107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Common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709928"/>
            <a:ext cx="25172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804672" y="1746504"/>
            <a:ext cx="2462425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Nominal qualitative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4529" y="1709928"/>
            <a:ext cx="440525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3321961" y="1746504"/>
            <a:ext cx="43503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Gender, city, means of transport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99786" y="1709928"/>
            <a:ext cx="377593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7727218" y="1746504"/>
            <a:ext cx="372107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Bars / pie charts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368296"/>
            <a:ext cx="2517289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04672" y="2404872"/>
            <a:ext cx="2462425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Ordinal qualitative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4529" y="2368296"/>
            <a:ext cx="4405256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321961" y="2404872"/>
            <a:ext cx="43503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Satisfaction, level of education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99786" y="2368296"/>
            <a:ext cx="3775934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727218" y="2404872"/>
            <a:ext cx="372107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Ordered bars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026664"/>
            <a:ext cx="25172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04672" y="3063240"/>
            <a:ext cx="2462425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Discrete quantitative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4529" y="3026664"/>
            <a:ext cx="440525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3321961" y="3063240"/>
            <a:ext cx="43503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Number of children, number of calls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99786" y="3026664"/>
            <a:ext cx="377593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7727218" y="3063240"/>
            <a:ext cx="372107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Stick chart / step curve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3685032"/>
            <a:ext cx="2517289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04672" y="3721608"/>
            <a:ext cx="2462425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Continuous quantitative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94529" y="3685032"/>
            <a:ext cx="4405256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3321961" y="3721608"/>
            <a:ext cx="43503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Salary, weight, duration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99786" y="3685032"/>
            <a:ext cx="3775934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7727218" y="3721608"/>
            <a:ext cx="372107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Histogram / continuous curve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5780"/>
            <a:ext cx="96401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Short activity: identify the nature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noProof="0" dirty="0">
                <a:solidFill>
                  <a:srgbClr val="333333"/>
                </a:solidFill>
              </a:rPr>
              <a:t>Hair colour of hair salon customers</a:t>
            </a:r>
            <a:endParaRPr lang="fr-FR" sz="18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noProof="0" dirty="0">
                <a:solidFill>
                  <a:srgbClr val="333333"/>
                </a:solidFill>
              </a:rPr>
              <a:t>Satisfaction level with a telephone operator</a:t>
            </a:r>
            <a:endParaRPr lang="fr-FR" sz="18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noProof="0" dirty="0">
                <a:solidFill>
                  <a:srgbClr val="333333"/>
                </a:solidFill>
              </a:rPr>
              <a:t>Number of people in Parisian households</a:t>
            </a:r>
            <a:endParaRPr lang="fr-FR" sz="18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noProof="0" dirty="0">
                <a:solidFill>
                  <a:srgbClr val="333333"/>
                </a:solidFill>
              </a:rPr>
              <a:t>Exact waiting time before a telephone answer</a:t>
            </a:r>
            <a:endParaRPr lang="fr-F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Question to ask students: for each variable, state whether it is qualitative/quantitative, nominal/ordinal, discrete/continuous.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2. From raw data to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6052"/>
            <a:ext cx="98538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Raw data and statistical series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484632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Univariate = one single variable observed
</a:t>
            </a:r>
            <a:r>
              <a:rPr lang="en-US" sz="1300" dirty="0">
                <a:solidFill>
                  <a:srgbClr val="333333"/>
                </a:solidFill>
              </a:rPr>
              <a:t>A variable is observed on all individuals in a population or a sample.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Raw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The responses are collected without any particular organization, often in an Excel column.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58368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Summary table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The modalities are grouped with their absolute counts nᵢ and frequencies fᵢ.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3611880"/>
            <a:ext cx="2155371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005072" y="3648456"/>
            <a:ext cx="21005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Modalities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33011" y="3611880"/>
            <a:ext cx="979714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160443" y="364845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2726" y="3611880"/>
            <a:ext cx="979714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140158" y="364845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4023360"/>
            <a:ext cx="21553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005072" y="4059936"/>
            <a:ext cx="21005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x₁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33011" y="4023360"/>
            <a:ext cx="97971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6160443" y="405993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12726" y="4023360"/>
            <a:ext cx="97971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7140158" y="405993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77640" y="4434840"/>
            <a:ext cx="215537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4005072" y="4471416"/>
            <a:ext cx="21005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x₂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33011" y="4434840"/>
            <a:ext cx="979714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6160443" y="447141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…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12726" y="4434840"/>
            <a:ext cx="979714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140158" y="447141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…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77640" y="4846320"/>
            <a:ext cx="21553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4005072" y="4882896"/>
            <a:ext cx="21005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Total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33011" y="4846320"/>
            <a:ext cx="97971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6160443" y="488289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12726" y="4846320"/>
            <a:ext cx="97971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7140158" y="4882896"/>
            <a:ext cx="92485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4340"/>
            <a:ext cx="10405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Example: nominal qualitative variable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1828800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50392" y="996696"/>
            <a:ext cx="17739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Gender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1371600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679192" y="996696"/>
            <a:ext cx="13167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Number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960120"/>
            <a:ext cx="1645920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050792" y="996696"/>
            <a:ext cx="15910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Frequency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850392" y="1499616"/>
            <a:ext cx="17739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4630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2679192" y="1499616"/>
            <a:ext cx="13167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15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23360" y="14630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050792" y="1499616"/>
            <a:ext cx="15910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62.5 %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1965960"/>
            <a:ext cx="1828800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50392" y="2002536"/>
            <a:ext cx="17739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1965960"/>
            <a:ext cx="1371600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679192" y="2002536"/>
            <a:ext cx="13167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0" y="1965960"/>
            <a:ext cx="1645920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4050792" y="2002536"/>
            <a:ext cx="15910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37.5 %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24688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50392" y="2505456"/>
            <a:ext cx="17739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Total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51760" y="24688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2679192" y="2505456"/>
            <a:ext cx="131673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24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23360" y="24688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050792" y="2505456"/>
            <a:ext cx="15910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100 %</a:t>
            </a:r>
            <a:endParaRPr lang="en-US" sz="14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400800" y="109728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868680" y="521208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For a nominal variable, the order of the modalities has no particular meaning.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132" y="315468"/>
            <a:ext cx="1134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Example: discrete quantitative variable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914400"/>
            <a:ext cx="1695796" cy="47548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04672" y="950976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73036" y="914400"/>
            <a:ext cx="1596044" cy="47548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500468" y="950976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389888"/>
            <a:ext cx="16957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804672" y="1426464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73036" y="1389888"/>
            <a:ext cx="15960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2500468" y="1426464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1865376"/>
            <a:ext cx="1695796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04672" y="1901952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73036" y="1865376"/>
            <a:ext cx="1596044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500468" y="1901952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340864"/>
            <a:ext cx="16957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04672" y="2377440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73036" y="2340864"/>
            <a:ext cx="15960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500468" y="2377440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2816352"/>
            <a:ext cx="1695796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04672" y="2852928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73036" y="2816352"/>
            <a:ext cx="1596044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2500468" y="2852928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3291840"/>
            <a:ext cx="16957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804672" y="3328416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73036" y="3291840"/>
            <a:ext cx="15960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2500468" y="3328416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3767328"/>
            <a:ext cx="1695796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04672" y="3803904"/>
            <a:ext cx="16409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16.5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73036" y="3767328"/>
            <a:ext cx="1596044" cy="47548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500468" y="3803904"/>
            <a:ext cx="15411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</a:t>
            </a:r>
            <a:endParaRPr lang="en-US" sz="13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663440" y="91440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3. Basic operations</a:t>
            </a:r>
            <a:endParaRPr lang="en-US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005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Count, frequency and cumulative values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12064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fᵢ = nᵢ / n
</a:t>
            </a:r>
            <a:r>
              <a:rPr lang="en-US" sz="1300" dirty="0">
                <a:solidFill>
                  <a:srgbClr val="333333"/>
                </a:solidFill>
              </a:rPr>
              <a:t>Frequency expresses the share represented by a modality.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914400"/>
            <a:ext cx="512064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nᵢ⁺ et fᵢ⁺
</a:t>
            </a:r>
            <a:r>
              <a:rPr lang="en-US" sz="1300" dirty="0">
                <a:solidFill>
                  <a:srgbClr val="333333"/>
                </a:solidFill>
              </a:rPr>
              <a:t>Increasing cumulative value: counts or frequencies are added from the beginning up to modality 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2971800"/>
            <a:ext cx="548640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nᵢ⁻ et fᵢ⁻
</a:t>
            </a:r>
            <a:r>
              <a:rPr lang="en-US" sz="1300" dirty="0">
                <a:solidFill>
                  <a:srgbClr val="333333"/>
                </a:solidFill>
              </a:rPr>
              <a:t>Decreasing cumulative value: counts or frequencies are added from modality i to the end.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845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Guided exercise: temperatures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1589164" cy="51206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58952" y="950976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20684" y="914400"/>
            <a:ext cx="1765738" cy="51206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348116" y="950976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Number of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86422" y="914400"/>
            <a:ext cx="882869" cy="51206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113854" y="950976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69291" y="914400"/>
            <a:ext cx="882869" cy="51206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996723" y="950976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fᵢ⁺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1426464"/>
            <a:ext cx="15891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58952" y="1463040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-1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20684" y="1426464"/>
            <a:ext cx="176573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348116" y="1463040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40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86422" y="1426464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4113854" y="1463040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69291" y="1426464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996723" y="1463040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20 %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1938528"/>
            <a:ext cx="1589164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58952" y="1975104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20684" y="1938528"/>
            <a:ext cx="1765738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2348116" y="1975104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86422" y="1938528"/>
            <a:ext cx="882869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4113854" y="1975104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17 %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69291" y="1938528"/>
            <a:ext cx="882869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996723" y="1975104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37 %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2450592"/>
            <a:ext cx="15891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58952" y="2487168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20684" y="2450592"/>
            <a:ext cx="176573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348116" y="2487168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86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086422" y="2450592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4113854" y="2487168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43 %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69291" y="2450592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4996723" y="2487168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80 %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2962656"/>
            <a:ext cx="1589164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758952" y="2999232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20684" y="2962656"/>
            <a:ext cx="1765738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2348116" y="2999232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086422" y="2962656"/>
            <a:ext cx="882869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Text 40"/>
          <p:cNvSpPr/>
          <p:nvPr/>
        </p:nvSpPr>
        <p:spPr>
          <a:xfrm>
            <a:off x="4113854" y="2999232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10 %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69291" y="2962656"/>
            <a:ext cx="882869" cy="51206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Text 42"/>
          <p:cNvSpPr/>
          <p:nvPr/>
        </p:nvSpPr>
        <p:spPr>
          <a:xfrm>
            <a:off x="4996723" y="2999232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90 %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" y="3474720"/>
            <a:ext cx="15891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Text 44"/>
          <p:cNvSpPr/>
          <p:nvPr/>
        </p:nvSpPr>
        <p:spPr>
          <a:xfrm>
            <a:off x="758952" y="3511296"/>
            <a:ext cx="15343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320684" y="3474720"/>
            <a:ext cx="176573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46"/>
          <p:cNvSpPr/>
          <p:nvPr/>
        </p:nvSpPr>
        <p:spPr>
          <a:xfrm>
            <a:off x="2348116" y="3511296"/>
            <a:ext cx="171087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086422" y="3474720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0" name="Text 48"/>
          <p:cNvSpPr/>
          <p:nvPr/>
        </p:nvSpPr>
        <p:spPr>
          <a:xfrm>
            <a:off x="4113854" y="3511296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10 %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969291" y="3474720"/>
            <a:ext cx="88286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2" name="Text 50"/>
          <p:cNvSpPr/>
          <p:nvPr/>
        </p:nvSpPr>
        <p:spPr>
          <a:xfrm>
            <a:off x="4996723" y="3511296"/>
            <a:ext cx="828005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100 %</a:t>
            </a:r>
            <a:endParaRPr lang="en-US" sz="1300" dirty="0"/>
          </a:p>
        </p:txBody>
      </p:sp>
      <p:graphicFrame>
        <p:nvGraphicFramePr>
          <p:cNvPr id="53" name="Chart 0"/>
          <p:cNvGraphicFramePr/>
          <p:nvPr/>
        </p:nvGraphicFramePr>
        <p:xfrm>
          <a:off x="6217920" y="1005840"/>
          <a:ext cx="52120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4. Choose the right graph</a:t>
            </a:r>
            <a:endParaRPr lang="en-US" sz="6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Variables qualitatives : Bar and Pie charts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Bar chart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Easily compare counts or frequencies across modalities.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Pie chart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Show the composition of a total, especially when the number of modalities is limited.</a:t>
            </a:r>
            <a:endParaRPr lang="en-US" sz="14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31520" y="3017520"/>
          <a:ext cx="5212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6400800" y="3017520"/>
          <a:ext cx="4754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605" y="292608"/>
            <a:ext cx="115287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FF0000"/>
                </a:solidFill>
              </a:rPr>
              <a:t>Discrete variable: stick chart and cumulative curve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868680"/>
            <a:ext cx="1692946" cy="42062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905256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Number of calls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8746" y="868680"/>
            <a:ext cx="1598894" cy="420624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406178" y="905256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Number of days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289304"/>
            <a:ext cx="169294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13232" y="1325880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8746" y="1289304"/>
            <a:ext cx="159889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2406178" y="1325880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1709928"/>
            <a:ext cx="1692946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13232" y="1746504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8746" y="1709928"/>
            <a:ext cx="1598894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406178" y="1746504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140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130552"/>
            <a:ext cx="169294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13232" y="2167128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8746" y="2130552"/>
            <a:ext cx="159889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406178" y="2167128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92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551176"/>
            <a:ext cx="1692946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13232" y="2587752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78746" y="2551176"/>
            <a:ext cx="1598894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2406178" y="2587752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2971800"/>
            <a:ext cx="169294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13232" y="3008376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8746" y="2971800"/>
            <a:ext cx="159889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2406178" y="3008376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392424"/>
            <a:ext cx="1692946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13232" y="3429000"/>
            <a:ext cx="163808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78746" y="3392424"/>
            <a:ext cx="1598894" cy="420624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406178" y="3429000"/>
            <a:ext cx="154403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343400" y="868680"/>
          <a:ext cx="67665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1"/>
          <p:cNvGraphicFramePr/>
          <p:nvPr/>
        </p:nvGraphicFramePr>
        <p:xfrm>
          <a:off x="4343400" y="3657600"/>
          <a:ext cx="67665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8036"/>
            <a:ext cx="96658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Continuous variable: histogram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2253872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950976"/>
            <a:ext cx="219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39672" y="914400"/>
            <a:ext cx="1220848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967104" y="950976"/>
            <a:ext cx="116598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Number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25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13232" y="1453896"/>
            <a:ext cx="219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[0 ; 50]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39672" y="1417320"/>
            <a:ext cx="1220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2967104" y="1453896"/>
            <a:ext cx="116598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225387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13232" y="1956816"/>
            <a:ext cx="219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[50 ; 60]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39672" y="1920240"/>
            <a:ext cx="1220848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967104" y="1956816"/>
            <a:ext cx="116598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2423160"/>
            <a:ext cx="225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13232" y="2459736"/>
            <a:ext cx="219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[60 ; 70]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39672" y="2423160"/>
            <a:ext cx="1220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967104" y="2459736"/>
            <a:ext cx="116598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2926080"/>
            <a:ext cx="225387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22" name="Text 20"/>
          <p:cNvSpPr/>
          <p:nvPr/>
        </p:nvSpPr>
        <p:spPr>
          <a:xfrm>
            <a:off x="713232" y="2962656"/>
            <a:ext cx="219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[70 ; 100]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39672" y="2926080"/>
            <a:ext cx="1220848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2967104" y="2962656"/>
            <a:ext cx="116598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7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" y="484632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Important: if the classes do not have the same width, the height of the rectangle must be adjusted.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4286C55-2DB1-65AD-2CBE-F2E4E7CE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36" y="877121"/>
            <a:ext cx="4923691" cy="28005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429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Open classes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First open class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 class of the type “&lt; a” is closed by convention using the width of the second class.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261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Last open class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 class of the type “≥ a” is closed by convention using the width of the penultimate class.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3246120"/>
            <a:ext cx="2205711" cy="38404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233672" y="3282696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11951" y="3246120"/>
            <a:ext cx="1726209" cy="38404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6439383" y="3282696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Number of visitors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3630168"/>
            <a:ext cx="220571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233672" y="3666744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&lt; 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11951" y="3630168"/>
            <a:ext cx="17262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439383" y="3666744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4014216"/>
            <a:ext cx="2205711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233672" y="4050792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[18 ; 20]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1951" y="4014216"/>
            <a:ext cx="1726209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439383" y="4050792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4398264"/>
            <a:ext cx="220571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24" name="Text 22"/>
          <p:cNvSpPr/>
          <p:nvPr/>
        </p:nvSpPr>
        <p:spPr>
          <a:xfrm>
            <a:off x="4233672" y="4434840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[20 ; 30]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11951" y="4398264"/>
            <a:ext cx="17262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6439383" y="4434840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4782312"/>
            <a:ext cx="2205711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233672" y="4818888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[30 ; 35]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1951" y="4782312"/>
            <a:ext cx="1726209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6439383" y="4818888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30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5166360"/>
            <a:ext cx="220571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4233672" y="5202936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[35 ; 50]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1951" y="5166360"/>
            <a:ext cx="17262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6439383" y="5202936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23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5550408"/>
            <a:ext cx="2205711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4233672" y="5586984"/>
            <a:ext cx="21508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≥ 50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11951" y="5550408"/>
            <a:ext cx="1726209" cy="38404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6439383" y="5586984"/>
            <a:ext cx="1671345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5. Excel application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65176"/>
            <a:ext cx="886250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Excel: summarize the data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338328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COUNT / COUNTA
</a:t>
            </a:r>
            <a:r>
              <a:rPr lang="en-US" sz="1300" dirty="0">
                <a:solidFill>
                  <a:srgbClr val="333333"/>
                </a:solidFill>
              </a:rPr>
              <a:t>Count numerical values or non-empty cells.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38328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COUNTIF
</a:t>
            </a:r>
            <a:r>
              <a:rPr lang="en-US" sz="1300" dirty="0">
                <a:solidFill>
                  <a:srgbClr val="333333"/>
                </a:solidFill>
              </a:rPr>
              <a:t>Count cells that satisfy a criterion.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914400"/>
            <a:ext cx="338328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COUNTIFS
</a:t>
            </a:r>
            <a:r>
              <a:rPr lang="en-US" sz="1300" dirty="0">
                <a:solidFill>
                  <a:srgbClr val="333333"/>
                </a:solidFill>
              </a:rPr>
              <a:t>Count cells according to several criteria.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Create the summary tables for the variables Gender, Study and Number of children.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Calculate counts, frequencies and cumulative frequencies.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Build the appropriate graphs for each variable.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Use pivot tables when relevant.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88036"/>
            <a:ext cx="883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Practical case: company A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2179320" cy="56692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950976"/>
            <a:ext cx="21244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Variable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65120" y="914400"/>
            <a:ext cx="2971800" cy="56692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892552" y="950976"/>
            <a:ext cx="291693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Nature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6920" y="914400"/>
            <a:ext cx="5547360" cy="56692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864352" y="950976"/>
            <a:ext cx="549249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481328"/>
            <a:ext cx="2179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13232" y="1517904"/>
            <a:ext cx="21244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Gender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65120" y="1481328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2892552" y="1517904"/>
            <a:ext cx="291693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Nominal qualitative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36920" y="1481328"/>
            <a:ext cx="554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5864352" y="1517904"/>
            <a:ext cx="549249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Table + graph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2048256"/>
            <a:ext cx="217932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13232" y="2084832"/>
            <a:ext cx="21244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Study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65120" y="2048256"/>
            <a:ext cx="297180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892552" y="2084832"/>
            <a:ext cx="291693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Ordinal qualitative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36920" y="2048256"/>
            <a:ext cx="554736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864352" y="2084832"/>
            <a:ext cx="549249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Table + graph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2615184"/>
            <a:ext cx="2179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13232" y="2651760"/>
            <a:ext cx="21244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Nb of children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65120" y="2615184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2892552" y="2651760"/>
            <a:ext cx="291693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Discrete quantitative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36920" y="2615184"/>
            <a:ext cx="554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864352" y="2651760"/>
            <a:ext cx="549249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Table + cumulative values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3182112"/>
            <a:ext cx="217932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13232" y="3218688"/>
            <a:ext cx="21244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Salary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865120" y="3182112"/>
            <a:ext cx="297180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892552" y="3218688"/>
            <a:ext cx="291693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Continuous quantitative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36920" y="3182112"/>
            <a:ext cx="5547360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5864352" y="3218688"/>
            <a:ext cx="549249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Classes + histogram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Source used: Practical Work document – Session 3 and file PW – Session 3.xlsx.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65" y="320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Epilogue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Univariate treatment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F0000"/>
                </a:solidFill>
              </a:rPr>
              <a:t>By the end of this session, you should know</a:t>
            </a:r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969264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Identify the nature of a variable.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Build a summary table from raw data.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Calculate counts, frequencies and cumulative frequencies.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Choose a graph adapted to the variable studied.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Use Excel to produce tables and graphs.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Mercedeh ERFANIANGHASAB: Mercedeh.ERFANIANGHASAB@essca.fr (Lyon)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Jérémy CELSE: jeremy.celse@essca.fr (Bordeaux)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1230</Words>
  <Application>Microsoft Macintosh PowerPoint</Application>
  <PresentationFormat>Widescreen</PresentationFormat>
  <Paragraphs>291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Description de données</dc:subject>
  <dc:creator>ESSCA</dc:creator>
  <cp:lastModifiedBy>Mercede Erfanianghasab</cp:lastModifiedBy>
  <cp:revision>10</cp:revision>
  <dcterms:created xsi:type="dcterms:W3CDTF">2026-07-16T14:46:00Z</dcterms:created>
  <dcterms:modified xsi:type="dcterms:W3CDTF">2026-09-09T17:06:28Z</dcterms:modified>
</cp:coreProperties>
</file>