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16F837-1C8E-4FB7-834B-458ACF236868}" v="2" dt="2021-10-14T10:14:43.8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–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–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02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2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1516F837-1C8E-4FB7-834B-458ACF236868}"/>
    <pc:docChg chg="modSld">
      <pc:chgData name="KACHOUR Maher" userId="09775c39-7739-40bf-ba04-c8ef3ab24a94" providerId="ADAL" clId="{1516F837-1C8E-4FB7-834B-458ACF236868}" dt="2021-10-14T16:12:28.700" v="121" actId="20577"/>
      <pc:docMkLst>
        <pc:docMk/>
      </pc:docMkLst>
      <pc:sldChg chg="modSp mod">
        <pc:chgData name="KACHOUR Maher" userId="09775c39-7739-40bf-ba04-c8ef3ab24a94" providerId="ADAL" clId="{1516F837-1C8E-4FB7-834B-458ACF236868}" dt="2021-10-14T10:14:00.317" v="44" actId="20577"/>
        <pc:sldMkLst>
          <pc:docMk/>
          <pc:sldMk cId="3884457258" sldId="256"/>
        </pc:sldMkLst>
        <pc:spChg chg="mod">
          <ac:chgData name="KACHOUR Maher" userId="09775c39-7739-40bf-ba04-c8ef3ab24a94" providerId="ADAL" clId="{1516F837-1C8E-4FB7-834B-458ACF236868}" dt="2021-10-14T10:12:46.658" v="12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516F837-1C8E-4FB7-834B-458ACF236868}" dt="2021-10-14T10:13:36.060" v="27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1516F837-1C8E-4FB7-834B-458ACF236868}" dt="2021-10-14T10:14:00.317" v="44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0:12:42.309" v="10" actId="20577"/>
        <pc:sldMkLst>
          <pc:docMk/>
          <pc:sldMk cId="0" sldId="257"/>
        </pc:sldMkLst>
        <pc:spChg chg="mod">
          <ac:chgData name="KACHOUR Maher" userId="09775c39-7739-40bf-ba04-c8ef3ab24a94" providerId="ADAL" clId="{1516F837-1C8E-4FB7-834B-458ACF236868}" dt="2021-10-14T10:12:42.309" v="10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1516F837-1C8E-4FB7-834B-458ACF236868}" dt="2021-10-14T10:16:08.792" v="117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516F837-1C8E-4FB7-834B-458ACF236868}" dt="2021-10-14T10:16:08.792" v="117" actId="20577"/>
          <ac:spMkLst>
            <pc:docMk/>
            <pc:sldMk cId="1632906986" sldId="258"/>
            <ac:spMk id="2" creationId="{A4AEDEBA-6FE9-4F23-B02B-9FB71BC17484}"/>
          </ac:spMkLst>
        </pc:spChg>
        <pc:graphicFrameChg chg="modGraphic">
          <ac:chgData name="KACHOUR Maher" userId="09775c39-7739-40bf-ba04-c8ef3ab24a94" providerId="ADAL" clId="{1516F837-1C8E-4FB7-834B-458ACF236868}" dt="2021-10-14T10:14:21.481" v="60" actId="20577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0:15:29.617" v="92" actId="20577"/>
        <pc:sldMkLst>
          <pc:docMk/>
          <pc:sldMk cId="3342625250" sldId="259"/>
        </pc:sldMkLst>
        <pc:spChg chg="mod">
          <ac:chgData name="KACHOUR Maher" userId="09775c39-7739-40bf-ba04-c8ef3ab24a94" providerId="ADAL" clId="{1516F837-1C8E-4FB7-834B-458ACF236868}" dt="2021-10-14T10:14:31.010" v="62" actId="20577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1516F837-1C8E-4FB7-834B-458ACF236868}" dt="2021-10-14T10:15:29.617" v="92" actId="20577"/>
          <ac:spMkLst>
            <pc:docMk/>
            <pc:sldMk cId="3342625250" sldId="259"/>
            <ac:spMk id="3" creationId="{86DA4EC6-6600-48BE-AED2-90A0A908CF8F}"/>
          </ac:spMkLst>
        </pc:spChg>
        <pc:graphicFrameChg chg="modGraphic">
          <ac:chgData name="KACHOUR Maher" userId="09775c39-7739-40bf-ba04-c8ef3ab24a94" providerId="ADAL" clId="{1516F837-1C8E-4FB7-834B-458ACF236868}" dt="2021-10-14T10:15:08.492" v="81" actId="20577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modSp mod">
        <pc:chgData name="KACHOUR Maher" userId="09775c39-7739-40bf-ba04-c8ef3ab24a94" providerId="ADAL" clId="{1516F837-1C8E-4FB7-834B-458ACF236868}" dt="2021-10-14T16:12:28.700" v="121" actId="20577"/>
        <pc:sldMkLst>
          <pc:docMk/>
          <pc:sldMk cId="962425727" sldId="260"/>
        </pc:sldMkLst>
        <pc:spChg chg="mod">
          <ac:chgData name="KACHOUR Maher" userId="09775c39-7739-40bf-ba04-c8ef3ab24a94" providerId="ADAL" clId="{1516F837-1C8E-4FB7-834B-458ACF236868}" dt="2021-10-14T10:16:15.095" v="119" actId="20577"/>
          <ac:spMkLst>
            <pc:docMk/>
            <pc:sldMk cId="962425727" sldId="260"/>
            <ac:spMk id="2" creationId="{159DF4AF-EB56-497F-9EC4-3792B7715C09}"/>
          </ac:spMkLst>
        </pc:spChg>
        <pc:graphicFrameChg chg="modGraphic">
          <ac:chgData name="KACHOUR Maher" userId="09775c39-7739-40bf-ba04-c8ef3ab24a94" providerId="ADAL" clId="{1516F837-1C8E-4FB7-834B-458ACF236868}" dt="2021-10-14T16:12:28.700" v="121" actId="20577"/>
          <ac:graphicFrameMkLst>
            <pc:docMk/>
            <pc:sldMk cId="962425727" sldId="260"/>
            <ac:graphicFrameMk id="4" creationId="{D8731FE7-289F-4569-8899-DD98785D8C02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09/09/2026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5" name="Rectangle 1444">
            <a:extLst>
              <a:ext uri="{FF2B5EF4-FFF2-40B4-BE49-F238E27FC236}">
                <a16:creationId xmlns:a16="http://schemas.microsoft.com/office/drawing/2014/main" id="{D0461F72-A27E-48C5-A99A-B5EEDA745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3349167"/>
            <a:ext cx="9144000" cy="1748373"/>
          </a:xfrm>
        </p:spPr>
        <p:txBody>
          <a:bodyPr>
            <a:normAutofit/>
          </a:bodyPr>
          <a:lstStyle/>
          <a:p>
            <a:r>
              <a:rPr lang="en-AU" sz="8000" b="1" dirty="0">
                <a:latin typeface="Arial" panose="020B0604020202020204" pitchFamily="34" charset="0"/>
                <a:cs typeface="Arial" panose="020B0604020202020204" pitchFamily="34" charset="0"/>
              </a:rPr>
              <a:t>Data Description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5189616"/>
            <a:ext cx="9144000" cy="913864"/>
          </a:xfrm>
        </p:spPr>
        <p:txBody>
          <a:bodyPr>
            <a:normAutofit/>
          </a:bodyPr>
          <a:lstStyle/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Session 1 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Mercedeh ERFANIANGHASAB &amp; Jérémy CELSE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BF95DD-533A-19FB-1B29-5CBCDD2F7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6" y="902057"/>
            <a:ext cx="10905067" cy="1935649"/>
          </a:xfrm>
          <a:custGeom>
            <a:avLst/>
            <a:gdLst/>
            <a:ahLst/>
            <a:cxnLst/>
            <a:rect l="l" t="t" r="r" b="b"/>
            <a:pathLst>
              <a:path w="9143998" h="2473607">
                <a:moveTo>
                  <a:pt x="64634" y="0"/>
                </a:moveTo>
                <a:lnTo>
                  <a:pt x="9079363" y="0"/>
                </a:lnTo>
                <a:cubicBezTo>
                  <a:pt x="9115060" y="0"/>
                  <a:pt x="9143998" y="28938"/>
                  <a:pt x="9143998" y="64635"/>
                </a:cubicBezTo>
                <a:lnTo>
                  <a:pt x="9143998" y="2408972"/>
                </a:lnTo>
                <a:cubicBezTo>
                  <a:pt x="9143998" y="2444669"/>
                  <a:pt x="9115060" y="2473607"/>
                  <a:pt x="9079363" y="2473607"/>
                </a:cubicBezTo>
                <a:lnTo>
                  <a:pt x="64634" y="2473607"/>
                </a:lnTo>
                <a:cubicBezTo>
                  <a:pt x="46786" y="2473607"/>
                  <a:pt x="30627" y="2466373"/>
                  <a:pt x="18930" y="2454676"/>
                </a:cubicBezTo>
                <a:lnTo>
                  <a:pt x="0" y="2408974"/>
                </a:lnTo>
                <a:lnTo>
                  <a:pt x="0" y="64633"/>
                </a:lnTo>
                <a:lnTo>
                  <a:pt x="18930" y="18931"/>
                </a:lnTo>
                <a:cubicBezTo>
                  <a:pt x="30627" y="7235"/>
                  <a:pt x="46786" y="0"/>
                  <a:pt x="64634" y="0"/>
                </a:cubicBezTo>
                <a:close/>
              </a:path>
            </a:pathLst>
          </a:custGeom>
        </p:spPr>
      </p:pic>
      <p:sp>
        <p:nvSpPr>
          <p:cNvPr id="1447" name="Oval 1446">
            <a:extLst>
              <a:ext uri="{FF2B5EF4-FFF2-40B4-BE49-F238E27FC236}">
                <a16:creationId xmlns:a16="http://schemas.microsoft.com/office/drawing/2014/main" id="{DF382E8D-312B-4792-A211-0BDE37F6F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5562" y="2623216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solidFill>
                <a:schemeClr val="accent5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9" name="Arc 1448">
            <a:extLst>
              <a:ext uri="{FF2B5EF4-FFF2-40B4-BE49-F238E27FC236}">
                <a16:creationId xmlns:a16="http://schemas.microsoft.com/office/drawing/2014/main" id="{036F9B07-02BE-4BD5-BA9D-E91B8A456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38539" y="361268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40" name="TextBox 1439"/>
          <p:cNvSpPr txBox="1"/>
          <p:nvPr/>
        </p:nvSpPr>
        <p:spPr>
          <a:xfrm>
            <a:off x="411480" y="6291072"/>
            <a:ext cx="285206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600"/>
              </a:spcAft>
              <a:defRPr sz="800">
                <a:solidFill>
                  <a:srgbClr val="595959"/>
                </a:solidFill>
              </a:defRPr>
            </a:pPr>
            <a:r>
              <a:rPr lang="en-GB" sz="800"/>
              <a:t>Mercedeh.ERFANIANGHASAB@essca.fr | jeremy.celse@essca.fr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1" y="479493"/>
            <a:ext cx="52578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dirty="0">
                <a:latin typeface="Arial" panose="020B0604020202020204" pitchFamily="34" charset="0"/>
                <a:cs typeface="Arial" panose="020B0604020202020204" pitchFamily="34" charset="0"/>
              </a:rPr>
              <a:t>Exercise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838201" y="1984443"/>
            <a:ext cx="5257800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just"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temperature (i.e. measured between 7am and 7.30am) over 100 days chosen randomly from the periods of winter observed for the last 20 years.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Complete the following table: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9855623"/>
                  </p:ext>
                </p:extLst>
              </p:nvPr>
            </p:nvGraphicFramePr>
            <p:xfrm>
              <a:off x="6541053" y="1654131"/>
              <a:ext cx="4777383" cy="3377031"/>
            </p:xfrm>
            <a:graphic>
              <a:graphicData uri="http://schemas.openxmlformats.org/drawingml/2006/table">
                <a:tbl>
                  <a:tblPr firstRow="1" bandRow="1">
                    <a:solidFill>
                      <a:schemeClr val="bg1"/>
                    </a:solidFill>
                    <a:tableStyleId>{5C22544A-7EE6-4342-B048-85BDC9FD1C3A}</a:tableStyleId>
                  </a:tblPr>
                  <a:tblGrid>
                    <a:gridCol w="1396318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997927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11946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503064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565880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602248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672867">
                    <a:tc>
                      <a:txBody>
                        <a:bodyPr/>
                        <a:lstStyle/>
                        <a:p>
                          <a:r>
                            <a:rPr lang="fr-FR" sz="1500" b="0" cap="none" spc="0" err="1">
                              <a:solidFill>
                                <a:schemeClr val="bg1"/>
                              </a:solidFill>
                            </a:rPr>
                            <a:t>Temperature</a:t>
                          </a:r>
                          <a:endParaRPr lang="fr-FR" sz="1500" b="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23782" marR="95217" marT="95217" marB="9521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b="0" cap="none" spc="0" err="1">
                              <a:solidFill>
                                <a:schemeClr val="bg1"/>
                              </a:solidFill>
                            </a:rPr>
                            <a:t>Numbre</a:t>
                          </a:r>
                          <a:r>
                            <a:rPr lang="fr-FR" sz="1500" b="0" cap="none" spc="0">
                              <a:solidFill>
                                <a:schemeClr val="bg1"/>
                              </a:solidFill>
                            </a:rPr>
                            <a:t> of </a:t>
                          </a:r>
                          <a:r>
                            <a:rPr lang="fr-FR" sz="1500" b="0" cap="none" spc="0" err="1">
                              <a:solidFill>
                                <a:schemeClr val="bg1"/>
                              </a:solidFill>
                            </a:rPr>
                            <a:t>days</a:t>
                          </a:r>
                          <a:endParaRPr lang="fr-FR" sz="1500" b="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23782" marR="95217" marT="95217" marB="9521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1500" b="0" i="1" cap="none" spc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500" b="0" i="1" cap="none" spc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500" b="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500" b="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1500" b="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23782" marR="95217" marT="95217" marB="9521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1500" b="0" i="1" cap="none" spc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500" b="0" i="1" cap="none" spc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500" b="0" i="1" cap="none" spc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500" b="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23782" marR="95217" marT="95217" marB="9521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1500" b="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500" b="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500" b="0" i="1" cap="none" spc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500" b="0" i="1" cap="none" spc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1500" b="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23782" marR="95217" marT="95217" marB="9521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5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5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500" b="0" i="1" cap="none" spc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500" b="0" i="1" cap="none" spc="0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500" b="0" cap="none" spc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</a:p>
                      </a:txBody>
                      <a:tcPr marL="123782" marR="95217" marT="95217" marB="9521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 marL="123782" marR="95217" marT="95217" marB="9521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cap="none" spc="0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marL="123782" marR="95217" marT="95217" marB="9521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43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 marL="123782" marR="95217" marT="95217" marB="9521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cap="none" spc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b="1" cap="none" spc="0">
                              <a:solidFill>
                                <a:schemeClr val="tx1"/>
                              </a:solidFill>
                            </a:rPr>
                            <a:t>Total 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8D618231-F795-4672-A643-43223F39DF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9855623"/>
                  </p:ext>
                </p:extLst>
              </p:nvPr>
            </p:nvGraphicFramePr>
            <p:xfrm>
              <a:off x="6541053" y="1654131"/>
              <a:ext cx="4777383" cy="3377031"/>
            </p:xfrm>
            <a:graphic>
              <a:graphicData uri="http://schemas.openxmlformats.org/drawingml/2006/table">
                <a:tbl>
                  <a:tblPr firstRow="1" bandRow="1">
                    <a:solidFill>
                      <a:schemeClr val="bg1"/>
                    </a:solidFill>
                    <a:tableStyleId>{5C22544A-7EE6-4342-B048-85BDC9FD1C3A}</a:tableStyleId>
                  </a:tblPr>
                  <a:tblGrid>
                    <a:gridCol w="1396318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997927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711946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503064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565880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602248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672867">
                    <a:tc>
                      <a:txBody>
                        <a:bodyPr/>
                        <a:lstStyle/>
                        <a:p>
                          <a:r>
                            <a:rPr lang="fr-FR" sz="1500" b="0" cap="none" spc="0" err="1">
                              <a:solidFill>
                                <a:schemeClr val="bg1"/>
                              </a:solidFill>
                            </a:rPr>
                            <a:t>Temperature</a:t>
                          </a:r>
                          <a:endParaRPr lang="fr-FR" sz="1500" b="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23782" marR="95217" marT="95217" marB="95217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b="0" cap="none" spc="0" err="1">
                              <a:solidFill>
                                <a:schemeClr val="bg1"/>
                              </a:solidFill>
                            </a:rPr>
                            <a:t>Numbre</a:t>
                          </a:r>
                          <a:r>
                            <a:rPr lang="fr-FR" sz="1500" b="0" cap="none" spc="0">
                              <a:solidFill>
                                <a:schemeClr val="bg1"/>
                              </a:solidFill>
                            </a:rPr>
                            <a:t> of </a:t>
                          </a:r>
                          <a:r>
                            <a:rPr lang="fr-FR" sz="1500" b="0" cap="none" spc="0" err="1">
                              <a:solidFill>
                                <a:schemeClr val="bg1"/>
                              </a:solidFill>
                            </a:rPr>
                            <a:t>days</a:t>
                          </a:r>
                          <a:endParaRPr lang="fr-FR" sz="1500" b="0" cap="none" spc="0">
                            <a:solidFill>
                              <a:schemeClr val="bg1"/>
                            </a:solidFill>
                          </a:endParaRPr>
                        </a:p>
                      </a:txBody>
                      <a:tcPr marL="123782" marR="95217" marT="95217" marB="9521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solidFill>
                          <a:schemeClr val="tx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23782" marR="95217" marT="95217" marB="9521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blipFill>
                          <a:blip r:embed="rId2"/>
                          <a:stretch>
                            <a:fillRect l="-339286" t="-1887" r="-237500" b="-4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23782" marR="95217" marT="95217" marB="9521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blipFill>
                          <a:blip r:embed="rId2"/>
                          <a:stretch>
                            <a:fillRect l="-615000" t="-1887" r="-232500" b="-4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23782" marR="95217" marT="95217" marB="9521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blipFill>
                          <a:blip r:embed="rId2"/>
                          <a:stretch>
                            <a:fillRect l="-650000" t="-1887" r="-111364" b="-40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23782" marR="95217" marT="95217" marB="95217"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</a:lnT>
                        <a:lnB w="38100" cmpd="sng">
                          <a:noFill/>
                        </a:lnB>
                        <a:blipFill>
                          <a:blip r:embed="rId2"/>
                          <a:stretch>
                            <a:fillRect l="-687500" t="-1887" r="-2083" b="-40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-1</a:t>
                          </a:r>
                        </a:p>
                      </a:txBody>
                      <a:tcPr marL="123782" marR="95217" marT="95217" marB="9521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20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</a:lnR>
                        <a:lnT w="38100" cmpd="sng">
                          <a:noFill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0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cap="none" spc="0" dirty="0">
                              <a:solidFill>
                                <a:schemeClr val="tx1"/>
                              </a:solidFill>
                            </a:rPr>
                            <a:t>17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2</a:t>
                          </a:r>
                        </a:p>
                      </a:txBody>
                      <a:tcPr marL="123782" marR="95217" marT="95217" marB="9521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43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3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cap="none" spc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 marL="123782" marR="95217" marT="95217" marB="95217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sz="1500" cap="none" spc="0" dirty="0">
                              <a:solidFill>
                                <a:schemeClr val="tx1"/>
                              </a:solidFill>
                            </a:rPr>
                            <a:t>10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</a:lnR>
                        <a:lnT w="12700" cmpd="sng">
                          <a:noFill/>
                          <a:prstDash val="solid"/>
                        </a:lnT>
                        <a:lnB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450694">
                    <a:tc>
                      <a:txBody>
                        <a:bodyPr/>
                        <a:lstStyle/>
                        <a:p>
                          <a:r>
                            <a:rPr lang="fr-FR" sz="1500" b="1" cap="none" spc="0">
                              <a:solidFill>
                                <a:schemeClr val="tx1"/>
                              </a:solidFill>
                            </a:rPr>
                            <a:t>Total </a:t>
                          </a: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 sz="1500" cap="none" spc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123782" marR="95217" marT="95217" marB="95217">
                        <a:lnL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L>
                        <a:lnR w="12700" cmpd="sng">
                          <a:noFill/>
                          <a:prstDash val="solid"/>
                        </a:lnR>
                        <a:lnT w="6350" cap="flat" cmpd="sng" algn="ctr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prstDash val="solid"/>
                        </a:lnT>
                        <a:lnB w="12700" cmpd="sng">
                          <a:noFill/>
                          <a:prstDash val="soli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5915" y="585425"/>
            <a:ext cx="5962620" cy="886808"/>
          </a:xfrm>
        </p:spPr>
        <p:txBody>
          <a:bodyPr anchor="b">
            <a:normAutofit/>
          </a:bodyPr>
          <a:lstStyle/>
          <a:p>
            <a:r>
              <a:rPr lang="fr-FR" sz="4400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sz="4400" b="1" dirty="0">
                <a:latin typeface="Arial" panose="020B0604020202020204" pitchFamily="34" charset="0"/>
                <a:cs typeface="Arial" panose="020B0604020202020204" pitchFamily="34" charset="0"/>
              </a:rPr>
              <a:t> 1- Solution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1649623"/>
                  </p:ext>
                </p:extLst>
              </p:nvPr>
            </p:nvGraphicFramePr>
            <p:xfrm>
              <a:off x="775915" y="1839345"/>
              <a:ext cx="10480430" cy="443323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2846153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2065561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44879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44879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222325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44879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62758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err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Temperature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101879" marT="101879" marB="10187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err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Number</a:t>
                          </a:r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 of </a:t>
                          </a:r>
                          <a:r>
                            <a:rPr lang="fr-FR" sz="2600" err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days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101879" marT="101879" marB="101879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600" b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600" b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101879" marT="101879" marB="101879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101879" marT="101879" marB="101879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2600" b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600" b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600" b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101879" marT="101879" marB="101879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2600" b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2600" b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2600" b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2600" b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 </a:t>
                          </a:r>
                          <a:endParaRPr lang="fr-FR" sz="260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101879" marT="101879" marB="101879"/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356079"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-1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356079"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17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37%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17%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80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80%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356079"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43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80%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43%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63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63%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356079"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3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90%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356079"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7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356079">
                    <a:tc>
                      <a:txBody>
                        <a:bodyPr/>
                        <a:lstStyle/>
                        <a:p>
                          <a:r>
                            <a:rPr lang="fr-FR" sz="26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Total </a:t>
                          </a:r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au 5">
                <a:extLst>
                  <a:ext uri="{FF2B5EF4-FFF2-40B4-BE49-F238E27FC236}">
                    <a16:creationId xmlns:a16="http://schemas.microsoft.com/office/drawing/2014/main" id="{C5935286-E84C-4A5B-9E95-1C36A0F9B1C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1649623"/>
                  </p:ext>
                </p:extLst>
              </p:nvPr>
            </p:nvGraphicFramePr>
            <p:xfrm>
              <a:off x="775915" y="1839345"/>
              <a:ext cx="10480430" cy="4433230"/>
            </p:xfrm>
            <a:graphic>
              <a:graphicData uri="http://schemas.openxmlformats.org/drawingml/2006/table">
                <a:tbl>
                  <a:tblPr firstRow="1" bandRow="1">
                    <a:tableStyleId>{6E25E649-3F16-4E02-A733-19D2CDBF48F0}</a:tableStyleId>
                  </a:tblPr>
                  <a:tblGrid>
                    <a:gridCol w="2846153">
                      <a:extLst>
                        <a:ext uri="{9D8B030D-6E8A-4147-A177-3AD203B41FA5}">
                          <a16:colId xmlns:a16="http://schemas.microsoft.com/office/drawing/2014/main" val="3196339109"/>
                        </a:ext>
                      </a:extLst>
                    </a:gridCol>
                    <a:gridCol w="2065561">
                      <a:extLst>
                        <a:ext uri="{9D8B030D-6E8A-4147-A177-3AD203B41FA5}">
                          <a16:colId xmlns:a16="http://schemas.microsoft.com/office/drawing/2014/main" val="623701906"/>
                        </a:ext>
                      </a:extLst>
                    </a:gridCol>
                    <a:gridCol w="1448797">
                      <a:extLst>
                        <a:ext uri="{9D8B030D-6E8A-4147-A177-3AD203B41FA5}">
                          <a16:colId xmlns:a16="http://schemas.microsoft.com/office/drawing/2014/main" val="4094391380"/>
                        </a:ext>
                      </a:extLst>
                    </a:gridCol>
                    <a:gridCol w="1448797">
                      <a:extLst>
                        <a:ext uri="{9D8B030D-6E8A-4147-A177-3AD203B41FA5}">
                          <a16:colId xmlns:a16="http://schemas.microsoft.com/office/drawing/2014/main" val="3619983102"/>
                        </a:ext>
                      </a:extLst>
                    </a:gridCol>
                    <a:gridCol w="1222325">
                      <a:extLst>
                        <a:ext uri="{9D8B030D-6E8A-4147-A177-3AD203B41FA5}">
                          <a16:colId xmlns:a16="http://schemas.microsoft.com/office/drawing/2014/main" val="3899218944"/>
                        </a:ext>
                      </a:extLst>
                    </a:gridCol>
                    <a:gridCol w="1448797">
                      <a:extLst>
                        <a:ext uri="{9D8B030D-6E8A-4147-A177-3AD203B41FA5}">
                          <a16:colId xmlns:a16="http://schemas.microsoft.com/office/drawing/2014/main" val="533469163"/>
                        </a:ext>
                      </a:extLst>
                    </a:gridCol>
                  </a:tblGrid>
                  <a:tr h="99623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err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Temperature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101879" marT="101879" marB="101879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err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Number</a:t>
                          </a:r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 of </a:t>
                          </a:r>
                          <a:r>
                            <a:rPr lang="fr-FR" sz="2600" err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days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101879" marT="101879" marB="101879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69799" marR="101879" marT="101879" marB="101879">
                        <a:blipFill>
                          <a:blip r:embed="rId2"/>
                          <a:stretch>
                            <a:fillRect l="-340351" t="-1266" r="-285965" b="-355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69799" marR="101879" marT="101879" marB="101879">
                        <a:blipFill>
                          <a:blip r:embed="rId2"/>
                          <a:stretch>
                            <a:fillRect l="-440351" t="-1266" r="-185965" b="-355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69799" marR="101879" marT="101879" marB="101879">
                        <a:blipFill>
                          <a:blip r:embed="rId2"/>
                          <a:stretch>
                            <a:fillRect l="-635052" t="-1266" r="-118557" b="-3556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69799" marR="101879" marT="101879" marB="101879">
                        <a:blipFill>
                          <a:blip r:embed="rId2"/>
                          <a:stretch>
                            <a:fillRect l="-625439" t="-1266" r="-877" b="-3556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1406549"/>
                      </a:ext>
                    </a:extLst>
                  </a:tr>
                  <a:tr h="572832"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-1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1597273899"/>
                      </a:ext>
                    </a:extLst>
                  </a:tr>
                  <a:tr h="572832"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17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37%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17%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80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80%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3340744488"/>
                      </a:ext>
                    </a:extLst>
                  </a:tr>
                  <a:tr h="572832"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43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80%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43%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63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63%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3117472185"/>
                      </a:ext>
                    </a:extLst>
                  </a:tr>
                  <a:tr h="572832"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3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90%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2961163649"/>
                      </a:ext>
                    </a:extLst>
                  </a:tr>
                  <a:tr h="572832"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7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2867687223"/>
                      </a:ext>
                    </a:extLst>
                  </a:tr>
                  <a:tr h="572832">
                    <a:tc>
                      <a:txBody>
                        <a:bodyPr/>
                        <a:lstStyle/>
                        <a:p>
                          <a:r>
                            <a:rPr lang="fr-FR" sz="26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Total </a:t>
                          </a:r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tc>
                      <a:txBody>
                        <a:bodyPr/>
                        <a:lstStyle/>
                        <a:p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69799" marR="88296" marT="88296" marB="88296"/>
                    </a:tc>
                    <a:extLst>
                      <a:ext uri="{0D108BD9-81ED-4DB2-BD59-A6C34878D82A}">
                        <a16:rowId xmlns:a16="http://schemas.microsoft.com/office/drawing/2014/main" val="69417085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We studied the morning speed (i.e. measured (in Km/h) between 7am and 7.30am) of the wind on n days chosen randomly from the periods of winter observed for the last 20 years. 
Complete the following table:</a:t>
            </a:r>
            <a:r>
              <a:rPr lang="en-US" dirty="0"/>
              <a:t>
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0198529"/>
                  </p:ext>
                </p:extLst>
              </p:nvPr>
            </p:nvGraphicFramePr>
            <p:xfrm>
              <a:off x="6541053" y="1527849"/>
              <a:ext cx="5064793" cy="3629595"/>
            </p:xfrm>
            <a:graphic>
              <a:graphicData uri="http://schemas.openxmlformats.org/drawingml/2006/table">
                <a:tbl>
                  <a:tblPr firstRow="1" bandRow="1">
                    <a:tableStyleId>{EB344D84-9AFB-497E-A393-DC336BA19D2E}</a:tableStyleId>
                  </a:tblPr>
                  <a:tblGrid>
                    <a:gridCol w="1186129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004836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686208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834314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639873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713433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586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/>
                            <a:t>Speed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/>
                            <a:t>Number of days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1600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600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6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6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1600" b="1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1600" b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600" b="1" smtClean="0"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1600" b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16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6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1600" b="1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1600" b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1600" b="1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1600" b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1600" b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1600" b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1600" b="1" dirty="0">
                              <a:solidFill>
                                <a:schemeClr val="bg1"/>
                              </a:solidFill>
                            </a:rPr>
                            <a:t> </a:t>
                          </a:r>
                          <a:endParaRPr lang="fr-FR" sz="1600" b="1" dirty="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48695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[0 ; 10]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/>
                            <a:t>21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 dirty="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586441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[10 ; 30]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24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 dirty="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586441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[30 ; 70]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/>
                            <a:t>45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586441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[70 ; 100]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/>
                            <a:t>12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586441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[100 ; 150]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18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48695">
                    <a:tc>
                      <a:txBody>
                        <a:bodyPr/>
                        <a:lstStyle/>
                        <a:p>
                          <a:r>
                            <a:rPr lang="fr-FR" sz="1600" b="1"/>
                            <a:t>Total 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 dirty="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80198529"/>
                  </p:ext>
                </p:extLst>
              </p:nvPr>
            </p:nvGraphicFramePr>
            <p:xfrm>
              <a:off x="6541053" y="1527849"/>
              <a:ext cx="5064793" cy="3629595"/>
            </p:xfrm>
            <a:graphic>
              <a:graphicData uri="http://schemas.openxmlformats.org/drawingml/2006/table">
                <a:tbl>
                  <a:tblPr firstRow="1" bandRow="1">
                    <a:tableStyleId>{EB344D84-9AFB-497E-A393-DC336BA19D2E}</a:tableStyleId>
                  </a:tblPr>
                  <a:tblGrid>
                    <a:gridCol w="1186129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1004836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686208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834314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639873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713433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58644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/>
                            <a:t>Speed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1600"/>
                            <a:t>Number of days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79249" marR="79249" marT="39624" marB="39624">
                        <a:blipFill>
                          <a:blip r:embed="rId2"/>
                          <a:stretch>
                            <a:fillRect l="-320370" t="-4348" r="-320370" b="-5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79249" marR="79249" marT="39624" marB="39624">
                        <a:blipFill>
                          <a:blip r:embed="rId2"/>
                          <a:stretch>
                            <a:fillRect l="-349231" t="-4348" r="-166154" b="-5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79249" marR="79249" marT="39624" marB="39624">
                        <a:blipFill>
                          <a:blip r:embed="rId2"/>
                          <a:stretch>
                            <a:fillRect l="-572549" t="-4348" r="-111765" b="-53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79249" marR="79249" marT="39624" marB="39624">
                        <a:blipFill>
                          <a:blip r:embed="rId2"/>
                          <a:stretch>
                            <a:fillRect l="-612500" t="-4348" r="-1786" b="-5326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348695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[0 ; 10]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/>
                            <a:t>21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 dirty="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586441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[10 ; 30]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24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 dirty="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586441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[30 ; 70]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/>
                            <a:t>45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586441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[70 ; 100]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/>
                            <a:t>12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586441"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[100 ; 150]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1600" dirty="0"/>
                            <a:t>18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348695">
                    <a:tc>
                      <a:txBody>
                        <a:bodyPr/>
                        <a:lstStyle/>
                        <a:p>
                          <a:r>
                            <a:rPr lang="fr-FR" sz="1600" b="1"/>
                            <a:t>Total </a:t>
                          </a:r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/>
                        </a:p>
                      </a:txBody>
                      <a:tcPr marL="79249" marR="79249" marT="39624" marB="39624"/>
                    </a:tc>
                    <a:tc>
                      <a:txBody>
                        <a:bodyPr/>
                        <a:lstStyle/>
                        <a:p>
                          <a:endParaRPr lang="fr-FR" sz="1600" dirty="0"/>
                        </a:p>
                      </a:txBody>
                      <a:tcPr marL="79249" marR="79249" marT="39624" marB="39624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42625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9DF4AF-EB56-497F-9EC4-3792B7715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962" y="750619"/>
            <a:ext cx="10515599" cy="1325563"/>
          </a:xfrm>
        </p:spPr>
        <p:txBody>
          <a:bodyPr>
            <a:normAutofit/>
          </a:bodyPr>
          <a:lstStyle/>
          <a:p>
            <a:r>
              <a:rPr lang="fr-FR" b="1" dirty="0" err="1">
                <a:latin typeface="Arial" panose="020B0604020202020204" pitchFamily="34" charset="0"/>
                <a:cs typeface="Arial" panose="020B0604020202020204" pitchFamily="34" charset="0"/>
              </a:rPr>
              <a:t>Exercise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2 - Solution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DA4EC6-6600-48BE-AED2-90A0A908C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/>
          </a:p>
          <a:p>
            <a:pPr marL="0" indent="0">
              <a:buNone/>
            </a:pPr>
            <a:endParaRPr lang="fr-FR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9957902"/>
                  </p:ext>
                </p:extLst>
              </p:nvPr>
            </p:nvGraphicFramePr>
            <p:xfrm>
              <a:off x="984272" y="2020293"/>
              <a:ext cx="10178978" cy="4087088"/>
            </p:xfrm>
            <a:graphic>
              <a:graphicData uri="http://schemas.openxmlformats.org/drawingml/2006/table">
                <a:tbl>
                  <a:tblPr firstRow="1" bandRow="1">
                    <a:tableStyleId>{EB9631B5-78F2-41C9-869B-9F39066F8104}</a:tableStyleId>
                  </a:tblPr>
                  <a:tblGrid>
                    <a:gridCol w="1965723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2272868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559853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559853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260828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559853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7596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Speed</a:t>
                          </a:r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1" err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Number</a:t>
                          </a:r>
                          <a:r>
                            <a:rPr lang="fr-FR" sz="26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 of </a:t>
                          </a:r>
                          <a:r>
                            <a:rPr lang="fr-FR" sz="2600" b="1" err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days</a:t>
                          </a:r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600" b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600" b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60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  <m:sub>
                                    <m: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Sup>
                                  <m:sSubSupPr>
                                    <m:ctrlPr>
                                      <a:rPr lang="fr-FR" sz="2600" b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2600" b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e>
                                  <m:sub>
                                    <m:r>
                                      <a:rPr lang="fr-FR" sz="2600" b="1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  <m:sup>
                                    <m:r>
                                      <a:rPr lang="fr-FR" sz="2600" b="1" smtClean="0">
                                        <a:solidFill>
                                          <a:schemeClr val="tx1">
                                            <a:lumMod val="75000"/>
                                            <a:lumOff val="2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fr-FR" sz="2600" b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2600" b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e>
                                <m:sub>
                                  <m:r>
                                    <a:rPr lang="fr-FR" sz="2600" b="1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fr-FR" sz="2600" b="1" smtClean="0">
                                      <a:solidFill>
                                        <a:schemeClr val="tx1">
                                          <a:lumMod val="75000"/>
                                          <a:lumOff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bSup>
                            </m:oMath>
                          </a14:m>
                          <a:r>
                            <a:rPr lang="fr-FR" sz="2600" b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 </a:t>
                          </a:r>
                          <a:endParaRPr lang="fr-FR" sz="2600" b="1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413010"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[0 ; 10]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21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17.5%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17.5%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120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413010"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[10 ; 30]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24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37.5%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99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82.5%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413010"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[30 ; 70]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45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75%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37.5%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75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62.5%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413010"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[70 ; 100]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12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85%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30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413010"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[100 ; 150]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18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18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413010">
                    <a:tc>
                      <a:txBody>
                        <a:bodyPr/>
                        <a:lstStyle/>
                        <a:p>
                          <a:r>
                            <a:rPr lang="fr-FR" sz="26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Total </a:t>
                          </a:r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120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au 3">
                <a:extLst>
                  <a:ext uri="{FF2B5EF4-FFF2-40B4-BE49-F238E27FC236}">
                    <a16:creationId xmlns:a16="http://schemas.microsoft.com/office/drawing/2014/main" id="{D8731FE7-289F-4569-8899-DD98785D8C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9957902"/>
                  </p:ext>
                </p:extLst>
              </p:nvPr>
            </p:nvGraphicFramePr>
            <p:xfrm>
              <a:off x="984272" y="2020293"/>
              <a:ext cx="10178978" cy="4087088"/>
            </p:xfrm>
            <a:graphic>
              <a:graphicData uri="http://schemas.openxmlformats.org/drawingml/2006/table">
                <a:tbl>
                  <a:tblPr firstRow="1" bandRow="1">
                    <a:tableStyleId>{EB9631B5-78F2-41C9-869B-9F39066F8104}</a:tableStyleId>
                  </a:tblPr>
                  <a:tblGrid>
                    <a:gridCol w="1965723">
                      <a:extLst>
                        <a:ext uri="{9D8B030D-6E8A-4147-A177-3AD203B41FA5}">
                          <a16:colId xmlns:a16="http://schemas.microsoft.com/office/drawing/2014/main" val="2512171411"/>
                        </a:ext>
                      </a:extLst>
                    </a:gridCol>
                    <a:gridCol w="2272868">
                      <a:extLst>
                        <a:ext uri="{9D8B030D-6E8A-4147-A177-3AD203B41FA5}">
                          <a16:colId xmlns:a16="http://schemas.microsoft.com/office/drawing/2014/main" val="174336170"/>
                        </a:ext>
                      </a:extLst>
                    </a:gridCol>
                    <a:gridCol w="1559853">
                      <a:extLst>
                        <a:ext uri="{9D8B030D-6E8A-4147-A177-3AD203B41FA5}">
                          <a16:colId xmlns:a16="http://schemas.microsoft.com/office/drawing/2014/main" val="681406848"/>
                        </a:ext>
                      </a:extLst>
                    </a:gridCol>
                    <a:gridCol w="1559853">
                      <a:extLst>
                        <a:ext uri="{9D8B030D-6E8A-4147-A177-3AD203B41FA5}">
                          <a16:colId xmlns:a16="http://schemas.microsoft.com/office/drawing/2014/main" val="2671491569"/>
                        </a:ext>
                      </a:extLst>
                    </a:gridCol>
                    <a:gridCol w="1260828">
                      <a:extLst>
                        <a:ext uri="{9D8B030D-6E8A-4147-A177-3AD203B41FA5}">
                          <a16:colId xmlns:a16="http://schemas.microsoft.com/office/drawing/2014/main" val="3509455883"/>
                        </a:ext>
                      </a:extLst>
                    </a:gridCol>
                    <a:gridCol w="1559853">
                      <a:extLst>
                        <a:ext uri="{9D8B030D-6E8A-4147-A177-3AD203B41FA5}">
                          <a16:colId xmlns:a16="http://schemas.microsoft.com/office/drawing/2014/main" val="3214901987"/>
                        </a:ext>
                      </a:extLst>
                    </a:gridCol>
                  </a:tblGrid>
                  <a:tr h="92350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Speed</a:t>
                          </a:r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fr-FR" sz="2600" b="1" err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Number</a:t>
                          </a:r>
                          <a:r>
                            <a:rPr lang="fr-FR" sz="26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 of </a:t>
                          </a:r>
                          <a:r>
                            <a:rPr lang="fr-FR" sz="2600" b="1" err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days</a:t>
                          </a:r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31024" marR="98268" marT="65512" marB="65512">
                        <a:blipFill>
                          <a:blip r:embed="rId2"/>
                          <a:stretch>
                            <a:fillRect l="-271545" t="-4110" r="-282114" b="-3575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31024" marR="98268" marT="65512" marB="65512">
                        <a:blipFill>
                          <a:blip r:embed="rId2"/>
                          <a:stretch>
                            <a:fillRect l="-371545" t="-4110" r="-182114" b="-3575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31024" marR="98268" marT="65512" marB="65512">
                        <a:blipFill>
                          <a:blip r:embed="rId2"/>
                          <a:stretch>
                            <a:fillRect l="-585859" t="-4110" r="-126263" b="-3575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 marL="131024" marR="98268" marT="65512" marB="65512">
                        <a:blipFill>
                          <a:blip r:embed="rId2"/>
                          <a:stretch>
                            <a:fillRect l="-552033" t="-4110" r="-1626" b="-3575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3465849"/>
                      </a:ext>
                    </a:extLst>
                  </a:tr>
                  <a:tr h="527264"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[0 ; 10]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21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17.5%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17.5%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120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3657244147"/>
                      </a:ext>
                    </a:extLst>
                  </a:tr>
                  <a:tr h="527264"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[10 ; 30]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24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37.5%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99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82.5%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3646404715"/>
                      </a:ext>
                    </a:extLst>
                  </a:tr>
                  <a:tr h="527264"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[30 ; 70]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45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75%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37.5%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75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62.5%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1730413526"/>
                      </a:ext>
                    </a:extLst>
                  </a:tr>
                  <a:tr h="527264"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[70 ; 100]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12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85%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30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25%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1218259845"/>
                      </a:ext>
                    </a:extLst>
                  </a:tr>
                  <a:tr h="527264">
                    <a:tc>
                      <a:txBody>
                        <a:bodyPr/>
                        <a:lstStyle/>
                        <a:p>
                          <a:r>
                            <a:rPr lang="fr-FR" sz="2600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[100 ; 150]</a:t>
                          </a:r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18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18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15%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2393789884"/>
                      </a:ext>
                    </a:extLst>
                  </a:tr>
                  <a:tr h="527264">
                    <a:tc>
                      <a:txBody>
                        <a:bodyPr/>
                        <a:lstStyle/>
                        <a:p>
                          <a:r>
                            <a:rPr lang="fr-FR" sz="2600" b="1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Total </a:t>
                          </a:r>
                          <a:endParaRPr lang="fr-FR" sz="2600" b="1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120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r>
                            <a:rPr lang="fr-FR" sz="260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</a:rPr>
                            <a:t>100%</a:t>
                          </a:r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endParaRPr lang="fr-FR" sz="260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tc>
                      <a:txBody>
                        <a:bodyPr/>
                        <a:lstStyle/>
                        <a:p>
                          <a:endParaRPr lang="fr-FR" sz="2600" dirty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131024" marR="98268" marT="65512" marB="65512"/>
                    </a:tc>
                    <a:extLst>
                      <a:ext uri="{0D108BD9-81ED-4DB2-BD59-A6C34878D82A}">
                        <a16:rowId xmlns:a16="http://schemas.microsoft.com/office/drawing/2014/main" val="124066641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9624257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316</Words>
  <Application>Microsoft Macintosh PowerPoint</Application>
  <PresentationFormat>Widescreen</PresentationFormat>
  <Paragraphs>123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Thème Office</vt:lpstr>
      <vt:lpstr>Data Description </vt:lpstr>
      <vt:lpstr>Exercise 1</vt:lpstr>
      <vt:lpstr>Exercise 1- Solution</vt:lpstr>
      <vt:lpstr>Exercise 2</vt:lpstr>
      <vt:lpstr>Exercise 2 -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Mercede Erfanianghasab</cp:lastModifiedBy>
  <cp:revision>7</cp:revision>
  <dcterms:created xsi:type="dcterms:W3CDTF">2021-10-14T08:08:29Z</dcterms:created>
  <dcterms:modified xsi:type="dcterms:W3CDTF">2026-09-09T17:28:50Z</dcterms:modified>
</cp:coreProperties>
</file>