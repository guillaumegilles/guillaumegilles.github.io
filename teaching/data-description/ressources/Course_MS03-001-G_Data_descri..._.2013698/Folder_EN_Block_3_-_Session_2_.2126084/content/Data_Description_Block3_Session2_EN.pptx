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320" r:id="rId3"/>
    <p:sldId id="394" r:id="rId4"/>
    <p:sldId id="395" r:id="rId5"/>
    <p:sldId id="256" r:id="rId6"/>
    <p:sldId id="258" r:id="rId7"/>
    <p:sldId id="259" r:id="rId8"/>
    <p:sldId id="260" r:id="rId9"/>
    <p:sldId id="261" r:id="rId10"/>
    <p:sldId id="396" r:id="rId11"/>
    <p:sldId id="369" r:id="rId12"/>
    <p:sldId id="391" r:id="rId13"/>
    <p:sldId id="398" r:id="rId14"/>
    <p:sldId id="328" r:id="rId15"/>
    <p:sldId id="334" r:id="rId16"/>
    <p:sldId id="336" r:id="rId17"/>
    <p:sldId id="392" r:id="rId18"/>
    <p:sldId id="393" r:id="rId19"/>
    <p:sldId id="269" r:id="rId20"/>
    <p:sldId id="388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9317FE-3A34-DBC0-8689-16D69D0379A3}" v="1" dt="2026-07-16T09:07:35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FANIANGHASAB Mercedeh" userId="S::mercedeh.erfanianghasab@essca.fr::df756d52-3e74-4ac2-b7fc-e2292514ac35" providerId="AD" clId="Web-{759317FE-3A34-DBC0-8689-16D69D0379A3}"/>
    <pc:docChg chg="modSld">
      <pc:chgData name="ERFANIANGHASAB Mercedeh" userId="S::mercedeh.erfanianghasab@essca.fr::df756d52-3e74-4ac2-b7fc-e2292514ac35" providerId="AD" clId="Web-{759317FE-3A34-DBC0-8689-16D69D0379A3}" dt="2026-07-16T09:07:35.741" v="0" actId="1076"/>
      <pc:docMkLst>
        <pc:docMk/>
      </pc:docMkLst>
      <pc:sldChg chg="modSp">
        <pc:chgData name="ERFANIANGHASAB Mercedeh" userId="S::mercedeh.erfanianghasab@essca.fr::df756d52-3e74-4ac2-b7fc-e2292514ac35" providerId="AD" clId="Web-{759317FE-3A34-DBC0-8689-16D69D0379A3}" dt="2026-07-16T09:07:35.741" v="0" actId="1076"/>
        <pc:sldMkLst>
          <pc:docMk/>
          <pc:sldMk cId="4174888335" sldId="391"/>
        </pc:sldMkLst>
        <pc:picChg chg="mod">
          <ac:chgData name="ERFANIANGHASAB Mercedeh" userId="S::mercedeh.erfanianghasab@essca.fr::df756d52-3e74-4ac2-b7fc-e2292514ac35" providerId="AD" clId="Web-{759317FE-3A34-DBC0-8689-16D69D0379A3}" dt="2026-07-16T09:07:35.741" v="0" actId="1076"/>
          <ac:picMkLst>
            <pc:docMk/>
            <pc:sldMk cId="4174888335" sldId="391"/>
            <ac:picMk id="4" creationId="{9BBEE78C-3A1E-49F6-8688-076CF7B5642E}"/>
          </ac:picMkLst>
        </pc:picChg>
      </pc:sldChg>
    </pc:docChg>
  </pc:docChgLst>
  <pc:docChgLst>
    <pc:chgData name="CELSE Jeremy" userId="a0ba9a67-d84b-4a32-9589-b4b1bf394c13" providerId="ADAL" clId="{BEC5D84A-2B48-4ECB-9C8D-93CC8A7B4DA7}"/>
    <pc:docChg chg="custSel modSld">
      <pc:chgData name="CELSE Jeremy" userId="a0ba9a67-d84b-4a32-9589-b4b1bf394c13" providerId="ADAL" clId="{BEC5D84A-2B48-4ECB-9C8D-93CC8A7B4DA7}" dt="2026-07-02T15:50:42.928" v="13" actId="14100"/>
      <pc:docMkLst>
        <pc:docMk/>
      </pc:docMkLst>
      <pc:sldChg chg="modSp mod">
        <pc:chgData name="CELSE Jeremy" userId="a0ba9a67-d84b-4a32-9589-b4b1bf394c13" providerId="ADAL" clId="{BEC5D84A-2B48-4ECB-9C8D-93CC8A7B4DA7}" dt="2026-07-02T15:50:42.928" v="13" actId="14100"/>
        <pc:sldMkLst>
          <pc:docMk/>
          <pc:sldMk cId="1337931670" sldId="257"/>
        </pc:sldMkLst>
        <pc:spChg chg="mod">
          <ac:chgData name="CELSE Jeremy" userId="a0ba9a67-d84b-4a32-9589-b4b1bf394c13" providerId="ADAL" clId="{BEC5D84A-2B48-4ECB-9C8D-93CC8A7B4DA7}" dt="2026-07-02T15:50:42.928" v="13" actId="14100"/>
          <ac:spMkLst>
            <pc:docMk/>
            <pc:sldMk cId="1337931670" sldId="257"/>
            <ac:spMk id="6" creationId="{A2132C0B-224C-98FA-684F-F6F2D72F5DA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0D91C9-786A-4757-9963-921224699553}" type="doc">
      <dgm:prSet loTypeId="urn:microsoft.com/office/officeart/2018/5/layout/IconLeafLabelList" loCatId="icon" qsTypeId="urn:microsoft.com/office/officeart/2005/8/quickstyle/simple1#3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0950D651-E23A-4FCB-A748-6E4EAF3AC105}">
      <dgm:prSet/>
      <dgm:spPr/>
      <dgm:t>
        <a:bodyPr/>
        <a:lstStyle/>
        <a:p>
          <a:pPr>
            <a:defRPr cap="all"/>
          </a:pPr>
          <a:r>
            <a:rPr lang="fr-FR"/>
            <a:t>Calculate covariance regardless of the variable types</a:t>
          </a:r>
          <a:endParaRPr lang="en-US"/>
        </a:p>
      </dgm:t>
    </dgm:pt>
    <dgm:pt modelId="{DD454212-3C2A-444B-BF32-E9BFD8FD1792}" type="parTrans" cxnId="{9CC8AEB1-BE06-45D4-B080-CEBD26FA669C}">
      <dgm:prSet/>
      <dgm:spPr/>
      <dgm:t>
        <a:bodyPr/>
        <a:lstStyle/>
        <a:p>
          <a:endParaRPr lang="en-US"/>
        </a:p>
      </dgm:t>
    </dgm:pt>
    <dgm:pt modelId="{6BF51AD0-B315-40C2-A6FF-3A949761836F}" type="sibTrans" cxnId="{9CC8AEB1-BE06-45D4-B080-CEBD26FA669C}">
      <dgm:prSet/>
      <dgm:spPr/>
      <dgm:t>
        <a:bodyPr/>
        <a:lstStyle/>
        <a:p>
          <a:endParaRPr lang="en-US"/>
        </a:p>
      </dgm:t>
    </dgm:pt>
    <dgm:pt modelId="{6E7F8B7F-17B4-4E11-B7C5-C82D0C24B341}">
      <dgm:prSet/>
      <dgm:spPr/>
      <dgm:t>
        <a:bodyPr/>
        <a:lstStyle/>
        <a:p>
          <a:pPr>
            <a:defRPr cap="all"/>
          </a:pPr>
          <a:r>
            <a:rPr lang="fr-FR"/>
            <a:t>Calculate a linear correlation coefficient</a:t>
          </a:r>
          <a:endParaRPr lang="en-US"/>
        </a:p>
      </dgm:t>
    </dgm:pt>
    <dgm:pt modelId="{AE30FC88-7698-4099-86B2-7EBC9AE09232}" type="parTrans" cxnId="{53F02377-075E-4E78-AE2D-697C58FEB25D}">
      <dgm:prSet/>
      <dgm:spPr/>
      <dgm:t>
        <a:bodyPr/>
        <a:lstStyle/>
        <a:p>
          <a:endParaRPr lang="en-US"/>
        </a:p>
      </dgm:t>
    </dgm:pt>
    <dgm:pt modelId="{C41825A2-0829-4B32-90BF-92909E108E90}" type="sibTrans" cxnId="{53F02377-075E-4E78-AE2D-697C58FEB25D}">
      <dgm:prSet/>
      <dgm:spPr/>
      <dgm:t>
        <a:bodyPr/>
        <a:lstStyle/>
        <a:p>
          <a:endParaRPr lang="en-US"/>
        </a:p>
      </dgm:t>
    </dgm:pt>
    <dgm:pt modelId="{9C3E9C71-2B8F-4720-B9D0-B94CE73D9F9D}">
      <dgm:prSet/>
      <dgm:spPr/>
      <dgm:t>
        <a:bodyPr/>
        <a:lstStyle/>
        <a:p>
          <a:pPr>
            <a:defRPr cap="all"/>
          </a:pPr>
          <a:r>
            <a:rPr lang="fr-FR" err="1"/>
            <a:t>Interpret a linear correlation coefficient</a:t>
          </a:r>
          <a:endParaRPr lang="en-US"/>
        </a:p>
      </dgm:t>
    </dgm:pt>
    <dgm:pt modelId="{0691D22B-0464-402F-8238-1A699C07EE61}" type="parTrans" cxnId="{6CE464F0-77CD-4BB1-9F64-0F8165B787DF}">
      <dgm:prSet/>
      <dgm:spPr/>
      <dgm:t>
        <a:bodyPr/>
        <a:lstStyle/>
        <a:p>
          <a:endParaRPr lang="en-US"/>
        </a:p>
      </dgm:t>
    </dgm:pt>
    <dgm:pt modelId="{29945338-716A-4852-AF9F-416673AB8CDC}" type="sibTrans" cxnId="{6CE464F0-77CD-4BB1-9F64-0F8165B787DF}">
      <dgm:prSet/>
      <dgm:spPr/>
      <dgm:t>
        <a:bodyPr/>
        <a:lstStyle/>
        <a:p>
          <a:endParaRPr lang="en-US"/>
        </a:p>
      </dgm:t>
    </dgm:pt>
    <dgm:pt modelId="{A7A766E1-EB7A-42D6-BFCE-FBB7D3783889}" type="pres">
      <dgm:prSet presAssocID="{400D91C9-786A-4757-9963-921224699553}" presName="root" presStyleCnt="0">
        <dgm:presLayoutVars>
          <dgm:dir/>
          <dgm:resizeHandles val="exact"/>
        </dgm:presLayoutVars>
      </dgm:prSet>
      <dgm:spPr/>
    </dgm:pt>
    <dgm:pt modelId="{B84E6081-76AD-442D-A586-28B92E3C20E7}" type="pres">
      <dgm:prSet presAssocID="{0950D651-E23A-4FCB-A748-6E4EAF3AC105}" presName="compNode" presStyleCnt="0"/>
      <dgm:spPr/>
    </dgm:pt>
    <dgm:pt modelId="{1384E2D6-1F0D-4ABA-9FAF-75B244765062}" type="pres">
      <dgm:prSet presAssocID="{0950D651-E23A-4FCB-A748-6E4EAF3AC10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FDD95A0-5FE5-4CC3-9D8B-AFDB181EC3B4}" type="pres">
      <dgm:prSet presAssocID="{0950D651-E23A-4FCB-A748-6E4EAF3AC10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ques"/>
        </a:ext>
      </dgm:extLst>
    </dgm:pt>
    <dgm:pt modelId="{3E8C7A31-71BA-417A-853C-1D5910ACDDBA}" type="pres">
      <dgm:prSet presAssocID="{0950D651-E23A-4FCB-A748-6E4EAF3AC105}" presName="spaceRect" presStyleCnt="0"/>
      <dgm:spPr/>
    </dgm:pt>
    <dgm:pt modelId="{DD5387A1-FFAF-4793-A41B-A46CDE26AFAC}" type="pres">
      <dgm:prSet presAssocID="{0950D651-E23A-4FCB-A748-6E4EAF3AC105}" presName="textRect" presStyleLbl="revTx" presStyleIdx="0" presStyleCnt="3">
        <dgm:presLayoutVars>
          <dgm:chMax val="1"/>
          <dgm:chPref val="1"/>
        </dgm:presLayoutVars>
      </dgm:prSet>
      <dgm:spPr/>
    </dgm:pt>
    <dgm:pt modelId="{54A694D3-57D9-4911-9CF0-CD88F1E44080}" type="pres">
      <dgm:prSet presAssocID="{6BF51AD0-B315-40C2-A6FF-3A949761836F}" presName="sibTrans" presStyleCnt="0"/>
      <dgm:spPr/>
    </dgm:pt>
    <dgm:pt modelId="{E8D9FB4F-0859-47E0-AC90-9FB62EB9F9C6}" type="pres">
      <dgm:prSet presAssocID="{6E7F8B7F-17B4-4E11-B7C5-C82D0C24B341}" presName="compNode" presStyleCnt="0"/>
      <dgm:spPr/>
    </dgm:pt>
    <dgm:pt modelId="{AAD9F1E0-D346-4F9C-B5A7-EF6DDA35167D}" type="pres">
      <dgm:prSet presAssocID="{6E7F8B7F-17B4-4E11-B7C5-C82D0C24B34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FA59485-7491-435D-862D-B17C410ECDA6}" type="pres">
      <dgm:prSet presAssocID="{6E7F8B7F-17B4-4E11-B7C5-C82D0C24B34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age"/>
        </a:ext>
      </dgm:extLst>
    </dgm:pt>
    <dgm:pt modelId="{EA7B10B0-4BB2-492F-9250-745045D2DDA6}" type="pres">
      <dgm:prSet presAssocID="{6E7F8B7F-17B4-4E11-B7C5-C82D0C24B341}" presName="spaceRect" presStyleCnt="0"/>
      <dgm:spPr/>
    </dgm:pt>
    <dgm:pt modelId="{B3F4D985-0AD0-4771-966B-12321842F4E3}" type="pres">
      <dgm:prSet presAssocID="{6E7F8B7F-17B4-4E11-B7C5-C82D0C24B341}" presName="textRect" presStyleLbl="revTx" presStyleIdx="1" presStyleCnt="3">
        <dgm:presLayoutVars>
          <dgm:chMax val="1"/>
          <dgm:chPref val="1"/>
        </dgm:presLayoutVars>
      </dgm:prSet>
      <dgm:spPr/>
    </dgm:pt>
    <dgm:pt modelId="{34C14E47-917E-4E30-8D3D-72CAD914ECCB}" type="pres">
      <dgm:prSet presAssocID="{C41825A2-0829-4B32-90BF-92909E108E90}" presName="sibTrans" presStyleCnt="0"/>
      <dgm:spPr/>
    </dgm:pt>
    <dgm:pt modelId="{D7499404-0C47-4C39-A19A-6A7D8908D2B9}" type="pres">
      <dgm:prSet presAssocID="{9C3E9C71-2B8F-4720-B9D0-B94CE73D9F9D}" presName="compNode" presStyleCnt="0"/>
      <dgm:spPr/>
    </dgm:pt>
    <dgm:pt modelId="{7D7D9909-0443-44E8-9A15-985529361AA0}" type="pres">
      <dgm:prSet presAssocID="{9C3E9C71-2B8F-4720-B9D0-B94CE73D9F9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AC58C9B-AE2D-4F8E-82E0-48A70ECC8331}" type="pres">
      <dgm:prSet presAssocID="{9C3E9C71-2B8F-4720-B9D0-B94CE73D9F9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rice"/>
        </a:ext>
      </dgm:extLst>
    </dgm:pt>
    <dgm:pt modelId="{4DBDD79A-D64C-462C-8A08-6050957EA6BB}" type="pres">
      <dgm:prSet presAssocID="{9C3E9C71-2B8F-4720-B9D0-B94CE73D9F9D}" presName="spaceRect" presStyleCnt="0"/>
      <dgm:spPr/>
    </dgm:pt>
    <dgm:pt modelId="{0D7A2557-B5A8-4A2B-9523-7CD697477277}" type="pres">
      <dgm:prSet presAssocID="{9C3E9C71-2B8F-4720-B9D0-B94CE73D9F9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7B8D20C-D206-4DB9-8ACA-CF104717E8FF}" type="presOf" srcId="{6E7F8B7F-17B4-4E11-B7C5-C82D0C24B341}" destId="{B3F4D985-0AD0-4771-966B-12321842F4E3}" srcOrd="0" destOrd="0" presId="urn:microsoft.com/office/officeart/2018/5/layout/IconLeafLabelList"/>
    <dgm:cxn modelId="{BE209F56-2843-45ED-A52B-9E3F505509FA}" type="presOf" srcId="{400D91C9-786A-4757-9963-921224699553}" destId="{A7A766E1-EB7A-42D6-BFCE-FBB7D3783889}" srcOrd="0" destOrd="0" presId="urn:microsoft.com/office/officeart/2018/5/layout/IconLeafLabelList"/>
    <dgm:cxn modelId="{53F02377-075E-4E78-AE2D-697C58FEB25D}" srcId="{400D91C9-786A-4757-9963-921224699553}" destId="{6E7F8B7F-17B4-4E11-B7C5-C82D0C24B341}" srcOrd="1" destOrd="0" parTransId="{AE30FC88-7698-4099-86B2-7EBC9AE09232}" sibTransId="{C41825A2-0829-4B32-90BF-92909E108E90}"/>
    <dgm:cxn modelId="{9CC8AEB1-BE06-45D4-B080-CEBD26FA669C}" srcId="{400D91C9-786A-4757-9963-921224699553}" destId="{0950D651-E23A-4FCB-A748-6E4EAF3AC105}" srcOrd="0" destOrd="0" parTransId="{DD454212-3C2A-444B-BF32-E9BFD8FD1792}" sibTransId="{6BF51AD0-B315-40C2-A6FF-3A949761836F}"/>
    <dgm:cxn modelId="{5C11E8BB-9ECF-492B-9C92-554D72EE3C4E}" type="presOf" srcId="{0950D651-E23A-4FCB-A748-6E4EAF3AC105}" destId="{DD5387A1-FFAF-4793-A41B-A46CDE26AFAC}" srcOrd="0" destOrd="0" presId="urn:microsoft.com/office/officeart/2018/5/layout/IconLeafLabelList"/>
    <dgm:cxn modelId="{6CE464F0-77CD-4BB1-9F64-0F8165B787DF}" srcId="{400D91C9-786A-4757-9963-921224699553}" destId="{9C3E9C71-2B8F-4720-B9D0-B94CE73D9F9D}" srcOrd="2" destOrd="0" parTransId="{0691D22B-0464-402F-8238-1A699C07EE61}" sibTransId="{29945338-716A-4852-AF9F-416673AB8CDC}"/>
    <dgm:cxn modelId="{724D3BF4-444D-44C0-8368-E1E461A644AB}" type="presOf" srcId="{9C3E9C71-2B8F-4720-B9D0-B94CE73D9F9D}" destId="{0D7A2557-B5A8-4A2B-9523-7CD697477277}" srcOrd="0" destOrd="0" presId="urn:microsoft.com/office/officeart/2018/5/layout/IconLeafLabelList"/>
    <dgm:cxn modelId="{CFF1C017-FC60-45A7-BA31-2764D5FACEA0}" type="presParOf" srcId="{A7A766E1-EB7A-42D6-BFCE-FBB7D3783889}" destId="{B84E6081-76AD-442D-A586-28B92E3C20E7}" srcOrd="0" destOrd="0" presId="urn:microsoft.com/office/officeart/2018/5/layout/IconLeafLabelList"/>
    <dgm:cxn modelId="{E7A2B5FF-A534-4FA4-87D1-1C12BDBE635E}" type="presParOf" srcId="{B84E6081-76AD-442D-A586-28B92E3C20E7}" destId="{1384E2D6-1F0D-4ABA-9FAF-75B244765062}" srcOrd="0" destOrd="0" presId="urn:microsoft.com/office/officeart/2018/5/layout/IconLeafLabelList"/>
    <dgm:cxn modelId="{9A881558-82C7-47FB-94EA-375DE4DAE1E6}" type="presParOf" srcId="{B84E6081-76AD-442D-A586-28B92E3C20E7}" destId="{AFDD95A0-5FE5-4CC3-9D8B-AFDB181EC3B4}" srcOrd="1" destOrd="0" presId="urn:microsoft.com/office/officeart/2018/5/layout/IconLeafLabelList"/>
    <dgm:cxn modelId="{C6D19129-2B62-49EA-88E1-AFA86010FD36}" type="presParOf" srcId="{B84E6081-76AD-442D-A586-28B92E3C20E7}" destId="{3E8C7A31-71BA-417A-853C-1D5910ACDDBA}" srcOrd="2" destOrd="0" presId="urn:microsoft.com/office/officeart/2018/5/layout/IconLeafLabelList"/>
    <dgm:cxn modelId="{7C8A7D94-366F-4E63-B166-3634613E5D85}" type="presParOf" srcId="{B84E6081-76AD-442D-A586-28B92E3C20E7}" destId="{DD5387A1-FFAF-4793-A41B-A46CDE26AFAC}" srcOrd="3" destOrd="0" presId="urn:microsoft.com/office/officeart/2018/5/layout/IconLeafLabelList"/>
    <dgm:cxn modelId="{25E83DA1-2800-4224-911E-607BD5F16B78}" type="presParOf" srcId="{A7A766E1-EB7A-42D6-BFCE-FBB7D3783889}" destId="{54A694D3-57D9-4911-9CF0-CD88F1E44080}" srcOrd="1" destOrd="0" presId="urn:microsoft.com/office/officeart/2018/5/layout/IconLeafLabelList"/>
    <dgm:cxn modelId="{3ACE93BA-55F1-4350-90D4-B5DB4CFD6269}" type="presParOf" srcId="{A7A766E1-EB7A-42D6-BFCE-FBB7D3783889}" destId="{E8D9FB4F-0859-47E0-AC90-9FB62EB9F9C6}" srcOrd="2" destOrd="0" presId="urn:microsoft.com/office/officeart/2018/5/layout/IconLeafLabelList"/>
    <dgm:cxn modelId="{B9CB2C10-AB47-4195-AF20-B06018BF1673}" type="presParOf" srcId="{E8D9FB4F-0859-47E0-AC90-9FB62EB9F9C6}" destId="{AAD9F1E0-D346-4F9C-B5A7-EF6DDA35167D}" srcOrd="0" destOrd="0" presId="urn:microsoft.com/office/officeart/2018/5/layout/IconLeafLabelList"/>
    <dgm:cxn modelId="{416F0F8B-98F5-4876-B44E-ABFEB0304CBA}" type="presParOf" srcId="{E8D9FB4F-0859-47E0-AC90-9FB62EB9F9C6}" destId="{3FA59485-7491-435D-862D-B17C410ECDA6}" srcOrd="1" destOrd="0" presId="urn:microsoft.com/office/officeart/2018/5/layout/IconLeafLabelList"/>
    <dgm:cxn modelId="{FFCFC360-B3EC-42DB-86F3-F1528E10BF79}" type="presParOf" srcId="{E8D9FB4F-0859-47E0-AC90-9FB62EB9F9C6}" destId="{EA7B10B0-4BB2-492F-9250-745045D2DDA6}" srcOrd="2" destOrd="0" presId="urn:microsoft.com/office/officeart/2018/5/layout/IconLeafLabelList"/>
    <dgm:cxn modelId="{4E4D8C03-929A-4EC1-983B-4B1C96B883B3}" type="presParOf" srcId="{E8D9FB4F-0859-47E0-AC90-9FB62EB9F9C6}" destId="{B3F4D985-0AD0-4771-966B-12321842F4E3}" srcOrd="3" destOrd="0" presId="urn:microsoft.com/office/officeart/2018/5/layout/IconLeafLabelList"/>
    <dgm:cxn modelId="{B734A720-F023-4ED3-88ED-1264175637C3}" type="presParOf" srcId="{A7A766E1-EB7A-42D6-BFCE-FBB7D3783889}" destId="{34C14E47-917E-4E30-8D3D-72CAD914ECCB}" srcOrd="3" destOrd="0" presId="urn:microsoft.com/office/officeart/2018/5/layout/IconLeafLabelList"/>
    <dgm:cxn modelId="{3D7C02B4-05AE-4998-9716-8A7EE3B19E02}" type="presParOf" srcId="{A7A766E1-EB7A-42D6-BFCE-FBB7D3783889}" destId="{D7499404-0C47-4C39-A19A-6A7D8908D2B9}" srcOrd="4" destOrd="0" presId="urn:microsoft.com/office/officeart/2018/5/layout/IconLeafLabelList"/>
    <dgm:cxn modelId="{91979423-28EB-497D-84E5-D863134DB0C3}" type="presParOf" srcId="{D7499404-0C47-4C39-A19A-6A7D8908D2B9}" destId="{7D7D9909-0443-44E8-9A15-985529361AA0}" srcOrd="0" destOrd="0" presId="urn:microsoft.com/office/officeart/2018/5/layout/IconLeafLabelList"/>
    <dgm:cxn modelId="{CF1B64FD-C7E7-4905-A656-EB490CD26596}" type="presParOf" srcId="{D7499404-0C47-4C39-A19A-6A7D8908D2B9}" destId="{8AC58C9B-AE2D-4F8E-82E0-48A70ECC8331}" srcOrd="1" destOrd="0" presId="urn:microsoft.com/office/officeart/2018/5/layout/IconLeafLabelList"/>
    <dgm:cxn modelId="{3972E1F5-EC06-41A1-ADFD-1C39AEDF5A77}" type="presParOf" srcId="{D7499404-0C47-4C39-A19A-6A7D8908D2B9}" destId="{4DBDD79A-D64C-462C-8A08-6050957EA6BB}" srcOrd="2" destOrd="0" presId="urn:microsoft.com/office/officeart/2018/5/layout/IconLeafLabelList"/>
    <dgm:cxn modelId="{469F5134-077F-47E9-857B-D8D77B9EB94A}" type="presParOf" srcId="{D7499404-0C47-4C39-A19A-6A7D8908D2B9}" destId="{0D7A2557-B5A8-4A2B-9523-7CD69747727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4E2D6-1F0D-4ABA-9FAF-75B244765062}">
      <dsp:nvSpPr>
        <dsp:cNvPr id="0" name=""/>
        <dsp:cNvSpPr/>
      </dsp:nvSpPr>
      <dsp:spPr>
        <a:xfrm>
          <a:off x="679050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DD95A0-5FE5-4CC3-9D8B-AFDB181EC3B4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387A1-FFAF-4793-A41B-A46CDE26AFAC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/>
            <a:t>Calculate covariance regardless of the variable types</a:t>
          </a:r>
          <a:endParaRPr lang="en-US" sz="1700" kern="1200"/>
        </a:p>
      </dsp:txBody>
      <dsp:txXfrm>
        <a:off x="75768" y="3053169"/>
        <a:ext cx="3093750" cy="720000"/>
      </dsp:txXfrm>
    </dsp:sp>
    <dsp:sp modelId="{AAD9F1E0-D346-4F9C-B5A7-EF6DDA35167D}">
      <dsp:nvSpPr>
        <dsp:cNvPr id="0" name=""/>
        <dsp:cNvSpPr/>
      </dsp:nvSpPr>
      <dsp:spPr>
        <a:xfrm>
          <a:off x="4314206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59485-7491-435D-862D-B17C410ECDA6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4D985-0AD0-4771-966B-12321842F4E3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/>
            <a:t>Calculate a linear correlation coefficient</a:t>
          </a:r>
          <a:endParaRPr lang="en-US" sz="1700" kern="1200"/>
        </a:p>
      </dsp:txBody>
      <dsp:txXfrm>
        <a:off x="3710925" y="3053169"/>
        <a:ext cx="3093750" cy="720000"/>
      </dsp:txXfrm>
    </dsp:sp>
    <dsp:sp modelId="{7D7D9909-0443-44E8-9A15-985529361AA0}">
      <dsp:nvSpPr>
        <dsp:cNvPr id="0" name=""/>
        <dsp:cNvSpPr/>
      </dsp:nvSpPr>
      <dsp:spPr>
        <a:xfrm>
          <a:off x="7949362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58C9B-AE2D-4F8E-82E0-48A70ECC8331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A2557-B5A8-4A2B-9523-7CD697477277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 err="1"/>
            <a:t>Interpret a linear correlation coefficient</a:t>
          </a:r>
          <a:endParaRPr lang="en-US" sz="1700" kern="1200"/>
        </a:p>
      </dsp:txBody>
      <dsp:txXfrm>
        <a:off x="7346081" y="3053169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1E8B5-3C0D-49CF-9880-8E93E63E886A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9E9F2-299C-4833-9594-7CE707198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0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A2D54E-70E3-D414-4A45-0F1661F16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0647F8-EE5C-2319-71F3-194907446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Edit the Master subtitle style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001B7B-2C6D-26F2-7092-6808144B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0FB48B-5E2D-9EA2-C6AC-8A7AB42F0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91B10-2FA0-27AB-5CF5-FA194AD0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16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97BD3-6C73-F550-96A7-C3ECF921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22E786-A9C4-FD96-E305-CEE26E821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FA6DA9-0D64-BB7D-7B0C-A46112B0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4BF930-9AEC-B979-53C1-F2AF8816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35B09-392B-B6A2-6C1E-8507D992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30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D51E2-840D-8660-2533-A8900CDC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028AFA-A28D-AC2E-F703-D913E3AFE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0F129B-FD9D-8167-3A24-4877E3CB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20EE54-8E47-896B-F48C-E19BA368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760C1F-FA42-C5C5-94E5-1BE9AA25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648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A44A03-7034-ED3F-F62A-59543EFE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5AB712-8CA2-1964-7D5D-1737F7A9B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6533E9-04AA-3D0C-B2FE-B5B303277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1700D1-5023-BAC9-3BFD-9D4A7DF3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FF5D4C-BC43-F7CA-6C06-B233F6D3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7191A4-3032-CA3E-E0AD-DA0448C9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89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688480-3B24-A2E9-35B4-7D43870D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58A7ED-3620-DD55-F848-83E89E07A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6C6F7D-6553-9475-3157-21188810B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05666E-8B2C-801D-EB81-8EA9BF9D8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978EBD5-D343-6B07-E4BB-3C49FC1C2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BE24EC-5B1F-C0F1-F6BE-E8AA4AA1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448B51-F16B-8000-AA63-9A3C30A6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37E02E9-E1D5-DAF5-79CB-CBAD85E0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52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A6094-7658-CF14-5AB5-DD6A1EAE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7834B5-412E-BF19-3E52-9A2DFEF6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5E2B1F-5663-EDF3-EF3E-5C138A03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DE9492-19C7-E9F0-7BD2-23BAFF41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1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98E067-A00E-9E8A-778F-E50825857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9E1DCC-3DD3-1C38-AA73-55B3FD1EB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7F2773-960F-2FDA-8FF1-FEABD4C9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301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79361-2156-BCAD-84C5-8255FB87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BF8300-0DA7-8E2F-5E0A-3F9CAA2C0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1D41A7-AA3D-DCAA-E180-C4E2AAB2E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940E69-A5BE-6019-9E35-D2CBDD35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F9D60E-2587-03C1-FB97-CE0F7976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7414F6-EED5-6FC8-7BE9-3BA10F5F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15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2A4B7-7405-F9C8-78D5-0B0EA01A6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CBA520-D25A-EC1A-172C-A6A8796D2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5ADCB6-F810-519E-81B2-CE552D9DC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5D3566-4B52-4800-2666-D7F0D3FD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E1EEA7-2284-9F6E-BC15-3FEA64C4D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A097D4-15EA-16E6-A0CE-22344C68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28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8EFDE5-5E19-3B73-9365-FABA6532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0235C0-ED9A-8389-C8D0-83F41CE71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A38346-0B81-56BF-8461-8834A276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E0B2A1-564E-8046-BDCB-561B37DC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D03DC9-D5F3-359C-2705-B218FA27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450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54743B-D3F3-1987-6149-96DB1006F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AEEFCB-C95A-B4EC-0424-42339FD97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A52273-AEEE-31DB-5509-616A6BC5A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44E176-A7ED-4C74-2948-B8A681F8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612729-EE2D-1A17-FB45-2681CB7A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824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dèle 1re page 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198D8D-9E77-AF87-BE94-9B8F51335F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5932683"/>
            <a:ext cx="9144000" cy="694376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1600" b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01/01/2022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1FCDA5-ED94-E6D7-74CB-8626CF46D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86545" y="2897605"/>
            <a:ext cx="5772728" cy="1058638"/>
          </a:xfrm>
        </p:spPr>
        <p:txBody>
          <a:bodyPr wrap="square" anchor="ctr" anchorCtr="1">
            <a:norm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fr-FR"/>
              <a:t>Document 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024D03-1CBA-EB1A-54AA-DEA3735F4B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542" y="573867"/>
            <a:ext cx="1122915" cy="959952"/>
          </a:xfrm>
          <a:prstGeom prst="rect">
            <a:avLst/>
          </a:prstGeom>
        </p:spPr>
      </p:pic>
      <p:sp>
        <p:nvSpPr>
          <p:cNvPr id="9" name="Sous-titre 2">
            <a:extLst>
              <a:ext uri="{FF2B5EF4-FFF2-40B4-BE49-F238E27FC236}">
                <a16:creationId xmlns:a16="http://schemas.microsoft.com/office/drawing/2014/main" id="{36FFF7F4-1568-3C17-FB36-BAE1A6E58E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4971" y="4151244"/>
            <a:ext cx="9144000" cy="845581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Document subtitle</a:t>
            </a:r>
          </a:p>
        </p:txBody>
      </p:sp>
    </p:spTree>
    <p:extLst>
      <p:ext uri="{BB962C8B-B14F-4D97-AF65-F5344CB8AC3E}">
        <p14:creationId xmlns:p14="http://schemas.microsoft.com/office/powerpoint/2010/main" val="392797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de fin (1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8544580B-B751-4A5C-FEC3-4108E6713A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12"/>
          <a:stretch/>
        </p:blipFill>
        <p:spPr>
          <a:xfrm>
            <a:off x="3819784" y="2434236"/>
            <a:ext cx="4755174" cy="2137764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8B7FA22-D6B7-A243-67CA-D519CE66A3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21575" y="4159249"/>
            <a:ext cx="4351338" cy="212356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8020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90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9BB5DE-D4C8-E78D-D90F-5FCE6999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85D63-E2E2-5C3F-9449-72C2A39BB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A056D0-B3E3-A315-0732-F03FEE269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4A6319-2007-9F30-F691-662748231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BBC9BF-C39F-3AAC-1B78-DF52267A6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2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jeremy.celse@essca.fr" TargetMode="External"/><Relationship Id="rId2" Type="http://schemas.openxmlformats.org/officeDocument/2006/relationships/hyperlink" Target="mailto:Mercedeh.ERFANIANGHASAB@essca.fr" TargetMode="Externa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2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95C8C18-10BE-4833-AC05-71B726078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012" y="2015412"/>
            <a:ext cx="10590245" cy="1132522"/>
          </a:xfrm>
        </p:spPr>
        <p:txBody>
          <a:bodyPr>
            <a:normAutofit/>
          </a:bodyPr>
          <a:lstStyle/>
          <a:p>
            <a:r>
              <a:rPr lang="fr-FR" b="1" noProof="0">
                <a:solidFill>
                  <a:srgbClr val="FF0000"/>
                </a:solidFill>
              </a:rPr>
              <a:t>Data Description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90BDC04F-C140-4403-A0F7-BECC96EF7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744" y="5809340"/>
            <a:ext cx="11615485" cy="845581"/>
          </a:xfrm>
        </p:spPr>
        <p:txBody>
          <a:bodyPr>
            <a:normAutofit/>
          </a:bodyPr>
          <a:lstStyle/>
          <a:p>
            <a:r>
              <a:rPr lang="fr-FR" noProof="0"/>
              <a:t>Module coordinators: Mercedeh ERFANIANGHASAB &amp; Jérémy CELSE</a:t>
            </a:r>
          </a:p>
        </p:txBody>
      </p:sp>
      <p:sp>
        <p:nvSpPr>
          <p:cNvPr id="2" name="Sous-titre 3">
            <a:extLst>
              <a:ext uri="{FF2B5EF4-FFF2-40B4-BE49-F238E27FC236}">
                <a16:creationId xmlns:a16="http://schemas.microsoft.com/office/drawing/2014/main" id="{F0F44388-DCCF-713B-DB77-2EA1C32AA18F}"/>
              </a:ext>
            </a:extLst>
          </p:cNvPr>
          <p:cNvSpPr txBox="1">
            <a:spLocks/>
          </p:cNvSpPr>
          <p:nvPr/>
        </p:nvSpPr>
        <p:spPr>
          <a:xfrm>
            <a:off x="226743" y="5152271"/>
            <a:ext cx="11615485" cy="845581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noProof="0"/>
              <a:t>Instructor: INSERT NAME</a:t>
            </a:r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EAD49BF0-621E-0DF3-164E-3F61AAB7615D}"/>
              </a:ext>
            </a:extLst>
          </p:cNvPr>
          <p:cNvSpPr txBox="1">
            <a:spLocks/>
          </p:cNvSpPr>
          <p:nvPr/>
        </p:nvSpPr>
        <p:spPr>
          <a:xfrm>
            <a:off x="464695" y="3238742"/>
            <a:ext cx="11221565" cy="1132522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noProof="0">
                <a:solidFill>
                  <a:srgbClr val="FF0000"/>
                </a:solidFill>
              </a:rPr>
              <a:t>Block 3 – Session 2: Bivariate Analysis and Application II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132C0B-224C-98FA-684F-F6F2D72F5DA1}"/>
              </a:ext>
            </a:extLst>
          </p:cNvPr>
          <p:cNvSpPr txBox="1"/>
          <p:nvPr/>
        </p:nvSpPr>
        <p:spPr>
          <a:xfrm>
            <a:off x="839449" y="404734"/>
            <a:ext cx="3449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>
                <a:solidFill>
                  <a:srgbClr val="FF0000"/>
                </a:solidFill>
              </a:rPr>
              <a:t>Course session No. 10 – Lesson 7</a:t>
            </a:r>
          </a:p>
          <a:p>
            <a:r>
              <a:rPr lang="fr-FR">
                <a:solidFill>
                  <a:srgbClr val="FF0000"/>
                </a:solidFill>
              </a:rPr>
              <a:t>Duration: 3 hours</a:t>
            </a:r>
            <a:endParaRPr lang="fr-FR" noProof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93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2828BA-5739-FFC5-7675-80F468B1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noProof="0">
                <a:solidFill>
                  <a:srgbClr val="FF0000"/>
                </a:solidFill>
              </a:rPr>
              <a:t>Session objectives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B2B2A2-F547-F235-4ED5-DB3D5BE6E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/>
              <a:t>Topics covered in this session:</a:t>
            </a:r>
          </a:p>
          <a:p>
            <a:pPr lvl="1"/>
            <a:endParaRPr lang="fr-FR" noProof="0"/>
          </a:p>
          <a:p>
            <a:pPr lvl="1"/>
            <a:r>
              <a:rPr lang="fr-FR" noProof="0"/>
              <a:t>Calculate the covariance between two variables of different types</a:t>
            </a:r>
          </a:p>
          <a:p>
            <a:pPr lvl="1"/>
            <a:endParaRPr lang="fr-FR" noProof="0"/>
          </a:p>
          <a:p>
            <a:pPr lvl="1"/>
            <a:r>
              <a:rPr lang="fr-FR" noProof="0"/>
              <a:t>Calculate and interpret a coefficient of variation</a:t>
            </a:r>
          </a:p>
        </p:txBody>
      </p:sp>
    </p:spTree>
    <p:extLst>
      <p:ext uri="{BB962C8B-B14F-4D97-AF65-F5344CB8AC3E}">
        <p14:creationId xmlns:p14="http://schemas.microsoft.com/office/powerpoint/2010/main" val="155703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897C2C-1673-FC73-18B6-A25831440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solidFill>
                  <a:srgbClr val="FF0000"/>
                </a:solidFill>
              </a:rPr>
              <a:t>1. Covariance between two variables of different types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17FEA8-C335-0A94-9FDD-F142C5124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77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D7444A-30CB-F3A1-83F3-874C8E3E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Review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94A4A2-C2DA-5A2D-48F7-E42C6E40E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81" y="1559811"/>
            <a:ext cx="8423437" cy="505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7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92608" y="128016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0000"/>
                </a:solidFill>
              </a:rPr>
              <a:t>Special case: discrete–continuous covariance</a:t>
            </a:r>
            <a:endParaRPr lang="en-US" sz="340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47675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444444"/>
                </a:solidFill>
              </a:rPr>
              <a:t>When one variable is continuous and grouped into classes, while the other is discrete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685800" y="3499866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EAF2F8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50392" y="362788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Learning objective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850392" y="4002786"/>
            <a:ext cx="47914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Move from a contingency table to a covariance calculation without jumping straight to the formula.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6358130" y="3477006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E2F0D9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336792" y="362788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Key idea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6336792" y="4002786"/>
            <a:ext cx="47914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First, convert the continuous variable into class midpoints, then calculate as you would with a weighted cross-tabulation.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411480" y="654710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66666"/>
                </a:solidFill>
              </a:rPr>
              <a:t>MS03-001-G Data Description | Discrete–continuous case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66666"/>
                </a:solidFill>
              </a:rPr>
              <a:t>1</a:t>
            </a:r>
            <a:endParaRPr lang="en-US" sz="85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6CEA8C4-7B65-9F6E-BAC3-BBD25EDEA6D3}"/>
              </a:ext>
            </a:extLst>
          </p:cNvPr>
          <p:cNvSpPr/>
          <p:nvPr/>
        </p:nvSpPr>
        <p:spPr>
          <a:xfrm>
            <a:off x="685800" y="1933956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EAF2F8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94A4D41-BB06-C53E-11BA-F47F52C13E77}"/>
              </a:ext>
            </a:extLst>
          </p:cNvPr>
          <p:cNvSpPr/>
          <p:nvPr/>
        </p:nvSpPr>
        <p:spPr>
          <a:xfrm>
            <a:off x="850392" y="206197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Variable X</a:t>
            </a:r>
            <a:endParaRPr lang="en-US" sz="140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A60E9817-8301-B647-1420-02BEC2FE40D4}"/>
              </a:ext>
            </a:extLst>
          </p:cNvPr>
          <p:cNvSpPr/>
          <p:nvPr/>
        </p:nvSpPr>
        <p:spPr>
          <a:xfrm>
            <a:off x="850392" y="2436876"/>
            <a:ext cx="4791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Continuous, but observed in classes. Therefore, the exact individual values are not known.</a:t>
            </a:r>
            <a:endParaRPr lang="en-US" sz="125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1D373793-011D-905F-770D-B94C55BC130F}"/>
              </a:ext>
            </a:extLst>
          </p:cNvPr>
          <p:cNvSpPr/>
          <p:nvPr/>
        </p:nvSpPr>
        <p:spPr>
          <a:xfrm>
            <a:off x="6355080" y="1933956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E2F0D9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C7D6F30-B7A3-6510-F2A0-318E33A83281}"/>
              </a:ext>
            </a:extLst>
          </p:cNvPr>
          <p:cNvSpPr/>
          <p:nvPr/>
        </p:nvSpPr>
        <p:spPr>
          <a:xfrm>
            <a:off x="6519672" y="206197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Variable Y</a:t>
            </a:r>
            <a:endParaRPr lang="en-US" sz="140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46644F9B-F112-654F-FB51-0D4404A3D7F6}"/>
              </a:ext>
            </a:extLst>
          </p:cNvPr>
          <p:cNvSpPr/>
          <p:nvPr/>
        </p:nvSpPr>
        <p:spPr>
          <a:xfrm>
            <a:off x="6519672" y="2436876"/>
            <a:ext cx="4791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Discrete, with a finite number of categories, for example 0, 1, 2, 3.</a:t>
            </a:r>
            <a:endParaRPr lang="en-US" sz="125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C1EAB14C-C831-90F3-3BC8-13F7FCE0F07A}"/>
              </a:ext>
            </a:extLst>
          </p:cNvPr>
          <p:cNvSpPr/>
          <p:nvPr/>
        </p:nvSpPr>
        <p:spPr>
          <a:xfrm>
            <a:off x="749808" y="4462272"/>
            <a:ext cx="102412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>
                <a:solidFill>
                  <a:srgbClr val="222222"/>
                </a:solidFill>
              </a:rPr>
              <a:t>Covariance measures how X and Y vary together.</a:t>
            </a:r>
            <a:endParaRPr lang="en-US" sz="1500"/>
          </a:p>
          <a:p>
            <a:r>
              <a:rPr lang="en-US" sz="1500">
                <a:solidFill>
                  <a:srgbClr val="222222"/>
                </a:solidFill>
              </a:rPr>
              <a:t>However, X is grouped, so each class must be replaced by a representative value.</a:t>
            </a:r>
            <a:endParaRPr lang="en-US" sz="1500"/>
          </a:p>
          <a:p>
            <a:r>
              <a:rPr lang="en-US" sz="1500">
                <a:solidFill>
                  <a:srgbClr val="222222"/>
                </a:solidFill>
              </a:rPr>
              <a:t>This representative value is the class midpoint.</a:t>
            </a:r>
            <a:endParaRPr lang="en-US" sz="150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527C9780-8A2A-0EA6-2128-D2C623522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3048" y="5710428"/>
            <a:ext cx="3986784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280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0000"/>
                </a:solidFill>
              </a:rPr>
              <a:t>Step 1 — Read the contingency table</a:t>
            </a:r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66666"/>
                </a:solidFill>
              </a:rPr>
              <a:t>MS03-001-G Data Description | Discrete–continuous case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66666"/>
                </a:solidFill>
              </a:rPr>
              <a:t>3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685800" y="914400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EAF2F8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50392" y="104241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Each cell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50392" y="1417320"/>
            <a:ext cx="39684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nᵢⱼ = number of observations in class xᵢ and category yⱼ.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0" y="868680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513832" y="90525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xᵢ \ yⱼ</a:t>
            </a:r>
            <a:endParaRPr lang="en-US" sz="860"/>
          </a:p>
        </p:txBody>
      </p:sp>
      <p:sp>
        <p:nvSpPr>
          <p:cNvPr id="13" name="Shape 11"/>
          <p:cNvSpPr/>
          <p:nvPr/>
        </p:nvSpPr>
        <p:spPr>
          <a:xfrm>
            <a:off x="5486400" y="1388745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513832" y="142532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24</a:t>
            </a:r>
            <a:endParaRPr lang="en-US" sz="860"/>
          </a:p>
        </p:txBody>
      </p:sp>
      <p:sp>
        <p:nvSpPr>
          <p:cNvPr id="15" name="Shape 13"/>
          <p:cNvSpPr/>
          <p:nvPr/>
        </p:nvSpPr>
        <p:spPr>
          <a:xfrm>
            <a:off x="5486400" y="1908810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513832" y="194538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28</a:t>
            </a:r>
            <a:endParaRPr lang="en-US" sz="860"/>
          </a:p>
        </p:txBody>
      </p:sp>
      <p:sp>
        <p:nvSpPr>
          <p:cNvPr id="17" name="Shape 15"/>
          <p:cNvSpPr/>
          <p:nvPr/>
        </p:nvSpPr>
        <p:spPr>
          <a:xfrm>
            <a:off x="5486400" y="2428875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513832" y="246545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34</a:t>
            </a:r>
            <a:endParaRPr lang="en-US" sz="860"/>
          </a:p>
        </p:txBody>
      </p:sp>
      <p:sp>
        <p:nvSpPr>
          <p:cNvPr id="19" name="Shape 17"/>
          <p:cNvSpPr/>
          <p:nvPr/>
        </p:nvSpPr>
        <p:spPr>
          <a:xfrm>
            <a:off x="5486400" y="2948940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513832" y="298551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42</a:t>
            </a:r>
            <a:endParaRPr lang="en-US" sz="860"/>
          </a:p>
        </p:txBody>
      </p:sp>
      <p:sp>
        <p:nvSpPr>
          <p:cNvPr id="21" name="Shape 19"/>
          <p:cNvSpPr/>
          <p:nvPr/>
        </p:nvSpPr>
        <p:spPr>
          <a:xfrm>
            <a:off x="5486400" y="3469005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513832" y="350558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51</a:t>
            </a:r>
            <a:endParaRPr lang="en-US" sz="860"/>
          </a:p>
        </p:txBody>
      </p:sp>
      <p:sp>
        <p:nvSpPr>
          <p:cNvPr id="23" name="Shape 21"/>
          <p:cNvSpPr/>
          <p:nvPr/>
        </p:nvSpPr>
        <p:spPr>
          <a:xfrm>
            <a:off x="5486400" y="3989070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513832" y="402564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59</a:t>
            </a:r>
            <a:endParaRPr lang="en-US" sz="860"/>
          </a:p>
        </p:txBody>
      </p:sp>
      <p:sp>
        <p:nvSpPr>
          <p:cNvPr id="25" name="Shape 23"/>
          <p:cNvSpPr/>
          <p:nvPr/>
        </p:nvSpPr>
        <p:spPr>
          <a:xfrm>
            <a:off x="5486400" y="4509135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513832" y="454571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Total</a:t>
            </a:r>
            <a:endParaRPr lang="en-US" sz="860"/>
          </a:p>
        </p:txBody>
      </p:sp>
      <p:sp>
        <p:nvSpPr>
          <p:cNvPr id="27" name="Shape 25"/>
          <p:cNvSpPr/>
          <p:nvPr/>
        </p:nvSpPr>
        <p:spPr>
          <a:xfrm>
            <a:off x="6370320" y="868680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397752" y="90525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0</a:t>
            </a:r>
            <a:endParaRPr lang="en-US" sz="860"/>
          </a:p>
        </p:txBody>
      </p:sp>
      <p:sp>
        <p:nvSpPr>
          <p:cNvPr id="29" name="Shape 27"/>
          <p:cNvSpPr/>
          <p:nvPr/>
        </p:nvSpPr>
        <p:spPr>
          <a:xfrm>
            <a:off x="6370320" y="138874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397752" y="142532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14</a:t>
            </a:r>
            <a:endParaRPr lang="en-US" sz="860"/>
          </a:p>
        </p:txBody>
      </p:sp>
      <p:sp>
        <p:nvSpPr>
          <p:cNvPr id="31" name="Shape 29"/>
          <p:cNvSpPr/>
          <p:nvPr/>
        </p:nvSpPr>
        <p:spPr>
          <a:xfrm>
            <a:off x="6370320" y="190881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397752" y="194538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12</a:t>
            </a:r>
            <a:endParaRPr lang="en-US" sz="860"/>
          </a:p>
        </p:txBody>
      </p:sp>
      <p:sp>
        <p:nvSpPr>
          <p:cNvPr id="33" name="Shape 31"/>
          <p:cNvSpPr/>
          <p:nvPr/>
        </p:nvSpPr>
        <p:spPr>
          <a:xfrm>
            <a:off x="6370320" y="242887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397752" y="246545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10</a:t>
            </a:r>
            <a:endParaRPr lang="en-US" sz="860"/>
          </a:p>
        </p:txBody>
      </p:sp>
      <p:sp>
        <p:nvSpPr>
          <p:cNvPr id="35" name="Shape 33"/>
          <p:cNvSpPr/>
          <p:nvPr/>
        </p:nvSpPr>
        <p:spPr>
          <a:xfrm>
            <a:off x="6370320" y="294894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397752" y="298551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4</a:t>
            </a:r>
            <a:endParaRPr lang="en-US" sz="860"/>
          </a:p>
        </p:txBody>
      </p:sp>
      <p:sp>
        <p:nvSpPr>
          <p:cNvPr id="37" name="Shape 35"/>
          <p:cNvSpPr/>
          <p:nvPr/>
        </p:nvSpPr>
        <p:spPr>
          <a:xfrm>
            <a:off x="6370320" y="346900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397752" y="350558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</a:t>
            </a:r>
            <a:endParaRPr lang="en-US" sz="860"/>
          </a:p>
        </p:txBody>
      </p:sp>
      <p:sp>
        <p:nvSpPr>
          <p:cNvPr id="39" name="Shape 37"/>
          <p:cNvSpPr/>
          <p:nvPr/>
        </p:nvSpPr>
        <p:spPr>
          <a:xfrm>
            <a:off x="6370320" y="398907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397752" y="402564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3</a:t>
            </a:r>
            <a:endParaRPr lang="en-US" sz="860"/>
          </a:p>
        </p:txBody>
      </p:sp>
      <p:sp>
        <p:nvSpPr>
          <p:cNvPr id="41" name="Shape 39"/>
          <p:cNvSpPr/>
          <p:nvPr/>
        </p:nvSpPr>
        <p:spPr>
          <a:xfrm>
            <a:off x="6370320" y="450913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397752" y="454571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45</a:t>
            </a:r>
            <a:endParaRPr lang="en-US" sz="860"/>
          </a:p>
        </p:txBody>
      </p:sp>
      <p:sp>
        <p:nvSpPr>
          <p:cNvPr id="43" name="Shape 41"/>
          <p:cNvSpPr/>
          <p:nvPr/>
        </p:nvSpPr>
        <p:spPr>
          <a:xfrm>
            <a:off x="7254240" y="868680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7281672" y="90525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1</a:t>
            </a:r>
            <a:endParaRPr lang="en-US" sz="860"/>
          </a:p>
        </p:txBody>
      </p:sp>
      <p:sp>
        <p:nvSpPr>
          <p:cNvPr id="45" name="Shape 43"/>
          <p:cNvSpPr/>
          <p:nvPr/>
        </p:nvSpPr>
        <p:spPr>
          <a:xfrm>
            <a:off x="7254240" y="138874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281672" y="142532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6</a:t>
            </a:r>
            <a:endParaRPr lang="en-US" sz="860"/>
          </a:p>
        </p:txBody>
      </p:sp>
      <p:sp>
        <p:nvSpPr>
          <p:cNvPr id="47" name="Shape 45"/>
          <p:cNvSpPr/>
          <p:nvPr/>
        </p:nvSpPr>
        <p:spPr>
          <a:xfrm>
            <a:off x="7254240" y="190881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7281672" y="194538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7</a:t>
            </a:r>
            <a:endParaRPr lang="en-US" sz="860"/>
          </a:p>
        </p:txBody>
      </p:sp>
      <p:sp>
        <p:nvSpPr>
          <p:cNvPr id="49" name="Shape 47"/>
          <p:cNvSpPr/>
          <p:nvPr/>
        </p:nvSpPr>
        <p:spPr>
          <a:xfrm>
            <a:off x="7254240" y="242887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7281672" y="246545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10</a:t>
            </a:r>
            <a:endParaRPr lang="en-US" sz="860"/>
          </a:p>
        </p:txBody>
      </p:sp>
      <p:sp>
        <p:nvSpPr>
          <p:cNvPr id="51" name="Shape 49"/>
          <p:cNvSpPr/>
          <p:nvPr/>
        </p:nvSpPr>
        <p:spPr>
          <a:xfrm>
            <a:off x="7254240" y="294894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7281672" y="298551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3</a:t>
            </a:r>
            <a:endParaRPr lang="en-US" sz="860"/>
          </a:p>
        </p:txBody>
      </p:sp>
      <p:sp>
        <p:nvSpPr>
          <p:cNvPr id="53" name="Shape 51"/>
          <p:cNvSpPr/>
          <p:nvPr/>
        </p:nvSpPr>
        <p:spPr>
          <a:xfrm>
            <a:off x="7254240" y="346900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7281672" y="350558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10</a:t>
            </a:r>
            <a:endParaRPr lang="en-US" sz="860"/>
          </a:p>
        </p:txBody>
      </p:sp>
      <p:sp>
        <p:nvSpPr>
          <p:cNvPr id="55" name="Shape 53"/>
          <p:cNvSpPr/>
          <p:nvPr/>
        </p:nvSpPr>
        <p:spPr>
          <a:xfrm>
            <a:off x="7254240" y="398907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7281672" y="402564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3</a:t>
            </a:r>
            <a:endParaRPr lang="en-US" sz="860"/>
          </a:p>
        </p:txBody>
      </p:sp>
      <p:sp>
        <p:nvSpPr>
          <p:cNvPr id="57" name="Shape 55"/>
          <p:cNvSpPr/>
          <p:nvPr/>
        </p:nvSpPr>
        <p:spPr>
          <a:xfrm>
            <a:off x="7254240" y="450913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7281672" y="454571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39</a:t>
            </a:r>
            <a:endParaRPr lang="en-US" sz="860"/>
          </a:p>
        </p:txBody>
      </p:sp>
      <p:sp>
        <p:nvSpPr>
          <p:cNvPr id="59" name="Shape 57"/>
          <p:cNvSpPr/>
          <p:nvPr/>
        </p:nvSpPr>
        <p:spPr>
          <a:xfrm>
            <a:off x="8138160" y="868680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8165592" y="90525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2</a:t>
            </a:r>
            <a:endParaRPr lang="en-US" sz="860"/>
          </a:p>
        </p:txBody>
      </p:sp>
      <p:sp>
        <p:nvSpPr>
          <p:cNvPr id="61" name="Shape 59"/>
          <p:cNvSpPr/>
          <p:nvPr/>
        </p:nvSpPr>
        <p:spPr>
          <a:xfrm>
            <a:off x="8138160" y="138874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8165592" y="142532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5</a:t>
            </a:r>
            <a:endParaRPr lang="en-US" sz="860"/>
          </a:p>
        </p:txBody>
      </p:sp>
      <p:sp>
        <p:nvSpPr>
          <p:cNvPr id="63" name="Shape 61"/>
          <p:cNvSpPr/>
          <p:nvPr/>
        </p:nvSpPr>
        <p:spPr>
          <a:xfrm>
            <a:off x="8138160" y="190881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8165592" y="194538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5</a:t>
            </a:r>
            <a:endParaRPr lang="en-US" sz="860"/>
          </a:p>
        </p:txBody>
      </p:sp>
      <p:sp>
        <p:nvSpPr>
          <p:cNvPr id="65" name="Shape 63"/>
          <p:cNvSpPr/>
          <p:nvPr/>
        </p:nvSpPr>
        <p:spPr>
          <a:xfrm>
            <a:off x="8138160" y="242887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8165592" y="246545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3</a:t>
            </a:r>
            <a:endParaRPr lang="en-US" sz="860"/>
          </a:p>
        </p:txBody>
      </p:sp>
      <p:sp>
        <p:nvSpPr>
          <p:cNvPr id="67" name="Shape 65"/>
          <p:cNvSpPr/>
          <p:nvPr/>
        </p:nvSpPr>
        <p:spPr>
          <a:xfrm>
            <a:off x="8138160" y="294894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8165592" y="298551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</a:t>
            </a:r>
            <a:endParaRPr lang="en-US" sz="860"/>
          </a:p>
        </p:txBody>
      </p:sp>
      <p:sp>
        <p:nvSpPr>
          <p:cNvPr id="69" name="Shape 67"/>
          <p:cNvSpPr/>
          <p:nvPr/>
        </p:nvSpPr>
        <p:spPr>
          <a:xfrm>
            <a:off x="8138160" y="346900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8165592" y="350558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4</a:t>
            </a:r>
            <a:endParaRPr lang="en-US" sz="860"/>
          </a:p>
        </p:txBody>
      </p:sp>
      <p:sp>
        <p:nvSpPr>
          <p:cNvPr id="71" name="Shape 69"/>
          <p:cNvSpPr/>
          <p:nvPr/>
        </p:nvSpPr>
        <p:spPr>
          <a:xfrm>
            <a:off x="8138160" y="398907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8165592" y="402564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</a:t>
            </a:r>
            <a:endParaRPr lang="en-US" sz="860"/>
          </a:p>
        </p:txBody>
      </p:sp>
      <p:sp>
        <p:nvSpPr>
          <p:cNvPr id="73" name="Shape 71"/>
          <p:cNvSpPr/>
          <p:nvPr/>
        </p:nvSpPr>
        <p:spPr>
          <a:xfrm>
            <a:off x="8138160" y="450913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8165592" y="454571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21</a:t>
            </a:r>
            <a:endParaRPr lang="en-US" sz="860"/>
          </a:p>
        </p:txBody>
      </p:sp>
      <p:sp>
        <p:nvSpPr>
          <p:cNvPr id="75" name="Shape 73"/>
          <p:cNvSpPr/>
          <p:nvPr/>
        </p:nvSpPr>
        <p:spPr>
          <a:xfrm>
            <a:off x="9022080" y="868680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9049512" y="90525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3</a:t>
            </a:r>
            <a:endParaRPr lang="en-US" sz="860"/>
          </a:p>
        </p:txBody>
      </p:sp>
      <p:sp>
        <p:nvSpPr>
          <p:cNvPr id="77" name="Shape 75"/>
          <p:cNvSpPr/>
          <p:nvPr/>
        </p:nvSpPr>
        <p:spPr>
          <a:xfrm>
            <a:off x="9022080" y="138874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9049512" y="142532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3</a:t>
            </a:r>
            <a:endParaRPr lang="en-US" sz="860"/>
          </a:p>
        </p:txBody>
      </p:sp>
      <p:sp>
        <p:nvSpPr>
          <p:cNvPr id="79" name="Shape 77"/>
          <p:cNvSpPr/>
          <p:nvPr/>
        </p:nvSpPr>
        <p:spPr>
          <a:xfrm>
            <a:off x="9022080" y="190881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9049512" y="194538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4</a:t>
            </a:r>
            <a:endParaRPr lang="en-US" sz="860"/>
          </a:p>
        </p:txBody>
      </p:sp>
      <p:sp>
        <p:nvSpPr>
          <p:cNvPr id="81" name="Shape 79"/>
          <p:cNvSpPr/>
          <p:nvPr/>
        </p:nvSpPr>
        <p:spPr>
          <a:xfrm>
            <a:off x="9022080" y="242887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80"/>
          <p:cNvSpPr/>
          <p:nvPr/>
        </p:nvSpPr>
        <p:spPr>
          <a:xfrm>
            <a:off x="9049512" y="246545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</a:t>
            </a:r>
            <a:endParaRPr lang="en-US" sz="860"/>
          </a:p>
        </p:txBody>
      </p:sp>
      <p:sp>
        <p:nvSpPr>
          <p:cNvPr id="83" name="Shape 81"/>
          <p:cNvSpPr/>
          <p:nvPr/>
        </p:nvSpPr>
        <p:spPr>
          <a:xfrm>
            <a:off x="9022080" y="294894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2"/>
          <p:cNvSpPr/>
          <p:nvPr/>
        </p:nvSpPr>
        <p:spPr>
          <a:xfrm>
            <a:off x="9049512" y="298551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5</a:t>
            </a:r>
            <a:endParaRPr lang="en-US" sz="860"/>
          </a:p>
        </p:txBody>
      </p:sp>
      <p:sp>
        <p:nvSpPr>
          <p:cNvPr id="85" name="Shape 83"/>
          <p:cNvSpPr/>
          <p:nvPr/>
        </p:nvSpPr>
        <p:spPr>
          <a:xfrm>
            <a:off x="9022080" y="346900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/>
          <p:nvPr/>
        </p:nvSpPr>
        <p:spPr>
          <a:xfrm>
            <a:off x="9049512" y="350558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</a:t>
            </a:r>
            <a:endParaRPr lang="en-US" sz="860"/>
          </a:p>
        </p:txBody>
      </p:sp>
      <p:sp>
        <p:nvSpPr>
          <p:cNvPr id="87" name="Shape 85"/>
          <p:cNvSpPr/>
          <p:nvPr/>
        </p:nvSpPr>
        <p:spPr>
          <a:xfrm>
            <a:off x="9022080" y="398907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9049512" y="402564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4</a:t>
            </a:r>
            <a:endParaRPr lang="en-US" sz="860"/>
          </a:p>
        </p:txBody>
      </p:sp>
      <p:sp>
        <p:nvSpPr>
          <p:cNvPr id="89" name="Shape 87"/>
          <p:cNvSpPr/>
          <p:nvPr/>
        </p:nvSpPr>
        <p:spPr>
          <a:xfrm>
            <a:off x="9022080" y="450913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9049512" y="454571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19</a:t>
            </a:r>
            <a:endParaRPr lang="en-US" sz="860"/>
          </a:p>
        </p:txBody>
      </p:sp>
      <p:sp>
        <p:nvSpPr>
          <p:cNvPr id="91" name="Shape 89"/>
          <p:cNvSpPr/>
          <p:nvPr/>
        </p:nvSpPr>
        <p:spPr>
          <a:xfrm>
            <a:off x="9906000" y="868680"/>
            <a:ext cx="883920" cy="520065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Text 90"/>
          <p:cNvSpPr/>
          <p:nvPr/>
        </p:nvSpPr>
        <p:spPr>
          <a:xfrm>
            <a:off x="9933432" y="90525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Total</a:t>
            </a:r>
            <a:endParaRPr lang="en-US" sz="860"/>
          </a:p>
        </p:txBody>
      </p:sp>
      <p:sp>
        <p:nvSpPr>
          <p:cNvPr id="93" name="Shape 91"/>
          <p:cNvSpPr/>
          <p:nvPr/>
        </p:nvSpPr>
        <p:spPr>
          <a:xfrm>
            <a:off x="9906000" y="138874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2"/>
          <p:cNvSpPr/>
          <p:nvPr/>
        </p:nvSpPr>
        <p:spPr>
          <a:xfrm>
            <a:off x="9933432" y="142532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28</a:t>
            </a:r>
            <a:endParaRPr lang="en-US" sz="860"/>
          </a:p>
        </p:txBody>
      </p:sp>
      <p:sp>
        <p:nvSpPr>
          <p:cNvPr id="95" name="Shape 93"/>
          <p:cNvSpPr/>
          <p:nvPr/>
        </p:nvSpPr>
        <p:spPr>
          <a:xfrm>
            <a:off x="9906000" y="190881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94"/>
          <p:cNvSpPr/>
          <p:nvPr/>
        </p:nvSpPr>
        <p:spPr>
          <a:xfrm>
            <a:off x="9933432" y="194538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28</a:t>
            </a:r>
            <a:endParaRPr lang="en-US" sz="860"/>
          </a:p>
        </p:txBody>
      </p:sp>
      <p:sp>
        <p:nvSpPr>
          <p:cNvPr id="97" name="Shape 95"/>
          <p:cNvSpPr/>
          <p:nvPr/>
        </p:nvSpPr>
        <p:spPr>
          <a:xfrm>
            <a:off x="9906000" y="242887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6"/>
          <p:cNvSpPr/>
          <p:nvPr/>
        </p:nvSpPr>
        <p:spPr>
          <a:xfrm>
            <a:off x="9933432" y="246545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25</a:t>
            </a:r>
            <a:endParaRPr lang="en-US" sz="860"/>
          </a:p>
        </p:txBody>
      </p:sp>
      <p:sp>
        <p:nvSpPr>
          <p:cNvPr id="99" name="Shape 97"/>
          <p:cNvSpPr/>
          <p:nvPr/>
        </p:nvSpPr>
        <p:spPr>
          <a:xfrm>
            <a:off x="9906000" y="294894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Text 98"/>
          <p:cNvSpPr/>
          <p:nvPr/>
        </p:nvSpPr>
        <p:spPr>
          <a:xfrm>
            <a:off x="9933432" y="298551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14</a:t>
            </a:r>
            <a:endParaRPr lang="en-US" sz="860"/>
          </a:p>
        </p:txBody>
      </p:sp>
      <p:sp>
        <p:nvSpPr>
          <p:cNvPr id="101" name="Shape 99"/>
          <p:cNvSpPr/>
          <p:nvPr/>
        </p:nvSpPr>
        <p:spPr>
          <a:xfrm>
            <a:off x="9906000" y="346900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100"/>
          <p:cNvSpPr/>
          <p:nvPr/>
        </p:nvSpPr>
        <p:spPr>
          <a:xfrm>
            <a:off x="9933432" y="350558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17</a:t>
            </a:r>
            <a:endParaRPr lang="en-US" sz="860"/>
          </a:p>
        </p:txBody>
      </p:sp>
      <p:sp>
        <p:nvSpPr>
          <p:cNvPr id="103" name="Shape 101"/>
          <p:cNvSpPr/>
          <p:nvPr/>
        </p:nvSpPr>
        <p:spPr>
          <a:xfrm>
            <a:off x="9906000" y="3989070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Text 102"/>
          <p:cNvSpPr/>
          <p:nvPr/>
        </p:nvSpPr>
        <p:spPr>
          <a:xfrm>
            <a:off x="9933432" y="4025646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12</a:t>
            </a:r>
            <a:endParaRPr lang="en-US" sz="860"/>
          </a:p>
        </p:txBody>
      </p:sp>
      <p:sp>
        <p:nvSpPr>
          <p:cNvPr id="105" name="Shape 103"/>
          <p:cNvSpPr/>
          <p:nvPr/>
        </p:nvSpPr>
        <p:spPr>
          <a:xfrm>
            <a:off x="9906000" y="4509135"/>
            <a:ext cx="883920" cy="520065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4"/>
          <p:cNvSpPr/>
          <p:nvPr/>
        </p:nvSpPr>
        <p:spPr>
          <a:xfrm>
            <a:off x="9933432" y="4545711"/>
            <a:ext cx="829056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124</a:t>
            </a:r>
            <a:endParaRPr lang="en-US" sz="860"/>
          </a:p>
        </p:txBody>
      </p:sp>
      <p:sp>
        <p:nvSpPr>
          <p:cNvPr id="107" name="Text 105"/>
          <p:cNvSpPr/>
          <p:nvPr/>
        </p:nvSpPr>
        <p:spPr>
          <a:xfrm>
            <a:off x="868680" y="2606040"/>
            <a:ext cx="43891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50">
                <a:solidFill>
                  <a:srgbClr val="222222"/>
                </a:solidFill>
              </a:rPr>
              <a:t>The rows correspond to the class midpoints of X.</a:t>
            </a:r>
            <a:endParaRPr lang="en-US" sz="1450"/>
          </a:p>
          <a:p>
            <a:r>
              <a:rPr lang="en-US" sz="1450">
                <a:solidFill>
                  <a:srgbClr val="222222"/>
                </a:solidFill>
              </a:rPr>
              <a:t>The columns correspond to the categories of Y.</a:t>
            </a:r>
            <a:endParaRPr lang="en-US" sz="1450"/>
          </a:p>
          <a:p>
            <a:r>
              <a:rPr lang="en-US" sz="1450">
                <a:solidFill>
                  <a:srgbClr val="222222"/>
                </a:solidFill>
              </a:rPr>
              <a:t>The grand total is n = 124.</a:t>
            </a:r>
            <a:endParaRPr lang="en-US" sz="1450"/>
          </a:p>
        </p:txBody>
      </p:sp>
      <p:sp>
        <p:nvSpPr>
          <p:cNvPr id="108" name="Shape 106"/>
          <p:cNvSpPr/>
          <p:nvPr/>
        </p:nvSpPr>
        <p:spPr>
          <a:xfrm>
            <a:off x="868680" y="5257800"/>
            <a:ext cx="9966960" cy="594360"/>
          </a:xfrm>
          <a:prstGeom prst="roundRect">
            <a:avLst>
              <a:gd name="adj" fmla="val 18462"/>
            </a:avLst>
          </a:prstGeom>
          <a:solidFill>
            <a:srgbClr val="FFF2CC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107"/>
          <p:cNvSpPr/>
          <p:nvPr/>
        </p:nvSpPr>
        <p:spPr>
          <a:xfrm>
            <a:off x="1033272" y="5385816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Key point</a:t>
            </a:r>
            <a:endParaRPr lang="en-US" sz="1400"/>
          </a:p>
        </p:txBody>
      </p:sp>
      <p:sp>
        <p:nvSpPr>
          <p:cNvPr id="110" name="Text 108"/>
          <p:cNvSpPr/>
          <p:nvPr/>
        </p:nvSpPr>
        <p:spPr>
          <a:xfrm rot="10800000" flipV="1">
            <a:off x="1033272" y="5549265"/>
            <a:ext cx="9637776" cy="2114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Calculations use the class midpoints, not the class boundaries.</a:t>
            </a:r>
            <a:endParaRPr lang="en-US" sz="1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280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0000"/>
                </a:solidFill>
              </a:rPr>
              <a:t>Step 2 — Calculate the two means</a:t>
            </a:r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66666"/>
                </a:solidFill>
              </a:rPr>
              <a:t>MS03-001-G Data Description | Discrete–continuous case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66666"/>
                </a:solidFill>
              </a:rPr>
              <a:t>4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811493" y="91440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23544" y="1005840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F5597"/>
                </a:solidFill>
              </a:rPr>
              <a:t>Mean of X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6400800" y="91440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547104" y="1005840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F5597"/>
                </a:solidFill>
              </a:rPr>
              <a:t>Mean of Y</a:t>
            </a:r>
            <a:endParaRPr lang="en-US" sz="1050"/>
          </a:p>
        </p:txBody>
      </p:sp>
      <p:sp>
        <p:nvSpPr>
          <p:cNvPr id="14" name="Shape 10"/>
          <p:cNvSpPr/>
          <p:nvPr/>
        </p:nvSpPr>
        <p:spPr>
          <a:xfrm>
            <a:off x="777240" y="2514600"/>
            <a:ext cx="4389120" cy="1051560"/>
          </a:xfrm>
          <a:prstGeom prst="roundRect">
            <a:avLst>
              <a:gd name="adj" fmla="val 10435"/>
            </a:avLst>
          </a:prstGeom>
          <a:solidFill>
            <a:srgbClr val="EAF2F8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941832" y="26426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Calculation using the marginal totals</a:t>
            </a:r>
            <a:endParaRPr lang="en-US" sz="1400"/>
          </a:p>
        </p:txBody>
      </p:sp>
      <p:sp>
        <p:nvSpPr>
          <p:cNvPr id="16" name="Text 12"/>
          <p:cNvSpPr/>
          <p:nvPr/>
        </p:nvSpPr>
        <p:spPr>
          <a:xfrm>
            <a:off x="941832" y="3017520"/>
            <a:ext cx="40599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nᵢ· is the total for row i.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n·ⱼ is the total for column j.</a:t>
            </a:r>
            <a:endParaRPr lang="en-US" sz="1250"/>
          </a:p>
        </p:txBody>
      </p:sp>
      <p:sp>
        <p:nvSpPr>
          <p:cNvPr id="17" name="Shape 13"/>
          <p:cNvSpPr/>
          <p:nvPr/>
        </p:nvSpPr>
        <p:spPr>
          <a:xfrm>
            <a:off x="6400800" y="2514600"/>
            <a:ext cx="4389120" cy="1051560"/>
          </a:xfrm>
          <a:prstGeom prst="roundRect">
            <a:avLst>
              <a:gd name="adj" fmla="val 10435"/>
            </a:avLst>
          </a:prstGeom>
          <a:solidFill>
            <a:srgbClr val="E2F0D9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6565392" y="26426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In this example</a:t>
            </a:r>
            <a:endParaRPr lang="en-US" sz="1400"/>
          </a:p>
        </p:txBody>
      </p:sp>
      <p:sp>
        <p:nvSpPr>
          <p:cNvPr id="19" name="Text 15"/>
          <p:cNvSpPr/>
          <p:nvPr/>
        </p:nvSpPr>
        <p:spPr>
          <a:xfrm>
            <a:off x="6565392" y="3017520"/>
            <a:ext cx="40599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x̄ = 36,04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ȳ = 1,11</a:t>
            </a:r>
            <a:endParaRPr lang="en-US" sz="1250"/>
          </a:p>
        </p:txBody>
      </p:sp>
      <p:sp>
        <p:nvSpPr>
          <p:cNvPr id="20" name="Text 16"/>
          <p:cNvSpPr/>
          <p:nvPr/>
        </p:nvSpPr>
        <p:spPr>
          <a:xfrm>
            <a:off x="914400" y="4572000"/>
            <a:ext cx="101498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>
                <a:solidFill>
                  <a:srgbClr val="222222"/>
                </a:solidFill>
              </a:rPr>
              <a:t>The means are not calculated directly from the individual cells of the table.</a:t>
            </a:r>
            <a:endParaRPr lang="en-US" sz="1500"/>
          </a:p>
          <a:p>
            <a:r>
              <a:rPr lang="en-US" sz="1500">
                <a:solidFill>
                  <a:srgbClr val="222222"/>
                </a:solidFill>
              </a:rPr>
              <a:t>Instead, use the marginal totals because each row or column represents a group of observations.</a:t>
            </a:r>
            <a:endParaRPr lang="en-US" sz="1500"/>
          </a:p>
        </p:txBody>
      </p:sp>
      <p:pic>
        <p:nvPicPr>
          <p:cNvPr id="21" name="Graphique 20">
            <a:extLst>
              <a:ext uri="{FF2B5EF4-FFF2-40B4-BE49-F238E27FC236}">
                <a16:creationId xmlns:a16="http://schemas.microsoft.com/office/drawing/2014/main" id="{E3E79FE8-B62C-D658-1868-3CD88283D1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5648" y="1120140"/>
            <a:ext cx="2741078" cy="667512"/>
          </a:xfrm>
          <a:prstGeom prst="rect">
            <a:avLst/>
          </a:prstGeom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2BD3B446-56F0-74AA-61ED-D6B4AF73CC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9168" y="1120140"/>
            <a:ext cx="2744723" cy="636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280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0000"/>
                </a:solidFill>
              </a:rPr>
              <a:t>Step 3 — Calculate the mean of the XY products</a:t>
            </a:r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66666"/>
                </a:solidFill>
              </a:rPr>
              <a:t>MS03-001-G Data Description | Discrete–continuous case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66666"/>
                </a:solidFill>
              </a:rPr>
              <a:t>5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762001" y="867373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14984" y="960120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F5597"/>
                </a:solidFill>
              </a:rPr>
              <a:t>Idea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6400800" y="868680"/>
            <a:ext cx="457200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565392" y="99669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Simple interpretation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6565392" y="1371600"/>
            <a:ext cx="424281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For each cell: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1. take the frequency nᵢⱼ;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2. multiply by the midpoint xᵢ;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3. multiply by the category value yⱼ.</a:t>
            </a:r>
            <a:endParaRPr lang="en-US" sz="1250"/>
          </a:p>
        </p:txBody>
      </p:sp>
      <p:sp>
        <p:nvSpPr>
          <p:cNvPr id="14" name="Shape 11"/>
          <p:cNvSpPr/>
          <p:nvPr/>
        </p:nvSpPr>
        <p:spPr>
          <a:xfrm>
            <a:off x="960120" y="2743200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987552" y="2779776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xᵢ \ yⱼ</a:t>
            </a:r>
            <a:endParaRPr lang="en-US" sz="860"/>
          </a:p>
        </p:txBody>
      </p:sp>
      <p:sp>
        <p:nvSpPr>
          <p:cNvPr id="16" name="Shape 13"/>
          <p:cNvSpPr/>
          <p:nvPr/>
        </p:nvSpPr>
        <p:spPr>
          <a:xfrm>
            <a:off x="960120" y="3167743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987552" y="3204319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24</a:t>
            </a:r>
            <a:endParaRPr lang="en-US" sz="860"/>
          </a:p>
        </p:txBody>
      </p:sp>
      <p:sp>
        <p:nvSpPr>
          <p:cNvPr id="18" name="Shape 15"/>
          <p:cNvSpPr/>
          <p:nvPr/>
        </p:nvSpPr>
        <p:spPr>
          <a:xfrm>
            <a:off x="960120" y="3592286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987552" y="3628862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28</a:t>
            </a:r>
            <a:endParaRPr lang="en-US" sz="860"/>
          </a:p>
        </p:txBody>
      </p:sp>
      <p:sp>
        <p:nvSpPr>
          <p:cNvPr id="20" name="Shape 17"/>
          <p:cNvSpPr/>
          <p:nvPr/>
        </p:nvSpPr>
        <p:spPr>
          <a:xfrm>
            <a:off x="960120" y="4016829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987552" y="4053405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34</a:t>
            </a:r>
            <a:endParaRPr lang="en-US" sz="860"/>
          </a:p>
        </p:txBody>
      </p:sp>
      <p:sp>
        <p:nvSpPr>
          <p:cNvPr id="22" name="Shape 19"/>
          <p:cNvSpPr/>
          <p:nvPr/>
        </p:nvSpPr>
        <p:spPr>
          <a:xfrm>
            <a:off x="960120" y="4441371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987552" y="4477947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42</a:t>
            </a:r>
            <a:endParaRPr lang="en-US" sz="860"/>
          </a:p>
        </p:txBody>
      </p:sp>
      <p:sp>
        <p:nvSpPr>
          <p:cNvPr id="24" name="Shape 21"/>
          <p:cNvSpPr/>
          <p:nvPr/>
        </p:nvSpPr>
        <p:spPr>
          <a:xfrm>
            <a:off x="960120" y="4865914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987552" y="4902490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51</a:t>
            </a:r>
            <a:endParaRPr lang="en-US" sz="860"/>
          </a:p>
        </p:txBody>
      </p:sp>
      <p:sp>
        <p:nvSpPr>
          <p:cNvPr id="26" name="Shape 23"/>
          <p:cNvSpPr/>
          <p:nvPr/>
        </p:nvSpPr>
        <p:spPr>
          <a:xfrm>
            <a:off x="960120" y="5290457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987552" y="5327033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59</a:t>
            </a:r>
            <a:endParaRPr lang="en-US" sz="860"/>
          </a:p>
        </p:txBody>
      </p:sp>
      <p:sp>
        <p:nvSpPr>
          <p:cNvPr id="28" name="Shape 25"/>
          <p:cNvSpPr/>
          <p:nvPr/>
        </p:nvSpPr>
        <p:spPr>
          <a:xfrm>
            <a:off x="1984248" y="2743200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2011680" y="2779776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0</a:t>
            </a:r>
            <a:endParaRPr lang="en-US" sz="860"/>
          </a:p>
        </p:txBody>
      </p:sp>
      <p:sp>
        <p:nvSpPr>
          <p:cNvPr id="30" name="Shape 27"/>
          <p:cNvSpPr/>
          <p:nvPr/>
        </p:nvSpPr>
        <p:spPr>
          <a:xfrm>
            <a:off x="1984248" y="3167743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2011680" y="3204319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0</a:t>
            </a:r>
            <a:endParaRPr lang="en-US" sz="860"/>
          </a:p>
        </p:txBody>
      </p:sp>
      <p:sp>
        <p:nvSpPr>
          <p:cNvPr id="32" name="Shape 29"/>
          <p:cNvSpPr/>
          <p:nvPr/>
        </p:nvSpPr>
        <p:spPr>
          <a:xfrm>
            <a:off x="1984248" y="3592286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2011680" y="3628862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0</a:t>
            </a:r>
            <a:endParaRPr lang="en-US" sz="860"/>
          </a:p>
        </p:txBody>
      </p:sp>
      <p:sp>
        <p:nvSpPr>
          <p:cNvPr id="34" name="Shape 31"/>
          <p:cNvSpPr/>
          <p:nvPr/>
        </p:nvSpPr>
        <p:spPr>
          <a:xfrm>
            <a:off x="1984248" y="4016829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2011680" y="4053405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0</a:t>
            </a:r>
            <a:endParaRPr lang="en-US" sz="860"/>
          </a:p>
        </p:txBody>
      </p:sp>
      <p:sp>
        <p:nvSpPr>
          <p:cNvPr id="36" name="Shape 33"/>
          <p:cNvSpPr/>
          <p:nvPr/>
        </p:nvSpPr>
        <p:spPr>
          <a:xfrm>
            <a:off x="1984248" y="4441371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2011680" y="4477947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0</a:t>
            </a:r>
            <a:endParaRPr lang="en-US" sz="860"/>
          </a:p>
        </p:txBody>
      </p:sp>
      <p:sp>
        <p:nvSpPr>
          <p:cNvPr id="38" name="Shape 35"/>
          <p:cNvSpPr/>
          <p:nvPr/>
        </p:nvSpPr>
        <p:spPr>
          <a:xfrm>
            <a:off x="1984248" y="4865914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2011680" y="4902490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0</a:t>
            </a:r>
            <a:endParaRPr lang="en-US" sz="860"/>
          </a:p>
        </p:txBody>
      </p:sp>
      <p:sp>
        <p:nvSpPr>
          <p:cNvPr id="40" name="Shape 37"/>
          <p:cNvSpPr/>
          <p:nvPr/>
        </p:nvSpPr>
        <p:spPr>
          <a:xfrm>
            <a:off x="1984248" y="5290457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2011680" y="5327033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0</a:t>
            </a:r>
            <a:endParaRPr lang="en-US" sz="860"/>
          </a:p>
        </p:txBody>
      </p:sp>
      <p:sp>
        <p:nvSpPr>
          <p:cNvPr id="42" name="Shape 39"/>
          <p:cNvSpPr/>
          <p:nvPr/>
        </p:nvSpPr>
        <p:spPr>
          <a:xfrm>
            <a:off x="3008376" y="2743200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3035808" y="2779776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1</a:t>
            </a:r>
            <a:endParaRPr lang="en-US" sz="860"/>
          </a:p>
        </p:txBody>
      </p:sp>
      <p:sp>
        <p:nvSpPr>
          <p:cNvPr id="44" name="Shape 41"/>
          <p:cNvSpPr/>
          <p:nvPr/>
        </p:nvSpPr>
        <p:spPr>
          <a:xfrm>
            <a:off x="3008376" y="3167743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3035808" y="3204319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144</a:t>
            </a:r>
            <a:endParaRPr lang="en-US" sz="860"/>
          </a:p>
        </p:txBody>
      </p:sp>
      <p:sp>
        <p:nvSpPr>
          <p:cNvPr id="46" name="Shape 43"/>
          <p:cNvSpPr/>
          <p:nvPr/>
        </p:nvSpPr>
        <p:spPr>
          <a:xfrm>
            <a:off x="3008376" y="3592286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3035808" y="3628862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196</a:t>
            </a:r>
            <a:endParaRPr lang="en-US" sz="860"/>
          </a:p>
        </p:txBody>
      </p:sp>
      <p:sp>
        <p:nvSpPr>
          <p:cNvPr id="48" name="Shape 45"/>
          <p:cNvSpPr/>
          <p:nvPr/>
        </p:nvSpPr>
        <p:spPr>
          <a:xfrm>
            <a:off x="3008376" y="4016829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3035808" y="4053405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340</a:t>
            </a:r>
            <a:endParaRPr lang="en-US" sz="860"/>
          </a:p>
        </p:txBody>
      </p:sp>
      <p:sp>
        <p:nvSpPr>
          <p:cNvPr id="50" name="Shape 47"/>
          <p:cNvSpPr/>
          <p:nvPr/>
        </p:nvSpPr>
        <p:spPr>
          <a:xfrm>
            <a:off x="3008376" y="4441371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3035808" y="4477947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126</a:t>
            </a:r>
            <a:endParaRPr lang="en-US" sz="860"/>
          </a:p>
        </p:txBody>
      </p:sp>
      <p:sp>
        <p:nvSpPr>
          <p:cNvPr id="52" name="Shape 49"/>
          <p:cNvSpPr/>
          <p:nvPr/>
        </p:nvSpPr>
        <p:spPr>
          <a:xfrm>
            <a:off x="3008376" y="4865914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3035808" y="4902490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510</a:t>
            </a:r>
            <a:endParaRPr lang="en-US" sz="860"/>
          </a:p>
        </p:txBody>
      </p:sp>
      <p:sp>
        <p:nvSpPr>
          <p:cNvPr id="54" name="Shape 51"/>
          <p:cNvSpPr/>
          <p:nvPr/>
        </p:nvSpPr>
        <p:spPr>
          <a:xfrm>
            <a:off x="3008376" y="5290457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2"/>
          <p:cNvSpPr/>
          <p:nvPr/>
        </p:nvSpPr>
        <p:spPr>
          <a:xfrm>
            <a:off x="3035808" y="5327033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177</a:t>
            </a:r>
            <a:endParaRPr lang="en-US" sz="860"/>
          </a:p>
        </p:txBody>
      </p:sp>
      <p:sp>
        <p:nvSpPr>
          <p:cNvPr id="56" name="Shape 53"/>
          <p:cNvSpPr/>
          <p:nvPr/>
        </p:nvSpPr>
        <p:spPr>
          <a:xfrm>
            <a:off x="4032504" y="2743200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4059936" y="2779776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2</a:t>
            </a:r>
            <a:endParaRPr lang="en-US" sz="860"/>
          </a:p>
        </p:txBody>
      </p:sp>
      <p:sp>
        <p:nvSpPr>
          <p:cNvPr id="58" name="Shape 55"/>
          <p:cNvSpPr/>
          <p:nvPr/>
        </p:nvSpPr>
        <p:spPr>
          <a:xfrm>
            <a:off x="4032504" y="3167743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6"/>
          <p:cNvSpPr/>
          <p:nvPr/>
        </p:nvSpPr>
        <p:spPr>
          <a:xfrm>
            <a:off x="4059936" y="3204319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240</a:t>
            </a:r>
            <a:endParaRPr lang="en-US" sz="860"/>
          </a:p>
        </p:txBody>
      </p:sp>
      <p:sp>
        <p:nvSpPr>
          <p:cNvPr id="60" name="Shape 57"/>
          <p:cNvSpPr/>
          <p:nvPr/>
        </p:nvSpPr>
        <p:spPr>
          <a:xfrm>
            <a:off x="4032504" y="3592286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8"/>
          <p:cNvSpPr/>
          <p:nvPr/>
        </p:nvSpPr>
        <p:spPr>
          <a:xfrm>
            <a:off x="4059936" y="3628862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280</a:t>
            </a:r>
            <a:endParaRPr lang="en-US" sz="860"/>
          </a:p>
        </p:txBody>
      </p:sp>
      <p:sp>
        <p:nvSpPr>
          <p:cNvPr id="62" name="Shape 59"/>
          <p:cNvSpPr/>
          <p:nvPr/>
        </p:nvSpPr>
        <p:spPr>
          <a:xfrm>
            <a:off x="4032504" y="4016829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0"/>
          <p:cNvSpPr/>
          <p:nvPr/>
        </p:nvSpPr>
        <p:spPr>
          <a:xfrm>
            <a:off x="4059936" y="4053405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204</a:t>
            </a:r>
            <a:endParaRPr lang="en-US" sz="860"/>
          </a:p>
        </p:txBody>
      </p:sp>
      <p:sp>
        <p:nvSpPr>
          <p:cNvPr id="64" name="Shape 61"/>
          <p:cNvSpPr/>
          <p:nvPr/>
        </p:nvSpPr>
        <p:spPr>
          <a:xfrm>
            <a:off x="4032504" y="4441371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2"/>
          <p:cNvSpPr/>
          <p:nvPr/>
        </p:nvSpPr>
        <p:spPr>
          <a:xfrm>
            <a:off x="4059936" y="4477947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168</a:t>
            </a:r>
            <a:endParaRPr lang="en-US" sz="860"/>
          </a:p>
        </p:txBody>
      </p:sp>
      <p:sp>
        <p:nvSpPr>
          <p:cNvPr id="66" name="Shape 63"/>
          <p:cNvSpPr/>
          <p:nvPr/>
        </p:nvSpPr>
        <p:spPr>
          <a:xfrm>
            <a:off x="4032504" y="4865914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4"/>
          <p:cNvSpPr/>
          <p:nvPr/>
        </p:nvSpPr>
        <p:spPr>
          <a:xfrm>
            <a:off x="4059936" y="4902490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408</a:t>
            </a:r>
            <a:endParaRPr lang="en-US" sz="860"/>
          </a:p>
        </p:txBody>
      </p:sp>
      <p:sp>
        <p:nvSpPr>
          <p:cNvPr id="68" name="Shape 65"/>
          <p:cNvSpPr/>
          <p:nvPr/>
        </p:nvSpPr>
        <p:spPr>
          <a:xfrm>
            <a:off x="4032504" y="5290457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6"/>
          <p:cNvSpPr/>
          <p:nvPr/>
        </p:nvSpPr>
        <p:spPr>
          <a:xfrm>
            <a:off x="4059936" y="5327033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236</a:t>
            </a:r>
            <a:endParaRPr lang="en-US" sz="860"/>
          </a:p>
        </p:txBody>
      </p:sp>
      <p:sp>
        <p:nvSpPr>
          <p:cNvPr id="70" name="Shape 67"/>
          <p:cNvSpPr/>
          <p:nvPr/>
        </p:nvSpPr>
        <p:spPr>
          <a:xfrm>
            <a:off x="5056632" y="2743200"/>
            <a:ext cx="1024128" cy="424543"/>
          </a:xfrm>
          <a:prstGeom prst="rect">
            <a:avLst/>
          </a:prstGeom>
          <a:solidFill>
            <a:srgbClr val="D9EAF7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8"/>
          <p:cNvSpPr/>
          <p:nvPr/>
        </p:nvSpPr>
        <p:spPr>
          <a:xfrm>
            <a:off x="5084064" y="2779776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>
                <a:solidFill>
                  <a:srgbClr val="222222"/>
                </a:solidFill>
              </a:rPr>
              <a:t>3</a:t>
            </a:r>
            <a:endParaRPr lang="en-US" sz="860"/>
          </a:p>
        </p:txBody>
      </p:sp>
      <p:sp>
        <p:nvSpPr>
          <p:cNvPr id="72" name="Shape 69"/>
          <p:cNvSpPr/>
          <p:nvPr/>
        </p:nvSpPr>
        <p:spPr>
          <a:xfrm>
            <a:off x="5056632" y="3167743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0"/>
          <p:cNvSpPr/>
          <p:nvPr/>
        </p:nvSpPr>
        <p:spPr>
          <a:xfrm>
            <a:off x="5084064" y="3204319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216</a:t>
            </a:r>
            <a:endParaRPr lang="en-US" sz="860"/>
          </a:p>
        </p:txBody>
      </p:sp>
      <p:sp>
        <p:nvSpPr>
          <p:cNvPr id="74" name="Shape 71"/>
          <p:cNvSpPr/>
          <p:nvPr/>
        </p:nvSpPr>
        <p:spPr>
          <a:xfrm>
            <a:off x="5056632" y="3592286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2"/>
          <p:cNvSpPr/>
          <p:nvPr/>
        </p:nvSpPr>
        <p:spPr>
          <a:xfrm>
            <a:off x="5084064" y="3628862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336</a:t>
            </a:r>
            <a:endParaRPr lang="en-US" sz="860"/>
          </a:p>
        </p:txBody>
      </p:sp>
      <p:sp>
        <p:nvSpPr>
          <p:cNvPr id="76" name="Shape 73"/>
          <p:cNvSpPr/>
          <p:nvPr/>
        </p:nvSpPr>
        <p:spPr>
          <a:xfrm>
            <a:off x="5056632" y="4016829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4"/>
          <p:cNvSpPr/>
          <p:nvPr/>
        </p:nvSpPr>
        <p:spPr>
          <a:xfrm>
            <a:off x="5084064" y="4053405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204</a:t>
            </a:r>
            <a:endParaRPr lang="en-US" sz="860"/>
          </a:p>
        </p:txBody>
      </p:sp>
      <p:sp>
        <p:nvSpPr>
          <p:cNvPr id="78" name="Shape 75"/>
          <p:cNvSpPr/>
          <p:nvPr/>
        </p:nvSpPr>
        <p:spPr>
          <a:xfrm>
            <a:off x="5056632" y="4441371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6"/>
          <p:cNvSpPr/>
          <p:nvPr/>
        </p:nvSpPr>
        <p:spPr>
          <a:xfrm>
            <a:off x="5084064" y="4477947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630</a:t>
            </a:r>
            <a:endParaRPr lang="en-US" sz="860"/>
          </a:p>
        </p:txBody>
      </p:sp>
      <p:sp>
        <p:nvSpPr>
          <p:cNvPr id="80" name="Shape 77"/>
          <p:cNvSpPr/>
          <p:nvPr/>
        </p:nvSpPr>
        <p:spPr>
          <a:xfrm>
            <a:off x="5056632" y="4865914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8"/>
          <p:cNvSpPr/>
          <p:nvPr/>
        </p:nvSpPr>
        <p:spPr>
          <a:xfrm>
            <a:off x="5084064" y="4902490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153</a:t>
            </a:r>
            <a:endParaRPr lang="en-US" sz="860"/>
          </a:p>
        </p:txBody>
      </p:sp>
      <p:sp>
        <p:nvSpPr>
          <p:cNvPr id="82" name="Shape 79"/>
          <p:cNvSpPr/>
          <p:nvPr/>
        </p:nvSpPr>
        <p:spPr>
          <a:xfrm>
            <a:off x="5056632" y="5290457"/>
            <a:ext cx="1024128" cy="424543"/>
          </a:xfrm>
          <a:prstGeom prst="rect">
            <a:avLst/>
          </a:prstGeom>
          <a:solidFill>
            <a:srgbClr val="FFFFFF"/>
          </a:solidFill>
          <a:ln w="889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80"/>
          <p:cNvSpPr/>
          <p:nvPr/>
        </p:nvSpPr>
        <p:spPr>
          <a:xfrm>
            <a:off x="5084064" y="5327033"/>
            <a:ext cx="96926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>
                <a:solidFill>
                  <a:srgbClr val="222222"/>
                </a:solidFill>
              </a:rPr>
              <a:t>708</a:t>
            </a:r>
            <a:endParaRPr lang="en-US" sz="860"/>
          </a:p>
        </p:txBody>
      </p:sp>
      <p:sp>
        <p:nvSpPr>
          <p:cNvPr id="84" name="Shape 81"/>
          <p:cNvSpPr/>
          <p:nvPr/>
        </p:nvSpPr>
        <p:spPr>
          <a:xfrm>
            <a:off x="6355080" y="3886200"/>
            <a:ext cx="914400" cy="365760"/>
          </a:xfrm>
          <a:prstGeom prst="rightArrow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7543800" y="32461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2F0D9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/>
          <p:nvPr/>
        </p:nvSpPr>
        <p:spPr>
          <a:xfrm>
            <a:off x="7708392" y="33741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Sum of products</a:t>
            </a:r>
            <a:endParaRPr lang="en-US" sz="1400"/>
          </a:p>
        </p:txBody>
      </p:sp>
      <p:sp>
        <p:nvSpPr>
          <p:cNvPr id="87" name="Text 84"/>
          <p:cNvSpPr/>
          <p:nvPr/>
        </p:nvSpPr>
        <p:spPr>
          <a:xfrm>
            <a:off x="7708392" y="3749040"/>
            <a:ext cx="30998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ΣΣ nᵢⱼxᵢyⱼ = 5 276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E(XY) = 5 276 / 124 = 42,55</a:t>
            </a:r>
            <a:endParaRPr lang="en-US" sz="1250"/>
          </a:p>
        </p:txBody>
      </p:sp>
      <p:pic>
        <p:nvPicPr>
          <p:cNvPr id="88" name="Graphique 87">
            <a:extLst>
              <a:ext uri="{FF2B5EF4-FFF2-40B4-BE49-F238E27FC236}">
                <a16:creationId xmlns:a16="http://schemas.microsoft.com/office/drawing/2014/main" id="{DB3B7741-A105-DDBD-3AD7-7AE3210C0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2184" y="1132550"/>
            <a:ext cx="348996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280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0000"/>
                </a:solidFill>
              </a:rPr>
              <a:t>Step 4 — Move from E(XY) to covariance</a:t>
            </a:r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66666"/>
                </a:solidFill>
              </a:rPr>
              <a:t>MS03-001-G Data Description | Discrete–continuous case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1147572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66666"/>
                </a:solidFill>
              </a:rPr>
              <a:t>6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868680" y="91440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14984" y="1005840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F5597"/>
                </a:solidFill>
              </a:rPr>
              <a:t>Most intuitive formula</a:t>
            </a:r>
            <a:endParaRPr lang="en-US" sz="105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8440" y="1362456"/>
            <a:ext cx="3760839" cy="4663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55080" y="91440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7C9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501384" y="1005840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F5597"/>
                </a:solidFill>
              </a:rPr>
              <a:t>Operational formula</a:t>
            </a:r>
            <a:endParaRPr lang="en-US" sz="1050"/>
          </a:p>
        </p:txBody>
      </p:sp>
      <p:sp>
        <p:nvSpPr>
          <p:cNvPr id="14" name="Shape 10"/>
          <p:cNvSpPr/>
          <p:nvPr/>
        </p:nvSpPr>
        <p:spPr>
          <a:xfrm>
            <a:off x="1005840" y="274320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1170432" y="287121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Numerical application</a:t>
            </a:r>
            <a:endParaRPr lang="en-US" sz="1400"/>
          </a:p>
        </p:txBody>
      </p:sp>
      <p:sp>
        <p:nvSpPr>
          <p:cNvPr id="16" name="Text 12"/>
          <p:cNvSpPr/>
          <p:nvPr/>
        </p:nvSpPr>
        <p:spPr>
          <a:xfrm>
            <a:off x="1170432" y="3246120"/>
            <a:ext cx="442569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E(XY) = 42,55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x̄ = 36,04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ȳ = 1,11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Cov(X,Y) = 42,55 − 36,04 × 1,11 = 2,44</a:t>
            </a:r>
            <a:endParaRPr lang="en-US" sz="1250"/>
          </a:p>
        </p:txBody>
      </p:sp>
      <p:sp>
        <p:nvSpPr>
          <p:cNvPr id="17" name="Shape 13"/>
          <p:cNvSpPr/>
          <p:nvPr/>
        </p:nvSpPr>
        <p:spPr>
          <a:xfrm>
            <a:off x="6446520" y="2743200"/>
            <a:ext cx="4663440" cy="1417320"/>
          </a:xfrm>
          <a:prstGeom prst="roundRect">
            <a:avLst>
              <a:gd name="adj" fmla="val 7742"/>
            </a:avLst>
          </a:prstGeom>
          <a:solidFill>
            <a:srgbClr val="E2F0D9"/>
          </a:solidFill>
          <a:ln w="12700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6611112" y="2871216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365D"/>
                </a:solidFill>
              </a:rPr>
              <a:t>Interpretation</a:t>
            </a:r>
            <a:endParaRPr lang="en-US" sz="1400"/>
          </a:p>
        </p:txBody>
      </p:sp>
      <p:sp>
        <p:nvSpPr>
          <p:cNvPr id="19" name="Text 15"/>
          <p:cNvSpPr/>
          <p:nvPr/>
        </p:nvSpPr>
        <p:spPr>
          <a:xfrm>
            <a:off x="6611112" y="3246120"/>
            <a:ext cx="43342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</a:rPr>
              <a:t>The covariance is positive: in this example, higher values of X tend to be associated with higher values of Y.</a:t>
            </a:r>
            <a:endParaRPr lang="en-US" sz="1250"/>
          </a:p>
        </p:txBody>
      </p:sp>
      <p:sp>
        <p:nvSpPr>
          <p:cNvPr id="20" name="Text 16"/>
          <p:cNvSpPr/>
          <p:nvPr/>
        </p:nvSpPr>
        <p:spPr>
          <a:xfrm>
            <a:off x="1005840" y="5166360"/>
            <a:ext cx="10149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30">
                <a:solidFill>
                  <a:srgbClr val="222222"/>
                </a:solidFill>
              </a:rPr>
              <a:t>Important: covariance retains the units of X and Y and is mainly used to indicate the direction of the relationship. To assess the standardised strength of the relationship, calculate the correlation coefficient.</a:t>
            </a:r>
            <a:endParaRPr lang="en-US" sz="1330"/>
          </a:p>
        </p:txBody>
      </p:sp>
      <p:pic>
        <p:nvPicPr>
          <p:cNvPr id="21" name="Graphique 20">
            <a:extLst>
              <a:ext uri="{FF2B5EF4-FFF2-40B4-BE49-F238E27FC236}">
                <a16:creationId xmlns:a16="http://schemas.microsoft.com/office/drawing/2014/main" id="{59B4FAAB-4ACB-85FD-DA50-6C4C74F8A0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1246" y="1202436"/>
            <a:ext cx="371398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14AE6-85AC-6FD0-0C18-994DD6222F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>
                <a:solidFill>
                  <a:srgbClr val="FF0000"/>
                </a:solidFill>
              </a:rPr>
              <a:t>2. Linear correlation coefficient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00B275-CAED-F26F-E74E-03AFCA4DC0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06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B0AC0E-64B7-4474-9AAE-81DEF1D4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24" y="78657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err="1">
                <a:solidFill>
                  <a:srgbClr val="FF0000"/>
                </a:solidFill>
              </a:rPr>
              <a:t>Formula</a:t>
            </a:r>
            <a:endParaRPr lang="en-US" sz="5200" b="1">
              <a:solidFill>
                <a:srgbClr val="FF0000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419A265-DDD9-43B7-B83C-F939DA87C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30" y="2750910"/>
            <a:ext cx="5956211" cy="1757082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25DB23E-52B2-4438-A103-866994128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76" y="2041568"/>
            <a:ext cx="4998695" cy="339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98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F3813E-35D6-4850-A6FA-D8C48B6F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Example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9153BA-43B3-4D2A-AE0A-0B05ACD6D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9BBEE78C-3A1E-49F6-8688-076CF7B56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69" y="1902285"/>
            <a:ext cx="5136093" cy="38884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78D7384-BEA3-466C-B359-46D643BC6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503" y="1783409"/>
            <a:ext cx="4230441" cy="9010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45F91B3-9D82-48C1-9F80-07B535533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040" y="2580880"/>
            <a:ext cx="3400621" cy="11577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B83D1B6-F35C-4CD0-AB09-29C5204BA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452" y="3689647"/>
            <a:ext cx="3400620" cy="120656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DF70F81-B283-42F0-B690-78706E273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855" y="4927204"/>
            <a:ext cx="3621433" cy="86482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8CAB5B6-5EE5-4650-912D-DAB1081C08DE}"/>
              </a:ext>
            </a:extLst>
          </p:cNvPr>
          <p:cNvSpPr txBox="1"/>
          <p:nvPr/>
        </p:nvSpPr>
        <p:spPr>
          <a:xfrm>
            <a:off x="3431704" y="5961815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Coefficient &gt; 0, indicating a strong positive relationship between the two variables.</a:t>
            </a:r>
          </a:p>
        </p:txBody>
      </p:sp>
    </p:spTree>
    <p:extLst>
      <p:ext uri="{BB962C8B-B14F-4D97-AF65-F5344CB8AC3E}">
        <p14:creationId xmlns:p14="http://schemas.microsoft.com/office/powerpoint/2010/main" val="4174888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737FDF-AE68-49BA-87CD-F4D12FAF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dirty="0">
                <a:solidFill>
                  <a:srgbClr val="FF0000"/>
                </a:solidFill>
              </a:rPr>
              <a:t>Special case: </a:t>
            </a:r>
            <a:r>
              <a:rPr lang="fr-FR" sz="3600" dirty="0" err="1">
                <a:solidFill>
                  <a:srgbClr val="FF0000"/>
                </a:solidFill>
              </a:rPr>
              <a:t>two</a:t>
            </a:r>
            <a:r>
              <a:rPr lang="fr-FR" sz="3600" dirty="0">
                <a:solidFill>
                  <a:srgbClr val="FF0000"/>
                </a:solidFill>
              </a:rPr>
              <a:t> quantitative variables </a:t>
            </a:r>
            <a:r>
              <a:rPr lang="fr-FR" sz="3600" dirty="0" err="1">
                <a:solidFill>
                  <a:srgbClr val="FF0000"/>
                </a:solidFill>
              </a:rPr>
              <a:t>presented</a:t>
            </a:r>
            <a:r>
              <a:rPr lang="fr-FR" sz="3600" dirty="0">
                <a:solidFill>
                  <a:srgbClr val="FF0000"/>
                </a:solidFill>
              </a:rPr>
              <a:t> in a </a:t>
            </a:r>
            <a:r>
              <a:rPr lang="fr-FR" sz="3600" dirty="0" err="1">
                <a:solidFill>
                  <a:srgbClr val="FF0000"/>
                </a:solidFill>
              </a:rPr>
              <a:t>contingency</a:t>
            </a:r>
            <a:r>
              <a:rPr lang="fr-FR" sz="3600" dirty="0">
                <a:solidFill>
                  <a:srgbClr val="FF0000"/>
                </a:solidFill>
              </a:rPr>
              <a:t> table</a:t>
            </a:r>
            <a:br>
              <a:rPr lang="fr-FR" sz="3600" dirty="0">
                <a:solidFill>
                  <a:srgbClr val="FF0000"/>
                </a:solidFill>
              </a:rPr>
            </a:br>
            <a:endParaRPr lang="fr-FR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92E917D-744D-472C-B4CC-7DFB6B09A6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000" u="sng">
                    <a:latin typeface="Cambria" panose="02040503050406030204" pitchFamily="18" charset="0"/>
                    <a:ea typeface="Cambria" panose="02040503050406030204" pitchFamily="18" charset="0"/>
                  </a:rPr>
                  <a:t>Population: students who took a mathematics exam. The exam used a multiple-choice format, with 1 point for a correct answer, 0 points for no answer, and −0.25 points for an incorrect answer.</a:t>
                </a:r>
              </a:p>
              <a:p>
                <a:pPr marL="0" indent="0">
                  <a:buNone/>
                </a:pPr>
                <a:r>
                  <a:rPr lang="fr-FR" sz="2000" u="sng">
                    <a:latin typeface="Cambria" panose="02040503050406030204" pitchFamily="18" charset="0"/>
                    <a:ea typeface="Cambria" panose="02040503050406030204" pitchFamily="18" charset="0"/>
                  </a:rPr>
                  <a:t>Number of students studied = 20</a:t>
                </a:r>
              </a:p>
              <a:p>
                <a:pPr marL="0" indent="0">
                  <a:buNone/>
                </a:pPr>
                <a:r>
                  <a:rPr lang="fr-FR" sz="2000" u="sng">
                    <a:latin typeface="Cambria" panose="02040503050406030204" pitchFamily="18" charset="0"/>
                    <a:ea typeface="Cambria" panose="02040503050406030204" pitchFamily="18" charset="0"/>
                  </a:rPr>
                  <a:t>The two variables measured for each student are:</a:t>
                </a:r>
              </a:p>
              <a:p>
                <a:pPr marL="0" indent="0">
                  <a:buNone/>
                </a:pPr>
                <a:endParaRPr lang="fr-FR" sz="20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fr-FR">
                    <a:latin typeface="Cambria" panose="02040503050406030204" pitchFamily="18" charset="0"/>
                    <a:ea typeface="Cambria" panose="02040503050406030204" pitchFamily="18" charset="0"/>
                  </a:rPr>
                  <a:t>Score obtained on Question 1 →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endParaRPr lang="fr-FR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fr-FR">
                    <a:latin typeface="Cambria" panose="02040503050406030204" pitchFamily="18" charset="0"/>
                    <a:ea typeface="Cambria" panose="02040503050406030204" pitchFamily="18" charset="0"/>
                  </a:rPr>
                  <a:t>Score obtained on Question 2 →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</m:oMath>
                </a14:m>
                <a:endParaRPr lang="fr-FR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fr-FR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92E917D-744D-472C-B4CC-7DFB6B09A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>
            <a:extLst>
              <a:ext uri="{FF2B5EF4-FFF2-40B4-BE49-F238E27FC236}">
                <a16:creationId xmlns:a16="http://schemas.microsoft.com/office/drawing/2014/main" id="{1194ECF9-7A42-4B2E-B967-C8E645515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296" y="2780929"/>
            <a:ext cx="1500672" cy="333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41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4BB95-B942-4CE7-BD65-7AA2BEAF0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68760"/>
            <a:ext cx="9144000" cy="5589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>
                <a:latin typeface="Cambria" panose="02040503050406030204" pitchFamily="18" charset="0"/>
                <a:ea typeface="Cambria" panose="02040503050406030204" pitchFamily="18" charset="0"/>
              </a:rPr>
              <a:t>Introductory example:</a:t>
            </a:r>
          </a:p>
          <a:p>
            <a:pPr marL="0" indent="0">
              <a:buNone/>
            </a:pPr>
            <a:r>
              <a:rPr lang="fr-FR" sz="2000" u="sng">
                <a:latin typeface="Cambria" panose="02040503050406030204" pitchFamily="18" charset="0"/>
                <a:ea typeface="Cambria" panose="02040503050406030204" pitchFamily="18" charset="0"/>
              </a:rPr>
              <a:t>The data</a:t>
            </a:r>
            <a:endParaRPr lang="fr-FR" sz="20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ABA39DB7-A081-4815-B0FE-B9DD2FA46E2D}"/>
              </a:ext>
            </a:extLst>
          </p:cNvPr>
          <p:cNvSpPr/>
          <p:nvPr/>
        </p:nvSpPr>
        <p:spPr>
          <a:xfrm rot="19573550">
            <a:off x="5741135" y="2963286"/>
            <a:ext cx="576064" cy="4320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8" name="Tableau 8">
            <a:extLst>
              <a:ext uri="{FF2B5EF4-FFF2-40B4-BE49-F238E27FC236}">
                <a16:creationId xmlns:a16="http://schemas.microsoft.com/office/drawing/2014/main" id="{80FA9FC0-3D6C-48F0-9361-1979021867B3}"/>
              </a:ext>
            </a:extLst>
          </p:cNvPr>
          <p:cNvGraphicFramePr>
            <a:graphicFrameLocks noGrp="1"/>
          </p:cNvGraphicFramePr>
          <p:nvPr/>
        </p:nvGraphicFramePr>
        <p:xfrm>
          <a:off x="1819035" y="3029762"/>
          <a:ext cx="338437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047">
                  <a:extLst>
                    <a:ext uri="{9D8B030D-6E8A-4147-A177-3AD203B41FA5}">
                      <a16:colId xmlns:a16="http://schemas.microsoft.com/office/drawing/2014/main" val="2680239378"/>
                    </a:ext>
                  </a:extLst>
                </a:gridCol>
                <a:gridCol w="423047">
                  <a:extLst>
                    <a:ext uri="{9D8B030D-6E8A-4147-A177-3AD203B41FA5}">
                      <a16:colId xmlns:a16="http://schemas.microsoft.com/office/drawing/2014/main" val="517231769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412879631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3381253237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1861021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-0.25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93879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b="1"/>
                        <a:t>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46852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b="1"/>
                        <a:t>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7188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b="1"/>
                        <a:t>-0.25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020108"/>
                  </a:ext>
                </a:extLst>
              </a:tr>
            </a:tbl>
          </a:graphicData>
        </a:graphic>
      </p:graphicFrame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3AED65F5-7C9D-4280-A08E-7D831E617C8F}"/>
              </a:ext>
            </a:extLst>
          </p:cNvPr>
          <p:cNvSpPr/>
          <p:nvPr/>
        </p:nvSpPr>
        <p:spPr>
          <a:xfrm rot="1916742">
            <a:off x="5741940" y="4183066"/>
            <a:ext cx="576064" cy="4320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11">
            <a:extLst>
              <a:ext uri="{FF2B5EF4-FFF2-40B4-BE49-F238E27FC236}">
                <a16:creationId xmlns:a16="http://schemas.microsoft.com/office/drawing/2014/main" id="{B4129A5B-B832-4F02-A03F-E8D0190CCAB5}"/>
              </a:ext>
            </a:extLst>
          </p:cNvPr>
          <p:cNvGraphicFramePr>
            <a:graphicFrameLocks noGrp="1"/>
          </p:cNvGraphicFramePr>
          <p:nvPr/>
        </p:nvGraphicFramePr>
        <p:xfrm>
          <a:off x="6919397" y="1838340"/>
          <a:ext cx="3456384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4835">
                  <a:extLst>
                    <a:ext uri="{9D8B030D-6E8A-4147-A177-3AD203B41FA5}">
                      <a16:colId xmlns:a16="http://schemas.microsoft.com/office/drawing/2014/main" val="685361126"/>
                    </a:ext>
                  </a:extLst>
                </a:gridCol>
                <a:gridCol w="2191549">
                  <a:extLst>
                    <a:ext uri="{9D8B030D-6E8A-4147-A177-3AD203B41FA5}">
                      <a16:colId xmlns:a16="http://schemas.microsoft.com/office/drawing/2014/main" val="1761117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Number of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489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483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2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-0.25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458399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6B5C094-F949-42AC-801F-29F51B4960B9}"/>
              </a:ext>
            </a:extLst>
          </p:cNvPr>
          <p:cNvGraphicFramePr>
            <a:graphicFrameLocks noGrp="1"/>
          </p:cNvGraphicFramePr>
          <p:nvPr/>
        </p:nvGraphicFramePr>
        <p:xfrm>
          <a:off x="6919397" y="4399090"/>
          <a:ext cx="3456384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4835">
                  <a:extLst>
                    <a:ext uri="{9D8B030D-6E8A-4147-A177-3AD203B41FA5}">
                      <a16:colId xmlns:a16="http://schemas.microsoft.com/office/drawing/2014/main" val="685361126"/>
                    </a:ext>
                  </a:extLst>
                </a:gridCol>
                <a:gridCol w="2191549">
                  <a:extLst>
                    <a:ext uri="{9D8B030D-6E8A-4147-A177-3AD203B41FA5}">
                      <a16:colId xmlns:a16="http://schemas.microsoft.com/office/drawing/2014/main" val="1761117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Number of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489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483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2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-0.25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458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39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83B60C-34A0-4693-8138-157A3C3D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9262"/>
          </a:xfrm>
        </p:spPr>
        <p:txBody>
          <a:bodyPr>
            <a:normAutofit fontScale="90000"/>
          </a:bodyPr>
          <a:lstStyle/>
          <a:p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Case of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two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 quantitative variables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whose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 data are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presented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 in a </a:t>
            </a:r>
            <a:r>
              <a:rPr lang="fr-FR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contingency</a:t>
            </a: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 table</a:t>
            </a:r>
            <a:endParaRPr lang="fr-FR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4BB95-B942-4CE7-BD65-7AA2BEAF0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68760"/>
            <a:ext cx="9144000" cy="5589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>
                <a:latin typeface="Cambria" panose="02040503050406030204" pitchFamily="18" charset="0"/>
                <a:ea typeface="Cambria" panose="02040503050406030204" pitchFamily="18" charset="0"/>
              </a:rPr>
              <a:t>Introductory example:</a:t>
            </a:r>
          </a:p>
          <a:p>
            <a:pPr marL="0" indent="0">
              <a:buNone/>
            </a:pPr>
            <a:r>
              <a:rPr lang="fr-FR" sz="2000" u="sng">
                <a:latin typeface="Cambria" panose="02040503050406030204" pitchFamily="18" charset="0"/>
                <a:ea typeface="Cambria" panose="02040503050406030204" pitchFamily="18" charset="0"/>
              </a:rPr>
              <a:t>The data</a:t>
            </a:r>
            <a:endParaRPr lang="fr-FR" sz="20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ABA39DB7-A081-4815-B0FE-B9DD2FA46E2D}"/>
              </a:ext>
            </a:extLst>
          </p:cNvPr>
          <p:cNvSpPr/>
          <p:nvPr/>
        </p:nvSpPr>
        <p:spPr>
          <a:xfrm rot="19573550">
            <a:off x="5741135" y="2963286"/>
            <a:ext cx="576064" cy="4320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8" name="Tableau 8">
            <a:extLst>
              <a:ext uri="{FF2B5EF4-FFF2-40B4-BE49-F238E27FC236}">
                <a16:creationId xmlns:a16="http://schemas.microsoft.com/office/drawing/2014/main" id="{80FA9FC0-3D6C-48F0-9361-1979021867B3}"/>
              </a:ext>
            </a:extLst>
          </p:cNvPr>
          <p:cNvGraphicFramePr>
            <a:graphicFrameLocks noGrp="1"/>
          </p:cNvGraphicFramePr>
          <p:nvPr/>
        </p:nvGraphicFramePr>
        <p:xfrm>
          <a:off x="1819035" y="3029762"/>
          <a:ext cx="338437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047">
                  <a:extLst>
                    <a:ext uri="{9D8B030D-6E8A-4147-A177-3AD203B41FA5}">
                      <a16:colId xmlns:a16="http://schemas.microsoft.com/office/drawing/2014/main" val="2680239378"/>
                    </a:ext>
                  </a:extLst>
                </a:gridCol>
                <a:gridCol w="423047">
                  <a:extLst>
                    <a:ext uri="{9D8B030D-6E8A-4147-A177-3AD203B41FA5}">
                      <a16:colId xmlns:a16="http://schemas.microsoft.com/office/drawing/2014/main" val="517231769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412879631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3381253237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1861021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-0.25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93879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b="1"/>
                        <a:t>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46852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b="1"/>
                        <a:t>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7188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b="1"/>
                        <a:t>-0.25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020108"/>
                  </a:ext>
                </a:extLst>
              </a:tr>
            </a:tbl>
          </a:graphicData>
        </a:graphic>
      </p:graphicFrame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3AED65F5-7C9D-4280-A08E-7D831E617C8F}"/>
              </a:ext>
            </a:extLst>
          </p:cNvPr>
          <p:cNvSpPr/>
          <p:nvPr/>
        </p:nvSpPr>
        <p:spPr>
          <a:xfrm rot="1916742">
            <a:off x="5741940" y="4183066"/>
            <a:ext cx="576064" cy="4320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11">
            <a:extLst>
              <a:ext uri="{FF2B5EF4-FFF2-40B4-BE49-F238E27FC236}">
                <a16:creationId xmlns:a16="http://schemas.microsoft.com/office/drawing/2014/main" id="{B4129A5B-B832-4F02-A03F-E8D0190CCAB5}"/>
              </a:ext>
            </a:extLst>
          </p:cNvPr>
          <p:cNvGraphicFramePr>
            <a:graphicFrameLocks noGrp="1"/>
          </p:cNvGraphicFramePr>
          <p:nvPr/>
        </p:nvGraphicFramePr>
        <p:xfrm>
          <a:off x="6919397" y="1838340"/>
          <a:ext cx="3456384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4835">
                  <a:extLst>
                    <a:ext uri="{9D8B030D-6E8A-4147-A177-3AD203B41FA5}">
                      <a16:colId xmlns:a16="http://schemas.microsoft.com/office/drawing/2014/main" val="685361126"/>
                    </a:ext>
                  </a:extLst>
                </a:gridCol>
                <a:gridCol w="2191549">
                  <a:extLst>
                    <a:ext uri="{9D8B030D-6E8A-4147-A177-3AD203B41FA5}">
                      <a16:colId xmlns:a16="http://schemas.microsoft.com/office/drawing/2014/main" val="1761117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Number of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489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483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2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-0.25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458399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6B5C094-F949-42AC-801F-29F51B4960B9}"/>
              </a:ext>
            </a:extLst>
          </p:cNvPr>
          <p:cNvGraphicFramePr>
            <a:graphicFrameLocks noGrp="1"/>
          </p:cNvGraphicFramePr>
          <p:nvPr/>
        </p:nvGraphicFramePr>
        <p:xfrm>
          <a:off x="6919397" y="4399090"/>
          <a:ext cx="3456384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4835">
                  <a:extLst>
                    <a:ext uri="{9D8B030D-6E8A-4147-A177-3AD203B41FA5}">
                      <a16:colId xmlns:a16="http://schemas.microsoft.com/office/drawing/2014/main" val="685361126"/>
                    </a:ext>
                  </a:extLst>
                </a:gridCol>
                <a:gridCol w="2191549">
                  <a:extLst>
                    <a:ext uri="{9D8B030D-6E8A-4147-A177-3AD203B41FA5}">
                      <a16:colId xmlns:a16="http://schemas.microsoft.com/office/drawing/2014/main" val="1761117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Number of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489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483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2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-0.25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accent5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4583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9A8332E-63DE-4C0D-91B8-D3B0558E352B}"/>
                  </a:ext>
                </a:extLst>
              </p:cNvPr>
              <p:cNvSpPr txBox="1"/>
              <p:nvPr/>
            </p:nvSpPr>
            <p:spPr>
              <a:xfrm>
                <a:off x="4655843" y="1952373"/>
                <a:ext cx="2746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fr-FR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fr-F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≈0.522</m:t>
                      </m:r>
                    </m:oMath>
                  </m:oMathPara>
                </a14:m>
                <a:endParaRPr lang="fr-FR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9A8332E-63DE-4C0D-91B8-D3B0558E3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3" y="1952373"/>
                <a:ext cx="274664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ECE7EC7C-3913-4DBC-B9E5-19FDB1F69BE7}"/>
                  </a:ext>
                </a:extLst>
              </p:cNvPr>
              <p:cNvSpPr txBox="1"/>
              <p:nvPr/>
            </p:nvSpPr>
            <p:spPr>
              <a:xfrm>
                <a:off x="4722676" y="5067075"/>
                <a:ext cx="2746648" cy="670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fr-F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=0.55</m:t>
                      </m:r>
                    </m:oMath>
                  </m:oMathPara>
                </a14:m>
                <a:endParaRPr lang="fr-FR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fr-F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≈0.557</m:t>
                      </m:r>
                    </m:oMath>
                  </m:oMathPara>
                </a14:m>
                <a:endParaRPr lang="fr-FR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ECE7EC7C-3913-4DBC-B9E5-19FDB1F69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676" y="5067075"/>
                <a:ext cx="2746648" cy="670761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6070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4BB95-B942-4CE7-BD65-7AA2BEAF0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68760"/>
            <a:ext cx="9144000" cy="5589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>
                <a:latin typeface="Cambria" panose="02040503050406030204" pitchFamily="18" charset="0"/>
                <a:ea typeface="Cambria" panose="02040503050406030204" pitchFamily="18" charset="0"/>
              </a:rPr>
              <a:t>Introductory example:</a:t>
            </a:r>
          </a:p>
          <a:p>
            <a:pPr marL="0" indent="0">
              <a:buNone/>
            </a:pPr>
            <a:r>
              <a:rPr lang="fr-FR" sz="2000" u="sng">
                <a:latin typeface="Cambria" panose="02040503050406030204" pitchFamily="18" charset="0"/>
                <a:ea typeface="Cambria" panose="02040503050406030204" pitchFamily="18" charset="0"/>
              </a:rPr>
              <a:t>Covariance calculation</a:t>
            </a:r>
            <a:endParaRPr lang="fr-FR" sz="20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ABA39DB7-A081-4815-B0FE-B9DD2FA46E2D}"/>
              </a:ext>
            </a:extLst>
          </p:cNvPr>
          <p:cNvSpPr/>
          <p:nvPr/>
        </p:nvSpPr>
        <p:spPr>
          <a:xfrm>
            <a:off x="4511826" y="3374566"/>
            <a:ext cx="360039" cy="4320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A4B2561-C7C2-487A-88C8-C0D4FA60A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2207320"/>
            <a:ext cx="2692054" cy="31658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A42703A-E6DA-4827-A404-539F03F95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20" y="1854087"/>
            <a:ext cx="1009702" cy="5270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1ED4E3CC-3B9A-4F18-AA14-442FEAD0104F}"/>
                  </a:ext>
                </a:extLst>
              </p:cNvPr>
              <p:cNvSpPr txBox="1"/>
              <p:nvPr/>
            </p:nvSpPr>
            <p:spPr>
              <a:xfrm>
                <a:off x="5303912" y="2519222"/>
                <a:ext cx="3563888" cy="331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8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800" i="1">
                              <a:latin typeface="Cambria Math" panose="02040503050406030204" pitchFamily="18" charset="0"/>
                            </a:rPr>
                            <m:t>1∗1 ∗5+1 ∗0 ∗1+1∗−0,25 ∗1+0∗1 ∗6+0∗0 ∗2+0 ∗−0.25 ∗1+ …+</m:t>
                          </m:r>
                          <m:d>
                            <m:dPr>
                              <m:ctrlPr>
                                <a:rPr lang="fr-FR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800" i="1">
                                  <a:latin typeface="Cambria Math" panose="02040503050406030204" pitchFamily="18" charset="0"/>
                                </a:rPr>
                                <m:t>−0.25</m:t>
                              </m:r>
                            </m:e>
                          </m:d>
                          <m:r>
                            <a:rPr lang="fr-FR" sz="800" i="1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fr-FR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800" i="1">
                                  <a:latin typeface="Cambria Math" panose="02040503050406030204" pitchFamily="18" charset="0"/>
                                </a:rPr>
                                <m:t>−0.25</m:t>
                              </m:r>
                            </m:e>
                          </m:d>
                          <m:r>
                            <a:rPr lang="fr-FR" sz="800" i="1">
                              <a:latin typeface="Cambria Math" panose="02040503050406030204" pitchFamily="18" charset="0"/>
                            </a:rPr>
                            <m:t>∗2 </m:t>
                          </m:r>
                        </m:num>
                        <m:den>
                          <m:r>
                            <a:rPr lang="fr-FR" sz="800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fr-FR" sz="80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1ED4E3CC-3B9A-4F18-AA14-442FEAD01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912" y="2519222"/>
                <a:ext cx="3563888" cy="331181"/>
              </a:xfrm>
              <a:prstGeom prst="rect">
                <a:avLst/>
              </a:prstGeom>
              <a:blipFill>
                <a:blip r:embed="rId4"/>
                <a:stretch>
                  <a:fillRect r="-3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9D37E00B-689E-4493-93D9-A757205BD570}"/>
                  </a:ext>
                </a:extLst>
              </p:cNvPr>
              <p:cNvSpPr txBox="1"/>
              <p:nvPr/>
            </p:nvSpPr>
            <p:spPr>
              <a:xfrm>
                <a:off x="5331161" y="3268427"/>
                <a:ext cx="4392488" cy="1597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>
                    <a:latin typeface="Cambria" panose="02040503050406030204" pitchFamily="18" charset="0"/>
                    <a:ea typeface="Cambria" panose="02040503050406030204" pitchFamily="18" charset="0"/>
                  </a:rPr>
                  <a:t>The covariance is equal to:</a:t>
                </a:r>
              </a:p>
              <a:p>
                <a:endParaRPr lang="fr-FR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fr-FR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fr-FR"/>
              </a:p>
              <a:p>
                <a:r>
                  <a:rPr lang="fr-FR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4.625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0.3 ∗0.55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=0.06625</m:t>
                    </m:r>
                  </m:oMath>
                </a14:m>
                <a:r>
                  <a:rPr lang="fr-FR"/>
                  <a:t> </a:t>
                </a: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9D37E00B-689E-4493-93D9-A757205BD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161" y="3268427"/>
                <a:ext cx="4392488" cy="1597681"/>
              </a:xfrm>
              <a:prstGeom prst="rect">
                <a:avLst/>
              </a:prstGeom>
              <a:blipFill>
                <a:blip r:embed="rId5"/>
                <a:stretch>
                  <a:fillRect l="-1250" t="-2290"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 17">
            <a:extLst>
              <a:ext uri="{FF2B5EF4-FFF2-40B4-BE49-F238E27FC236}">
                <a16:creationId xmlns:a16="http://schemas.microsoft.com/office/drawing/2014/main" id="{8D9431E3-1B57-4A42-9850-C1E5E79488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9936" y="3659870"/>
            <a:ext cx="2876698" cy="5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46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0D7049-8EFC-0162-78E6-023B40E2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noProof="0">
                <a:solidFill>
                  <a:srgbClr val="FF0000"/>
                </a:solidFill>
              </a:rPr>
              <a:t>Epilogue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C0763F-605B-FA7F-5486-9C0ECC606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0278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350FC48-0CE9-052A-56AE-B9DA25759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Autofit/>
          </a:bodyPr>
          <a:lstStyle/>
          <a:p>
            <a:r>
              <a:rPr lang="fr-FR" sz="4000" noProof="0" dirty="0"/>
              <a:t>By the end of </a:t>
            </a:r>
            <a:r>
              <a:rPr lang="fr-FR" sz="4000" noProof="0" dirty="0" err="1"/>
              <a:t>this</a:t>
            </a:r>
            <a:r>
              <a:rPr lang="fr-FR" sz="4000" noProof="0" dirty="0"/>
              <a:t> session, </a:t>
            </a:r>
            <a:r>
              <a:rPr lang="fr-FR" sz="4000" noProof="0" dirty="0" err="1"/>
              <a:t>you</a:t>
            </a:r>
            <a:r>
              <a:rPr lang="fr-FR" sz="4000" noProof="0" dirty="0"/>
              <a:t> </a:t>
            </a:r>
            <a:r>
              <a:rPr lang="fr-FR" sz="4000" noProof="0" dirty="0" err="1"/>
              <a:t>should</a:t>
            </a:r>
            <a:r>
              <a:rPr lang="fr-FR" sz="4000" noProof="0" dirty="0"/>
              <a:t> </a:t>
            </a:r>
            <a:r>
              <a:rPr lang="fr-FR" sz="4000" noProof="0" dirty="0" err="1"/>
              <a:t>be</a:t>
            </a:r>
            <a:r>
              <a:rPr lang="fr-FR" sz="4000" noProof="0" dirty="0"/>
              <a:t> able to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F9B08EDF-DE0E-F087-279C-2D382E2DC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6444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163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A0DEC3-476F-3BD5-7233-D1A2A2020F48}"/>
              </a:ext>
            </a:extLst>
          </p:cNvPr>
          <p:cNvSpPr txBox="1"/>
          <p:nvPr/>
        </p:nvSpPr>
        <p:spPr>
          <a:xfrm>
            <a:off x="2173574" y="5081666"/>
            <a:ext cx="8199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Mercedeh ERFANIANGHASAB: </a:t>
            </a:r>
            <a:r>
              <a:rPr lang="en-GB">
                <a:solidFill>
                  <a:schemeClr val="bg1"/>
                </a:solidFill>
                <a:hlinkClick r:id="rId2"/>
              </a:rPr>
              <a:t>Mercedeh.ERFANIANGHASAB@essca.fr</a:t>
            </a:r>
            <a:r>
              <a:rPr lang="en-GB">
                <a:solidFill>
                  <a:schemeClr val="bg1"/>
                </a:solidFill>
              </a:rPr>
              <a:t> (Lyon)</a:t>
            </a:r>
          </a:p>
          <a:p>
            <a:pPr algn="ctr"/>
            <a:r>
              <a:rPr lang="en-GB">
                <a:solidFill>
                  <a:schemeClr val="bg1"/>
                </a:solidFill>
              </a:rPr>
              <a:t>Jérémy CELSE: </a:t>
            </a:r>
            <a:r>
              <a:rPr lang="en-GB">
                <a:solidFill>
                  <a:schemeClr val="bg1"/>
                </a:solidFill>
                <a:hlinkClick r:id="rId3"/>
              </a:rPr>
              <a:t>jeremy.celse@essca.fr</a:t>
            </a:r>
            <a:r>
              <a:rPr lang="en-GB">
                <a:solidFill>
                  <a:schemeClr val="bg1"/>
                </a:solidFill>
              </a:rPr>
              <a:t> (Bordeaux)</a:t>
            </a:r>
          </a:p>
        </p:txBody>
      </p:sp>
    </p:spTree>
    <p:extLst>
      <p:ext uri="{BB962C8B-B14F-4D97-AF65-F5344CB8AC3E}">
        <p14:creationId xmlns:p14="http://schemas.microsoft.com/office/powerpoint/2010/main" val="3854798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346CC6-0830-45A9-A8E1-19B6A9B9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Special case: discrete vs continuous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841027-BE1F-443D-93B3-7CD53A56F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/>
              <a:t>Uh-oh! I have a continuous variable X with 6 classes and a discrete variable Y with 4 categories!</a:t>
            </a:r>
          </a:p>
          <a:p>
            <a:r>
              <a:rPr lang="fr-FR" noProof="0"/>
              <a:t>How do I calculate the covariance?</a:t>
            </a:r>
          </a:p>
        </p:txBody>
      </p:sp>
      <p:pic>
        <p:nvPicPr>
          <p:cNvPr id="1026" name="x__x0000_i1025">
            <a:extLst>
              <a:ext uri="{FF2B5EF4-FFF2-40B4-BE49-F238E27FC236}">
                <a16:creationId xmlns:a16="http://schemas.microsoft.com/office/drawing/2014/main" id="{882F6DA8-C9CA-4B33-9A9E-6889C46A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457" y="5088636"/>
            <a:ext cx="4869883" cy="41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t 3">
            <a:extLst>
              <a:ext uri="{FF2B5EF4-FFF2-40B4-BE49-F238E27FC236}">
                <a16:creationId xmlns:a16="http://schemas.microsoft.com/office/drawing/2014/main" id="{7946E767-4A8F-4E94-9B43-CC75447AF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438" y="3429953"/>
          <a:ext cx="3052763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070220" imgH="1581081" progId="Excel.Sheet.12">
                  <p:embed/>
                </p:oleObj>
              </mc:Choice>
              <mc:Fallback>
                <p:oleObj name="Worksheet" r:id="rId3" imgW="4070220" imgH="1581081" progId="Excel.Sheet.12">
                  <p:embed/>
                  <p:pic>
                    <p:nvPicPr>
                      <p:cNvPr id="4" name="Objet 3">
                        <a:extLst>
                          <a:ext uri="{FF2B5EF4-FFF2-40B4-BE49-F238E27FC236}">
                            <a16:creationId xmlns:a16="http://schemas.microsoft.com/office/drawing/2014/main" id="{7946E767-4A8F-4E94-9B43-CC75447AFB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6438" y="3429953"/>
                        <a:ext cx="3052763" cy="1185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>
            <a:extLst>
              <a:ext uri="{FF2B5EF4-FFF2-40B4-BE49-F238E27FC236}">
                <a16:creationId xmlns:a16="http://schemas.microsoft.com/office/drawing/2014/main" id="{B4938333-0633-438A-8CD5-6931275B36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7958" y="3429001"/>
          <a:ext cx="305276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070220" imgH="1384485" progId="Excel.Sheet.12">
                  <p:embed/>
                </p:oleObj>
              </mc:Choice>
              <mc:Fallback>
                <p:oleObj name="Worksheet" r:id="rId5" imgW="4070220" imgH="1384485" progId="Excel.Sheet.12">
                  <p:embed/>
                  <p:pic>
                    <p:nvPicPr>
                      <p:cNvPr id="5" name="Objet 4">
                        <a:extLst>
                          <a:ext uri="{FF2B5EF4-FFF2-40B4-BE49-F238E27FC236}">
                            <a16:creationId xmlns:a16="http://schemas.microsoft.com/office/drawing/2014/main" id="{B4938333-0633-438A-8CD5-6931275B36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47958" y="3429001"/>
                        <a:ext cx="3052763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54FEF13-1F06-4452-ACA6-B945B83F94C8}"/>
              </a:ext>
            </a:extLst>
          </p:cNvPr>
          <p:cNvCxnSpPr>
            <a:cxnSpLocks/>
          </p:cNvCxnSpPr>
          <p:nvPr/>
        </p:nvCxnSpPr>
        <p:spPr>
          <a:xfrm>
            <a:off x="5117308" y="3930015"/>
            <a:ext cx="10501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0000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Microsoft Macintosh PowerPoint</Application>
  <PresentationFormat>Widescreen</PresentationFormat>
  <Paragraphs>263</Paragraphs>
  <Slides>20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Cambria</vt:lpstr>
      <vt:lpstr>Cambria Math</vt:lpstr>
      <vt:lpstr>Wingdings</vt:lpstr>
      <vt:lpstr>Thème Office</vt:lpstr>
      <vt:lpstr>Worksheet</vt:lpstr>
      <vt:lpstr>Data Description</vt:lpstr>
      <vt:lpstr>Session objectives</vt:lpstr>
      <vt:lpstr>1. Covariance between two variables of different types</vt:lpstr>
      <vt:lpstr>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Linear correlation coefficient</vt:lpstr>
      <vt:lpstr>Formula</vt:lpstr>
      <vt:lpstr>Example</vt:lpstr>
      <vt:lpstr>Special case: two quantitative variables presented in a contingency table </vt:lpstr>
      <vt:lpstr>PowerPoint Presentation</vt:lpstr>
      <vt:lpstr>Case of two quantitative variables whose data are presented in a contingency table</vt:lpstr>
      <vt:lpstr>PowerPoint Presentation</vt:lpstr>
      <vt:lpstr>Epilogue</vt:lpstr>
      <vt:lpstr>By the end of this session, you should be able to</vt:lpstr>
      <vt:lpstr>PowerPoint Presentation</vt:lpstr>
      <vt:lpstr>Special case: discrete vs continuous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CELSE Jeremy</dc:creator>
  <cp:lastModifiedBy>Mercede Erfanianghasab</cp:lastModifiedBy>
  <cp:revision>2</cp:revision>
  <dcterms:created xsi:type="dcterms:W3CDTF">2025-02-10T09:23:47Z</dcterms:created>
  <dcterms:modified xsi:type="dcterms:W3CDTF">2026-08-22T17:58:12Z</dcterms:modified>
</cp:coreProperties>
</file>