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53DD8-B3E4-4039-B56F-E5EF414AC823}" v="14" dt="2021-10-15T12:58:48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1DA53DD8-B3E4-4039-B56F-E5EF414AC823}"/>
    <pc:docChg chg="custSel modSld">
      <pc:chgData name="KACHOUR Maher" userId="09775c39-7739-40bf-ba04-c8ef3ab24a94" providerId="ADAL" clId="{1DA53DD8-B3E4-4039-B56F-E5EF414AC823}" dt="2021-10-16T15:45:16.360" v="26" actId="255"/>
      <pc:docMkLst>
        <pc:docMk/>
      </pc:docMkLst>
      <pc:sldChg chg="modSp mod">
        <pc:chgData name="KACHOUR Maher" userId="09775c39-7739-40bf-ba04-c8ef3ab24a94" providerId="ADAL" clId="{1DA53DD8-B3E4-4039-B56F-E5EF414AC823}" dt="2021-10-16T15:45:03.340" v="23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DA53DD8-B3E4-4039-B56F-E5EF414AC823}" dt="2021-10-15T12:57:00.57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DA53DD8-B3E4-4039-B56F-E5EF414AC823}" dt="2021-10-16T15:45:03.340" v="23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DA53DD8-B3E4-4039-B56F-E5EF414AC823}" dt="2021-10-16T15:35:59.577" v="21" actId="20577"/>
        <pc:sldMkLst>
          <pc:docMk/>
          <pc:sldMk cId="0" sldId="257"/>
        </pc:sldMkLst>
        <pc:spChg chg="mod">
          <ac:chgData name="KACHOUR Maher" userId="09775c39-7739-40bf-ba04-c8ef3ab24a94" providerId="ADAL" clId="{1DA53DD8-B3E4-4039-B56F-E5EF414AC823}" dt="2021-10-16T15:35:59.577" v="2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1DA53DD8-B3E4-4039-B56F-E5EF414AC823}" dt="2021-10-15T12:57:36.547" v="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DA53DD8-B3E4-4039-B56F-E5EF414AC823}" dt="2021-10-15T12:57:36.547" v="3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1DA53DD8-B3E4-4039-B56F-E5EF414AC823}" dt="2021-10-16T15:45:16.360" v="26" actId="255"/>
        <pc:sldMkLst>
          <pc:docMk/>
          <pc:sldMk cId="3342625250" sldId="259"/>
        </pc:sldMkLst>
        <pc:spChg chg="mod">
          <ac:chgData name="KACHOUR Maher" userId="09775c39-7739-40bf-ba04-c8ef3ab24a94" providerId="ADAL" clId="{1DA53DD8-B3E4-4039-B56F-E5EF414AC823}" dt="2021-10-16T15:45:16.360" v="26" actId="255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1DA53DD8-B3E4-4039-B56F-E5EF414AC823}" dt="2021-10-15T12:58:26.227" v="1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DA53DD8-B3E4-4039-B56F-E5EF414AC823}" dt="2021-10-15T12:57:53.724" v="5" actId="20577"/>
        <pc:sldMkLst>
          <pc:docMk/>
          <pc:sldMk cId="290671189" sldId="263"/>
        </pc:sldMkLst>
        <pc:spChg chg="mod">
          <ac:chgData name="KACHOUR Maher" userId="09775c39-7739-40bf-ba04-c8ef3ab24a94" providerId="ADAL" clId="{1DA53DD8-B3E4-4039-B56F-E5EF414AC823}" dt="2021-10-15T12:57:53.724" v="5" actId="20577"/>
          <ac:spMkLst>
            <pc:docMk/>
            <pc:sldMk cId="290671189" sldId="263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5" name="Rectangle 1444">
            <a:extLst>
              <a:ext uri="{FF2B5EF4-FFF2-40B4-BE49-F238E27FC236}">
                <a16:creationId xmlns:a16="http://schemas.microsoft.com/office/drawing/2014/main" id="{D0461F72-A27E-48C5-A99A-B5EEDA745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3349167"/>
            <a:ext cx="9144000" cy="1748373"/>
          </a:xfrm>
        </p:spPr>
        <p:txBody>
          <a:bodyPr>
            <a:normAutofit/>
          </a:bodyPr>
          <a:lstStyle/>
          <a:p>
            <a:r>
              <a:rPr lang="en-AU" b="1">
                <a:latin typeface="Arial" panose="020B0604020202020204" pitchFamily="34" charset="0"/>
                <a:cs typeface="Arial" panose="020B0604020202020204" pitchFamily="34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5189616"/>
            <a:ext cx="9144000" cy="913864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Session 7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Mercedeh ERFANIANGHASAB &amp; Jérémy CELSE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F95DD-533A-19FB-1B29-5CBCDD2F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" y="902057"/>
            <a:ext cx="10905067" cy="1935649"/>
          </a:xfrm>
          <a:custGeom>
            <a:avLst/>
            <a:gdLst/>
            <a:ahLst/>
            <a:cxnLst/>
            <a:rect l="l" t="t" r="r" b="b"/>
            <a:pathLst>
              <a:path w="9143998" h="2473607">
                <a:moveTo>
                  <a:pt x="64634" y="0"/>
                </a:moveTo>
                <a:lnTo>
                  <a:pt x="9079363" y="0"/>
                </a:lnTo>
                <a:cubicBezTo>
                  <a:pt x="9115060" y="0"/>
                  <a:pt x="9143998" y="28938"/>
                  <a:pt x="9143998" y="64635"/>
                </a:cubicBezTo>
                <a:lnTo>
                  <a:pt x="9143998" y="2408972"/>
                </a:lnTo>
                <a:cubicBezTo>
                  <a:pt x="9143998" y="2444669"/>
                  <a:pt x="9115060" y="2473607"/>
                  <a:pt x="9079363" y="2473607"/>
                </a:cubicBezTo>
                <a:lnTo>
                  <a:pt x="64634" y="2473607"/>
                </a:lnTo>
                <a:cubicBezTo>
                  <a:pt x="46786" y="2473607"/>
                  <a:pt x="30627" y="2466373"/>
                  <a:pt x="18930" y="2454676"/>
                </a:cubicBezTo>
                <a:lnTo>
                  <a:pt x="0" y="2408974"/>
                </a:lnTo>
                <a:lnTo>
                  <a:pt x="0" y="64633"/>
                </a:lnTo>
                <a:lnTo>
                  <a:pt x="18930" y="18931"/>
                </a:lnTo>
                <a:cubicBezTo>
                  <a:pt x="30627" y="7235"/>
                  <a:pt x="46786" y="0"/>
                  <a:pt x="64634" y="0"/>
                </a:cubicBezTo>
                <a:close/>
              </a:path>
            </a:pathLst>
          </a:custGeom>
        </p:spPr>
      </p:pic>
      <p:sp>
        <p:nvSpPr>
          <p:cNvPr id="1447" name="Oval 1446">
            <a:extLst>
              <a:ext uri="{FF2B5EF4-FFF2-40B4-BE49-F238E27FC236}">
                <a16:creationId xmlns:a16="http://schemas.microsoft.com/office/drawing/2014/main" id="{DF382E8D-312B-4792-A211-0BDE37F6F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5562" y="262321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solidFill>
                <a:schemeClr val="accent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9" name="Arc 1448">
            <a:extLst>
              <a:ext uri="{FF2B5EF4-FFF2-40B4-BE49-F238E27FC236}">
                <a16:creationId xmlns:a16="http://schemas.microsoft.com/office/drawing/2014/main" id="{036F9B07-02BE-4BD5-BA9D-E91B8A456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8539" y="361268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0" name="TextBox 1439"/>
          <p:cNvSpPr txBox="1"/>
          <p:nvPr/>
        </p:nvSpPr>
        <p:spPr>
          <a:xfrm>
            <a:off x="411480" y="6291072"/>
            <a:ext cx="28520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800">
                <a:solidFill>
                  <a:srgbClr val="595959"/>
                </a:solidFill>
              </a:defRPr>
            </a:pPr>
            <a:r>
              <a:rPr lang="en-GB" sz="800"/>
              <a:t>Mercedeh.ERFANIANGHASAB@essca.fr | jeremy.celse@essca.fr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59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838200" y="1825625"/>
            <a:ext cx="5904244" cy="2183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temperature (i.e. measured between 7am and 7.30am) over 200 days chosen randomly from the winter periods observed over the last 20 years.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 are represented in the following table: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coefficient of variation 
Calculate the relative interquartile coefficient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54149"/>
              </p:ext>
            </p:extLst>
          </p:nvPr>
        </p:nvGraphicFramePr>
        <p:xfrm>
          <a:off x="7120872" y="1825625"/>
          <a:ext cx="4221598" cy="3348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708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1950890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533833">
                <a:tc>
                  <a:txBody>
                    <a:bodyPr/>
                    <a:lstStyle/>
                    <a:p>
                      <a:r>
                        <a:rPr lang="fr-F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927" marR="127927" marT="63964" marB="63964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 marL="127927" marR="127927" marT="63964" marB="63964"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562880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127927" marR="127927" marT="63964" marB="63964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127927" marR="127927" marT="63964" marB="63964"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562880"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27927" marR="127927" marT="63964" marB="63964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127927" marR="127927" marT="63964" marB="63964"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562880"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27927" marR="127927" marT="63964" marB="63964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127927" marR="127927" marT="63964" marB="63964"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562880"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27927" marR="127927" marT="63964" marB="63964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127927" marR="127927" marT="63964" marB="63964"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562880"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27927" marR="127927" marT="63964" marB="63964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127927" marR="127927" marT="63964" marB="63964"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sz="4400" b="1" dirty="0">
                <a:latin typeface="Arial" panose="020B0604020202020204" pitchFamily="34" charset="0"/>
                <a:cs typeface="Arial" panose="020B0604020202020204" pitchFamily="34" charset="0"/>
              </a:rPr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9571615"/>
                  </p:ext>
                </p:extLst>
              </p:nvPr>
            </p:nvGraphicFramePr>
            <p:xfrm>
              <a:off x="276224" y="2648580"/>
              <a:ext cx="486880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6403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2082999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89398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Temperature</a:t>
                          </a:r>
                          <a:endParaRPr lang="fr-FR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</a:t>
                          </a:r>
                          <a:r>
                            <a:rPr lang="fr-FR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days</a:t>
                          </a:r>
                          <a:endParaRPr lang="fr-FR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9571615"/>
                  </p:ext>
                </p:extLst>
              </p:nvPr>
            </p:nvGraphicFramePr>
            <p:xfrm>
              <a:off x="276224" y="2648580"/>
              <a:ext cx="486880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6403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2082999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89398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Temperature</a:t>
                          </a:r>
                          <a:endParaRPr lang="fr-FR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</a:t>
                          </a:r>
                          <a:r>
                            <a:rPr lang="fr-FR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days</a:t>
                          </a:r>
                          <a:endParaRPr lang="fr-FR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393590" t="-6897" r="-2564" b="-6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291327" y="2097637"/>
                <a:ext cx="6719697" cy="393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dirty="0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dirty="0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×40+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×34+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×86+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i="0" dirty="0">
                                      <a:latin typeface="Arial" panose="020B0604020202020204" pitchFamily="34" charset="0"/>
                                      <a:cs typeface="Arial" panose="020B0604020202020204" pitchFamily="34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0.43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i="0" dirty="0">
                                      <a:latin typeface="Arial" panose="020B0604020202020204" pitchFamily="34" charset="0"/>
                                      <a:cs typeface="Arial" panose="020B0604020202020204" pitchFamily="34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×100=134.2225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327" y="2097637"/>
                <a:ext cx="6719697" cy="3936527"/>
              </a:xfrm>
              <a:prstGeom prst="rect">
                <a:avLst/>
              </a:prstGeom>
              <a:blipFill>
                <a:blip r:embed="rId3"/>
                <a:stretch>
                  <a:fillRect t="-32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479493"/>
            <a:ext cx="605496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1 -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838201" y="1984443"/>
                <a:ext cx="5257800" cy="21454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𝑑𝑖𝑎𝑛𝑒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×100=100%&gt;15%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i="1" dirty="0"/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i="1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984443"/>
                <a:ext cx="5257800" cy="2145430"/>
              </a:xfrm>
              <a:prstGeom prst="rect">
                <a:avLst/>
              </a:prstGeom>
              <a:blipFill>
                <a:blip r:embed="rId2"/>
                <a:stretch>
                  <a:fillRect l="-964" t="-177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2799819"/>
                  </p:ext>
                </p:extLst>
              </p:nvPr>
            </p:nvGraphicFramePr>
            <p:xfrm>
              <a:off x="6576434" y="2026117"/>
              <a:ext cx="5135132" cy="3281051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96183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14537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9260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25152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12077">
                    <a:tc>
                      <a:txBody>
                        <a:bodyPr/>
                        <a:lstStyle/>
                        <a:p>
                          <a:r>
                            <a:rPr lang="fr-FR" sz="1800" b="0" cap="none" spc="60" dirty="0" err="1">
                              <a:solidFill>
                                <a:schemeClr val="bg1"/>
                              </a:solidFill>
                            </a:rPr>
                            <a:t>Temperature</a:t>
                          </a:r>
                          <a:endParaRPr lang="fr-FR" sz="1800" b="0" cap="none" spc="6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b="0" cap="none" spc="60" dirty="0">
                              <a:solidFill>
                                <a:schemeClr val="bg1"/>
                              </a:solidFill>
                            </a:rPr>
                            <a:t>Number of </a:t>
                          </a:r>
                          <a:r>
                            <a:rPr lang="fr-FR" sz="1800" b="0" cap="none" spc="60" dirty="0" err="1">
                              <a:solidFill>
                                <a:schemeClr val="bg1"/>
                              </a:solidFill>
                            </a:rPr>
                            <a:t>days</a:t>
                          </a:r>
                          <a:endParaRPr lang="fr-FR" sz="1800" b="0" cap="none" spc="6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0" cap="none" spc="60" smtClean="0">
                                        <a:solidFill>
                                          <a:schemeClr val="bg1"/>
                                        </a:solidFill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0" cap="none" spc="60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0" cap="none" spc="60">
                                        <a:solidFill>
                                          <a:schemeClr val="bg1"/>
                                        </a:solidFill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0" cap="none" spc="60">
                                        <a:solidFill>
                                          <a:schemeClr val="bg1"/>
                                        </a:solidFill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800" b="0" cap="none" spc="6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cap="none" spc="60" smtClean="0">
                                        <a:solidFill>
                                          <a:schemeClr val="bg1"/>
                                        </a:solidFill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cap="none" spc="60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0" cap="none" spc="60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800" b="0" cap="none" spc="6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 anchor="ctr"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fr-FR" sz="1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  <a:endParaRPr lang="fr-FR" sz="1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1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b="1" cap="none" spc="0">
                              <a:solidFill>
                                <a:schemeClr val="tx1"/>
                              </a:solidFill>
                            </a:rPr>
                            <a:t>Total </a:t>
                          </a:r>
                          <a:endParaRPr lang="fr-FR" sz="1600" b="1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1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2799819"/>
                  </p:ext>
                </p:extLst>
              </p:nvPr>
            </p:nvGraphicFramePr>
            <p:xfrm>
              <a:off x="6576434" y="2026117"/>
              <a:ext cx="5135132" cy="3281051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96183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14537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9260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25152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12077">
                    <a:tc>
                      <a:txBody>
                        <a:bodyPr/>
                        <a:lstStyle/>
                        <a:p>
                          <a:r>
                            <a:rPr lang="fr-FR" sz="1800" b="0" cap="none" spc="60" dirty="0" err="1">
                              <a:solidFill>
                                <a:schemeClr val="bg1"/>
                              </a:solidFill>
                            </a:rPr>
                            <a:t>Temperature</a:t>
                          </a:r>
                          <a:endParaRPr lang="fr-FR" sz="1800" b="0" cap="none" spc="6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b="0" cap="none" spc="60" dirty="0">
                              <a:solidFill>
                                <a:schemeClr val="bg1"/>
                              </a:solidFill>
                            </a:rPr>
                            <a:t>Number of </a:t>
                          </a:r>
                          <a:r>
                            <a:rPr lang="fr-FR" sz="1800" b="0" cap="none" spc="60" dirty="0" err="1">
                              <a:solidFill>
                                <a:schemeClr val="bg1"/>
                              </a:solidFill>
                            </a:rPr>
                            <a:t>days</a:t>
                          </a:r>
                          <a:endParaRPr lang="fr-FR" sz="1800" b="0" cap="none" spc="6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 anchor="ctr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05078" marR="105078" marT="105078" marB="52539" anchor="ctr">
                        <a:blipFill>
                          <a:blip r:embed="rId3"/>
                          <a:stretch>
                            <a:fillRect l="-442857" t="-2083" r="-106349" b="-44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05078" marR="105078" marT="105078" marB="52539" anchor="ctr">
                        <a:blipFill>
                          <a:blip r:embed="rId3"/>
                          <a:stretch>
                            <a:fillRect l="-526154" t="-2083" r="-3077" b="-44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fr-FR" sz="1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  <a:endParaRPr lang="fr-FR" sz="1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1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444829">
                    <a:tc>
                      <a:txBody>
                        <a:bodyPr/>
                        <a:lstStyle/>
                        <a:p>
                          <a:r>
                            <a:rPr lang="fr-FR" sz="1600" b="1" cap="none" spc="0">
                              <a:solidFill>
                                <a:schemeClr val="tx1"/>
                              </a:solidFill>
                            </a:rPr>
                            <a:t>Total </a:t>
                          </a:r>
                          <a:endParaRPr lang="fr-FR" sz="1600" b="1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endParaRPr lang="fr-FR" sz="1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cap="none" spc="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1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05078" marR="105078" marT="105078" marB="52539"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speed (i.e. measured (in Km/h) between 7am and 7.30am) of the wind over 240 days chosen randomly from the winter periods observed over the last 20 years. 
The data are represented in the following table: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285750" algn="just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Calculate the coefficient of variation 
Calculate the relative interquartile coefficient 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68627"/>
              </p:ext>
            </p:extLst>
          </p:nvPr>
        </p:nvGraphicFramePr>
        <p:xfrm>
          <a:off x="6586483" y="1630390"/>
          <a:ext cx="5115035" cy="40153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79950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3135085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522790">
                <a:tc>
                  <a:txBody>
                    <a:bodyPr/>
                    <a:lstStyle/>
                    <a:p>
                      <a:r>
                        <a:rPr lang="fr-FR" sz="2600" dirty="0"/>
                        <a:t>Speed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/>
                        <a:t>Number of </a:t>
                      </a:r>
                      <a:r>
                        <a:rPr lang="fr-FR" sz="2600" dirty="0" err="1"/>
                        <a:t>days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/>
                        <a:t>[0 ; 10]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/>
                        <a:t>42</a:t>
                      </a:r>
                      <a:endParaRPr lang="fr-FR"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/>
                        <a:t>[10 ; 30]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/>
                        <a:t>48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/>
                        <a:t>[30 ; 70]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/>
                        <a:t>90</a:t>
                      </a:r>
                      <a:endParaRPr lang="fr-FR"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/>
                        <a:t>[70 ; 100]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/>
                        <a:t>24</a:t>
                      </a:r>
                      <a:endParaRPr lang="fr-FR"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/>
                        <a:t>[100 ; 150]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/>
                        <a:t>36</a:t>
                      </a:r>
                      <a:endParaRPr lang="fr-F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59" y="586822"/>
            <a:ext cx="7489539" cy="1645920"/>
          </a:xfrm>
        </p:spPr>
        <p:txBody>
          <a:bodyPr>
            <a:norm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Exercice 2 </a:t>
            </a:r>
            <a:b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077328"/>
                  </p:ext>
                </p:extLst>
              </p:nvPr>
            </p:nvGraphicFramePr>
            <p:xfrm>
              <a:off x="683804" y="2549432"/>
              <a:ext cx="3230969" cy="3731220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Speed
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smtClean="0"/>
                                    </m:ctrlPr>
                                  </m:sSubPr>
                                  <m:e>
                                    <m:r>
                                      <a:rPr lang="fr-FR" sz="2200" b="1" smtClean="0"/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smtClean="0"/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smtClean="0"/>
                                    </m:ctrlPr>
                                  </m:sSubPr>
                                  <m:e>
                                    <m:r>
                                      <a:rPr lang="fr-FR" sz="2200" b="1" smtClean="0"/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smtClean="0"/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[0 ; 10]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 ; 30]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[30 ; 70]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[70 ; 100]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[100 ; 150]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077328"/>
                  </p:ext>
                </p:extLst>
              </p:nvPr>
            </p:nvGraphicFramePr>
            <p:xfrm>
              <a:off x="683804" y="2549432"/>
              <a:ext cx="3230969" cy="3731220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782262"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Speed
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8475" t="-3226" r="-127119" b="-37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5946" t="-3226" r="-1351" b="-377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[0 ; 10]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 ; 30]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[30 ; 70]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[70 ; 100]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[100 ; 150]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5" y="2676139"/>
                <a:ext cx="7804963" cy="3604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i="0" dirty="0">
                                      <a:latin typeface="Arial" panose="020B0604020202020204" pitchFamily="34" charset="0"/>
                                      <a:cs typeface="Arial" panose="020B0604020202020204" pitchFamily="34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0.15)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=38.72802</m:t>
                    </m:r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/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×100=76.12387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dirty="0"/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5" y="2676139"/>
                <a:ext cx="7804963" cy="36045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6253592" cy="1645920"/>
          </a:xfrm>
        </p:spPr>
        <p:txBody>
          <a:bodyPr>
            <a:norm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Exercice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224825"/>
                  </p:ext>
                </p:extLst>
              </p:nvPr>
            </p:nvGraphicFramePr>
            <p:xfrm>
              <a:off x="1051560" y="2232742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smtClean="0">
                                        <a:solidFill>
                                          <a:schemeClr val="bg1"/>
                                        </a:solidFill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>
                                        <a:solidFill>
                                          <a:schemeClr val="bg1"/>
                                        </a:solidFill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>
                                        <a:solidFill>
                                          <a:schemeClr val="bg1"/>
                                        </a:solidFill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smtClean="0"/>
                                    </m:ctrlPr>
                                  </m:sSubPr>
                                  <m:e>
                                    <m:r>
                                      <a:rPr lang="fr-FR" sz="2200" b="1" smtClean="0"/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smtClean="0"/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[0 ; 10]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[10 ; 30]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[30 ; 70]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[70 ; 100]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[100 ; 150]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  <a:endParaRPr lang="fr-FR" sz="2200" b="1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224825"/>
                  </p:ext>
                </p:extLst>
              </p:nvPr>
            </p:nvGraphicFramePr>
            <p:xfrm>
              <a:off x="1051560" y="2232742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783" t="-5128" r="-102174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2258" t="-5128" r="-1075" b="-6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[0 ; 10]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[10 ; 30]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[30 ; 70]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[70 ; 100]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[100 ; 150]</a:t>
                          </a:r>
                          <a:endParaRPr lang="fr-FR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  <a:endParaRPr lang="fr-FR" sz="2200" b="1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22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121.1632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%&gt;15%</m:t>
                    </m:r>
                  </m:oMath>
                </a14:m>
                <a:r>
                  <a:rPr lang="fr-FR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blipFill>
                <a:blip r:embed="rId3"/>
                <a:stretch>
                  <a:fillRect l="-17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472</Words>
  <Application>Microsoft Macintosh PowerPoint</Application>
  <PresentationFormat>Widescreen</PresentationFormat>
  <Paragraphs>156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Wingdings</vt:lpstr>
      <vt:lpstr>Thème Office</vt:lpstr>
      <vt:lpstr>Data Description </vt:lpstr>
      <vt:lpstr>Exercise 1</vt:lpstr>
      <vt:lpstr>Exercise 1 - Solution</vt:lpstr>
      <vt:lpstr>Exercise 1 - Solution</vt:lpstr>
      <vt:lpstr>Exercice 2</vt:lpstr>
      <vt:lpstr>Exercice 2  Solution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Mercede Erfanianghasab</cp:lastModifiedBy>
  <cp:revision>5</cp:revision>
  <dcterms:created xsi:type="dcterms:W3CDTF">2021-10-14T08:08:29Z</dcterms:created>
  <dcterms:modified xsi:type="dcterms:W3CDTF">2026-07-17T15:50:35Z</dcterms:modified>
</cp:coreProperties>
</file>