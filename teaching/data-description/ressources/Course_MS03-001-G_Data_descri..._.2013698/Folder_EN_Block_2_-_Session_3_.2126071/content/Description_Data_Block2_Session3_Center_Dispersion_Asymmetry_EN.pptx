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8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ptos"/>
              </a:rPr>
              <a:t>Temperatures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-1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34</c:v>
                </c:pt>
                <c:pt idx="2">
                  <c:v>86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42-7A4F-BB09-D71902FFA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20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session no. 5 – lesson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Duration: 9h</a:t>
            </a:r>
            <a:endParaRPr lang="en-US" sz="1800" dirty="0"/>
          </a:p>
        </p:txBody>
      </p:sp>
      <p:pic>
        <p:nvPicPr>
          <p:cNvPr id="3" name="Image 0" descr="/mnt/data/essc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02920"/>
            <a:ext cx="1143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0000"/>
                </a:solidFill>
                <a:latin typeface="Aptos Display"/>
              </a:rPr>
              <a:t>Description</a:t>
            </a:r>
            <a:r>
              <a:rPr lang="en-US" sz="3400" b="1" dirty="0">
                <a:solidFill>
                  <a:srgbClr val="FF0000"/>
                </a:solidFill>
              </a:rPr>
              <a:t> </a:t>
            </a:r>
            <a:r>
              <a:rPr lang="en-US" sz="4800" b="1" dirty="0">
                <a:solidFill>
                  <a:srgbClr val="FF0000"/>
                </a:solidFill>
                <a:latin typeface="Aptos Display"/>
              </a:rPr>
              <a:t>of</a:t>
            </a:r>
            <a:r>
              <a:rPr lang="en-US" sz="3400" b="1" dirty="0">
                <a:solidFill>
                  <a:srgbClr val="FF0000"/>
                </a:solidFill>
              </a:rPr>
              <a:t> </a:t>
            </a:r>
            <a:r>
              <a:rPr lang="en-US" sz="4800" b="1" dirty="0">
                <a:solidFill>
                  <a:srgbClr val="FF0000"/>
                </a:solidFill>
                <a:latin typeface="Aptos Display"/>
              </a:rPr>
              <a:t>Data</a:t>
            </a:r>
          </a:p>
        </p:txBody>
      </p:sp>
      <p:sp>
        <p:nvSpPr>
          <p:cNvPr id="5" name="Text 2"/>
          <p:cNvSpPr/>
          <p:nvPr/>
        </p:nvSpPr>
        <p:spPr>
          <a:xfrm>
            <a:off x="502920" y="324612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Block 2 – Session 3: Central tendency, dispersion, asymmetry and application</a:t>
            </a:r>
          </a:p>
        </p:txBody>
      </p:sp>
      <p:sp>
        <p:nvSpPr>
          <p:cNvPr id="6" name="Text 3"/>
          <p:cNvSpPr/>
          <p:nvPr/>
        </p:nvSpPr>
        <p:spPr>
          <a:xfrm>
            <a:off x="283464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2B46"/>
                </a:solidFill>
              </a:rPr>
              <a:t>Instructor: INSERT NAME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2B46"/>
                </a:solidFill>
              </a:rPr>
              <a:t>Module coordinators: Mercedeh ERFANIANGHASAB &amp; Jérémy CELSE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855" y="51663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Session 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84255" y="157046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33333"/>
                </a:solidFill>
              </a:rPr>
              <a:t>Concepts covered in the session: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7840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Calculate and interpret the mean and mode of a statistical series.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Calculate and interpret dispersion indicators.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Calculate and interpret asymmetry indicators.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Use Excel to produce summary indicators.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063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Session breakdown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0467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1. Central tendency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Mean, mode and modal class.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914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428232" y="111556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2. Absolute dispersion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153619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Range, variance, standard deviation, interquartile range.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80467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3. Relative dispersion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Coefficient of variation and relative interquartile coefficient.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BE5D6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428232" y="26243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4. Asymmetry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3044952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Pearson and Yule-Kendall coefficients.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66160" y="41605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3CD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730752" y="4361688"/>
            <a:ext cx="4974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B46"/>
                </a:solidFill>
              </a:rPr>
              <a:t>5. Excel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30752" y="4782312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Calculate, check and interpret.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</a:rPr>
              <a:t>The session brings together the essential numerical indicators used to describe a distribution.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  <a:latin typeface="Aptos Display"/>
              </a:rPr>
              <a:t>1. Central tendency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71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Mean and mode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30352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Mean: x̄ = Σxᵢ / n
</a:t>
            </a:r>
            <a:r>
              <a:rPr lang="en-US" sz="1300" dirty="0">
                <a:solidFill>
                  <a:srgbClr val="333333"/>
                </a:solidFill>
              </a:rPr>
              <a:t>Arithmetic center of the series. It uses all observations.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914400"/>
            <a:ext cx="530352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Mode: most frequent value
</a:t>
            </a:r>
            <a:r>
              <a:rPr lang="en-US" sz="1300" dirty="0">
                <a:solidFill>
                  <a:srgbClr val="333333"/>
                </a:solidFill>
              </a:rPr>
              <a:t>For a grouped continuous variable, we mainly refer to the modal class.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mean is sensitive to extreme values.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mode can be unique, multiple or absent.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For classes with different widths, the modal class must be read using heights/densities.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036" y="246888"/>
            <a:ext cx="9433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Example: morning temperature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1810512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58952" y="95097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42032" y="914400"/>
            <a:ext cx="1810512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569464" y="95097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Number of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914400"/>
            <a:ext cx="1408176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379976" y="95097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Frequency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58952" y="145389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-1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42032" y="141732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2569464" y="145389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52544" y="1417320"/>
            <a:ext cx="14081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379976" y="145389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20 %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1920240"/>
            <a:ext cx="181051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58952" y="195681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42032" y="1920240"/>
            <a:ext cx="181051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569464" y="195681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1920240"/>
            <a:ext cx="1408176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4379976" y="195681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17 %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242316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58952" y="245973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42032" y="242316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2569464" y="245973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86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52544" y="2423160"/>
            <a:ext cx="14081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379976" y="245973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43 %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2926080"/>
            <a:ext cx="181051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58952" y="296265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42032" y="2926080"/>
            <a:ext cx="181051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2569464" y="296265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52544" y="2926080"/>
            <a:ext cx="1408176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4379976" y="296265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10 %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342900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758952" y="346557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42032" y="3429000"/>
            <a:ext cx="181051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2569464" y="346557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52544" y="3429000"/>
            <a:ext cx="140817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4379976" y="3465576"/>
            <a:ext cx="1353312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10 %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1005840"/>
            <a:ext cx="457200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Mode = 2
</a:t>
            </a:r>
            <a:r>
              <a:rPr lang="en-US" sz="1300" dirty="0">
                <a:solidFill>
                  <a:srgbClr val="333333"/>
                </a:solidFill>
              </a:rPr>
              <a:t>Modality 2 is the most frequent.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0" y="2331720"/>
            <a:ext cx="457200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x̄ = 1.66
</a:t>
            </a:r>
            <a:r>
              <a:rPr lang="en-US" sz="1300" dirty="0">
                <a:solidFill>
                  <a:srgbClr val="333333"/>
                </a:solidFill>
              </a:rPr>
              <a:t>Mean weighted by counts.</a:t>
            </a:r>
            <a:endParaRPr lang="en-US" sz="1300" dirty="0"/>
          </a:p>
        </p:txBody>
      </p:sp>
      <p:graphicFrame>
        <p:nvGraphicFramePr>
          <p:cNvPr id="43" name="Chart 0"/>
          <p:cNvGraphicFramePr/>
          <p:nvPr/>
        </p:nvGraphicFramePr>
        <p:xfrm>
          <a:off x="6217920" y="3703320"/>
          <a:ext cx="49377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6616"/>
            <a:ext cx="98753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Grouped continuous data: mean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30352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x̄ = Σ nᵢcᵢ / n
</a:t>
            </a:r>
            <a:r>
              <a:rPr lang="en-US" sz="1300" dirty="0">
                <a:solidFill>
                  <a:srgbClr val="333333"/>
                </a:solidFill>
              </a:rPr>
              <a:t>cᵢ is the class center. Each class is replaced by its center.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868680"/>
            <a:ext cx="2137410" cy="438912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6428232" y="905256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38210" y="868680"/>
            <a:ext cx="1263015" cy="438912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8565642" y="905256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Center cᵢ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01225" y="868680"/>
            <a:ext cx="1263015" cy="438912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828657" y="905256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Number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07592"/>
            <a:ext cx="213741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6428232" y="1344168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[0 ; 10]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38210" y="1307592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8565642" y="1344168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01225" y="1307592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9828657" y="1344168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46504"/>
            <a:ext cx="2137410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6428232" y="1783080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[10 ; 30]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38210" y="1746504"/>
            <a:ext cx="1263015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565642" y="1783080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01225" y="1746504"/>
            <a:ext cx="1263015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9828657" y="1783080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48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185416"/>
            <a:ext cx="213741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428232" y="2221992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[30 ; 70]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38210" y="2185416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8565642" y="2221992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01225" y="2185416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9828657" y="2221992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90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2624328"/>
            <a:ext cx="2137410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6428232" y="2660904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[70 ; 100]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38210" y="2624328"/>
            <a:ext cx="1263015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8565642" y="2660904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85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01225" y="2624328"/>
            <a:ext cx="1263015" cy="438912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9828657" y="2660904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3063240"/>
            <a:ext cx="213741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6428232" y="3099816"/>
            <a:ext cx="20825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[100 ; 150]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38210" y="3063240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8565642" y="3099816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125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01225" y="3063240"/>
            <a:ext cx="126301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9828657" y="3099816"/>
            <a:ext cx="1208151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</a:rPr>
              <a:t>36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438912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In the example, the approximate mean is 50.88 km/h.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  <a:latin typeface="Aptos Display"/>
              </a:rPr>
              <a:t>2. Dispersion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368" y="370332"/>
            <a:ext cx="1009638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Why measure dispersion?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Same mean, different distributions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Two series can have the same mean but very concentrated or very dispersed values.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0584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216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Objective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Measure the spread of observations around a center or within the distribution.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703320"/>
            <a:ext cx="594360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Dispersion = variability of the data
</a:t>
            </a:r>
            <a:r>
              <a:rPr lang="en-US" sz="1300" dirty="0">
                <a:solidFill>
                  <a:srgbClr val="333333"/>
                </a:solidFill>
              </a:rPr>
              <a:t>It complements central tendency indicators.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053"/>
            <a:ext cx="104691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Range and interquartile range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507492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Range = Max − Min
</a:t>
            </a:r>
            <a:r>
              <a:rPr lang="en-US" sz="1300" dirty="0">
                <a:solidFill>
                  <a:srgbClr val="333333"/>
                </a:solidFill>
              </a:rPr>
              <a:t>Simple measure but sensitive to extreme values.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914400"/>
            <a:ext cx="507492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IQR = Q3 − Q1
</a:t>
            </a:r>
            <a:r>
              <a:rPr lang="en-US" sz="1300" dirty="0">
                <a:solidFill>
                  <a:srgbClr val="333333"/>
                </a:solidFill>
              </a:rPr>
              <a:t>Measures the dispersion of the central 50% of the distribution.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 range uses only two values.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 IQR is more robust because it focuses on the center of the distribution.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These indicators are easy to read with a boxplot.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402336"/>
            <a:ext cx="101792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Variance and standard deviation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548640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V(x) = Σ nᵢ(xᵢ − x̄)² / n
</a:t>
            </a:r>
            <a:r>
              <a:rPr lang="en-US" sz="1300" dirty="0">
                <a:solidFill>
                  <a:srgbClr val="333333"/>
                </a:solidFill>
              </a:rPr>
              <a:t>Variance measures the mean squared distance from the mean.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914400"/>
            <a:ext cx="5029200" cy="12344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σ = √V(x)
</a:t>
            </a:r>
            <a:r>
              <a:rPr lang="en-US" sz="1300" dirty="0">
                <a:solidFill>
                  <a:srgbClr val="333333"/>
                </a:solidFill>
              </a:rPr>
              <a:t>The standard deviation returns to the unit of the variable.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greater the standard deviation, the more the values are dispersed around the mean.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For grouped continuous data, class centers are used.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Excel distinguishes between population variance and adjusted variance.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002" y="320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Coefficient of variation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512064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CV = σ / x̄
</a:t>
            </a:r>
            <a:r>
              <a:rPr lang="en-US" sz="1300" dirty="0">
                <a:solidFill>
                  <a:srgbClr val="333333"/>
                </a:solidFill>
              </a:rPr>
              <a:t>Relative measure of dispersion. Useful for comparing two series expressed in different units or levels.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914400"/>
            <a:ext cx="5120640" cy="128016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Interpretation
</a:t>
            </a:r>
            <a:r>
              <a:rPr lang="en-US" sz="1300" dirty="0">
                <a:solidFill>
                  <a:srgbClr val="333333"/>
                </a:solidFill>
              </a:rPr>
              <a:t>The higher the CV, the greater the relative dispersion.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3246120"/>
            <a:ext cx="1990165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770632" y="3282696"/>
            <a:ext cx="1935301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3365" y="3246120"/>
            <a:ext cx="1492624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760797" y="328269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5988" y="3246120"/>
            <a:ext cx="1791148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253420" y="3282696"/>
            <a:ext cx="173628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Standard deviation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136" y="3246120"/>
            <a:ext cx="1492624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044568" y="328269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794760"/>
            <a:ext cx="199016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2770632" y="3831336"/>
            <a:ext cx="1935301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33365" y="3794760"/>
            <a:ext cx="149262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4760797" y="383133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1.66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25988" y="3794760"/>
            <a:ext cx="1791148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253420" y="3831336"/>
            <a:ext cx="173628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2.23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17136" y="3794760"/>
            <a:ext cx="1492624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044568" y="383133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134 %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4343400"/>
            <a:ext cx="1990165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2770632" y="4379976"/>
            <a:ext cx="1935301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Speed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33365" y="4343400"/>
            <a:ext cx="1492624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4760797" y="437997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50.88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25988" y="4343400"/>
            <a:ext cx="1791148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6253420" y="4379976"/>
            <a:ext cx="173628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17136" y="4343400"/>
            <a:ext cx="1492624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044568" y="4379976"/>
            <a:ext cx="14377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to calculate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409" y="333756"/>
            <a:ext cx="95290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Relative interquartile </a:t>
            </a:r>
            <a:r>
              <a:rPr lang="en-US" sz="4400" b="1" dirty="0" err="1">
                <a:solidFill>
                  <a:srgbClr val="FF0000"/>
                </a:solidFill>
                <a:latin typeface="Aptos Display"/>
              </a:rPr>
              <a:t>coefficient</a:t>
            </a:r>
            <a:endParaRPr lang="en-US" sz="4400" b="1" dirty="0">
              <a:solidFill>
                <a:srgbClr val="FF0000"/>
              </a:solidFill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CIR = (Q3 − Q1) / (Q3 + Q1)
</a:t>
            </a:r>
            <a:r>
              <a:rPr lang="en-US" sz="1300" dirty="0">
                <a:solidFill>
                  <a:srgbClr val="333333"/>
                </a:solidFill>
              </a:rPr>
              <a:t>Relative indicator based on quartiles. It complements the coefficient of variation.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Low CIR: the central 50% are relatively concentrated.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High CIR: the central 50% are relatively dispersed.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It is less sensitive to extreme values than the coefficient of variation.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  <a:latin typeface="Aptos Display"/>
              </a:rPr>
              <a:t>3. </a:t>
            </a:r>
            <a:r>
              <a:rPr lang="fr-FR" sz="6000" b="1" noProof="0" dirty="0">
                <a:solidFill>
                  <a:srgbClr val="FF0000"/>
                </a:solidFill>
                <a:latin typeface="Aptos Display"/>
              </a:rPr>
              <a:t>Asymmetry indicators</a:t>
            </a:r>
            <a:endParaRPr lang="en-US" sz="6000" b="1" dirty="0">
              <a:solidFill>
                <a:srgbClr val="FF0000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956" y="31089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Asymmetry: general </a:t>
            </a: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idea</a:t>
            </a:r>
            <a:endParaRPr lang="en-US" sz="4400" b="1" dirty="0">
              <a:solidFill>
                <a:srgbClr val="FF0000"/>
              </a:solidFill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AF2FA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Right asymmetry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The tail of the distribution is longer toward higher values. Often, mean &gt; median.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E8F4E1"/>
          </a:solidFill>
          <a:ln w="12700">
            <a:solidFill>
              <a:srgbClr val="A9C2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583680" y="11247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B46"/>
                </a:solidFill>
              </a:rPr>
              <a:t>Left asymmetry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The tail of the distribution is longer toward lower values. Often, mean &lt; median.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3657600"/>
            <a:ext cx="548640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Symmetric distribution
</a:t>
            </a:r>
            <a:r>
              <a:rPr lang="en-US" sz="1300" dirty="0">
                <a:solidFill>
                  <a:srgbClr val="333333"/>
                </a:solidFill>
              </a:rPr>
              <a:t>Values are distributed evenly around the center.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502" y="3429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Pearson coefficient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07040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Pearson asymmetry = (x̄ − Mode) / σ
</a:t>
            </a:r>
            <a:r>
              <a:rPr lang="en-US" sz="1300" dirty="0">
                <a:solidFill>
                  <a:srgbClr val="333333"/>
                </a:solidFill>
              </a:rPr>
              <a:t>The sign indicates the direction of asymmetry; the intensity depends on the absolute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834640"/>
            <a:ext cx="2121408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2039112" y="2871216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33088" y="2834640"/>
            <a:ext cx="5833872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160520" y="2871216"/>
            <a:ext cx="577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3337560"/>
            <a:ext cx="21214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2039112" y="3374136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≈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33088" y="3337560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160520" y="3374136"/>
            <a:ext cx="577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Approximately symmetric distribution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3840480"/>
            <a:ext cx="2121408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2039112" y="3877056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&gt; 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33088" y="3840480"/>
            <a:ext cx="5833872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4160520" y="3877056"/>
            <a:ext cx="577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Right asymmetry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4343400"/>
            <a:ext cx="21214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2039112" y="4379976"/>
            <a:ext cx="2066544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&lt; 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33088" y="4343400"/>
            <a:ext cx="58338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4160520" y="4379976"/>
            <a:ext cx="5779008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Left asymmetry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501" y="310896"/>
            <a:ext cx="98879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Yule and Kendall coefficient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07040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E2B5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</a:rPr>
              <a:t>YK = (Q3 + Q1 − 2Me) / (Q3 − Q1)
</a:t>
            </a:r>
            <a:r>
              <a:rPr lang="en-US" sz="1300" dirty="0">
                <a:solidFill>
                  <a:srgbClr val="333333"/>
                </a:solidFill>
              </a:rPr>
              <a:t>This indicator measures asymmetry using Q1, the median and Q3.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YK &gt; 0: right asymmetry.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YK &lt; 0: left asymmetry.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YK close to 0: distribution more symmetric around the median.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2606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0000"/>
                </a:solidFill>
                <a:latin typeface="Aptos Display"/>
              </a:rPr>
              <a:t>4. Excel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Excel: useful functions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3443591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58952" y="85953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75111" y="822960"/>
            <a:ext cx="7346329" cy="50292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4202543" y="85953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 function /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344359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58952" y="136245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75111" y="1325880"/>
            <a:ext cx="734632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202543" y="136245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=AVERAGE(range)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1828800"/>
            <a:ext cx="3443591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758952" y="186537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75111" y="1828800"/>
            <a:ext cx="7346329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202543" y="186537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=MODE.SNGL(range)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331720"/>
            <a:ext cx="344359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58952" y="236829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Variance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75111" y="2331720"/>
            <a:ext cx="734632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4202543" y="236829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=VAR.P(range) or =VAR.S(range)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2834640"/>
            <a:ext cx="3443591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58952" y="287121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Standard deviation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75111" y="2834640"/>
            <a:ext cx="7346329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4202543" y="287121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=STDEV.P(range) or =STDEV.S(range)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337560"/>
            <a:ext cx="344359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58952" y="337413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Quartiles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75111" y="3337560"/>
            <a:ext cx="734632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4202543" y="337413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=QUARTILE.INC(range,1/2/3)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840480"/>
            <a:ext cx="3443591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758952" y="3877056"/>
            <a:ext cx="3388727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Weighted sum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75111" y="3840480"/>
            <a:ext cx="7346329" cy="50292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4202543" y="3877056"/>
            <a:ext cx="7291465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=SUMPRODUCT(range1,range2)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5780"/>
            <a:ext cx="9905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Application: file PW – Session 9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Complete the tables for the variables Mid-Term Exam and Continuous Assessment.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Calculate maximum, minimum, Q1, median, Q3, mean, variance, standard deviation and asymmetry coefficients.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Compare manual calculations with Excel functions.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Interpret the dispersion and shape of the distributions.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43000" y="3794760"/>
            <a:ext cx="2907792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170432" y="3831336"/>
            <a:ext cx="2852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50792" y="3794760"/>
            <a:ext cx="3198571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4078224" y="3831336"/>
            <a:ext cx="3143707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49363" y="3794760"/>
            <a:ext cx="3586277" cy="548640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276795" y="3831336"/>
            <a:ext cx="3531413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4343400"/>
            <a:ext cx="29077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170432" y="4379976"/>
            <a:ext cx="2852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Mid-Term Exam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0792" y="4343400"/>
            <a:ext cx="319857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4078224" y="4379976"/>
            <a:ext cx="3143707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Raw data / classes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9363" y="4343400"/>
            <a:ext cx="3586277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276795" y="4379976"/>
            <a:ext cx="3531413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Complete summary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4892040"/>
            <a:ext cx="2907792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1170432" y="4928616"/>
            <a:ext cx="28529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Continuous Assessment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50792" y="4892040"/>
            <a:ext cx="3198571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4078224" y="4928616"/>
            <a:ext cx="3143707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Raw data / classes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49363" y="4892040"/>
            <a:ext cx="3586277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7276795" y="4928616"/>
            <a:ext cx="3531413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Complete summary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624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Case study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Using the appropriate variables, calculate the dispersion indicators.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Variance, standard deviation, coefficient of variation, range, IQR and relative interquartile coefficient.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Interpret the results in the context of visitor satisfaction.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10515600" cy="685800"/>
          </a:xfrm>
          <a:prstGeom prst="rect">
            <a:avLst/>
          </a:prstGeom>
          <a:solidFill>
            <a:srgbClr val="F8F9FA"/>
          </a:solidFill>
          <a:ln w="8890">
            <a:solidFill>
              <a:srgbClr val="D1D5D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Source used: Study case - Missions - Session 7.docx.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956" y="34747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Indicator summary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2072905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713232" y="1042416"/>
            <a:ext cx="2018041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Family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58705" y="1005840"/>
            <a:ext cx="4240033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2786137" y="1042416"/>
            <a:ext cx="4185169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Indicators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8738" y="1005840"/>
            <a:ext cx="4522702" cy="658368"/>
          </a:xfrm>
          <a:prstGeom prst="rect">
            <a:avLst/>
          </a:prstGeom>
          <a:solidFill>
            <a:srgbClr val="112B46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026170" y="1042416"/>
            <a:ext cx="446783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Question addressed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664208"/>
            <a:ext cx="207290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13232" y="1700784"/>
            <a:ext cx="2018041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Center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58705" y="1664208"/>
            <a:ext cx="4240033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2786137" y="1700784"/>
            <a:ext cx="4185169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Mean, mode, median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98738" y="1664208"/>
            <a:ext cx="452270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7026170" y="1700784"/>
            <a:ext cx="446783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Where is the distribution located?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2322576"/>
            <a:ext cx="2072905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713232" y="2359152"/>
            <a:ext cx="2018041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Dispersion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58705" y="2322576"/>
            <a:ext cx="4240033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2786137" y="2359152"/>
            <a:ext cx="4185169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Range, variance, standard deviation, CV, IQR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98738" y="2322576"/>
            <a:ext cx="4522702" cy="658368"/>
          </a:xfrm>
          <a:prstGeom prst="rect">
            <a:avLst/>
          </a:prstGeom>
          <a:solidFill>
            <a:srgbClr val="F6F8FA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026170" y="2359152"/>
            <a:ext cx="446783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Are the data spread out?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2980944"/>
            <a:ext cx="207290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13232" y="3017520"/>
            <a:ext cx="2018041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Asymmetry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58705" y="2980944"/>
            <a:ext cx="4240033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2786137" y="3017520"/>
            <a:ext cx="4185169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Pearson, Yule-Kendall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98738" y="2980944"/>
            <a:ext cx="452270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AA6B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7026170" y="3017520"/>
            <a:ext cx="446783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Is the distribution balanced?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594" y="411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Epilogue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601968"/>
            <a:ext cx="6766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MS03-001-G Data Description | Block 2 - Center, dispersion, asymmetry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567160" y="6583680"/>
            <a:ext cx="22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By the end of this session, you </a:t>
            </a:r>
            <a:r>
              <a:rPr lang="fr-FR" sz="4400" b="1" noProof="0" dirty="0">
                <a:solidFill>
                  <a:srgbClr val="FF0000"/>
                </a:solidFill>
                <a:latin typeface="Aptos Display"/>
              </a:rPr>
              <a:t>should</a:t>
            </a:r>
            <a:r>
              <a:rPr lang="en-US" sz="4400" b="1" dirty="0">
                <a:solidFill>
                  <a:srgbClr val="FF0000"/>
                </a:solidFill>
                <a:latin typeface="Aptos Display"/>
              </a:rPr>
              <a:t> know</a:t>
            </a:r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969264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Calculate and interpret the mean and mode.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Calculate the range, variance, standard deviation, CV and IQR.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Calculate a relative interquartile coefficient.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Identify the direction of asymmetry with Pearson or Yule-Kendall.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Use Excel to produce and check the indicators.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Mercedeh ERFANIANGHASAB: Mercedeh.ERFANIANGHASAB@essca.fr (Lyon)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2B46"/>
                </a:solidFill>
              </a:rPr>
              <a:t>Jérémy CELSE: jeremy.celse@essca.fr (Bordeaux)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1442</Words>
  <Application>Microsoft Macintosh PowerPoint</Application>
  <PresentationFormat>Widescreen</PresentationFormat>
  <Paragraphs>251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Description de données</dc:subject>
  <dc:creator>ESSCA</dc:creator>
  <cp:lastModifiedBy>Mercede Erfanianghasab</cp:lastModifiedBy>
  <cp:revision>4</cp:revision>
  <dcterms:created xsi:type="dcterms:W3CDTF">2026-07-16T14:46:00Z</dcterms:created>
  <dcterms:modified xsi:type="dcterms:W3CDTF">2026-08-22T13:25:46Z</dcterms:modified>
</cp:coreProperties>
</file>