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320" r:id="rId3"/>
    <p:sldId id="321" r:id="rId4"/>
    <p:sldId id="323" r:id="rId5"/>
    <p:sldId id="258" r:id="rId6"/>
    <p:sldId id="324" r:id="rId7"/>
    <p:sldId id="325" r:id="rId8"/>
    <p:sldId id="368" r:id="rId9"/>
    <p:sldId id="369" r:id="rId10"/>
    <p:sldId id="371" r:id="rId11"/>
    <p:sldId id="259" r:id="rId12"/>
    <p:sldId id="326" r:id="rId13"/>
    <p:sldId id="318" r:id="rId14"/>
    <p:sldId id="319" r:id="rId15"/>
    <p:sldId id="372" r:id="rId16"/>
    <p:sldId id="376" r:id="rId17"/>
    <p:sldId id="377" r:id="rId18"/>
    <p:sldId id="378" r:id="rId19"/>
    <p:sldId id="391" r:id="rId20"/>
    <p:sldId id="390" r:id="rId21"/>
    <p:sldId id="392" r:id="rId22"/>
    <p:sldId id="393" r:id="rId23"/>
    <p:sldId id="269" r:id="rId24"/>
    <p:sldId id="388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18" autoAdjust="0"/>
    <p:restoredTop sz="94659"/>
  </p:normalViewPr>
  <p:slideViewPr>
    <p:cSldViewPr snapToGrid="0">
      <p:cViewPr varScale="1">
        <p:scale>
          <a:sx n="146" d="100"/>
          <a:sy n="146" d="100"/>
        </p:scale>
        <p:origin x="1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LSE Jeremy" userId="a0ba9a67-d84b-4a32-9589-b4b1bf394c13" providerId="ADAL" clId="{BEC5D84A-2B48-4ECB-9C8D-93CC8A7B4DA7}"/>
    <pc:docChg chg="custSel modSld">
      <pc:chgData name="CELSE Jeremy" userId="a0ba9a67-d84b-4a32-9589-b4b1bf394c13" providerId="ADAL" clId="{BEC5D84A-2B48-4ECB-9C8D-93CC8A7B4DA7}" dt="2026-07-02T15:50:23.619" v="16" actId="14100"/>
      <pc:docMkLst>
        <pc:docMk/>
      </pc:docMkLst>
      <pc:sldChg chg="modSp mod">
        <pc:chgData name="CELSE Jeremy" userId="a0ba9a67-d84b-4a32-9589-b4b1bf394c13" providerId="ADAL" clId="{BEC5D84A-2B48-4ECB-9C8D-93CC8A7B4DA7}" dt="2026-07-02T15:50:23.619" v="16" actId="14100"/>
        <pc:sldMkLst>
          <pc:docMk/>
          <pc:sldMk cId="1337931670" sldId="257"/>
        </pc:sldMkLst>
        <pc:spChg chg="mod">
          <ac:chgData name="CELSE Jeremy" userId="a0ba9a67-d84b-4a32-9589-b4b1bf394c13" providerId="ADAL" clId="{BEC5D84A-2B48-4ECB-9C8D-93CC8A7B4DA7}" dt="2026-07-02T15:49:33.655" v="2" actId="20577"/>
          <ac:spMkLst>
            <pc:docMk/>
            <pc:sldMk cId="1337931670" sldId="257"/>
            <ac:spMk id="5" creationId="{EAD49BF0-621E-0DF3-164E-3F61AAB7615D}"/>
          </ac:spMkLst>
        </pc:spChg>
        <pc:spChg chg="mod">
          <ac:chgData name="CELSE Jeremy" userId="a0ba9a67-d84b-4a32-9589-b4b1bf394c13" providerId="ADAL" clId="{BEC5D84A-2B48-4ECB-9C8D-93CC8A7B4DA7}" dt="2026-07-02T15:50:23.619" v="16" actId="14100"/>
          <ac:spMkLst>
            <pc:docMk/>
            <pc:sldMk cId="1337931670" sldId="257"/>
            <ac:spMk id="6" creationId="{A2132C0B-224C-98FA-684F-F6F2D72F5DA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0D91C9-786A-4757-9963-921224699553}" type="doc">
      <dgm:prSet loTypeId="urn:microsoft.com/office/officeart/2018/5/layout/IconLeafLabelList" loCatId="icon" qsTypeId="urn:microsoft.com/office/officeart/2005/8/quickstyle/simple1#2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0950D651-E23A-4FCB-A748-6E4EAF3AC105}">
      <dgm:prSet/>
      <dgm:spPr/>
      <dgm:t>
        <a:bodyPr/>
        <a:lstStyle/>
        <a:p>
          <a:pPr>
            <a:defRPr cap="all"/>
          </a:pPr>
          <a:r>
            <a:rPr lang="fr-FR"/>
            <a:t>Graphically represent data from two variables analysed jointly</a:t>
          </a:r>
          <a:endParaRPr lang="en-US"/>
        </a:p>
      </dgm:t>
    </dgm:pt>
    <dgm:pt modelId="{DD454212-3C2A-444B-BF32-E9BFD8FD1792}" type="parTrans" cxnId="{9CC8AEB1-BE06-45D4-B080-CEBD26FA669C}">
      <dgm:prSet/>
      <dgm:spPr/>
      <dgm:t>
        <a:bodyPr/>
        <a:lstStyle/>
        <a:p>
          <a:endParaRPr lang="en-US"/>
        </a:p>
      </dgm:t>
    </dgm:pt>
    <dgm:pt modelId="{6BF51AD0-B315-40C2-A6FF-3A949761836F}" type="sibTrans" cxnId="{9CC8AEB1-BE06-45D4-B080-CEBD26FA669C}">
      <dgm:prSet/>
      <dgm:spPr/>
      <dgm:t>
        <a:bodyPr/>
        <a:lstStyle/>
        <a:p>
          <a:endParaRPr lang="en-US"/>
        </a:p>
      </dgm:t>
    </dgm:pt>
    <dgm:pt modelId="{6E7F8B7F-17B4-4E11-B7C5-C82D0C24B341}">
      <dgm:prSet/>
      <dgm:spPr/>
      <dgm:t>
        <a:bodyPr/>
        <a:lstStyle/>
        <a:p>
          <a:pPr>
            <a:defRPr cap="all"/>
          </a:pPr>
          <a:r>
            <a:rPr lang="fr-FR"/>
            <a:t>Construct a scatter plot</a:t>
          </a:r>
          <a:endParaRPr lang="en-US"/>
        </a:p>
      </dgm:t>
    </dgm:pt>
    <dgm:pt modelId="{AE30FC88-7698-4099-86B2-7EBC9AE09232}" type="parTrans" cxnId="{53F02377-075E-4E78-AE2D-697C58FEB25D}">
      <dgm:prSet/>
      <dgm:spPr/>
      <dgm:t>
        <a:bodyPr/>
        <a:lstStyle/>
        <a:p>
          <a:endParaRPr lang="en-US"/>
        </a:p>
      </dgm:t>
    </dgm:pt>
    <dgm:pt modelId="{C41825A2-0829-4B32-90BF-92909E108E90}" type="sibTrans" cxnId="{53F02377-075E-4E78-AE2D-697C58FEB25D}">
      <dgm:prSet/>
      <dgm:spPr/>
      <dgm:t>
        <a:bodyPr/>
        <a:lstStyle/>
        <a:p>
          <a:endParaRPr lang="en-US"/>
        </a:p>
      </dgm:t>
    </dgm:pt>
    <dgm:pt modelId="{9C3E9C71-2B8F-4720-B9D0-B94CE73D9F9D}">
      <dgm:prSet/>
      <dgm:spPr/>
      <dgm:t>
        <a:bodyPr/>
        <a:lstStyle/>
        <a:p>
          <a:pPr>
            <a:defRPr cap="all"/>
          </a:pPr>
          <a:r>
            <a:rPr lang="fr-FR"/>
            <a:t>Calculate and interpret covariance</a:t>
          </a:r>
          <a:endParaRPr lang="en-US"/>
        </a:p>
      </dgm:t>
    </dgm:pt>
    <dgm:pt modelId="{0691D22B-0464-402F-8238-1A699C07EE61}" type="parTrans" cxnId="{6CE464F0-77CD-4BB1-9F64-0F8165B787DF}">
      <dgm:prSet/>
      <dgm:spPr/>
      <dgm:t>
        <a:bodyPr/>
        <a:lstStyle/>
        <a:p>
          <a:endParaRPr lang="en-US"/>
        </a:p>
      </dgm:t>
    </dgm:pt>
    <dgm:pt modelId="{29945338-716A-4852-AF9F-416673AB8CDC}" type="sibTrans" cxnId="{6CE464F0-77CD-4BB1-9F64-0F8165B787DF}">
      <dgm:prSet/>
      <dgm:spPr/>
      <dgm:t>
        <a:bodyPr/>
        <a:lstStyle/>
        <a:p>
          <a:endParaRPr lang="en-US"/>
        </a:p>
      </dgm:t>
    </dgm:pt>
    <dgm:pt modelId="{A7A766E1-EB7A-42D6-BFCE-FBB7D3783889}" type="pres">
      <dgm:prSet presAssocID="{400D91C9-786A-4757-9963-921224699553}" presName="root" presStyleCnt="0">
        <dgm:presLayoutVars>
          <dgm:dir/>
          <dgm:resizeHandles val="exact"/>
        </dgm:presLayoutVars>
      </dgm:prSet>
      <dgm:spPr/>
    </dgm:pt>
    <dgm:pt modelId="{B84E6081-76AD-442D-A586-28B92E3C20E7}" type="pres">
      <dgm:prSet presAssocID="{0950D651-E23A-4FCB-A748-6E4EAF3AC105}" presName="compNode" presStyleCnt="0"/>
      <dgm:spPr/>
    </dgm:pt>
    <dgm:pt modelId="{1384E2D6-1F0D-4ABA-9FAF-75B244765062}" type="pres">
      <dgm:prSet presAssocID="{0950D651-E23A-4FCB-A748-6E4EAF3AC10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FDD95A0-5FE5-4CC3-9D8B-AFDB181EC3B4}" type="pres">
      <dgm:prSet presAssocID="{0950D651-E23A-4FCB-A748-6E4EAF3AC10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ques"/>
        </a:ext>
      </dgm:extLst>
    </dgm:pt>
    <dgm:pt modelId="{3E8C7A31-71BA-417A-853C-1D5910ACDDBA}" type="pres">
      <dgm:prSet presAssocID="{0950D651-E23A-4FCB-A748-6E4EAF3AC105}" presName="spaceRect" presStyleCnt="0"/>
      <dgm:spPr/>
    </dgm:pt>
    <dgm:pt modelId="{DD5387A1-FFAF-4793-A41B-A46CDE26AFAC}" type="pres">
      <dgm:prSet presAssocID="{0950D651-E23A-4FCB-A748-6E4EAF3AC105}" presName="textRect" presStyleLbl="revTx" presStyleIdx="0" presStyleCnt="3">
        <dgm:presLayoutVars>
          <dgm:chMax val="1"/>
          <dgm:chPref val="1"/>
        </dgm:presLayoutVars>
      </dgm:prSet>
      <dgm:spPr/>
    </dgm:pt>
    <dgm:pt modelId="{54A694D3-57D9-4911-9CF0-CD88F1E44080}" type="pres">
      <dgm:prSet presAssocID="{6BF51AD0-B315-40C2-A6FF-3A949761836F}" presName="sibTrans" presStyleCnt="0"/>
      <dgm:spPr/>
    </dgm:pt>
    <dgm:pt modelId="{E8D9FB4F-0859-47E0-AC90-9FB62EB9F9C6}" type="pres">
      <dgm:prSet presAssocID="{6E7F8B7F-17B4-4E11-B7C5-C82D0C24B341}" presName="compNode" presStyleCnt="0"/>
      <dgm:spPr/>
    </dgm:pt>
    <dgm:pt modelId="{AAD9F1E0-D346-4F9C-B5A7-EF6DDA35167D}" type="pres">
      <dgm:prSet presAssocID="{6E7F8B7F-17B4-4E11-B7C5-C82D0C24B34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FA59485-7491-435D-862D-B17C410ECDA6}" type="pres">
      <dgm:prSet presAssocID="{6E7F8B7F-17B4-4E11-B7C5-C82D0C24B34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age"/>
        </a:ext>
      </dgm:extLst>
    </dgm:pt>
    <dgm:pt modelId="{EA7B10B0-4BB2-492F-9250-745045D2DDA6}" type="pres">
      <dgm:prSet presAssocID="{6E7F8B7F-17B4-4E11-B7C5-C82D0C24B341}" presName="spaceRect" presStyleCnt="0"/>
      <dgm:spPr/>
    </dgm:pt>
    <dgm:pt modelId="{B3F4D985-0AD0-4771-966B-12321842F4E3}" type="pres">
      <dgm:prSet presAssocID="{6E7F8B7F-17B4-4E11-B7C5-C82D0C24B341}" presName="textRect" presStyleLbl="revTx" presStyleIdx="1" presStyleCnt="3">
        <dgm:presLayoutVars>
          <dgm:chMax val="1"/>
          <dgm:chPref val="1"/>
        </dgm:presLayoutVars>
      </dgm:prSet>
      <dgm:spPr/>
    </dgm:pt>
    <dgm:pt modelId="{34C14E47-917E-4E30-8D3D-72CAD914ECCB}" type="pres">
      <dgm:prSet presAssocID="{C41825A2-0829-4B32-90BF-92909E108E90}" presName="sibTrans" presStyleCnt="0"/>
      <dgm:spPr/>
    </dgm:pt>
    <dgm:pt modelId="{D7499404-0C47-4C39-A19A-6A7D8908D2B9}" type="pres">
      <dgm:prSet presAssocID="{9C3E9C71-2B8F-4720-B9D0-B94CE73D9F9D}" presName="compNode" presStyleCnt="0"/>
      <dgm:spPr/>
    </dgm:pt>
    <dgm:pt modelId="{7D7D9909-0443-44E8-9A15-985529361AA0}" type="pres">
      <dgm:prSet presAssocID="{9C3E9C71-2B8F-4720-B9D0-B94CE73D9F9D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AC58C9B-AE2D-4F8E-82E0-48A70ECC8331}" type="pres">
      <dgm:prSet presAssocID="{9C3E9C71-2B8F-4720-B9D0-B94CE73D9F9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rice"/>
        </a:ext>
      </dgm:extLst>
    </dgm:pt>
    <dgm:pt modelId="{4DBDD79A-D64C-462C-8A08-6050957EA6BB}" type="pres">
      <dgm:prSet presAssocID="{9C3E9C71-2B8F-4720-B9D0-B94CE73D9F9D}" presName="spaceRect" presStyleCnt="0"/>
      <dgm:spPr/>
    </dgm:pt>
    <dgm:pt modelId="{0D7A2557-B5A8-4A2B-9523-7CD697477277}" type="pres">
      <dgm:prSet presAssocID="{9C3E9C71-2B8F-4720-B9D0-B94CE73D9F9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7B8D20C-D206-4DB9-8ACA-CF104717E8FF}" type="presOf" srcId="{6E7F8B7F-17B4-4E11-B7C5-C82D0C24B341}" destId="{B3F4D985-0AD0-4771-966B-12321842F4E3}" srcOrd="0" destOrd="0" presId="urn:microsoft.com/office/officeart/2018/5/layout/IconLeafLabelList"/>
    <dgm:cxn modelId="{BE209F56-2843-45ED-A52B-9E3F505509FA}" type="presOf" srcId="{400D91C9-786A-4757-9963-921224699553}" destId="{A7A766E1-EB7A-42D6-BFCE-FBB7D3783889}" srcOrd="0" destOrd="0" presId="urn:microsoft.com/office/officeart/2018/5/layout/IconLeafLabelList"/>
    <dgm:cxn modelId="{53F02377-075E-4E78-AE2D-697C58FEB25D}" srcId="{400D91C9-786A-4757-9963-921224699553}" destId="{6E7F8B7F-17B4-4E11-B7C5-C82D0C24B341}" srcOrd="1" destOrd="0" parTransId="{AE30FC88-7698-4099-86B2-7EBC9AE09232}" sibTransId="{C41825A2-0829-4B32-90BF-92909E108E90}"/>
    <dgm:cxn modelId="{9CC8AEB1-BE06-45D4-B080-CEBD26FA669C}" srcId="{400D91C9-786A-4757-9963-921224699553}" destId="{0950D651-E23A-4FCB-A748-6E4EAF3AC105}" srcOrd="0" destOrd="0" parTransId="{DD454212-3C2A-444B-BF32-E9BFD8FD1792}" sibTransId="{6BF51AD0-B315-40C2-A6FF-3A949761836F}"/>
    <dgm:cxn modelId="{5C11E8BB-9ECF-492B-9C92-554D72EE3C4E}" type="presOf" srcId="{0950D651-E23A-4FCB-A748-6E4EAF3AC105}" destId="{DD5387A1-FFAF-4793-A41B-A46CDE26AFAC}" srcOrd="0" destOrd="0" presId="urn:microsoft.com/office/officeart/2018/5/layout/IconLeafLabelList"/>
    <dgm:cxn modelId="{6CE464F0-77CD-4BB1-9F64-0F8165B787DF}" srcId="{400D91C9-786A-4757-9963-921224699553}" destId="{9C3E9C71-2B8F-4720-B9D0-B94CE73D9F9D}" srcOrd="2" destOrd="0" parTransId="{0691D22B-0464-402F-8238-1A699C07EE61}" sibTransId="{29945338-716A-4852-AF9F-416673AB8CDC}"/>
    <dgm:cxn modelId="{724D3BF4-444D-44C0-8368-E1E461A644AB}" type="presOf" srcId="{9C3E9C71-2B8F-4720-B9D0-B94CE73D9F9D}" destId="{0D7A2557-B5A8-4A2B-9523-7CD697477277}" srcOrd="0" destOrd="0" presId="urn:microsoft.com/office/officeart/2018/5/layout/IconLeafLabelList"/>
    <dgm:cxn modelId="{CFF1C017-FC60-45A7-BA31-2764D5FACEA0}" type="presParOf" srcId="{A7A766E1-EB7A-42D6-BFCE-FBB7D3783889}" destId="{B84E6081-76AD-442D-A586-28B92E3C20E7}" srcOrd="0" destOrd="0" presId="urn:microsoft.com/office/officeart/2018/5/layout/IconLeafLabelList"/>
    <dgm:cxn modelId="{E7A2B5FF-A534-4FA4-87D1-1C12BDBE635E}" type="presParOf" srcId="{B84E6081-76AD-442D-A586-28B92E3C20E7}" destId="{1384E2D6-1F0D-4ABA-9FAF-75B244765062}" srcOrd="0" destOrd="0" presId="urn:microsoft.com/office/officeart/2018/5/layout/IconLeafLabelList"/>
    <dgm:cxn modelId="{9A881558-82C7-47FB-94EA-375DE4DAE1E6}" type="presParOf" srcId="{B84E6081-76AD-442D-A586-28B92E3C20E7}" destId="{AFDD95A0-5FE5-4CC3-9D8B-AFDB181EC3B4}" srcOrd="1" destOrd="0" presId="urn:microsoft.com/office/officeart/2018/5/layout/IconLeafLabelList"/>
    <dgm:cxn modelId="{C6D19129-2B62-49EA-88E1-AFA86010FD36}" type="presParOf" srcId="{B84E6081-76AD-442D-A586-28B92E3C20E7}" destId="{3E8C7A31-71BA-417A-853C-1D5910ACDDBA}" srcOrd="2" destOrd="0" presId="urn:microsoft.com/office/officeart/2018/5/layout/IconLeafLabelList"/>
    <dgm:cxn modelId="{7C8A7D94-366F-4E63-B166-3634613E5D85}" type="presParOf" srcId="{B84E6081-76AD-442D-A586-28B92E3C20E7}" destId="{DD5387A1-FFAF-4793-A41B-A46CDE26AFAC}" srcOrd="3" destOrd="0" presId="urn:microsoft.com/office/officeart/2018/5/layout/IconLeafLabelList"/>
    <dgm:cxn modelId="{25E83DA1-2800-4224-911E-607BD5F16B78}" type="presParOf" srcId="{A7A766E1-EB7A-42D6-BFCE-FBB7D3783889}" destId="{54A694D3-57D9-4911-9CF0-CD88F1E44080}" srcOrd="1" destOrd="0" presId="urn:microsoft.com/office/officeart/2018/5/layout/IconLeafLabelList"/>
    <dgm:cxn modelId="{3ACE93BA-55F1-4350-90D4-B5DB4CFD6269}" type="presParOf" srcId="{A7A766E1-EB7A-42D6-BFCE-FBB7D3783889}" destId="{E8D9FB4F-0859-47E0-AC90-9FB62EB9F9C6}" srcOrd="2" destOrd="0" presId="urn:microsoft.com/office/officeart/2018/5/layout/IconLeafLabelList"/>
    <dgm:cxn modelId="{B9CB2C10-AB47-4195-AF20-B06018BF1673}" type="presParOf" srcId="{E8D9FB4F-0859-47E0-AC90-9FB62EB9F9C6}" destId="{AAD9F1E0-D346-4F9C-B5A7-EF6DDA35167D}" srcOrd="0" destOrd="0" presId="urn:microsoft.com/office/officeart/2018/5/layout/IconLeafLabelList"/>
    <dgm:cxn modelId="{416F0F8B-98F5-4876-B44E-ABFEB0304CBA}" type="presParOf" srcId="{E8D9FB4F-0859-47E0-AC90-9FB62EB9F9C6}" destId="{3FA59485-7491-435D-862D-B17C410ECDA6}" srcOrd="1" destOrd="0" presId="urn:microsoft.com/office/officeart/2018/5/layout/IconLeafLabelList"/>
    <dgm:cxn modelId="{FFCFC360-B3EC-42DB-86F3-F1528E10BF79}" type="presParOf" srcId="{E8D9FB4F-0859-47E0-AC90-9FB62EB9F9C6}" destId="{EA7B10B0-4BB2-492F-9250-745045D2DDA6}" srcOrd="2" destOrd="0" presId="urn:microsoft.com/office/officeart/2018/5/layout/IconLeafLabelList"/>
    <dgm:cxn modelId="{4E4D8C03-929A-4EC1-983B-4B1C96B883B3}" type="presParOf" srcId="{E8D9FB4F-0859-47E0-AC90-9FB62EB9F9C6}" destId="{B3F4D985-0AD0-4771-966B-12321842F4E3}" srcOrd="3" destOrd="0" presId="urn:microsoft.com/office/officeart/2018/5/layout/IconLeafLabelList"/>
    <dgm:cxn modelId="{B734A720-F023-4ED3-88ED-1264175637C3}" type="presParOf" srcId="{A7A766E1-EB7A-42D6-BFCE-FBB7D3783889}" destId="{34C14E47-917E-4E30-8D3D-72CAD914ECCB}" srcOrd="3" destOrd="0" presId="urn:microsoft.com/office/officeart/2018/5/layout/IconLeafLabelList"/>
    <dgm:cxn modelId="{3D7C02B4-05AE-4998-9716-8A7EE3B19E02}" type="presParOf" srcId="{A7A766E1-EB7A-42D6-BFCE-FBB7D3783889}" destId="{D7499404-0C47-4C39-A19A-6A7D8908D2B9}" srcOrd="4" destOrd="0" presId="urn:microsoft.com/office/officeart/2018/5/layout/IconLeafLabelList"/>
    <dgm:cxn modelId="{91979423-28EB-497D-84E5-D863134DB0C3}" type="presParOf" srcId="{D7499404-0C47-4C39-A19A-6A7D8908D2B9}" destId="{7D7D9909-0443-44E8-9A15-985529361AA0}" srcOrd="0" destOrd="0" presId="urn:microsoft.com/office/officeart/2018/5/layout/IconLeafLabelList"/>
    <dgm:cxn modelId="{CF1B64FD-C7E7-4905-A656-EB490CD26596}" type="presParOf" srcId="{D7499404-0C47-4C39-A19A-6A7D8908D2B9}" destId="{8AC58C9B-AE2D-4F8E-82E0-48A70ECC8331}" srcOrd="1" destOrd="0" presId="urn:microsoft.com/office/officeart/2018/5/layout/IconLeafLabelList"/>
    <dgm:cxn modelId="{3972E1F5-EC06-41A1-ADFD-1C39AEDF5A77}" type="presParOf" srcId="{D7499404-0C47-4C39-A19A-6A7D8908D2B9}" destId="{4DBDD79A-D64C-462C-8A08-6050957EA6BB}" srcOrd="2" destOrd="0" presId="urn:microsoft.com/office/officeart/2018/5/layout/IconLeafLabelList"/>
    <dgm:cxn modelId="{469F5134-077F-47E9-857B-D8D77B9EB94A}" type="presParOf" srcId="{D7499404-0C47-4C39-A19A-6A7D8908D2B9}" destId="{0D7A2557-B5A8-4A2B-9523-7CD69747727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84E2D6-1F0D-4ABA-9FAF-75B244765062}">
      <dsp:nvSpPr>
        <dsp:cNvPr id="0" name=""/>
        <dsp:cNvSpPr/>
      </dsp:nvSpPr>
      <dsp:spPr>
        <a:xfrm>
          <a:off x="679050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DD95A0-5FE5-4CC3-9D8B-AFDB181EC3B4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387A1-FFAF-4793-A41B-A46CDE26AFAC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700" kern="1200"/>
            <a:t>Graphically represent data from two variables analysed jointly</a:t>
          </a:r>
          <a:endParaRPr lang="en-US" sz="1700" kern="1200"/>
        </a:p>
      </dsp:txBody>
      <dsp:txXfrm>
        <a:off x="75768" y="3053169"/>
        <a:ext cx="3093750" cy="720000"/>
      </dsp:txXfrm>
    </dsp:sp>
    <dsp:sp modelId="{AAD9F1E0-D346-4F9C-B5A7-EF6DDA35167D}">
      <dsp:nvSpPr>
        <dsp:cNvPr id="0" name=""/>
        <dsp:cNvSpPr/>
      </dsp:nvSpPr>
      <dsp:spPr>
        <a:xfrm>
          <a:off x="4314206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59485-7491-435D-862D-B17C410ECDA6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4D985-0AD0-4771-966B-12321842F4E3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700" kern="1200"/>
            <a:t>Construct a scatter plot</a:t>
          </a:r>
          <a:endParaRPr lang="en-US" sz="1700" kern="1200"/>
        </a:p>
      </dsp:txBody>
      <dsp:txXfrm>
        <a:off x="3710925" y="3053169"/>
        <a:ext cx="3093750" cy="720000"/>
      </dsp:txXfrm>
    </dsp:sp>
    <dsp:sp modelId="{7D7D9909-0443-44E8-9A15-985529361AA0}">
      <dsp:nvSpPr>
        <dsp:cNvPr id="0" name=""/>
        <dsp:cNvSpPr/>
      </dsp:nvSpPr>
      <dsp:spPr>
        <a:xfrm>
          <a:off x="7949362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58C9B-AE2D-4F8E-82E0-48A70ECC8331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7A2557-B5A8-4A2B-9523-7CD697477277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700" kern="1200"/>
            <a:t>Calculate and interpret covariance</a:t>
          </a:r>
          <a:endParaRPr lang="en-US" sz="1700" kern="1200"/>
        </a:p>
      </dsp:txBody>
      <dsp:txXfrm>
        <a:off x="7346081" y="3053169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1E8B5-3C0D-49CF-9880-8E93E63E886A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9E9F2-299C-4833-9594-7CE707198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0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A2D54E-70E3-D414-4A45-0F1661F16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0647F8-EE5C-2319-71F3-194907446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001B7B-2C6D-26F2-7092-6808144B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0FB48B-5E2D-9EA2-C6AC-8A7AB42F0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991B10-2FA0-27AB-5CF5-FA194AD0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160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297BD3-6C73-F550-96A7-C3ECF921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22E786-A9C4-FD96-E305-CEE26E821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FA6DA9-0D64-BB7D-7B0C-A46112B0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4BF930-9AEC-B979-53C1-F2AF8816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35B09-392B-B6A2-6C1E-8507D992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30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D51E2-840D-8660-2533-A8900CDC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028AFA-A28D-AC2E-F703-D913E3AFE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0F129B-FD9D-8167-3A24-4877E3CB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20EE54-8E47-896B-F48C-E19BA368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760C1F-FA42-C5C5-94E5-1BE9AA25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648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A44A03-7034-ED3F-F62A-59543EFE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5AB712-8CA2-1964-7D5D-1737F7A9B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6533E9-04AA-3D0C-B2FE-B5B303277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1700D1-5023-BAC9-3BFD-9D4A7DF3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FF5D4C-BC43-F7CA-6C06-B233F6D3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7191A4-3032-CA3E-E0AD-DA0448C9E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892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688480-3B24-A2E9-35B4-7D43870D2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58A7ED-3620-DD55-F848-83E89E07A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6C6F7D-6553-9475-3157-21188810B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D05666E-8B2C-801D-EB81-8EA9BF9D8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978EBD5-D343-6B07-E4BB-3C49FC1C2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9BE24EC-5B1F-C0F1-F6BE-E8AA4AA1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2448B51-F16B-8000-AA63-9A3C30A6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37E02E9-E1D5-DAF5-79CB-CBAD85E0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524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EA6094-7658-CF14-5AB5-DD6A1EAE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7834B5-412E-BF19-3E52-9A2DFEF66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5E2B1F-5663-EDF3-EF3E-5C138A03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1DE9492-19C7-E9F0-7BD2-23BAFF41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1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98E067-A00E-9E8A-778F-E50825857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F9E1DCC-3DD3-1C38-AA73-55B3FD1EB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7F2773-960F-2FDA-8FF1-FEABD4C9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301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79361-2156-BCAD-84C5-8255FB876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BF8300-0DA7-8E2F-5E0A-3F9CAA2C0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1D41A7-AA3D-DCAA-E180-C4E2AAB2E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940E69-A5BE-6019-9E35-D2CBDD35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F9D60E-2587-03C1-FB97-CE0F7976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7414F6-EED5-6FC8-7BE9-3BA10F5F7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15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02A4B7-7405-F9C8-78D5-0B0EA01A6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CBA520-D25A-EC1A-172C-A6A8796D2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5ADCB6-F810-519E-81B2-CE552D9DC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5D3566-4B52-4800-2666-D7F0D3FD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E1EEA7-2284-9F6E-BC15-3FEA64C4D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A097D4-15EA-16E6-A0CE-22344C68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287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8EFDE5-5E19-3B73-9365-FABA6532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0235C0-ED9A-8389-C8D0-83F41CE71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A38346-0B81-56BF-8461-8834A2760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E0B2A1-564E-8046-BDCB-561B37DC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D03DC9-D5F3-359C-2705-B218FA27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450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A54743B-D3F3-1987-6149-96DB1006FD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AEEFCB-C95A-B4EC-0424-42339FD97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A52273-AEEE-31DB-5509-616A6BC5A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44E176-A7ED-4C74-2948-B8A681F8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612729-EE2D-1A17-FB45-2681CB7A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824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dèle 1re page (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198D8D-9E77-AF87-BE94-9B8F51335F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5932683"/>
            <a:ext cx="9144000" cy="694376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1600" b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01/01/2022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1FCDA5-ED94-E6D7-74CB-8626CF46DB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86545" y="2897605"/>
            <a:ext cx="5772728" cy="1058638"/>
          </a:xfrm>
        </p:spPr>
        <p:txBody>
          <a:bodyPr wrap="square" anchor="ctr" anchorCtr="1">
            <a:norm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Titre du document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5024D03-1CBA-EB1A-54AA-DEA3735F4B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542" y="573867"/>
            <a:ext cx="1122915" cy="959952"/>
          </a:xfrm>
          <a:prstGeom prst="rect">
            <a:avLst/>
          </a:prstGeom>
        </p:spPr>
      </p:pic>
      <p:sp>
        <p:nvSpPr>
          <p:cNvPr id="9" name="Sous-titre 2">
            <a:extLst>
              <a:ext uri="{FF2B5EF4-FFF2-40B4-BE49-F238E27FC236}">
                <a16:creationId xmlns:a16="http://schemas.microsoft.com/office/drawing/2014/main" id="{36FFF7F4-1568-3C17-FB36-BAE1A6E58E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4971" y="4151244"/>
            <a:ext cx="9144000" cy="845581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Sous titre du document </a:t>
            </a:r>
          </a:p>
        </p:txBody>
      </p:sp>
    </p:spTree>
    <p:extLst>
      <p:ext uri="{BB962C8B-B14F-4D97-AF65-F5344CB8AC3E}">
        <p14:creationId xmlns:p14="http://schemas.microsoft.com/office/powerpoint/2010/main" val="392797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 de fin (1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8544580B-B751-4A5C-FEC3-4108E6713A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12"/>
          <a:stretch/>
        </p:blipFill>
        <p:spPr>
          <a:xfrm>
            <a:off x="3819784" y="2434236"/>
            <a:ext cx="4755174" cy="2137764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8B7FA22-D6B7-A243-67CA-D519CE66A3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21575" y="4159249"/>
            <a:ext cx="4351338" cy="212356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618020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345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9BB5DE-D4C8-E78D-D90F-5FCE69995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685D63-E2E2-5C3F-9449-72C2A39BB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A056D0-B3E3-A315-0732-F03FEE269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E92218-1069-4D39-A673-EC8425708AE4}" type="datetimeFigureOut">
              <a:rPr lang="en-GB" smtClean="0"/>
              <a:t>23/08/2026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4A6319-2007-9F30-F691-662748231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BBC9BF-C39F-3AAC-1B78-DF52267A6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20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jeremy.celse@essca.fr" TargetMode="External"/><Relationship Id="rId2" Type="http://schemas.openxmlformats.org/officeDocument/2006/relationships/hyperlink" Target="mailto:Mercedeh.ERFANIANGHASAB@essca.fr" TargetMode="Externa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1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695C8C18-10BE-4833-AC05-71B726078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1012" y="2015412"/>
            <a:ext cx="10590245" cy="1132522"/>
          </a:xfrm>
        </p:spPr>
        <p:txBody>
          <a:bodyPr>
            <a:normAutofit/>
          </a:bodyPr>
          <a:lstStyle/>
          <a:p>
            <a:r>
              <a:rPr lang="fr-FR" b="1" noProof="0" dirty="0">
                <a:solidFill>
                  <a:srgbClr val="FF0000"/>
                </a:solidFill>
              </a:rPr>
              <a:t>Data Description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90BDC04F-C140-4403-A0F7-BECC96EF7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744" y="5809340"/>
            <a:ext cx="11615485" cy="845581"/>
          </a:xfrm>
        </p:spPr>
        <p:txBody>
          <a:bodyPr>
            <a:normAutofit/>
          </a:bodyPr>
          <a:lstStyle/>
          <a:p>
            <a:r>
              <a:rPr lang="fr-FR" noProof="0" dirty="0"/>
              <a:t>Module Coordinators: Mercedeh ERFANIANGHASAB &amp; Jérémy CELSE</a:t>
            </a:r>
          </a:p>
        </p:txBody>
      </p:sp>
      <p:sp>
        <p:nvSpPr>
          <p:cNvPr id="2" name="Sous-titre 3">
            <a:extLst>
              <a:ext uri="{FF2B5EF4-FFF2-40B4-BE49-F238E27FC236}">
                <a16:creationId xmlns:a16="http://schemas.microsoft.com/office/drawing/2014/main" id="{F0F44388-DCCF-713B-DB77-2EA1C32AA18F}"/>
              </a:ext>
            </a:extLst>
          </p:cNvPr>
          <p:cNvSpPr txBox="1">
            <a:spLocks/>
          </p:cNvSpPr>
          <p:nvPr/>
        </p:nvSpPr>
        <p:spPr>
          <a:xfrm>
            <a:off x="226743" y="5152271"/>
            <a:ext cx="11615485" cy="845581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noProof="0" dirty="0"/>
              <a:t>Instructor: INSERT NAME</a:t>
            </a:r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id="{EAD49BF0-621E-0DF3-164E-3F61AAB7615D}"/>
              </a:ext>
            </a:extLst>
          </p:cNvPr>
          <p:cNvSpPr txBox="1">
            <a:spLocks/>
          </p:cNvSpPr>
          <p:nvPr/>
        </p:nvSpPr>
        <p:spPr>
          <a:xfrm>
            <a:off x="464695" y="3238742"/>
            <a:ext cx="11221565" cy="1132522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noProof="0" dirty="0">
                <a:solidFill>
                  <a:srgbClr val="FF0000"/>
                </a:solidFill>
              </a:rPr>
              <a:t>Block 3 – Session 1: Bivariate Analysis </a:t>
            </a:r>
            <a:r>
              <a:rPr lang="fr-FR" b="1" noProof="0">
                <a:solidFill>
                  <a:srgbClr val="FF0000"/>
                </a:solidFill>
              </a:rPr>
              <a:t>and Application I</a:t>
            </a:r>
            <a:endParaRPr lang="fr-FR" b="1" noProof="0" dirty="0">
              <a:solidFill>
                <a:srgbClr val="FF000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2132C0B-224C-98FA-684F-F6F2D72F5DA1}"/>
              </a:ext>
            </a:extLst>
          </p:cNvPr>
          <p:cNvSpPr txBox="1"/>
          <p:nvPr/>
        </p:nvSpPr>
        <p:spPr>
          <a:xfrm>
            <a:off x="839449" y="404734"/>
            <a:ext cx="3476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rgbClr val="FF0000"/>
                </a:solidFill>
              </a:rPr>
              <a:t>Class session no. 9 – Lesson 6</a:t>
            </a:r>
          </a:p>
          <a:p>
            <a:r>
              <a:rPr lang="fr-FR" dirty="0">
                <a:solidFill>
                  <a:srgbClr val="FF0000"/>
                </a:solidFill>
              </a:rPr>
              <a:t>Duration: 3h</a:t>
            </a:r>
            <a:endParaRPr lang="fr-F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931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2828BA-5739-FFC5-7675-80F468B13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noProof="0" dirty="0">
                <a:solidFill>
                  <a:srgbClr val="FF0000"/>
                </a:solidFill>
              </a:rPr>
              <a:t>Session Objectives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B2B2A2-F547-F235-4ED5-DB3D5BE6E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Topics covered in this session:</a:t>
            </a:r>
          </a:p>
          <a:p>
            <a:pPr lvl="1"/>
            <a:endParaRPr lang="fr-FR" noProof="0" dirty="0"/>
          </a:p>
          <a:p>
            <a:pPr lvl="1"/>
            <a:r>
              <a:rPr lang="fr-FR" noProof="0" dirty="0"/>
              <a:t>Analyse two variables</a:t>
            </a:r>
          </a:p>
          <a:p>
            <a:pPr lvl="1"/>
            <a:endParaRPr lang="fr-FR" noProof="0" dirty="0"/>
          </a:p>
          <a:p>
            <a:pPr lvl="1"/>
            <a:r>
              <a:rPr lang="fr-FR" noProof="0" dirty="0"/>
              <a:t>Read pairs of data</a:t>
            </a:r>
          </a:p>
          <a:p>
            <a:pPr lvl="1"/>
            <a:endParaRPr lang="fr-FR" noProof="0" dirty="0"/>
          </a:p>
          <a:p>
            <a:pPr lvl="1"/>
            <a:r>
              <a:rPr lang="fr-FR" noProof="0" dirty="0"/>
              <a:t>Construct a scatter plot and locate the centroid</a:t>
            </a:r>
          </a:p>
          <a:p>
            <a:pPr lvl="1"/>
            <a:endParaRPr lang="fr-FR" noProof="0" dirty="0"/>
          </a:p>
          <a:p>
            <a:pPr lvl="1"/>
            <a:r>
              <a:rPr lang="fr-FR" noProof="0" dirty="0"/>
              <a:t>Calculate and interpret covariance</a:t>
            </a:r>
          </a:p>
        </p:txBody>
      </p:sp>
    </p:spTree>
    <p:extLst>
      <p:ext uri="{BB962C8B-B14F-4D97-AF65-F5344CB8AC3E}">
        <p14:creationId xmlns:p14="http://schemas.microsoft.com/office/powerpoint/2010/main" val="155703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4048" y="12801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Outline</a:t>
            </a:r>
            <a:endParaRPr lang="fr-FR" sz="1800" noProof="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6547104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830" noProof="0" dirty="0">
                <a:solidFill>
                  <a:srgbClr val="666666"/>
                </a:solidFill>
              </a:rPr>
              <a:t>MS03-001-G Data Description | Block 3 - Bivariate Analysis</a:t>
            </a:r>
            <a:endParaRPr lang="fr-FR" sz="830" noProof="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30" noProof="0" dirty="0">
                <a:solidFill>
                  <a:srgbClr val="666666"/>
                </a:solidFill>
              </a:rPr>
              <a:t>2</a:t>
            </a:r>
            <a:endParaRPr lang="fr-FR" sz="830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91440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713232" y="103327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7365D"/>
                </a:solidFill>
              </a:rPr>
              <a:t>1. Introduction</a:t>
            </a:r>
            <a:endParaRPr lang="fr-FR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713232" y="1399032"/>
            <a:ext cx="49743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fr-FR" sz="1210" noProof="0" dirty="0">
                <a:solidFill>
                  <a:srgbClr val="333333"/>
                </a:solidFill>
              </a:rPr>
              <a:t>What is bivariate analysis? What type of relationship are we trying to characterise?</a:t>
            </a:r>
            <a:endParaRPr lang="fr-FR" sz="1210" noProof="0" dirty="0"/>
          </a:p>
        </p:txBody>
      </p:sp>
      <p:sp>
        <p:nvSpPr>
          <p:cNvPr id="11" name="Shape 9"/>
          <p:cNvSpPr/>
          <p:nvPr/>
        </p:nvSpPr>
        <p:spPr>
          <a:xfrm>
            <a:off x="6309360" y="91440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2700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6473952" y="103327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7365D"/>
                </a:solidFill>
              </a:rPr>
              <a:t>2. Raw Data</a:t>
            </a:r>
            <a:endParaRPr lang="fr-FR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6473952" y="1399032"/>
            <a:ext cx="49743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fr-FR" sz="1210" noProof="0" dirty="0">
                <a:solidFill>
                  <a:srgbClr val="333333"/>
                </a:solidFill>
              </a:rPr>
              <a:t>Read a series of pairs (xi ; yi) measured on the same individuals.</a:t>
            </a:r>
            <a:endParaRPr lang="fr-FR" sz="121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242316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713232" y="254203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7365D"/>
                </a:solidFill>
              </a:rPr>
              <a:t>3. Scatter Plot</a:t>
            </a:r>
            <a:endParaRPr lang="fr-FR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713232" y="2907792"/>
            <a:ext cx="49743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fr-FR" sz="1210" noProof="0" dirty="0">
                <a:solidFill>
                  <a:srgbClr val="333333"/>
                </a:solidFill>
              </a:rPr>
              <a:t>Plot the pairs graphically and identify any visible trend.</a:t>
            </a:r>
            <a:endParaRPr lang="fr-FR" sz="1210" noProof="0" dirty="0"/>
          </a:p>
        </p:txBody>
      </p:sp>
      <p:sp>
        <p:nvSpPr>
          <p:cNvPr id="17" name="Shape 15"/>
          <p:cNvSpPr/>
          <p:nvPr/>
        </p:nvSpPr>
        <p:spPr>
          <a:xfrm>
            <a:off x="6309360" y="242316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FCE4D6"/>
          </a:solidFill>
          <a:ln w="12700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6473952" y="254203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7365D"/>
                </a:solidFill>
              </a:rPr>
              <a:t>4. Centroid</a:t>
            </a:r>
            <a:endParaRPr lang="fr-FR" sz="1400" noProof="0" dirty="0"/>
          </a:p>
        </p:txBody>
      </p:sp>
      <p:sp>
        <p:nvSpPr>
          <p:cNvPr id="19" name="Text 17"/>
          <p:cNvSpPr/>
          <p:nvPr/>
        </p:nvSpPr>
        <p:spPr>
          <a:xfrm>
            <a:off x="6473952" y="2907792"/>
            <a:ext cx="49743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fr-FR" sz="1210" noProof="0" dirty="0">
                <a:solidFill>
                  <a:srgbClr val="333333"/>
                </a:solidFill>
              </a:rPr>
              <a:t>Calculate and plot G(</a:t>
            </a:r>
            <a:r>
              <a:rPr lang="fr-FR" sz="1210" noProof="0" dirty="0" err="1">
                <a:solidFill>
                  <a:srgbClr val="333333"/>
                </a:solidFill>
              </a:rPr>
              <a:t>xbar</a:t>
            </a:r>
            <a:r>
              <a:rPr lang="fr-FR" sz="1210" noProof="0" dirty="0">
                <a:solidFill>
                  <a:srgbClr val="333333"/>
                </a:solidFill>
              </a:rPr>
              <a:t> ; </a:t>
            </a:r>
            <a:r>
              <a:rPr lang="fr-FR" sz="1210" noProof="0" dirty="0" err="1">
                <a:solidFill>
                  <a:srgbClr val="333333"/>
                </a:solidFill>
              </a:rPr>
              <a:t>ybar</a:t>
            </a:r>
            <a:r>
              <a:rPr lang="fr-FR" sz="1210" noProof="0" dirty="0">
                <a:solidFill>
                  <a:srgbClr val="333333"/>
                </a:solidFill>
              </a:rPr>
              <a:t>), the summary point of the scatter plot.</a:t>
            </a:r>
            <a:endParaRPr lang="fr-FR" sz="1210" noProof="0" dirty="0"/>
          </a:p>
        </p:txBody>
      </p:sp>
      <p:sp>
        <p:nvSpPr>
          <p:cNvPr id="20" name="Text 18"/>
          <p:cNvSpPr/>
          <p:nvPr/>
        </p:nvSpPr>
        <p:spPr>
          <a:xfrm>
            <a:off x="839450" y="5197090"/>
            <a:ext cx="102412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fr-FR" sz="1500" noProof="0" dirty="0">
                <a:solidFill>
                  <a:srgbClr val="333333"/>
                </a:solidFill>
              </a:rPr>
              <a:t>Each concept is immediately followed by a short activity.</a:t>
            </a:r>
            <a:endParaRPr lang="fr-FR" sz="1500" noProof="0" dirty="0"/>
          </a:p>
          <a:p>
            <a:r>
              <a:rPr lang="fr-FR" sz="1500" noProof="0" dirty="0">
                <a:solidFill>
                  <a:srgbClr val="333333"/>
                </a:solidFill>
              </a:rPr>
              <a:t>More extensive calculations are limited to the mean: covariance and correlation are reserved for Session 2.</a:t>
            </a:r>
            <a:endParaRPr lang="fr-FR" sz="1500" noProof="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56B85777-0689-274C-A2BD-51DBEB59CB04}"/>
              </a:ext>
            </a:extLst>
          </p:cNvPr>
          <p:cNvSpPr/>
          <p:nvPr/>
        </p:nvSpPr>
        <p:spPr>
          <a:xfrm>
            <a:off x="3657600" y="3941064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44F4888E-F979-635C-072B-FEBC48BFBBA7}"/>
              </a:ext>
            </a:extLst>
          </p:cNvPr>
          <p:cNvSpPr/>
          <p:nvPr/>
        </p:nvSpPr>
        <p:spPr>
          <a:xfrm>
            <a:off x="3822192" y="4023360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7365D"/>
                </a:solidFill>
              </a:rPr>
              <a:t>5. Covariance</a:t>
            </a:r>
            <a:endParaRPr lang="fr-FR" sz="1400" noProof="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BD7CB13A-3BEC-7374-042B-50D7CA7AD01E}"/>
              </a:ext>
            </a:extLst>
          </p:cNvPr>
          <p:cNvSpPr/>
          <p:nvPr/>
        </p:nvSpPr>
        <p:spPr>
          <a:xfrm>
            <a:off x="3822192" y="4315968"/>
            <a:ext cx="49743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fr-FR" sz="1210" noProof="0" dirty="0">
                <a:solidFill>
                  <a:srgbClr val="333333"/>
                </a:solidFill>
              </a:rPr>
              <a:t>Calculate and interpret covariance.</a:t>
            </a:r>
            <a:endParaRPr lang="fr-FR" sz="121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DB1613-4C36-CE88-13B4-CF60350DF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noProof="0" dirty="0">
                <a:solidFill>
                  <a:srgbClr val="FF0000"/>
                </a:solidFill>
              </a:rPr>
              <a:t>1. Introduction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7DEF5A-8850-FA7F-4D96-B9EE6F2BD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32312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4048" y="12801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Introduction to Bivariate Data</a:t>
            </a:r>
            <a:endParaRPr lang="fr-FR" sz="1800" noProof="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6547104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830" noProof="0" dirty="0">
                <a:solidFill>
                  <a:srgbClr val="666666"/>
                </a:solidFill>
              </a:rPr>
              <a:t>MS03-001-G Data Description | Block 3 - Bivariate Analysis</a:t>
            </a:r>
            <a:endParaRPr lang="fr-FR" sz="830" noProof="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30" noProof="0" dirty="0">
                <a:solidFill>
                  <a:srgbClr val="666666"/>
                </a:solidFill>
              </a:rPr>
              <a:t>3</a:t>
            </a:r>
            <a:endParaRPr lang="fr-FR" sz="830" noProof="0" dirty="0"/>
          </a:p>
        </p:txBody>
      </p:sp>
      <p:sp>
        <p:nvSpPr>
          <p:cNvPr id="8" name="Shape 6"/>
          <p:cNvSpPr/>
          <p:nvPr/>
        </p:nvSpPr>
        <p:spPr>
          <a:xfrm>
            <a:off x="685800" y="91440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EAF2F8"/>
          </a:solidFill>
          <a:ln w="12700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850392" y="103327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7365D"/>
                </a:solidFill>
              </a:rPr>
              <a:t>Definition</a:t>
            </a:r>
            <a:endParaRPr lang="fr-FR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850392" y="1399032"/>
            <a:ext cx="47914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fr-FR" sz="1210" noProof="0" dirty="0">
                <a:solidFill>
                  <a:srgbClr val="333333"/>
                </a:solidFill>
              </a:rPr>
              <a:t>Bivariate analysis examines two variables simultaneously, observed for the same statistical individuals.</a:t>
            </a:r>
            <a:endParaRPr lang="fr-FR" sz="1210" noProof="0" dirty="0"/>
          </a:p>
        </p:txBody>
      </p:sp>
      <p:sp>
        <p:nvSpPr>
          <p:cNvPr id="11" name="Shape 9"/>
          <p:cNvSpPr/>
          <p:nvPr/>
        </p:nvSpPr>
        <p:spPr>
          <a:xfrm>
            <a:off x="6355080" y="91440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E2F0D9"/>
          </a:solidFill>
          <a:ln w="12700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6519672" y="103327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7365D"/>
                </a:solidFill>
              </a:rPr>
              <a:t>Objective</a:t>
            </a:r>
            <a:endParaRPr lang="fr-FR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6519672" y="1399032"/>
            <a:ext cx="47914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fr-FR" sz="1210" noProof="0" dirty="0">
                <a:solidFill>
                  <a:srgbClr val="333333"/>
                </a:solidFill>
              </a:rPr>
              <a:t>Describe a possible statistical relationship: its existence, direction, and apparent form.</a:t>
            </a:r>
            <a:endParaRPr lang="fr-FR" sz="1210" noProof="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A97B30A-E69B-E02D-0730-C5930218C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964" y="2400158"/>
            <a:ext cx="7863840" cy="41469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18E6F7-12AF-23AF-1208-0858F2731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E34560-1511-B90E-7759-F141EE963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>
                <a:latin typeface="Cambria" panose="02040503050406030204" pitchFamily="18" charset="0"/>
                <a:ea typeface="Cambria" panose="02040503050406030204" pitchFamily="18" charset="0"/>
              </a:rPr>
              <a:t>The existence of a relationship between the data from two variables does not imply “</a:t>
            </a:r>
            <a:r>
              <a:rPr lang="fr-FR" b="1" i="1" noProof="0" dirty="0">
                <a:latin typeface="Cambria" panose="02040503050406030204" pitchFamily="18" charset="0"/>
                <a:ea typeface="Cambria" panose="02040503050406030204" pitchFamily="18" charset="0"/>
              </a:rPr>
              <a:t>causality</a:t>
            </a:r>
            <a:r>
              <a:rPr lang="fr-FR" noProof="0" dirty="0">
                <a:latin typeface="Cambria" panose="02040503050406030204" pitchFamily="18" charset="0"/>
                <a:ea typeface="Cambria" panose="02040503050406030204" pitchFamily="18" charset="0"/>
              </a:rPr>
              <a:t>” </a:t>
            </a:r>
            <a:r>
              <a:rPr lang="fr-FR" noProof="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fr-FR" noProof="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relationship in which changes in one variable cause changes in another.</a:t>
            </a:r>
          </a:p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1158240" y="5065776"/>
            <a:ext cx="98755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fr-FR" sz="1500" noProof="0" dirty="0">
                <a:solidFill>
                  <a:srgbClr val="333333"/>
                </a:solidFill>
              </a:rPr>
              <a:t>Important: a statistical relationship does not imply causality.</a:t>
            </a:r>
            <a:endParaRPr lang="fr-FR" sz="1500" noProof="0" dirty="0"/>
          </a:p>
          <a:p>
            <a:r>
              <a:rPr lang="fr-FR" sz="1500" noProof="0" dirty="0">
                <a:solidFill>
                  <a:srgbClr val="333333"/>
                </a:solidFill>
              </a:rPr>
              <a:t>The first step is to look for a visible pattern in the data.</a:t>
            </a:r>
            <a:endParaRPr lang="fr-FR" sz="1500" noProof="0" dirty="0"/>
          </a:p>
          <a:p>
            <a:r>
              <a:rPr lang="fr-FR" sz="1500" noProof="0" dirty="0">
                <a:solidFill>
                  <a:srgbClr val="333333"/>
                </a:solidFill>
              </a:rPr>
              <a:t>We begin by plotting the pairs rather than performing calculations.</a:t>
            </a:r>
            <a:endParaRPr lang="fr-FR" sz="1500" noProof="0" dirty="0"/>
          </a:p>
        </p:txBody>
      </p:sp>
    </p:spTree>
    <p:extLst>
      <p:ext uri="{BB962C8B-B14F-4D97-AF65-F5344CB8AC3E}">
        <p14:creationId xmlns:p14="http://schemas.microsoft.com/office/powerpoint/2010/main" val="195550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6456A4F8-D67E-6F46-B50A-A1A17AC55B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29996"/>
            <a:ext cx="10905066" cy="539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95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AC525A7-5834-4002-8169-5E3EDF97B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39046"/>
            <a:ext cx="10905066" cy="517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54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8743CF-A204-4072-C1A5-CBD90D8299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noProof="0" dirty="0">
                <a:solidFill>
                  <a:srgbClr val="FF0000"/>
                </a:solidFill>
              </a:rPr>
              <a:t>2. Graphical Bivariate Analysis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0A8376-DD83-E69F-B625-04A8015595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66168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3D71A-A74E-4C3D-B207-3CBB1D01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u="sng" noProof="0" dirty="0">
                <a:solidFill>
                  <a:srgbClr val="FF0000"/>
                </a:solidFill>
              </a:rPr>
              <a:t>Applies only to quantitative variables.</a:t>
            </a:r>
            <a:br>
              <a:rPr lang="fr-FR" b="1" u="sng" noProof="0" dirty="0">
                <a:solidFill>
                  <a:srgbClr val="FF0000"/>
                </a:solidFill>
              </a:rPr>
            </a:br>
            <a:endParaRPr lang="fr-FR" noProof="0" dirty="0"/>
          </a:p>
        </p:txBody>
      </p:sp>
      <p:pic>
        <p:nvPicPr>
          <p:cNvPr id="4" name="Espace réservé du contenu 4">
            <a:extLst>
              <a:ext uri="{FF2B5EF4-FFF2-40B4-BE49-F238E27FC236}">
                <a16:creationId xmlns:a16="http://schemas.microsoft.com/office/drawing/2014/main" id="{F57FAD31-C484-43B7-B51E-CCA93FA8B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862" y="1932996"/>
            <a:ext cx="8203097" cy="34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38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4048" y="12801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fr-FR" sz="1800" noProof="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6547104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830" noProof="0" dirty="0">
                <a:solidFill>
                  <a:srgbClr val="666666"/>
                </a:solidFill>
              </a:rPr>
              <a:t>MS03-001-G Data Description | Block 3 - Bivariate Analysis</a:t>
            </a:r>
            <a:endParaRPr lang="fr-FR" sz="830" noProof="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30" noProof="0" dirty="0">
                <a:solidFill>
                  <a:srgbClr val="666666"/>
                </a:solidFill>
              </a:rPr>
              <a:t>4</a:t>
            </a:r>
            <a:endParaRPr lang="fr-FR" sz="830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91440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804672" y="1033272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7365D"/>
                </a:solidFill>
              </a:rPr>
              <a:t>Structure</a:t>
            </a:r>
            <a:endParaRPr lang="fr-FR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804672" y="1399032"/>
            <a:ext cx="46085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fr-FR" sz="1210" noProof="0" dirty="0">
                <a:solidFill>
                  <a:srgbClr val="333333"/>
                </a:solidFill>
              </a:rPr>
              <a:t>Each row corresponds to one individual; each individual has two values: xi and yi.</a:t>
            </a:r>
            <a:endParaRPr lang="fr-FR" sz="1210" noProof="0" dirty="0"/>
          </a:p>
        </p:txBody>
      </p:sp>
      <p:sp>
        <p:nvSpPr>
          <p:cNvPr id="11" name="Shape 9"/>
          <p:cNvSpPr/>
          <p:nvPr/>
        </p:nvSpPr>
        <p:spPr>
          <a:xfrm>
            <a:off x="6446520" y="914400"/>
            <a:ext cx="1432560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6473952" y="9509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b="1" noProof="0" dirty="0">
                <a:solidFill>
                  <a:srgbClr val="333333"/>
                </a:solidFill>
              </a:rPr>
              <a:t>Week</a:t>
            </a:r>
            <a:endParaRPr lang="fr-FR" sz="1020" noProof="0" dirty="0"/>
          </a:p>
        </p:txBody>
      </p:sp>
      <p:sp>
        <p:nvSpPr>
          <p:cNvPr id="13" name="Shape 11"/>
          <p:cNvSpPr/>
          <p:nvPr/>
        </p:nvSpPr>
        <p:spPr>
          <a:xfrm>
            <a:off x="7879080" y="914400"/>
            <a:ext cx="1432560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7906512" y="9509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b="1" noProof="0" dirty="0">
                <a:solidFill>
                  <a:srgbClr val="333333"/>
                </a:solidFill>
              </a:rPr>
              <a:t>x: Monday</a:t>
            </a:r>
            <a:endParaRPr lang="fr-FR" sz="1020" noProof="0" dirty="0"/>
          </a:p>
        </p:txBody>
      </p:sp>
      <p:sp>
        <p:nvSpPr>
          <p:cNvPr id="15" name="Shape 13"/>
          <p:cNvSpPr/>
          <p:nvPr/>
        </p:nvSpPr>
        <p:spPr>
          <a:xfrm>
            <a:off x="9311640" y="914400"/>
            <a:ext cx="1432560" cy="457200"/>
          </a:xfrm>
          <a:prstGeom prst="rect">
            <a:avLst/>
          </a:prstGeom>
          <a:solidFill>
            <a:srgbClr val="EAF2F8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9339072" y="9509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b="1" noProof="0" dirty="0">
                <a:solidFill>
                  <a:srgbClr val="333333"/>
                </a:solidFill>
              </a:rPr>
              <a:t>y: Saturday</a:t>
            </a:r>
            <a:endParaRPr lang="fr-FR" sz="1020" noProof="0" dirty="0"/>
          </a:p>
        </p:txBody>
      </p:sp>
      <p:sp>
        <p:nvSpPr>
          <p:cNvPr id="17" name="Shape 15"/>
          <p:cNvSpPr/>
          <p:nvPr/>
        </p:nvSpPr>
        <p:spPr>
          <a:xfrm>
            <a:off x="6446520" y="13716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6473952" y="14081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1</a:t>
            </a:r>
            <a:endParaRPr lang="fr-FR" sz="1020" noProof="0" dirty="0"/>
          </a:p>
        </p:txBody>
      </p:sp>
      <p:sp>
        <p:nvSpPr>
          <p:cNvPr id="19" name="Shape 17"/>
          <p:cNvSpPr/>
          <p:nvPr/>
        </p:nvSpPr>
        <p:spPr>
          <a:xfrm>
            <a:off x="7879080" y="13716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7906512" y="14081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800</a:t>
            </a:r>
            <a:endParaRPr lang="fr-FR" sz="1020" noProof="0" dirty="0"/>
          </a:p>
        </p:txBody>
      </p:sp>
      <p:sp>
        <p:nvSpPr>
          <p:cNvPr id="21" name="Shape 19"/>
          <p:cNvSpPr/>
          <p:nvPr/>
        </p:nvSpPr>
        <p:spPr>
          <a:xfrm>
            <a:off x="9311640" y="13716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9339072" y="14081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1200</a:t>
            </a:r>
            <a:endParaRPr lang="fr-FR" sz="1020" noProof="0" dirty="0"/>
          </a:p>
        </p:txBody>
      </p:sp>
      <p:sp>
        <p:nvSpPr>
          <p:cNvPr id="23" name="Shape 21"/>
          <p:cNvSpPr/>
          <p:nvPr/>
        </p:nvSpPr>
        <p:spPr>
          <a:xfrm>
            <a:off x="6446520" y="18288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6473952" y="18653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2</a:t>
            </a:r>
            <a:endParaRPr lang="fr-FR" sz="1020" noProof="0" dirty="0"/>
          </a:p>
        </p:txBody>
      </p:sp>
      <p:sp>
        <p:nvSpPr>
          <p:cNvPr id="25" name="Shape 23"/>
          <p:cNvSpPr/>
          <p:nvPr/>
        </p:nvSpPr>
        <p:spPr>
          <a:xfrm>
            <a:off x="7879080" y="18288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7906512" y="18653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920</a:t>
            </a:r>
            <a:endParaRPr lang="fr-FR" sz="1020" noProof="0" dirty="0"/>
          </a:p>
        </p:txBody>
      </p:sp>
      <p:sp>
        <p:nvSpPr>
          <p:cNvPr id="27" name="Shape 25"/>
          <p:cNvSpPr/>
          <p:nvPr/>
        </p:nvSpPr>
        <p:spPr>
          <a:xfrm>
            <a:off x="9311640" y="18288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9339072" y="18653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1300</a:t>
            </a:r>
            <a:endParaRPr lang="fr-FR" sz="1020" noProof="0" dirty="0"/>
          </a:p>
        </p:txBody>
      </p:sp>
      <p:sp>
        <p:nvSpPr>
          <p:cNvPr id="29" name="Shape 27"/>
          <p:cNvSpPr/>
          <p:nvPr/>
        </p:nvSpPr>
        <p:spPr>
          <a:xfrm>
            <a:off x="6446520" y="22860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8"/>
          <p:cNvSpPr/>
          <p:nvPr/>
        </p:nvSpPr>
        <p:spPr>
          <a:xfrm>
            <a:off x="6473952" y="23225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3</a:t>
            </a:r>
            <a:endParaRPr lang="fr-FR" sz="1020" noProof="0" dirty="0"/>
          </a:p>
        </p:txBody>
      </p:sp>
      <p:sp>
        <p:nvSpPr>
          <p:cNvPr id="31" name="Shape 29"/>
          <p:cNvSpPr/>
          <p:nvPr/>
        </p:nvSpPr>
        <p:spPr>
          <a:xfrm>
            <a:off x="7879080" y="22860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30"/>
          <p:cNvSpPr/>
          <p:nvPr/>
        </p:nvSpPr>
        <p:spPr>
          <a:xfrm>
            <a:off x="7906512" y="23225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760</a:t>
            </a:r>
            <a:endParaRPr lang="fr-FR" sz="1020" noProof="0" dirty="0"/>
          </a:p>
        </p:txBody>
      </p:sp>
      <p:sp>
        <p:nvSpPr>
          <p:cNvPr id="33" name="Shape 31"/>
          <p:cNvSpPr/>
          <p:nvPr/>
        </p:nvSpPr>
        <p:spPr>
          <a:xfrm>
            <a:off x="9311640" y="22860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2"/>
          <p:cNvSpPr/>
          <p:nvPr/>
        </p:nvSpPr>
        <p:spPr>
          <a:xfrm>
            <a:off x="9339072" y="23225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1150</a:t>
            </a:r>
            <a:endParaRPr lang="fr-FR" sz="1020" noProof="0" dirty="0"/>
          </a:p>
        </p:txBody>
      </p:sp>
      <p:sp>
        <p:nvSpPr>
          <p:cNvPr id="35" name="Shape 33"/>
          <p:cNvSpPr/>
          <p:nvPr/>
        </p:nvSpPr>
        <p:spPr>
          <a:xfrm>
            <a:off x="6446520" y="27432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Text 34"/>
          <p:cNvSpPr/>
          <p:nvPr/>
        </p:nvSpPr>
        <p:spPr>
          <a:xfrm>
            <a:off x="6473952" y="27797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4</a:t>
            </a:r>
            <a:endParaRPr lang="fr-FR" sz="1020" noProof="0" dirty="0"/>
          </a:p>
        </p:txBody>
      </p:sp>
      <p:sp>
        <p:nvSpPr>
          <p:cNvPr id="37" name="Shape 35"/>
          <p:cNvSpPr/>
          <p:nvPr/>
        </p:nvSpPr>
        <p:spPr>
          <a:xfrm>
            <a:off x="7879080" y="27432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6"/>
          <p:cNvSpPr/>
          <p:nvPr/>
        </p:nvSpPr>
        <p:spPr>
          <a:xfrm>
            <a:off x="7906512" y="27797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1050</a:t>
            </a:r>
            <a:endParaRPr lang="fr-FR" sz="1020" noProof="0" dirty="0"/>
          </a:p>
        </p:txBody>
      </p:sp>
      <p:sp>
        <p:nvSpPr>
          <p:cNvPr id="39" name="Shape 37"/>
          <p:cNvSpPr/>
          <p:nvPr/>
        </p:nvSpPr>
        <p:spPr>
          <a:xfrm>
            <a:off x="9311640" y="27432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Text 38"/>
          <p:cNvSpPr/>
          <p:nvPr/>
        </p:nvSpPr>
        <p:spPr>
          <a:xfrm>
            <a:off x="9339072" y="27797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1450</a:t>
            </a:r>
            <a:endParaRPr lang="fr-FR" sz="1020" noProof="0" dirty="0"/>
          </a:p>
        </p:txBody>
      </p:sp>
      <p:sp>
        <p:nvSpPr>
          <p:cNvPr id="41" name="Shape 39"/>
          <p:cNvSpPr/>
          <p:nvPr/>
        </p:nvSpPr>
        <p:spPr>
          <a:xfrm>
            <a:off x="6446520" y="32004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Text 40"/>
          <p:cNvSpPr/>
          <p:nvPr/>
        </p:nvSpPr>
        <p:spPr>
          <a:xfrm>
            <a:off x="6473952" y="32369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5</a:t>
            </a:r>
            <a:endParaRPr lang="fr-FR" sz="1020" noProof="0" dirty="0"/>
          </a:p>
        </p:txBody>
      </p:sp>
      <p:sp>
        <p:nvSpPr>
          <p:cNvPr id="43" name="Shape 41"/>
          <p:cNvSpPr/>
          <p:nvPr/>
        </p:nvSpPr>
        <p:spPr>
          <a:xfrm>
            <a:off x="7879080" y="32004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Text 42"/>
          <p:cNvSpPr/>
          <p:nvPr/>
        </p:nvSpPr>
        <p:spPr>
          <a:xfrm>
            <a:off x="7906512" y="32369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980</a:t>
            </a:r>
            <a:endParaRPr lang="fr-FR" sz="1020" noProof="0" dirty="0"/>
          </a:p>
        </p:txBody>
      </p:sp>
      <p:sp>
        <p:nvSpPr>
          <p:cNvPr id="45" name="Shape 43"/>
          <p:cNvSpPr/>
          <p:nvPr/>
        </p:nvSpPr>
        <p:spPr>
          <a:xfrm>
            <a:off x="9311640" y="32004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6" name="Text 44"/>
          <p:cNvSpPr/>
          <p:nvPr/>
        </p:nvSpPr>
        <p:spPr>
          <a:xfrm>
            <a:off x="9339072" y="32369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1380</a:t>
            </a:r>
            <a:endParaRPr lang="fr-FR" sz="1020" noProof="0" dirty="0"/>
          </a:p>
        </p:txBody>
      </p:sp>
      <p:sp>
        <p:nvSpPr>
          <p:cNvPr id="47" name="Shape 45"/>
          <p:cNvSpPr/>
          <p:nvPr/>
        </p:nvSpPr>
        <p:spPr>
          <a:xfrm>
            <a:off x="6446520" y="36576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46"/>
          <p:cNvSpPr/>
          <p:nvPr/>
        </p:nvSpPr>
        <p:spPr>
          <a:xfrm>
            <a:off x="6473952" y="36941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6</a:t>
            </a:r>
            <a:endParaRPr lang="fr-FR" sz="1020" noProof="0" dirty="0"/>
          </a:p>
        </p:txBody>
      </p:sp>
      <p:sp>
        <p:nvSpPr>
          <p:cNvPr id="49" name="Shape 47"/>
          <p:cNvSpPr/>
          <p:nvPr/>
        </p:nvSpPr>
        <p:spPr>
          <a:xfrm>
            <a:off x="7879080" y="36576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Text 48"/>
          <p:cNvSpPr/>
          <p:nvPr/>
        </p:nvSpPr>
        <p:spPr>
          <a:xfrm>
            <a:off x="7906512" y="36941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1100</a:t>
            </a:r>
            <a:endParaRPr lang="fr-FR" sz="1020" noProof="0" dirty="0"/>
          </a:p>
        </p:txBody>
      </p:sp>
      <p:sp>
        <p:nvSpPr>
          <p:cNvPr id="51" name="Shape 49"/>
          <p:cNvSpPr/>
          <p:nvPr/>
        </p:nvSpPr>
        <p:spPr>
          <a:xfrm>
            <a:off x="9311640" y="3657600"/>
            <a:ext cx="1432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2" name="Text 50"/>
          <p:cNvSpPr/>
          <p:nvPr/>
        </p:nvSpPr>
        <p:spPr>
          <a:xfrm>
            <a:off x="9339072" y="3694176"/>
            <a:ext cx="1377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20" noProof="0" dirty="0">
                <a:solidFill>
                  <a:srgbClr val="333333"/>
                </a:solidFill>
              </a:rPr>
              <a:t>1500</a:t>
            </a:r>
            <a:endParaRPr lang="fr-FR" sz="1020" noProof="0" dirty="0"/>
          </a:p>
        </p:txBody>
      </p:sp>
      <p:sp>
        <p:nvSpPr>
          <p:cNvPr id="53" name="Text 51"/>
          <p:cNvSpPr/>
          <p:nvPr/>
        </p:nvSpPr>
        <p:spPr>
          <a:xfrm>
            <a:off x="868680" y="2743200"/>
            <a:ext cx="484632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fr-FR" sz="1500" noProof="0" dirty="0">
                <a:solidFill>
                  <a:srgbClr val="333333"/>
                </a:solidFill>
              </a:rPr>
              <a:t>x is plotted on the horizontal axis.</a:t>
            </a:r>
            <a:endParaRPr lang="fr-FR" sz="1500" noProof="0" dirty="0"/>
          </a:p>
          <a:p>
            <a:r>
              <a:rPr lang="fr-FR" sz="1500" noProof="0" dirty="0">
                <a:solidFill>
                  <a:srgbClr val="333333"/>
                </a:solidFill>
              </a:rPr>
              <a:t>y is plotted on the vertical axis.</a:t>
            </a:r>
            <a:endParaRPr lang="fr-FR" sz="1500" noProof="0" dirty="0"/>
          </a:p>
          <a:p>
            <a:r>
              <a:rPr lang="fr-FR" sz="1500" noProof="0" dirty="0">
                <a:solidFill>
                  <a:srgbClr val="333333"/>
                </a:solidFill>
              </a:rPr>
              <a:t>The pair (xi ; yi) becomes a point on the graph.</a:t>
            </a:r>
            <a:endParaRPr lang="fr-FR" sz="15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215197-449C-966C-CF1D-0C6BF2CD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Applies to quantitative variables only</a:t>
            </a:r>
            <a:endParaRPr lang="fr-FR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E6B646-1436-45EE-8445-5DF921225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061" y="2197804"/>
            <a:ext cx="9235877" cy="280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84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AA2583-0470-4755-A799-EAC5E770A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r>
              <a:rPr lang="fr-FR" noProof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234A3BA-56BF-4FF4-9012-F84973A1FA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3313"/>
                <a:ext cx="8928992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1800" noProof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Population: French households in which both the man and the woman are employed</a:t>
                </a:r>
              </a:p>
              <a:p>
                <a:pPr marL="0" indent="0">
                  <a:buNone/>
                </a:pPr>
                <a:r>
                  <a:rPr lang="fr-FR" sz="1800" noProof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Number of households studied = 15</a:t>
                </a:r>
              </a:p>
              <a:p>
                <a:pPr marL="0" indent="0">
                  <a:buNone/>
                </a:pPr>
                <a:r>
                  <a:rPr lang="fr-FR" sz="1800" noProof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Variables studied simultaneously for each household:</a:t>
                </a: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fr-FR" sz="1800" noProof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woman’s salary </a:t>
                </a:r>
                <a:r>
                  <a:rPr lang="fr-FR" sz="1800" noProof="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fr-FR" sz="1800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</m:oMath>
                </a14:m>
                <a:endParaRPr lang="fr-FR" sz="1800" noProof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fr-FR" sz="1800" noProof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man’s salary </a:t>
                </a:r>
                <a:r>
                  <a:rPr lang="fr-FR" sz="1800" noProof="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fr-FR" sz="1800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</m:oMath>
                </a14:m>
                <a:endParaRPr lang="fr-FR" sz="1800" noProof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1800" noProof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Objective: assess whether a relationship exists between the data for </a:t>
                </a:r>
                <a14:m>
                  <m:oMath xmlns:m="http://schemas.openxmlformats.org/officeDocument/2006/math">
                    <m:r>
                      <a:rPr lang="fr-FR" sz="1800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</m:oMath>
                </a14:m>
                <a:r>
                  <a:rPr lang="fr-FR" sz="1800" noProof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fr-FR" sz="1800" i="1" noProof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</m:oMath>
                </a14:m>
                <a:endParaRPr lang="fr-FR" sz="1800" noProof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fr-FR" sz="2000" noProof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1800" noProof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data: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234A3BA-56BF-4FF4-9012-F84973A1FA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3313"/>
                <a:ext cx="8928992" cy="4525963"/>
              </a:xfrm>
              <a:blipFill>
                <a:blip r:embed="rId2"/>
                <a:stretch>
                  <a:fillRect l="-615" t="-14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id="{FCF1F942-3350-44C4-B077-5D18F31A9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775" y="3501008"/>
            <a:ext cx="6085554" cy="3240360"/>
          </a:xfrm>
          <a:prstGeom prst="rect">
            <a:avLst/>
          </a:prstGeom>
        </p:spPr>
      </p:pic>
      <p:sp>
        <p:nvSpPr>
          <p:cNvPr id="6" name="Bulle narrative : ronde 5">
            <a:extLst>
              <a:ext uri="{FF2B5EF4-FFF2-40B4-BE49-F238E27FC236}">
                <a16:creationId xmlns:a16="http://schemas.microsoft.com/office/drawing/2014/main" id="{4F82CFDF-DDF3-48D7-813B-A0A3283D39BE}"/>
              </a:ext>
            </a:extLst>
          </p:cNvPr>
          <p:cNvSpPr/>
          <p:nvPr/>
        </p:nvSpPr>
        <p:spPr>
          <a:xfrm>
            <a:off x="8760296" y="1417638"/>
            <a:ext cx="1728192" cy="1296144"/>
          </a:xfrm>
          <a:prstGeom prst="wedgeEllipseCallout">
            <a:avLst>
              <a:gd name="adj1" fmla="val -139882"/>
              <a:gd name="adj2" fmla="val 12202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78714C5-EF7C-4075-AC77-1E633D61175B}"/>
                  </a:ext>
                </a:extLst>
              </p:cNvPr>
              <p:cNvSpPr txBox="1"/>
              <p:nvPr/>
            </p:nvSpPr>
            <p:spPr>
              <a:xfrm>
                <a:off x="8986664" y="1859159"/>
                <a:ext cx="1224136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fr-FR" sz="11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1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sz="1100" i="1" noProof="0">
                          <a:latin typeface="Cambria Math" panose="02040503050406030204" pitchFamily="18" charset="0"/>
                        </a:rPr>
                        <m:t>=1631.993</m:t>
                      </m:r>
                    </m:oMath>
                  </m:oMathPara>
                </a14:m>
                <a:endParaRPr lang="fr-FR" sz="1100" i="1" noProof="0" dirty="0">
                  <a:latin typeface="Cambria Math" panose="02040503050406030204" pitchFamily="18" charset="0"/>
                </a:endParaRPr>
              </a:p>
              <a:p>
                <a:r>
                  <a:rPr lang="fr-FR" sz="1100" noProof="0" dirty="0"/>
                  <a:t>       &amp;</a:t>
                </a:r>
                <a14:m>
                  <m:oMath xmlns:m="http://schemas.openxmlformats.org/officeDocument/2006/math">
                    <m:r>
                      <a:rPr lang="fr-FR" sz="1100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FR" sz="1100" noProof="0" dirty="0"/>
              </a:p>
              <a:p>
                <a14:m>
                  <m:oMath xmlns:m="http://schemas.openxmlformats.org/officeDocument/2006/math">
                    <m:r>
                      <a:rPr lang="fr-FR" sz="1100" i="1" noProof="0">
                        <a:latin typeface="Cambria Math" panose="02040503050406030204" pitchFamily="18" charset="0"/>
                      </a:rPr>
                      <m:t>    </m:t>
                    </m:r>
                    <m:acc>
                      <m:accPr>
                        <m:chr m:val="̅"/>
                        <m:ctrlPr>
                          <a:rPr lang="fr-FR" sz="11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100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100" i="1" noProof="0">
                        <a:latin typeface="Cambria Math" panose="02040503050406030204" pitchFamily="18" charset="0"/>
                      </a:rPr>
                      <m:t>=1670</m:t>
                    </m:r>
                  </m:oMath>
                </a14:m>
                <a:r>
                  <a:rPr lang="fr-FR" sz="1100" noProof="0" dirty="0"/>
                  <a:t> </a:t>
                </a: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78714C5-EF7C-4075-AC77-1E633D611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6664" y="1859159"/>
                <a:ext cx="1224136" cy="6001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542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35BE68-D8AD-4963-87CD-96F1ED91A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noProof="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Graphical Representation – Scatter Plot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DD3002A-53E9-40F8-984F-EA865C0F6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7619" y="1512168"/>
            <a:ext cx="8436763" cy="5373216"/>
          </a:xfrm>
        </p:spPr>
      </p:pic>
    </p:spTree>
    <p:extLst>
      <p:ext uri="{BB962C8B-B14F-4D97-AF65-F5344CB8AC3E}">
        <p14:creationId xmlns:p14="http://schemas.microsoft.com/office/powerpoint/2010/main" val="1562189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8EA02C-7C36-44C4-FC74-C4262C4EFA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noProof="0" dirty="0">
                <a:solidFill>
                  <a:srgbClr val="FF0000"/>
                </a:solidFill>
              </a:rPr>
              <a:t>3. Covariance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D897CF2-DAB2-E7BE-F6C6-02378471EA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954560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0AB91A-0EE0-47B2-9B73-3360B6423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90" y="209793"/>
            <a:ext cx="7543800" cy="1450757"/>
          </a:xfrm>
        </p:spPr>
        <p:txBody>
          <a:bodyPr/>
          <a:lstStyle/>
          <a:p>
            <a:r>
              <a:rPr lang="fr-FR" noProof="0" dirty="0">
                <a:solidFill>
                  <a:srgbClr val="FF0000"/>
                </a:solidFill>
              </a:rPr>
              <a:t>Formula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65FAB015-FAED-4072-84F4-BD801DFF4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4197" y="2027425"/>
            <a:ext cx="8698823" cy="117716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613F516-2D3B-4594-9781-A26B2B7ED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437" y="3653407"/>
            <a:ext cx="742950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51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23C8DA-4B60-438F-91BB-4665B7B48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FF0000"/>
                </a:solidFill>
              </a:rPr>
              <a:t>Interpretation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40F9FE-68A4-461C-A364-29F83CD61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noProof="0" dirty="0"/>
              <a:t>There are three possible cases:</a:t>
            </a:r>
          </a:p>
          <a:p>
            <a:pPr marL="0" indent="0">
              <a:buNone/>
            </a:pPr>
            <a:endParaRPr lang="fr-FR" noProof="0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noProof="0" dirty="0"/>
              <a:t>Si </a:t>
            </a:r>
            <a:r>
              <a:rPr lang="fr-FR" noProof="0" dirty="0" err="1"/>
              <a:t>Cov</a:t>
            </a:r>
            <a:r>
              <a:rPr lang="fr-FR" noProof="0" dirty="0"/>
              <a:t> (x, y) = 0 </a:t>
            </a:r>
            <a:r>
              <a:rPr lang="fr-FR" noProof="0" dirty="0">
                <a:sym typeface="Wingdings" panose="05000000000000000000" pitchFamily="2" charset="2"/>
              </a:rPr>
              <a:t>→ No correlation</a:t>
            </a:r>
          </a:p>
          <a:p>
            <a:pPr>
              <a:buFont typeface="Wingdings" panose="05000000000000000000" pitchFamily="2" charset="2"/>
              <a:buChar char="q"/>
            </a:pPr>
            <a:endParaRPr lang="fr-FR" noProof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noProof="0" dirty="0">
                <a:sym typeface="Wingdings" panose="05000000000000000000" pitchFamily="2" charset="2"/>
              </a:rPr>
              <a:t>Si </a:t>
            </a:r>
            <a:r>
              <a:rPr lang="fr-FR" noProof="0" dirty="0" err="1">
                <a:sym typeface="Wingdings" panose="05000000000000000000" pitchFamily="2" charset="2"/>
              </a:rPr>
              <a:t>Cov</a:t>
            </a:r>
            <a:r>
              <a:rPr lang="fr-FR" noProof="0" dirty="0">
                <a:sym typeface="Wingdings" panose="05000000000000000000" pitchFamily="2" charset="2"/>
              </a:rPr>
              <a:t> (x, y) &gt; 0 → Positive correlation (the variables move in the same direction)</a:t>
            </a:r>
          </a:p>
          <a:p>
            <a:pPr>
              <a:buFont typeface="Wingdings" panose="05000000000000000000" pitchFamily="2" charset="2"/>
              <a:buChar char="q"/>
            </a:pPr>
            <a:endParaRPr lang="fr-FR" noProof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noProof="0" dirty="0">
                <a:sym typeface="Wingdings" panose="05000000000000000000" pitchFamily="2" charset="2"/>
              </a:rPr>
              <a:t>Si </a:t>
            </a:r>
            <a:r>
              <a:rPr lang="fr-FR" noProof="0" dirty="0" err="1">
                <a:sym typeface="Wingdings" panose="05000000000000000000" pitchFamily="2" charset="2"/>
              </a:rPr>
              <a:t>Cov</a:t>
            </a:r>
            <a:r>
              <a:rPr lang="fr-FR" noProof="0" dirty="0">
                <a:sym typeface="Wingdings" panose="05000000000000000000" pitchFamily="2" charset="2"/>
              </a:rPr>
              <a:t> (x, y) &lt; 0 → Negative correlation (the variables move in opposite directions).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940357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4D58FD-7F51-47A0-AF89-B9DCD7A7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2764" y="634947"/>
            <a:ext cx="3845379" cy="1450757"/>
          </a:xfrm>
        </p:spPr>
        <p:txBody>
          <a:bodyPr>
            <a:normAutofit/>
          </a:bodyPr>
          <a:lstStyle/>
          <a:p>
            <a:r>
              <a:rPr lang="fr-FR" noProof="0" dirty="0"/>
              <a:t>Example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0756B3A-ED97-391A-FC30-F2839F548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2764" y="2198914"/>
            <a:ext cx="5092882" cy="3670180"/>
          </a:xfrm>
        </p:spPr>
        <p:txBody>
          <a:bodyPr>
            <a:normAutofit/>
          </a:bodyPr>
          <a:lstStyle/>
          <a:p>
            <a:r>
              <a:rPr lang="fr-FR" noProof="0" dirty="0"/>
              <a:t>Calculate the covariance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7DA6B2F4-FB48-4125-BFBD-0CFFFA4EA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759" y="457201"/>
            <a:ext cx="6145873" cy="513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11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2AB0-5479-33F7-B41F-AAF80F04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99A2816E-065D-878F-FDEE-86800956E3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23"/>
          <a:stretch>
            <a:fillRect/>
          </a:stretch>
        </p:blipFill>
        <p:spPr>
          <a:xfrm>
            <a:off x="119921" y="862980"/>
            <a:ext cx="4783353" cy="513203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110ED7F-29B2-FE54-98E9-9738026A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2764" y="634947"/>
            <a:ext cx="3845379" cy="1450757"/>
          </a:xfrm>
        </p:spPr>
        <p:txBody>
          <a:bodyPr>
            <a:normAutofit/>
          </a:bodyPr>
          <a:lstStyle/>
          <a:p>
            <a:r>
              <a:rPr lang="fr-FR" noProof="0" dirty="0"/>
              <a:t>Example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6F284D-E5A9-C25B-9036-2F04CB771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327" y="2198914"/>
            <a:ext cx="6392743" cy="3670180"/>
          </a:xfrm>
        </p:spPr>
        <p:txBody>
          <a:bodyPr>
            <a:normAutofit/>
          </a:bodyPr>
          <a:lstStyle/>
          <a:p>
            <a:r>
              <a:rPr lang="fr-FR" noProof="0" dirty="0"/>
              <a:t>Step 1: Calculate the two means</a:t>
            </a:r>
          </a:p>
          <a:p>
            <a:endParaRPr lang="fr-FR" noProof="0" dirty="0"/>
          </a:p>
          <a:p>
            <a:endParaRPr lang="fr-FR" noProof="0" dirty="0"/>
          </a:p>
          <a:p>
            <a:endParaRPr lang="fr-FR" noProof="0" dirty="0"/>
          </a:p>
          <a:p>
            <a:r>
              <a:rPr lang="fr-FR" noProof="0" dirty="0"/>
              <a:t>Step 2: Calculate the covariance</a:t>
            </a:r>
          </a:p>
        </p:txBody>
      </p:sp>
      <p:pic>
        <p:nvPicPr>
          <p:cNvPr id="3" name="Espace réservé du contenu 3">
            <a:extLst>
              <a:ext uri="{FF2B5EF4-FFF2-40B4-BE49-F238E27FC236}">
                <a16:creationId xmlns:a16="http://schemas.microsoft.com/office/drawing/2014/main" id="{8D4C702C-ED99-339C-2923-C84AD02CFD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365"/>
          <a:stretch>
            <a:fillRect/>
          </a:stretch>
        </p:blipFill>
        <p:spPr>
          <a:xfrm>
            <a:off x="4497398" y="5156025"/>
            <a:ext cx="7043673" cy="9522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39D603C-F1CC-D796-0A34-61978F8E06F3}"/>
                  </a:ext>
                </a:extLst>
              </p:cNvPr>
              <p:cNvSpPr txBox="1"/>
              <p:nvPr/>
            </p:nvSpPr>
            <p:spPr>
              <a:xfrm>
                <a:off x="6618466" y="3105833"/>
                <a:ext cx="163698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fr-FR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fr-FR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𝟏𝟔𝟑𝟏</m:t>
                      </m:r>
                      <m:r>
                        <a:rPr lang="fr-FR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𝟗𝟗</m:t>
                      </m:r>
                      <m:r>
                        <a:rPr lang="fr-FR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1" noProof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fr-FR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fr-FR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𝟏𝟔𝟕𝟎</m:t>
                      </m:r>
                    </m:oMath>
                  </m:oMathPara>
                </a14:m>
                <a:endParaRPr lang="fr-FR" b="1" noProof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39D603C-F1CC-D796-0A34-61978F8E0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466" y="3105833"/>
                <a:ext cx="1636987" cy="646331"/>
              </a:xfrm>
              <a:prstGeom prst="rect">
                <a:avLst/>
              </a:prstGeom>
              <a:blipFill>
                <a:blip r:embed="rId4"/>
                <a:stretch>
                  <a:fillRect b="-28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807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430F4F-6BF2-4699-A96F-C585CF4D2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Details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E27DB9B-038D-4C0D-AA00-2A47BDCB93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0401980"/>
              </p:ext>
            </p:extLst>
          </p:nvPr>
        </p:nvGraphicFramePr>
        <p:xfrm>
          <a:off x="2288438" y="1844824"/>
          <a:ext cx="3387433" cy="401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968">
                  <a:extLst>
                    <a:ext uri="{9D8B030D-6E8A-4147-A177-3AD203B41FA5}">
                      <a16:colId xmlns:a16="http://schemas.microsoft.com/office/drawing/2014/main" val="3868118001"/>
                    </a:ext>
                  </a:extLst>
                </a:gridCol>
                <a:gridCol w="929155">
                  <a:extLst>
                    <a:ext uri="{9D8B030D-6E8A-4147-A177-3AD203B41FA5}">
                      <a16:colId xmlns:a16="http://schemas.microsoft.com/office/drawing/2014/main" val="1938554017"/>
                    </a:ext>
                  </a:extLst>
                </a:gridCol>
                <a:gridCol w="929155">
                  <a:extLst>
                    <a:ext uri="{9D8B030D-6E8A-4147-A177-3AD203B41FA5}">
                      <a16:colId xmlns:a16="http://schemas.microsoft.com/office/drawing/2014/main" val="2808622852"/>
                    </a:ext>
                  </a:extLst>
                </a:gridCol>
                <a:gridCol w="929155">
                  <a:extLst>
                    <a:ext uri="{9D8B030D-6E8A-4147-A177-3AD203B41FA5}">
                      <a16:colId xmlns:a16="http://schemas.microsoft.com/office/drawing/2014/main" val="2483590791"/>
                    </a:ext>
                  </a:extLst>
                </a:gridCol>
              </a:tblGrid>
              <a:tr h="58273"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Xi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Yi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XIYI</a:t>
                      </a:r>
                    </a:p>
                  </a:txBody>
                  <a:tcPr marL="7136" marR="7136" marT="7136" marB="0" anchor="b"/>
                </a:tc>
                <a:extLst>
                  <a:ext uri="{0D108BD9-81ED-4DB2-BD59-A6C34878D82A}">
                    <a16:rowId xmlns:a16="http://schemas.microsoft.com/office/drawing/2014/main" val="227135697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1624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1667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2707208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79717671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2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1625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1652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2684500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2413573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3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1622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1654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2682788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50981877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4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1613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1656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2671128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32067707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5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1640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1663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2727320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86726620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6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1638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1664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2725632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60288575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7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1643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1678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2756954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24654287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8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1623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1653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2682819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70305795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9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1659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1688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2800392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31959125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10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1641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1685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2765085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73671569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11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1610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1656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2666160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65737038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12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1623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1682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2729886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10825748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13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1641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1674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2747034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88985258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14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1664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1711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2847104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62109653"/>
                  </a:ext>
                </a:extLst>
              </a:tr>
              <a:tr h="23663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15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1613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noProof="0" dirty="0">
                          <a:effectLst/>
                        </a:rPr>
                        <a:t>1667</a:t>
                      </a:r>
                      <a:endParaRPr lang="fr-FR" sz="16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6" marR="7136" marT="713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2688871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58912966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20D4A99-78A2-4083-8E52-5CFB498EDA4C}"/>
              </a:ext>
            </a:extLst>
          </p:cNvPr>
          <p:cNvSpPr txBox="1"/>
          <p:nvPr/>
        </p:nvSpPr>
        <p:spPr>
          <a:xfrm>
            <a:off x="4343723" y="6123543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Sum = 40882881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1BF5BD80-AD6A-43FB-BF0A-DDD0791AE9F4}"/>
              </a:ext>
            </a:extLst>
          </p:cNvPr>
          <p:cNvCxnSpPr>
            <a:cxnSpLocks/>
          </p:cNvCxnSpPr>
          <p:nvPr/>
        </p:nvCxnSpPr>
        <p:spPr>
          <a:xfrm flipV="1">
            <a:off x="5231904" y="5807688"/>
            <a:ext cx="0" cy="2921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78A6A549-697E-4015-8140-CD74E786400E}"/>
                  </a:ext>
                </a:extLst>
              </p:cNvPr>
              <p:cNvSpPr txBox="1"/>
              <p:nvPr/>
            </p:nvSpPr>
            <p:spPr>
              <a:xfrm>
                <a:off x="5951984" y="3446447"/>
                <a:ext cx="4357860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i="1" noProof="0">
                          <a:latin typeface="Cambria Math" panose="02040503050406030204" pitchFamily="18" charset="0"/>
                        </a:rPr>
                        <m:t>𝐶𝑜𝑣</m:t>
                      </m:r>
                      <m:r>
                        <a:rPr lang="fr-FR" i="1" noProof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i="1" noProof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i="1" noProof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fr-FR" i="1" noProof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noProof="0">
                              <a:latin typeface="Cambria Math" panose="02040503050406030204" pitchFamily="18" charset="0"/>
                            </a:rPr>
                            <m:t>40882881</m:t>
                          </m:r>
                        </m:num>
                        <m:den>
                          <m:r>
                            <a:rPr lang="fr-FR" i="1" noProof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fr-FR" i="1" noProof="0">
                          <a:latin typeface="Cambria Math" panose="02040503050406030204" pitchFamily="18" charset="0"/>
                        </a:rPr>
                        <m:t>−(1631,93)(1670)</m:t>
                      </m:r>
                    </m:oMath>
                  </m:oMathPara>
                </a14:m>
                <a:endParaRPr lang="fr-FR" noProof="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78A6A549-697E-4015-8140-CD74E7864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984" y="3446447"/>
                <a:ext cx="4357860" cy="5204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5723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0D7049-8EFC-0162-78E6-023B40E2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noProof="0" dirty="0">
                <a:solidFill>
                  <a:srgbClr val="FF0000"/>
                </a:solidFill>
              </a:rPr>
              <a:t>Summary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C0763F-605B-FA7F-5486-9C0ECC606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30278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350FC48-0CE9-052A-56AE-B9DA25759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Autofit/>
          </a:bodyPr>
          <a:lstStyle/>
          <a:p>
            <a:r>
              <a:rPr lang="fr-FR" sz="4000" noProof="0" dirty="0"/>
              <a:t>By the end of this session, you should be able to: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F9B08EDF-DE0E-F087-279C-2D382E2DC8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23625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163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A0DEC3-476F-3BD5-7233-D1A2A2020F48}"/>
              </a:ext>
            </a:extLst>
          </p:cNvPr>
          <p:cNvSpPr txBox="1"/>
          <p:nvPr/>
        </p:nvSpPr>
        <p:spPr>
          <a:xfrm>
            <a:off x="2173574" y="5081666"/>
            <a:ext cx="8199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Mercedeh ERFANIANGHASAB: </a:t>
            </a:r>
            <a:r>
              <a:rPr lang="en-GB" dirty="0">
                <a:solidFill>
                  <a:schemeClr val="bg1"/>
                </a:solidFill>
                <a:hlinkClick r:id="rId2"/>
              </a:rPr>
              <a:t>Mercedeh.ERFANIANGHASAB@essca.fr</a:t>
            </a:r>
            <a:r>
              <a:rPr lang="en-GB" dirty="0">
                <a:solidFill>
                  <a:schemeClr val="bg1"/>
                </a:solidFill>
              </a:rPr>
              <a:t> (Lyon)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Jérémy CELSE: </a:t>
            </a:r>
            <a:r>
              <a:rPr lang="en-GB" dirty="0">
                <a:solidFill>
                  <a:schemeClr val="bg1"/>
                </a:solidFill>
                <a:hlinkClick r:id="rId3"/>
              </a:rPr>
              <a:t>jeremy.celse@essca.fr</a:t>
            </a:r>
            <a:r>
              <a:rPr lang="en-GB" dirty="0">
                <a:solidFill>
                  <a:schemeClr val="bg1"/>
                </a:solidFill>
              </a:rPr>
              <a:t> (Bordeaux)</a:t>
            </a:r>
          </a:p>
        </p:txBody>
      </p:sp>
    </p:spTree>
    <p:extLst>
      <p:ext uri="{BB962C8B-B14F-4D97-AF65-F5344CB8AC3E}">
        <p14:creationId xmlns:p14="http://schemas.microsoft.com/office/powerpoint/2010/main" val="3854798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346CC6-0830-45A9-A8E1-19B6A9B9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Special case: discrete vs continuous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841027-BE1F-443D-93B3-7CD53A56F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Oh dear, I have a continuous variable X with 6 classes and a discrete variable Y with 4 categories!</a:t>
            </a:r>
          </a:p>
          <a:p>
            <a:r>
              <a:rPr lang="fr-FR" noProof="0" dirty="0"/>
              <a:t>How do I calculate the covariance?</a:t>
            </a:r>
          </a:p>
        </p:txBody>
      </p:sp>
      <p:pic>
        <p:nvPicPr>
          <p:cNvPr id="1026" name="x__x0000_i1025">
            <a:extLst>
              <a:ext uri="{FF2B5EF4-FFF2-40B4-BE49-F238E27FC236}">
                <a16:creationId xmlns:a16="http://schemas.microsoft.com/office/drawing/2014/main" id="{882F6DA8-C9CA-4B33-9A9E-6889C46AE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457" y="5088636"/>
            <a:ext cx="4869883" cy="41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t 3">
            <a:extLst>
              <a:ext uri="{FF2B5EF4-FFF2-40B4-BE49-F238E27FC236}">
                <a16:creationId xmlns:a16="http://schemas.microsoft.com/office/drawing/2014/main" id="{7946E767-4A8F-4E94-9B43-CC75447AF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6438" y="3429953"/>
          <a:ext cx="3052763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070220" imgH="1581081" progId="Excel.Sheet.12">
                  <p:embed/>
                </p:oleObj>
              </mc:Choice>
              <mc:Fallback>
                <p:oleObj name="Worksheet" r:id="rId3" imgW="4070220" imgH="1581081" progId="Excel.Sheet.12">
                  <p:embed/>
                  <p:pic>
                    <p:nvPicPr>
                      <p:cNvPr id="4" name="Objet 3">
                        <a:extLst>
                          <a:ext uri="{FF2B5EF4-FFF2-40B4-BE49-F238E27FC236}">
                            <a16:creationId xmlns:a16="http://schemas.microsoft.com/office/drawing/2014/main" id="{7946E767-4A8F-4E94-9B43-CC75447AFB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6438" y="3429953"/>
                        <a:ext cx="3052763" cy="1185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 4">
            <a:extLst>
              <a:ext uri="{FF2B5EF4-FFF2-40B4-BE49-F238E27FC236}">
                <a16:creationId xmlns:a16="http://schemas.microsoft.com/office/drawing/2014/main" id="{B4938333-0633-438A-8CD5-6931275B36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7958" y="3429001"/>
          <a:ext cx="305276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070220" imgH="1384485" progId="Excel.Sheet.12">
                  <p:embed/>
                </p:oleObj>
              </mc:Choice>
              <mc:Fallback>
                <p:oleObj name="Worksheet" r:id="rId5" imgW="4070220" imgH="1384485" progId="Excel.Sheet.12">
                  <p:embed/>
                  <p:pic>
                    <p:nvPicPr>
                      <p:cNvPr id="5" name="Objet 4">
                        <a:extLst>
                          <a:ext uri="{FF2B5EF4-FFF2-40B4-BE49-F238E27FC236}">
                            <a16:creationId xmlns:a16="http://schemas.microsoft.com/office/drawing/2014/main" id="{B4938333-0633-438A-8CD5-6931275B36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47958" y="3429001"/>
                        <a:ext cx="3052763" cy="103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54FEF13-1F06-4452-ACA6-B945B83F94C8}"/>
              </a:ext>
            </a:extLst>
          </p:cNvPr>
          <p:cNvCxnSpPr>
            <a:cxnSpLocks/>
          </p:cNvCxnSpPr>
          <p:nvPr/>
        </p:nvCxnSpPr>
        <p:spPr>
          <a:xfrm>
            <a:off x="5117308" y="3930015"/>
            <a:ext cx="10501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0000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728</Words>
  <Application>Microsoft Macintosh PowerPoint</Application>
  <PresentationFormat>Widescreen</PresentationFormat>
  <Paragraphs>186</Paragraphs>
  <Slides>24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Cambria</vt:lpstr>
      <vt:lpstr>Cambria Math</vt:lpstr>
      <vt:lpstr>Wingdings</vt:lpstr>
      <vt:lpstr>Thème Office</vt:lpstr>
      <vt:lpstr>Worksheet</vt:lpstr>
      <vt:lpstr>Data Description</vt:lpstr>
      <vt:lpstr>Session Objectives</vt:lpstr>
      <vt:lpstr>PowerPoint Presentation</vt:lpstr>
      <vt:lpstr>1. Introduction</vt:lpstr>
      <vt:lpstr>PowerPoint Presentation</vt:lpstr>
      <vt:lpstr>PowerPoint Presentation</vt:lpstr>
      <vt:lpstr>PowerPoint Presentation</vt:lpstr>
      <vt:lpstr>PowerPoint Presentation</vt:lpstr>
      <vt:lpstr>2. Graphical Bivariate Analysis</vt:lpstr>
      <vt:lpstr>Applies only to quantitative variables. </vt:lpstr>
      <vt:lpstr>PowerPoint Presentation</vt:lpstr>
      <vt:lpstr>Applies to quantitative variables only</vt:lpstr>
      <vt:lpstr>Example </vt:lpstr>
      <vt:lpstr>Graphical Representation – Scatter Plot</vt:lpstr>
      <vt:lpstr>3. Covariance</vt:lpstr>
      <vt:lpstr>Formula</vt:lpstr>
      <vt:lpstr>Interpretation</vt:lpstr>
      <vt:lpstr>Example</vt:lpstr>
      <vt:lpstr>Example</vt:lpstr>
      <vt:lpstr>Details</vt:lpstr>
      <vt:lpstr>Summary</vt:lpstr>
      <vt:lpstr>By the end of this session, you should be able to:</vt:lpstr>
      <vt:lpstr>PowerPoint Presentation</vt:lpstr>
      <vt:lpstr>Special case: discrete vs continuous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CELSE Jeremy</dc:creator>
  <cp:lastModifiedBy>Mercede Erfanianghasab</cp:lastModifiedBy>
  <cp:revision>11</cp:revision>
  <dcterms:created xsi:type="dcterms:W3CDTF">2025-02-10T09:23:47Z</dcterms:created>
  <dcterms:modified xsi:type="dcterms:W3CDTF">2026-08-23T20:54:06Z</dcterms:modified>
</cp:coreProperties>
</file>