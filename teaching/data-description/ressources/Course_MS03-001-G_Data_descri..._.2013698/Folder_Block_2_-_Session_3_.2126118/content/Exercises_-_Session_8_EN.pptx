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65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E9E45-F392-1B77-D2C8-5F4A623C512C}" v="1" dt="2026-07-17T22:29:54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FANIANGHASAB Mercedeh" userId="S::mercedeh.erfanianghasab@essca.fr::df756d52-3e74-4ac2-b7fc-e2292514ac35" providerId="AD" clId="Web-{477E9E45-F392-1B77-D2C8-5F4A623C512C}"/>
    <pc:docChg chg="delSld">
      <pc:chgData name="ERFANIANGHASAB Mercedeh" userId="S::mercedeh.erfanianghasab@essca.fr::df756d52-3e74-4ac2-b7fc-e2292514ac35" providerId="AD" clId="Web-{477E9E45-F392-1B77-D2C8-5F4A623C512C}" dt="2026-07-17T22:29:54.358" v="0"/>
      <pc:docMkLst>
        <pc:docMk/>
      </pc:docMkLst>
      <pc:sldChg chg="del">
        <pc:chgData name="ERFANIANGHASAB Mercedeh" userId="S::mercedeh.erfanianghasab@essca.fr::df756d52-3e74-4ac2-b7fc-e2292514ac35" providerId="AD" clId="Web-{477E9E45-F392-1B77-D2C8-5F4A623C512C}" dt="2026-07-17T22:29:54.358" v="0"/>
        <pc:sldMkLst>
          <pc:docMk/>
          <pc:sldMk cId="1813572863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17/07/2026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5" name="Rectangle 1444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82321" y="798703"/>
            <a:ext cx="6121738" cy="3072015"/>
          </a:xfrm>
        </p:spPr>
        <p:txBody>
          <a:bodyPr anchor="b">
            <a:noAutofit/>
          </a:bodyPr>
          <a:lstStyle/>
          <a:p>
            <a:r>
              <a:rPr lang="en-AU" sz="8000" b="1" dirty="0">
                <a:latin typeface="Arial" panose="020B0604020202020204" pitchFamily="34" charset="0"/>
                <a:cs typeface="Arial" panose="020B0604020202020204" pitchFamily="34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70148" y="3962792"/>
            <a:ext cx="5221185" cy="2102108"/>
          </a:xfrm>
        </p:spPr>
        <p:txBody>
          <a:bodyPr anchor="t"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Session 8 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Mercedeh ERFANIANGHASAB 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Jérémy CELSE</a:t>
            </a:r>
          </a:p>
        </p:txBody>
      </p:sp>
      <p:sp>
        <p:nvSpPr>
          <p:cNvPr id="1447" name="Freeform: Shape 144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9" name="Freeform: Shape 144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F95DD-533A-19FB-1B29-5CBCDD2F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243" y="2799146"/>
            <a:ext cx="4939504" cy="876761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451" name="Freeform: Shape 145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53" name="Freeform: Shape 145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55" name="Freeform: Shape 145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57" name="Freeform: Shape 145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0" name="TextBox 1439"/>
          <p:cNvSpPr txBox="1"/>
          <p:nvPr/>
        </p:nvSpPr>
        <p:spPr>
          <a:xfrm>
            <a:off x="411480" y="6291072"/>
            <a:ext cx="285206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800">
                <a:solidFill>
                  <a:srgbClr val="595959"/>
                </a:solidFill>
              </a:defRPr>
            </a:pPr>
            <a:r>
              <a:rPr lang="en-GB" sz="800"/>
              <a:t>Mercedeh.ERFANIANGHASAB@essca.fr | jeremy.celse@essca.fr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479493"/>
            <a:ext cx="52578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838201" y="1984443"/>
            <a:ext cx="5257800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temperature (i.e. measured between 7am and 7.30am) over 200 days chosen randomly from the winter periods observed over the last 20 years.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 are represented in the following table: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the Pearson coefficient 
Calculate the Yule and Kendall coefficient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995535"/>
              </p:ext>
            </p:extLst>
          </p:nvPr>
        </p:nvGraphicFramePr>
        <p:xfrm>
          <a:off x="7164263" y="1549504"/>
          <a:ext cx="3959474" cy="37589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211061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1748413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574067">
                <a:tc>
                  <a:txBody>
                    <a:bodyPr/>
                    <a:lstStyle/>
                    <a:p>
                      <a:r>
                        <a:rPr lang="fr-FR" sz="2600" dirty="0" err="1"/>
                        <a:t>Temperature</a:t>
                      </a:r>
                      <a:endParaRPr lang="fr-FR" sz="2600" dirty="0"/>
                    </a:p>
                  </a:txBody>
                  <a:tcPr marL="144769" marR="144769" marT="72385" marB="72385"/>
                </a:tc>
                <a:tc>
                  <a:txBody>
                    <a:bodyPr/>
                    <a:lstStyle/>
                    <a:p>
                      <a:r>
                        <a:rPr lang="fr-FR" sz="2600" dirty="0"/>
                        <a:t>Frequency</a:t>
                      </a:r>
                    </a:p>
                  </a:txBody>
                  <a:tcPr marL="144769" marR="144769" marT="72385" marB="72385"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636985">
                <a:tc>
                  <a:txBody>
                    <a:bodyPr/>
                    <a:lstStyle/>
                    <a:p>
                      <a:r>
                        <a:rPr lang="fr-FR" sz="2600"/>
                        <a:t>-1</a:t>
                      </a:r>
                    </a:p>
                  </a:txBody>
                  <a:tcPr marL="144769" marR="144769" marT="72385" marB="72385"/>
                </a:tc>
                <a:tc>
                  <a:txBody>
                    <a:bodyPr/>
                    <a:lstStyle/>
                    <a:p>
                      <a:r>
                        <a:rPr lang="fr-FR" sz="2600"/>
                        <a:t>20%</a:t>
                      </a:r>
                    </a:p>
                  </a:txBody>
                  <a:tcPr marL="144769" marR="144769" marT="72385" marB="72385"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636985">
                <a:tc>
                  <a:txBody>
                    <a:bodyPr/>
                    <a:lstStyle/>
                    <a:p>
                      <a:r>
                        <a:rPr lang="fr-FR" sz="2600"/>
                        <a:t>0</a:t>
                      </a:r>
                    </a:p>
                  </a:txBody>
                  <a:tcPr marL="144769" marR="144769" marT="72385" marB="72385"/>
                </a:tc>
                <a:tc>
                  <a:txBody>
                    <a:bodyPr/>
                    <a:lstStyle/>
                    <a:p>
                      <a:r>
                        <a:rPr lang="fr-FR" sz="2600"/>
                        <a:t>17%</a:t>
                      </a:r>
                    </a:p>
                  </a:txBody>
                  <a:tcPr marL="144769" marR="144769" marT="72385" marB="72385"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636985">
                <a:tc>
                  <a:txBody>
                    <a:bodyPr/>
                    <a:lstStyle/>
                    <a:p>
                      <a:r>
                        <a:rPr lang="fr-FR" sz="2600"/>
                        <a:t>2</a:t>
                      </a:r>
                    </a:p>
                  </a:txBody>
                  <a:tcPr marL="144769" marR="144769" marT="72385" marB="72385"/>
                </a:tc>
                <a:tc>
                  <a:txBody>
                    <a:bodyPr/>
                    <a:lstStyle/>
                    <a:p>
                      <a:r>
                        <a:rPr lang="fr-FR" sz="2600"/>
                        <a:t>43%</a:t>
                      </a:r>
                    </a:p>
                  </a:txBody>
                  <a:tcPr marL="144769" marR="144769" marT="72385" marB="72385"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636985">
                <a:tc>
                  <a:txBody>
                    <a:bodyPr/>
                    <a:lstStyle/>
                    <a:p>
                      <a:r>
                        <a:rPr lang="fr-FR" sz="2600"/>
                        <a:t>3</a:t>
                      </a:r>
                    </a:p>
                  </a:txBody>
                  <a:tcPr marL="144769" marR="144769" marT="72385" marB="72385"/>
                </a:tc>
                <a:tc>
                  <a:txBody>
                    <a:bodyPr/>
                    <a:lstStyle/>
                    <a:p>
                      <a:r>
                        <a:rPr lang="fr-FR" sz="2600"/>
                        <a:t>10%</a:t>
                      </a:r>
                    </a:p>
                  </a:txBody>
                  <a:tcPr marL="144769" marR="144769" marT="72385" marB="72385"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636985">
                <a:tc>
                  <a:txBody>
                    <a:bodyPr/>
                    <a:lstStyle/>
                    <a:p>
                      <a:r>
                        <a:rPr lang="fr-FR" sz="2600"/>
                        <a:t>7</a:t>
                      </a:r>
                    </a:p>
                  </a:txBody>
                  <a:tcPr marL="144769" marR="144769" marT="72385" marB="72385"/>
                </a:tc>
                <a:tc>
                  <a:txBody>
                    <a:bodyPr/>
                    <a:lstStyle/>
                    <a:p>
                      <a:r>
                        <a:rPr lang="fr-FR" sz="2600" dirty="0"/>
                        <a:t>10%</a:t>
                      </a:r>
                    </a:p>
                  </a:txBody>
                  <a:tcPr marL="144769" marR="144769" marT="72385" marB="72385"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1A671DE-D529-4A2A-A35D-E97400239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79BFC20-3D6F-4458-BB5B-89134271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055" y="780057"/>
            <a:ext cx="2315251" cy="84777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12599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3649" y="127376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lock Arc 1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631431" y="1382395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31329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20126" y="2345836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03228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27948" flipH="1">
            <a:off x="2309492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CEF19CB-B9C1-4CAA-9579-EA4AA90D40B4}"/>
              </a:ext>
            </a:extLst>
          </p:cNvPr>
          <p:cNvSpPr txBox="1"/>
          <p:nvPr/>
        </p:nvSpPr>
        <p:spPr>
          <a:xfrm>
            <a:off x="895371" y="1707504"/>
            <a:ext cx="10348730" cy="4645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022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speed (i.e. measured (in Km/h) between 7am and 7.30am) of the wind over 240 days chosen randomly from the winter periods observed over the last 20 years. 
The data are represented in the following table: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Calculate the Pearson coefficient 
Calculate the Yule and Kendall coefficient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948475"/>
              </p:ext>
            </p:extLst>
          </p:nvPr>
        </p:nvGraphicFramePr>
        <p:xfrm>
          <a:off x="6842504" y="1338203"/>
          <a:ext cx="4777382" cy="432693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02797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274940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661420">
                <a:tc>
                  <a:txBody>
                    <a:bodyPr/>
                    <a:lstStyle/>
                    <a:p>
                      <a:r>
                        <a:rPr lang="fr-FR" sz="2600" b="0" cap="none" spc="0" dirty="0">
                          <a:solidFill>
                            <a:schemeClr val="bg1"/>
                          </a:solidFill>
                        </a:rPr>
                        <a:t>Speed</a:t>
                      </a:r>
                      <a:endParaRPr lang="fr-FR" sz="2600" b="0" cap="none" spc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 anchor="ctr"/>
                </a:tc>
                <a:tc>
                  <a:txBody>
                    <a:bodyPr/>
                    <a:lstStyle/>
                    <a:p>
                      <a:r>
                        <a:rPr lang="fr-FR" sz="2600" b="0" cap="none" spc="0" dirty="0">
                          <a:solidFill>
                            <a:schemeClr val="bg1"/>
                          </a:solidFill>
                        </a:rPr>
                        <a:t>Number of </a:t>
                      </a:r>
                      <a:r>
                        <a:rPr lang="fr-FR" sz="2600" b="0" cap="none" spc="0" dirty="0" err="1">
                          <a:solidFill>
                            <a:schemeClr val="bg1"/>
                          </a:solidFill>
                        </a:rPr>
                        <a:t>days</a:t>
                      </a:r>
                      <a:endParaRPr lang="fr-FR" sz="2600" b="0" cap="none" spc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 anchor="ctr"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559703"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</a:rPr>
                        <a:t>[0 ; 10]</a:t>
                      </a:r>
                      <a:endParaRPr lang="fr-FR" sz="2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fr-FR" sz="26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</a:rPr>
                        <a:t>[10 ; 30]</a:t>
                      </a:r>
                      <a:endParaRPr lang="fr-FR" sz="2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fr-FR" sz="26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</a:rPr>
                        <a:t>[30 ; 70]</a:t>
                      </a:r>
                      <a:endParaRPr lang="fr-FR" sz="2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fr-FR" sz="26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</a:rPr>
                        <a:t>[70 ; 100]</a:t>
                      </a:r>
                      <a:endParaRPr lang="fr-FR" sz="2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tc>
                  <a:txBody>
                    <a:bodyPr/>
                    <a:lstStyle/>
                    <a:p>
                      <a:r>
                        <a:rPr lang="fr-FR" sz="2600" cap="none" spc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fr-FR" sz="2600" cap="none" spc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753608"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</a:rPr>
                        <a:t>[100 ; 150]</a:t>
                      </a:r>
                      <a:endParaRPr lang="fr-FR" sz="2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tc>
                  <a:txBody>
                    <a:bodyPr/>
                    <a:lstStyle/>
                    <a:p>
                      <a:r>
                        <a:rPr lang="fr-FR" sz="2600" cap="none" spc="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600" cap="none" spc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06977" marR="159213" marT="159213" marB="159213"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197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Thème Office</vt:lpstr>
      <vt:lpstr>Data Description </vt:lpstr>
      <vt:lpstr>Exercise 1</vt:lpstr>
      <vt:lpstr>Note</vt:lpstr>
      <vt:lpstr>Exercise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Mercede Erfanianghasab</cp:lastModifiedBy>
  <cp:revision>5</cp:revision>
  <dcterms:created xsi:type="dcterms:W3CDTF">2021-10-14T08:08:29Z</dcterms:created>
  <dcterms:modified xsi:type="dcterms:W3CDTF">2026-07-17T22:30:04Z</dcterms:modified>
</cp:coreProperties>
</file>