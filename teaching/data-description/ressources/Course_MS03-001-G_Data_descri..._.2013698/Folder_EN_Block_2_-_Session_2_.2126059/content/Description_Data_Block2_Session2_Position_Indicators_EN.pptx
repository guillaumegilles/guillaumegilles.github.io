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4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937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session n°5 – lesson 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Duration: 3h</a:t>
            </a:r>
            <a:endParaRPr lang="en-US" sz="1800" dirty="0"/>
          </a:p>
        </p:txBody>
      </p:sp>
      <p:pic>
        <p:nvPicPr>
          <p:cNvPr id="3" name="Image 0" descr="/mnt/data/essc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02920"/>
            <a:ext cx="1143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0000"/>
                </a:solidFill>
                <a:latin typeface="Aptos Display"/>
              </a:rPr>
              <a:t>Data Description</a:t>
            </a:r>
          </a:p>
        </p:txBody>
      </p:sp>
      <p:sp>
        <p:nvSpPr>
          <p:cNvPr id="5" name="Text 2"/>
          <p:cNvSpPr/>
          <p:nvPr/>
        </p:nvSpPr>
        <p:spPr>
          <a:xfrm>
            <a:off x="502920" y="315468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</a:rPr>
              <a:t>Block 2 – Session 2: Position indicators and application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83464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2B46"/>
                </a:solidFill>
              </a:rPr>
              <a:t>Instructor: INSERT NAME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2B46"/>
                </a:solidFill>
              </a:rPr>
              <a:t>Module coordinators: Mercedeh ERFANIANGHASAB &amp; Jérémy CELSE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663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Session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04352" y="1449324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33333"/>
                </a:solidFill>
              </a:rPr>
              <a:t>Concepts covered in the session: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97840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Calculate and interpret position indicators related to a percentage.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Locate a position in discrete or grouped continuous data.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Build and interpret a boxplot.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Use Excel to calculate quartiles, percentiles and plot a boxplot.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3375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Session breakdown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04672" y="111556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1. Why locate a value?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3619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Locate an observation in a series.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914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428232" y="111556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2. Median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153619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Value that divides the series into two parts.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3CD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804672" y="26243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3. Quartiles and percentiles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0449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Positions associated with 25%, 50%, 75% and p%.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BE5D6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428232" y="26243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4. Boxplot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30449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Visual summary min–Q1–median–Q3–max.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66160" y="41605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3CD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730752" y="4361688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5. Excel application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30752" y="478231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Functions and practical case.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</a:rPr>
              <a:t>This session prepares the dispersion and asymmetry indicators.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3017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1. Locate a value in a series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51" y="3474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Position indicators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Objective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Describe where a value lies in a distribution, without summarizing only with the mean.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058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216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Key idea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 position indicator is linked to a cumulative percentage of the population or sample.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749040"/>
            <a:ext cx="5669280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25 % – 50 % – 75 %
</a:t>
            </a:r>
            <a:r>
              <a:rPr lang="en-US" sz="1300" dirty="0">
                <a:solidFill>
                  <a:srgbClr val="333333"/>
                </a:solidFill>
              </a:rPr>
              <a:t>Q1, median and Q3 structure the distribution into four parts.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3017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6000" b="1" noProof="0" dirty="0">
                <a:solidFill>
                  <a:srgbClr val="FF0000"/>
                </a:solidFill>
              </a:rPr>
              <a:t>2. Median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20040"/>
            <a:ext cx="9453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Median: definition and reading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5029200" cy="13716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Me = central value
</a:t>
            </a:r>
            <a:r>
              <a:rPr lang="en-US" sz="1300" dirty="0">
                <a:solidFill>
                  <a:srgbClr val="333333"/>
                </a:solidFill>
              </a:rPr>
              <a:t>50% of observations are less than or equal to Me and 50% are greater than or equal to 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005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333333"/>
                </a:solidFill>
              </a:rPr>
              <a:t>If n is odd: position (n + 1) / 2.</a:t>
            </a:r>
            <a:endParaRPr lang="fr-FR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333333"/>
                </a:solidFill>
              </a:rPr>
              <a:t>If n is even: mean of the two central values.</a:t>
            </a:r>
            <a:endParaRPr lang="fr-FR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333333"/>
                </a:solidFill>
              </a:rPr>
              <a:t>For a table, use the increasing cumulative frequencies.</a:t>
            </a:r>
            <a:endParaRPr lang="fr-FR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776549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41832" y="3374136"/>
            <a:ext cx="1721685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Temperature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0949" y="3337560"/>
            <a:ext cx="1554480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2718381" y="337413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Number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5429" y="3337560"/>
            <a:ext cx="1332411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272861" y="3374136"/>
            <a:ext cx="127754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fᵢ⁺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1776549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941832" y="3785616"/>
            <a:ext cx="1721685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-1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0949" y="374904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718381" y="378561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45429" y="3749040"/>
            <a:ext cx="133241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4272861" y="3785616"/>
            <a:ext cx="127754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20 %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1776549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941832" y="4197096"/>
            <a:ext cx="1721685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0949" y="4160520"/>
            <a:ext cx="1554480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2718381" y="419709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45429" y="4160520"/>
            <a:ext cx="133241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4272861" y="4197096"/>
            <a:ext cx="127754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37 %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572000"/>
            <a:ext cx="1776549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941832" y="4608576"/>
            <a:ext cx="1721685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0949" y="457200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2718381" y="460857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86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45429" y="4572000"/>
            <a:ext cx="133241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4272861" y="4608576"/>
            <a:ext cx="127754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80 %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983480"/>
            <a:ext cx="1776549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941832" y="5020056"/>
            <a:ext cx="1721685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90949" y="4983480"/>
            <a:ext cx="1554480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2718381" y="502005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45429" y="4983480"/>
            <a:ext cx="133241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4272861" y="5020056"/>
            <a:ext cx="127754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90 %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" y="5394960"/>
            <a:ext cx="1776549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941832" y="5431536"/>
            <a:ext cx="1721685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90949" y="539496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2718381" y="543153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45429" y="5394960"/>
            <a:ext cx="133241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Text 40"/>
          <p:cNvSpPr/>
          <p:nvPr/>
        </p:nvSpPr>
        <p:spPr>
          <a:xfrm>
            <a:off x="4272861" y="5431536"/>
            <a:ext cx="127754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100 %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4297680"/>
            <a:ext cx="544068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Here, the median is 2: the 50% threshold is reached in modality 2.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3017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3. Quartiles and percentiles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88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Quartiles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First quartile Q1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At least 25% of observations are less than or equal to Q1.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Third quartile Q3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At least 75% of observations are less than or equal to Q3.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611880"/>
            <a:ext cx="822960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Q1 – Me – Q3
</a:t>
            </a:r>
            <a:r>
              <a:rPr lang="en-US" sz="1300" dirty="0">
                <a:solidFill>
                  <a:srgbClr val="333333"/>
                </a:solidFill>
              </a:rPr>
              <a:t>These three indicators summarize the center and central spread of the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429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Percentiles and deciles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4937760" cy="12801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Pₚ
</a:t>
            </a:r>
            <a:r>
              <a:rPr lang="en-US" sz="1300" dirty="0">
                <a:solidFill>
                  <a:srgbClr val="333333"/>
                </a:solidFill>
              </a:rPr>
              <a:t>Value such that approximately p% of observations are less than or equal to this value.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960120"/>
            <a:ext cx="4937760" cy="12801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Dₖ = P₁₀ₖ
</a:t>
            </a:r>
            <a:r>
              <a:rPr lang="en-US" sz="1300" dirty="0">
                <a:solidFill>
                  <a:srgbClr val="333333"/>
                </a:solidFill>
              </a:rPr>
              <a:t>A decile is a particular percentile: D1 = P10, D5 = median, D9 = P90.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3154680"/>
            <a:ext cx="2571517" cy="45720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3685032" y="3191256"/>
            <a:ext cx="251665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117" y="3154680"/>
            <a:ext cx="2274803" cy="45720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256549" y="3191256"/>
            <a:ext cx="2219939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Cumulative percentage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3611880"/>
            <a:ext cx="257151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3685032" y="3648456"/>
            <a:ext cx="251665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Q1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9117" y="3611880"/>
            <a:ext cx="227480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6256549" y="3648456"/>
            <a:ext cx="2219939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25 %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4069080"/>
            <a:ext cx="2571517" cy="45720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685032" y="4105656"/>
            <a:ext cx="251665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Median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9117" y="4069080"/>
            <a:ext cx="2274803" cy="45720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256549" y="4105656"/>
            <a:ext cx="2219939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50 %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4526280"/>
            <a:ext cx="257151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3685032" y="4562856"/>
            <a:ext cx="251665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Q3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29117" y="4526280"/>
            <a:ext cx="227480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256549" y="4562856"/>
            <a:ext cx="2219939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75 %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4983480"/>
            <a:ext cx="2571517" cy="45720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3685032" y="5020056"/>
            <a:ext cx="251665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P90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29117" y="4983480"/>
            <a:ext cx="2274803" cy="45720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6256549" y="5020056"/>
            <a:ext cx="2219939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90 %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768" y="338328"/>
            <a:ext cx="119251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0000"/>
                </a:solidFill>
              </a:rPr>
              <a:t>Grouped continuous data: interpolation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Qₚ = L + [(p·n − N₍before₎) / n_class] × width
</a:t>
            </a:r>
            <a:r>
              <a:rPr lang="en-US" sz="1300" dirty="0">
                <a:solidFill>
                  <a:srgbClr val="333333"/>
                </a:solidFill>
              </a:rPr>
              <a:t>First identify the class containing the desired percentage, then interpolate within that class.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788920"/>
            <a:ext cx="2165377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033272" y="2825496"/>
            <a:ext cx="2110513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1217" y="2788920"/>
            <a:ext cx="1340471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3198649" y="282549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11689" y="2788920"/>
            <a:ext cx="1340471" cy="41148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539121" y="282549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Cumulative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200400"/>
            <a:ext cx="2165377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1033272" y="3236976"/>
            <a:ext cx="2110513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[0 ; 10]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71217" y="3200400"/>
            <a:ext cx="13404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198649" y="323697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11689" y="3200400"/>
            <a:ext cx="13404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4539121" y="323697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611880"/>
            <a:ext cx="2165377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1033272" y="3648456"/>
            <a:ext cx="2110513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[10 ; 30]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1217" y="3611880"/>
            <a:ext cx="134047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3198649" y="364845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11689" y="3611880"/>
            <a:ext cx="134047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4539121" y="364845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4023360"/>
            <a:ext cx="2165377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1033272" y="4059936"/>
            <a:ext cx="2110513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[30 ; 70]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71217" y="4023360"/>
            <a:ext cx="13404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3198649" y="405993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90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11689" y="4023360"/>
            <a:ext cx="13404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4539121" y="405993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180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" y="4434840"/>
            <a:ext cx="2165377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1033272" y="4471416"/>
            <a:ext cx="2110513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[70 ; 100]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71217" y="4434840"/>
            <a:ext cx="134047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3198649" y="447141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11689" y="4434840"/>
            <a:ext cx="1340471" cy="41148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4539121" y="447141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05840" y="4846320"/>
            <a:ext cx="2165377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1033272" y="4882896"/>
            <a:ext cx="2110513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[100 ; 150]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71217" y="4846320"/>
            <a:ext cx="13404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3198649" y="488289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11689" y="4846320"/>
            <a:ext cx="1340471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4539121" y="4882896"/>
            <a:ext cx="1285607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240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09360" y="3840480"/>
            <a:ext cx="52578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Example: for Q1, the position is 60. It lies in the class [10 ; 30].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0" b="1" noProof="0" dirty="0">
                <a:solidFill>
                  <a:srgbClr val="FF0000"/>
                </a:solidFill>
              </a:rPr>
              <a:t>4. Boxplot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51" y="457200"/>
            <a:ext cx="9965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Boxplot: reading the distribution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0" y="3291840"/>
            <a:ext cx="82296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2286000" y="2971800"/>
            <a:ext cx="0" cy="64008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3657600" y="2971800"/>
            <a:ext cx="0" cy="64008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486400" y="2971800"/>
            <a:ext cx="0" cy="64008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7498080" y="2971800"/>
            <a:ext cx="0" cy="64008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9509760" y="2971800"/>
            <a:ext cx="0" cy="64008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3657600" y="2788920"/>
            <a:ext cx="3840480" cy="1005840"/>
          </a:xfrm>
          <a:prstGeom prst="rect">
            <a:avLst/>
          </a:prstGeom>
          <a:solidFill>
            <a:srgbClr val="EAF2FA"/>
          </a:solidFill>
          <a:ln w="15240">
            <a:solidFill>
              <a:srgbClr val="112B4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5486400" y="2788920"/>
            <a:ext cx="0" cy="100584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2057400" y="3886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886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Q1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3886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9480" y="3886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3886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Max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91440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The box contains the central 50% of observations.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The line inside the box represents the median.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The whiskers give a quick reading of the range.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2918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Interpreting a boxplot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Concentrated distribution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Short box: central values are close to each other.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Dispersed distribution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Long box or long whiskers: values are more spread out.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960120" y="32735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Visual asymmetry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Off-center median in the box or a longer whisker on one side.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30632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583680" y="32735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Comparison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37490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Two side-by-side boxplots allow two groups to be compared quickly.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5. Excel application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971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Excel: useful functions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3691262" cy="56692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996696"/>
            <a:ext cx="363639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7062" y="960120"/>
            <a:ext cx="7144378" cy="56692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404494" y="996696"/>
            <a:ext cx="7089514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Excel function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527048"/>
            <a:ext cx="369126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13232" y="1563624"/>
            <a:ext cx="363639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Minimum / Maximum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7062" y="1527048"/>
            <a:ext cx="714437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404494" y="1563624"/>
            <a:ext cx="7089514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=MIN(range) / =MAX(range)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093976"/>
            <a:ext cx="3691262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13232" y="2130552"/>
            <a:ext cx="363639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Median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77062" y="2093976"/>
            <a:ext cx="7144378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404494" y="2130552"/>
            <a:ext cx="7089514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=MEDIAN(range)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2660904"/>
            <a:ext cx="369126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13232" y="2697480"/>
            <a:ext cx="363639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Quartiles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77062" y="2660904"/>
            <a:ext cx="714437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404494" y="2697480"/>
            <a:ext cx="7089514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=QUARTILE.INC(range,1/2/3)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227832"/>
            <a:ext cx="3691262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13232" y="3264408"/>
            <a:ext cx="363639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Percentile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77062" y="3227832"/>
            <a:ext cx="7144378" cy="56692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4404494" y="3264408"/>
            <a:ext cx="7089514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=PERCENTILE.INC(range,p)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3794760"/>
            <a:ext cx="369126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13232" y="3831336"/>
            <a:ext cx="363639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Boxplot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77062" y="3794760"/>
            <a:ext cx="714437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404494" y="3831336"/>
            <a:ext cx="7089514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Insert → Statistical Chart → Box-and-Whisker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902" y="265176"/>
            <a:ext cx="94834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</a:rPr>
              <a:t>Application: student grades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2664823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50392" y="950976"/>
            <a:ext cx="2609959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87783" y="914400"/>
            <a:ext cx="1998617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3515215" y="950976"/>
            <a:ext cx="1943753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Mid-Term Exam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266482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850392" y="1453896"/>
            <a:ext cx="2609959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Maximum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87783" y="1417320"/>
            <a:ext cx="1998617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3515215" y="1453896"/>
            <a:ext cx="1943753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1920240"/>
            <a:ext cx="2664823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850392" y="1956816"/>
            <a:ext cx="2609959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Minimum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87783" y="1920240"/>
            <a:ext cx="1998617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515215" y="1956816"/>
            <a:ext cx="1943753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423160"/>
            <a:ext cx="266482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50392" y="2459736"/>
            <a:ext cx="2609959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Q1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87783" y="2423160"/>
            <a:ext cx="1998617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3515215" y="2459736"/>
            <a:ext cx="1943753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2926080"/>
            <a:ext cx="2664823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850392" y="2962656"/>
            <a:ext cx="2609959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Median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87783" y="2926080"/>
            <a:ext cx="1998617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3515215" y="2962656"/>
            <a:ext cx="1943753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266482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850392" y="3465576"/>
            <a:ext cx="2609959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Q3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87783" y="3429000"/>
            <a:ext cx="1998617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3515215" y="3465576"/>
            <a:ext cx="1943753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Complete the summary tables in the file PW – Session 5.xlsx.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Compare the results with Excel functions.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Build a boxplot to visualize positions.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521208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Source used: Practical Work document – Session 5 and Excel correction.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000" y="411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Epilogue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Position indicators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83920" y="1645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By the end of this session, you </a:t>
            </a:r>
            <a:r>
              <a:rPr lang="en-US" sz="3600" b="1" dirty="0" err="1">
                <a:solidFill>
                  <a:srgbClr val="FF0000"/>
                </a:solidFill>
              </a:rPr>
              <a:t>should</a:t>
            </a:r>
            <a:r>
              <a:rPr lang="en-US" sz="3600" b="1" dirty="0">
                <a:solidFill>
                  <a:srgbClr val="FF0000"/>
                </a:solidFill>
              </a:rPr>
              <a:t> know</a:t>
            </a:r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969264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Calculate a median, a quartile and a percentile.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Read position indicators in a cumulative frequency table.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Use interpolation for grouped continuous data.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Build and interpret a boxplot.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Use Excel to check the calculations.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B46"/>
                </a:solidFill>
              </a:rPr>
              <a:t>Mercedeh ERFANIANGHASAB: Mercedeh.ERFANIANGHASAB@essca.fr (Lyon)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2B46"/>
                </a:solidFill>
              </a:rPr>
              <a:t>Jérémy CELSE: jeremy.celse@essca.fr (Bordeaux)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985</Words>
  <Application>Microsoft Macintosh PowerPoint</Application>
  <PresentationFormat>Widescreen</PresentationFormat>
  <Paragraphs>197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Description de données</dc:subject>
  <dc:creator>ESSCA</dc:creator>
  <cp:lastModifiedBy>Mercede Erfanianghasab</cp:lastModifiedBy>
  <cp:revision>9</cp:revision>
  <dcterms:created xsi:type="dcterms:W3CDTF">2026-07-16T14:46:00Z</dcterms:created>
  <dcterms:modified xsi:type="dcterms:W3CDTF">2026-09-09T18:01:53Z</dcterms:modified>
</cp:coreProperties>
</file>