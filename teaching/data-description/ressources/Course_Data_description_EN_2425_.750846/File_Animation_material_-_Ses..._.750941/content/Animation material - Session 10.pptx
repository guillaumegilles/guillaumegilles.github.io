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316" r:id="rId6"/>
    <p:sldId id="317" r:id="rId7"/>
    <p:sldId id="318" r:id="rId8"/>
    <p:sldId id="319" r:id="rId9"/>
    <p:sldId id="320" r:id="rId10"/>
    <p:sldId id="321" r:id="rId11"/>
    <p:sldId id="322" r:id="rId12"/>
    <p:sldId id="332" r:id="rId13"/>
    <p:sldId id="323" r:id="rId14"/>
    <p:sldId id="324" r:id="rId15"/>
    <p:sldId id="334" r:id="rId16"/>
    <p:sldId id="325" r:id="rId17"/>
    <p:sldId id="326" r:id="rId18"/>
    <p:sldId id="327" r:id="rId19"/>
    <p:sldId id="328" r:id="rId20"/>
    <p:sldId id="335" r:id="rId21"/>
    <p:sldId id="329" r:id="rId22"/>
    <p:sldId id="336" r:id="rId23"/>
    <p:sldId id="330" r:id="rId24"/>
    <p:sldId id="337" r:id="rId25"/>
    <p:sldId id="331" r:id="rId26"/>
    <p:sldId id="338" r:id="rId27"/>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440A66-FCDE-45E4-8BAC-4BDFF974335F}" v="48" dt="2021-10-15T14:15:45.133"/>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67" d="100"/>
          <a:sy n="67" d="100"/>
        </p:scale>
        <p:origin x="392"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CHOUR Maher" userId="09775c39-7739-40bf-ba04-c8ef3ab24a94" providerId="ADAL" clId="{DF440A66-FCDE-45E4-8BAC-4BDFF974335F}"/>
    <pc:docChg chg="undo custSel addSld delSld modSld sldOrd">
      <pc:chgData name="KACHOUR Maher" userId="09775c39-7739-40bf-ba04-c8ef3ab24a94" providerId="ADAL" clId="{DF440A66-FCDE-45E4-8BAC-4BDFF974335F}" dt="2021-10-15T14:16:24.053" v="268" actId="20577"/>
      <pc:docMkLst>
        <pc:docMk/>
      </pc:docMkLst>
      <pc:sldChg chg="addSp delSp modSp mod">
        <pc:chgData name="KACHOUR Maher" userId="09775c39-7739-40bf-ba04-c8ef3ab24a94" providerId="ADAL" clId="{DF440A66-FCDE-45E4-8BAC-4BDFF974335F}" dt="2021-10-15T14:00:10.633" v="60" actId="1076"/>
        <pc:sldMkLst>
          <pc:docMk/>
          <pc:sldMk cId="2681370754" sldId="322"/>
        </pc:sldMkLst>
        <pc:spChg chg="add mod">
          <ac:chgData name="KACHOUR Maher" userId="09775c39-7739-40bf-ba04-c8ef3ab24a94" providerId="ADAL" clId="{DF440A66-FCDE-45E4-8BAC-4BDFF974335F}" dt="2021-10-15T14:00:10.633" v="60" actId="1076"/>
          <ac:spMkLst>
            <pc:docMk/>
            <pc:sldMk cId="2681370754" sldId="322"/>
            <ac:spMk id="3" creationId="{58474B2C-314A-4506-AA3C-C5B79A57BE6A}"/>
          </ac:spMkLst>
        </pc:spChg>
        <pc:picChg chg="del">
          <ac:chgData name="KACHOUR Maher" userId="09775c39-7739-40bf-ba04-c8ef3ab24a94" providerId="ADAL" clId="{DF440A66-FCDE-45E4-8BAC-4BDFF974335F}" dt="2021-10-15T13:59:14.971" v="1" actId="478"/>
          <ac:picMkLst>
            <pc:docMk/>
            <pc:sldMk cId="2681370754" sldId="322"/>
            <ac:picMk id="6" creationId="{B0E71525-8455-4D1B-A308-23CE140E1540}"/>
          </ac:picMkLst>
        </pc:picChg>
      </pc:sldChg>
      <pc:sldChg chg="delSp mod">
        <pc:chgData name="KACHOUR Maher" userId="09775c39-7739-40bf-ba04-c8ef3ab24a94" providerId="ADAL" clId="{DF440A66-FCDE-45E4-8BAC-4BDFF974335F}" dt="2021-10-15T14:04:33.558" v="158" actId="478"/>
        <pc:sldMkLst>
          <pc:docMk/>
          <pc:sldMk cId="2857484422" sldId="325"/>
        </pc:sldMkLst>
        <pc:spChg chg="del">
          <ac:chgData name="KACHOUR Maher" userId="09775c39-7739-40bf-ba04-c8ef3ab24a94" providerId="ADAL" clId="{DF440A66-FCDE-45E4-8BAC-4BDFF974335F}" dt="2021-10-15T14:04:33.558" v="158" actId="478"/>
          <ac:spMkLst>
            <pc:docMk/>
            <pc:sldMk cId="2857484422" sldId="325"/>
            <ac:spMk id="14" creationId="{3A7E6A75-250B-4C25-B018-A8FDF7A65C25}"/>
          </ac:spMkLst>
        </pc:spChg>
      </pc:sldChg>
      <pc:sldChg chg="modSp mod">
        <pc:chgData name="KACHOUR Maher" userId="09775c39-7739-40bf-ba04-c8ef3ab24a94" providerId="ADAL" clId="{DF440A66-FCDE-45E4-8BAC-4BDFF974335F}" dt="2021-10-15T14:08:24.048" v="177" actId="6549"/>
        <pc:sldMkLst>
          <pc:docMk/>
          <pc:sldMk cId="69239066" sldId="328"/>
        </pc:sldMkLst>
        <pc:graphicFrameChg chg="modGraphic">
          <ac:chgData name="KACHOUR Maher" userId="09775c39-7739-40bf-ba04-c8ef3ab24a94" providerId="ADAL" clId="{DF440A66-FCDE-45E4-8BAC-4BDFF974335F}" dt="2021-10-15T14:08:17.929" v="173" actId="20577"/>
          <ac:graphicFrameMkLst>
            <pc:docMk/>
            <pc:sldMk cId="69239066" sldId="328"/>
            <ac:graphicFrameMk id="4" creationId="{B4129A5B-B832-4F02-A03F-E8D0190CCAB5}"/>
          </ac:graphicFrameMkLst>
        </pc:graphicFrameChg>
        <pc:graphicFrameChg chg="modGraphic">
          <ac:chgData name="KACHOUR Maher" userId="09775c39-7739-40bf-ba04-c8ef3ab24a94" providerId="ADAL" clId="{DF440A66-FCDE-45E4-8BAC-4BDFF974335F}" dt="2021-10-15T14:08:24.048" v="177" actId="6549"/>
          <ac:graphicFrameMkLst>
            <pc:docMk/>
            <pc:sldMk cId="69239066" sldId="328"/>
            <ac:graphicFrameMk id="12" creationId="{36B5C094-F949-42AC-801F-29F51B4960B9}"/>
          </ac:graphicFrameMkLst>
        </pc:graphicFrameChg>
      </pc:sldChg>
      <pc:sldChg chg="modSp">
        <pc:chgData name="KACHOUR Maher" userId="09775c39-7739-40bf-ba04-c8ef3ab24a94" providerId="ADAL" clId="{DF440A66-FCDE-45E4-8BAC-4BDFF974335F}" dt="2021-10-15T14:09:26.709" v="213" actId="20577"/>
        <pc:sldMkLst>
          <pc:docMk/>
          <pc:sldMk cId="3655098803" sldId="329"/>
        </pc:sldMkLst>
        <pc:spChg chg="mod">
          <ac:chgData name="KACHOUR Maher" userId="09775c39-7739-40bf-ba04-c8ef3ab24a94" providerId="ADAL" clId="{DF440A66-FCDE-45E4-8BAC-4BDFF974335F}" dt="2021-10-15T14:09:06.670" v="195" actId="20577"/>
          <ac:spMkLst>
            <pc:docMk/>
            <pc:sldMk cId="3655098803" sldId="329"/>
            <ac:spMk id="7" creationId="{55E00811-B112-4A74-944D-6D2FF20D1720}"/>
          </ac:spMkLst>
        </pc:spChg>
        <pc:spChg chg="mod">
          <ac:chgData name="KACHOUR Maher" userId="09775c39-7739-40bf-ba04-c8ef3ab24a94" providerId="ADAL" clId="{DF440A66-FCDE-45E4-8BAC-4BDFF974335F}" dt="2021-10-15T14:09:26.709" v="213" actId="20577"/>
          <ac:spMkLst>
            <pc:docMk/>
            <pc:sldMk cId="3655098803" sldId="329"/>
            <ac:spMk id="13" creationId="{606ED027-C258-4AA2-AB4D-9D49588A3CE5}"/>
          </ac:spMkLst>
        </pc:spChg>
      </pc:sldChg>
      <pc:sldChg chg="addSp delSp modSp mod">
        <pc:chgData name="KACHOUR Maher" userId="09775c39-7739-40bf-ba04-c8ef3ab24a94" providerId="ADAL" clId="{DF440A66-FCDE-45E4-8BAC-4BDFF974335F}" dt="2021-10-15T14:13:17.227" v="236" actId="1076"/>
        <pc:sldMkLst>
          <pc:docMk/>
          <pc:sldMk cId="3919538397" sldId="330"/>
        </pc:sldMkLst>
        <pc:spChg chg="add mod">
          <ac:chgData name="KACHOUR Maher" userId="09775c39-7739-40bf-ba04-c8ef3ab24a94" providerId="ADAL" clId="{DF440A66-FCDE-45E4-8BAC-4BDFF974335F}" dt="2021-10-15T14:12:52.824" v="223" actId="207"/>
          <ac:spMkLst>
            <pc:docMk/>
            <pc:sldMk cId="3919538397" sldId="330"/>
            <ac:spMk id="4" creationId="{A30775AC-47C4-4305-9BE7-CEEFF6D28E17}"/>
          </ac:spMkLst>
        </pc:spChg>
        <pc:spChg chg="add mod">
          <ac:chgData name="KACHOUR Maher" userId="09775c39-7739-40bf-ba04-c8ef3ab24a94" providerId="ADAL" clId="{DF440A66-FCDE-45E4-8BAC-4BDFF974335F}" dt="2021-10-15T14:13:17.227" v="236" actId="1076"/>
          <ac:spMkLst>
            <pc:docMk/>
            <pc:sldMk cId="3919538397" sldId="330"/>
            <ac:spMk id="12" creationId="{FEC16FAC-4CA2-487D-98C4-95C6E921D35B}"/>
          </ac:spMkLst>
        </pc:spChg>
        <pc:spChg chg="del">
          <ac:chgData name="KACHOUR Maher" userId="09775c39-7739-40bf-ba04-c8ef3ab24a94" providerId="ADAL" clId="{DF440A66-FCDE-45E4-8BAC-4BDFF974335F}" dt="2021-10-15T14:12:01.836" v="215" actId="478"/>
          <ac:spMkLst>
            <pc:docMk/>
            <pc:sldMk cId="3919538397" sldId="330"/>
            <ac:spMk id="15" creationId="{1ED4E3CC-3B9A-4F18-AA14-442FEAD0104F}"/>
          </ac:spMkLst>
        </pc:spChg>
        <pc:spChg chg="mod">
          <ac:chgData name="KACHOUR Maher" userId="09775c39-7739-40bf-ba04-c8ef3ab24a94" providerId="ADAL" clId="{DF440A66-FCDE-45E4-8BAC-4BDFF974335F}" dt="2021-10-15T14:13:03.967" v="234" actId="20577"/>
          <ac:spMkLst>
            <pc:docMk/>
            <pc:sldMk cId="3919538397" sldId="330"/>
            <ac:spMk id="16" creationId="{9D37E00B-689E-4493-93D9-A757205BD570}"/>
          </ac:spMkLst>
        </pc:spChg>
      </pc:sldChg>
      <pc:sldChg chg="addSp modSp mod">
        <pc:chgData name="KACHOUR Maher" userId="09775c39-7739-40bf-ba04-c8ef3ab24a94" providerId="ADAL" clId="{DF440A66-FCDE-45E4-8BAC-4BDFF974335F}" dt="2021-10-15T14:16:24.053" v="268" actId="20577"/>
        <pc:sldMkLst>
          <pc:docMk/>
          <pc:sldMk cId="2386313475" sldId="331"/>
        </pc:sldMkLst>
        <pc:spChg chg="mod">
          <ac:chgData name="KACHOUR Maher" userId="09775c39-7739-40bf-ba04-c8ef3ab24a94" providerId="ADAL" clId="{DF440A66-FCDE-45E4-8BAC-4BDFF974335F}" dt="2021-10-15T14:16:24.053" v="268" actId="20577"/>
          <ac:spMkLst>
            <pc:docMk/>
            <pc:sldMk cId="2386313475" sldId="331"/>
            <ac:spMk id="3" creationId="{3CD4BB95-B942-4CE7-BD65-7AA2BEAF0331}"/>
          </ac:spMkLst>
        </pc:spChg>
        <pc:spChg chg="add mod">
          <ac:chgData name="KACHOUR Maher" userId="09775c39-7739-40bf-ba04-c8ef3ab24a94" providerId="ADAL" clId="{DF440A66-FCDE-45E4-8BAC-4BDFF974335F}" dt="2021-10-15T14:15:49.851" v="245" actId="1076"/>
          <ac:spMkLst>
            <pc:docMk/>
            <pc:sldMk cId="2386313475" sldId="331"/>
            <ac:spMk id="6" creationId="{6EED7559-37AE-4EF6-933E-0CF86BD18D75}"/>
          </ac:spMkLst>
        </pc:spChg>
        <pc:spChg chg="mod">
          <ac:chgData name="KACHOUR Maher" userId="09775c39-7739-40bf-ba04-c8ef3ab24a94" providerId="ADAL" clId="{DF440A66-FCDE-45E4-8BAC-4BDFF974335F}" dt="2021-10-15T14:16:03.871" v="249" actId="14100"/>
          <ac:spMkLst>
            <pc:docMk/>
            <pc:sldMk cId="2386313475" sldId="331"/>
            <ac:spMk id="16" creationId="{9D37E00B-689E-4493-93D9-A757205BD570}"/>
          </ac:spMkLst>
        </pc:spChg>
      </pc:sldChg>
      <pc:sldChg chg="add">
        <pc:chgData name="KACHOUR Maher" userId="09775c39-7739-40bf-ba04-c8ef3ab24a94" providerId="ADAL" clId="{DF440A66-FCDE-45E4-8BAC-4BDFF974335F}" dt="2021-10-15T13:59:10.392" v="0" actId="2890"/>
        <pc:sldMkLst>
          <pc:docMk/>
          <pc:sldMk cId="1979517416" sldId="332"/>
        </pc:sldMkLst>
      </pc:sldChg>
      <pc:sldChg chg="addSp delSp modSp add del mod">
        <pc:chgData name="KACHOUR Maher" userId="09775c39-7739-40bf-ba04-c8ef3ab24a94" providerId="ADAL" clId="{DF440A66-FCDE-45E4-8BAC-4BDFF974335F}" dt="2021-10-15T14:05:25.780" v="167" actId="47"/>
        <pc:sldMkLst>
          <pc:docMk/>
          <pc:sldMk cId="3398847878" sldId="333"/>
        </pc:sldMkLst>
        <pc:spChg chg="add mod">
          <ac:chgData name="KACHOUR Maher" userId="09775c39-7739-40bf-ba04-c8ef3ab24a94" providerId="ADAL" clId="{DF440A66-FCDE-45E4-8BAC-4BDFF974335F}" dt="2021-10-15T14:03:44.161" v="155"/>
          <ac:spMkLst>
            <pc:docMk/>
            <pc:sldMk cId="3398847878" sldId="333"/>
            <ac:spMk id="3" creationId="{585531DB-74D5-4559-8887-C0F40EAB6733}"/>
          </ac:spMkLst>
        </pc:spChg>
        <pc:spChg chg="del">
          <ac:chgData name="KACHOUR Maher" userId="09775c39-7739-40bf-ba04-c8ef3ab24a94" providerId="ADAL" clId="{DF440A66-FCDE-45E4-8BAC-4BDFF974335F}" dt="2021-10-15T14:02:38.195" v="63" actId="478"/>
          <ac:spMkLst>
            <pc:docMk/>
            <pc:sldMk cId="3398847878" sldId="333"/>
            <ac:spMk id="14" creationId="{3A7E6A75-250B-4C25-B018-A8FDF7A65C25}"/>
          </ac:spMkLst>
        </pc:spChg>
        <pc:spChg chg="del">
          <ac:chgData name="KACHOUR Maher" userId="09775c39-7739-40bf-ba04-c8ef3ab24a94" providerId="ADAL" clId="{DF440A66-FCDE-45E4-8BAC-4BDFF974335F}" dt="2021-10-15T14:02:34.684" v="62" actId="478"/>
          <ac:spMkLst>
            <pc:docMk/>
            <pc:sldMk cId="3398847878" sldId="333"/>
            <ac:spMk id="15" creationId="{AAB15116-9340-4663-9C45-0E78287E95FB}"/>
          </ac:spMkLst>
        </pc:spChg>
        <pc:picChg chg="del">
          <ac:chgData name="KACHOUR Maher" userId="09775c39-7739-40bf-ba04-c8ef3ab24a94" providerId="ADAL" clId="{DF440A66-FCDE-45E4-8BAC-4BDFF974335F}" dt="2021-10-15T14:02:41.260" v="64" actId="478"/>
          <ac:picMkLst>
            <pc:docMk/>
            <pc:sldMk cId="3398847878" sldId="333"/>
            <ac:picMk id="7" creationId="{D3362E54-EBE9-4F34-A76B-712D97D2EC74}"/>
          </ac:picMkLst>
        </pc:picChg>
        <pc:picChg chg="del">
          <ac:chgData name="KACHOUR Maher" userId="09775c39-7739-40bf-ba04-c8ef3ab24a94" providerId="ADAL" clId="{DF440A66-FCDE-45E4-8BAC-4BDFF974335F}" dt="2021-10-15T14:02:45.107" v="66" actId="478"/>
          <ac:picMkLst>
            <pc:docMk/>
            <pc:sldMk cId="3398847878" sldId="333"/>
            <ac:picMk id="10" creationId="{8D8B1190-9908-4DE8-A5B3-DB9C6AFA5EB3}"/>
          </ac:picMkLst>
        </pc:picChg>
        <pc:picChg chg="del">
          <ac:chgData name="KACHOUR Maher" userId="09775c39-7739-40bf-ba04-c8ef3ab24a94" providerId="ADAL" clId="{DF440A66-FCDE-45E4-8BAC-4BDFF974335F}" dt="2021-10-15T14:02:43.179" v="65" actId="478"/>
          <ac:picMkLst>
            <pc:docMk/>
            <pc:sldMk cId="3398847878" sldId="333"/>
            <ac:picMk id="16" creationId="{2E35DD9F-70BF-4E7A-A234-061E9C8B0C30}"/>
          </ac:picMkLst>
        </pc:picChg>
        <pc:picChg chg="del">
          <ac:chgData name="KACHOUR Maher" userId="09775c39-7739-40bf-ba04-c8ef3ab24a94" providerId="ADAL" clId="{DF440A66-FCDE-45E4-8BAC-4BDFF974335F}" dt="2021-10-15T14:03:46.761" v="156" actId="478"/>
          <ac:picMkLst>
            <pc:docMk/>
            <pc:sldMk cId="3398847878" sldId="333"/>
            <ac:picMk id="18" creationId="{B83B9C7F-2478-4E3E-B898-D78806DA847E}"/>
          </ac:picMkLst>
        </pc:picChg>
      </pc:sldChg>
      <pc:sldChg chg="addSp delSp modSp add mod ord">
        <pc:chgData name="KACHOUR Maher" userId="09775c39-7739-40bf-ba04-c8ef3ab24a94" providerId="ADAL" clId="{DF440A66-FCDE-45E4-8BAC-4BDFF974335F}" dt="2021-10-15T14:05:28.203" v="169"/>
        <pc:sldMkLst>
          <pc:docMk/>
          <pc:sldMk cId="1758450279" sldId="334"/>
        </pc:sldMkLst>
        <pc:spChg chg="add mod">
          <ac:chgData name="KACHOUR Maher" userId="09775c39-7739-40bf-ba04-c8ef3ab24a94" providerId="ADAL" clId="{DF440A66-FCDE-45E4-8BAC-4BDFF974335F}" dt="2021-10-15T14:05:03.459" v="166"/>
          <ac:spMkLst>
            <pc:docMk/>
            <pc:sldMk cId="1758450279" sldId="334"/>
            <ac:spMk id="3" creationId="{B1DEB70F-8545-4524-9179-3D0CEEC6F3AC}"/>
          </ac:spMkLst>
        </pc:spChg>
        <pc:spChg chg="del">
          <ac:chgData name="KACHOUR Maher" userId="09775c39-7739-40bf-ba04-c8ef3ab24a94" providerId="ADAL" clId="{DF440A66-FCDE-45E4-8BAC-4BDFF974335F}" dt="2021-10-15T14:04:42.642" v="160" actId="478"/>
          <ac:spMkLst>
            <pc:docMk/>
            <pc:sldMk cId="1758450279" sldId="334"/>
            <ac:spMk id="14" creationId="{3A7E6A75-250B-4C25-B018-A8FDF7A65C25}"/>
          </ac:spMkLst>
        </pc:spChg>
        <pc:spChg chg="del">
          <ac:chgData name="KACHOUR Maher" userId="09775c39-7739-40bf-ba04-c8ef3ab24a94" providerId="ADAL" clId="{DF440A66-FCDE-45E4-8BAC-4BDFF974335F}" dt="2021-10-15T14:04:44.645" v="161" actId="478"/>
          <ac:spMkLst>
            <pc:docMk/>
            <pc:sldMk cId="1758450279" sldId="334"/>
            <ac:spMk id="15" creationId="{AAB15116-9340-4663-9C45-0E78287E95FB}"/>
          </ac:spMkLst>
        </pc:spChg>
        <pc:picChg chg="del">
          <ac:chgData name="KACHOUR Maher" userId="09775c39-7739-40bf-ba04-c8ef3ab24a94" providerId="ADAL" clId="{DF440A66-FCDE-45E4-8BAC-4BDFF974335F}" dt="2021-10-15T14:04:51.245" v="164" actId="478"/>
          <ac:picMkLst>
            <pc:docMk/>
            <pc:sldMk cId="1758450279" sldId="334"/>
            <ac:picMk id="7" creationId="{D3362E54-EBE9-4F34-A76B-712D97D2EC74}"/>
          </ac:picMkLst>
        </pc:picChg>
        <pc:picChg chg="del">
          <ac:chgData name="KACHOUR Maher" userId="09775c39-7739-40bf-ba04-c8ef3ab24a94" providerId="ADAL" clId="{DF440A66-FCDE-45E4-8BAC-4BDFF974335F}" dt="2021-10-15T14:04:46.559" v="162" actId="478"/>
          <ac:picMkLst>
            <pc:docMk/>
            <pc:sldMk cId="1758450279" sldId="334"/>
            <ac:picMk id="10" creationId="{8D8B1190-9908-4DE8-A5B3-DB9C6AFA5EB3}"/>
          </ac:picMkLst>
        </pc:picChg>
        <pc:picChg chg="del">
          <ac:chgData name="KACHOUR Maher" userId="09775c39-7739-40bf-ba04-c8ef3ab24a94" providerId="ADAL" clId="{DF440A66-FCDE-45E4-8BAC-4BDFF974335F}" dt="2021-10-15T14:04:48.871" v="163" actId="478"/>
          <ac:picMkLst>
            <pc:docMk/>
            <pc:sldMk cId="1758450279" sldId="334"/>
            <ac:picMk id="16" creationId="{2E35DD9F-70BF-4E7A-A234-061E9C8B0C30}"/>
          </ac:picMkLst>
        </pc:picChg>
        <pc:picChg chg="del">
          <ac:chgData name="KACHOUR Maher" userId="09775c39-7739-40bf-ba04-c8ef3ab24a94" providerId="ADAL" clId="{DF440A66-FCDE-45E4-8BAC-4BDFF974335F}" dt="2021-10-15T14:04:38.782" v="159" actId="478"/>
          <ac:picMkLst>
            <pc:docMk/>
            <pc:sldMk cId="1758450279" sldId="334"/>
            <ac:picMk id="18" creationId="{B83B9C7F-2478-4E3E-B898-D78806DA847E}"/>
          </ac:picMkLst>
        </pc:picChg>
      </pc:sldChg>
      <pc:sldChg chg="add">
        <pc:chgData name="KACHOUR Maher" userId="09775c39-7739-40bf-ba04-c8ef3ab24a94" providerId="ADAL" clId="{DF440A66-FCDE-45E4-8BAC-4BDFF974335F}" dt="2021-10-15T14:08:07.860" v="170" actId="2890"/>
        <pc:sldMkLst>
          <pc:docMk/>
          <pc:sldMk cId="1277184803" sldId="335"/>
        </pc:sldMkLst>
      </pc:sldChg>
      <pc:sldChg chg="add">
        <pc:chgData name="KACHOUR Maher" userId="09775c39-7739-40bf-ba04-c8ef3ab24a94" providerId="ADAL" clId="{DF440A66-FCDE-45E4-8BAC-4BDFF974335F}" dt="2021-10-15T14:08:43.339" v="178" actId="2890"/>
        <pc:sldMkLst>
          <pc:docMk/>
          <pc:sldMk cId="1442033383" sldId="336"/>
        </pc:sldMkLst>
      </pc:sldChg>
      <pc:sldChg chg="modSp add">
        <pc:chgData name="KACHOUR Maher" userId="09775c39-7739-40bf-ba04-c8ef3ab24a94" providerId="ADAL" clId="{DF440A66-FCDE-45E4-8BAC-4BDFF974335F}" dt="2021-10-15T14:14:50.023" v="238" actId="20577"/>
        <pc:sldMkLst>
          <pc:docMk/>
          <pc:sldMk cId="1852974709" sldId="337"/>
        </pc:sldMkLst>
        <pc:spChg chg="mod">
          <ac:chgData name="KACHOUR Maher" userId="09775c39-7739-40bf-ba04-c8ef3ab24a94" providerId="ADAL" clId="{DF440A66-FCDE-45E4-8BAC-4BDFF974335F}" dt="2021-10-15T14:14:50.023" v="238" actId="20577"/>
          <ac:spMkLst>
            <pc:docMk/>
            <pc:sldMk cId="1852974709" sldId="337"/>
            <ac:spMk id="16" creationId="{9D37E00B-689E-4493-93D9-A757205BD570}"/>
          </ac:spMkLst>
        </pc:spChg>
      </pc:sldChg>
      <pc:sldChg chg="add">
        <pc:chgData name="KACHOUR Maher" userId="09775c39-7739-40bf-ba04-c8ef3ab24a94" providerId="ADAL" clId="{DF440A66-FCDE-45E4-8BAC-4BDFF974335F}" dt="2021-10-15T14:15:24.645" v="241" actId="2890"/>
        <pc:sldMkLst>
          <pc:docMk/>
          <pc:sldMk cId="1449717705" sldId="338"/>
        </pc:sldMkLst>
      </pc:sldChg>
      <pc:sldChg chg="add del">
        <pc:chgData name="KACHOUR Maher" userId="09775c39-7739-40bf-ba04-c8ef3ab24a94" providerId="ADAL" clId="{DF440A66-FCDE-45E4-8BAC-4BDFF974335F}" dt="2021-10-15T14:15:21.293" v="240" actId="2890"/>
        <pc:sldMkLst>
          <pc:docMk/>
          <pc:sldMk cId="4131190932" sldId="33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8582E2-60D7-40E7-AECB-CED9E7320F8D}"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8.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p:cNvGrpSpPr/>
        <p:nvPr/>
      </p:nvGrpSpPr>
      <p:grpSpPr>
        <a:xfrm>
          <a:off x="0" y="0"/>
          <a:ext cx="0" cy="0"/>
          <a:chOff x="0" y="0"/>
          <a:chExt cx="0" cy="0"/>
        </a:xfrm>
      </p:grpSpPr>
      <p:pic>
        <p:nvPicPr>
          <p:cNvPr id="1438" name="Picture 414" descr="C:\Users\Tom\AppData\Local\Microsoft\Windows\Temporary Internet Files\Content.IE5\54P6HUVA\MPj04385580000[1].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Sous-titre 2"/>
          <p:cNvSpPr>
            <a:spLocks noGrp="1"/>
          </p:cNvSpPr>
          <p:nvPr>
            <p:ph type="subTitle" idx="1"/>
          </p:nvPr>
        </p:nvSpPr>
        <p:spPr/>
        <p:txBody>
          <a:bodyPr/>
          <a:lstStyle/>
          <a:p>
            <a:r>
              <a:rPr lang="fr-FR" dirty="0">
                <a:solidFill>
                  <a:schemeClr val="tx1"/>
                </a:solidFill>
                <a:latin typeface="Cambria" panose="02040503050406030204" pitchFamily="18" charset="0"/>
                <a:ea typeface="Cambria" panose="02040503050406030204" pitchFamily="18" charset="0"/>
              </a:rPr>
              <a:t>Session 10 </a:t>
            </a:r>
          </a:p>
          <a:p>
            <a:r>
              <a:rPr lang="fr-FR" dirty="0">
                <a:solidFill>
                  <a:schemeClr val="tx1"/>
                </a:solidFill>
                <a:latin typeface="Cambria" panose="02040503050406030204" pitchFamily="18" charset="0"/>
                <a:ea typeface="Cambria" panose="02040503050406030204" pitchFamily="18" charset="0"/>
              </a:rPr>
              <a:t>M. Kachour</a:t>
            </a:r>
          </a:p>
        </p:txBody>
      </p:sp>
      <p:sp>
        <p:nvSpPr>
          <p:cNvPr id="2" name="Titre 1"/>
          <p:cNvSpPr>
            <a:spLocks noGrp="1"/>
          </p:cNvSpPr>
          <p:nvPr>
            <p:ph type="ctrTitle"/>
          </p:nvPr>
        </p:nvSpPr>
        <p:spPr/>
        <p:txBody>
          <a:bodyPr/>
          <a:lstStyle/>
          <a:p>
            <a:r>
              <a:rPr lang="en-AU" dirty="0">
                <a:latin typeface="Cambria" panose="02040503050406030204" pitchFamily="18" charset="0"/>
                <a:ea typeface="Cambria" panose="02040503050406030204" pitchFamily="18" charset="0"/>
              </a:rPr>
              <a:t>Data Description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319FEE-4859-44AC-B8F4-C60BFFD5E60C}"/>
              </a:ext>
            </a:extLst>
          </p:cNvPr>
          <p:cNvSpPr>
            <a:spLocks noGrp="1"/>
          </p:cNvSpPr>
          <p:nvPr>
            <p:ph type="title"/>
          </p:nvPr>
        </p:nvSpPr>
        <p:spPr/>
        <p:txBody>
          <a:bodyPr>
            <a:normAutofit/>
          </a:bodyPr>
          <a:lstStyle/>
          <a:p>
            <a:r>
              <a:rPr lang="fr-FR" dirty="0">
                <a:latin typeface="Cambria" panose="02040503050406030204" pitchFamily="18" charset="0"/>
                <a:ea typeface="Cambria" panose="02040503050406030204" pitchFamily="18" charset="0"/>
              </a:rPr>
              <a:t>Descriptive </a:t>
            </a:r>
            <a:r>
              <a:rPr lang="fr-FR" dirty="0" err="1">
                <a:latin typeface="Cambria" panose="02040503050406030204" pitchFamily="18" charset="0"/>
                <a:ea typeface="Cambria" panose="02040503050406030204" pitchFamily="18" charset="0"/>
              </a:rPr>
              <a:t>statistics</a:t>
            </a:r>
            <a:r>
              <a:rPr lang="fr-FR" dirty="0">
                <a:latin typeface="Cambria" panose="02040503050406030204" pitchFamily="18" charset="0"/>
                <a:ea typeface="Cambria" panose="02040503050406030204" pitchFamily="18" charset="0"/>
              </a:rPr>
              <a:t> – </a:t>
            </a:r>
            <a:r>
              <a:rPr lang="fr-FR" dirty="0" err="1">
                <a:latin typeface="Cambria" panose="02040503050406030204" pitchFamily="18" charset="0"/>
                <a:ea typeface="Cambria" panose="02040503050406030204" pitchFamily="18" charset="0"/>
              </a:rPr>
              <a:t>Bivariate</a:t>
            </a:r>
            <a:r>
              <a:rPr lang="fr-FR" dirty="0">
                <a:latin typeface="Cambria" panose="02040503050406030204" pitchFamily="18" charset="0"/>
                <a:ea typeface="Cambria" panose="02040503050406030204" pitchFamily="18" charset="0"/>
              </a:rPr>
              <a:t> </a:t>
            </a:r>
            <a:endParaRPr lang="fr-FR" dirty="0"/>
          </a:p>
        </p:txBody>
      </p:sp>
      <p:sp>
        <p:nvSpPr>
          <p:cNvPr id="3" name="Espace réservé du contenu 2">
            <a:extLst>
              <a:ext uri="{FF2B5EF4-FFF2-40B4-BE49-F238E27FC236}">
                <a16:creationId xmlns:a16="http://schemas.microsoft.com/office/drawing/2014/main" id="{91C66DD1-318B-4FCB-89C4-573006772987}"/>
              </a:ext>
            </a:extLst>
          </p:cNvPr>
          <p:cNvSpPr>
            <a:spLocks noGrp="1"/>
          </p:cNvSpPr>
          <p:nvPr>
            <p:ph idx="1"/>
          </p:nvPr>
        </p:nvSpPr>
        <p:spPr>
          <a:xfrm>
            <a:off x="0" y="1166018"/>
            <a:ext cx="9144000" cy="5691982"/>
          </a:xfrm>
        </p:spPr>
        <p:txBody>
          <a:bodyPr>
            <a:normAutofit/>
          </a:bodyPr>
          <a:lstStyle/>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u="sng" dirty="0">
                <a:latin typeface="Cambria" panose="02040503050406030204" pitchFamily="18" charset="0"/>
                <a:ea typeface="Cambria" panose="02040503050406030204" pitchFamily="18" charset="0"/>
              </a:rPr>
              <a:t>Goals :</a:t>
            </a: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en-US" sz="2000" dirty="0">
                <a:latin typeface="Cambria" panose="02040503050406030204" pitchFamily="18" charset="0"/>
                <a:ea typeface="Cambria" panose="02040503050406030204" pitchFamily="18" charset="0"/>
              </a:rPr>
              <a:t>The aim is to characterize the </a:t>
            </a:r>
            <a:r>
              <a:rPr lang="en-US" sz="2000" dirty="0">
                <a:solidFill>
                  <a:srgbClr val="FF0000"/>
                </a:solidFill>
                <a:latin typeface="Cambria" panose="02040503050406030204" pitchFamily="18" charset="0"/>
                <a:ea typeface="Cambria" panose="02040503050406030204" pitchFamily="18" charset="0"/>
              </a:rPr>
              <a:t>link</a:t>
            </a:r>
            <a:r>
              <a:rPr lang="en-US" sz="2000" dirty="0">
                <a:latin typeface="Cambria" panose="02040503050406030204" pitchFamily="18" charset="0"/>
                <a:ea typeface="Cambria" panose="02040503050406030204" pitchFamily="18" charset="0"/>
              </a:rPr>
              <a:t> (if any) between the data of two variables studied simultaneously on individuals of the same population ( or part of the population).
</a:t>
            </a:r>
            <a:endParaRPr lang="fr-FR" sz="2000" dirty="0">
              <a:latin typeface="Cambria" panose="02040503050406030204" pitchFamily="18" charset="0"/>
              <a:ea typeface="Cambria" panose="02040503050406030204" pitchFamily="18" charset="0"/>
            </a:endParaRPr>
          </a:p>
          <a:p>
            <a:pPr marL="0" indent="0">
              <a:buNone/>
            </a:pPr>
            <a:r>
              <a:rPr lang="fr-FR" sz="2000" u="sng" dirty="0" err="1">
                <a:latin typeface="Cambria" panose="02040503050406030204" pitchFamily="18" charset="0"/>
                <a:ea typeface="Cambria" panose="02040503050406030204" pitchFamily="18" charset="0"/>
              </a:rPr>
              <a:t>Remark</a:t>
            </a:r>
            <a:r>
              <a:rPr lang="fr-FR" sz="2000" u="sng" dirty="0">
                <a:latin typeface="Cambria" panose="02040503050406030204" pitchFamily="18" charset="0"/>
                <a:ea typeface="Cambria" panose="02040503050406030204" pitchFamily="18" charset="0"/>
              </a:rPr>
              <a:t> : </a:t>
            </a: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en-US" sz="2000" dirty="0">
                <a:latin typeface="Cambria" panose="02040503050406030204" pitchFamily="18" charset="0"/>
                <a:ea typeface="Cambria" panose="02040503050406030204" pitchFamily="18" charset="0"/>
              </a:rPr>
              <a:t>The existence of the link between the data of two variables does not imply "</a:t>
            </a:r>
            <a:r>
              <a:rPr lang="en-US" sz="2000" b="1" dirty="0">
                <a:latin typeface="Cambria" panose="02040503050406030204" pitchFamily="18" charset="0"/>
                <a:ea typeface="Cambria" panose="02040503050406030204" pitchFamily="18" charset="0"/>
              </a:rPr>
              <a:t>causality</a:t>
            </a:r>
            <a:r>
              <a:rPr lang="en-US" sz="2000" dirty="0">
                <a:latin typeface="Cambria" panose="02040503050406030204" pitchFamily="18" charset="0"/>
                <a:ea typeface="Cambria" panose="02040503050406030204" pitchFamily="18" charset="0"/>
              </a:rPr>
              <a:t>" </a:t>
            </a:r>
            <a:r>
              <a:rPr lang="fr-FR" sz="2000" dirty="0">
                <a:latin typeface="Cambria" panose="02040503050406030204" pitchFamily="18" charset="0"/>
                <a:ea typeface="Cambria" panose="02040503050406030204" pitchFamily="18" charset="0"/>
                <a:sym typeface="Wingdings" panose="05000000000000000000" pitchFamily="2" charset="2"/>
              </a:rPr>
              <a:t> </a:t>
            </a:r>
            <a:r>
              <a:rPr lang="en-US" sz="2000" dirty="0">
                <a:latin typeface="Cambria" panose="02040503050406030204" pitchFamily="18" charset="0"/>
                <a:ea typeface="Cambria" panose="02040503050406030204" pitchFamily="18" charset="0"/>
                <a:cs typeface="Times New Roman" panose="02020603050405020304" pitchFamily="18" charset="0"/>
              </a:rPr>
              <a:t>a link that asserts that the data of one variable acts on the data of another</a:t>
            </a:r>
            <a:endParaRPr lang="fr-FR" sz="2000" dirty="0">
              <a:latin typeface="Cambria" panose="02040503050406030204" pitchFamily="18" charset="0"/>
              <a:ea typeface="Cambria" panose="02040503050406030204" pitchFamily="18" charset="0"/>
              <a:cs typeface="Times New Roman" panose="02020603050405020304" pitchFamily="18" charset="0"/>
            </a:endParaRPr>
          </a:p>
          <a:p>
            <a:pPr marL="0" indent="0">
              <a:buNone/>
            </a:pPr>
            <a:endParaRPr lang="fr-FR" sz="2000" dirty="0">
              <a:latin typeface="Cambria" panose="02040503050406030204" pitchFamily="18" charset="0"/>
              <a:ea typeface="Cambria" panose="02040503050406030204" pitchFamily="18" charset="0"/>
              <a:cs typeface="Times New Roman" panose="02020603050405020304" pitchFamily="18" charset="0"/>
            </a:endParaRPr>
          </a:p>
          <a:p>
            <a:pPr marL="0" indent="0">
              <a:buNone/>
            </a:pPr>
            <a:r>
              <a:rPr lang="fr-FR" sz="2000" dirty="0">
                <a:latin typeface="Cambria" panose="02040503050406030204" pitchFamily="18" charset="0"/>
                <a:ea typeface="Cambria" panose="02040503050406030204" pitchFamily="18" charset="0"/>
                <a:cs typeface="Times New Roman" panose="02020603050405020304" pitchFamily="18" charset="0"/>
              </a:rPr>
              <a:t>For </a:t>
            </a:r>
            <a:r>
              <a:rPr lang="fr-FR" sz="2000" dirty="0" err="1">
                <a:latin typeface="Cambria" panose="02040503050406030204" pitchFamily="18" charset="0"/>
                <a:ea typeface="Cambria" panose="02040503050406030204" pitchFamily="18" charset="0"/>
                <a:cs typeface="Times New Roman" panose="02020603050405020304" pitchFamily="18" charset="0"/>
              </a:rPr>
              <a:t>example</a:t>
            </a:r>
            <a:r>
              <a:rPr lang="fr-FR" sz="2000" dirty="0">
                <a:latin typeface="Cambria" panose="02040503050406030204" pitchFamily="18" charset="0"/>
                <a:ea typeface="Cambria" panose="02040503050406030204" pitchFamily="18" charset="0"/>
                <a:cs typeface="Times New Roman" panose="02020603050405020304" pitchFamily="18" charset="0"/>
              </a:rPr>
              <a:t> : </a:t>
            </a:r>
            <a:r>
              <a:rPr lang="en-US" sz="2000" dirty="0">
                <a:latin typeface="Cambria" panose="02040503050406030204" pitchFamily="18" charset="0"/>
                <a:ea typeface="Cambria" panose="02040503050406030204" pitchFamily="18" charset="0"/>
                <a:cs typeface="Times New Roman" panose="02020603050405020304" pitchFamily="18" charset="0"/>
              </a:rPr>
              <a:t>a study showed a link between the number of rabbits in Australia and the Dow Jones index. However, it seems difficult to say that there is causality.
</a:t>
            </a:r>
            <a:endParaRPr lang="fr-FR" sz="2000" dirty="0">
              <a:latin typeface="Cambria" panose="02040503050406030204" pitchFamily="18" charset="0"/>
              <a:ea typeface="Cambria" panose="02040503050406030204" pitchFamily="18" charset="0"/>
              <a:cs typeface="Times New Roman" panose="02020603050405020304" pitchFamily="18" charset="0"/>
            </a:endParaRPr>
          </a:p>
          <a:p>
            <a:pPr marL="0" indent="0">
              <a:buNone/>
            </a:pPr>
            <a:endParaRPr lang="fr-FR"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34755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AA30DE-86D7-44DB-BC6B-9390EB9D1EC4}"/>
              </a:ext>
            </a:extLst>
          </p:cNvPr>
          <p:cNvSpPr>
            <a:spLocks noGrp="1"/>
          </p:cNvSpPr>
          <p:nvPr>
            <p:ph type="title"/>
          </p:nvPr>
        </p:nvSpPr>
        <p:spPr/>
        <p:txBody>
          <a:bodyPr>
            <a:normAutofit/>
          </a:bodyPr>
          <a:lstStyle/>
          <a:p>
            <a:r>
              <a:rPr lang="en-US" sz="2800" dirty="0">
                <a:latin typeface="Cambria" panose="02040503050406030204" pitchFamily="18" charset="0"/>
                <a:ea typeface="Cambria" panose="02040503050406030204" pitchFamily="18" charset="0"/>
              </a:rPr>
              <a:t>The case of two </a:t>
            </a:r>
            <a:r>
              <a:rPr lang="en-US" sz="2800" dirty="0" err="1">
                <a:latin typeface="Cambria" panose="02040503050406030204" pitchFamily="18" charset="0"/>
                <a:ea typeface="Cambria" panose="02040503050406030204" pitchFamily="18" charset="0"/>
              </a:rPr>
              <a:t>quantitatives</a:t>
            </a:r>
            <a:r>
              <a:rPr lang="en-US" sz="2800" dirty="0">
                <a:latin typeface="Cambria" panose="02040503050406030204" pitchFamily="18" charset="0"/>
                <a:ea typeface="Cambria" panose="02040503050406030204" pitchFamily="18" charset="0"/>
              </a:rPr>
              <a:t> whose data are presented in the raw state</a:t>
            </a:r>
            <a:endParaRPr lang="fr-FR" sz="2800" dirty="0">
              <a:latin typeface="Cambria" panose="02040503050406030204" pitchFamily="18" charset="0"/>
              <a:ea typeface="Cambria" panose="02040503050406030204" pitchFamily="18" charset="0"/>
            </a:endParaRPr>
          </a:p>
        </p:txBody>
      </p:sp>
      <p:sp>
        <p:nvSpPr>
          <p:cNvPr id="6" name="Flèche : angle droit 5">
            <a:extLst>
              <a:ext uri="{FF2B5EF4-FFF2-40B4-BE49-F238E27FC236}">
                <a16:creationId xmlns:a16="http://schemas.microsoft.com/office/drawing/2014/main" id="{62AFA264-ED18-4C37-9A96-D296FD78042E}"/>
              </a:ext>
            </a:extLst>
          </p:cNvPr>
          <p:cNvSpPr/>
          <p:nvPr/>
        </p:nvSpPr>
        <p:spPr>
          <a:xfrm rot="5400000">
            <a:off x="1763688" y="4221088"/>
            <a:ext cx="720080" cy="72008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a:extLst>
              <a:ext uri="{FF2B5EF4-FFF2-40B4-BE49-F238E27FC236}">
                <a16:creationId xmlns:a16="http://schemas.microsoft.com/office/drawing/2014/main" id="{FBE59BE2-B992-45A1-94C0-C38556B65426}"/>
              </a:ext>
            </a:extLst>
          </p:cNvPr>
          <p:cNvPicPr>
            <a:picLocks noChangeAspect="1"/>
          </p:cNvPicPr>
          <p:nvPr/>
        </p:nvPicPr>
        <p:blipFill rotWithShape="1">
          <a:blip r:embed="rId2"/>
          <a:srcRect l="27163" t="44400" r="29896" b="33378"/>
          <a:stretch/>
        </p:blipFill>
        <p:spPr>
          <a:xfrm>
            <a:off x="436384" y="1591350"/>
            <a:ext cx="7549780" cy="2197690"/>
          </a:xfrm>
          <a:prstGeom prst="rect">
            <a:avLst/>
          </a:prstGeom>
        </p:spPr>
      </p:pic>
      <p:pic>
        <p:nvPicPr>
          <p:cNvPr id="11" name="Image 10">
            <a:extLst>
              <a:ext uri="{FF2B5EF4-FFF2-40B4-BE49-F238E27FC236}">
                <a16:creationId xmlns:a16="http://schemas.microsoft.com/office/drawing/2014/main" id="{20E8B551-D4FD-4DD8-A9E8-83CE82DA6D12}"/>
              </a:ext>
            </a:extLst>
          </p:cNvPr>
          <p:cNvPicPr>
            <a:picLocks noChangeAspect="1"/>
          </p:cNvPicPr>
          <p:nvPr/>
        </p:nvPicPr>
        <p:blipFill rotWithShape="1">
          <a:blip r:embed="rId3"/>
          <a:srcRect l="28476" t="35048" r="28737" b="45800"/>
          <a:stretch/>
        </p:blipFill>
        <p:spPr>
          <a:xfrm>
            <a:off x="2555775" y="3809419"/>
            <a:ext cx="6496959" cy="1635805"/>
          </a:xfrm>
          <a:prstGeom prst="rect">
            <a:avLst/>
          </a:prstGeom>
        </p:spPr>
      </p:pic>
    </p:spTree>
    <p:extLst>
      <p:ext uri="{BB962C8B-B14F-4D97-AF65-F5344CB8AC3E}">
        <p14:creationId xmlns:p14="http://schemas.microsoft.com/office/powerpoint/2010/main" val="2301801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AA2583-0470-4755-A799-EAC5E770AEDD}"/>
              </a:ext>
            </a:extLst>
          </p:cNvPr>
          <p:cNvSpPr>
            <a:spLocks noGrp="1"/>
          </p:cNvSpPr>
          <p:nvPr>
            <p:ph type="title"/>
          </p:nvPr>
        </p:nvSpPr>
        <p:spPr/>
        <p:txBody>
          <a:bodyPr/>
          <a:lstStyle/>
          <a:p>
            <a:r>
              <a:rPr lang="fr-FR" dirty="0">
                <a:latin typeface="Cambria" panose="02040503050406030204" pitchFamily="18" charset="0"/>
                <a:ea typeface="Cambria" panose="02040503050406030204" pitchFamily="18" charset="0"/>
              </a:rPr>
              <a:t>Example </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1234A3BA-56BF-4FF4-9012-F84973A1FA64}"/>
                  </a:ext>
                </a:extLst>
              </p:cNvPr>
              <p:cNvSpPr>
                <a:spLocks noGrp="1"/>
              </p:cNvSpPr>
              <p:nvPr>
                <p:ph idx="1"/>
              </p:nvPr>
            </p:nvSpPr>
            <p:spPr>
              <a:xfrm>
                <a:off x="107504" y="1166018"/>
                <a:ext cx="8928992" cy="4525963"/>
              </a:xfrm>
            </p:spPr>
            <p:txBody>
              <a:bodyPr>
                <a:normAutofit/>
              </a:bodyPr>
              <a:lstStyle/>
              <a:p>
                <a:pPr marL="0" indent="0">
                  <a:buNone/>
                </a:pPr>
                <a:r>
                  <a:rPr lang="en-US" sz="1800" dirty="0">
                    <a:latin typeface="Cambria" panose="02040503050406030204" pitchFamily="18" charset="0"/>
                    <a:ea typeface="Cambria" panose="02040503050406030204" pitchFamily="18" charset="0"/>
                  </a:rPr>
                  <a:t>Population: French households where men and women are active 
Number of households studied = 15
The variables studied simultaneously on each household:</a:t>
                </a:r>
              </a:p>
              <a:p>
                <a:pPr lvl="2">
                  <a:buFont typeface="Wingdings" panose="05000000000000000000" pitchFamily="2" charset="2"/>
                  <a:buChar char="q"/>
                </a:pPr>
                <a:r>
                  <a:rPr lang="fr-FR" sz="1800" dirty="0">
                    <a:latin typeface="Cambria" panose="02040503050406030204" pitchFamily="18" charset="0"/>
                    <a:ea typeface="Cambria" panose="02040503050406030204" pitchFamily="18" charset="0"/>
                  </a:rPr>
                  <a:t> </a:t>
                </a:r>
                <a:r>
                  <a:rPr lang="fr-FR" sz="1800" dirty="0" err="1">
                    <a:latin typeface="Cambria" panose="02040503050406030204" pitchFamily="18" charset="0"/>
                    <a:ea typeface="Cambria" panose="02040503050406030204" pitchFamily="18" charset="0"/>
                  </a:rPr>
                  <a:t>Women's</a:t>
                </a:r>
                <a:r>
                  <a:rPr lang="fr-FR" sz="1800" dirty="0">
                    <a:latin typeface="Cambria" panose="02040503050406030204" pitchFamily="18" charset="0"/>
                    <a:ea typeface="Cambria" panose="02040503050406030204" pitchFamily="18" charset="0"/>
                  </a:rPr>
                  <a:t> </a:t>
                </a:r>
                <a:r>
                  <a:rPr lang="fr-FR" sz="1800" dirty="0" err="1">
                    <a:latin typeface="Cambria" panose="02040503050406030204" pitchFamily="18" charset="0"/>
                    <a:ea typeface="Cambria" panose="02040503050406030204" pitchFamily="18" charset="0"/>
                  </a:rPr>
                  <a:t>salary</a:t>
                </a:r>
                <a:r>
                  <a:rPr lang="fr-FR" sz="1800" dirty="0">
                    <a:latin typeface="Cambria" panose="02040503050406030204" pitchFamily="18" charset="0"/>
                    <a:ea typeface="Cambria" panose="02040503050406030204" pitchFamily="18" charset="0"/>
                  </a:rPr>
                  <a:t> </a:t>
                </a:r>
                <a:r>
                  <a:rPr lang="fr-FR" sz="1800" dirty="0">
                    <a:latin typeface="Cambria" panose="02040503050406030204" pitchFamily="18" charset="0"/>
                    <a:ea typeface="Cambria" panose="02040503050406030204" pitchFamily="18" charset="0"/>
                    <a:sym typeface="Wingdings" panose="05000000000000000000" pitchFamily="2" charset="2"/>
                  </a:rPr>
                  <a:t> </a:t>
                </a:r>
                <a14:m>
                  <m:oMath xmlns:m="http://schemas.openxmlformats.org/officeDocument/2006/math">
                    <m:r>
                      <a:rPr lang="fr-FR" sz="1800" i="1">
                        <a:solidFill>
                          <a:srgbClr val="FF0000"/>
                        </a:solidFill>
                        <a:latin typeface="Cambria Math" panose="02040503050406030204" pitchFamily="18" charset="0"/>
                        <a:ea typeface="Cambria" panose="02040503050406030204" pitchFamily="18" charset="0"/>
                      </a:rPr>
                      <m:t>𝑥</m:t>
                    </m:r>
                  </m:oMath>
                </a14:m>
                <a:endParaRPr lang="fr-FR" sz="1800" dirty="0">
                  <a:latin typeface="Cambria" panose="02040503050406030204" pitchFamily="18" charset="0"/>
                  <a:ea typeface="Cambria" panose="02040503050406030204" pitchFamily="18" charset="0"/>
                </a:endParaRPr>
              </a:p>
              <a:p>
                <a:pPr lvl="2">
                  <a:buFont typeface="Wingdings" panose="05000000000000000000" pitchFamily="2" charset="2"/>
                  <a:buChar char="q"/>
                </a:pPr>
                <a:r>
                  <a:rPr lang="fr-FR" sz="1800" dirty="0">
                    <a:latin typeface="Cambria" panose="02040503050406030204" pitchFamily="18" charset="0"/>
                    <a:ea typeface="Cambria" panose="02040503050406030204" pitchFamily="18" charset="0"/>
                  </a:rPr>
                  <a:t>Man's </a:t>
                </a:r>
                <a:r>
                  <a:rPr lang="fr-FR" sz="1800" dirty="0" err="1">
                    <a:latin typeface="Cambria" panose="02040503050406030204" pitchFamily="18" charset="0"/>
                    <a:ea typeface="Cambria" panose="02040503050406030204" pitchFamily="18" charset="0"/>
                  </a:rPr>
                  <a:t>salary</a:t>
                </a:r>
                <a:r>
                  <a:rPr lang="fr-FR" sz="1800" dirty="0">
                    <a:latin typeface="Cambria" panose="02040503050406030204" pitchFamily="18" charset="0"/>
                    <a:ea typeface="Cambria" panose="02040503050406030204" pitchFamily="18" charset="0"/>
                  </a:rPr>
                  <a:t> </a:t>
                </a:r>
                <a:r>
                  <a:rPr lang="fr-FR" sz="1800" dirty="0">
                    <a:latin typeface="Cambria" panose="02040503050406030204" pitchFamily="18" charset="0"/>
                    <a:ea typeface="Cambria" panose="02040503050406030204" pitchFamily="18" charset="0"/>
                    <a:sym typeface="Wingdings" panose="05000000000000000000" pitchFamily="2" charset="2"/>
                  </a:rPr>
                  <a:t> </a:t>
                </a:r>
                <a14:m>
                  <m:oMath xmlns:m="http://schemas.openxmlformats.org/officeDocument/2006/math">
                    <m:r>
                      <a:rPr lang="fr-FR" sz="1800" b="0" i="1" smtClean="0">
                        <a:solidFill>
                          <a:srgbClr val="FF0000"/>
                        </a:solidFill>
                        <a:latin typeface="Cambria Math" panose="02040503050406030204" pitchFamily="18" charset="0"/>
                        <a:ea typeface="Cambria" panose="02040503050406030204" pitchFamily="18" charset="0"/>
                      </a:rPr>
                      <m:t>𝑦</m:t>
                    </m:r>
                  </m:oMath>
                </a14:m>
                <a:endParaRPr lang="fr-FR" sz="1800" dirty="0">
                  <a:latin typeface="Cambria" panose="02040503050406030204" pitchFamily="18" charset="0"/>
                  <a:ea typeface="Cambria" panose="02040503050406030204" pitchFamily="18" charset="0"/>
                </a:endParaRPr>
              </a:p>
              <a:p>
                <a:pPr marL="914400" lvl="2" indent="0">
                  <a:buNone/>
                </a:pPr>
                <a:endParaRPr lang="fr-FR" sz="1800" dirty="0">
                  <a:latin typeface="Cambria" panose="02040503050406030204" pitchFamily="18" charset="0"/>
                  <a:ea typeface="Cambria" panose="02040503050406030204" pitchFamily="18" charset="0"/>
                </a:endParaRPr>
              </a:p>
              <a:p>
                <a:pPr marL="0" indent="0">
                  <a:buNone/>
                </a:pPr>
                <a:r>
                  <a:rPr lang="fr-FR" sz="1800" dirty="0">
                    <a:latin typeface="Cambria" panose="02040503050406030204" pitchFamily="18" charset="0"/>
                    <a:ea typeface="Cambria" panose="02040503050406030204" pitchFamily="18" charset="0"/>
                  </a:rPr>
                  <a:t>Goal : </a:t>
                </a:r>
                <a:r>
                  <a:rPr lang="fr-FR" sz="1800" dirty="0" err="1">
                    <a:latin typeface="Cambria" panose="02040503050406030204" pitchFamily="18" charset="0"/>
                    <a:ea typeface="Cambria" panose="02040503050406030204" pitchFamily="18" charset="0"/>
                  </a:rPr>
                  <a:t>Evaluate</a:t>
                </a:r>
                <a:r>
                  <a:rPr lang="fr-FR" sz="1800" dirty="0">
                    <a:latin typeface="Cambria" panose="02040503050406030204" pitchFamily="18" charset="0"/>
                    <a:ea typeface="Cambria" panose="02040503050406030204" pitchFamily="18" charset="0"/>
                  </a:rPr>
                  <a:t> the possible </a:t>
                </a:r>
                <a:r>
                  <a:rPr lang="fr-FR" sz="1800" dirty="0" err="1">
                    <a:latin typeface="Cambria" panose="02040503050406030204" pitchFamily="18" charset="0"/>
                    <a:ea typeface="Cambria" panose="02040503050406030204" pitchFamily="18" charset="0"/>
                  </a:rPr>
                  <a:t>link</a:t>
                </a:r>
                <a:r>
                  <a:rPr lang="fr-FR" sz="1800" dirty="0">
                    <a:latin typeface="Cambria" panose="02040503050406030204" pitchFamily="18" charset="0"/>
                    <a:ea typeface="Cambria" panose="02040503050406030204" pitchFamily="18" charset="0"/>
                  </a:rPr>
                  <a:t> </a:t>
                </a:r>
                <a:r>
                  <a:rPr lang="fr-FR" sz="1800" dirty="0" err="1">
                    <a:latin typeface="Cambria" panose="02040503050406030204" pitchFamily="18" charset="0"/>
                    <a:ea typeface="Cambria" panose="02040503050406030204" pitchFamily="18" charset="0"/>
                  </a:rPr>
                  <a:t>between</a:t>
                </a:r>
                <a:r>
                  <a:rPr lang="fr-FR" sz="1800" dirty="0">
                    <a:latin typeface="Cambria" panose="02040503050406030204" pitchFamily="18" charset="0"/>
                    <a:ea typeface="Cambria" panose="02040503050406030204" pitchFamily="18" charset="0"/>
                  </a:rPr>
                  <a:t> </a:t>
                </a:r>
                <a14:m>
                  <m:oMath xmlns:m="http://schemas.openxmlformats.org/officeDocument/2006/math">
                    <m:r>
                      <a:rPr lang="fr-FR" sz="1800" b="0" i="1" smtClean="0">
                        <a:solidFill>
                          <a:srgbClr val="FF0000"/>
                        </a:solidFill>
                        <a:latin typeface="Cambria Math" panose="02040503050406030204" pitchFamily="18" charset="0"/>
                        <a:ea typeface="Cambria" panose="02040503050406030204" pitchFamily="18" charset="0"/>
                      </a:rPr>
                      <m:t>𝑥</m:t>
                    </m:r>
                  </m:oMath>
                </a14:m>
                <a:r>
                  <a:rPr lang="fr-FR" sz="1800" dirty="0">
                    <a:latin typeface="Cambria" panose="02040503050406030204" pitchFamily="18" charset="0"/>
                    <a:ea typeface="Cambria" panose="02040503050406030204" pitchFamily="18" charset="0"/>
                  </a:rPr>
                  <a:t> and </a:t>
                </a:r>
                <a14:m>
                  <m:oMath xmlns:m="http://schemas.openxmlformats.org/officeDocument/2006/math">
                    <m:r>
                      <a:rPr lang="fr-FR" sz="1800" i="1">
                        <a:solidFill>
                          <a:srgbClr val="FF0000"/>
                        </a:solidFill>
                        <a:latin typeface="Cambria Math" panose="02040503050406030204" pitchFamily="18" charset="0"/>
                        <a:ea typeface="Cambria" panose="02040503050406030204" pitchFamily="18" charset="0"/>
                      </a:rPr>
                      <m:t>𝑦</m:t>
                    </m:r>
                  </m:oMath>
                </a14:m>
                <a:endParaRPr lang="fr-FR" sz="18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1800" dirty="0">
                    <a:latin typeface="Cambria" panose="02040503050406030204" pitchFamily="18" charset="0"/>
                    <a:ea typeface="Cambria" panose="02040503050406030204" pitchFamily="18" charset="0"/>
                  </a:rPr>
                  <a:t>The data : </a:t>
                </a:r>
              </a:p>
            </p:txBody>
          </p:sp>
        </mc:Choice>
        <mc:Fallback xmlns="">
          <p:sp>
            <p:nvSpPr>
              <p:cNvPr id="3" name="Espace réservé du contenu 2">
                <a:extLst>
                  <a:ext uri="{FF2B5EF4-FFF2-40B4-BE49-F238E27FC236}">
                    <a16:creationId xmlns:a16="http://schemas.microsoft.com/office/drawing/2014/main" id="{1234A3BA-56BF-4FF4-9012-F84973A1FA64}"/>
                  </a:ext>
                </a:extLst>
              </p:cNvPr>
              <p:cNvSpPr>
                <a:spLocks noGrp="1" noRot="1" noChangeAspect="1" noMove="1" noResize="1" noEditPoints="1" noAdjustHandles="1" noChangeArrowheads="1" noChangeShapeType="1" noTextEdit="1"/>
              </p:cNvSpPr>
              <p:nvPr>
                <p:ph idx="1"/>
              </p:nvPr>
            </p:nvSpPr>
            <p:spPr>
              <a:xfrm>
                <a:off x="107504" y="1166018"/>
                <a:ext cx="8928992" cy="4525963"/>
              </a:xfrm>
              <a:blipFill>
                <a:blip r:embed="rId2"/>
                <a:stretch>
                  <a:fillRect l="-615" t="-808"/>
                </a:stretch>
              </a:blipFill>
            </p:spPr>
            <p:txBody>
              <a:bodyPr/>
              <a:lstStyle/>
              <a:p>
                <a:r>
                  <a:rPr lang="fr-FR">
                    <a:noFill/>
                  </a:rPr>
                  <a:t> </a:t>
                </a:r>
              </a:p>
            </p:txBody>
          </p:sp>
        </mc:Fallback>
      </mc:AlternateContent>
      <p:pic>
        <p:nvPicPr>
          <p:cNvPr id="5" name="Image 4">
            <a:extLst>
              <a:ext uri="{FF2B5EF4-FFF2-40B4-BE49-F238E27FC236}">
                <a16:creationId xmlns:a16="http://schemas.microsoft.com/office/drawing/2014/main" id="{FCF1F942-3350-44C4-B077-5D18F31A92D3}"/>
              </a:ext>
            </a:extLst>
          </p:cNvPr>
          <p:cNvPicPr>
            <a:picLocks noChangeAspect="1"/>
          </p:cNvPicPr>
          <p:nvPr/>
        </p:nvPicPr>
        <p:blipFill>
          <a:blip r:embed="rId3"/>
          <a:stretch>
            <a:fillRect/>
          </a:stretch>
        </p:blipFill>
        <p:spPr>
          <a:xfrm>
            <a:off x="1438775" y="3501008"/>
            <a:ext cx="6085554" cy="3240360"/>
          </a:xfrm>
          <a:prstGeom prst="rect">
            <a:avLst/>
          </a:prstGeom>
        </p:spPr>
      </p:pic>
      <p:sp>
        <p:nvSpPr>
          <p:cNvPr id="6" name="Bulle narrative : ronde 5">
            <a:extLst>
              <a:ext uri="{FF2B5EF4-FFF2-40B4-BE49-F238E27FC236}">
                <a16:creationId xmlns:a16="http://schemas.microsoft.com/office/drawing/2014/main" id="{4F82CFDF-DDF3-48D7-813B-A0A3283D39BE}"/>
              </a:ext>
            </a:extLst>
          </p:cNvPr>
          <p:cNvSpPr/>
          <p:nvPr/>
        </p:nvSpPr>
        <p:spPr>
          <a:xfrm>
            <a:off x="7236296" y="1417638"/>
            <a:ext cx="1728192" cy="1296144"/>
          </a:xfrm>
          <a:prstGeom prst="wedgeEllipseCallout">
            <a:avLst>
              <a:gd name="adj1" fmla="val -139882"/>
              <a:gd name="adj2" fmla="val 122024"/>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978714C5-EF7C-4075-AC77-1E633D61175B}"/>
                  </a:ext>
                </a:extLst>
              </p:cNvPr>
              <p:cNvSpPr txBox="1"/>
              <p:nvPr/>
            </p:nvSpPr>
            <p:spPr>
              <a:xfrm>
                <a:off x="7462664" y="1859159"/>
                <a:ext cx="1224136" cy="6001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fr-FR" sz="1100" i="1" smtClean="0">
                              <a:latin typeface="Cambria Math" panose="02040503050406030204" pitchFamily="18" charset="0"/>
                            </a:rPr>
                          </m:ctrlPr>
                        </m:accPr>
                        <m:e>
                          <m:r>
                            <a:rPr lang="fr-FR" sz="1100" b="0" i="1" smtClean="0">
                              <a:latin typeface="Cambria Math" panose="02040503050406030204" pitchFamily="18" charset="0"/>
                            </a:rPr>
                            <m:t>𝑥</m:t>
                          </m:r>
                        </m:e>
                      </m:acc>
                      <m:r>
                        <a:rPr lang="fr-FR" sz="1100" b="0" i="1" smtClean="0">
                          <a:latin typeface="Cambria Math" panose="02040503050406030204" pitchFamily="18" charset="0"/>
                        </a:rPr>
                        <m:t>=1631.993</m:t>
                      </m:r>
                    </m:oMath>
                  </m:oMathPara>
                </a14:m>
                <a:endParaRPr lang="fr-FR" sz="1100" b="0" i="1" dirty="0">
                  <a:latin typeface="Cambria Math" panose="02040503050406030204" pitchFamily="18" charset="0"/>
                </a:endParaRPr>
              </a:p>
              <a:p>
                <a:r>
                  <a:rPr lang="fr-FR" sz="1100" b="0" dirty="0"/>
                  <a:t>       &amp;</a:t>
                </a:r>
                <a14:m>
                  <m:oMath xmlns:m="http://schemas.openxmlformats.org/officeDocument/2006/math">
                    <m:r>
                      <a:rPr lang="fr-FR" sz="1100" b="0" i="1" smtClean="0">
                        <a:latin typeface="Cambria Math" panose="02040503050406030204" pitchFamily="18" charset="0"/>
                      </a:rPr>
                      <m:t> </m:t>
                    </m:r>
                  </m:oMath>
                </a14:m>
                <a:endParaRPr lang="fr-FR" sz="1100" dirty="0"/>
              </a:p>
              <a:p>
                <a14:m>
                  <m:oMath xmlns:m="http://schemas.openxmlformats.org/officeDocument/2006/math">
                    <m:r>
                      <a:rPr lang="fr-FR" sz="1100" b="0" i="1" smtClean="0">
                        <a:latin typeface="Cambria Math" panose="02040503050406030204" pitchFamily="18" charset="0"/>
                      </a:rPr>
                      <m:t>    </m:t>
                    </m:r>
                    <m:acc>
                      <m:accPr>
                        <m:chr m:val="̅"/>
                        <m:ctrlPr>
                          <a:rPr lang="fr-FR" sz="1100" i="1" smtClean="0">
                            <a:latin typeface="Cambria Math" panose="02040503050406030204" pitchFamily="18" charset="0"/>
                          </a:rPr>
                        </m:ctrlPr>
                      </m:accPr>
                      <m:e>
                        <m:r>
                          <a:rPr lang="fr-FR" sz="1100" b="0" i="1" smtClean="0">
                            <a:latin typeface="Cambria Math" panose="02040503050406030204" pitchFamily="18" charset="0"/>
                          </a:rPr>
                          <m:t>𝑦</m:t>
                        </m:r>
                      </m:e>
                    </m:acc>
                    <m:r>
                      <a:rPr lang="fr-FR" sz="1100" b="0" i="1" smtClean="0">
                        <a:latin typeface="Cambria Math" panose="02040503050406030204" pitchFamily="18" charset="0"/>
                      </a:rPr>
                      <m:t>=1670</m:t>
                    </m:r>
                  </m:oMath>
                </a14:m>
                <a:r>
                  <a:rPr lang="fr-FR" sz="1100" dirty="0"/>
                  <a:t> </a:t>
                </a:r>
              </a:p>
            </p:txBody>
          </p:sp>
        </mc:Choice>
        <mc:Fallback xmlns="">
          <p:sp>
            <p:nvSpPr>
              <p:cNvPr id="7" name="ZoneTexte 6">
                <a:extLst>
                  <a:ext uri="{FF2B5EF4-FFF2-40B4-BE49-F238E27FC236}">
                    <a16:creationId xmlns:a16="http://schemas.microsoft.com/office/drawing/2014/main" id="{978714C5-EF7C-4075-AC77-1E633D61175B}"/>
                  </a:ext>
                </a:extLst>
              </p:cNvPr>
              <p:cNvSpPr txBox="1">
                <a:spLocks noRot="1" noChangeAspect="1" noMove="1" noResize="1" noEditPoints="1" noAdjustHandles="1" noChangeArrowheads="1" noChangeShapeType="1" noTextEdit="1"/>
              </p:cNvSpPr>
              <p:nvPr/>
            </p:nvSpPr>
            <p:spPr>
              <a:xfrm>
                <a:off x="7462664" y="1859159"/>
                <a:ext cx="1224136" cy="600164"/>
              </a:xfrm>
              <a:prstGeom prst="rect">
                <a:avLst/>
              </a:prstGeom>
              <a:blipFill>
                <a:blip r:embed="rId4"/>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2000542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35BE68-D8AD-4963-87CD-96F1ED91A302}"/>
              </a:ext>
            </a:extLst>
          </p:cNvPr>
          <p:cNvSpPr>
            <a:spLocks noGrp="1"/>
          </p:cNvSpPr>
          <p:nvPr>
            <p:ph type="title"/>
          </p:nvPr>
        </p:nvSpPr>
        <p:spPr/>
        <p:txBody>
          <a:bodyPr>
            <a:normAutofit/>
          </a:bodyPr>
          <a:lstStyle/>
          <a:p>
            <a:r>
              <a:rPr lang="fr-FR" sz="3200" dirty="0" err="1">
                <a:latin typeface="Cambria" panose="02040503050406030204" pitchFamily="18" charset="0"/>
                <a:ea typeface="Cambria" panose="02040503050406030204" pitchFamily="18" charset="0"/>
              </a:rPr>
              <a:t>Graphical</a:t>
            </a:r>
            <a:r>
              <a:rPr lang="fr-FR" sz="3200" dirty="0">
                <a:latin typeface="Cambria" panose="02040503050406030204" pitchFamily="18" charset="0"/>
                <a:ea typeface="Cambria" panose="02040503050406030204" pitchFamily="18" charset="0"/>
              </a:rPr>
              <a:t> </a:t>
            </a:r>
            <a:r>
              <a:rPr lang="fr-FR" sz="3200" dirty="0" err="1">
                <a:latin typeface="Cambria" panose="02040503050406030204" pitchFamily="18" charset="0"/>
                <a:ea typeface="Cambria" panose="02040503050406030204" pitchFamily="18" charset="0"/>
              </a:rPr>
              <a:t>Representation</a:t>
            </a:r>
            <a:r>
              <a:rPr lang="fr-FR" sz="3200" dirty="0">
                <a:latin typeface="Cambria" panose="02040503050406030204" pitchFamily="18" charset="0"/>
                <a:ea typeface="Cambria" panose="02040503050406030204" pitchFamily="18" charset="0"/>
              </a:rPr>
              <a:t> – </a:t>
            </a:r>
            <a:r>
              <a:rPr lang="fr-FR" sz="3200" dirty="0" err="1">
                <a:latin typeface="Cambria" panose="02040503050406030204" pitchFamily="18" charset="0"/>
                <a:ea typeface="Cambria" panose="02040503050406030204" pitchFamily="18" charset="0"/>
              </a:rPr>
              <a:t>Scatter</a:t>
            </a:r>
            <a:r>
              <a:rPr lang="fr-FR" sz="3200" dirty="0">
                <a:latin typeface="Cambria" panose="02040503050406030204" pitchFamily="18" charset="0"/>
                <a:ea typeface="Cambria" panose="02040503050406030204" pitchFamily="18" charset="0"/>
              </a:rPr>
              <a:t> plot</a:t>
            </a:r>
          </a:p>
        </p:txBody>
      </p:sp>
      <p:pic>
        <p:nvPicPr>
          <p:cNvPr id="5" name="Espace réservé du contenu 4">
            <a:extLst>
              <a:ext uri="{FF2B5EF4-FFF2-40B4-BE49-F238E27FC236}">
                <a16:creationId xmlns:a16="http://schemas.microsoft.com/office/drawing/2014/main" id="{DDD3002A-53E9-40F8-984F-EA865C0F64D7}"/>
              </a:ext>
            </a:extLst>
          </p:cNvPr>
          <p:cNvPicPr>
            <a:picLocks noGrp="1" noChangeAspect="1"/>
          </p:cNvPicPr>
          <p:nvPr>
            <p:ph idx="1"/>
          </p:nvPr>
        </p:nvPicPr>
        <p:blipFill>
          <a:blip r:embed="rId2"/>
          <a:stretch>
            <a:fillRect/>
          </a:stretch>
        </p:blipFill>
        <p:spPr>
          <a:xfrm>
            <a:off x="353618" y="1484784"/>
            <a:ext cx="8436763" cy="5373216"/>
          </a:xfrm>
        </p:spPr>
      </p:pic>
    </p:spTree>
    <p:extLst>
      <p:ext uri="{BB962C8B-B14F-4D97-AF65-F5344CB8AC3E}">
        <p14:creationId xmlns:p14="http://schemas.microsoft.com/office/powerpoint/2010/main" val="1562189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BBF0C3-FFF3-4931-9566-A3866775DD75}"/>
              </a:ext>
            </a:extLst>
          </p:cNvPr>
          <p:cNvSpPr>
            <a:spLocks noGrp="1"/>
          </p:cNvSpPr>
          <p:nvPr>
            <p:ph type="title"/>
          </p:nvPr>
        </p:nvSpPr>
        <p:spPr/>
        <p:txBody>
          <a:bodyPr>
            <a:normAutofit/>
          </a:bodyPr>
          <a:lstStyle/>
          <a:p>
            <a:r>
              <a:rPr lang="fr-FR" dirty="0">
                <a:latin typeface="Cambria" panose="02040503050406030204" pitchFamily="18" charset="0"/>
                <a:ea typeface="Cambria" panose="02040503050406030204" pitchFamily="18" charset="0"/>
              </a:rPr>
              <a:t>Calculation of the covariance  </a:t>
            </a:r>
          </a:p>
        </p:txBody>
      </p:sp>
      <p:sp>
        <p:nvSpPr>
          <p:cNvPr id="3" name="Espace réservé du contenu 2">
            <a:extLst>
              <a:ext uri="{FF2B5EF4-FFF2-40B4-BE49-F238E27FC236}">
                <a16:creationId xmlns:a16="http://schemas.microsoft.com/office/drawing/2014/main" id="{70793508-9C6C-4E54-9C63-5028A211F2E2}"/>
              </a:ext>
            </a:extLst>
          </p:cNvPr>
          <p:cNvSpPr>
            <a:spLocks noGrp="1"/>
          </p:cNvSpPr>
          <p:nvPr>
            <p:ph idx="1"/>
          </p:nvPr>
        </p:nvSpPr>
        <p:spPr>
          <a:xfrm>
            <a:off x="0" y="1166018"/>
            <a:ext cx="9144000" cy="4525963"/>
          </a:xfrm>
        </p:spPr>
        <p:txBody>
          <a:bodyPr>
            <a:normAutofit/>
          </a:bodyPr>
          <a:lstStyle/>
          <a:p>
            <a:pPr marL="0" indent="0">
              <a:buNone/>
            </a:pPr>
            <a:r>
              <a:rPr lang="en-US" sz="2400" dirty="0">
                <a:latin typeface="Cambria" panose="02040503050406030204" pitchFamily="18" charset="0"/>
                <a:ea typeface="Cambria" panose="02040503050406030204" pitchFamily="18" charset="0"/>
              </a:rPr>
              <a:t>Covariance (the variance in common) is an indicator of the direction of variation of the two variables studied. </a:t>
            </a:r>
            <a:r>
              <a:rPr lang="fr-FR" sz="2400" dirty="0">
                <a:latin typeface="Cambria" panose="02040503050406030204" pitchFamily="18" charset="0"/>
                <a:ea typeface="Cambria" panose="02040503050406030204" pitchFamily="18" charset="0"/>
              </a:rPr>
              <a:t>
Covariance </a:t>
            </a:r>
            <a:r>
              <a:rPr lang="fr-FR" sz="2400" dirty="0" err="1">
                <a:latin typeface="Cambria" panose="02040503050406030204" pitchFamily="18" charset="0"/>
                <a:ea typeface="Cambria" panose="02040503050406030204" pitchFamily="18" charset="0"/>
              </a:rPr>
              <a:t>is</a:t>
            </a:r>
            <a:r>
              <a:rPr lang="fr-FR" sz="2400" dirty="0">
                <a:latin typeface="Cambria" panose="02040503050406030204" pitchFamily="18" charset="0"/>
                <a:ea typeface="Cambria" panose="02040503050406030204" pitchFamily="18" charset="0"/>
              </a:rPr>
              <a:t> </a:t>
            </a:r>
            <a:r>
              <a:rPr lang="fr-FR" sz="2400" dirty="0" err="1">
                <a:latin typeface="Cambria" panose="02040503050406030204" pitchFamily="18" charset="0"/>
                <a:ea typeface="Cambria" panose="02040503050406030204" pitchFamily="18" charset="0"/>
              </a:rPr>
              <a:t>noted</a:t>
            </a: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r>
              <a:rPr lang="fr-FR" sz="2400" dirty="0">
                <a:latin typeface="Cambria" panose="02040503050406030204" pitchFamily="18" charset="0"/>
                <a:ea typeface="Cambria" panose="02040503050406030204" pitchFamily="18" charset="0"/>
              </a:rPr>
              <a:t>Formula for </a:t>
            </a:r>
            <a:r>
              <a:rPr lang="fr-FR" sz="2400" dirty="0" err="1">
                <a:latin typeface="Cambria" panose="02040503050406030204" pitchFamily="18" charset="0"/>
                <a:ea typeface="Cambria" panose="02040503050406030204" pitchFamily="18" charset="0"/>
              </a:rPr>
              <a:t>calculating</a:t>
            </a:r>
            <a:r>
              <a:rPr lang="fr-FR" sz="2400" dirty="0">
                <a:latin typeface="Cambria" panose="02040503050406030204" pitchFamily="18" charset="0"/>
                <a:ea typeface="Cambria" panose="02040503050406030204" pitchFamily="18" charset="0"/>
              </a:rPr>
              <a:t> covariance:
</a:t>
            </a: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r>
              <a:rPr lang="fr-FR" sz="2400" dirty="0">
                <a:latin typeface="Cambria" panose="02040503050406030204" pitchFamily="18" charset="0"/>
                <a:ea typeface="Cambria" panose="02040503050406030204" pitchFamily="18" charset="0"/>
              </a:rPr>
              <a:t> </a:t>
            </a:r>
          </a:p>
        </p:txBody>
      </p:sp>
      <p:pic>
        <p:nvPicPr>
          <p:cNvPr id="5" name="Image 4">
            <a:extLst>
              <a:ext uri="{FF2B5EF4-FFF2-40B4-BE49-F238E27FC236}">
                <a16:creationId xmlns:a16="http://schemas.microsoft.com/office/drawing/2014/main" id="{3EF419A1-CF5E-43A4-9AA6-ED94095177A6}"/>
              </a:ext>
            </a:extLst>
          </p:cNvPr>
          <p:cNvPicPr>
            <a:picLocks noChangeAspect="1"/>
          </p:cNvPicPr>
          <p:nvPr/>
        </p:nvPicPr>
        <p:blipFill>
          <a:blip r:embed="rId2"/>
          <a:stretch>
            <a:fillRect/>
          </a:stretch>
        </p:blipFill>
        <p:spPr>
          <a:xfrm>
            <a:off x="3223572" y="2420888"/>
            <a:ext cx="1780476" cy="384516"/>
          </a:xfrm>
          <a:prstGeom prst="rect">
            <a:avLst/>
          </a:prstGeom>
        </p:spPr>
      </p:pic>
      <p:pic>
        <p:nvPicPr>
          <p:cNvPr id="7" name="Image 6">
            <a:extLst>
              <a:ext uri="{FF2B5EF4-FFF2-40B4-BE49-F238E27FC236}">
                <a16:creationId xmlns:a16="http://schemas.microsoft.com/office/drawing/2014/main" id="{8A69D269-3C71-4597-8061-7FCC93F7BDC6}"/>
              </a:ext>
            </a:extLst>
          </p:cNvPr>
          <p:cNvPicPr>
            <a:picLocks noChangeAspect="1"/>
          </p:cNvPicPr>
          <p:nvPr/>
        </p:nvPicPr>
        <p:blipFill>
          <a:blip r:embed="rId3"/>
          <a:stretch>
            <a:fillRect/>
          </a:stretch>
        </p:blipFill>
        <p:spPr>
          <a:xfrm>
            <a:off x="1284634" y="3428999"/>
            <a:ext cx="6051906" cy="893339"/>
          </a:xfrm>
          <a:prstGeom prst="rect">
            <a:avLst/>
          </a:prstGeom>
        </p:spPr>
      </p:pic>
      <p:pic>
        <p:nvPicPr>
          <p:cNvPr id="6" name="Image 5">
            <a:extLst>
              <a:ext uri="{FF2B5EF4-FFF2-40B4-BE49-F238E27FC236}">
                <a16:creationId xmlns:a16="http://schemas.microsoft.com/office/drawing/2014/main" id="{C85A6030-97B3-4262-AED9-2CCBC083715E}"/>
              </a:ext>
            </a:extLst>
          </p:cNvPr>
          <p:cNvPicPr>
            <a:picLocks noChangeAspect="1"/>
          </p:cNvPicPr>
          <p:nvPr/>
        </p:nvPicPr>
        <p:blipFill rotWithShape="1">
          <a:blip r:embed="rId4"/>
          <a:srcRect l="24800" t="50000" r="29525" b="24103"/>
          <a:stretch/>
        </p:blipFill>
        <p:spPr>
          <a:xfrm>
            <a:off x="1259632" y="4293096"/>
            <a:ext cx="6408712" cy="2043922"/>
          </a:xfrm>
          <a:prstGeom prst="rect">
            <a:avLst/>
          </a:prstGeom>
        </p:spPr>
      </p:pic>
    </p:spTree>
    <p:extLst>
      <p:ext uri="{BB962C8B-B14F-4D97-AF65-F5344CB8AC3E}">
        <p14:creationId xmlns:p14="http://schemas.microsoft.com/office/powerpoint/2010/main" val="642448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73FE50-2DA4-48C1-BB9C-B93DCAECFDC0}"/>
              </a:ext>
            </a:extLst>
          </p:cNvPr>
          <p:cNvSpPr>
            <a:spLocks noGrp="1"/>
          </p:cNvSpPr>
          <p:nvPr>
            <p:ph type="title"/>
          </p:nvPr>
        </p:nvSpPr>
        <p:spPr/>
        <p:txBody>
          <a:bodyPr>
            <a:normAutofit fontScale="90000"/>
          </a:bodyPr>
          <a:lstStyle/>
          <a:p>
            <a:r>
              <a:rPr lang="fr-FR" dirty="0" err="1">
                <a:latin typeface="Cambria" panose="02040503050406030204" pitchFamily="18" charset="0"/>
                <a:ea typeface="Cambria" panose="02040503050406030204" pitchFamily="18" charset="0"/>
              </a:rPr>
              <a:t>Interpretation</a:t>
            </a:r>
            <a:r>
              <a:rPr lang="fr-FR" dirty="0">
                <a:latin typeface="Cambria" panose="02040503050406030204" pitchFamily="18" charset="0"/>
                <a:ea typeface="Cambria" panose="02040503050406030204" pitchFamily="18" charset="0"/>
              </a:rPr>
              <a:t> of covariance 
</a:t>
            </a:r>
            <a:endParaRPr lang="fr-FR" dirty="0"/>
          </a:p>
        </p:txBody>
      </p:sp>
      <p:sp>
        <p:nvSpPr>
          <p:cNvPr id="3" name="Espace réservé du contenu 2">
            <a:extLst>
              <a:ext uri="{FF2B5EF4-FFF2-40B4-BE49-F238E27FC236}">
                <a16:creationId xmlns:a16="http://schemas.microsoft.com/office/drawing/2014/main" id="{DD8871DB-1082-49FC-8CC6-DA796624F597}"/>
              </a:ext>
            </a:extLst>
          </p:cNvPr>
          <p:cNvSpPr>
            <a:spLocks noGrp="1"/>
          </p:cNvSpPr>
          <p:nvPr>
            <p:ph idx="1"/>
          </p:nvPr>
        </p:nvSpPr>
        <p:spPr/>
        <p:txBody>
          <a:bodyPr>
            <a:normAutofit/>
          </a:bodyPr>
          <a:lstStyle/>
          <a:p>
            <a:pPr>
              <a:buFont typeface="Wingdings" panose="05000000000000000000" pitchFamily="2" charset="2"/>
              <a:buChar char="q"/>
            </a:pPr>
            <a:r>
              <a:rPr lang="en-US" sz="2000" dirty="0">
                <a:latin typeface="Cambria" panose="02040503050406030204" pitchFamily="18" charset="0"/>
                <a:ea typeface="Cambria" panose="02040503050406030204" pitchFamily="18" charset="0"/>
              </a:rPr>
              <a:t>If the covariance is strictly positive, then it can be deduced that the data of both variables vary in the same direction (in other words, if the data of one variable increase (resp. decrease) then the data of the other will have a tendency to increase (resp. decrease) too)</a:t>
            </a:r>
          </a:p>
          <a:p>
            <a:pPr marL="0" indent="0">
              <a:buNone/>
            </a:pPr>
            <a:endParaRPr lang="fr-FR" sz="20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2000" dirty="0">
                <a:latin typeface="Cambria" panose="02040503050406030204" pitchFamily="18" charset="0"/>
                <a:ea typeface="Cambria" panose="02040503050406030204" pitchFamily="18" charset="0"/>
              </a:rPr>
              <a:t>If the covariance is strictly negative, then it can be deduced that the data of the two variables vary in an opposite direction (in other words, if the data of one variable increase (resp. decrease) then the data of the other will have a tendency to decrease (resp. increase))</a:t>
            </a:r>
          </a:p>
          <a:p>
            <a:pPr marL="0" indent="0">
              <a:buNone/>
            </a:pPr>
            <a:endParaRPr lang="fr-FR" sz="20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2000" dirty="0">
                <a:latin typeface="Cambria" panose="02040503050406030204" pitchFamily="18" charset="0"/>
                <a:ea typeface="Cambria" panose="02040503050406030204" pitchFamily="18" charset="0"/>
              </a:rPr>
              <a:t>A zero covariance does not necessarily imply the absence of a link between the data of the two variables </a:t>
            </a:r>
            <a:endParaRPr lang="fr-F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93306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9CC2C1-85C0-4FAB-B0DA-AE72BE6F7C90}"/>
              </a:ext>
            </a:extLst>
          </p:cNvPr>
          <p:cNvSpPr>
            <a:spLocks noGrp="1"/>
          </p:cNvSpPr>
          <p:nvPr>
            <p:ph type="title"/>
          </p:nvPr>
        </p:nvSpPr>
        <p:spPr/>
        <p:txBody>
          <a:bodyPr>
            <a:normAutofit fontScale="90000"/>
          </a:bodyPr>
          <a:lstStyle/>
          <a:p>
            <a:r>
              <a:rPr lang="fr-FR" sz="4000" dirty="0">
                <a:latin typeface="Cambria" panose="02040503050406030204" pitchFamily="18" charset="0"/>
                <a:ea typeface="Cambria" panose="02040503050406030204" pitchFamily="18" charset="0"/>
              </a:rPr>
              <a:t>Back to </a:t>
            </a:r>
            <a:r>
              <a:rPr lang="fr-FR" sz="4000" dirty="0" err="1">
                <a:latin typeface="Cambria" panose="02040503050406030204" pitchFamily="18" charset="0"/>
                <a:ea typeface="Cambria" panose="02040503050406030204" pitchFamily="18" charset="0"/>
              </a:rPr>
              <a:t>example</a:t>
            </a:r>
            <a:r>
              <a:rPr lang="fr-FR" sz="4000" dirty="0">
                <a:latin typeface="Cambria" panose="02040503050406030204" pitchFamily="18" charset="0"/>
                <a:ea typeface="Cambria" panose="02040503050406030204" pitchFamily="18" charset="0"/>
              </a:rPr>
              <a:t> 
</a:t>
            </a:r>
          </a:p>
        </p:txBody>
      </p:sp>
      <p:pic>
        <p:nvPicPr>
          <p:cNvPr id="4" name="Espace réservé du contenu 3">
            <a:extLst>
              <a:ext uri="{FF2B5EF4-FFF2-40B4-BE49-F238E27FC236}">
                <a16:creationId xmlns:a16="http://schemas.microsoft.com/office/drawing/2014/main" id="{D288DD65-A869-43E5-9991-589B8C81AFEF}"/>
              </a:ext>
            </a:extLst>
          </p:cNvPr>
          <p:cNvPicPr>
            <a:picLocks noGrp="1" noChangeAspect="1"/>
          </p:cNvPicPr>
          <p:nvPr>
            <p:ph idx="1"/>
          </p:nvPr>
        </p:nvPicPr>
        <p:blipFill>
          <a:blip r:embed="rId2"/>
          <a:stretch>
            <a:fillRect/>
          </a:stretch>
        </p:blipFill>
        <p:spPr>
          <a:xfrm>
            <a:off x="107504" y="1417638"/>
            <a:ext cx="4752528" cy="3888432"/>
          </a:xfrm>
          <a:prstGeom prst="rect">
            <a:avLst/>
          </a:prstGeom>
        </p:spPr>
      </p:pic>
      <p:sp>
        <p:nvSpPr>
          <p:cNvPr id="5" name="Flèche : droite 4">
            <a:extLst>
              <a:ext uri="{FF2B5EF4-FFF2-40B4-BE49-F238E27FC236}">
                <a16:creationId xmlns:a16="http://schemas.microsoft.com/office/drawing/2014/main" id="{3E35DC96-3551-4563-AE4D-A53DEFD92926}"/>
              </a:ext>
            </a:extLst>
          </p:cNvPr>
          <p:cNvSpPr/>
          <p:nvPr/>
        </p:nvSpPr>
        <p:spPr>
          <a:xfrm>
            <a:off x="4788024" y="2560638"/>
            <a:ext cx="720080"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58474B2C-314A-4506-AA3C-C5B79A57BE6A}"/>
              </a:ext>
            </a:extLst>
          </p:cNvPr>
          <p:cNvSpPr txBox="1"/>
          <p:nvPr/>
        </p:nvSpPr>
        <p:spPr>
          <a:xfrm>
            <a:off x="5652120" y="2254195"/>
            <a:ext cx="2664296" cy="1200329"/>
          </a:xfrm>
          <a:prstGeom prst="rect">
            <a:avLst/>
          </a:prstGeom>
          <a:noFill/>
        </p:spPr>
        <p:txBody>
          <a:bodyPr wrap="square" rtlCol="0">
            <a:spAutoFit/>
          </a:bodyPr>
          <a:lstStyle/>
          <a:p>
            <a:r>
              <a:rPr lang="en-US" dirty="0"/>
              <a:t>Objective:
Calculate covariance
Comment on the result 
</a:t>
            </a:r>
            <a:endParaRPr lang="fr-FR" dirty="0"/>
          </a:p>
        </p:txBody>
      </p:sp>
    </p:spTree>
    <p:extLst>
      <p:ext uri="{BB962C8B-B14F-4D97-AF65-F5344CB8AC3E}">
        <p14:creationId xmlns:p14="http://schemas.microsoft.com/office/powerpoint/2010/main" val="2681370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9CC2C1-85C0-4FAB-B0DA-AE72BE6F7C90}"/>
              </a:ext>
            </a:extLst>
          </p:cNvPr>
          <p:cNvSpPr>
            <a:spLocks noGrp="1"/>
          </p:cNvSpPr>
          <p:nvPr>
            <p:ph type="title"/>
          </p:nvPr>
        </p:nvSpPr>
        <p:spPr/>
        <p:txBody>
          <a:bodyPr>
            <a:normAutofit fontScale="90000"/>
          </a:bodyPr>
          <a:lstStyle/>
          <a:p>
            <a:r>
              <a:rPr lang="fr-FR" sz="4000" dirty="0">
                <a:latin typeface="Cambria" panose="02040503050406030204" pitchFamily="18" charset="0"/>
                <a:ea typeface="Cambria" panose="02040503050406030204" pitchFamily="18" charset="0"/>
              </a:rPr>
              <a:t>Back to </a:t>
            </a:r>
            <a:r>
              <a:rPr lang="fr-FR" sz="4000" dirty="0" err="1">
                <a:latin typeface="Cambria" panose="02040503050406030204" pitchFamily="18" charset="0"/>
                <a:ea typeface="Cambria" panose="02040503050406030204" pitchFamily="18" charset="0"/>
              </a:rPr>
              <a:t>example</a:t>
            </a:r>
            <a:r>
              <a:rPr lang="fr-FR" sz="4000" dirty="0">
                <a:latin typeface="Cambria" panose="02040503050406030204" pitchFamily="18" charset="0"/>
                <a:ea typeface="Cambria" panose="02040503050406030204" pitchFamily="18" charset="0"/>
              </a:rPr>
              <a:t> 
</a:t>
            </a:r>
          </a:p>
        </p:txBody>
      </p:sp>
      <p:pic>
        <p:nvPicPr>
          <p:cNvPr id="4" name="Espace réservé du contenu 3">
            <a:extLst>
              <a:ext uri="{FF2B5EF4-FFF2-40B4-BE49-F238E27FC236}">
                <a16:creationId xmlns:a16="http://schemas.microsoft.com/office/drawing/2014/main" id="{D288DD65-A869-43E5-9991-589B8C81AFEF}"/>
              </a:ext>
            </a:extLst>
          </p:cNvPr>
          <p:cNvPicPr>
            <a:picLocks noGrp="1" noChangeAspect="1"/>
          </p:cNvPicPr>
          <p:nvPr>
            <p:ph idx="1"/>
          </p:nvPr>
        </p:nvPicPr>
        <p:blipFill>
          <a:blip r:embed="rId2"/>
          <a:stretch>
            <a:fillRect/>
          </a:stretch>
        </p:blipFill>
        <p:spPr>
          <a:xfrm>
            <a:off x="107504" y="1417638"/>
            <a:ext cx="4752528" cy="3888432"/>
          </a:xfrm>
          <a:prstGeom prst="rect">
            <a:avLst/>
          </a:prstGeom>
        </p:spPr>
      </p:pic>
      <p:sp>
        <p:nvSpPr>
          <p:cNvPr id="5" name="Flèche : droite 4">
            <a:extLst>
              <a:ext uri="{FF2B5EF4-FFF2-40B4-BE49-F238E27FC236}">
                <a16:creationId xmlns:a16="http://schemas.microsoft.com/office/drawing/2014/main" id="{3E35DC96-3551-4563-AE4D-A53DEFD92926}"/>
              </a:ext>
            </a:extLst>
          </p:cNvPr>
          <p:cNvSpPr/>
          <p:nvPr/>
        </p:nvSpPr>
        <p:spPr>
          <a:xfrm>
            <a:off x="4788024" y="2560638"/>
            <a:ext cx="720080"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Image 5">
            <a:extLst>
              <a:ext uri="{FF2B5EF4-FFF2-40B4-BE49-F238E27FC236}">
                <a16:creationId xmlns:a16="http://schemas.microsoft.com/office/drawing/2014/main" id="{B0E71525-8455-4D1B-A308-23CE140E1540}"/>
              </a:ext>
            </a:extLst>
          </p:cNvPr>
          <p:cNvPicPr>
            <a:picLocks noChangeAspect="1"/>
          </p:cNvPicPr>
          <p:nvPr/>
        </p:nvPicPr>
        <p:blipFill rotWithShape="1">
          <a:blip r:embed="rId3"/>
          <a:srcRect l="28738" t="57000" r="31100" b="19200"/>
          <a:stretch/>
        </p:blipFill>
        <p:spPr>
          <a:xfrm>
            <a:off x="4139952" y="4135686"/>
            <a:ext cx="4725141" cy="1575047"/>
          </a:xfrm>
          <a:prstGeom prst="rect">
            <a:avLst/>
          </a:prstGeom>
        </p:spPr>
      </p:pic>
    </p:spTree>
    <p:extLst>
      <p:ext uri="{BB962C8B-B14F-4D97-AF65-F5344CB8AC3E}">
        <p14:creationId xmlns:p14="http://schemas.microsoft.com/office/powerpoint/2010/main" val="1979517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9A5D58-9492-44C0-8103-5DB9B4CB75F1}"/>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The </a:t>
            </a:r>
            <a:r>
              <a:rPr lang="fr-FR" dirty="0" err="1">
                <a:latin typeface="Cambria" panose="02040503050406030204" pitchFamily="18" charset="0"/>
                <a:ea typeface="Cambria" panose="02040503050406030204" pitchFamily="18" charset="0"/>
              </a:rPr>
              <a:t>linear</a:t>
            </a:r>
            <a:r>
              <a:rPr lang="fr-FR" dirty="0">
                <a:latin typeface="Cambria" panose="02040503050406030204" pitchFamily="18" charset="0"/>
                <a:ea typeface="Cambria" panose="02040503050406030204" pitchFamily="18" charset="0"/>
              </a:rPr>
              <a:t> </a:t>
            </a:r>
            <a:r>
              <a:rPr lang="fr-FR" dirty="0" err="1">
                <a:latin typeface="Cambria" panose="02040503050406030204" pitchFamily="18" charset="0"/>
                <a:ea typeface="Cambria" panose="02040503050406030204" pitchFamily="18" charset="0"/>
              </a:rPr>
              <a:t>correlation</a:t>
            </a:r>
            <a:r>
              <a:rPr lang="fr-FR" dirty="0">
                <a:latin typeface="Cambria" panose="02040503050406030204" pitchFamily="18" charset="0"/>
                <a:ea typeface="Cambria" panose="02040503050406030204" pitchFamily="18" charset="0"/>
              </a:rPr>
              <a:t> coefficient
</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D008A13A-13EF-4A19-AD10-4C493D0DAC80}"/>
                  </a:ext>
                </a:extLst>
              </p:cNvPr>
              <p:cNvSpPr>
                <a:spLocks noGrp="1"/>
              </p:cNvSpPr>
              <p:nvPr>
                <p:ph idx="1"/>
              </p:nvPr>
            </p:nvSpPr>
            <p:spPr>
              <a:xfrm>
                <a:off x="32495" y="1268760"/>
                <a:ext cx="9139758" cy="5440362"/>
              </a:xfrm>
            </p:spPr>
            <p:txBody>
              <a:bodyPr>
                <a:normAutofit fontScale="92500" lnSpcReduction="10000"/>
              </a:bodyPr>
              <a:lstStyle/>
              <a:p>
                <a:pPr marL="0" indent="0">
                  <a:buNone/>
                </a:pPr>
                <a:r>
                  <a:rPr lang="en-US" sz="2000" dirty="0">
                    <a:latin typeface="Cambria" panose="02040503050406030204" pitchFamily="18" charset="0"/>
                    <a:ea typeface="Cambria" panose="02040503050406030204" pitchFamily="18" charset="0"/>
                  </a:rPr>
                  <a:t>The linear correlation coefficient, denoted </a:t>
                </a:r>
                <a14:m>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𝑟</m:t>
                    </m:r>
                    <m:r>
                      <a:rPr lang="fr-FR" sz="2000" b="0" i="1" smtClean="0">
                        <a:solidFill>
                          <a:srgbClr val="FF0000"/>
                        </a:solidFill>
                        <a:latin typeface="Cambria Math" panose="02040503050406030204" pitchFamily="18" charset="0"/>
                        <a:ea typeface="Cambria" panose="02040503050406030204" pitchFamily="18" charset="0"/>
                      </a:rPr>
                      <m:t> (</m:t>
                    </m:r>
                    <m:r>
                      <a:rPr lang="fr-FR" sz="2000" b="0" i="1" smtClean="0">
                        <a:solidFill>
                          <a:srgbClr val="FF0000"/>
                        </a:solidFill>
                        <a:latin typeface="Cambria Math" panose="02040503050406030204" pitchFamily="18" charset="0"/>
                        <a:ea typeface="Cambria" panose="02040503050406030204" pitchFamily="18" charset="0"/>
                      </a:rPr>
                      <m:t>𝑥</m:t>
                    </m:r>
                    <m:r>
                      <a:rPr lang="fr-FR" sz="2000" b="0" i="1" smtClean="0">
                        <a:solidFill>
                          <a:srgbClr val="FF0000"/>
                        </a:solidFill>
                        <a:latin typeface="Cambria Math" panose="02040503050406030204" pitchFamily="18" charset="0"/>
                        <a:ea typeface="Cambria" panose="02040503050406030204" pitchFamily="18" charset="0"/>
                      </a:rPr>
                      <m:t>, </m:t>
                    </m:r>
                    <m:r>
                      <a:rPr lang="fr-FR" sz="2000" b="0" i="1" smtClean="0">
                        <a:solidFill>
                          <a:srgbClr val="FF0000"/>
                        </a:solidFill>
                        <a:latin typeface="Cambria Math" panose="02040503050406030204" pitchFamily="18" charset="0"/>
                        <a:ea typeface="Cambria" panose="02040503050406030204" pitchFamily="18" charset="0"/>
                      </a:rPr>
                      <m:t>𝑦</m:t>
                    </m:r>
                    <m:r>
                      <a:rPr lang="fr-FR" sz="2000" b="0" i="1" smtClean="0">
                        <a:solidFill>
                          <a:srgbClr val="FF0000"/>
                        </a:solidFill>
                        <a:latin typeface="Cambria Math" panose="02040503050406030204" pitchFamily="18" charset="0"/>
                        <a:ea typeface="Cambria" panose="02040503050406030204" pitchFamily="18" charset="0"/>
                      </a:rPr>
                      <m:t>)</m:t>
                    </m:r>
                  </m:oMath>
                </a14:m>
                <a:r>
                  <a:rPr lang="fr-FR" sz="2000" dirty="0">
                    <a:latin typeface="Cambria" panose="02040503050406030204" pitchFamily="18" charset="0"/>
                    <a:ea typeface="Cambria" panose="02040503050406030204" pitchFamily="18" charset="0"/>
                  </a:rPr>
                  <a:t>,</a:t>
                </a:r>
                <a:r>
                  <a:rPr lang="fr-FR" sz="2000" dirty="0">
                    <a:solidFill>
                      <a:srgbClr val="FF0000"/>
                    </a:solidFill>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is an indicator of the intensity of the linear link between two variables.
</a:t>
                </a:r>
                <a:endParaRPr lang="fr-FR" sz="2000" dirty="0">
                  <a:latin typeface="Cambria" panose="02040503050406030204" pitchFamily="18" charset="0"/>
                  <a:ea typeface="Cambria" panose="02040503050406030204" pitchFamily="18" charset="0"/>
                </a:endParaRPr>
              </a:p>
              <a:p>
                <a:pPr marL="0" indent="0">
                  <a:buNone/>
                </a:pPr>
                <a:r>
                  <a:rPr lang="en-US" sz="2000" dirty="0">
                    <a:latin typeface="Cambria" panose="02040503050406030204" pitchFamily="18" charset="0"/>
                    <a:ea typeface="Cambria" panose="02040503050406030204" pitchFamily="18" charset="0"/>
                  </a:rPr>
                  <a:t>
Formula for calculating this coefficient:
</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dirty="0" err="1">
                    <a:latin typeface="Cambria" panose="02040503050406030204" pitchFamily="18" charset="0"/>
                    <a:ea typeface="Cambria" panose="02040503050406030204" pitchFamily="18" charset="0"/>
                  </a:rPr>
                  <a:t>Where</a:t>
                </a:r>
                <a:r>
                  <a:rPr lang="fr-FR" sz="2000" dirty="0">
                    <a:latin typeface="Cambria" panose="02040503050406030204" pitchFamily="18" charset="0"/>
                    <a:ea typeface="Cambria" panose="02040503050406030204" pitchFamily="18" charset="0"/>
                  </a:rPr>
                  <a:t> </a:t>
                </a:r>
                <a14:m>
                  <m:oMath xmlns:m="http://schemas.openxmlformats.org/officeDocument/2006/math">
                    <m:sSub>
                      <m:sSubPr>
                        <m:ctrlPr>
                          <a:rPr lang="fr-FR" sz="2000" i="1" smtClean="0">
                            <a:solidFill>
                              <a:srgbClr val="FF0000"/>
                            </a:solidFill>
                            <a:latin typeface="Cambria Math" panose="02040503050406030204" pitchFamily="18" charset="0"/>
                            <a:ea typeface="Cambria" panose="02040503050406030204" pitchFamily="18" charset="0"/>
                          </a:rPr>
                        </m:ctrlPr>
                      </m:sSubPr>
                      <m:e>
                        <m:r>
                          <a:rPr lang="fr-FR" sz="2000" b="0" i="1" smtClean="0">
                            <a:solidFill>
                              <a:srgbClr val="FF0000"/>
                            </a:solidFill>
                            <a:latin typeface="Cambria Math" panose="02040503050406030204" pitchFamily="18" charset="0"/>
                            <a:ea typeface="Cambria" panose="02040503050406030204" pitchFamily="18" charset="0"/>
                          </a:rPr>
                          <m:t>𝑠</m:t>
                        </m:r>
                      </m:e>
                      <m:sub>
                        <m:r>
                          <a:rPr lang="fr-FR" sz="2000" b="0" i="1" smtClean="0">
                            <a:solidFill>
                              <a:srgbClr val="FF0000"/>
                            </a:solidFill>
                            <a:latin typeface="Cambria Math" panose="02040503050406030204" pitchFamily="18" charset="0"/>
                            <a:ea typeface="Cambria" panose="02040503050406030204" pitchFamily="18" charset="0"/>
                          </a:rPr>
                          <m:t>𝑥</m:t>
                        </m:r>
                      </m:sub>
                    </m:sSub>
                  </m:oMath>
                </a14:m>
                <a:r>
                  <a:rPr lang="fr-FR" sz="2000"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is the standard deviation of the variable </a:t>
                </a:r>
                <a14:m>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𝑥</m:t>
                    </m:r>
                  </m:oMath>
                </a14:m>
                <a:r>
                  <a:rPr lang="fr-FR" sz="2000" dirty="0">
                    <a:solidFill>
                      <a:srgbClr val="FF0000"/>
                    </a:solidFill>
                    <a:latin typeface="Cambria" panose="02040503050406030204" pitchFamily="18" charset="0"/>
                    <a:ea typeface="Cambria" panose="02040503050406030204" pitchFamily="18" charset="0"/>
                  </a:rPr>
                  <a:t> </a:t>
                </a:r>
                <a:r>
                  <a:rPr lang="fr-FR" sz="2000" dirty="0">
                    <a:latin typeface="Cambria" panose="02040503050406030204" pitchFamily="18" charset="0"/>
                    <a:ea typeface="Cambria" panose="02040503050406030204" pitchFamily="18" charset="0"/>
                  </a:rPr>
                  <a:t>and</a:t>
                </a:r>
                <a:r>
                  <a:rPr lang="fr-FR" sz="2000" dirty="0">
                    <a:solidFill>
                      <a:srgbClr val="FF0000"/>
                    </a:solidFill>
                    <a:latin typeface="Cambria" panose="02040503050406030204" pitchFamily="18" charset="0"/>
                    <a:ea typeface="Cambria" panose="02040503050406030204" pitchFamily="18" charset="0"/>
                  </a:rPr>
                  <a:t> </a:t>
                </a:r>
                <a14:m>
                  <m:oMath xmlns:m="http://schemas.openxmlformats.org/officeDocument/2006/math">
                    <m:sSub>
                      <m:sSubPr>
                        <m:ctrlPr>
                          <a:rPr lang="fr-FR" sz="2000" i="1">
                            <a:solidFill>
                              <a:srgbClr val="FF0000"/>
                            </a:solidFill>
                            <a:latin typeface="Cambria Math" panose="02040503050406030204" pitchFamily="18" charset="0"/>
                            <a:ea typeface="Cambria" panose="02040503050406030204" pitchFamily="18" charset="0"/>
                          </a:rPr>
                        </m:ctrlPr>
                      </m:sSubPr>
                      <m:e>
                        <m:r>
                          <a:rPr lang="fr-FR" sz="2000" i="1">
                            <a:solidFill>
                              <a:srgbClr val="FF0000"/>
                            </a:solidFill>
                            <a:latin typeface="Cambria Math" panose="02040503050406030204" pitchFamily="18" charset="0"/>
                            <a:ea typeface="Cambria" panose="02040503050406030204" pitchFamily="18" charset="0"/>
                          </a:rPr>
                          <m:t>𝑠</m:t>
                        </m:r>
                      </m:e>
                      <m:sub>
                        <m:r>
                          <a:rPr lang="fr-FR" sz="2000" b="0" i="1" smtClean="0">
                            <a:solidFill>
                              <a:srgbClr val="FF0000"/>
                            </a:solidFill>
                            <a:latin typeface="Cambria Math" panose="02040503050406030204" pitchFamily="18" charset="0"/>
                            <a:ea typeface="Cambria" panose="02040503050406030204" pitchFamily="18" charset="0"/>
                          </a:rPr>
                          <m:t>𝑦</m:t>
                        </m:r>
                      </m:sub>
                    </m:sSub>
                  </m:oMath>
                </a14:m>
                <a:r>
                  <a:rPr lang="fr-FR" sz="2000"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is the standard deviation of the variable </a:t>
                </a:r>
                <a14:m>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𝑦</m:t>
                    </m:r>
                  </m:oMath>
                </a14:m>
                <a:endParaRPr lang="fr-FR" sz="2000" dirty="0">
                  <a:solidFill>
                    <a:srgbClr val="FF0000"/>
                  </a:solidFill>
                  <a:latin typeface="Cambria" panose="02040503050406030204" pitchFamily="18" charset="0"/>
                  <a:ea typeface="Cambria" panose="02040503050406030204" pitchFamily="18" charset="0"/>
                </a:endParaRPr>
              </a:p>
              <a:p>
                <a:pPr marL="0" indent="0">
                  <a:buNone/>
                </a:pPr>
                <a:r>
                  <a:rPr lang="fr-FR" sz="2000" dirty="0">
                    <a:latin typeface="Cambria" panose="02040503050406030204" pitchFamily="18" charset="0"/>
                    <a:ea typeface="Cambria" panose="02040503050406030204" pitchFamily="18" charset="0"/>
                  </a:rPr>
                  <a:t> 
Note </a:t>
                </a:r>
                <a:r>
                  <a:rPr lang="fr-FR" sz="2000" dirty="0" err="1">
                    <a:latin typeface="Cambria" panose="02040503050406030204" pitchFamily="18" charset="0"/>
                    <a:ea typeface="Cambria" panose="02040503050406030204" pitchFamily="18" charset="0"/>
                  </a:rPr>
                  <a:t>that</a:t>
                </a:r>
                <a:r>
                  <a:rPr lang="fr-FR" sz="2000" dirty="0">
                    <a:latin typeface="Cambria" panose="02040503050406030204" pitchFamily="18" charset="0"/>
                    <a:ea typeface="Cambria" panose="02040503050406030204" pitchFamily="18" charset="0"/>
                  </a:rPr>
                  <a:t> :</a:t>
                </a:r>
              </a:p>
              <a:p>
                <a:pPr marL="0" indent="0" algn="ctr">
                  <a:buNone/>
                </a:pPr>
                <a14:m>
                  <m:oMathPara xmlns:m="http://schemas.openxmlformats.org/officeDocument/2006/math">
                    <m:oMathParaPr>
                      <m:jc m:val="centerGroup"/>
                    </m:oMathParaPr>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−1 </m:t>
                      </m:r>
                      <m:r>
                        <a:rPr lang="fr-FR" sz="2000" b="0" i="1" smtClean="0">
                          <a:solidFill>
                            <a:srgbClr val="FF0000"/>
                          </a:solidFill>
                          <a:latin typeface="Cambria Math" panose="02040503050406030204" pitchFamily="18" charset="0"/>
                          <a:ea typeface="Cambria Math" panose="02040503050406030204" pitchFamily="18" charset="0"/>
                        </a:rPr>
                        <m:t>≤ </m:t>
                      </m:r>
                      <m:r>
                        <a:rPr lang="fr-FR" sz="2000" i="1">
                          <a:solidFill>
                            <a:srgbClr val="FF0000"/>
                          </a:solidFill>
                          <a:latin typeface="Cambria Math" panose="02040503050406030204" pitchFamily="18" charset="0"/>
                          <a:ea typeface="Cambria" panose="02040503050406030204" pitchFamily="18" charset="0"/>
                        </a:rPr>
                        <m:t>𝑟</m:t>
                      </m:r>
                      <m:r>
                        <a:rPr lang="fr-FR" sz="2000" i="1">
                          <a:solidFill>
                            <a:srgbClr val="FF0000"/>
                          </a:solidFill>
                          <a:latin typeface="Cambria Math" panose="02040503050406030204" pitchFamily="18" charset="0"/>
                          <a:ea typeface="Cambria" panose="02040503050406030204" pitchFamily="18" charset="0"/>
                        </a:rPr>
                        <m:t> </m:t>
                      </m:r>
                      <m:d>
                        <m:dPr>
                          <m:ctrlPr>
                            <a:rPr lang="fr-FR" sz="2000" i="1">
                              <a:solidFill>
                                <a:srgbClr val="FF0000"/>
                              </a:solidFill>
                              <a:latin typeface="Cambria Math" panose="02040503050406030204" pitchFamily="18" charset="0"/>
                              <a:ea typeface="Cambria" panose="02040503050406030204" pitchFamily="18" charset="0"/>
                            </a:rPr>
                          </m:ctrlPr>
                        </m:dPr>
                        <m:e>
                          <m:r>
                            <a:rPr lang="fr-FR" sz="2000" i="1">
                              <a:solidFill>
                                <a:srgbClr val="FF0000"/>
                              </a:solidFill>
                              <a:latin typeface="Cambria Math" panose="02040503050406030204" pitchFamily="18" charset="0"/>
                              <a:ea typeface="Cambria" panose="02040503050406030204" pitchFamily="18" charset="0"/>
                            </a:rPr>
                            <m:t>𝑥</m:t>
                          </m:r>
                          <m:r>
                            <a:rPr lang="fr-FR" sz="2000" i="1">
                              <a:solidFill>
                                <a:srgbClr val="FF0000"/>
                              </a:solidFill>
                              <a:latin typeface="Cambria Math" panose="02040503050406030204" pitchFamily="18" charset="0"/>
                              <a:ea typeface="Cambria" panose="02040503050406030204" pitchFamily="18" charset="0"/>
                            </a:rPr>
                            <m:t>, </m:t>
                          </m:r>
                          <m:r>
                            <a:rPr lang="fr-FR" sz="2000" i="1">
                              <a:solidFill>
                                <a:srgbClr val="FF0000"/>
                              </a:solidFill>
                              <a:latin typeface="Cambria Math" panose="02040503050406030204" pitchFamily="18" charset="0"/>
                              <a:ea typeface="Cambria" panose="02040503050406030204" pitchFamily="18" charset="0"/>
                            </a:rPr>
                            <m:t>𝑦</m:t>
                          </m:r>
                        </m:e>
                      </m:d>
                      <m:r>
                        <a:rPr lang="fr-FR" sz="2000" i="1" smtClean="0">
                          <a:solidFill>
                            <a:srgbClr val="FF0000"/>
                          </a:solidFill>
                          <a:latin typeface="Cambria Math" panose="02040503050406030204" pitchFamily="18" charset="0"/>
                          <a:ea typeface="Cambria Math" panose="02040503050406030204" pitchFamily="18" charset="0"/>
                        </a:rPr>
                        <m:t>≤</m:t>
                      </m:r>
                      <m:r>
                        <a:rPr lang="fr-FR" sz="2000" b="0" i="1" smtClean="0">
                          <a:solidFill>
                            <a:srgbClr val="FF0000"/>
                          </a:solidFill>
                          <a:latin typeface="Cambria Math" panose="02040503050406030204" pitchFamily="18" charset="0"/>
                          <a:ea typeface="Cambria Math" panose="02040503050406030204" pitchFamily="18" charset="0"/>
                        </a:rPr>
                        <m:t>1</m:t>
                      </m:r>
                    </m:oMath>
                  </m:oMathPara>
                </a14:m>
                <a:endParaRPr lang="fr-FR" sz="2000" dirty="0">
                  <a:solidFill>
                    <a:srgbClr val="FF0000"/>
                  </a:solidFill>
                  <a:latin typeface="Cambria" panose="02040503050406030204" pitchFamily="18" charset="0"/>
                  <a:ea typeface="Cambria" panose="02040503050406030204" pitchFamily="18" charset="0"/>
                </a:endParaRPr>
              </a:p>
              <a:p>
                <a:pPr marL="0" indent="0">
                  <a:buNone/>
                </a:pPr>
                <a:r>
                  <a:rPr lang="fr-FR" sz="2000" dirty="0" err="1">
                    <a:latin typeface="Cambria" panose="02040503050406030204" pitchFamily="18" charset="0"/>
                    <a:ea typeface="Cambria" panose="02040503050406030204" pitchFamily="18" charset="0"/>
                  </a:rPr>
                  <a:t>Remark</a:t>
                </a:r>
                <a:r>
                  <a:rPr lang="fr-FR" sz="2000" dirty="0">
                    <a:latin typeface="Cambria" panose="02040503050406030204" pitchFamily="18" charset="0"/>
                    <a:ea typeface="Cambria" panose="02040503050406030204" pitchFamily="18" charset="0"/>
                  </a:rPr>
                  <a:t> : </a:t>
                </a:r>
              </a:p>
              <a:p>
                <a:pPr marL="0" indent="0">
                  <a:buNone/>
                </a:pPr>
                <a:r>
                  <a:rPr lang="en-US" sz="2000" dirty="0">
                    <a:latin typeface="Cambria" panose="02040503050406030204" pitchFamily="18" charset="0"/>
                    <a:ea typeface="Cambria" panose="02040503050406030204" pitchFamily="18" charset="0"/>
                  </a:rPr>
                  <a:t>The linear correlation coefficient and the covariance have the same sign
</a:t>
                </a: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p:txBody>
          </p:sp>
        </mc:Choice>
        <mc:Fallback xmlns="">
          <p:sp>
            <p:nvSpPr>
              <p:cNvPr id="3" name="Espace réservé du contenu 2">
                <a:extLst>
                  <a:ext uri="{FF2B5EF4-FFF2-40B4-BE49-F238E27FC236}">
                    <a16:creationId xmlns:a16="http://schemas.microsoft.com/office/drawing/2014/main" id="{D008A13A-13EF-4A19-AD10-4C493D0DAC80}"/>
                  </a:ext>
                </a:extLst>
              </p:cNvPr>
              <p:cNvSpPr>
                <a:spLocks noGrp="1" noRot="1" noChangeAspect="1" noMove="1" noResize="1" noEditPoints="1" noAdjustHandles="1" noChangeArrowheads="1" noChangeShapeType="1" noTextEdit="1"/>
              </p:cNvSpPr>
              <p:nvPr>
                <p:ph idx="1"/>
              </p:nvPr>
            </p:nvSpPr>
            <p:spPr>
              <a:xfrm>
                <a:off x="32495" y="1268760"/>
                <a:ext cx="9139758" cy="5440362"/>
              </a:xfrm>
              <a:blipFill>
                <a:blip r:embed="rId2"/>
                <a:stretch>
                  <a:fillRect l="-600" t="-1120" r="-600"/>
                </a:stretch>
              </a:blipFill>
            </p:spPr>
            <p:txBody>
              <a:bodyPr/>
              <a:lstStyle/>
              <a:p>
                <a:r>
                  <a:rPr lang="fr-FR">
                    <a:noFill/>
                  </a:rPr>
                  <a:t> </a:t>
                </a:r>
              </a:p>
            </p:txBody>
          </p:sp>
        </mc:Fallback>
      </mc:AlternateContent>
      <p:pic>
        <p:nvPicPr>
          <p:cNvPr id="5" name="Image 4">
            <a:extLst>
              <a:ext uri="{FF2B5EF4-FFF2-40B4-BE49-F238E27FC236}">
                <a16:creationId xmlns:a16="http://schemas.microsoft.com/office/drawing/2014/main" id="{660DA2FE-DF16-4A84-9093-93EAF0F2DBFD}"/>
              </a:ext>
            </a:extLst>
          </p:cNvPr>
          <p:cNvPicPr>
            <a:picLocks noChangeAspect="1"/>
          </p:cNvPicPr>
          <p:nvPr/>
        </p:nvPicPr>
        <p:blipFill>
          <a:blip r:embed="rId3"/>
          <a:stretch>
            <a:fillRect/>
          </a:stretch>
        </p:blipFill>
        <p:spPr>
          <a:xfrm>
            <a:off x="1259632" y="3026838"/>
            <a:ext cx="5472608" cy="804324"/>
          </a:xfrm>
          <a:prstGeom prst="rect">
            <a:avLst/>
          </a:prstGeom>
        </p:spPr>
      </p:pic>
    </p:spTree>
    <p:extLst>
      <p:ext uri="{BB962C8B-B14F-4D97-AF65-F5344CB8AC3E}">
        <p14:creationId xmlns:p14="http://schemas.microsoft.com/office/powerpoint/2010/main" val="2987058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63F176-0B72-405B-9445-25B4193FC083}"/>
              </a:ext>
            </a:extLst>
          </p:cNvPr>
          <p:cNvSpPr>
            <a:spLocks noGrp="1"/>
          </p:cNvSpPr>
          <p:nvPr>
            <p:ph type="title"/>
          </p:nvPr>
        </p:nvSpPr>
        <p:spPr/>
        <p:txBody>
          <a:bodyPr>
            <a:normAutofit/>
          </a:bodyPr>
          <a:lstStyle/>
          <a:p>
            <a:r>
              <a:rPr lang="fr-FR" sz="2800" dirty="0" err="1">
                <a:latin typeface="Cambria" panose="02040503050406030204" pitchFamily="18" charset="0"/>
                <a:ea typeface="Cambria" panose="02040503050406030204" pitchFamily="18" charset="0"/>
              </a:rPr>
              <a:t>Interpretation</a:t>
            </a:r>
            <a:r>
              <a:rPr lang="fr-FR" sz="2800" dirty="0">
                <a:latin typeface="Cambria" panose="02040503050406030204" pitchFamily="18" charset="0"/>
                <a:ea typeface="Cambria" panose="02040503050406030204" pitchFamily="18" charset="0"/>
              </a:rPr>
              <a:t> - The </a:t>
            </a:r>
            <a:r>
              <a:rPr lang="fr-FR" sz="2800" dirty="0" err="1">
                <a:latin typeface="Cambria" panose="02040503050406030204" pitchFamily="18" charset="0"/>
                <a:ea typeface="Cambria" panose="02040503050406030204" pitchFamily="18" charset="0"/>
              </a:rPr>
              <a:t>linear</a:t>
            </a:r>
            <a:r>
              <a:rPr lang="fr-FR" sz="2800" dirty="0">
                <a:latin typeface="Cambria" panose="02040503050406030204" pitchFamily="18" charset="0"/>
                <a:ea typeface="Cambria" panose="02040503050406030204" pitchFamily="18" charset="0"/>
              </a:rPr>
              <a:t> </a:t>
            </a:r>
            <a:r>
              <a:rPr lang="fr-FR" sz="2800" dirty="0" err="1">
                <a:latin typeface="Cambria" panose="02040503050406030204" pitchFamily="18" charset="0"/>
                <a:ea typeface="Cambria" panose="02040503050406030204" pitchFamily="18" charset="0"/>
              </a:rPr>
              <a:t>correlation</a:t>
            </a:r>
            <a:r>
              <a:rPr lang="fr-FR" sz="2800" dirty="0">
                <a:latin typeface="Cambria" panose="02040503050406030204" pitchFamily="18" charset="0"/>
                <a:ea typeface="Cambria" panose="02040503050406030204" pitchFamily="18" charset="0"/>
              </a:rPr>
              <a:t> coefficient
</a:t>
            </a:r>
            <a:endParaRPr lang="fr-FR" sz="2800" dirty="0"/>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015B1943-2771-4557-9DE0-3AADFC2ED44B}"/>
                  </a:ext>
                </a:extLst>
              </p:cNvPr>
              <p:cNvSpPr>
                <a:spLocks noGrp="1"/>
              </p:cNvSpPr>
              <p:nvPr>
                <p:ph idx="1"/>
              </p:nvPr>
            </p:nvSpPr>
            <p:spPr>
              <a:xfrm>
                <a:off x="0" y="1166018"/>
                <a:ext cx="9144000" cy="5691982"/>
              </a:xfrm>
            </p:spPr>
            <p:txBody>
              <a:bodyPr>
                <a:normAutofit lnSpcReduction="10000"/>
              </a:bodyPr>
              <a:lstStyle/>
              <a:p>
                <a:pPr>
                  <a:buFont typeface="Wingdings" panose="05000000000000000000" pitchFamily="2" charset="2"/>
                  <a:buChar char="q"/>
                </a:pPr>
                <a:r>
                  <a:rPr lang="en-US" sz="2000" dirty="0">
                    <a:latin typeface="Cambria" panose="02040503050406030204" pitchFamily="18" charset="0"/>
                    <a:ea typeface="Cambria" panose="02040503050406030204" pitchFamily="18" charset="0"/>
                  </a:rPr>
                  <a:t>If r (x, y)≠0, then it can be deduced that there is a link between the two variables.
</a:t>
                </a:r>
                <a:r>
                  <a:rPr lang="fr-FR" sz="2000" dirty="0">
                    <a:latin typeface="Cambria" panose="02040503050406030204" pitchFamily="18" charset="0"/>
                    <a:ea typeface="Cambria" panose="02040503050406030204" pitchFamily="18" charset="0"/>
                  </a:rPr>
                  <a:t>If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r>
                      <a:rPr lang="fr-FR" sz="2000" b="0" i="1" smtClean="0">
                        <a:latin typeface="Cambria Math" panose="02040503050406030204" pitchFamily="18" charset="0"/>
                        <a:ea typeface="Cambria" panose="02040503050406030204" pitchFamily="18" charset="0"/>
                      </a:rPr>
                      <m:t>=1</m:t>
                    </m:r>
                  </m:oMath>
                </a14:m>
                <a:r>
                  <a:rPr lang="fr-FR" sz="2000" dirty="0">
                    <a:latin typeface="Cambria" panose="02040503050406030204" pitchFamily="18" charset="0"/>
                    <a:ea typeface="Cambria" panose="02040503050406030204" pitchFamily="18" charset="0"/>
                  </a:rPr>
                  <a:t> or </a:t>
                </a:r>
                <a14:m>
                  <m:oMath xmlns:m="http://schemas.openxmlformats.org/officeDocument/2006/math">
                    <m:r>
                      <a:rPr lang="fr-FR" sz="2000" i="1">
                        <a:latin typeface="Cambria Math" panose="02040503050406030204" pitchFamily="18" charset="0"/>
                        <a:ea typeface="Cambria" panose="02040503050406030204" pitchFamily="18" charset="0"/>
                      </a:rPr>
                      <m:t>𝑟</m:t>
                    </m:r>
                    <m:r>
                      <a:rPr lang="fr-FR" sz="2000" i="1">
                        <a:latin typeface="Cambria Math" panose="02040503050406030204" pitchFamily="18" charset="0"/>
                        <a:ea typeface="Cambria" panose="02040503050406030204" pitchFamily="18" charset="0"/>
                      </a:rPr>
                      <m:t> </m:t>
                    </m:r>
                    <m:d>
                      <m:dPr>
                        <m:ctrlPr>
                          <a:rPr lang="fr-FR" sz="2000" i="1">
                            <a:latin typeface="Cambria Math" panose="02040503050406030204" pitchFamily="18" charset="0"/>
                            <a:ea typeface="Cambria" panose="02040503050406030204" pitchFamily="18" charset="0"/>
                          </a:rPr>
                        </m:ctrlPr>
                      </m:dPr>
                      <m:e>
                        <m:r>
                          <a:rPr lang="fr-FR" sz="2000" i="1">
                            <a:latin typeface="Cambria Math" panose="02040503050406030204" pitchFamily="18" charset="0"/>
                            <a:ea typeface="Cambria" panose="02040503050406030204" pitchFamily="18" charset="0"/>
                          </a:rPr>
                          <m:t>𝑥</m:t>
                        </m:r>
                        <m:r>
                          <a:rPr lang="fr-FR" sz="2000" i="1">
                            <a:latin typeface="Cambria Math" panose="02040503050406030204" pitchFamily="18" charset="0"/>
                            <a:ea typeface="Cambria" panose="02040503050406030204" pitchFamily="18" charset="0"/>
                          </a:rPr>
                          <m:t>, </m:t>
                        </m:r>
                        <m:r>
                          <a:rPr lang="fr-FR" sz="2000" i="1">
                            <a:latin typeface="Cambria Math" panose="02040503050406030204" pitchFamily="18" charset="0"/>
                            <a:ea typeface="Cambria" panose="02040503050406030204" pitchFamily="18" charset="0"/>
                          </a:rPr>
                          <m:t>𝑦</m:t>
                        </m:r>
                      </m:e>
                    </m:d>
                    <m:r>
                      <a:rPr lang="fr-FR" sz="2000" i="1">
                        <a:latin typeface="Cambria Math" panose="02040503050406030204" pitchFamily="18" charset="0"/>
                        <a:ea typeface="Cambria" panose="02040503050406030204" pitchFamily="18" charset="0"/>
                      </a:rPr>
                      <m:t>=</m:t>
                    </m:r>
                    <m:r>
                      <a:rPr lang="fr-FR" sz="2000" b="0" i="1" smtClean="0">
                        <a:latin typeface="Cambria Math" panose="02040503050406030204" pitchFamily="18" charset="0"/>
                        <a:ea typeface="Cambria" panose="02040503050406030204" pitchFamily="18" charset="0"/>
                      </a:rPr>
                      <m:t>−</m:t>
                    </m:r>
                    <m:r>
                      <a:rPr lang="fr-FR" sz="2000" i="1">
                        <a:latin typeface="Cambria Math" panose="02040503050406030204" pitchFamily="18" charset="0"/>
                        <a:ea typeface="Cambria" panose="02040503050406030204" pitchFamily="18" charset="0"/>
                      </a:rPr>
                      <m:t>1</m:t>
                    </m:r>
                    <m:r>
                      <a:rPr lang="fr-FR" sz="2000" b="0" i="0" smtClean="0">
                        <a:latin typeface="Cambria Math" panose="02040503050406030204" pitchFamily="18" charset="0"/>
                        <a:ea typeface="Cambria" panose="02040503050406030204" pitchFamily="18" charset="0"/>
                      </a:rPr>
                      <m:t>,</m:t>
                    </m:r>
                  </m:oMath>
                </a14:m>
                <a:r>
                  <a:rPr lang="fr-FR" sz="2000"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then we can deduce that the link between the two variables is perfectly linear </a:t>
                </a:r>
              </a:p>
              <a:p>
                <a:pPr marL="0" indent="0">
                  <a:buNone/>
                </a:pPr>
                <a:r>
                  <a:rPr lang="fr-FR" sz="2000" dirty="0">
                    <a:latin typeface="Cambria" panose="02040503050406030204" pitchFamily="18" charset="0"/>
                    <a:ea typeface="Cambria" panose="02040503050406030204" pitchFamily="18" charset="0"/>
                    <a:sym typeface="Wingdings" panose="05000000000000000000" pitchFamily="2" charset="2"/>
                  </a:rPr>
                  <a:t>	    </a:t>
                </a:r>
                <a:r>
                  <a:rPr lang="en-US" sz="2000" dirty="0">
                    <a:latin typeface="Cambria" panose="02040503050406030204" pitchFamily="18" charset="0"/>
                    <a:ea typeface="Cambria" panose="02040503050406030204" pitchFamily="18" charset="0"/>
                    <a:sym typeface="Wingdings" panose="05000000000000000000" pitchFamily="2" charset="2"/>
                  </a:rPr>
                  <a:t>The scatter plot has the shape of a straight line
</a:t>
                </a:r>
                <a:r>
                  <a:rPr lang="fr-FR" sz="2000" dirty="0">
                    <a:latin typeface="Cambria" panose="02040503050406030204" pitchFamily="18" charset="0"/>
                    <a:ea typeface="Cambria" panose="02040503050406030204" pitchFamily="18" charset="0"/>
                    <a:sym typeface="Wingdings" panose="05000000000000000000" pitchFamily="2" charset="2"/>
                  </a:rPr>
                  <a:t> </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sym typeface="Wingdings" panose="05000000000000000000" pitchFamily="2" charset="2"/>
                  </a:rPr>
                  <a:t>If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oMath>
                </a14:m>
                <a:r>
                  <a:rPr lang="fr-FR" sz="2000" dirty="0">
                    <a:latin typeface="Cambria" panose="02040503050406030204" pitchFamily="18" charset="0"/>
                    <a:ea typeface="Cambria" panose="02040503050406030204" pitchFamily="18" charset="0"/>
                  </a:rPr>
                  <a:t> </a:t>
                </a:r>
                <a:r>
                  <a:rPr lang="fr-FR" sz="2000" dirty="0" err="1">
                    <a:latin typeface="Cambria" panose="02040503050406030204" pitchFamily="18" charset="0"/>
                    <a:ea typeface="Cambria" panose="02040503050406030204" pitchFamily="18" charset="0"/>
                  </a:rPr>
                  <a:t>belongs</a:t>
                </a:r>
                <a:r>
                  <a:rPr lang="fr-FR" sz="2000" dirty="0">
                    <a:latin typeface="Cambria" panose="02040503050406030204" pitchFamily="18" charset="0"/>
                    <a:ea typeface="Cambria" panose="02040503050406030204" pitchFamily="18" charset="0"/>
                  </a:rPr>
                  <a:t> to ]-1 ; -0.9] or [0.9 ; 1[, </a:t>
                </a:r>
                <a:r>
                  <a:rPr lang="en-US" sz="2000" dirty="0">
                    <a:latin typeface="Cambria" panose="02040503050406030204" pitchFamily="18" charset="0"/>
                    <a:ea typeface="Cambria" panose="02040503050406030204" pitchFamily="18" charset="0"/>
                  </a:rPr>
                  <a:t>then we can deduce that the linear link between the two variables is </a:t>
                </a:r>
                <a:r>
                  <a:rPr lang="en-US" sz="2000" b="1" dirty="0">
                    <a:latin typeface="Cambria" panose="02040503050406030204" pitchFamily="18" charset="0"/>
                    <a:ea typeface="Cambria" panose="02040503050406030204" pitchFamily="18" charset="0"/>
                  </a:rPr>
                  <a:t>very</a:t>
                </a:r>
                <a:r>
                  <a:rPr lang="en-US" sz="2000" dirty="0">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strong</a:t>
                </a:r>
                <a:r>
                  <a:rPr lang="en-US" sz="2000" dirty="0">
                    <a:latin typeface="Cambria" panose="02040503050406030204" pitchFamily="18" charset="0"/>
                    <a:ea typeface="Cambria" panose="02040503050406030204" pitchFamily="18" charset="0"/>
                  </a:rPr>
                  <a:t>
</a:t>
                </a:r>
                <a:r>
                  <a:rPr lang="fr-FR" sz="2000" dirty="0">
                    <a:latin typeface="Cambria" panose="02040503050406030204" pitchFamily="18" charset="0"/>
                    <a:ea typeface="Cambria" panose="02040503050406030204" pitchFamily="18" charset="0"/>
                    <a:sym typeface="Wingdings" panose="05000000000000000000" pitchFamily="2" charset="2"/>
                  </a:rPr>
                  <a:t>If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oMath>
                </a14:m>
                <a:r>
                  <a:rPr lang="fr-FR" sz="2000" dirty="0">
                    <a:latin typeface="Cambria" panose="02040503050406030204" pitchFamily="18" charset="0"/>
                    <a:ea typeface="Cambria" panose="02040503050406030204" pitchFamily="18" charset="0"/>
                  </a:rPr>
                  <a:t> </a:t>
                </a:r>
                <a:r>
                  <a:rPr lang="fr-FR" sz="2000" dirty="0" err="1">
                    <a:latin typeface="Cambria" panose="02040503050406030204" pitchFamily="18" charset="0"/>
                    <a:ea typeface="Cambria" panose="02040503050406030204" pitchFamily="18" charset="0"/>
                  </a:rPr>
                  <a:t>belongs</a:t>
                </a:r>
                <a:r>
                  <a:rPr lang="fr-FR" sz="2000" dirty="0">
                    <a:latin typeface="Cambria" panose="02040503050406030204" pitchFamily="18" charset="0"/>
                    <a:ea typeface="Cambria" panose="02040503050406030204" pitchFamily="18" charset="0"/>
                  </a:rPr>
                  <a:t> to ]-0.9 ; -0.7] or [0.7 ; 0.9[, </a:t>
                </a:r>
                <a:r>
                  <a:rPr lang="en-US" sz="2000" dirty="0">
                    <a:latin typeface="Cambria" panose="02040503050406030204" pitchFamily="18" charset="0"/>
                    <a:ea typeface="Cambria" panose="02040503050406030204" pitchFamily="18" charset="0"/>
                  </a:rPr>
                  <a:t>then we can deduce that the linear link between the two variables is </a:t>
                </a:r>
                <a:r>
                  <a:rPr lang="en-US" sz="2000" b="1" dirty="0">
                    <a:latin typeface="Cambria" panose="02040503050406030204" pitchFamily="18" charset="0"/>
                    <a:ea typeface="Cambria" panose="02040503050406030204" pitchFamily="18" charset="0"/>
                  </a:rPr>
                  <a:t>strong / valid</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sym typeface="Wingdings" panose="05000000000000000000" pitchFamily="2" charset="2"/>
                  </a:rPr>
                  <a:t>If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oMath>
                </a14:m>
                <a:r>
                  <a:rPr lang="fr-FR" sz="2000" dirty="0">
                    <a:latin typeface="Cambria" panose="02040503050406030204" pitchFamily="18" charset="0"/>
                    <a:ea typeface="Cambria" panose="02040503050406030204" pitchFamily="18" charset="0"/>
                  </a:rPr>
                  <a:t> </a:t>
                </a:r>
                <a:r>
                  <a:rPr lang="fr-FR" sz="2000" dirty="0" err="1">
                    <a:latin typeface="Cambria" panose="02040503050406030204" pitchFamily="18" charset="0"/>
                    <a:ea typeface="Cambria" panose="02040503050406030204" pitchFamily="18" charset="0"/>
                  </a:rPr>
                  <a:t>belongs</a:t>
                </a:r>
                <a:r>
                  <a:rPr lang="fr-FR" sz="2000" dirty="0">
                    <a:latin typeface="Cambria" panose="02040503050406030204" pitchFamily="18" charset="0"/>
                    <a:ea typeface="Cambria" panose="02040503050406030204" pitchFamily="18" charset="0"/>
                  </a:rPr>
                  <a:t> to ]-0.7 ; -0.5] or [0.5 ; 0.7[, </a:t>
                </a:r>
                <a:r>
                  <a:rPr lang="en-US" sz="2000" dirty="0">
                    <a:latin typeface="Cambria" panose="02040503050406030204" pitchFamily="18" charset="0"/>
                    <a:ea typeface="Cambria" panose="02040503050406030204" pitchFamily="18" charset="0"/>
                  </a:rPr>
                  <a:t>then we can deduce that the linear link between the two variables is </a:t>
                </a:r>
                <a:r>
                  <a:rPr lang="en-US" sz="2000" b="1" dirty="0">
                    <a:latin typeface="Cambria" panose="02040503050406030204" pitchFamily="18" charset="0"/>
                    <a:ea typeface="Cambria" panose="02040503050406030204" pitchFamily="18" charset="0"/>
                  </a:rPr>
                  <a:t>moderate</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If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oMath>
                </a14:m>
                <a:r>
                  <a:rPr lang="fr-FR" sz="2000" dirty="0">
                    <a:latin typeface="Cambria" panose="02040503050406030204" pitchFamily="18" charset="0"/>
                    <a:ea typeface="Cambria" panose="02040503050406030204" pitchFamily="18" charset="0"/>
                  </a:rPr>
                  <a:t> is close to 0, t</a:t>
                </a:r>
                <a:r>
                  <a:rPr lang="en-US" sz="2000" dirty="0">
                    <a:latin typeface="Cambria" panose="02040503050406030204" pitchFamily="18" charset="0"/>
                    <a:ea typeface="Cambria" panose="02040503050406030204" pitchFamily="18" charset="0"/>
                  </a:rPr>
                  <a:t>hen we can deduce that the linear link between the two variables is </a:t>
                </a:r>
                <a:r>
                  <a:rPr lang="en-US" sz="2000" b="1" dirty="0">
                    <a:latin typeface="Cambria" panose="02040503050406030204" pitchFamily="18" charset="0"/>
                    <a:ea typeface="Cambria" panose="02040503050406030204" pitchFamily="18" charset="0"/>
                  </a:rPr>
                  <a:t>weak</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If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r>
                      <a:rPr lang="fr-FR" sz="2000" b="0" i="1" smtClean="0">
                        <a:latin typeface="Cambria Math" panose="02040503050406030204" pitchFamily="18" charset="0"/>
                        <a:ea typeface="Cambria" panose="02040503050406030204" pitchFamily="18" charset="0"/>
                      </a:rPr>
                      <m:t>=0</m:t>
                    </m:r>
                  </m:oMath>
                </a14:m>
                <a:r>
                  <a:rPr lang="fr-FR" sz="2000"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or it is very close to 0</a:t>
                </a:r>
                <a:r>
                  <a:rPr lang="fr-FR" sz="2000"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we can deduce the absence of an obvious linear link between the two variables </a:t>
                </a:r>
                <a:r>
                  <a:rPr lang="fr-FR" sz="2000" dirty="0">
                    <a:latin typeface="Cambria" panose="02040503050406030204" pitchFamily="18" charset="0"/>
                    <a:ea typeface="Cambria" panose="02040503050406030204" pitchFamily="18" charset="0"/>
                  </a:rPr>
                  <a:t>(</a:t>
                </a:r>
                <a:r>
                  <a:rPr lang="en-US" sz="2000" dirty="0">
                    <a:latin typeface="Cambria" panose="02040503050406030204" pitchFamily="18" charset="0"/>
                    <a:ea typeface="Cambria" panose="02040503050406030204" pitchFamily="18" charset="0"/>
                  </a:rPr>
                  <a:t>but this does not necessarily imply the absence of a link</a:t>
                </a:r>
                <a:r>
                  <a:rPr lang="fr-FR" sz="2000" dirty="0">
                    <a:latin typeface="Cambria" panose="02040503050406030204" pitchFamily="18" charset="0"/>
                    <a:ea typeface="Cambria" panose="02040503050406030204" pitchFamily="18" charset="0"/>
                  </a:rPr>
                  <a:t>)</a:t>
                </a:r>
              </a:p>
              <a:p>
                <a:pPr>
                  <a:buFont typeface="Wingdings" panose="05000000000000000000" pitchFamily="2" charset="2"/>
                  <a:buChar char="q"/>
                </a:pPr>
                <a:endParaRPr lang="fr-FR" sz="2000"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mc:Choice>
        <mc:Fallback xmlns="">
          <p:sp>
            <p:nvSpPr>
              <p:cNvPr id="3" name="Espace réservé du contenu 2">
                <a:extLst>
                  <a:ext uri="{FF2B5EF4-FFF2-40B4-BE49-F238E27FC236}">
                    <a16:creationId xmlns:a16="http://schemas.microsoft.com/office/drawing/2014/main" id="{015B1943-2771-4557-9DE0-3AADFC2ED44B}"/>
                  </a:ext>
                </a:extLst>
              </p:cNvPr>
              <p:cNvSpPr>
                <a:spLocks noGrp="1" noRot="1" noChangeAspect="1" noMove="1" noResize="1" noEditPoints="1" noAdjustHandles="1" noChangeArrowheads="1" noChangeShapeType="1" noTextEdit="1"/>
              </p:cNvSpPr>
              <p:nvPr>
                <p:ph idx="1"/>
              </p:nvPr>
            </p:nvSpPr>
            <p:spPr>
              <a:xfrm>
                <a:off x="0" y="1166018"/>
                <a:ext cx="9144000" cy="5691982"/>
              </a:xfrm>
              <a:blipFill>
                <a:blip r:embed="rId2"/>
                <a:stretch>
                  <a:fillRect l="-600" t="-1071" r="-1200"/>
                </a:stretch>
              </a:blipFill>
            </p:spPr>
            <p:txBody>
              <a:bodyPr/>
              <a:lstStyle/>
              <a:p>
                <a:r>
                  <a:rPr lang="fr-FR">
                    <a:noFill/>
                  </a:rPr>
                  <a:t> </a:t>
                </a:r>
              </a:p>
            </p:txBody>
          </p:sp>
        </mc:Fallback>
      </mc:AlternateContent>
    </p:spTree>
    <p:extLst>
      <p:ext uri="{BB962C8B-B14F-4D97-AF65-F5344CB8AC3E}">
        <p14:creationId xmlns:p14="http://schemas.microsoft.com/office/powerpoint/2010/main" val="1764311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9CC2C1-85C0-4FAB-B0DA-AE72BE6F7C90}"/>
              </a:ext>
            </a:extLst>
          </p:cNvPr>
          <p:cNvSpPr>
            <a:spLocks noGrp="1"/>
          </p:cNvSpPr>
          <p:nvPr>
            <p:ph type="title"/>
          </p:nvPr>
        </p:nvSpPr>
        <p:spPr/>
        <p:txBody>
          <a:bodyPr>
            <a:normAutofit fontScale="90000"/>
          </a:bodyPr>
          <a:lstStyle/>
          <a:p>
            <a:r>
              <a:rPr lang="fr-FR" sz="4000" dirty="0">
                <a:latin typeface="Cambria" panose="02040503050406030204" pitchFamily="18" charset="0"/>
                <a:ea typeface="Cambria" panose="02040503050406030204" pitchFamily="18" charset="0"/>
              </a:rPr>
              <a:t>Back to </a:t>
            </a:r>
            <a:r>
              <a:rPr lang="fr-FR" sz="4000" dirty="0" err="1">
                <a:latin typeface="Cambria" panose="02040503050406030204" pitchFamily="18" charset="0"/>
                <a:ea typeface="Cambria" panose="02040503050406030204" pitchFamily="18" charset="0"/>
              </a:rPr>
              <a:t>example</a:t>
            </a:r>
            <a:r>
              <a:rPr lang="fr-FR" sz="4000" dirty="0">
                <a:latin typeface="Cambria" panose="02040503050406030204" pitchFamily="18" charset="0"/>
                <a:ea typeface="Cambria" panose="02040503050406030204" pitchFamily="18" charset="0"/>
              </a:rPr>
              <a:t> 
</a:t>
            </a:r>
          </a:p>
        </p:txBody>
      </p:sp>
      <p:pic>
        <p:nvPicPr>
          <p:cNvPr id="4" name="Espace réservé du contenu 3">
            <a:extLst>
              <a:ext uri="{FF2B5EF4-FFF2-40B4-BE49-F238E27FC236}">
                <a16:creationId xmlns:a16="http://schemas.microsoft.com/office/drawing/2014/main" id="{D288DD65-A869-43E5-9991-589B8C81AFEF}"/>
              </a:ext>
            </a:extLst>
          </p:cNvPr>
          <p:cNvPicPr>
            <a:picLocks noGrp="1" noChangeAspect="1"/>
          </p:cNvPicPr>
          <p:nvPr>
            <p:ph idx="1"/>
          </p:nvPr>
        </p:nvPicPr>
        <p:blipFill>
          <a:blip r:embed="rId2"/>
          <a:stretch>
            <a:fillRect/>
          </a:stretch>
        </p:blipFill>
        <p:spPr>
          <a:xfrm>
            <a:off x="107504" y="1417638"/>
            <a:ext cx="4752528" cy="3888432"/>
          </a:xfrm>
          <a:prstGeom prst="rect">
            <a:avLst/>
          </a:prstGeom>
        </p:spPr>
      </p:pic>
      <p:sp>
        <p:nvSpPr>
          <p:cNvPr id="5" name="Flèche : droite 4">
            <a:extLst>
              <a:ext uri="{FF2B5EF4-FFF2-40B4-BE49-F238E27FC236}">
                <a16:creationId xmlns:a16="http://schemas.microsoft.com/office/drawing/2014/main" id="{3E35DC96-3551-4563-AE4D-A53DEFD92926}"/>
              </a:ext>
            </a:extLst>
          </p:cNvPr>
          <p:cNvSpPr/>
          <p:nvPr/>
        </p:nvSpPr>
        <p:spPr>
          <a:xfrm>
            <a:off x="4360342" y="2560638"/>
            <a:ext cx="720080"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B1DEB70F-8545-4524-9179-3D0CEEC6F3AC}"/>
              </a:ext>
            </a:extLst>
          </p:cNvPr>
          <p:cNvSpPr txBox="1"/>
          <p:nvPr/>
        </p:nvSpPr>
        <p:spPr>
          <a:xfrm>
            <a:off x="5580112" y="2492896"/>
            <a:ext cx="2664296" cy="1477328"/>
          </a:xfrm>
          <a:prstGeom prst="rect">
            <a:avLst/>
          </a:prstGeom>
          <a:noFill/>
        </p:spPr>
        <p:txBody>
          <a:bodyPr wrap="square" rtlCol="0">
            <a:spAutoFit/>
          </a:bodyPr>
          <a:lstStyle/>
          <a:p>
            <a:r>
              <a:rPr lang="en-US" dirty="0"/>
              <a:t>Objective:
Calculate the linear correlation coefficient 
Interpret the results
</a:t>
            </a:r>
            <a:endParaRPr lang="fr-FR" dirty="0"/>
          </a:p>
        </p:txBody>
      </p:sp>
    </p:spTree>
    <p:extLst>
      <p:ext uri="{BB962C8B-B14F-4D97-AF65-F5344CB8AC3E}">
        <p14:creationId xmlns:p14="http://schemas.microsoft.com/office/powerpoint/2010/main" val="1758450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9CC2C1-85C0-4FAB-B0DA-AE72BE6F7C90}"/>
              </a:ext>
            </a:extLst>
          </p:cNvPr>
          <p:cNvSpPr>
            <a:spLocks noGrp="1"/>
          </p:cNvSpPr>
          <p:nvPr>
            <p:ph type="title"/>
          </p:nvPr>
        </p:nvSpPr>
        <p:spPr/>
        <p:txBody>
          <a:bodyPr>
            <a:normAutofit fontScale="90000"/>
          </a:bodyPr>
          <a:lstStyle/>
          <a:p>
            <a:r>
              <a:rPr lang="fr-FR" sz="4000" dirty="0">
                <a:latin typeface="Cambria" panose="02040503050406030204" pitchFamily="18" charset="0"/>
                <a:ea typeface="Cambria" panose="02040503050406030204" pitchFamily="18" charset="0"/>
              </a:rPr>
              <a:t>Back to </a:t>
            </a:r>
            <a:r>
              <a:rPr lang="fr-FR" sz="4000" dirty="0" err="1">
                <a:latin typeface="Cambria" panose="02040503050406030204" pitchFamily="18" charset="0"/>
                <a:ea typeface="Cambria" panose="02040503050406030204" pitchFamily="18" charset="0"/>
              </a:rPr>
              <a:t>example</a:t>
            </a:r>
            <a:r>
              <a:rPr lang="fr-FR" sz="4000" dirty="0">
                <a:latin typeface="Cambria" panose="02040503050406030204" pitchFamily="18" charset="0"/>
                <a:ea typeface="Cambria" panose="02040503050406030204" pitchFamily="18" charset="0"/>
              </a:rPr>
              <a:t> 
</a:t>
            </a:r>
          </a:p>
        </p:txBody>
      </p:sp>
      <p:pic>
        <p:nvPicPr>
          <p:cNvPr id="4" name="Espace réservé du contenu 3">
            <a:extLst>
              <a:ext uri="{FF2B5EF4-FFF2-40B4-BE49-F238E27FC236}">
                <a16:creationId xmlns:a16="http://schemas.microsoft.com/office/drawing/2014/main" id="{D288DD65-A869-43E5-9991-589B8C81AFEF}"/>
              </a:ext>
            </a:extLst>
          </p:cNvPr>
          <p:cNvPicPr>
            <a:picLocks noGrp="1" noChangeAspect="1"/>
          </p:cNvPicPr>
          <p:nvPr>
            <p:ph idx="1"/>
          </p:nvPr>
        </p:nvPicPr>
        <p:blipFill>
          <a:blip r:embed="rId2"/>
          <a:stretch>
            <a:fillRect/>
          </a:stretch>
        </p:blipFill>
        <p:spPr>
          <a:xfrm>
            <a:off x="107504" y="1417638"/>
            <a:ext cx="4752528" cy="3888432"/>
          </a:xfrm>
          <a:prstGeom prst="rect">
            <a:avLst/>
          </a:prstGeom>
        </p:spPr>
      </p:pic>
      <p:sp>
        <p:nvSpPr>
          <p:cNvPr id="5" name="Flèche : droite 4">
            <a:extLst>
              <a:ext uri="{FF2B5EF4-FFF2-40B4-BE49-F238E27FC236}">
                <a16:creationId xmlns:a16="http://schemas.microsoft.com/office/drawing/2014/main" id="{3E35DC96-3551-4563-AE4D-A53DEFD92926}"/>
              </a:ext>
            </a:extLst>
          </p:cNvPr>
          <p:cNvSpPr/>
          <p:nvPr/>
        </p:nvSpPr>
        <p:spPr>
          <a:xfrm>
            <a:off x="4360342" y="2560638"/>
            <a:ext cx="720080"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Flèche : gauche 14">
            <a:extLst>
              <a:ext uri="{FF2B5EF4-FFF2-40B4-BE49-F238E27FC236}">
                <a16:creationId xmlns:a16="http://schemas.microsoft.com/office/drawing/2014/main" id="{AAB15116-9340-4663-9C45-0E78287E95FB}"/>
              </a:ext>
            </a:extLst>
          </p:cNvPr>
          <p:cNvSpPr/>
          <p:nvPr/>
        </p:nvSpPr>
        <p:spPr>
          <a:xfrm>
            <a:off x="4354955" y="4990127"/>
            <a:ext cx="720079" cy="432048"/>
          </a:xfrm>
          <a:prstGeom prst="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Image 6">
            <a:extLst>
              <a:ext uri="{FF2B5EF4-FFF2-40B4-BE49-F238E27FC236}">
                <a16:creationId xmlns:a16="http://schemas.microsoft.com/office/drawing/2014/main" id="{D3362E54-EBE9-4F34-A76B-712D97D2EC74}"/>
              </a:ext>
            </a:extLst>
          </p:cNvPr>
          <p:cNvPicPr>
            <a:picLocks noChangeAspect="1"/>
          </p:cNvPicPr>
          <p:nvPr/>
        </p:nvPicPr>
        <p:blipFill rotWithShape="1">
          <a:blip r:embed="rId3"/>
          <a:srcRect l="27163" t="57948" r="35037" b="28150"/>
          <a:stretch/>
        </p:blipFill>
        <p:spPr>
          <a:xfrm>
            <a:off x="5103946" y="1569977"/>
            <a:ext cx="3812155" cy="788602"/>
          </a:xfrm>
          <a:prstGeom prst="rect">
            <a:avLst/>
          </a:prstGeom>
        </p:spPr>
      </p:pic>
      <p:pic>
        <p:nvPicPr>
          <p:cNvPr id="10" name="Image 9">
            <a:extLst>
              <a:ext uri="{FF2B5EF4-FFF2-40B4-BE49-F238E27FC236}">
                <a16:creationId xmlns:a16="http://schemas.microsoft.com/office/drawing/2014/main" id="{8D8B1190-9908-4DE8-A5B3-DB9C6AFA5EB3}"/>
              </a:ext>
            </a:extLst>
          </p:cNvPr>
          <p:cNvPicPr>
            <a:picLocks noChangeAspect="1"/>
          </p:cNvPicPr>
          <p:nvPr/>
        </p:nvPicPr>
        <p:blipFill rotWithShape="1">
          <a:blip r:embed="rId3"/>
          <a:srcRect l="27951" t="39482" r="35825" b="44622"/>
          <a:stretch/>
        </p:blipFill>
        <p:spPr>
          <a:xfrm>
            <a:off x="5256077" y="3728113"/>
            <a:ext cx="3812155" cy="940966"/>
          </a:xfrm>
          <a:prstGeom prst="rect">
            <a:avLst/>
          </a:prstGeom>
        </p:spPr>
      </p:pic>
      <p:pic>
        <p:nvPicPr>
          <p:cNvPr id="16" name="Image 15">
            <a:extLst>
              <a:ext uri="{FF2B5EF4-FFF2-40B4-BE49-F238E27FC236}">
                <a16:creationId xmlns:a16="http://schemas.microsoft.com/office/drawing/2014/main" id="{2E35DD9F-70BF-4E7A-A234-061E9C8B0C30}"/>
              </a:ext>
            </a:extLst>
          </p:cNvPr>
          <p:cNvPicPr>
            <a:picLocks noChangeAspect="1"/>
          </p:cNvPicPr>
          <p:nvPr/>
        </p:nvPicPr>
        <p:blipFill rotWithShape="1">
          <a:blip r:embed="rId4"/>
          <a:srcRect l="27951" t="68199" r="37400" b="13506"/>
          <a:stretch/>
        </p:blipFill>
        <p:spPr>
          <a:xfrm>
            <a:off x="5328086" y="2556381"/>
            <a:ext cx="3358714" cy="997501"/>
          </a:xfrm>
          <a:prstGeom prst="rect">
            <a:avLst/>
          </a:prstGeom>
        </p:spPr>
      </p:pic>
      <p:pic>
        <p:nvPicPr>
          <p:cNvPr id="18" name="Image 17">
            <a:extLst>
              <a:ext uri="{FF2B5EF4-FFF2-40B4-BE49-F238E27FC236}">
                <a16:creationId xmlns:a16="http://schemas.microsoft.com/office/drawing/2014/main" id="{B83B9C7F-2478-4E3E-B898-D78806DA847E}"/>
              </a:ext>
            </a:extLst>
          </p:cNvPr>
          <p:cNvPicPr>
            <a:picLocks noChangeAspect="1"/>
          </p:cNvPicPr>
          <p:nvPr/>
        </p:nvPicPr>
        <p:blipFill rotWithShape="1">
          <a:blip r:embed="rId5"/>
          <a:srcRect l="27951" t="44401" r="34250" b="42636"/>
          <a:stretch/>
        </p:blipFill>
        <p:spPr>
          <a:xfrm>
            <a:off x="5256077" y="4924267"/>
            <a:ext cx="3706073" cy="715005"/>
          </a:xfrm>
          <a:prstGeom prst="rect">
            <a:avLst/>
          </a:prstGeom>
        </p:spPr>
      </p:pic>
    </p:spTree>
    <p:extLst>
      <p:ext uri="{BB962C8B-B14F-4D97-AF65-F5344CB8AC3E}">
        <p14:creationId xmlns:p14="http://schemas.microsoft.com/office/powerpoint/2010/main" val="2857484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p:txBody>
          <a:bodyPr>
            <a:normAutofit fontScale="90000"/>
          </a:bodyPr>
          <a:lstStyle/>
          <a:p>
            <a:r>
              <a:rPr lang="en-US" sz="3200" dirty="0">
                <a:latin typeface="Cambria" panose="02040503050406030204" pitchFamily="18" charset="0"/>
                <a:ea typeface="Cambria" panose="02040503050406030204" pitchFamily="18" charset="0"/>
              </a:rPr>
              <a:t>The case of two </a:t>
            </a:r>
            <a:r>
              <a:rPr lang="en-US" sz="3200" dirty="0" err="1">
                <a:latin typeface="Cambria" panose="02040503050406030204" pitchFamily="18" charset="0"/>
                <a:ea typeface="Cambria" panose="02040503050406030204" pitchFamily="18" charset="0"/>
              </a:rPr>
              <a:t>quantitatives</a:t>
            </a:r>
            <a:r>
              <a:rPr lang="en-US" sz="3200" dirty="0">
                <a:latin typeface="Cambria" panose="02040503050406030204" pitchFamily="18" charset="0"/>
                <a:ea typeface="Cambria" panose="02040503050406030204" pitchFamily="18" charset="0"/>
              </a:rPr>
              <a:t> whose data are presented in a contingency table 
</a:t>
            </a:r>
            <a:endParaRPr lang="fr-FR" sz="3200" dirty="0"/>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b="1" dirty="0" err="1">
                    <a:latin typeface="Cambria" panose="02040503050406030204" pitchFamily="18" charset="0"/>
                    <a:ea typeface="Cambria" panose="02040503050406030204" pitchFamily="18" charset="0"/>
                  </a:rPr>
                  <a:t>Introductory</a:t>
                </a:r>
                <a:r>
                  <a:rPr lang="fr-FR" sz="2000" b="1" dirty="0">
                    <a:latin typeface="Cambria" panose="02040503050406030204" pitchFamily="18" charset="0"/>
                    <a:ea typeface="Cambria" panose="02040503050406030204" pitchFamily="18" charset="0"/>
                  </a:rPr>
                  <a:t> </a:t>
                </a:r>
                <a:r>
                  <a:rPr lang="fr-FR" sz="2000" b="1" dirty="0" err="1">
                    <a:latin typeface="Cambria" panose="02040503050406030204" pitchFamily="18" charset="0"/>
                    <a:ea typeface="Cambria" panose="02040503050406030204" pitchFamily="18" charset="0"/>
                  </a:rPr>
                  <a:t>example</a:t>
                </a:r>
                <a:r>
                  <a:rPr lang="fr-FR" sz="2000" b="1" dirty="0">
                    <a:latin typeface="Cambria" panose="02040503050406030204" pitchFamily="18" charset="0"/>
                    <a:ea typeface="Cambria" panose="02040503050406030204" pitchFamily="18" charset="0"/>
                  </a:rPr>
                  <a:t>:
</a:t>
                </a:r>
                <a:endParaRPr lang="fr-FR" sz="2000" dirty="0">
                  <a:latin typeface="Cambria" panose="02040503050406030204" pitchFamily="18" charset="0"/>
                  <a:ea typeface="Cambria" panose="02040503050406030204" pitchFamily="18" charset="0"/>
                </a:endParaRPr>
              </a:p>
              <a:p>
                <a:pPr marL="0" indent="0">
                  <a:buNone/>
                </a:pPr>
                <a:r>
                  <a:rPr lang="fr-FR" sz="2000" u="sng" dirty="0">
                    <a:latin typeface="Cambria" panose="02040503050406030204" pitchFamily="18" charset="0"/>
                    <a:ea typeface="Cambria" panose="02040503050406030204" pitchFamily="18" charset="0"/>
                  </a:rPr>
                  <a:t>Population : </a:t>
                </a:r>
                <a:r>
                  <a:rPr lang="en-US" sz="2000" dirty="0">
                    <a:latin typeface="Cambria" panose="02040503050406030204" pitchFamily="18" charset="0"/>
                    <a:ea typeface="Cambria" panose="02040503050406030204" pitchFamily="18" charset="0"/>
                  </a:rPr>
                  <a:t>students who have participated in a math exam (this exam is in MCQ format – Grade per question: 1 point (correct answer) 0 points (no answer and -0.25 point (wrong answer))
</a:t>
                </a:r>
                <a:r>
                  <a:rPr lang="fr-FR" sz="2000" u="sng" dirty="0" err="1">
                    <a:latin typeface="Cambria" panose="02040503050406030204" pitchFamily="18" charset="0"/>
                    <a:ea typeface="Cambria" panose="02040503050406030204" pitchFamily="18" charset="0"/>
                  </a:rPr>
                  <a:t>Number</a:t>
                </a:r>
                <a:r>
                  <a:rPr lang="fr-FR" sz="2000" u="sng" dirty="0">
                    <a:latin typeface="Cambria" panose="02040503050406030204" pitchFamily="18" charset="0"/>
                    <a:ea typeface="Cambria" panose="02040503050406030204" pitchFamily="18" charset="0"/>
                  </a:rPr>
                  <a:t> of </a:t>
                </a:r>
                <a:r>
                  <a:rPr lang="fr-FR" sz="2000" u="sng" dirty="0" err="1">
                    <a:latin typeface="Cambria" panose="02040503050406030204" pitchFamily="18" charset="0"/>
                    <a:ea typeface="Cambria" panose="02040503050406030204" pitchFamily="18" charset="0"/>
                  </a:rPr>
                  <a:t>students</a:t>
                </a:r>
                <a:r>
                  <a:rPr lang="fr-FR" sz="2000" u="sng" dirty="0">
                    <a:latin typeface="Cambria" panose="02040503050406030204" pitchFamily="18" charset="0"/>
                    <a:ea typeface="Cambria" panose="02040503050406030204" pitchFamily="18" charset="0"/>
                  </a:rPr>
                  <a:t> </a:t>
                </a:r>
                <a:r>
                  <a:rPr lang="fr-FR" sz="2000" u="sng" dirty="0" err="1">
                    <a:latin typeface="Cambria" panose="02040503050406030204" pitchFamily="18" charset="0"/>
                    <a:ea typeface="Cambria" panose="02040503050406030204" pitchFamily="18" charset="0"/>
                  </a:rPr>
                  <a:t>studied</a:t>
                </a:r>
                <a:r>
                  <a:rPr lang="fr-FR" sz="2000" u="sng" dirty="0">
                    <a:latin typeface="Cambria" panose="02040503050406030204" pitchFamily="18" charset="0"/>
                    <a:ea typeface="Cambria" panose="02040503050406030204" pitchFamily="18" charset="0"/>
                  </a:rPr>
                  <a:t> </a:t>
                </a:r>
                <a:r>
                  <a:rPr lang="fr-FR" sz="2000" dirty="0">
                    <a:latin typeface="Cambria" panose="02040503050406030204" pitchFamily="18" charset="0"/>
                    <a:ea typeface="Cambria" panose="02040503050406030204" pitchFamily="18" charset="0"/>
                  </a:rPr>
                  <a:t>= 20 </a:t>
                </a:r>
              </a:p>
              <a:p>
                <a:pPr marL="0" indent="0">
                  <a:buNone/>
                </a:pPr>
                <a:r>
                  <a:rPr lang="en-US" sz="2000" u="sng" dirty="0">
                    <a:latin typeface="Cambria" panose="02040503050406030204" pitchFamily="18" charset="0"/>
                    <a:ea typeface="Cambria" panose="02040503050406030204" pitchFamily="18" charset="0"/>
                  </a:rPr>
                  <a:t>The variables studied simultaneously on each student:
</a:t>
                </a:r>
                <a:endParaRPr lang="fr-FR" sz="2000" dirty="0">
                  <a:latin typeface="Cambria" panose="02040503050406030204" pitchFamily="18" charset="0"/>
                  <a:ea typeface="Cambria" panose="02040503050406030204" pitchFamily="18" charset="0"/>
                </a:endParaRPr>
              </a:p>
              <a:p>
                <a:pPr lvl="2">
                  <a:buFont typeface="Wingdings" panose="05000000000000000000" pitchFamily="2" charset="2"/>
                  <a:buChar char="q"/>
                </a:pPr>
                <a:r>
                  <a:rPr lang="en-US" sz="2000" dirty="0">
                    <a:latin typeface="Cambria" panose="02040503050406030204" pitchFamily="18" charset="0"/>
                    <a:ea typeface="Cambria" panose="02040503050406030204" pitchFamily="18" charset="0"/>
                  </a:rPr>
                  <a:t> The grade obtained in question 1</a:t>
                </a:r>
                <a:r>
                  <a:rPr lang="fr-FR" sz="2000" dirty="0">
                    <a:latin typeface="Cambria" panose="02040503050406030204" pitchFamily="18" charset="0"/>
                    <a:ea typeface="Cambria" panose="02040503050406030204" pitchFamily="18" charset="0"/>
                    <a:sym typeface="Wingdings" panose="05000000000000000000" pitchFamily="2" charset="2"/>
                  </a:rPr>
                  <a:t> </a:t>
                </a:r>
                <a14:m>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𝑥</m:t>
                    </m:r>
                  </m:oMath>
                </a14:m>
                <a:endParaRPr lang="fr-FR" sz="2000" dirty="0">
                  <a:latin typeface="Cambria" panose="02040503050406030204" pitchFamily="18" charset="0"/>
                  <a:ea typeface="Cambria" panose="02040503050406030204" pitchFamily="18" charset="0"/>
                </a:endParaRPr>
              </a:p>
              <a:p>
                <a:pPr lvl="2">
                  <a:buFont typeface="Wingdings" panose="05000000000000000000" pitchFamily="2" charset="2"/>
                  <a:buChar char="q"/>
                </a:pPr>
                <a:r>
                  <a:rPr lang="en-US" sz="2000" dirty="0">
                    <a:latin typeface="Cambria" panose="02040503050406030204" pitchFamily="18" charset="0"/>
                    <a:ea typeface="Cambria" panose="02040503050406030204" pitchFamily="18" charset="0"/>
                  </a:rPr>
                  <a:t> The grade obtained in question 2 </a:t>
                </a:r>
                <a:r>
                  <a:rPr lang="fr-FR" sz="2000" dirty="0">
                    <a:latin typeface="Cambria" panose="02040503050406030204" pitchFamily="18" charset="0"/>
                    <a:ea typeface="Cambria" panose="02040503050406030204" pitchFamily="18" charset="0"/>
                    <a:sym typeface="Wingdings" panose="05000000000000000000" pitchFamily="2" charset="2"/>
                  </a:rPr>
                  <a:t> </a:t>
                </a:r>
                <a14:m>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𝑦</m:t>
                    </m:r>
                  </m:oMath>
                </a14:m>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mc:Choice>
        <mc:Fallback xmlns="">
          <p:sp>
            <p:nvSpPr>
              <p:cNvPr id="3" name="Espace réservé du contenu 2">
                <a:extLst>
                  <a:ext uri="{FF2B5EF4-FFF2-40B4-BE49-F238E27FC236}">
                    <a16:creationId xmlns:a16="http://schemas.microsoft.com/office/drawing/2014/main" id="{3CD4BB95-B942-4CE7-BD65-7AA2BEAF0331}"/>
                  </a:ext>
                </a:extLst>
              </p:cNvPr>
              <p:cNvSpPr>
                <a:spLocks noGrp="1" noRot="1" noChangeAspect="1" noMove="1" noResize="1" noEditPoints="1" noAdjustHandles="1" noChangeArrowheads="1" noChangeShapeType="1" noTextEdit="1"/>
              </p:cNvSpPr>
              <p:nvPr>
                <p:ph idx="1"/>
              </p:nvPr>
            </p:nvSpPr>
            <p:spPr>
              <a:xfrm>
                <a:off x="0" y="1268760"/>
                <a:ext cx="9144000" cy="5589240"/>
              </a:xfrm>
              <a:blipFill>
                <a:blip r:embed="rId2"/>
                <a:stretch>
                  <a:fillRect l="-667"/>
                </a:stretch>
              </a:blipFill>
            </p:spPr>
            <p:txBody>
              <a:bodyPr/>
              <a:lstStyle/>
              <a:p>
                <a:r>
                  <a:rPr lang="fr-FR">
                    <a:noFill/>
                  </a:rPr>
                  <a:t> </a:t>
                </a:r>
              </a:p>
            </p:txBody>
          </p:sp>
        </mc:Fallback>
      </mc:AlternateContent>
    </p:spTree>
    <p:extLst>
      <p:ext uri="{BB962C8B-B14F-4D97-AF65-F5344CB8AC3E}">
        <p14:creationId xmlns:p14="http://schemas.microsoft.com/office/powerpoint/2010/main" val="3294301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p:txBody>
          <a:bodyPr>
            <a:normAutofit fontScale="90000"/>
          </a:bodyPr>
          <a:lstStyle/>
          <a:p>
            <a:r>
              <a:rPr lang="en-US" sz="3200" dirty="0">
                <a:latin typeface="Cambria" panose="02040503050406030204" pitchFamily="18" charset="0"/>
                <a:ea typeface="Cambria" panose="02040503050406030204" pitchFamily="18" charset="0"/>
              </a:rPr>
              <a:t>The case of two </a:t>
            </a:r>
            <a:r>
              <a:rPr lang="en-US" sz="3200" dirty="0" err="1">
                <a:latin typeface="Cambria" panose="02040503050406030204" pitchFamily="18" charset="0"/>
                <a:ea typeface="Cambria" panose="02040503050406030204" pitchFamily="18" charset="0"/>
              </a:rPr>
              <a:t>quantitatives</a:t>
            </a:r>
            <a:r>
              <a:rPr lang="en-US" sz="3200" dirty="0">
                <a:latin typeface="Cambria" panose="02040503050406030204" pitchFamily="18" charset="0"/>
                <a:ea typeface="Cambria" panose="02040503050406030204" pitchFamily="18" charset="0"/>
              </a:rPr>
              <a:t> whose data are presented in a contingency table 
</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err="1">
                <a:latin typeface="Cambria" panose="02040503050406030204" pitchFamily="18" charset="0"/>
                <a:ea typeface="Cambria" panose="02040503050406030204" pitchFamily="18" charset="0"/>
              </a:rPr>
              <a:t>Introductory</a:t>
            </a:r>
            <a:r>
              <a:rPr lang="fr-FR" sz="2000" b="1" dirty="0">
                <a:latin typeface="Cambria" panose="02040503050406030204" pitchFamily="18" charset="0"/>
                <a:ea typeface="Cambria" panose="02040503050406030204" pitchFamily="18" charset="0"/>
              </a:rPr>
              <a:t> </a:t>
            </a:r>
            <a:r>
              <a:rPr lang="fr-FR" sz="2000" b="1" dirty="0" err="1">
                <a:latin typeface="Cambria" panose="02040503050406030204" pitchFamily="18" charset="0"/>
                <a:ea typeface="Cambria" panose="02040503050406030204" pitchFamily="18" charset="0"/>
              </a:rPr>
              <a:t>example</a:t>
            </a:r>
            <a:r>
              <a:rPr lang="fr-FR" sz="2000" b="1" dirty="0">
                <a:latin typeface="Cambria" panose="02040503050406030204" pitchFamily="18" charset="0"/>
                <a:ea typeface="Cambria" panose="02040503050406030204" pitchFamily="18" charset="0"/>
              </a:rPr>
              <a:t>: </a:t>
            </a:r>
          </a:p>
          <a:p>
            <a:pPr marL="0" indent="0">
              <a:buNone/>
            </a:pPr>
            <a:r>
              <a:rPr lang="fr-FR" sz="2000" u="sng" dirty="0">
                <a:latin typeface="Cambria" panose="02040503050406030204" pitchFamily="18" charset="0"/>
                <a:ea typeface="Cambria" panose="02040503050406030204" pitchFamily="18" charset="0"/>
              </a:rPr>
              <a:t>The data
</a:t>
            </a:r>
            <a:endParaRPr lang="fr-FR" sz="2000" dirty="0">
              <a:latin typeface="Cambria" panose="02040503050406030204" pitchFamily="18" charset="0"/>
              <a:ea typeface="Cambria" panose="02040503050406030204" pitchFamily="18" charset="0"/>
            </a:endParaRPr>
          </a:p>
        </p:txBody>
      </p:sp>
      <p:pic>
        <p:nvPicPr>
          <p:cNvPr id="5" name="Image 4">
            <a:extLst>
              <a:ext uri="{FF2B5EF4-FFF2-40B4-BE49-F238E27FC236}">
                <a16:creationId xmlns:a16="http://schemas.microsoft.com/office/drawing/2014/main" id="{E4F84CEC-F527-4242-B038-6267C985ED5D}"/>
              </a:ext>
            </a:extLst>
          </p:cNvPr>
          <p:cNvPicPr>
            <a:picLocks noChangeAspect="1"/>
          </p:cNvPicPr>
          <p:nvPr/>
        </p:nvPicPr>
        <p:blipFill>
          <a:blip r:embed="rId2"/>
          <a:stretch>
            <a:fillRect/>
          </a:stretch>
        </p:blipFill>
        <p:spPr>
          <a:xfrm>
            <a:off x="1691680" y="2708920"/>
            <a:ext cx="1500672" cy="3337891"/>
          </a:xfrm>
          <a:prstGeom prst="rect">
            <a:avLst/>
          </a:prstGeom>
        </p:spPr>
      </p:pic>
      <p:sp>
        <p:nvSpPr>
          <p:cNvPr id="6" name="Flèche : droite 5">
            <a:extLst>
              <a:ext uri="{FF2B5EF4-FFF2-40B4-BE49-F238E27FC236}">
                <a16:creationId xmlns:a16="http://schemas.microsoft.com/office/drawing/2014/main" id="{ABA39DB7-A081-4815-B0FE-B9DD2FA46E2D}"/>
              </a:ext>
            </a:extLst>
          </p:cNvPr>
          <p:cNvSpPr/>
          <p:nvPr/>
        </p:nvSpPr>
        <p:spPr>
          <a:xfrm>
            <a:off x="4211960" y="3356992"/>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Flèche : gauche 6">
            <a:extLst>
              <a:ext uri="{FF2B5EF4-FFF2-40B4-BE49-F238E27FC236}">
                <a16:creationId xmlns:a16="http://schemas.microsoft.com/office/drawing/2014/main" id="{353965B3-DFF1-4948-99B2-5A998239298B}"/>
              </a:ext>
            </a:extLst>
          </p:cNvPr>
          <p:cNvSpPr/>
          <p:nvPr/>
        </p:nvSpPr>
        <p:spPr>
          <a:xfrm>
            <a:off x="4211960" y="4161841"/>
            <a:ext cx="576064" cy="504056"/>
          </a:xfrm>
          <a:prstGeom prst="leftArrow">
            <a:avLst>
              <a:gd name="adj1" fmla="val 50000"/>
              <a:gd name="adj2" fmla="val 50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8" name="Tableau 8">
            <a:extLst>
              <a:ext uri="{FF2B5EF4-FFF2-40B4-BE49-F238E27FC236}">
                <a16:creationId xmlns:a16="http://schemas.microsoft.com/office/drawing/2014/main" id="{80FA9FC0-3D6C-48F0-9361-1979021867B3}"/>
              </a:ext>
            </a:extLst>
          </p:cNvPr>
          <p:cNvGraphicFramePr>
            <a:graphicFrameLocks noGrp="1"/>
          </p:cNvGraphicFramePr>
          <p:nvPr>
            <p:extLst>
              <p:ext uri="{D42A27DB-BD31-4B8C-83A1-F6EECF244321}">
                <p14:modId xmlns:p14="http://schemas.microsoft.com/office/powerpoint/2010/main" val="432199103"/>
              </p:ext>
            </p:extLst>
          </p:nvPr>
        </p:nvGraphicFramePr>
        <p:xfrm>
          <a:off x="5277644" y="3321700"/>
          <a:ext cx="3384376" cy="1483360"/>
        </p:xfrm>
        <a:graphic>
          <a:graphicData uri="http://schemas.openxmlformats.org/drawingml/2006/table">
            <a:tbl>
              <a:tblPr firstRow="1" bandRow="1">
                <a:tableStyleId>{5940675A-B579-460E-94D1-54222C63F5DA}</a:tableStyleId>
              </a:tblPr>
              <a:tblGrid>
                <a:gridCol w="423047">
                  <a:extLst>
                    <a:ext uri="{9D8B030D-6E8A-4147-A177-3AD203B41FA5}">
                      <a16:colId xmlns:a16="http://schemas.microsoft.com/office/drawing/2014/main" val="2680239378"/>
                    </a:ext>
                  </a:extLst>
                </a:gridCol>
                <a:gridCol w="423047">
                  <a:extLst>
                    <a:ext uri="{9D8B030D-6E8A-4147-A177-3AD203B41FA5}">
                      <a16:colId xmlns:a16="http://schemas.microsoft.com/office/drawing/2014/main" val="517231769"/>
                    </a:ext>
                  </a:extLst>
                </a:gridCol>
                <a:gridCol w="846094">
                  <a:extLst>
                    <a:ext uri="{9D8B030D-6E8A-4147-A177-3AD203B41FA5}">
                      <a16:colId xmlns:a16="http://schemas.microsoft.com/office/drawing/2014/main" val="412879631"/>
                    </a:ext>
                  </a:extLst>
                </a:gridCol>
                <a:gridCol w="846094">
                  <a:extLst>
                    <a:ext uri="{9D8B030D-6E8A-4147-A177-3AD203B41FA5}">
                      <a16:colId xmlns:a16="http://schemas.microsoft.com/office/drawing/2014/main" val="3381253237"/>
                    </a:ext>
                  </a:extLst>
                </a:gridCol>
                <a:gridCol w="846094">
                  <a:extLst>
                    <a:ext uri="{9D8B030D-6E8A-4147-A177-3AD203B41FA5}">
                      <a16:colId xmlns:a16="http://schemas.microsoft.com/office/drawing/2014/main" val="1861021549"/>
                    </a:ext>
                  </a:extLst>
                </a:gridCol>
              </a:tblGrid>
              <a:tr h="370840">
                <a:tc>
                  <a:txBody>
                    <a:bodyPr/>
                    <a:lstStyle/>
                    <a:p>
                      <a:pPr algn="ctr"/>
                      <a:r>
                        <a:rPr lang="fr-FR" dirty="0">
                          <a:solidFill>
                            <a:srgbClr val="FF0000"/>
                          </a:solidFill>
                        </a:rPr>
                        <a:t>x</a:t>
                      </a:r>
                    </a:p>
                  </a:txBody>
                  <a:tcPr/>
                </a:tc>
                <a:tc>
                  <a:txBody>
                    <a:bodyPr/>
                    <a:lstStyle/>
                    <a:p>
                      <a:pPr algn="ctr"/>
                      <a:r>
                        <a:rPr lang="fr-FR" dirty="0">
                          <a:solidFill>
                            <a:srgbClr val="FF0000"/>
                          </a:solidFill>
                        </a:rPr>
                        <a:t>y</a:t>
                      </a:r>
                    </a:p>
                  </a:txBody>
                  <a:tcPr/>
                </a:tc>
                <a:tc>
                  <a:txBody>
                    <a:bodyPr/>
                    <a:lstStyle/>
                    <a:p>
                      <a:pPr algn="ctr"/>
                      <a:r>
                        <a:rPr lang="fr-FR" b="1" dirty="0"/>
                        <a:t>1</a:t>
                      </a:r>
                    </a:p>
                  </a:txBody>
                  <a:tcPr/>
                </a:tc>
                <a:tc>
                  <a:txBody>
                    <a:bodyPr/>
                    <a:lstStyle/>
                    <a:p>
                      <a:pPr algn="ctr"/>
                      <a:r>
                        <a:rPr lang="fr-FR" b="1" dirty="0"/>
                        <a:t>0</a:t>
                      </a:r>
                    </a:p>
                  </a:txBody>
                  <a:tcPr/>
                </a:tc>
                <a:tc>
                  <a:txBody>
                    <a:bodyPr/>
                    <a:lstStyle/>
                    <a:p>
                      <a:pPr algn="ctr"/>
                      <a:r>
                        <a:rPr lang="fr-FR" b="1" dirty="0"/>
                        <a:t>-0.25</a:t>
                      </a:r>
                    </a:p>
                  </a:txBody>
                  <a:tcPr/>
                </a:tc>
                <a:extLst>
                  <a:ext uri="{0D108BD9-81ED-4DB2-BD59-A6C34878D82A}">
                    <a16:rowId xmlns:a16="http://schemas.microsoft.com/office/drawing/2014/main" val="2629938792"/>
                  </a:ext>
                </a:extLst>
              </a:tr>
              <a:tr h="370840">
                <a:tc gridSpan="2">
                  <a:txBody>
                    <a:bodyPr/>
                    <a:lstStyle/>
                    <a:p>
                      <a:pPr algn="ctr"/>
                      <a:r>
                        <a:rPr lang="fr-FR" b="1" dirty="0"/>
                        <a:t>1</a:t>
                      </a:r>
                    </a:p>
                  </a:txBody>
                  <a:tcPr/>
                </a:tc>
                <a:tc hMerge="1">
                  <a:txBody>
                    <a:bodyPr/>
                    <a:lstStyle/>
                    <a:p>
                      <a:endParaRPr lang="fr-FR"/>
                    </a:p>
                  </a:txBody>
                  <a:tcPr/>
                </a:tc>
                <a:tc>
                  <a:txBody>
                    <a:bodyPr/>
                    <a:lstStyle/>
                    <a:p>
                      <a:pPr algn="ctr"/>
                      <a:r>
                        <a:rPr lang="fr-FR" dirty="0">
                          <a:solidFill>
                            <a:schemeClr val="accent5"/>
                          </a:solidFill>
                        </a:rPr>
                        <a:t>5</a:t>
                      </a: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1</a:t>
                      </a:r>
                    </a:p>
                  </a:txBody>
                  <a:tcPr/>
                </a:tc>
                <a:extLst>
                  <a:ext uri="{0D108BD9-81ED-4DB2-BD59-A6C34878D82A}">
                    <a16:rowId xmlns:a16="http://schemas.microsoft.com/office/drawing/2014/main" val="2510468522"/>
                  </a:ext>
                </a:extLst>
              </a:tr>
              <a:tr h="370840">
                <a:tc gridSpan="2">
                  <a:txBody>
                    <a:bodyPr/>
                    <a:lstStyle/>
                    <a:p>
                      <a:pPr algn="ctr"/>
                      <a:r>
                        <a:rPr lang="fr-FR" b="1" dirty="0"/>
                        <a:t>0</a:t>
                      </a:r>
                    </a:p>
                  </a:txBody>
                  <a:tcPr/>
                </a:tc>
                <a:tc hMerge="1">
                  <a:txBody>
                    <a:bodyPr/>
                    <a:lstStyle/>
                    <a:p>
                      <a:endParaRPr lang="fr-FR"/>
                    </a:p>
                  </a:txBody>
                  <a:tcPr/>
                </a:tc>
                <a:tc>
                  <a:txBody>
                    <a:bodyPr/>
                    <a:lstStyle/>
                    <a:p>
                      <a:pPr algn="ctr"/>
                      <a:r>
                        <a:rPr lang="fr-FR" dirty="0">
                          <a:solidFill>
                            <a:schemeClr val="accent5"/>
                          </a:solidFill>
                        </a:rPr>
                        <a:t>6</a:t>
                      </a:r>
                    </a:p>
                  </a:txBody>
                  <a:tcPr/>
                </a:tc>
                <a:tc>
                  <a:txBody>
                    <a:bodyPr/>
                    <a:lstStyle/>
                    <a:p>
                      <a:pPr algn="ctr"/>
                      <a:r>
                        <a:rPr lang="fr-FR" dirty="0">
                          <a:solidFill>
                            <a:schemeClr val="accent5"/>
                          </a:solidFill>
                        </a:rPr>
                        <a:t>2</a:t>
                      </a:r>
                    </a:p>
                  </a:txBody>
                  <a:tcPr/>
                </a:tc>
                <a:tc>
                  <a:txBody>
                    <a:bodyPr/>
                    <a:lstStyle/>
                    <a:p>
                      <a:pPr algn="ctr"/>
                      <a:r>
                        <a:rPr lang="fr-FR" dirty="0">
                          <a:solidFill>
                            <a:schemeClr val="accent5"/>
                          </a:solidFill>
                        </a:rPr>
                        <a:t>1</a:t>
                      </a:r>
                    </a:p>
                  </a:txBody>
                  <a:tcPr/>
                </a:tc>
                <a:extLst>
                  <a:ext uri="{0D108BD9-81ED-4DB2-BD59-A6C34878D82A}">
                    <a16:rowId xmlns:a16="http://schemas.microsoft.com/office/drawing/2014/main" val="3309718849"/>
                  </a:ext>
                </a:extLst>
              </a:tr>
              <a:tr h="370840">
                <a:tc gridSpan="2">
                  <a:txBody>
                    <a:bodyPr/>
                    <a:lstStyle/>
                    <a:p>
                      <a:pPr algn="ctr"/>
                      <a:r>
                        <a:rPr lang="fr-FR" b="1" dirty="0"/>
                        <a:t>-0.25</a:t>
                      </a:r>
                    </a:p>
                  </a:txBody>
                  <a:tcPr/>
                </a:tc>
                <a:tc hMerge="1">
                  <a:txBody>
                    <a:bodyPr/>
                    <a:lstStyle/>
                    <a:p>
                      <a:endParaRPr lang="fr-F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2</a:t>
                      </a:r>
                    </a:p>
                  </a:txBody>
                  <a:tcPr/>
                </a:tc>
                <a:extLst>
                  <a:ext uri="{0D108BD9-81ED-4DB2-BD59-A6C34878D82A}">
                    <a16:rowId xmlns:a16="http://schemas.microsoft.com/office/drawing/2014/main" val="3390020108"/>
                  </a:ext>
                </a:extLst>
              </a:tr>
            </a:tbl>
          </a:graphicData>
        </a:graphic>
      </p:graphicFrame>
      <p:sp>
        <p:nvSpPr>
          <p:cNvPr id="9" name="ZoneTexte 8">
            <a:extLst>
              <a:ext uri="{FF2B5EF4-FFF2-40B4-BE49-F238E27FC236}">
                <a16:creationId xmlns:a16="http://schemas.microsoft.com/office/drawing/2014/main" id="{20A8E440-20DB-44BA-BAC7-A219D68BCE37}"/>
              </a:ext>
            </a:extLst>
          </p:cNvPr>
          <p:cNvSpPr txBox="1"/>
          <p:nvPr/>
        </p:nvSpPr>
        <p:spPr>
          <a:xfrm>
            <a:off x="1475656" y="2204864"/>
            <a:ext cx="2232248" cy="646331"/>
          </a:xfrm>
          <a:prstGeom prst="rect">
            <a:avLst/>
          </a:prstGeom>
          <a:noFill/>
        </p:spPr>
        <p:txBody>
          <a:bodyPr wrap="square" rtlCol="0">
            <a:spAutoFit/>
          </a:bodyPr>
          <a:lstStyle/>
          <a:p>
            <a:pPr algn="ctr"/>
            <a:r>
              <a:rPr lang="fr-FR" dirty="0">
                <a:latin typeface="Cambria" panose="02040503050406030204" pitchFamily="18" charset="0"/>
                <a:ea typeface="Cambria" panose="02040503050406030204" pitchFamily="18" charset="0"/>
              </a:rPr>
              <a:t>At a </a:t>
            </a:r>
            <a:r>
              <a:rPr lang="fr-FR" dirty="0" err="1">
                <a:latin typeface="Cambria" panose="02040503050406030204" pitchFamily="18" charset="0"/>
                <a:ea typeface="Cambria" panose="02040503050406030204" pitchFamily="18" charset="0"/>
              </a:rPr>
              <a:t>raw</a:t>
            </a:r>
            <a:r>
              <a:rPr lang="fr-FR" dirty="0">
                <a:latin typeface="Cambria" panose="02040503050406030204" pitchFamily="18" charset="0"/>
                <a:ea typeface="Cambria" panose="02040503050406030204" pitchFamily="18" charset="0"/>
              </a:rPr>
              <a:t> state 
</a:t>
            </a:r>
          </a:p>
        </p:txBody>
      </p:sp>
      <p:sp>
        <p:nvSpPr>
          <p:cNvPr id="10" name="ZoneTexte 9">
            <a:extLst>
              <a:ext uri="{FF2B5EF4-FFF2-40B4-BE49-F238E27FC236}">
                <a16:creationId xmlns:a16="http://schemas.microsoft.com/office/drawing/2014/main" id="{3075134F-A0D9-41B8-855D-FBE88B801756}"/>
              </a:ext>
            </a:extLst>
          </p:cNvPr>
          <p:cNvSpPr txBox="1"/>
          <p:nvPr/>
        </p:nvSpPr>
        <p:spPr>
          <a:xfrm>
            <a:off x="5580112" y="2241471"/>
            <a:ext cx="2232248" cy="923330"/>
          </a:xfrm>
          <a:prstGeom prst="rect">
            <a:avLst/>
          </a:prstGeom>
          <a:noFill/>
        </p:spPr>
        <p:txBody>
          <a:bodyPr wrap="square" rtlCol="0">
            <a:spAutoFit/>
          </a:bodyPr>
          <a:lstStyle/>
          <a:p>
            <a:pPr algn="ctr"/>
            <a:r>
              <a:rPr lang="fr-FR" dirty="0">
                <a:latin typeface="Cambria" panose="02040503050406030204" pitchFamily="18" charset="0"/>
                <a:ea typeface="Cambria" panose="02040503050406030204" pitchFamily="18" charset="0"/>
              </a:rPr>
              <a:t>In a </a:t>
            </a:r>
            <a:r>
              <a:rPr lang="fr-FR" dirty="0" err="1">
                <a:latin typeface="Cambria" panose="02040503050406030204" pitchFamily="18" charset="0"/>
                <a:ea typeface="Cambria" panose="02040503050406030204" pitchFamily="18" charset="0"/>
              </a:rPr>
              <a:t>contingency</a:t>
            </a:r>
            <a:r>
              <a:rPr lang="fr-FR" dirty="0">
                <a:latin typeface="Cambria" panose="02040503050406030204" pitchFamily="18" charset="0"/>
                <a:ea typeface="Cambria" panose="02040503050406030204" pitchFamily="18" charset="0"/>
              </a:rPr>
              <a:t> table
</a:t>
            </a:r>
          </a:p>
        </p:txBody>
      </p:sp>
    </p:spTree>
    <p:extLst>
      <p:ext uri="{BB962C8B-B14F-4D97-AF65-F5344CB8AC3E}">
        <p14:creationId xmlns:p14="http://schemas.microsoft.com/office/powerpoint/2010/main" val="10777474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a:xfrm>
            <a:off x="457200" y="-27384"/>
            <a:ext cx="8229600" cy="1143000"/>
          </a:xfrm>
        </p:spPr>
        <p:txBody>
          <a:bodyPr>
            <a:normAutofit/>
          </a:bodyPr>
          <a:lstStyle/>
          <a:p>
            <a:r>
              <a:rPr lang="en-US" sz="3200" dirty="0">
                <a:latin typeface="Cambria" panose="02040503050406030204" pitchFamily="18" charset="0"/>
                <a:ea typeface="Cambria" panose="02040503050406030204" pitchFamily="18" charset="0"/>
              </a:rPr>
              <a:t>The case of two </a:t>
            </a:r>
            <a:r>
              <a:rPr lang="en-US" sz="3200" dirty="0" err="1">
                <a:latin typeface="Cambria" panose="02040503050406030204" pitchFamily="18" charset="0"/>
                <a:ea typeface="Cambria" panose="02040503050406030204" pitchFamily="18" charset="0"/>
              </a:rPr>
              <a:t>quantitatives</a:t>
            </a:r>
            <a:r>
              <a:rPr lang="en-US" sz="3200" dirty="0">
                <a:latin typeface="Cambria" panose="02040503050406030204" pitchFamily="18" charset="0"/>
                <a:ea typeface="Cambria" panose="02040503050406030204" pitchFamily="18" charset="0"/>
              </a:rPr>
              <a:t> whose data are presented in a contingency table</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err="1">
                <a:latin typeface="Cambria" panose="02040503050406030204" pitchFamily="18" charset="0"/>
                <a:ea typeface="Cambria" panose="02040503050406030204" pitchFamily="18" charset="0"/>
              </a:rPr>
              <a:t>Introductory</a:t>
            </a:r>
            <a:r>
              <a:rPr lang="fr-FR" sz="2000" b="1" dirty="0">
                <a:latin typeface="Cambria" panose="02040503050406030204" pitchFamily="18" charset="0"/>
                <a:ea typeface="Cambria" panose="02040503050406030204" pitchFamily="18" charset="0"/>
              </a:rPr>
              <a:t> </a:t>
            </a:r>
            <a:r>
              <a:rPr lang="fr-FR" sz="2000" b="1" dirty="0" err="1">
                <a:latin typeface="Cambria" panose="02040503050406030204" pitchFamily="18" charset="0"/>
                <a:ea typeface="Cambria" panose="02040503050406030204" pitchFamily="18" charset="0"/>
              </a:rPr>
              <a:t>example</a:t>
            </a:r>
            <a:r>
              <a:rPr lang="fr-FR" sz="2000" b="1" dirty="0">
                <a:latin typeface="Cambria" panose="02040503050406030204" pitchFamily="18" charset="0"/>
                <a:ea typeface="Cambria" panose="02040503050406030204" pitchFamily="18" charset="0"/>
              </a:rPr>
              <a:t>: </a:t>
            </a:r>
          </a:p>
          <a:p>
            <a:pPr marL="0" indent="0">
              <a:buNone/>
            </a:pPr>
            <a:r>
              <a:rPr lang="fr-FR" sz="2000" u="sng" dirty="0">
                <a:latin typeface="Cambria" panose="02040503050406030204" pitchFamily="18" charset="0"/>
                <a:ea typeface="Cambria" panose="02040503050406030204" pitchFamily="18" charset="0"/>
              </a:rPr>
              <a:t>The data</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p:sp>
        <p:nvSpPr>
          <p:cNvPr id="6" name="Flèche : droite 5">
            <a:extLst>
              <a:ext uri="{FF2B5EF4-FFF2-40B4-BE49-F238E27FC236}">
                <a16:creationId xmlns:a16="http://schemas.microsoft.com/office/drawing/2014/main" id="{ABA39DB7-A081-4815-B0FE-B9DD2FA46E2D}"/>
              </a:ext>
            </a:extLst>
          </p:cNvPr>
          <p:cNvSpPr/>
          <p:nvPr/>
        </p:nvSpPr>
        <p:spPr>
          <a:xfrm rot="19573550">
            <a:off x="4217135" y="2963286"/>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8" name="Tableau 8">
            <a:extLst>
              <a:ext uri="{FF2B5EF4-FFF2-40B4-BE49-F238E27FC236}">
                <a16:creationId xmlns:a16="http://schemas.microsoft.com/office/drawing/2014/main" id="{80FA9FC0-3D6C-48F0-9361-1979021867B3}"/>
              </a:ext>
            </a:extLst>
          </p:cNvPr>
          <p:cNvGraphicFramePr>
            <a:graphicFrameLocks noGrp="1"/>
          </p:cNvGraphicFramePr>
          <p:nvPr>
            <p:extLst>
              <p:ext uri="{D42A27DB-BD31-4B8C-83A1-F6EECF244321}">
                <p14:modId xmlns:p14="http://schemas.microsoft.com/office/powerpoint/2010/main" val="2511690611"/>
              </p:ext>
            </p:extLst>
          </p:nvPr>
        </p:nvGraphicFramePr>
        <p:xfrm>
          <a:off x="295035" y="3029762"/>
          <a:ext cx="3384376" cy="1483360"/>
        </p:xfrm>
        <a:graphic>
          <a:graphicData uri="http://schemas.openxmlformats.org/drawingml/2006/table">
            <a:tbl>
              <a:tblPr firstRow="1" bandRow="1">
                <a:tableStyleId>{5940675A-B579-460E-94D1-54222C63F5DA}</a:tableStyleId>
              </a:tblPr>
              <a:tblGrid>
                <a:gridCol w="423047">
                  <a:extLst>
                    <a:ext uri="{9D8B030D-6E8A-4147-A177-3AD203B41FA5}">
                      <a16:colId xmlns:a16="http://schemas.microsoft.com/office/drawing/2014/main" val="2680239378"/>
                    </a:ext>
                  </a:extLst>
                </a:gridCol>
                <a:gridCol w="423047">
                  <a:extLst>
                    <a:ext uri="{9D8B030D-6E8A-4147-A177-3AD203B41FA5}">
                      <a16:colId xmlns:a16="http://schemas.microsoft.com/office/drawing/2014/main" val="517231769"/>
                    </a:ext>
                  </a:extLst>
                </a:gridCol>
                <a:gridCol w="846094">
                  <a:extLst>
                    <a:ext uri="{9D8B030D-6E8A-4147-A177-3AD203B41FA5}">
                      <a16:colId xmlns:a16="http://schemas.microsoft.com/office/drawing/2014/main" val="412879631"/>
                    </a:ext>
                  </a:extLst>
                </a:gridCol>
                <a:gridCol w="846094">
                  <a:extLst>
                    <a:ext uri="{9D8B030D-6E8A-4147-A177-3AD203B41FA5}">
                      <a16:colId xmlns:a16="http://schemas.microsoft.com/office/drawing/2014/main" val="3381253237"/>
                    </a:ext>
                  </a:extLst>
                </a:gridCol>
                <a:gridCol w="846094">
                  <a:extLst>
                    <a:ext uri="{9D8B030D-6E8A-4147-A177-3AD203B41FA5}">
                      <a16:colId xmlns:a16="http://schemas.microsoft.com/office/drawing/2014/main" val="1861021549"/>
                    </a:ext>
                  </a:extLst>
                </a:gridCol>
              </a:tblGrid>
              <a:tr h="370840">
                <a:tc>
                  <a:txBody>
                    <a:bodyPr/>
                    <a:lstStyle/>
                    <a:p>
                      <a:pPr algn="ctr"/>
                      <a:r>
                        <a:rPr lang="fr-FR" dirty="0">
                          <a:solidFill>
                            <a:srgbClr val="FF0000"/>
                          </a:solidFill>
                        </a:rPr>
                        <a:t>x</a:t>
                      </a:r>
                    </a:p>
                  </a:txBody>
                  <a:tcPr/>
                </a:tc>
                <a:tc>
                  <a:txBody>
                    <a:bodyPr/>
                    <a:lstStyle/>
                    <a:p>
                      <a:pPr algn="ctr"/>
                      <a:r>
                        <a:rPr lang="fr-FR" dirty="0">
                          <a:solidFill>
                            <a:srgbClr val="FF0000"/>
                          </a:solidFill>
                        </a:rPr>
                        <a:t>y</a:t>
                      </a:r>
                    </a:p>
                  </a:txBody>
                  <a:tcPr/>
                </a:tc>
                <a:tc>
                  <a:txBody>
                    <a:bodyPr/>
                    <a:lstStyle/>
                    <a:p>
                      <a:pPr algn="ctr"/>
                      <a:r>
                        <a:rPr lang="fr-FR" b="1" dirty="0"/>
                        <a:t>1</a:t>
                      </a:r>
                    </a:p>
                  </a:txBody>
                  <a:tcPr/>
                </a:tc>
                <a:tc>
                  <a:txBody>
                    <a:bodyPr/>
                    <a:lstStyle/>
                    <a:p>
                      <a:pPr algn="ctr"/>
                      <a:r>
                        <a:rPr lang="fr-FR" b="1" dirty="0"/>
                        <a:t>0</a:t>
                      </a:r>
                    </a:p>
                  </a:txBody>
                  <a:tcPr/>
                </a:tc>
                <a:tc>
                  <a:txBody>
                    <a:bodyPr/>
                    <a:lstStyle/>
                    <a:p>
                      <a:pPr algn="ctr"/>
                      <a:r>
                        <a:rPr lang="fr-FR" b="1" dirty="0"/>
                        <a:t>-0.25</a:t>
                      </a:r>
                    </a:p>
                  </a:txBody>
                  <a:tcPr/>
                </a:tc>
                <a:extLst>
                  <a:ext uri="{0D108BD9-81ED-4DB2-BD59-A6C34878D82A}">
                    <a16:rowId xmlns:a16="http://schemas.microsoft.com/office/drawing/2014/main" val="2629938792"/>
                  </a:ext>
                </a:extLst>
              </a:tr>
              <a:tr h="370840">
                <a:tc gridSpan="2">
                  <a:txBody>
                    <a:bodyPr/>
                    <a:lstStyle/>
                    <a:p>
                      <a:pPr algn="ctr"/>
                      <a:r>
                        <a:rPr lang="fr-FR" b="1" dirty="0"/>
                        <a:t>1</a:t>
                      </a:r>
                    </a:p>
                  </a:txBody>
                  <a:tcPr/>
                </a:tc>
                <a:tc hMerge="1">
                  <a:txBody>
                    <a:bodyPr/>
                    <a:lstStyle/>
                    <a:p>
                      <a:endParaRPr lang="fr-FR"/>
                    </a:p>
                  </a:txBody>
                  <a:tcPr/>
                </a:tc>
                <a:tc>
                  <a:txBody>
                    <a:bodyPr/>
                    <a:lstStyle/>
                    <a:p>
                      <a:pPr algn="ctr"/>
                      <a:r>
                        <a:rPr lang="fr-FR" dirty="0">
                          <a:solidFill>
                            <a:schemeClr val="accent5"/>
                          </a:solidFill>
                        </a:rPr>
                        <a:t>5</a:t>
                      </a: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1</a:t>
                      </a:r>
                    </a:p>
                  </a:txBody>
                  <a:tcPr/>
                </a:tc>
                <a:extLst>
                  <a:ext uri="{0D108BD9-81ED-4DB2-BD59-A6C34878D82A}">
                    <a16:rowId xmlns:a16="http://schemas.microsoft.com/office/drawing/2014/main" val="2510468522"/>
                  </a:ext>
                </a:extLst>
              </a:tr>
              <a:tr h="370840">
                <a:tc gridSpan="2">
                  <a:txBody>
                    <a:bodyPr/>
                    <a:lstStyle/>
                    <a:p>
                      <a:pPr algn="ctr"/>
                      <a:r>
                        <a:rPr lang="fr-FR" b="1" dirty="0"/>
                        <a:t>0</a:t>
                      </a:r>
                    </a:p>
                  </a:txBody>
                  <a:tcPr/>
                </a:tc>
                <a:tc hMerge="1">
                  <a:txBody>
                    <a:bodyPr/>
                    <a:lstStyle/>
                    <a:p>
                      <a:endParaRPr lang="fr-FR"/>
                    </a:p>
                  </a:txBody>
                  <a:tcPr/>
                </a:tc>
                <a:tc>
                  <a:txBody>
                    <a:bodyPr/>
                    <a:lstStyle/>
                    <a:p>
                      <a:pPr algn="ctr"/>
                      <a:r>
                        <a:rPr lang="fr-FR" dirty="0">
                          <a:solidFill>
                            <a:schemeClr val="accent5"/>
                          </a:solidFill>
                        </a:rPr>
                        <a:t>6</a:t>
                      </a:r>
                    </a:p>
                  </a:txBody>
                  <a:tcPr/>
                </a:tc>
                <a:tc>
                  <a:txBody>
                    <a:bodyPr/>
                    <a:lstStyle/>
                    <a:p>
                      <a:pPr algn="ctr"/>
                      <a:r>
                        <a:rPr lang="fr-FR" dirty="0">
                          <a:solidFill>
                            <a:schemeClr val="accent5"/>
                          </a:solidFill>
                        </a:rPr>
                        <a:t>2</a:t>
                      </a:r>
                    </a:p>
                  </a:txBody>
                  <a:tcPr/>
                </a:tc>
                <a:tc>
                  <a:txBody>
                    <a:bodyPr/>
                    <a:lstStyle/>
                    <a:p>
                      <a:pPr algn="ctr"/>
                      <a:r>
                        <a:rPr lang="fr-FR" dirty="0">
                          <a:solidFill>
                            <a:schemeClr val="accent5"/>
                          </a:solidFill>
                        </a:rPr>
                        <a:t>1</a:t>
                      </a:r>
                    </a:p>
                  </a:txBody>
                  <a:tcPr/>
                </a:tc>
                <a:extLst>
                  <a:ext uri="{0D108BD9-81ED-4DB2-BD59-A6C34878D82A}">
                    <a16:rowId xmlns:a16="http://schemas.microsoft.com/office/drawing/2014/main" val="3309718849"/>
                  </a:ext>
                </a:extLst>
              </a:tr>
              <a:tr h="370840">
                <a:tc gridSpan="2">
                  <a:txBody>
                    <a:bodyPr/>
                    <a:lstStyle/>
                    <a:p>
                      <a:pPr algn="ctr"/>
                      <a:r>
                        <a:rPr lang="fr-FR" b="1" dirty="0"/>
                        <a:t>-0.25</a:t>
                      </a:r>
                    </a:p>
                  </a:txBody>
                  <a:tcPr/>
                </a:tc>
                <a:tc hMerge="1">
                  <a:txBody>
                    <a:bodyPr/>
                    <a:lstStyle/>
                    <a:p>
                      <a:endParaRPr lang="fr-F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2</a:t>
                      </a:r>
                    </a:p>
                  </a:txBody>
                  <a:tcPr/>
                </a:tc>
                <a:extLst>
                  <a:ext uri="{0D108BD9-81ED-4DB2-BD59-A6C34878D82A}">
                    <a16:rowId xmlns:a16="http://schemas.microsoft.com/office/drawing/2014/main" val="3390020108"/>
                  </a:ext>
                </a:extLst>
              </a:tr>
            </a:tbl>
          </a:graphicData>
        </a:graphic>
      </p:graphicFrame>
      <p:sp>
        <p:nvSpPr>
          <p:cNvPr id="11" name="Flèche : droite 10">
            <a:extLst>
              <a:ext uri="{FF2B5EF4-FFF2-40B4-BE49-F238E27FC236}">
                <a16:creationId xmlns:a16="http://schemas.microsoft.com/office/drawing/2014/main" id="{3AED65F5-7C9D-4280-A08E-7D831E617C8F}"/>
              </a:ext>
            </a:extLst>
          </p:cNvPr>
          <p:cNvSpPr/>
          <p:nvPr/>
        </p:nvSpPr>
        <p:spPr>
          <a:xfrm rot="1916742">
            <a:off x="4217940" y="4183066"/>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4" name="Tableau 11">
            <a:extLst>
              <a:ext uri="{FF2B5EF4-FFF2-40B4-BE49-F238E27FC236}">
                <a16:creationId xmlns:a16="http://schemas.microsoft.com/office/drawing/2014/main" id="{B4129A5B-B832-4F02-A03F-E8D0190CCAB5}"/>
              </a:ext>
            </a:extLst>
          </p:cNvPr>
          <p:cNvGraphicFramePr>
            <a:graphicFrameLocks noGrp="1"/>
          </p:cNvGraphicFramePr>
          <p:nvPr>
            <p:extLst>
              <p:ext uri="{D42A27DB-BD31-4B8C-83A1-F6EECF244321}">
                <p14:modId xmlns:p14="http://schemas.microsoft.com/office/powerpoint/2010/main" val="937519109"/>
              </p:ext>
            </p:extLst>
          </p:nvPr>
        </p:nvGraphicFramePr>
        <p:xfrm>
          <a:off x="5395397" y="1838340"/>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x</a:t>
                      </a:r>
                    </a:p>
                  </a:txBody>
                  <a:tcPr/>
                </a:tc>
                <a:tc>
                  <a:txBody>
                    <a:bodyPr/>
                    <a:lstStyle/>
                    <a:p>
                      <a:pPr algn="ctr"/>
                      <a:r>
                        <a:rPr lang="fr-FR" b="1" dirty="0"/>
                        <a:t>Nb of </a:t>
                      </a:r>
                      <a:r>
                        <a:rPr lang="fr-FR" b="1" dirty="0" err="1"/>
                        <a:t>students</a:t>
                      </a:r>
                      <a:endParaRPr lang="fr-FR" b="1" dirty="0"/>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1840458399"/>
                  </a:ext>
                </a:extLst>
              </a:tr>
            </a:tbl>
          </a:graphicData>
        </a:graphic>
      </p:graphicFrame>
      <p:graphicFrame>
        <p:nvGraphicFramePr>
          <p:cNvPr id="12" name="Tableau 11">
            <a:extLst>
              <a:ext uri="{FF2B5EF4-FFF2-40B4-BE49-F238E27FC236}">
                <a16:creationId xmlns:a16="http://schemas.microsoft.com/office/drawing/2014/main" id="{36B5C094-F949-42AC-801F-29F51B4960B9}"/>
              </a:ext>
            </a:extLst>
          </p:cNvPr>
          <p:cNvGraphicFramePr>
            <a:graphicFrameLocks noGrp="1"/>
          </p:cNvGraphicFramePr>
          <p:nvPr>
            <p:extLst>
              <p:ext uri="{D42A27DB-BD31-4B8C-83A1-F6EECF244321}">
                <p14:modId xmlns:p14="http://schemas.microsoft.com/office/powerpoint/2010/main" val="1555483851"/>
              </p:ext>
            </p:extLst>
          </p:nvPr>
        </p:nvGraphicFramePr>
        <p:xfrm>
          <a:off x="5395397" y="4399090"/>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y</a:t>
                      </a:r>
                    </a:p>
                  </a:txBody>
                  <a:tcPr/>
                </a:tc>
                <a:tc>
                  <a:txBody>
                    <a:bodyPr/>
                    <a:lstStyle/>
                    <a:p>
                      <a:pPr algn="ctr"/>
                      <a:r>
                        <a:rPr lang="fr-FR" b="1" dirty="0"/>
                        <a:t>Nb of </a:t>
                      </a:r>
                      <a:r>
                        <a:rPr lang="fr-FR" b="1" dirty="0" err="1"/>
                        <a:t>students</a:t>
                      </a:r>
                      <a:endParaRPr lang="fr-FR" b="1" dirty="0"/>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1840458399"/>
                  </a:ext>
                </a:extLst>
              </a:tr>
            </a:tbl>
          </a:graphicData>
        </a:graphic>
      </p:graphicFrame>
    </p:spTree>
    <p:extLst>
      <p:ext uri="{BB962C8B-B14F-4D97-AF65-F5344CB8AC3E}">
        <p14:creationId xmlns:p14="http://schemas.microsoft.com/office/powerpoint/2010/main" val="69239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a:xfrm>
            <a:off x="457200" y="-27384"/>
            <a:ext cx="8229600" cy="1143000"/>
          </a:xfrm>
        </p:spPr>
        <p:txBody>
          <a:bodyPr>
            <a:normAutofit/>
          </a:bodyPr>
          <a:lstStyle/>
          <a:p>
            <a:r>
              <a:rPr lang="en-US" sz="3200" dirty="0">
                <a:latin typeface="Cambria" panose="02040503050406030204" pitchFamily="18" charset="0"/>
                <a:ea typeface="Cambria" panose="02040503050406030204" pitchFamily="18" charset="0"/>
              </a:rPr>
              <a:t>The case of two </a:t>
            </a:r>
            <a:r>
              <a:rPr lang="en-US" sz="3200" dirty="0" err="1">
                <a:latin typeface="Cambria" panose="02040503050406030204" pitchFamily="18" charset="0"/>
                <a:ea typeface="Cambria" panose="02040503050406030204" pitchFamily="18" charset="0"/>
              </a:rPr>
              <a:t>quantitatives</a:t>
            </a:r>
            <a:r>
              <a:rPr lang="en-US" sz="3200" dirty="0">
                <a:latin typeface="Cambria" panose="02040503050406030204" pitchFamily="18" charset="0"/>
                <a:ea typeface="Cambria" panose="02040503050406030204" pitchFamily="18" charset="0"/>
              </a:rPr>
              <a:t> whose data are presented in a contingency table</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err="1">
                <a:latin typeface="Cambria" panose="02040503050406030204" pitchFamily="18" charset="0"/>
                <a:ea typeface="Cambria" panose="02040503050406030204" pitchFamily="18" charset="0"/>
              </a:rPr>
              <a:t>Introductory</a:t>
            </a:r>
            <a:r>
              <a:rPr lang="fr-FR" sz="2000" b="1" dirty="0">
                <a:latin typeface="Cambria" panose="02040503050406030204" pitchFamily="18" charset="0"/>
                <a:ea typeface="Cambria" panose="02040503050406030204" pitchFamily="18" charset="0"/>
              </a:rPr>
              <a:t> </a:t>
            </a:r>
            <a:r>
              <a:rPr lang="fr-FR" sz="2000" b="1" dirty="0" err="1">
                <a:latin typeface="Cambria" panose="02040503050406030204" pitchFamily="18" charset="0"/>
                <a:ea typeface="Cambria" panose="02040503050406030204" pitchFamily="18" charset="0"/>
              </a:rPr>
              <a:t>example</a:t>
            </a:r>
            <a:r>
              <a:rPr lang="fr-FR" sz="2000" b="1" dirty="0">
                <a:latin typeface="Cambria" panose="02040503050406030204" pitchFamily="18" charset="0"/>
                <a:ea typeface="Cambria" panose="02040503050406030204" pitchFamily="18" charset="0"/>
              </a:rPr>
              <a:t>: </a:t>
            </a:r>
          </a:p>
          <a:p>
            <a:pPr marL="0" indent="0">
              <a:buNone/>
            </a:pPr>
            <a:r>
              <a:rPr lang="fr-FR" sz="2000" u="sng" dirty="0">
                <a:latin typeface="Cambria" panose="02040503050406030204" pitchFamily="18" charset="0"/>
                <a:ea typeface="Cambria" panose="02040503050406030204" pitchFamily="18" charset="0"/>
              </a:rPr>
              <a:t>The data</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p:sp>
        <p:nvSpPr>
          <p:cNvPr id="6" name="Flèche : droite 5">
            <a:extLst>
              <a:ext uri="{FF2B5EF4-FFF2-40B4-BE49-F238E27FC236}">
                <a16:creationId xmlns:a16="http://schemas.microsoft.com/office/drawing/2014/main" id="{ABA39DB7-A081-4815-B0FE-B9DD2FA46E2D}"/>
              </a:ext>
            </a:extLst>
          </p:cNvPr>
          <p:cNvSpPr/>
          <p:nvPr/>
        </p:nvSpPr>
        <p:spPr>
          <a:xfrm rot="19573550">
            <a:off x="4217135" y="2963286"/>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8" name="Tableau 8">
            <a:extLst>
              <a:ext uri="{FF2B5EF4-FFF2-40B4-BE49-F238E27FC236}">
                <a16:creationId xmlns:a16="http://schemas.microsoft.com/office/drawing/2014/main" id="{80FA9FC0-3D6C-48F0-9361-1979021867B3}"/>
              </a:ext>
            </a:extLst>
          </p:cNvPr>
          <p:cNvGraphicFramePr>
            <a:graphicFrameLocks noGrp="1"/>
          </p:cNvGraphicFramePr>
          <p:nvPr/>
        </p:nvGraphicFramePr>
        <p:xfrm>
          <a:off x="295035" y="3029762"/>
          <a:ext cx="3384376" cy="1483360"/>
        </p:xfrm>
        <a:graphic>
          <a:graphicData uri="http://schemas.openxmlformats.org/drawingml/2006/table">
            <a:tbl>
              <a:tblPr firstRow="1" bandRow="1">
                <a:tableStyleId>{5940675A-B579-460E-94D1-54222C63F5DA}</a:tableStyleId>
              </a:tblPr>
              <a:tblGrid>
                <a:gridCol w="423047">
                  <a:extLst>
                    <a:ext uri="{9D8B030D-6E8A-4147-A177-3AD203B41FA5}">
                      <a16:colId xmlns:a16="http://schemas.microsoft.com/office/drawing/2014/main" val="2680239378"/>
                    </a:ext>
                  </a:extLst>
                </a:gridCol>
                <a:gridCol w="423047">
                  <a:extLst>
                    <a:ext uri="{9D8B030D-6E8A-4147-A177-3AD203B41FA5}">
                      <a16:colId xmlns:a16="http://schemas.microsoft.com/office/drawing/2014/main" val="517231769"/>
                    </a:ext>
                  </a:extLst>
                </a:gridCol>
                <a:gridCol w="846094">
                  <a:extLst>
                    <a:ext uri="{9D8B030D-6E8A-4147-A177-3AD203B41FA5}">
                      <a16:colId xmlns:a16="http://schemas.microsoft.com/office/drawing/2014/main" val="412879631"/>
                    </a:ext>
                  </a:extLst>
                </a:gridCol>
                <a:gridCol w="846094">
                  <a:extLst>
                    <a:ext uri="{9D8B030D-6E8A-4147-A177-3AD203B41FA5}">
                      <a16:colId xmlns:a16="http://schemas.microsoft.com/office/drawing/2014/main" val="3381253237"/>
                    </a:ext>
                  </a:extLst>
                </a:gridCol>
                <a:gridCol w="846094">
                  <a:extLst>
                    <a:ext uri="{9D8B030D-6E8A-4147-A177-3AD203B41FA5}">
                      <a16:colId xmlns:a16="http://schemas.microsoft.com/office/drawing/2014/main" val="1861021549"/>
                    </a:ext>
                  </a:extLst>
                </a:gridCol>
              </a:tblGrid>
              <a:tr h="370840">
                <a:tc>
                  <a:txBody>
                    <a:bodyPr/>
                    <a:lstStyle/>
                    <a:p>
                      <a:pPr algn="ctr"/>
                      <a:r>
                        <a:rPr lang="fr-FR" dirty="0">
                          <a:solidFill>
                            <a:srgbClr val="FF0000"/>
                          </a:solidFill>
                        </a:rPr>
                        <a:t>x</a:t>
                      </a:r>
                    </a:p>
                  </a:txBody>
                  <a:tcPr/>
                </a:tc>
                <a:tc>
                  <a:txBody>
                    <a:bodyPr/>
                    <a:lstStyle/>
                    <a:p>
                      <a:pPr algn="ctr"/>
                      <a:r>
                        <a:rPr lang="fr-FR" dirty="0">
                          <a:solidFill>
                            <a:srgbClr val="FF0000"/>
                          </a:solidFill>
                        </a:rPr>
                        <a:t>y</a:t>
                      </a:r>
                    </a:p>
                  </a:txBody>
                  <a:tcPr/>
                </a:tc>
                <a:tc>
                  <a:txBody>
                    <a:bodyPr/>
                    <a:lstStyle/>
                    <a:p>
                      <a:pPr algn="ctr"/>
                      <a:r>
                        <a:rPr lang="fr-FR" b="1" dirty="0"/>
                        <a:t>1</a:t>
                      </a:r>
                    </a:p>
                  </a:txBody>
                  <a:tcPr/>
                </a:tc>
                <a:tc>
                  <a:txBody>
                    <a:bodyPr/>
                    <a:lstStyle/>
                    <a:p>
                      <a:pPr algn="ctr"/>
                      <a:r>
                        <a:rPr lang="fr-FR" b="1" dirty="0"/>
                        <a:t>0</a:t>
                      </a:r>
                    </a:p>
                  </a:txBody>
                  <a:tcPr/>
                </a:tc>
                <a:tc>
                  <a:txBody>
                    <a:bodyPr/>
                    <a:lstStyle/>
                    <a:p>
                      <a:pPr algn="ctr"/>
                      <a:r>
                        <a:rPr lang="fr-FR" b="1" dirty="0"/>
                        <a:t>-0.25</a:t>
                      </a:r>
                    </a:p>
                  </a:txBody>
                  <a:tcPr/>
                </a:tc>
                <a:extLst>
                  <a:ext uri="{0D108BD9-81ED-4DB2-BD59-A6C34878D82A}">
                    <a16:rowId xmlns:a16="http://schemas.microsoft.com/office/drawing/2014/main" val="2629938792"/>
                  </a:ext>
                </a:extLst>
              </a:tr>
              <a:tr h="370840">
                <a:tc gridSpan="2">
                  <a:txBody>
                    <a:bodyPr/>
                    <a:lstStyle/>
                    <a:p>
                      <a:pPr algn="ctr"/>
                      <a:r>
                        <a:rPr lang="fr-FR" b="1" dirty="0"/>
                        <a:t>1</a:t>
                      </a:r>
                    </a:p>
                  </a:txBody>
                  <a:tcPr/>
                </a:tc>
                <a:tc hMerge="1">
                  <a:txBody>
                    <a:bodyPr/>
                    <a:lstStyle/>
                    <a:p>
                      <a:endParaRPr lang="fr-FR"/>
                    </a:p>
                  </a:txBody>
                  <a:tcPr/>
                </a:tc>
                <a:tc>
                  <a:txBody>
                    <a:bodyPr/>
                    <a:lstStyle/>
                    <a:p>
                      <a:pPr algn="ctr"/>
                      <a:r>
                        <a:rPr lang="fr-FR" dirty="0">
                          <a:solidFill>
                            <a:schemeClr val="accent5"/>
                          </a:solidFill>
                        </a:rPr>
                        <a:t>5</a:t>
                      </a: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1</a:t>
                      </a:r>
                    </a:p>
                  </a:txBody>
                  <a:tcPr/>
                </a:tc>
                <a:extLst>
                  <a:ext uri="{0D108BD9-81ED-4DB2-BD59-A6C34878D82A}">
                    <a16:rowId xmlns:a16="http://schemas.microsoft.com/office/drawing/2014/main" val="2510468522"/>
                  </a:ext>
                </a:extLst>
              </a:tr>
              <a:tr h="370840">
                <a:tc gridSpan="2">
                  <a:txBody>
                    <a:bodyPr/>
                    <a:lstStyle/>
                    <a:p>
                      <a:pPr algn="ctr"/>
                      <a:r>
                        <a:rPr lang="fr-FR" b="1" dirty="0"/>
                        <a:t>0</a:t>
                      </a:r>
                    </a:p>
                  </a:txBody>
                  <a:tcPr/>
                </a:tc>
                <a:tc hMerge="1">
                  <a:txBody>
                    <a:bodyPr/>
                    <a:lstStyle/>
                    <a:p>
                      <a:endParaRPr lang="fr-FR"/>
                    </a:p>
                  </a:txBody>
                  <a:tcPr/>
                </a:tc>
                <a:tc>
                  <a:txBody>
                    <a:bodyPr/>
                    <a:lstStyle/>
                    <a:p>
                      <a:pPr algn="ctr"/>
                      <a:r>
                        <a:rPr lang="fr-FR" dirty="0">
                          <a:solidFill>
                            <a:schemeClr val="accent5"/>
                          </a:solidFill>
                        </a:rPr>
                        <a:t>6</a:t>
                      </a:r>
                    </a:p>
                  </a:txBody>
                  <a:tcPr/>
                </a:tc>
                <a:tc>
                  <a:txBody>
                    <a:bodyPr/>
                    <a:lstStyle/>
                    <a:p>
                      <a:pPr algn="ctr"/>
                      <a:r>
                        <a:rPr lang="fr-FR" dirty="0">
                          <a:solidFill>
                            <a:schemeClr val="accent5"/>
                          </a:solidFill>
                        </a:rPr>
                        <a:t>2</a:t>
                      </a:r>
                    </a:p>
                  </a:txBody>
                  <a:tcPr/>
                </a:tc>
                <a:tc>
                  <a:txBody>
                    <a:bodyPr/>
                    <a:lstStyle/>
                    <a:p>
                      <a:pPr algn="ctr"/>
                      <a:r>
                        <a:rPr lang="fr-FR" dirty="0">
                          <a:solidFill>
                            <a:schemeClr val="accent5"/>
                          </a:solidFill>
                        </a:rPr>
                        <a:t>1</a:t>
                      </a:r>
                    </a:p>
                  </a:txBody>
                  <a:tcPr/>
                </a:tc>
                <a:extLst>
                  <a:ext uri="{0D108BD9-81ED-4DB2-BD59-A6C34878D82A}">
                    <a16:rowId xmlns:a16="http://schemas.microsoft.com/office/drawing/2014/main" val="3309718849"/>
                  </a:ext>
                </a:extLst>
              </a:tr>
              <a:tr h="370840">
                <a:tc gridSpan="2">
                  <a:txBody>
                    <a:bodyPr/>
                    <a:lstStyle/>
                    <a:p>
                      <a:pPr algn="ctr"/>
                      <a:r>
                        <a:rPr lang="fr-FR" b="1" dirty="0"/>
                        <a:t>-0.25</a:t>
                      </a:r>
                    </a:p>
                  </a:txBody>
                  <a:tcPr/>
                </a:tc>
                <a:tc hMerge="1">
                  <a:txBody>
                    <a:bodyPr/>
                    <a:lstStyle/>
                    <a:p>
                      <a:endParaRPr lang="fr-F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2</a:t>
                      </a:r>
                    </a:p>
                  </a:txBody>
                  <a:tcPr/>
                </a:tc>
                <a:extLst>
                  <a:ext uri="{0D108BD9-81ED-4DB2-BD59-A6C34878D82A}">
                    <a16:rowId xmlns:a16="http://schemas.microsoft.com/office/drawing/2014/main" val="3390020108"/>
                  </a:ext>
                </a:extLst>
              </a:tr>
            </a:tbl>
          </a:graphicData>
        </a:graphic>
      </p:graphicFrame>
      <p:sp>
        <p:nvSpPr>
          <p:cNvPr id="11" name="Flèche : droite 10">
            <a:extLst>
              <a:ext uri="{FF2B5EF4-FFF2-40B4-BE49-F238E27FC236}">
                <a16:creationId xmlns:a16="http://schemas.microsoft.com/office/drawing/2014/main" id="{3AED65F5-7C9D-4280-A08E-7D831E617C8F}"/>
              </a:ext>
            </a:extLst>
          </p:cNvPr>
          <p:cNvSpPr/>
          <p:nvPr/>
        </p:nvSpPr>
        <p:spPr>
          <a:xfrm rot="1916742">
            <a:off x="4217940" y="4183066"/>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4" name="Tableau 11">
            <a:extLst>
              <a:ext uri="{FF2B5EF4-FFF2-40B4-BE49-F238E27FC236}">
                <a16:creationId xmlns:a16="http://schemas.microsoft.com/office/drawing/2014/main" id="{B4129A5B-B832-4F02-A03F-E8D0190CCAB5}"/>
              </a:ext>
            </a:extLst>
          </p:cNvPr>
          <p:cNvGraphicFramePr>
            <a:graphicFrameLocks noGrp="1"/>
          </p:cNvGraphicFramePr>
          <p:nvPr/>
        </p:nvGraphicFramePr>
        <p:xfrm>
          <a:off x="5395397" y="1838340"/>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x</a:t>
                      </a:r>
                    </a:p>
                  </a:txBody>
                  <a:tcPr/>
                </a:tc>
                <a:tc>
                  <a:txBody>
                    <a:bodyPr/>
                    <a:lstStyle/>
                    <a:p>
                      <a:pPr algn="ctr"/>
                      <a:r>
                        <a:rPr lang="fr-FR" b="1" dirty="0"/>
                        <a:t>Nb of </a:t>
                      </a:r>
                      <a:r>
                        <a:rPr lang="fr-FR" b="1" dirty="0" err="1"/>
                        <a:t>students</a:t>
                      </a:r>
                      <a:endParaRPr lang="fr-FR" b="1" dirty="0"/>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r>
                        <a:rPr lang="fr-FR" dirty="0">
                          <a:solidFill>
                            <a:schemeClr val="accent5"/>
                          </a:solidFill>
                        </a:rPr>
                        <a:t>7</a:t>
                      </a: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r>
                        <a:rPr lang="fr-FR" dirty="0">
                          <a:solidFill>
                            <a:schemeClr val="accent5"/>
                          </a:solidFill>
                        </a:rPr>
                        <a:t>9</a:t>
                      </a: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1840458399"/>
                  </a:ext>
                </a:extLst>
              </a:tr>
            </a:tbl>
          </a:graphicData>
        </a:graphic>
      </p:graphicFrame>
      <p:graphicFrame>
        <p:nvGraphicFramePr>
          <p:cNvPr id="12" name="Tableau 11">
            <a:extLst>
              <a:ext uri="{FF2B5EF4-FFF2-40B4-BE49-F238E27FC236}">
                <a16:creationId xmlns:a16="http://schemas.microsoft.com/office/drawing/2014/main" id="{36B5C094-F949-42AC-801F-29F51B4960B9}"/>
              </a:ext>
            </a:extLst>
          </p:cNvPr>
          <p:cNvGraphicFramePr>
            <a:graphicFrameLocks noGrp="1"/>
          </p:cNvGraphicFramePr>
          <p:nvPr/>
        </p:nvGraphicFramePr>
        <p:xfrm>
          <a:off x="5395397" y="4399090"/>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y</a:t>
                      </a:r>
                    </a:p>
                  </a:txBody>
                  <a:tcPr/>
                </a:tc>
                <a:tc>
                  <a:txBody>
                    <a:bodyPr/>
                    <a:lstStyle/>
                    <a:p>
                      <a:pPr algn="ctr"/>
                      <a:r>
                        <a:rPr lang="fr-FR" b="1" dirty="0"/>
                        <a:t>Nb of </a:t>
                      </a:r>
                      <a:r>
                        <a:rPr lang="fr-FR" b="1" dirty="0" err="1"/>
                        <a:t>students</a:t>
                      </a:r>
                      <a:endParaRPr lang="fr-FR" b="1" dirty="0"/>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r>
                        <a:rPr lang="fr-FR" dirty="0">
                          <a:solidFill>
                            <a:schemeClr val="accent5"/>
                          </a:solidFill>
                        </a:rPr>
                        <a:t>12</a:t>
                      </a: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1840458399"/>
                  </a:ext>
                </a:extLst>
              </a:tr>
            </a:tbl>
          </a:graphicData>
        </a:graphic>
      </p:graphicFrame>
    </p:spTree>
    <p:extLst>
      <p:ext uri="{BB962C8B-B14F-4D97-AF65-F5344CB8AC3E}">
        <p14:creationId xmlns:p14="http://schemas.microsoft.com/office/powerpoint/2010/main" val="1277184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a:xfrm>
            <a:off x="457200" y="44624"/>
            <a:ext cx="8229600" cy="1143000"/>
          </a:xfrm>
        </p:spPr>
        <p:txBody>
          <a:bodyPr>
            <a:normAutofit/>
          </a:bodyPr>
          <a:lstStyle/>
          <a:p>
            <a:r>
              <a:rPr lang="en-US" sz="3200" dirty="0">
                <a:latin typeface="Cambria" panose="02040503050406030204" pitchFamily="18" charset="0"/>
                <a:ea typeface="Cambria" panose="02040503050406030204" pitchFamily="18" charset="0"/>
              </a:rPr>
              <a:t>The case of two </a:t>
            </a:r>
            <a:r>
              <a:rPr lang="en-US" sz="3200" dirty="0" err="1">
                <a:latin typeface="Cambria" panose="02040503050406030204" pitchFamily="18" charset="0"/>
                <a:ea typeface="Cambria" panose="02040503050406030204" pitchFamily="18" charset="0"/>
              </a:rPr>
              <a:t>quantitatives</a:t>
            </a:r>
            <a:r>
              <a:rPr lang="en-US" sz="3200" dirty="0">
                <a:latin typeface="Cambria" panose="02040503050406030204" pitchFamily="18" charset="0"/>
                <a:ea typeface="Cambria" panose="02040503050406030204" pitchFamily="18" charset="0"/>
              </a:rPr>
              <a:t> whose data are presented in a contingency table</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err="1">
                <a:latin typeface="Cambria" panose="02040503050406030204" pitchFamily="18" charset="0"/>
                <a:ea typeface="Cambria" panose="02040503050406030204" pitchFamily="18" charset="0"/>
              </a:rPr>
              <a:t>Introductory</a:t>
            </a:r>
            <a:r>
              <a:rPr lang="fr-FR" sz="2000" b="1" dirty="0">
                <a:latin typeface="Cambria" panose="02040503050406030204" pitchFamily="18" charset="0"/>
                <a:ea typeface="Cambria" panose="02040503050406030204" pitchFamily="18" charset="0"/>
              </a:rPr>
              <a:t> </a:t>
            </a:r>
            <a:r>
              <a:rPr lang="fr-FR" sz="2000" b="1" dirty="0" err="1">
                <a:latin typeface="Cambria" panose="02040503050406030204" pitchFamily="18" charset="0"/>
                <a:ea typeface="Cambria" panose="02040503050406030204" pitchFamily="18" charset="0"/>
              </a:rPr>
              <a:t>example</a:t>
            </a:r>
            <a:r>
              <a:rPr lang="fr-FR" sz="2000" b="1" dirty="0">
                <a:latin typeface="Cambria" panose="02040503050406030204" pitchFamily="18" charset="0"/>
                <a:ea typeface="Cambria" panose="02040503050406030204" pitchFamily="18" charset="0"/>
              </a:rPr>
              <a:t>:</a:t>
            </a:r>
          </a:p>
          <a:p>
            <a:pPr marL="0" indent="0">
              <a:buNone/>
            </a:pPr>
            <a:r>
              <a:rPr lang="fr-FR" sz="2000" u="sng" dirty="0">
                <a:latin typeface="Cambria" panose="02040503050406030204" pitchFamily="18" charset="0"/>
                <a:ea typeface="Cambria" panose="02040503050406030204" pitchFamily="18" charset="0"/>
              </a:rPr>
              <a:t>The data</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p:sp>
        <p:nvSpPr>
          <p:cNvPr id="6" name="Flèche : droite 5">
            <a:extLst>
              <a:ext uri="{FF2B5EF4-FFF2-40B4-BE49-F238E27FC236}">
                <a16:creationId xmlns:a16="http://schemas.microsoft.com/office/drawing/2014/main" id="{ABA39DB7-A081-4815-B0FE-B9DD2FA46E2D}"/>
              </a:ext>
            </a:extLst>
          </p:cNvPr>
          <p:cNvSpPr/>
          <p:nvPr/>
        </p:nvSpPr>
        <p:spPr>
          <a:xfrm>
            <a:off x="3995936" y="2737683"/>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Flèche : droite 10">
            <a:extLst>
              <a:ext uri="{FF2B5EF4-FFF2-40B4-BE49-F238E27FC236}">
                <a16:creationId xmlns:a16="http://schemas.microsoft.com/office/drawing/2014/main" id="{3AED65F5-7C9D-4280-A08E-7D831E617C8F}"/>
              </a:ext>
            </a:extLst>
          </p:cNvPr>
          <p:cNvSpPr/>
          <p:nvPr/>
        </p:nvSpPr>
        <p:spPr>
          <a:xfrm>
            <a:off x="3995936" y="5046010"/>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4" name="Tableau 11">
            <a:extLst>
              <a:ext uri="{FF2B5EF4-FFF2-40B4-BE49-F238E27FC236}">
                <a16:creationId xmlns:a16="http://schemas.microsoft.com/office/drawing/2014/main" id="{B4129A5B-B832-4F02-A03F-E8D0190CCAB5}"/>
              </a:ext>
            </a:extLst>
          </p:cNvPr>
          <p:cNvGraphicFramePr>
            <a:graphicFrameLocks noGrp="1"/>
          </p:cNvGraphicFramePr>
          <p:nvPr>
            <p:extLst>
              <p:ext uri="{D42A27DB-BD31-4B8C-83A1-F6EECF244321}">
                <p14:modId xmlns:p14="http://schemas.microsoft.com/office/powerpoint/2010/main" val="57983637"/>
              </p:ext>
            </p:extLst>
          </p:nvPr>
        </p:nvGraphicFramePr>
        <p:xfrm>
          <a:off x="27409" y="2182708"/>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x</a:t>
                      </a:r>
                    </a:p>
                  </a:txBody>
                  <a:tcPr/>
                </a:tc>
                <a:tc>
                  <a:txBody>
                    <a:bodyPr/>
                    <a:lstStyle/>
                    <a:p>
                      <a:pPr algn="ctr"/>
                      <a:r>
                        <a:rPr lang="fr-FR" b="1" dirty="0"/>
                        <a:t>Nb of </a:t>
                      </a:r>
                      <a:r>
                        <a:rPr lang="fr-FR" b="1" dirty="0" err="1"/>
                        <a:t>students</a:t>
                      </a:r>
                      <a:endParaRPr lang="fr-FR" b="1" dirty="0"/>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r>
                        <a:rPr lang="fr-FR" dirty="0">
                          <a:solidFill>
                            <a:schemeClr val="accent5"/>
                          </a:solidFill>
                        </a:rPr>
                        <a:t>7</a:t>
                      </a: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r>
                        <a:rPr lang="fr-FR" dirty="0">
                          <a:solidFill>
                            <a:schemeClr val="accent5"/>
                          </a:solidFill>
                        </a:rPr>
                        <a:t>9</a:t>
                      </a: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1840458399"/>
                  </a:ext>
                </a:extLst>
              </a:tr>
            </a:tbl>
          </a:graphicData>
        </a:graphic>
      </p:graphicFrame>
      <p:graphicFrame>
        <p:nvGraphicFramePr>
          <p:cNvPr id="12" name="Tableau 11">
            <a:extLst>
              <a:ext uri="{FF2B5EF4-FFF2-40B4-BE49-F238E27FC236}">
                <a16:creationId xmlns:a16="http://schemas.microsoft.com/office/drawing/2014/main" id="{36B5C094-F949-42AC-801F-29F51B4960B9}"/>
              </a:ext>
            </a:extLst>
          </p:cNvPr>
          <p:cNvGraphicFramePr>
            <a:graphicFrameLocks noGrp="1"/>
          </p:cNvGraphicFramePr>
          <p:nvPr>
            <p:extLst>
              <p:ext uri="{D42A27DB-BD31-4B8C-83A1-F6EECF244321}">
                <p14:modId xmlns:p14="http://schemas.microsoft.com/office/powerpoint/2010/main" val="2520275662"/>
              </p:ext>
            </p:extLst>
          </p:nvPr>
        </p:nvGraphicFramePr>
        <p:xfrm>
          <a:off x="41176" y="4520354"/>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y</a:t>
                      </a:r>
                    </a:p>
                  </a:txBody>
                  <a:tcPr/>
                </a:tc>
                <a:tc>
                  <a:txBody>
                    <a:bodyPr/>
                    <a:lstStyle/>
                    <a:p>
                      <a:pPr algn="ctr"/>
                      <a:r>
                        <a:rPr lang="fr-FR" b="1" dirty="0"/>
                        <a:t>Nb of </a:t>
                      </a:r>
                      <a:r>
                        <a:rPr lang="fr-FR" b="1" dirty="0" err="1"/>
                        <a:t>students</a:t>
                      </a:r>
                      <a:endParaRPr lang="fr-FR" b="1" dirty="0"/>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r>
                        <a:rPr lang="fr-FR" dirty="0">
                          <a:solidFill>
                            <a:schemeClr val="accent5"/>
                          </a:solidFill>
                        </a:rPr>
                        <a:t>12</a:t>
                      </a: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1840458399"/>
                  </a:ext>
                </a:extLst>
              </a:tr>
            </a:tbl>
          </a:graphicData>
        </a:graphic>
      </p:graphicFrame>
      <p:sp>
        <p:nvSpPr>
          <p:cNvPr id="5" name="Accolade ouvrante 4">
            <a:extLst>
              <a:ext uri="{FF2B5EF4-FFF2-40B4-BE49-F238E27FC236}">
                <a16:creationId xmlns:a16="http://schemas.microsoft.com/office/drawing/2014/main" id="{19F82EA2-7E5A-4CEB-9B82-920FC00980DA}"/>
              </a:ext>
            </a:extLst>
          </p:cNvPr>
          <p:cNvSpPr/>
          <p:nvPr/>
        </p:nvSpPr>
        <p:spPr>
          <a:xfrm>
            <a:off x="5058011" y="2372344"/>
            <a:ext cx="1080120" cy="1151016"/>
          </a:xfrm>
          <a:prstGeom prst="leftBrace">
            <a:avLst/>
          </a:prstGeom>
          <a:ln>
            <a:solidFill>
              <a:srgbClr val="FFFF00"/>
            </a:solidFill>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fr-FR"/>
          </a:p>
        </p:txBody>
      </p:sp>
      <p:sp>
        <p:nvSpPr>
          <p:cNvPr id="10" name="Accolade ouvrante 9">
            <a:extLst>
              <a:ext uri="{FF2B5EF4-FFF2-40B4-BE49-F238E27FC236}">
                <a16:creationId xmlns:a16="http://schemas.microsoft.com/office/drawing/2014/main" id="{3511B3C5-1397-4BD7-BD89-174EEC011CD2}"/>
              </a:ext>
            </a:extLst>
          </p:cNvPr>
          <p:cNvSpPr/>
          <p:nvPr/>
        </p:nvSpPr>
        <p:spPr>
          <a:xfrm>
            <a:off x="5106382" y="4664292"/>
            <a:ext cx="1080120" cy="1195484"/>
          </a:xfrm>
          <a:prstGeom prst="leftBrace">
            <a:avLst/>
          </a:prstGeom>
          <a:ln>
            <a:solidFill>
              <a:srgbClr val="FFFF00"/>
            </a:solidFill>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fr-FR"/>
          </a:p>
        </p:txBody>
      </p:sp>
      <mc:AlternateContent xmlns:mc="http://schemas.openxmlformats.org/markup-compatibility/2006">
        <mc:Choice xmlns:a14="http://schemas.microsoft.com/office/drawing/2010/main" Requires="a14">
          <p:sp>
            <p:nvSpPr>
              <p:cNvPr id="7" name="ZoneTexte 6">
                <a:extLst>
                  <a:ext uri="{FF2B5EF4-FFF2-40B4-BE49-F238E27FC236}">
                    <a16:creationId xmlns:a16="http://schemas.microsoft.com/office/drawing/2014/main" id="{55E00811-B112-4A74-944D-6D2FF20D1720}"/>
                  </a:ext>
                </a:extLst>
              </p:cNvPr>
              <p:cNvSpPr txBox="1"/>
              <p:nvPr/>
            </p:nvSpPr>
            <p:spPr>
              <a:xfrm>
                <a:off x="5508104" y="2588725"/>
                <a:ext cx="2746648"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fr-FR" i="1" smtClean="0">
                              <a:solidFill>
                                <a:srgbClr val="FF0000"/>
                              </a:solidFill>
                              <a:latin typeface="Cambria Math" panose="02040503050406030204" pitchFamily="18" charset="0"/>
                            </a:rPr>
                          </m:ctrlPr>
                        </m:accPr>
                        <m:e>
                          <m:r>
                            <a:rPr lang="fr-FR" b="0" i="1" smtClean="0">
                              <a:solidFill>
                                <a:srgbClr val="FF0000"/>
                              </a:solidFill>
                              <a:latin typeface="Cambria Math" panose="02040503050406030204" pitchFamily="18" charset="0"/>
                            </a:rPr>
                            <m:t>𝑥</m:t>
                          </m:r>
                        </m:e>
                      </m:acc>
                      <m:r>
                        <a:rPr lang="fr-FR" b="0" i="1" smtClean="0">
                          <a:solidFill>
                            <a:srgbClr val="FF0000"/>
                          </a:solidFill>
                          <a:latin typeface="Cambria Math" panose="02040503050406030204" pitchFamily="18" charset="0"/>
                        </a:rPr>
                        <m:t>=</m:t>
                      </m:r>
                      <m:r>
                        <a:rPr lang="fr-FR" b="0" i="1" smtClean="0">
                          <a:solidFill>
                            <a:srgbClr val="FF0000"/>
                          </a:solidFill>
                          <a:latin typeface="Cambria Math" panose="02040503050406030204" pitchFamily="18" charset="0"/>
                        </a:rPr>
                        <m:t> ??</m:t>
                      </m:r>
                    </m:oMath>
                  </m:oMathPara>
                </a14:m>
                <a:endParaRPr lang="fr-FR" b="0" dirty="0">
                  <a:solidFill>
                    <a:srgbClr val="FF0000"/>
                  </a:solidFill>
                </a:endParaRPr>
              </a:p>
              <a:p>
                <a:pPr/>
                <a14:m>
                  <m:oMathPara xmlns:m="http://schemas.openxmlformats.org/officeDocument/2006/math">
                    <m:oMathParaPr>
                      <m:jc m:val="centerGroup"/>
                    </m:oMathParaPr>
                    <m:oMath xmlns:m="http://schemas.openxmlformats.org/officeDocument/2006/math">
                      <m:sSub>
                        <m:sSubPr>
                          <m:ctrlPr>
                            <a:rPr lang="fr-FR"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     </m:t>
                          </m:r>
                          <m:r>
                            <a:rPr lang="fr-FR" b="0" i="1" smtClean="0">
                              <a:solidFill>
                                <a:srgbClr val="FF0000"/>
                              </a:solidFill>
                              <a:latin typeface="Cambria Math" panose="02040503050406030204" pitchFamily="18" charset="0"/>
                            </a:rPr>
                            <m:t>𝑠</m:t>
                          </m:r>
                        </m:e>
                        <m:sub>
                          <m:r>
                            <a:rPr lang="fr-FR" b="0" i="1" smtClean="0">
                              <a:solidFill>
                                <a:srgbClr val="FF0000"/>
                              </a:solidFill>
                              <a:latin typeface="Cambria Math" panose="02040503050406030204" pitchFamily="18" charset="0"/>
                            </a:rPr>
                            <m:t>𝑥</m:t>
                          </m:r>
                        </m:sub>
                      </m:sSub>
                      <m:r>
                        <a:rPr lang="fr-FR" b="0" i="1" smtClean="0">
                          <a:solidFill>
                            <a:srgbClr val="FF0000"/>
                          </a:solidFill>
                          <a:latin typeface="Cambria Math" panose="02040503050406030204" pitchFamily="18" charset="0"/>
                        </a:rPr>
                        <m:t>= ??</m:t>
                      </m:r>
                    </m:oMath>
                  </m:oMathPara>
                </a14:m>
                <a:endParaRPr lang="fr-FR" dirty="0">
                  <a:solidFill>
                    <a:srgbClr val="FF0000"/>
                  </a:solidFill>
                </a:endParaRPr>
              </a:p>
            </p:txBody>
          </p:sp>
        </mc:Choice>
        <mc:Fallback>
          <p:sp>
            <p:nvSpPr>
              <p:cNvPr id="7" name="ZoneTexte 6">
                <a:extLst>
                  <a:ext uri="{FF2B5EF4-FFF2-40B4-BE49-F238E27FC236}">
                    <a16:creationId xmlns:a16="http://schemas.microsoft.com/office/drawing/2014/main" id="{55E00811-B112-4A74-944D-6D2FF20D1720}"/>
                  </a:ext>
                </a:extLst>
              </p:cNvPr>
              <p:cNvSpPr txBox="1">
                <a:spLocks noRot="1" noChangeAspect="1" noMove="1" noResize="1" noEditPoints="1" noAdjustHandles="1" noChangeArrowheads="1" noChangeShapeType="1" noTextEdit="1"/>
              </p:cNvSpPr>
              <p:nvPr/>
            </p:nvSpPr>
            <p:spPr>
              <a:xfrm>
                <a:off x="5508104" y="2588725"/>
                <a:ext cx="2746648" cy="646331"/>
              </a:xfrm>
              <a:prstGeom prst="rect">
                <a:avLst/>
              </a:prstGeom>
              <a:blipFill>
                <a:blip r:embed="rId2"/>
                <a:stretch>
                  <a:fillRect/>
                </a:stretch>
              </a:blipFill>
            </p:spPr>
            <p:txBody>
              <a:bodyPr/>
              <a:lstStyle/>
              <a:p>
                <a:r>
                  <a:rPr lang="fr-FR">
                    <a:noFill/>
                  </a:rPr>
                  <a:t> </a:t>
                </a:r>
              </a:p>
            </p:txBody>
          </p:sp>
        </mc:Fallback>
      </mc:AlternateContent>
      <mc:AlternateContent xmlns:mc="http://schemas.openxmlformats.org/markup-compatibility/2006">
        <mc:Choice xmlns:a14="http://schemas.microsoft.com/office/drawing/2010/main" Requires="a14">
          <p:sp>
            <p:nvSpPr>
              <p:cNvPr id="13" name="ZoneTexte 12">
                <a:extLst>
                  <a:ext uri="{FF2B5EF4-FFF2-40B4-BE49-F238E27FC236}">
                    <a16:creationId xmlns:a16="http://schemas.microsoft.com/office/drawing/2014/main" id="{606ED027-C258-4AA2-AB4D-9D49588A3CE5}"/>
                  </a:ext>
                </a:extLst>
              </p:cNvPr>
              <p:cNvSpPr txBox="1"/>
              <p:nvPr/>
            </p:nvSpPr>
            <p:spPr>
              <a:xfrm>
                <a:off x="5531185" y="4938011"/>
                <a:ext cx="2746648" cy="6707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fr-FR" i="1" smtClean="0">
                              <a:solidFill>
                                <a:srgbClr val="FF0000"/>
                              </a:solidFill>
                              <a:latin typeface="Cambria Math" panose="02040503050406030204" pitchFamily="18" charset="0"/>
                            </a:rPr>
                          </m:ctrlPr>
                        </m:accPr>
                        <m:e>
                          <m:r>
                            <a:rPr lang="fr-FR" b="0" i="1" smtClean="0">
                              <a:solidFill>
                                <a:srgbClr val="FF0000"/>
                              </a:solidFill>
                              <a:latin typeface="Cambria Math" panose="02040503050406030204" pitchFamily="18" charset="0"/>
                            </a:rPr>
                            <m:t>𝑦</m:t>
                          </m:r>
                        </m:e>
                      </m:acc>
                      <m:r>
                        <a:rPr lang="fr-FR" b="0" i="1" smtClean="0">
                          <a:solidFill>
                            <a:srgbClr val="FF0000"/>
                          </a:solidFill>
                          <a:latin typeface="Cambria Math" panose="02040503050406030204" pitchFamily="18" charset="0"/>
                        </a:rPr>
                        <m:t>=</m:t>
                      </m:r>
                      <m:r>
                        <a:rPr lang="fr-FR" b="0" i="1" smtClean="0">
                          <a:solidFill>
                            <a:srgbClr val="FF0000"/>
                          </a:solidFill>
                          <a:latin typeface="Cambria Math" panose="02040503050406030204" pitchFamily="18" charset="0"/>
                        </a:rPr>
                        <m:t> ??</m:t>
                      </m:r>
                    </m:oMath>
                  </m:oMathPara>
                </a14:m>
                <a:endParaRPr lang="fr-FR" b="0" dirty="0">
                  <a:solidFill>
                    <a:srgbClr val="FF0000"/>
                  </a:solidFill>
                </a:endParaRPr>
              </a:p>
              <a:p>
                <a:pPr/>
                <a14:m>
                  <m:oMathPara xmlns:m="http://schemas.openxmlformats.org/officeDocument/2006/math">
                    <m:oMathParaPr>
                      <m:jc m:val="centerGroup"/>
                    </m:oMathParaPr>
                    <m:oMath xmlns:m="http://schemas.openxmlformats.org/officeDocument/2006/math">
                      <m:sSub>
                        <m:sSubPr>
                          <m:ctrlPr>
                            <a:rPr lang="fr-FR"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   </m:t>
                          </m:r>
                          <m:r>
                            <a:rPr lang="fr-FR" b="0" i="1" smtClean="0">
                              <a:solidFill>
                                <a:srgbClr val="FF0000"/>
                              </a:solidFill>
                              <a:latin typeface="Cambria Math" panose="02040503050406030204" pitchFamily="18" charset="0"/>
                            </a:rPr>
                            <m:t>𝑠</m:t>
                          </m:r>
                        </m:e>
                        <m:sub>
                          <m:r>
                            <a:rPr lang="fr-FR" b="0" i="1" smtClean="0">
                              <a:solidFill>
                                <a:srgbClr val="FF0000"/>
                              </a:solidFill>
                              <a:latin typeface="Cambria Math" panose="02040503050406030204" pitchFamily="18" charset="0"/>
                            </a:rPr>
                            <m:t>𝑦</m:t>
                          </m:r>
                        </m:sub>
                      </m:sSub>
                      <m:r>
                        <a:rPr lang="fr-FR" b="0" i="1" smtClean="0">
                          <a:solidFill>
                            <a:srgbClr val="FF0000"/>
                          </a:solidFill>
                          <a:latin typeface="Cambria Math" panose="02040503050406030204" pitchFamily="18" charset="0"/>
                        </a:rPr>
                        <m:t>= ??</m:t>
                      </m:r>
                    </m:oMath>
                  </m:oMathPara>
                </a14:m>
                <a:endParaRPr lang="fr-FR" dirty="0">
                  <a:solidFill>
                    <a:srgbClr val="FF0000"/>
                  </a:solidFill>
                </a:endParaRPr>
              </a:p>
            </p:txBody>
          </p:sp>
        </mc:Choice>
        <mc:Fallback>
          <p:sp>
            <p:nvSpPr>
              <p:cNvPr id="13" name="ZoneTexte 12">
                <a:extLst>
                  <a:ext uri="{FF2B5EF4-FFF2-40B4-BE49-F238E27FC236}">
                    <a16:creationId xmlns:a16="http://schemas.microsoft.com/office/drawing/2014/main" id="{606ED027-C258-4AA2-AB4D-9D49588A3CE5}"/>
                  </a:ext>
                </a:extLst>
              </p:cNvPr>
              <p:cNvSpPr txBox="1">
                <a:spLocks noRot="1" noChangeAspect="1" noMove="1" noResize="1" noEditPoints="1" noAdjustHandles="1" noChangeArrowheads="1" noChangeShapeType="1" noTextEdit="1"/>
              </p:cNvSpPr>
              <p:nvPr/>
            </p:nvSpPr>
            <p:spPr>
              <a:xfrm>
                <a:off x="5531185" y="4938011"/>
                <a:ext cx="2746648" cy="670761"/>
              </a:xfrm>
              <a:prstGeom prst="rect">
                <a:avLst/>
              </a:prstGeom>
              <a:blipFill>
                <a:blip r:embed="rId3"/>
                <a:stretch>
                  <a:fillRect b="-1818"/>
                </a:stretch>
              </a:blipFill>
            </p:spPr>
            <p:txBody>
              <a:bodyPr/>
              <a:lstStyle/>
              <a:p>
                <a:r>
                  <a:rPr lang="fr-FR">
                    <a:noFill/>
                  </a:rPr>
                  <a:t> </a:t>
                </a:r>
              </a:p>
            </p:txBody>
          </p:sp>
        </mc:Fallback>
      </mc:AlternateContent>
    </p:spTree>
    <p:extLst>
      <p:ext uri="{BB962C8B-B14F-4D97-AF65-F5344CB8AC3E}">
        <p14:creationId xmlns:p14="http://schemas.microsoft.com/office/powerpoint/2010/main" val="3655098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a:xfrm>
            <a:off x="457200" y="44624"/>
            <a:ext cx="8229600" cy="1143000"/>
          </a:xfrm>
        </p:spPr>
        <p:txBody>
          <a:bodyPr>
            <a:normAutofit/>
          </a:bodyPr>
          <a:lstStyle/>
          <a:p>
            <a:r>
              <a:rPr lang="en-US" sz="3200" dirty="0">
                <a:latin typeface="Cambria" panose="02040503050406030204" pitchFamily="18" charset="0"/>
                <a:ea typeface="Cambria" panose="02040503050406030204" pitchFamily="18" charset="0"/>
              </a:rPr>
              <a:t>The case of two </a:t>
            </a:r>
            <a:r>
              <a:rPr lang="en-US" sz="3200" dirty="0" err="1">
                <a:latin typeface="Cambria" panose="02040503050406030204" pitchFamily="18" charset="0"/>
                <a:ea typeface="Cambria" panose="02040503050406030204" pitchFamily="18" charset="0"/>
              </a:rPr>
              <a:t>quantitatives</a:t>
            </a:r>
            <a:r>
              <a:rPr lang="en-US" sz="3200" dirty="0">
                <a:latin typeface="Cambria" panose="02040503050406030204" pitchFamily="18" charset="0"/>
                <a:ea typeface="Cambria" panose="02040503050406030204" pitchFamily="18" charset="0"/>
              </a:rPr>
              <a:t> whose data are presented in a contingency table</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err="1">
                <a:latin typeface="Cambria" panose="02040503050406030204" pitchFamily="18" charset="0"/>
                <a:ea typeface="Cambria" panose="02040503050406030204" pitchFamily="18" charset="0"/>
              </a:rPr>
              <a:t>Introductory</a:t>
            </a:r>
            <a:r>
              <a:rPr lang="fr-FR" sz="2000" b="1" dirty="0">
                <a:latin typeface="Cambria" panose="02040503050406030204" pitchFamily="18" charset="0"/>
                <a:ea typeface="Cambria" panose="02040503050406030204" pitchFamily="18" charset="0"/>
              </a:rPr>
              <a:t> </a:t>
            </a:r>
            <a:r>
              <a:rPr lang="fr-FR" sz="2000" b="1" dirty="0" err="1">
                <a:latin typeface="Cambria" panose="02040503050406030204" pitchFamily="18" charset="0"/>
                <a:ea typeface="Cambria" panose="02040503050406030204" pitchFamily="18" charset="0"/>
              </a:rPr>
              <a:t>example</a:t>
            </a:r>
            <a:r>
              <a:rPr lang="fr-FR" sz="2000" b="1" dirty="0">
                <a:latin typeface="Cambria" panose="02040503050406030204" pitchFamily="18" charset="0"/>
                <a:ea typeface="Cambria" panose="02040503050406030204" pitchFamily="18" charset="0"/>
              </a:rPr>
              <a:t>:</a:t>
            </a:r>
          </a:p>
          <a:p>
            <a:pPr marL="0" indent="0">
              <a:buNone/>
            </a:pPr>
            <a:r>
              <a:rPr lang="fr-FR" sz="2000" u="sng" dirty="0">
                <a:latin typeface="Cambria" panose="02040503050406030204" pitchFamily="18" charset="0"/>
                <a:ea typeface="Cambria" panose="02040503050406030204" pitchFamily="18" charset="0"/>
              </a:rPr>
              <a:t>The data</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p:sp>
        <p:nvSpPr>
          <p:cNvPr id="6" name="Flèche : droite 5">
            <a:extLst>
              <a:ext uri="{FF2B5EF4-FFF2-40B4-BE49-F238E27FC236}">
                <a16:creationId xmlns:a16="http://schemas.microsoft.com/office/drawing/2014/main" id="{ABA39DB7-A081-4815-B0FE-B9DD2FA46E2D}"/>
              </a:ext>
            </a:extLst>
          </p:cNvPr>
          <p:cNvSpPr/>
          <p:nvPr/>
        </p:nvSpPr>
        <p:spPr>
          <a:xfrm>
            <a:off x="3995936" y="2737683"/>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Flèche : droite 10">
            <a:extLst>
              <a:ext uri="{FF2B5EF4-FFF2-40B4-BE49-F238E27FC236}">
                <a16:creationId xmlns:a16="http://schemas.microsoft.com/office/drawing/2014/main" id="{3AED65F5-7C9D-4280-A08E-7D831E617C8F}"/>
              </a:ext>
            </a:extLst>
          </p:cNvPr>
          <p:cNvSpPr/>
          <p:nvPr/>
        </p:nvSpPr>
        <p:spPr>
          <a:xfrm>
            <a:off x="3995936" y="5046010"/>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4" name="Tableau 11">
            <a:extLst>
              <a:ext uri="{FF2B5EF4-FFF2-40B4-BE49-F238E27FC236}">
                <a16:creationId xmlns:a16="http://schemas.microsoft.com/office/drawing/2014/main" id="{B4129A5B-B832-4F02-A03F-E8D0190CCAB5}"/>
              </a:ext>
            </a:extLst>
          </p:cNvPr>
          <p:cNvGraphicFramePr>
            <a:graphicFrameLocks noGrp="1"/>
          </p:cNvGraphicFramePr>
          <p:nvPr/>
        </p:nvGraphicFramePr>
        <p:xfrm>
          <a:off x="27409" y="2182708"/>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x</a:t>
                      </a:r>
                    </a:p>
                  </a:txBody>
                  <a:tcPr/>
                </a:tc>
                <a:tc>
                  <a:txBody>
                    <a:bodyPr/>
                    <a:lstStyle/>
                    <a:p>
                      <a:pPr algn="ctr"/>
                      <a:r>
                        <a:rPr lang="fr-FR" b="1" dirty="0"/>
                        <a:t>Nb of </a:t>
                      </a:r>
                      <a:r>
                        <a:rPr lang="fr-FR" b="1" dirty="0" err="1"/>
                        <a:t>students</a:t>
                      </a:r>
                      <a:endParaRPr lang="fr-FR" b="1" dirty="0"/>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r>
                        <a:rPr lang="fr-FR" dirty="0">
                          <a:solidFill>
                            <a:schemeClr val="accent5"/>
                          </a:solidFill>
                        </a:rPr>
                        <a:t>7</a:t>
                      </a: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r>
                        <a:rPr lang="fr-FR" dirty="0">
                          <a:solidFill>
                            <a:schemeClr val="accent5"/>
                          </a:solidFill>
                        </a:rPr>
                        <a:t>9</a:t>
                      </a: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1840458399"/>
                  </a:ext>
                </a:extLst>
              </a:tr>
            </a:tbl>
          </a:graphicData>
        </a:graphic>
      </p:graphicFrame>
      <p:graphicFrame>
        <p:nvGraphicFramePr>
          <p:cNvPr id="12" name="Tableau 11">
            <a:extLst>
              <a:ext uri="{FF2B5EF4-FFF2-40B4-BE49-F238E27FC236}">
                <a16:creationId xmlns:a16="http://schemas.microsoft.com/office/drawing/2014/main" id="{36B5C094-F949-42AC-801F-29F51B4960B9}"/>
              </a:ext>
            </a:extLst>
          </p:cNvPr>
          <p:cNvGraphicFramePr>
            <a:graphicFrameLocks noGrp="1"/>
          </p:cNvGraphicFramePr>
          <p:nvPr/>
        </p:nvGraphicFramePr>
        <p:xfrm>
          <a:off x="41176" y="4520354"/>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y</a:t>
                      </a:r>
                    </a:p>
                  </a:txBody>
                  <a:tcPr/>
                </a:tc>
                <a:tc>
                  <a:txBody>
                    <a:bodyPr/>
                    <a:lstStyle/>
                    <a:p>
                      <a:pPr algn="ctr"/>
                      <a:r>
                        <a:rPr lang="fr-FR" b="1" dirty="0"/>
                        <a:t>Nb of </a:t>
                      </a:r>
                      <a:r>
                        <a:rPr lang="fr-FR" b="1" dirty="0" err="1"/>
                        <a:t>students</a:t>
                      </a:r>
                      <a:endParaRPr lang="fr-FR" b="1" dirty="0"/>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r>
                        <a:rPr lang="fr-FR" dirty="0">
                          <a:solidFill>
                            <a:schemeClr val="accent5"/>
                          </a:solidFill>
                        </a:rPr>
                        <a:t>12</a:t>
                      </a: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1840458399"/>
                  </a:ext>
                </a:extLst>
              </a:tr>
            </a:tbl>
          </a:graphicData>
        </a:graphic>
      </p:graphicFrame>
      <p:sp>
        <p:nvSpPr>
          <p:cNvPr id="5" name="Accolade ouvrante 4">
            <a:extLst>
              <a:ext uri="{FF2B5EF4-FFF2-40B4-BE49-F238E27FC236}">
                <a16:creationId xmlns:a16="http://schemas.microsoft.com/office/drawing/2014/main" id="{19F82EA2-7E5A-4CEB-9B82-920FC00980DA}"/>
              </a:ext>
            </a:extLst>
          </p:cNvPr>
          <p:cNvSpPr/>
          <p:nvPr/>
        </p:nvSpPr>
        <p:spPr>
          <a:xfrm>
            <a:off x="5058011" y="2372344"/>
            <a:ext cx="1080120" cy="1151016"/>
          </a:xfrm>
          <a:prstGeom prst="leftBrace">
            <a:avLst/>
          </a:prstGeom>
          <a:ln>
            <a:solidFill>
              <a:srgbClr val="FFFF00"/>
            </a:solidFill>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fr-FR"/>
          </a:p>
        </p:txBody>
      </p:sp>
      <p:sp>
        <p:nvSpPr>
          <p:cNvPr id="10" name="Accolade ouvrante 9">
            <a:extLst>
              <a:ext uri="{FF2B5EF4-FFF2-40B4-BE49-F238E27FC236}">
                <a16:creationId xmlns:a16="http://schemas.microsoft.com/office/drawing/2014/main" id="{3511B3C5-1397-4BD7-BD89-174EEC011CD2}"/>
              </a:ext>
            </a:extLst>
          </p:cNvPr>
          <p:cNvSpPr/>
          <p:nvPr/>
        </p:nvSpPr>
        <p:spPr>
          <a:xfrm>
            <a:off x="5106382" y="4664292"/>
            <a:ext cx="1080120" cy="1195484"/>
          </a:xfrm>
          <a:prstGeom prst="leftBrace">
            <a:avLst/>
          </a:prstGeom>
          <a:ln>
            <a:solidFill>
              <a:srgbClr val="FFFF00"/>
            </a:solidFill>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fr-FR"/>
          </a:p>
        </p:txBody>
      </p:sp>
      <mc:AlternateContent xmlns:mc="http://schemas.openxmlformats.org/markup-compatibility/2006">
        <mc:Choice xmlns:a14="http://schemas.microsoft.com/office/drawing/2010/main" Requires="a14">
          <p:sp>
            <p:nvSpPr>
              <p:cNvPr id="7" name="ZoneTexte 6">
                <a:extLst>
                  <a:ext uri="{FF2B5EF4-FFF2-40B4-BE49-F238E27FC236}">
                    <a16:creationId xmlns:a16="http://schemas.microsoft.com/office/drawing/2014/main" id="{55E00811-B112-4A74-944D-6D2FF20D1720}"/>
                  </a:ext>
                </a:extLst>
              </p:cNvPr>
              <p:cNvSpPr txBox="1"/>
              <p:nvPr/>
            </p:nvSpPr>
            <p:spPr>
              <a:xfrm>
                <a:off x="5508104" y="2588725"/>
                <a:ext cx="2746648"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fr-FR" i="1" smtClean="0">
                              <a:solidFill>
                                <a:srgbClr val="FF0000"/>
                              </a:solidFill>
                              <a:latin typeface="Cambria Math" panose="02040503050406030204" pitchFamily="18" charset="0"/>
                            </a:rPr>
                          </m:ctrlPr>
                        </m:accPr>
                        <m:e>
                          <m:r>
                            <a:rPr lang="fr-FR" b="0" i="1" smtClean="0">
                              <a:solidFill>
                                <a:srgbClr val="FF0000"/>
                              </a:solidFill>
                              <a:latin typeface="Cambria Math" panose="02040503050406030204" pitchFamily="18" charset="0"/>
                            </a:rPr>
                            <m:t>𝑥</m:t>
                          </m:r>
                        </m:e>
                      </m:acc>
                      <m:r>
                        <a:rPr lang="fr-FR" b="0" i="1" smtClean="0">
                          <a:solidFill>
                            <a:srgbClr val="FF0000"/>
                          </a:solidFill>
                          <a:latin typeface="Cambria Math" panose="02040503050406030204" pitchFamily="18" charset="0"/>
                        </a:rPr>
                        <m:t>=0.3</m:t>
                      </m:r>
                    </m:oMath>
                  </m:oMathPara>
                </a14:m>
                <a:endParaRPr lang="fr-FR" b="0" dirty="0">
                  <a:solidFill>
                    <a:srgbClr val="FF0000"/>
                  </a:solidFill>
                </a:endParaRPr>
              </a:p>
              <a:p>
                <a:pPr/>
                <a14:m>
                  <m:oMathPara xmlns:m="http://schemas.openxmlformats.org/officeDocument/2006/math">
                    <m:oMathParaPr>
                      <m:jc m:val="centerGroup"/>
                    </m:oMathParaPr>
                    <m:oMath xmlns:m="http://schemas.openxmlformats.org/officeDocument/2006/math">
                      <m:sSub>
                        <m:sSubPr>
                          <m:ctrlPr>
                            <a:rPr lang="fr-FR"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     </m:t>
                          </m:r>
                          <m:r>
                            <a:rPr lang="fr-FR" b="0" i="1" smtClean="0">
                              <a:solidFill>
                                <a:srgbClr val="FF0000"/>
                              </a:solidFill>
                              <a:latin typeface="Cambria Math" panose="02040503050406030204" pitchFamily="18" charset="0"/>
                            </a:rPr>
                            <m:t>𝑠</m:t>
                          </m:r>
                        </m:e>
                        <m:sub>
                          <m:r>
                            <a:rPr lang="fr-FR" b="0" i="1" smtClean="0">
                              <a:solidFill>
                                <a:srgbClr val="FF0000"/>
                              </a:solidFill>
                              <a:latin typeface="Cambria Math" panose="02040503050406030204" pitchFamily="18" charset="0"/>
                            </a:rPr>
                            <m:t>𝑥</m:t>
                          </m:r>
                        </m:sub>
                      </m:sSub>
                      <m:r>
                        <a:rPr lang="fr-FR" i="1">
                          <a:solidFill>
                            <a:srgbClr val="FF0000"/>
                          </a:solidFill>
                          <a:latin typeface="Cambria Math" panose="02040503050406030204" pitchFamily="18" charset="0"/>
                          <a:ea typeface="Cambria Math" panose="02040503050406030204" pitchFamily="18" charset="0"/>
                        </a:rPr>
                        <m:t>≈</m:t>
                      </m:r>
                      <m:r>
                        <a:rPr lang="fr-FR" b="0" i="1" smtClean="0">
                          <a:solidFill>
                            <a:srgbClr val="FF0000"/>
                          </a:solidFill>
                          <a:latin typeface="Cambria Math" panose="02040503050406030204" pitchFamily="18" charset="0"/>
                          <a:ea typeface="Cambria Math" panose="02040503050406030204" pitchFamily="18" charset="0"/>
                        </a:rPr>
                        <m:t>0.522</m:t>
                      </m:r>
                    </m:oMath>
                  </m:oMathPara>
                </a14:m>
                <a:endParaRPr lang="fr-FR" dirty="0">
                  <a:solidFill>
                    <a:srgbClr val="FF0000"/>
                  </a:solidFill>
                </a:endParaRPr>
              </a:p>
            </p:txBody>
          </p:sp>
        </mc:Choice>
        <mc:Fallback>
          <p:sp>
            <p:nvSpPr>
              <p:cNvPr id="7" name="ZoneTexte 6">
                <a:extLst>
                  <a:ext uri="{FF2B5EF4-FFF2-40B4-BE49-F238E27FC236}">
                    <a16:creationId xmlns:a16="http://schemas.microsoft.com/office/drawing/2014/main" id="{55E00811-B112-4A74-944D-6D2FF20D1720}"/>
                  </a:ext>
                </a:extLst>
              </p:cNvPr>
              <p:cNvSpPr txBox="1">
                <a:spLocks noRot="1" noChangeAspect="1" noMove="1" noResize="1" noEditPoints="1" noAdjustHandles="1" noChangeArrowheads="1" noChangeShapeType="1" noTextEdit="1"/>
              </p:cNvSpPr>
              <p:nvPr/>
            </p:nvSpPr>
            <p:spPr>
              <a:xfrm>
                <a:off x="5508104" y="2588725"/>
                <a:ext cx="2746648" cy="646331"/>
              </a:xfrm>
              <a:prstGeom prst="rect">
                <a:avLst/>
              </a:prstGeom>
              <a:blipFill>
                <a:blip r:embed="rId2"/>
                <a:stretch>
                  <a:fillRect/>
                </a:stretch>
              </a:blipFill>
            </p:spPr>
            <p:txBody>
              <a:bodyPr/>
              <a:lstStyle/>
              <a:p>
                <a:r>
                  <a:rPr lang="fr-FR">
                    <a:noFill/>
                  </a:rPr>
                  <a:t> </a:t>
                </a:r>
              </a:p>
            </p:txBody>
          </p:sp>
        </mc:Fallback>
      </mc:AlternateContent>
      <mc:AlternateContent xmlns:mc="http://schemas.openxmlformats.org/markup-compatibility/2006">
        <mc:Choice xmlns:a14="http://schemas.microsoft.com/office/drawing/2010/main" Requires="a14">
          <p:sp>
            <p:nvSpPr>
              <p:cNvPr id="13" name="ZoneTexte 12">
                <a:extLst>
                  <a:ext uri="{FF2B5EF4-FFF2-40B4-BE49-F238E27FC236}">
                    <a16:creationId xmlns:a16="http://schemas.microsoft.com/office/drawing/2014/main" id="{606ED027-C258-4AA2-AB4D-9D49588A3CE5}"/>
                  </a:ext>
                </a:extLst>
              </p:cNvPr>
              <p:cNvSpPr txBox="1"/>
              <p:nvPr/>
            </p:nvSpPr>
            <p:spPr>
              <a:xfrm>
                <a:off x="5531185" y="4938011"/>
                <a:ext cx="2746648" cy="6707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fr-FR" i="1" smtClean="0">
                              <a:solidFill>
                                <a:srgbClr val="FF0000"/>
                              </a:solidFill>
                              <a:latin typeface="Cambria Math" panose="02040503050406030204" pitchFamily="18" charset="0"/>
                            </a:rPr>
                          </m:ctrlPr>
                        </m:accPr>
                        <m:e>
                          <m:r>
                            <a:rPr lang="fr-FR" b="0" i="1" smtClean="0">
                              <a:solidFill>
                                <a:srgbClr val="FF0000"/>
                              </a:solidFill>
                              <a:latin typeface="Cambria Math" panose="02040503050406030204" pitchFamily="18" charset="0"/>
                            </a:rPr>
                            <m:t>𝑦</m:t>
                          </m:r>
                        </m:e>
                      </m:acc>
                      <m:r>
                        <a:rPr lang="fr-FR" b="0" i="1" smtClean="0">
                          <a:solidFill>
                            <a:srgbClr val="FF0000"/>
                          </a:solidFill>
                          <a:latin typeface="Cambria Math" panose="02040503050406030204" pitchFamily="18" charset="0"/>
                        </a:rPr>
                        <m:t>=0.55</m:t>
                      </m:r>
                    </m:oMath>
                  </m:oMathPara>
                </a14:m>
                <a:endParaRPr lang="fr-FR" b="0" dirty="0">
                  <a:solidFill>
                    <a:srgbClr val="FF0000"/>
                  </a:solidFill>
                </a:endParaRPr>
              </a:p>
              <a:p>
                <a:pPr/>
                <a14:m>
                  <m:oMathPara xmlns:m="http://schemas.openxmlformats.org/officeDocument/2006/math">
                    <m:oMathParaPr>
                      <m:jc m:val="centerGroup"/>
                    </m:oMathParaPr>
                    <m:oMath xmlns:m="http://schemas.openxmlformats.org/officeDocument/2006/math">
                      <m:sSub>
                        <m:sSubPr>
                          <m:ctrlPr>
                            <a:rPr lang="fr-FR"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   </m:t>
                          </m:r>
                          <m:r>
                            <a:rPr lang="fr-FR" b="0" i="1" smtClean="0">
                              <a:solidFill>
                                <a:srgbClr val="FF0000"/>
                              </a:solidFill>
                              <a:latin typeface="Cambria Math" panose="02040503050406030204" pitchFamily="18" charset="0"/>
                            </a:rPr>
                            <m:t>𝑠</m:t>
                          </m:r>
                        </m:e>
                        <m:sub>
                          <m:r>
                            <a:rPr lang="fr-FR" b="0" i="1" smtClean="0">
                              <a:solidFill>
                                <a:srgbClr val="FF0000"/>
                              </a:solidFill>
                              <a:latin typeface="Cambria Math" panose="02040503050406030204" pitchFamily="18" charset="0"/>
                            </a:rPr>
                            <m:t>𝑦</m:t>
                          </m:r>
                        </m:sub>
                      </m:sSub>
                      <m:r>
                        <a:rPr lang="fr-FR" i="1">
                          <a:solidFill>
                            <a:srgbClr val="FF0000"/>
                          </a:solidFill>
                          <a:latin typeface="Cambria Math" panose="02040503050406030204" pitchFamily="18" charset="0"/>
                          <a:ea typeface="Cambria Math" panose="02040503050406030204" pitchFamily="18" charset="0"/>
                        </a:rPr>
                        <m:t>≈</m:t>
                      </m:r>
                      <m:r>
                        <a:rPr lang="fr-FR" b="0" i="1" smtClean="0">
                          <a:solidFill>
                            <a:srgbClr val="FF0000"/>
                          </a:solidFill>
                          <a:latin typeface="Cambria Math" panose="02040503050406030204" pitchFamily="18" charset="0"/>
                          <a:ea typeface="Cambria Math" panose="02040503050406030204" pitchFamily="18" charset="0"/>
                        </a:rPr>
                        <m:t>0.557</m:t>
                      </m:r>
                    </m:oMath>
                  </m:oMathPara>
                </a14:m>
                <a:endParaRPr lang="fr-FR" dirty="0">
                  <a:solidFill>
                    <a:srgbClr val="FF0000"/>
                  </a:solidFill>
                </a:endParaRPr>
              </a:p>
            </p:txBody>
          </p:sp>
        </mc:Choice>
        <mc:Fallback>
          <p:sp>
            <p:nvSpPr>
              <p:cNvPr id="13" name="ZoneTexte 12">
                <a:extLst>
                  <a:ext uri="{FF2B5EF4-FFF2-40B4-BE49-F238E27FC236}">
                    <a16:creationId xmlns:a16="http://schemas.microsoft.com/office/drawing/2014/main" id="{606ED027-C258-4AA2-AB4D-9D49588A3CE5}"/>
                  </a:ext>
                </a:extLst>
              </p:cNvPr>
              <p:cNvSpPr txBox="1">
                <a:spLocks noRot="1" noChangeAspect="1" noMove="1" noResize="1" noEditPoints="1" noAdjustHandles="1" noChangeArrowheads="1" noChangeShapeType="1" noTextEdit="1"/>
              </p:cNvSpPr>
              <p:nvPr/>
            </p:nvSpPr>
            <p:spPr>
              <a:xfrm>
                <a:off x="5531185" y="4938011"/>
                <a:ext cx="2746648" cy="670761"/>
              </a:xfrm>
              <a:prstGeom prst="rect">
                <a:avLst/>
              </a:prstGeom>
              <a:blipFill>
                <a:blip r:embed="rId3"/>
                <a:stretch>
                  <a:fillRect b="-1818"/>
                </a:stretch>
              </a:blipFill>
            </p:spPr>
            <p:txBody>
              <a:bodyPr/>
              <a:lstStyle/>
              <a:p>
                <a:r>
                  <a:rPr lang="fr-FR">
                    <a:noFill/>
                  </a:rPr>
                  <a:t> </a:t>
                </a:r>
              </a:p>
            </p:txBody>
          </p:sp>
        </mc:Fallback>
      </mc:AlternateContent>
    </p:spTree>
    <p:extLst>
      <p:ext uri="{BB962C8B-B14F-4D97-AF65-F5344CB8AC3E}">
        <p14:creationId xmlns:p14="http://schemas.microsoft.com/office/powerpoint/2010/main" val="1442033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a:xfrm>
            <a:off x="457200" y="-27384"/>
            <a:ext cx="8229600" cy="1143000"/>
          </a:xfrm>
        </p:spPr>
        <p:txBody>
          <a:bodyPr>
            <a:normAutofit/>
          </a:bodyPr>
          <a:lstStyle/>
          <a:p>
            <a:r>
              <a:rPr lang="en-US" sz="3200" dirty="0">
                <a:latin typeface="Cambria" panose="02040503050406030204" pitchFamily="18" charset="0"/>
                <a:ea typeface="Cambria" panose="02040503050406030204" pitchFamily="18" charset="0"/>
              </a:rPr>
              <a:t>The case of two </a:t>
            </a:r>
            <a:r>
              <a:rPr lang="en-US" sz="3200" dirty="0" err="1">
                <a:latin typeface="Cambria" panose="02040503050406030204" pitchFamily="18" charset="0"/>
                <a:ea typeface="Cambria" panose="02040503050406030204" pitchFamily="18" charset="0"/>
              </a:rPr>
              <a:t>quantitatives</a:t>
            </a:r>
            <a:r>
              <a:rPr lang="en-US" sz="3200" dirty="0">
                <a:latin typeface="Cambria" panose="02040503050406030204" pitchFamily="18" charset="0"/>
                <a:ea typeface="Cambria" panose="02040503050406030204" pitchFamily="18" charset="0"/>
              </a:rPr>
              <a:t> whose data are presented in a contingency table</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err="1">
                <a:latin typeface="Cambria" panose="02040503050406030204" pitchFamily="18" charset="0"/>
                <a:ea typeface="Cambria" panose="02040503050406030204" pitchFamily="18" charset="0"/>
              </a:rPr>
              <a:t>Introductory</a:t>
            </a:r>
            <a:r>
              <a:rPr lang="fr-FR" sz="2000" b="1" dirty="0">
                <a:latin typeface="Cambria" panose="02040503050406030204" pitchFamily="18" charset="0"/>
                <a:ea typeface="Cambria" panose="02040503050406030204" pitchFamily="18" charset="0"/>
              </a:rPr>
              <a:t> </a:t>
            </a:r>
            <a:r>
              <a:rPr lang="fr-FR" sz="2000" b="1" dirty="0" err="1">
                <a:latin typeface="Cambria" panose="02040503050406030204" pitchFamily="18" charset="0"/>
                <a:ea typeface="Cambria" panose="02040503050406030204" pitchFamily="18" charset="0"/>
              </a:rPr>
              <a:t>example</a:t>
            </a:r>
            <a:r>
              <a:rPr lang="fr-FR" sz="2000" b="1" dirty="0">
                <a:latin typeface="Cambria" panose="02040503050406030204" pitchFamily="18" charset="0"/>
                <a:ea typeface="Cambria" panose="02040503050406030204" pitchFamily="18" charset="0"/>
              </a:rPr>
              <a:t>:</a:t>
            </a:r>
          </a:p>
          <a:p>
            <a:pPr marL="0" indent="0">
              <a:buNone/>
            </a:pPr>
            <a:r>
              <a:rPr lang="fr-FR" sz="2000" u="sng" dirty="0">
                <a:latin typeface="Cambria" panose="02040503050406030204" pitchFamily="18" charset="0"/>
                <a:ea typeface="Cambria" panose="02040503050406030204" pitchFamily="18" charset="0"/>
              </a:rPr>
              <a:t>Calculation of covariance 
</a:t>
            </a:r>
            <a:endParaRPr lang="fr-FR" sz="2000" dirty="0">
              <a:latin typeface="Cambria" panose="02040503050406030204" pitchFamily="18" charset="0"/>
              <a:ea typeface="Cambria" panose="02040503050406030204" pitchFamily="18" charset="0"/>
            </a:endParaRPr>
          </a:p>
        </p:txBody>
      </p:sp>
      <p:sp>
        <p:nvSpPr>
          <p:cNvPr id="6" name="Flèche : droite 5">
            <a:extLst>
              <a:ext uri="{FF2B5EF4-FFF2-40B4-BE49-F238E27FC236}">
                <a16:creationId xmlns:a16="http://schemas.microsoft.com/office/drawing/2014/main" id="{ABA39DB7-A081-4815-B0FE-B9DD2FA46E2D}"/>
              </a:ext>
            </a:extLst>
          </p:cNvPr>
          <p:cNvSpPr/>
          <p:nvPr/>
        </p:nvSpPr>
        <p:spPr>
          <a:xfrm>
            <a:off x="2987825" y="3374566"/>
            <a:ext cx="360039"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Image 10">
            <a:extLst>
              <a:ext uri="{FF2B5EF4-FFF2-40B4-BE49-F238E27FC236}">
                <a16:creationId xmlns:a16="http://schemas.microsoft.com/office/drawing/2014/main" id="{3A4B2561-C7C2-487A-88C8-C0D4FA60A49D}"/>
              </a:ext>
            </a:extLst>
          </p:cNvPr>
          <p:cNvPicPr>
            <a:picLocks noChangeAspect="1"/>
          </p:cNvPicPr>
          <p:nvPr/>
        </p:nvPicPr>
        <p:blipFill>
          <a:blip r:embed="rId2"/>
          <a:stretch>
            <a:fillRect/>
          </a:stretch>
        </p:blipFill>
        <p:spPr>
          <a:xfrm>
            <a:off x="107505" y="2207320"/>
            <a:ext cx="2692054" cy="3165896"/>
          </a:xfrm>
          <a:prstGeom prst="rect">
            <a:avLst/>
          </a:prstGeom>
        </p:spPr>
      </p:pic>
      <p:pic>
        <p:nvPicPr>
          <p:cNvPr id="14" name="Image 13">
            <a:extLst>
              <a:ext uri="{FF2B5EF4-FFF2-40B4-BE49-F238E27FC236}">
                <a16:creationId xmlns:a16="http://schemas.microsoft.com/office/drawing/2014/main" id="{9A42703A-E6DA-4827-A404-539F03F9578E}"/>
              </a:ext>
            </a:extLst>
          </p:cNvPr>
          <p:cNvPicPr>
            <a:picLocks noChangeAspect="1"/>
          </p:cNvPicPr>
          <p:nvPr/>
        </p:nvPicPr>
        <p:blipFill>
          <a:blip r:embed="rId3"/>
          <a:stretch>
            <a:fillRect/>
          </a:stretch>
        </p:blipFill>
        <p:spPr>
          <a:xfrm>
            <a:off x="3851920" y="1854086"/>
            <a:ext cx="1009702" cy="527077"/>
          </a:xfrm>
          <a:prstGeom prst="rect">
            <a:avLst/>
          </a:prstGeom>
        </p:spPr>
      </p:pic>
      <p:sp>
        <p:nvSpPr>
          <p:cNvPr id="16" name="ZoneTexte 15">
            <a:extLst>
              <a:ext uri="{FF2B5EF4-FFF2-40B4-BE49-F238E27FC236}">
                <a16:creationId xmlns:a16="http://schemas.microsoft.com/office/drawing/2014/main" id="{9D37E00B-689E-4493-93D9-A757205BD570}"/>
              </a:ext>
            </a:extLst>
          </p:cNvPr>
          <p:cNvSpPr txBox="1"/>
          <p:nvPr/>
        </p:nvSpPr>
        <p:spPr>
          <a:xfrm>
            <a:off x="3807161" y="3268426"/>
            <a:ext cx="4392488" cy="1477328"/>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The covariance :
</a:t>
            </a:r>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p>
          <a:p>
            <a:endParaRPr lang="fr-FR" dirty="0"/>
          </a:p>
        </p:txBody>
      </p:sp>
      <p:pic>
        <p:nvPicPr>
          <p:cNvPr id="18" name="Image 17">
            <a:extLst>
              <a:ext uri="{FF2B5EF4-FFF2-40B4-BE49-F238E27FC236}">
                <a16:creationId xmlns:a16="http://schemas.microsoft.com/office/drawing/2014/main" id="{8D9431E3-1B57-4A42-9850-C1E5E7948850}"/>
              </a:ext>
            </a:extLst>
          </p:cNvPr>
          <p:cNvPicPr>
            <a:picLocks noChangeAspect="1"/>
          </p:cNvPicPr>
          <p:nvPr/>
        </p:nvPicPr>
        <p:blipFill>
          <a:blip r:embed="rId4"/>
          <a:stretch>
            <a:fillRect/>
          </a:stretch>
        </p:blipFill>
        <p:spPr>
          <a:xfrm>
            <a:off x="3995936" y="3659870"/>
            <a:ext cx="2876698" cy="584230"/>
          </a:xfrm>
          <a:prstGeom prst="rect">
            <a:avLst/>
          </a:prstGeom>
        </p:spPr>
      </p:pic>
      <p:sp>
        <p:nvSpPr>
          <p:cNvPr id="4" name="ZoneTexte 3">
            <a:extLst>
              <a:ext uri="{FF2B5EF4-FFF2-40B4-BE49-F238E27FC236}">
                <a16:creationId xmlns:a16="http://schemas.microsoft.com/office/drawing/2014/main" id="{A30775AC-47C4-4305-9BE7-CEEFF6D28E17}"/>
              </a:ext>
            </a:extLst>
          </p:cNvPr>
          <p:cNvSpPr txBox="1"/>
          <p:nvPr/>
        </p:nvSpPr>
        <p:spPr>
          <a:xfrm>
            <a:off x="4861622" y="1948190"/>
            <a:ext cx="864096" cy="369332"/>
          </a:xfrm>
          <a:prstGeom prst="rect">
            <a:avLst/>
          </a:prstGeom>
          <a:noFill/>
        </p:spPr>
        <p:txBody>
          <a:bodyPr wrap="square" rtlCol="0">
            <a:spAutoFit/>
          </a:bodyPr>
          <a:lstStyle/>
          <a:p>
            <a:r>
              <a:rPr lang="fr-FR" dirty="0">
                <a:solidFill>
                  <a:srgbClr val="FF0000"/>
                </a:solidFill>
              </a:rPr>
              <a:t>= ??</a:t>
            </a:r>
          </a:p>
        </p:txBody>
      </p:sp>
      <p:sp>
        <p:nvSpPr>
          <p:cNvPr id="12" name="ZoneTexte 11">
            <a:extLst>
              <a:ext uri="{FF2B5EF4-FFF2-40B4-BE49-F238E27FC236}">
                <a16:creationId xmlns:a16="http://schemas.microsoft.com/office/drawing/2014/main" id="{FEC16FAC-4CA2-487D-98C4-95C6E921D35B}"/>
              </a:ext>
            </a:extLst>
          </p:cNvPr>
          <p:cNvSpPr txBox="1"/>
          <p:nvPr/>
        </p:nvSpPr>
        <p:spPr>
          <a:xfrm>
            <a:off x="6672045" y="3796345"/>
            <a:ext cx="864096" cy="369332"/>
          </a:xfrm>
          <a:prstGeom prst="rect">
            <a:avLst/>
          </a:prstGeom>
          <a:noFill/>
        </p:spPr>
        <p:txBody>
          <a:bodyPr wrap="square" rtlCol="0">
            <a:spAutoFit/>
          </a:bodyPr>
          <a:lstStyle/>
          <a:p>
            <a:r>
              <a:rPr lang="fr-FR" dirty="0">
                <a:solidFill>
                  <a:srgbClr val="FF0000"/>
                </a:solidFill>
              </a:rPr>
              <a:t>= ??</a:t>
            </a:r>
          </a:p>
        </p:txBody>
      </p:sp>
    </p:spTree>
    <p:extLst>
      <p:ext uri="{BB962C8B-B14F-4D97-AF65-F5344CB8AC3E}">
        <p14:creationId xmlns:p14="http://schemas.microsoft.com/office/powerpoint/2010/main" val="3919538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a:xfrm>
            <a:off x="457200" y="-27384"/>
            <a:ext cx="8229600" cy="1143000"/>
          </a:xfrm>
        </p:spPr>
        <p:txBody>
          <a:bodyPr>
            <a:normAutofit/>
          </a:bodyPr>
          <a:lstStyle/>
          <a:p>
            <a:r>
              <a:rPr lang="en-US" sz="3200" dirty="0">
                <a:latin typeface="Cambria" panose="02040503050406030204" pitchFamily="18" charset="0"/>
                <a:ea typeface="Cambria" panose="02040503050406030204" pitchFamily="18" charset="0"/>
              </a:rPr>
              <a:t>The case of two </a:t>
            </a:r>
            <a:r>
              <a:rPr lang="en-US" sz="3200" dirty="0" err="1">
                <a:latin typeface="Cambria" panose="02040503050406030204" pitchFamily="18" charset="0"/>
                <a:ea typeface="Cambria" panose="02040503050406030204" pitchFamily="18" charset="0"/>
              </a:rPr>
              <a:t>quantitatives</a:t>
            </a:r>
            <a:r>
              <a:rPr lang="en-US" sz="3200" dirty="0">
                <a:latin typeface="Cambria" panose="02040503050406030204" pitchFamily="18" charset="0"/>
                <a:ea typeface="Cambria" panose="02040503050406030204" pitchFamily="18" charset="0"/>
              </a:rPr>
              <a:t> whose data are presented in a contingency table</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err="1">
                <a:latin typeface="Cambria" panose="02040503050406030204" pitchFamily="18" charset="0"/>
                <a:ea typeface="Cambria" panose="02040503050406030204" pitchFamily="18" charset="0"/>
              </a:rPr>
              <a:t>Introductory</a:t>
            </a:r>
            <a:r>
              <a:rPr lang="fr-FR" sz="2000" b="1" dirty="0">
                <a:latin typeface="Cambria" panose="02040503050406030204" pitchFamily="18" charset="0"/>
                <a:ea typeface="Cambria" panose="02040503050406030204" pitchFamily="18" charset="0"/>
              </a:rPr>
              <a:t> </a:t>
            </a:r>
            <a:r>
              <a:rPr lang="fr-FR" sz="2000" b="1" dirty="0" err="1">
                <a:latin typeface="Cambria" panose="02040503050406030204" pitchFamily="18" charset="0"/>
                <a:ea typeface="Cambria" panose="02040503050406030204" pitchFamily="18" charset="0"/>
              </a:rPr>
              <a:t>example</a:t>
            </a:r>
            <a:r>
              <a:rPr lang="fr-FR" sz="2000" b="1" dirty="0">
                <a:latin typeface="Cambria" panose="02040503050406030204" pitchFamily="18" charset="0"/>
                <a:ea typeface="Cambria" panose="02040503050406030204" pitchFamily="18" charset="0"/>
              </a:rPr>
              <a:t>:</a:t>
            </a:r>
          </a:p>
          <a:p>
            <a:pPr marL="0" indent="0">
              <a:buNone/>
            </a:pPr>
            <a:r>
              <a:rPr lang="fr-FR" sz="2000" u="sng" dirty="0">
                <a:latin typeface="Cambria" panose="02040503050406030204" pitchFamily="18" charset="0"/>
                <a:ea typeface="Cambria" panose="02040503050406030204" pitchFamily="18" charset="0"/>
              </a:rPr>
              <a:t>Calculation of covariance 
</a:t>
            </a:r>
            <a:endParaRPr lang="fr-FR" sz="2000" dirty="0">
              <a:latin typeface="Cambria" panose="02040503050406030204" pitchFamily="18" charset="0"/>
              <a:ea typeface="Cambria" panose="02040503050406030204" pitchFamily="18" charset="0"/>
            </a:endParaRPr>
          </a:p>
        </p:txBody>
      </p:sp>
      <p:sp>
        <p:nvSpPr>
          <p:cNvPr id="6" name="Flèche : droite 5">
            <a:extLst>
              <a:ext uri="{FF2B5EF4-FFF2-40B4-BE49-F238E27FC236}">
                <a16:creationId xmlns:a16="http://schemas.microsoft.com/office/drawing/2014/main" id="{ABA39DB7-A081-4815-B0FE-B9DD2FA46E2D}"/>
              </a:ext>
            </a:extLst>
          </p:cNvPr>
          <p:cNvSpPr/>
          <p:nvPr/>
        </p:nvSpPr>
        <p:spPr>
          <a:xfrm>
            <a:off x="2987825" y="3374566"/>
            <a:ext cx="360039"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Image 10">
            <a:extLst>
              <a:ext uri="{FF2B5EF4-FFF2-40B4-BE49-F238E27FC236}">
                <a16:creationId xmlns:a16="http://schemas.microsoft.com/office/drawing/2014/main" id="{3A4B2561-C7C2-487A-88C8-C0D4FA60A49D}"/>
              </a:ext>
            </a:extLst>
          </p:cNvPr>
          <p:cNvPicPr>
            <a:picLocks noChangeAspect="1"/>
          </p:cNvPicPr>
          <p:nvPr/>
        </p:nvPicPr>
        <p:blipFill>
          <a:blip r:embed="rId2"/>
          <a:stretch>
            <a:fillRect/>
          </a:stretch>
        </p:blipFill>
        <p:spPr>
          <a:xfrm>
            <a:off x="107505" y="2207320"/>
            <a:ext cx="2692054" cy="3165896"/>
          </a:xfrm>
          <a:prstGeom prst="rect">
            <a:avLst/>
          </a:prstGeom>
        </p:spPr>
      </p:pic>
      <p:pic>
        <p:nvPicPr>
          <p:cNvPr id="14" name="Image 13">
            <a:extLst>
              <a:ext uri="{FF2B5EF4-FFF2-40B4-BE49-F238E27FC236}">
                <a16:creationId xmlns:a16="http://schemas.microsoft.com/office/drawing/2014/main" id="{9A42703A-E6DA-4827-A404-539F03F9578E}"/>
              </a:ext>
            </a:extLst>
          </p:cNvPr>
          <p:cNvPicPr>
            <a:picLocks noChangeAspect="1"/>
          </p:cNvPicPr>
          <p:nvPr/>
        </p:nvPicPr>
        <p:blipFill>
          <a:blip r:embed="rId3"/>
          <a:stretch>
            <a:fillRect/>
          </a:stretch>
        </p:blipFill>
        <p:spPr>
          <a:xfrm>
            <a:off x="3851920" y="1854086"/>
            <a:ext cx="1009702" cy="527077"/>
          </a:xfrm>
          <a:prstGeom prst="rect">
            <a:avLst/>
          </a:prstGeom>
        </p:spPr>
      </p:pic>
      <mc:AlternateContent xmlns:mc="http://schemas.openxmlformats.org/markup-compatibility/2006">
        <mc:Choice xmlns:a14="http://schemas.microsoft.com/office/drawing/2010/main" Requires="a14">
          <p:sp>
            <p:nvSpPr>
              <p:cNvPr id="15" name="ZoneTexte 14">
                <a:extLst>
                  <a:ext uri="{FF2B5EF4-FFF2-40B4-BE49-F238E27FC236}">
                    <a16:creationId xmlns:a16="http://schemas.microsoft.com/office/drawing/2014/main" id="{1ED4E3CC-3B9A-4F18-AA14-442FEAD0104F}"/>
                  </a:ext>
                </a:extLst>
              </p:cNvPr>
              <p:cNvSpPr txBox="1"/>
              <p:nvPr/>
            </p:nvSpPr>
            <p:spPr>
              <a:xfrm>
                <a:off x="3779912" y="2519221"/>
                <a:ext cx="3563888" cy="3311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smtClean="0">
                          <a:latin typeface="Cambria Math" panose="02040503050406030204" pitchFamily="18" charset="0"/>
                        </a:rPr>
                        <m:t>= </m:t>
                      </m:r>
                      <m:f>
                        <m:fPr>
                          <m:ctrlPr>
                            <a:rPr lang="fr-FR" sz="800" b="0" i="1" smtClean="0">
                              <a:latin typeface="Cambria Math" panose="02040503050406030204" pitchFamily="18" charset="0"/>
                            </a:rPr>
                          </m:ctrlPr>
                        </m:fPr>
                        <m:num>
                          <m:r>
                            <a:rPr lang="fr-FR" sz="800" b="0" i="1" smtClean="0">
                              <a:latin typeface="Cambria Math" panose="02040503050406030204" pitchFamily="18" charset="0"/>
                            </a:rPr>
                            <m:t>1∗1 ∗5+1 ∗0 ∗1+1∗−0,25 ∗1+0∗1 ∗6+0∗0 ∗2+0 ∗−0.25 ∗1+ …+</m:t>
                          </m:r>
                          <m:d>
                            <m:dPr>
                              <m:ctrlPr>
                                <a:rPr lang="fr-FR" sz="800" b="0" i="1" smtClean="0">
                                  <a:latin typeface="Cambria Math" panose="02040503050406030204" pitchFamily="18" charset="0"/>
                                </a:rPr>
                              </m:ctrlPr>
                            </m:dPr>
                            <m:e>
                              <m:r>
                                <a:rPr lang="fr-FR" sz="800" b="0" i="1" smtClean="0">
                                  <a:latin typeface="Cambria Math" panose="02040503050406030204" pitchFamily="18" charset="0"/>
                                </a:rPr>
                                <m:t>−0.25</m:t>
                              </m:r>
                            </m:e>
                          </m:d>
                          <m:r>
                            <a:rPr lang="fr-FR" sz="800" b="0" i="1" smtClean="0">
                              <a:latin typeface="Cambria Math" panose="02040503050406030204" pitchFamily="18" charset="0"/>
                            </a:rPr>
                            <m:t>∗</m:t>
                          </m:r>
                          <m:d>
                            <m:dPr>
                              <m:ctrlPr>
                                <a:rPr lang="fr-FR" sz="800" b="0" i="1" smtClean="0">
                                  <a:latin typeface="Cambria Math" panose="02040503050406030204" pitchFamily="18" charset="0"/>
                                </a:rPr>
                              </m:ctrlPr>
                            </m:dPr>
                            <m:e>
                              <m:r>
                                <a:rPr lang="fr-FR" sz="800" b="0" i="1" smtClean="0">
                                  <a:latin typeface="Cambria Math" panose="02040503050406030204" pitchFamily="18" charset="0"/>
                                </a:rPr>
                                <m:t>−0.25</m:t>
                              </m:r>
                            </m:e>
                          </m:d>
                          <m:r>
                            <a:rPr lang="fr-FR" sz="800" b="0" i="1" smtClean="0">
                              <a:latin typeface="Cambria Math" panose="02040503050406030204" pitchFamily="18" charset="0"/>
                            </a:rPr>
                            <m:t>∗2 </m:t>
                          </m:r>
                        </m:num>
                        <m:den>
                          <m:r>
                            <a:rPr lang="fr-FR" sz="800" b="0" i="1" smtClean="0">
                              <a:latin typeface="Cambria Math" panose="02040503050406030204" pitchFamily="18" charset="0"/>
                            </a:rPr>
                            <m:t>20</m:t>
                          </m:r>
                        </m:den>
                      </m:f>
                    </m:oMath>
                  </m:oMathPara>
                </a14:m>
                <a:endParaRPr lang="fr-FR" sz="800" dirty="0"/>
              </a:p>
            </p:txBody>
          </p:sp>
        </mc:Choice>
        <mc:Fallback>
          <p:sp>
            <p:nvSpPr>
              <p:cNvPr id="15" name="ZoneTexte 14">
                <a:extLst>
                  <a:ext uri="{FF2B5EF4-FFF2-40B4-BE49-F238E27FC236}">
                    <a16:creationId xmlns:a16="http://schemas.microsoft.com/office/drawing/2014/main" id="{1ED4E3CC-3B9A-4F18-AA14-442FEAD0104F}"/>
                  </a:ext>
                </a:extLst>
              </p:cNvPr>
              <p:cNvSpPr txBox="1">
                <a:spLocks noRot="1" noChangeAspect="1" noMove="1" noResize="1" noEditPoints="1" noAdjustHandles="1" noChangeArrowheads="1" noChangeShapeType="1" noTextEdit="1"/>
              </p:cNvSpPr>
              <p:nvPr/>
            </p:nvSpPr>
            <p:spPr>
              <a:xfrm>
                <a:off x="3779912" y="2519221"/>
                <a:ext cx="3563888" cy="331181"/>
              </a:xfrm>
              <a:prstGeom prst="rect">
                <a:avLst/>
              </a:prstGeom>
              <a:blipFill>
                <a:blip r:embed="rId4"/>
                <a:stretch>
                  <a:fillRect r="-36410"/>
                </a:stretch>
              </a:blipFill>
            </p:spPr>
            <p:txBody>
              <a:bodyPr/>
              <a:lstStyle/>
              <a:p>
                <a:r>
                  <a:rPr lang="fr-FR">
                    <a:noFill/>
                  </a:rPr>
                  <a:t> </a:t>
                </a:r>
              </a:p>
            </p:txBody>
          </p:sp>
        </mc:Fallback>
      </mc:AlternateContent>
      <mc:AlternateContent xmlns:mc="http://schemas.openxmlformats.org/markup-compatibility/2006">
        <mc:Choice xmlns:a14="http://schemas.microsoft.com/office/drawing/2010/main" Requires="a14">
          <p:sp>
            <p:nvSpPr>
              <p:cNvPr id="16" name="ZoneTexte 15">
                <a:extLst>
                  <a:ext uri="{FF2B5EF4-FFF2-40B4-BE49-F238E27FC236}">
                    <a16:creationId xmlns:a16="http://schemas.microsoft.com/office/drawing/2014/main" id="{9D37E00B-689E-4493-93D9-A757205BD570}"/>
                  </a:ext>
                </a:extLst>
              </p:cNvPr>
              <p:cNvSpPr txBox="1"/>
              <p:nvPr/>
            </p:nvSpPr>
            <p:spPr>
              <a:xfrm>
                <a:off x="3807161" y="3268426"/>
                <a:ext cx="4392488" cy="1597681"/>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The covariance is equal to:
</a:t>
                </a:r>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p>
              <a:p>
                <a14:m>
                  <m:oMath xmlns:m="http://schemas.openxmlformats.org/officeDocument/2006/math">
                    <m:r>
                      <a:rPr lang="fr-FR" b="0" i="1" smtClean="0">
                        <a:latin typeface="Cambria Math" panose="02040503050406030204" pitchFamily="18" charset="0"/>
                      </a:rPr>
                      <m:t>= </m:t>
                    </m:r>
                    <m:f>
                      <m:fPr>
                        <m:ctrlPr>
                          <a:rPr lang="fr-FR" i="1" smtClean="0">
                            <a:latin typeface="Cambria Math" panose="02040503050406030204" pitchFamily="18" charset="0"/>
                          </a:rPr>
                        </m:ctrlPr>
                      </m:fPr>
                      <m:num>
                        <m:r>
                          <a:rPr lang="fr-FR" b="0" i="1" smtClean="0">
                            <a:latin typeface="Cambria Math" panose="02040503050406030204" pitchFamily="18" charset="0"/>
                          </a:rPr>
                          <m:t>4.625</m:t>
                        </m:r>
                      </m:num>
                      <m:den>
                        <m:r>
                          <a:rPr lang="fr-FR" b="0" i="1" smtClean="0">
                            <a:latin typeface="Cambria Math" panose="02040503050406030204" pitchFamily="18" charset="0"/>
                          </a:rPr>
                          <m:t>20</m:t>
                        </m:r>
                      </m:den>
                    </m:f>
                    <m:r>
                      <a:rPr lang="fr-FR" b="0" i="1" smtClean="0">
                        <a:latin typeface="Cambria Math" panose="02040503050406030204" pitchFamily="18" charset="0"/>
                      </a:rPr>
                      <m:t> −</m:t>
                    </m:r>
                    <m:d>
                      <m:dPr>
                        <m:ctrlPr>
                          <a:rPr lang="fr-FR" b="0" i="1" smtClean="0">
                            <a:latin typeface="Cambria Math" panose="02040503050406030204" pitchFamily="18" charset="0"/>
                          </a:rPr>
                        </m:ctrlPr>
                      </m:dPr>
                      <m:e>
                        <m:r>
                          <a:rPr lang="fr-FR" b="0" i="1" smtClean="0">
                            <a:latin typeface="Cambria Math" panose="02040503050406030204" pitchFamily="18" charset="0"/>
                          </a:rPr>
                          <m:t>0.3 ∗0.55</m:t>
                        </m:r>
                      </m:e>
                    </m:d>
                    <m:r>
                      <a:rPr lang="fr-FR" b="0" i="1" smtClean="0">
                        <a:latin typeface="Cambria Math" panose="02040503050406030204" pitchFamily="18" charset="0"/>
                      </a:rPr>
                      <m:t>=0.06625</m:t>
                    </m:r>
                  </m:oMath>
                </a14:m>
                <a:r>
                  <a:rPr lang="fr-FR" dirty="0"/>
                  <a:t> </a:t>
                </a:r>
              </a:p>
            </p:txBody>
          </p:sp>
        </mc:Choice>
        <mc:Fallback>
          <p:sp>
            <p:nvSpPr>
              <p:cNvPr id="16" name="ZoneTexte 15">
                <a:extLst>
                  <a:ext uri="{FF2B5EF4-FFF2-40B4-BE49-F238E27FC236}">
                    <a16:creationId xmlns:a16="http://schemas.microsoft.com/office/drawing/2014/main" id="{9D37E00B-689E-4493-93D9-A757205BD570}"/>
                  </a:ext>
                </a:extLst>
              </p:cNvPr>
              <p:cNvSpPr txBox="1">
                <a:spLocks noRot="1" noChangeAspect="1" noMove="1" noResize="1" noEditPoints="1" noAdjustHandles="1" noChangeArrowheads="1" noChangeShapeType="1" noTextEdit="1"/>
              </p:cNvSpPr>
              <p:nvPr/>
            </p:nvSpPr>
            <p:spPr>
              <a:xfrm>
                <a:off x="3807161" y="3268426"/>
                <a:ext cx="4392488" cy="1597681"/>
              </a:xfrm>
              <a:prstGeom prst="rect">
                <a:avLst/>
              </a:prstGeom>
              <a:blipFill>
                <a:blip r:embed="rId5"/>
                <a:stretch>
                  <a:fillRect l="-1250" t="-2290"/>
                </a:stretch>
              </a:blipFill>
            </p:spPr>
            <p:txBody>
              <a:bodyPr/>
              <a:lstStyle/>
              <a:p>
                <a:r>
                  <a:rPr lang="fr-FR">
                    <a:noFill/>
                  </a:rPr>
                  <a:t> </a:t>
                </a:r>
              </a:p>
            </p:txBody>
          </p:sp>
        </mc:Fallback>
      </mc:AlternateContent>
      <p:pic>
        <p:nvPicPr>
          <p:cNvPr id="18" name="Image 17">
            <a:extLst>
              <a:ext uri="{FF2B5EF4-FFF2-40B4-BE49-F238E27FC236}">
                <a16:creationId xmlns:a16="http://schemas.microsoft.com/office/drawing/2014/main" id="{8D9431E3-1B57-4A42-9850-C1E5E7948850}"/>
              </a:ext>
            </a:extLst>
          </p:cNvPr>
          <p:cNvPicPr>
            <a:picLocks noChangeAspect="1"/>
          </p:cNvPicPr>
          <p:nvPr/>
        </p:nvPicPr>
        <p:blipFill>
          <a:blip r:embed="rId6"/>
          <a:stretch>
            <a:fillRect/>
          </a:stretch>
        </p:blipFill>
        <p:spPr>
          <a:xfrm>
            <a:off x="3995936" y="3659870"/>
            <a:ext cx="2876698" cy="584230"/>
          </a:xfrm>
          <a:prstGeom prst="rect">
            <a:avLst/>
          </a:prstGeom>
        </p:spPr>
      </p:pic>
    </p:spTree>
    <p:extLst>
      <p:ext uri="{BB962C8B-B14F-4D97-AF65-F5344CB8AC3E}">
        <p14:creationId xmlns:p14="http://schemas.microsoft.com/office/powerpoint/2010/main" val="18529747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a:xfrm>
            <a:off x="457200" y="44624"/>
            <a:ext cx="8229600" cy="1143000"/>
          </a:xfrm>
        </p:spPr>
        <p:txBody>
          <a:bodyPr>
            <a:normAutofit/>
          </a:bodyPr>
          <a:lstStyle/>
          <a:p>
            <a:r>
              <a:rPr lang="en-US" sz="3200" dirty="0">
                <a:latin typeface="Cambria" panose="02040503050406030204" pitchFamily="18" charset="0"/>
                <a:ea typeface="Cambria" panose="02040503050406030204" pitchFamily="18" charset="0"/>
              </a:rPr>
              <a:t>The case of two </a:t>
            </a:r>
            <a:r>
              <a:rPr lang="en-US" sz="3200" dirty="0" err="1">
                <a:latin typeface="Cambria" panose="02040503050406030204" pitchFamily="18" charset="0"/>
                <a:ea typeface="Cambria" panose="02040503050406030204" pitchFamily="18" charset="0"/>
              </a:rPr>
              <a:t>quantitatives</a:t>
            </a:r>
            <a:r>
              <a:rPr lang="en-US" sz="3200" dirty="0">
                <a:latin typeface="Cambria" panose="02040503050406030204" pitchFamily="18" charset="0"/>
                <a:ea typeface="Cambria" panose="02040503050406030204" pitchFamily="18" charset="0"/>
              </a:rPr>
              <a:t> whose data are presented in a contingency table</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err="1">
                <a:latin typeface="Cambria" panose="02040503050406030204" pitchFamily="18" charset="0"/>
                <a:ea typeface="Cambria" panose="02040503050406030204" pitchFamily="18" charset="0"/>
              </a:rPr>
              <a:t>Introductory</a:t>
            </a:r>
            <a:r>
              <a:rPr lang="fr-FR" sz="2000" b="1" dirty="0">
                <a:latin typeface="Cambria" panose="02040503050406030204" pitchFamily="18" charset="0"/>
                <a:ea typeface="Cambria" panose="02040503050406030204" pitchFamily="18" charset="0"/>
              </a:rPr>
              <a:t> </a:t>
            </a:r>
            <a:r>
              <a:rPr lang="fr-FR" sz="2000" b="1" dirty="0" err="1">
                <a:latin typeface="Cambria" panose="02040503050406030204" pitchFamily="18" charset="0"/>
                <a:ea typeface="Cambria" panose="02040503050406030204" pitchFamily="18" charset="0"/>
              </a:rPr>
              <a:t>example</a:t>
            </a:r>
            <a:r>
              <a:rPr lang="fr-FR" sz="2000" b="1" dirty="0">
                <a:latin typeface="Cambria" panose="02040503050406030204" pitchFamily="18" charset="0"/>
                <a:ea typeface="Cambria" panose="02040503050406030204" pitchFamily="18" charset="0"/>
              </a:rPr>
              <a:t>:
</a:t>
            </a:r>
            <a:r>
              <a:rPr lang="en-US" sz="2000" u="sng" dirty="0">
                <a:latin typeface="Cambria" panose="02040503050406030204" pitchFamily="18" charset="0"/>
                <a:ea typeface="Cambria" panose="02040503050406030204" pitchFamily="18" charset="0"/>
              </a:rPr>
              <a:t>Calculation and </a:t>
            </a:r>
            <a:r>
              <a:rPr lang="en-US" sz="2000" u="sng" dirty="0" err="1">
                <a:latin typeface="Cambria" panose="02040503050406030204" pitchFamily="18" charset="0"/>
                <a:ea typeface="Cambria" panose="02040503050406030204" pitchFamily="18" charset="0"/>
              </a:rPr>
              <a:t>interpretition</a:t>
            </a:r>
            <a:r>
              <a:rPr lang="en-US" sz="2000" u="sng" dirty="0">
                <a:latin typeface="Cambria" panose="02040503050406030204" pitchFamily="18" charset="0"/>
                <a:ea typeface="Cambria" panose="02040503050406030204" pitchFamily="18" charset="0"/>
              </a:rPr>
              <a:t> of the linear correlation coefficient  
</a:t>
            </a:r>
            <a:endParaRPr lang="fr-FR" sz="2000" dirty="0">
              <a:latin typeface="Cambria" panose="02040503050406030204" pitchFamily="18" charset="0"/>
              <a:ea typeface="Cambria" panose="02040503050406030204" pitchFamily="18" charset="0"/>
            </a:endParaRPr>
          </a:p>
        </p:txBody>
      </p:sp>
      <p:sp>
        <p:nvSpPr>
          <p:cNvPr id="16" name="ZoneTexte 15">
            <a:extLst>
              <a:ext uri="{FF2B5EF4-FFF2-40B4-BE49-F238E27FC236}">
                <a16:creationId xmlns:a16="http://schemas.microsoft.com/office/drawing/2014/main" id="{9D37E00B-689E-4493-93D9-A757205BD570}"/>
              </a:ext>
            </a:extLst>
          </p:cNvPr>
          <p:cNvSpPr txBox="1"/>
          <p:nvPr/>
        </p:nvSpPr>
        <p:spPr>
          <a:xfrm>
            <a:off x="2082949" y="2203033"/>
            <a:ext cx="5585395" cy="3416320"/>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
</a:t>
            </a:r>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b="0" i="1" dirty="0">
              <a:latin typeface="Cambria Math" panose="02040503050406030204" pitchFamily="18" charset="0"/>
              <a:ea typeface="Cambria" panose="02040503050406030204" pitchFamily="18" charset="0"/>
            </a:endParaRPr>
          </a:p>
          <a:p>
            <a:pPr/>
            <a:r>
              <a:rPr lang="en-US" dirty="0">
                <a:latin typeface="Cambria" panose="02040503050406030204" pitchFamily="18" charset="0"/>
                <a:ea typeface="Cambria" panose="02040503050406030204" pitchFamily="18" charset="0"/>
              </a:rPr>
              <a:t>
</a:t>
            </a:r>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p>
          <a:p>
            <a:r>
              <a:rPr lang="fr-FR" dirty="0"/>
              <a:t> </a:t>
            </a:r>
          </a:p>
        </p:txBody>
      </p:sp>
      <p:pic>
        <p:nvPicPr>
          <p:cNvPr id="10" name="Image 9">
            <a:extLst>
              <a:ext uri="{FF2B5EF4-FFF2-40B4-BE49-F238E27FC236}">
                <a16:creationId xmlns:a16="http://schemas.microsoft.com/office/drawing/2014/main" id="{CBAB60F6-58BF-4851-A6EE-63E7967D0B6A}"/>
              </a:ext>
            </a:extLst>
          </p:cNvPr>
          <p:cNvPicPr>
            <a:picLocks noChangeAspect="1"/>
          </p:cNvPicPr>
          <p:nvPr/>
        </p:nvPicPr>
        <p:blipFill>
          <a:blip r:embed="rId2"/>
          <a:stretch>
            <a:fillRect/>
          </a:stretch>
        </p:blipFill>
        <p:spPr>
          <a:xfrm>
            <a:off x="1259632" y="2931333"/>
            <a:ext cx="4680520" cy="804324"/>
          </a:xfrm>
          <a:prstGeom prst="rect">
            <a:avLst/>
          </a:prstGeom>
        </p:spPr>
      </p:pic>
      <p:sp>
        <p:nvSpPr>
          <p:cNvPr id="6" name="ZoneTexte 5">
            <a:extLst>
              <a:ext uri="{FF2B5EF4-FFF2-40B4-BE49-F238E27FC236}">
                <a16:creationId xmlns:a16="http://schemas.microsoft.com/office/drawing/2014/main" id="{6EED7559-37AE-4EF6-933E-0CF86BD18D75}"/>
              </a:ext>
            </a:extLst>
          </p:cNvPr>
          <p:cNvSpPr txBox="1"/>
          <p:nvPr/>
        </p:nvSpPr>
        <p:spPr>
          <a:xfrm>
            <a:off x="4891261" y="3033400"/>
            <a:ext cx="864096" cy="369332"/>
          </a:xfrm>
          <a:prstGeom prst="rect">
            <a:avLst/>
          </a:prstGeom>
          <a:noFill/>
        </p:spPr>
        <p:txBody>
          <a:bodyPr wrap="square" rtlCol="0">
            <a:spAutoFit/>
          </a:bodyPr>
          <a:lstStyle/>
          <a:p>
            <a:r>
              <a:rPr lang="fr-FR" dirty="0">
                <a:solidFill>
                  <a:srgbClr val="FF0000"/>
                </a:solidFill>
              </a:rPr>
              <a:t>= ??</a:t>
            </a:r>
          </a:p>
        </p:txBody>
      </p:sp>
    </p:spTree>
    <p:extLst>
      <p:ext uri="{BB962C8B-B14F-4D97-AF65-F5344CB8AC3E}">
        <p14:creationId xmlns:p14="http://schemas.microsoft.com/office/powerpoint/2010/main" val="23863134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a:xfrm>
            <a:off x="457200" y="44624"/>
            <a:ext cx="8229600" cy="1143000"/>
          </a:xfrm>
        </p:spPr>
        <p:txBody>
          <a:bodyPr>
            <a:normAutofit/>
          </a:bodyPr>
          <a:lstStyle/>
          <a:p>
            <a:r>
              <a:rPr lang="en-US" sz="3200" dirty="0">
                <a:latin typeface="Cambria" panose="02040503050406030204" pitchFamily="18" charset="0"/>
                <a:ea typeface="Cambria" panose="02040503050406030204" pitchFamily="18" charset="0"/>
              </a:rPr>
              <a:t>The case of two </a:t>
            </a:r>
            <a:r>
              <a:rPr lang="en-US" sz="3200" dirty="0" err="1">
                <a:latin typeface="Cambria" panose="02040503050406030204" pitchFamily="18" charset="0"/>
                <a:ea typeface="Cambria" panose="02040503050406030204" pitchFamily="18" charset="0"/>
              </a:rPr>
              <a:t>quantitatives</a:t>
            </a:r>
            <a:r>
              <a:rPr lang="en-US" sz="3200" dirty="0">
                <a:latin typeface="Cambria" panose="02040503050406030204" pitchFamily="18" charset="0"/>
                <a:ea typeface="Cambria" panose="02040503050406030204" pitchFamily="18" charset="0"/>
              </a:rPr>
              <a:t> whose data are presented in a contingency table</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err="1">
                <a:latin typeface="Cambria" panose="02040503050406030204" pitchFamily="18" charset="0"/>
                <a:ea typeface="Cambria" panose="02040503050406030204" pitchFamily="18" charset="0"/>
              </a:rPr>
              <a:t>Introductory</a:t>
            </a:r>
            <a:r>
              <a:rPr lang="fr-FR" sz="2000" b="1" dirty="0">
                <a:latin typeface="Cambria" panose="02040503050406030204" pitchFamily="18" charset="0"/>
                <a:ea typeface="Cambria" panose="02040503050406030204" pitchFamily="18" charset="0"/>
              </a:rPr>
              <a:t> </a:t>
            </a:r>
            <a:r>
              <a:rPr lang="fr-FR" sz="2000" b="1" dirty="0" err="1">
                <a:latin typeface="Cambria" panose="02040503050406030204" pitchFamily="18" charset="0"/>
                <a:ea typeface="Cambria" panose="02040503050406030204" pitchFamily="18" charset="0"/>
              </a:rPr>
              <a:t>example</a:t>
            </a:r>
            <a:r>
              <a:rPr lang="fr-FR" sz="2000" b="1" dirty="0">
                <a:latin typeface="Cambria" panose="02040503050406030204" pitchFamily="18" charset="0"/>
                <a:ea typeface="Cambria" panose="02040503050406030204" pitchFamily="18" charset="0"/>
              </a:rPr>
              <a:t>:
</a:t>
            </a:r>
            <a:r>
              <a:rPr lang="en-US" sz="2000" u="sng" dirty="0">
                <a:latin typeface="Cambria" panose="02040503050406030204" pitchFamily="18" charset="0"/>
                <a:ea typeface="Cambria" panose="02040503050406030204" pitchFamily="18" charset="0"/>
              </a:rPr>
              <a:t>Calculation of the linear correlation coefficient  
</a:t>
            </a:r>
            <a:endParaRPr lang="fr-FR" sz="2000" dirty="0">
              <a:latin typeface="Cambria" panose="02040503050406030204" pitchFamily="18" charset="0"/>
              <a:ea typeface="Cambria" panose="02040503050406030204" pitchFamily="18" charset="0"/>
            </a:endParaRPr>
          </a:p>
        </p:txBody>
      </p:sp>
      <mc:AlternateContent xmlns:mc="http://schemas.openxmlformats.org/markup-compatibility/2006">
        <mc:Choice xmlns:a14="http://schemas.microsoft.com/office/drawing/2010/main" Requires="a14">
          <p:sp>
            <p:nvSpPr>
              <p:cNvPr id="16" name="ZoneTexte 15">
                <a:extLst>
                  <a:ext uri="{FF2B5EF4-FFF2-40B4-BE49-F238E27FC236}">
                    <a16:creationId xmlns:a16="http://schemas.microsoft.com/office/drawing/2014/main" id="{9D37E00B-689E-4493-93D9-A757205BD570}"/>
                  </a:ext>
                </a:extLst>
              </p:cNvPr>
              <p:cNvSpPr txBox="1"/>
              <p:nvPr/>
            </p:nvSpPr>
            <p:spPr>
              <a:xfrm>
                <a:off x="1619672" y="2391197"/>
                <a:ext cx="6480720" cy="5604355"/>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The linear correlation coefficient is equal to:
</a:t>
                </a:r>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b="0" i="1" dirty="0">
                  <a:latin typeface="Cambria Math" panose="02040503050406030204" pitchFamily="18" charset="0"/>
                  <a:ea typeface="Cambria" panose="02040503050406030204" pitchFamily="18" charset="0"/>
                </a:endParaRPr>
              </a:p>
              <a:p>
                <a:pPr/>
                <a14:m>
                  <m:oMathPara xmlns:m="http://schemas.openxmlformats.org/officeDocument/2006/math">
                    <m:oMathParaPr>
                      <m:jc m:val="centerGroup"/>
                    </m:oMathParaPr>
                    <m:oMath xmlns:m="http://schemas.openxmlformats.org/officeDocument/2006/math">
                      <m:r>
                        <a:rPr lang="fr-FR" b="0" i="1" smtClean="0">
                          <a:solidFill>
                            <a:srgbClr val="FF0000"/>
                          </a:solidFill>
                          <a:latin typeface="Cambria Math" panose="02040503050406030204" pitchFamily="18" charset="0"/>
                          <a:ea typeface="Cambria" panose="02040503050406030204" pitchFamily="18" charset="0"/>
                        </a:rPr>
                        <m:t>=</m:t>
                      </m:r>
                      <m:r>
                        <a:rPr lang="fr-FR" b="0" i="1" smtClean="0">
                          <a:latin typeface="Cambria Math" panose="02040503050406030204" pitchFamily="18" charset="0"/>
                          <a:ea typeface="Cambria" panose="02040503050406030204" pitchFamily="18" charset="0"/>
                        </a:rPr>
                        <m:t> </m:t>
                      </m:r>
                      <m:f>
                        <m:fPr>
                          <m:ctrlPr>
                            <a:rPr lang="fr-FR" b="0" i="1" smtClean="0">
                              <a:solidFill>
                                <a:srgbClr val="FF0000"/>
                              </a:solidFill>
                              <a:latin typeface="Cambria Math" panose="02040503050406030204" pitchFamily="18" charset="0"/>
                              <a:ea typeface="Cambria" panose="02040503050406030204" pitchFamily="18" charset="0"/>
                            </a:rPr>
                          </m:ctrlPr>
                        </m:fPr>
                        <m:num>
                          <m:r>
                            <a:rPr lang="fr-FR" i="1">
                              <a:solidFill>
                                <a:srgbClr val="FF0000"/>
                              </a:solidFill>
                              <a:latin typeface="Cambria Math" panose="02040503050406030204" pitchFamily="18" charset="0"/>
                            </a:rPr>
                            <m:t>0.06625</m:t>
                          </m:r>
                        </m:num>
                        <m:den>
                          <m:r>
                            <a:rPr lang="fr-FR" i="1">
                              <a:solidFill>
                                <a:srgbClr val="FF0000"/>
                              </a:solidFill>
                              <a:latin typeface="Cambria Math" panose="02040503050406030204" pitchFamily="18" charset="0"/>
                              <a:ea typeface="Cambria Math" panose="02040503050406030204" pitchFamily="18" charset="0"/>
                            </a:rPr>
                            <m:t>0.522</m:t>
                          </m:r>
                          <m:r>
                            <a:rPr lang="fr-FR" b="0" i="1" smtClean="0">
                              <a:solidFill>
                                <a:srgbClr val="FF0000"/>
                              </a:solidFill>
                              <a:latin typeface="Cambria Math" panose="02040503050406030204" pitchFamily="18" charset="0"/>
                              <a:ea typeface="Cambria Math" panose="02040503050406030204" pitchFamily="18" charset="0"/>
                            </a:rPr>
                            <m:t> ∗</m:t>
                          </m:r>
                          <m:r>
                            <a:rPr lang="fr-FR" i="1">
                              <a:solidFill>
                                <a:srgbClr val="FF0000"/>
                              </a:solidFill>
                              <a:latin typeface="Cambria Math" panose="02040503050406030204" pitchFamily="18" charset="0"/>
                              <a:ea typeface="Cambria Math" panose="02040503050406030204" pitchFamily="18" charset="0"/>
                            </a:rPr>
                            <m:t>0.557</m:t>
                          </m:r>
                        </m:den>
                      </m:f>
                      <m:r>
                        <a:rPr lang="fr-FR" b="0" i="0" smtClean="0">
                          <a:solidFill>
                            <a:srgbClr val="FF0000"/>
                          </a:solidFill>
                          <a:latin typeface="Cambria Math" panose="02040503050406030204" pitchFamily="18" charset="0"/>
                          <a:ea typeface="Cambria" panose="02040503050406030204" pitchFamily="18" charset="0"/>
                        </a:rPr>
                        <m:t>=0.2278</m:t>
                      </m:r>
                    </m:oMath>
                  </m:oMathPara>
                </a14:m>
                <a:endParaRPr lang="fr-FR" b="0" dirty="0">
                  <a:solidFill>
                    <a:srgbClr val="FF0000"/>
                  </a:solidFill>
                  <a:latin typeface="Cambria" panose="02040503050406030204" pitchFamily="18" charset="0"/>
                  <a:ea typeface="Cambria" panose="02040503050406030204" pitchFamily="18" charset="0"/>
                </a:endParaRPr>
              </a:p>
              <a:p>
                <a:endParaRPr lang="fr-FR" sz="1800" dirty="0">
                  <a:latin typeface="Cambria" panose="02040503050406030204" pitchFamily="18" charset="0"/>
                  <a:ea typeface="Cambria" panose="02040503050406030204" pitchFamily="18" charset="0"/>
                </a:endParaRPr>
              </a:p>
              <a:p>
                <a:r>
                  <a:rPr lang="fr-FR" dirty="0">
                    <a:latin typeface="Cambria" panose="02040503050406030204" pitchFamily="18" charset="0"/>
                    <a:ea typeface="Cambria" panose="02040503050406030204" pitchFamily="18" charset="0"/>
                  </a:rPr>
                  <a:t>The coefficient </a:t>
                </a:r>
                <a:r>
                  <a:rPr lang="fr-FR" dirty="0" err="1">
                    <a:latin typeface="Cambria" panose="02040503050406030204" pitchFamily="18" charset="0"/>
                    <a:ea typeface="Cambria" panose="02040503050406030204" pitchFamily="18" charset="0"/>
                  </a:rPr>
                  <a:t>is</a:t>
                </a:r>
                <a:r>
                  <a:rPr lang="fr-FR" dirty="0">
                    <a:latin typeface="Cambria" panose="02040503050406030204" pitchFamily="18" charset="0"/>
                    <a:ea typeface="Cambria" panose="02040503050406030204" pitchFamily="18" charset="0"/>
                  </a:rPr>
                  <a:t> non-</a:t>
                </a:r>
                <a:r>
                  <a:rPr lang="fr-FR" dirty="0" err="1">
                    <a:latin typeface="Cambria" panose="02040503050406030204" pitchFamily="18" charset="0"/>
                    <a:ea typeface="Cambria" panose="02040503050406030204" pitchFamily="18" charset="0"/>
                  </a:rPr>
                  <a:t>zero</a:t>
                </a:r>
                <a:r>
                  <a:rPr lang="fr-FR" dirty="0">
                    <a:latin typeface="Cambria" panose="02040503050406030204" pitchFamily="18" charset="0"/>
                    <a:ea typeface="Cambria" panose="02040503050406030204" pitchFamily="18" charset="0"/>
                  </a:rPr>
                  <a:t> </a:t>
                </a:r>
                <a:r>
                  <a:rPr lang="fr-FR" sz="1800" dirty="0">
                    <a:latin typeface="Cambria" panose="02040503050406030204" pitchFamily="18" charset="0"/>
                    <a:ea typeface="Cambria" panose="02040503050406030204" pitchFamily="18" charset="0"/>
                    <a:sym typeface="Wingdings" panose="05000000000000000000" pitchFamily="2" charset="2"/>
                  </a:rPr>
                  <a:t> </a:t>
                </a:r>
              </a:p>
              <a:p>
                <a:r>
                  <a:rPr lang="en-US" dirty="0">
                    <a:latin typeface="Cambria" panose="02040503050406030204" pitchFamily="18" charset="0"/>
                    <a:ea typeface="Cambria" panose="02040503050406030204" pitchFamily="18" charset="0"/>
                    <a:sym typeface="Wingdings" panose="05000000000000000000" pitchFamily="2" charset="2"/>
                  </a:rPr>
                  <a:t>This implies that there is a link between the two variables. 
</a:t>
                </a:r>
              </a:p>
              <a:p>
                <a:r>
                  <a:rPr lang="fr-FR" dirty="0">
                    <a:latin typeface="Cambria" panose="02040503050406030204" pitchFamily="18" charset="0"/>
                    <a:ea typeface="Cambria" panose="02040503050406030204" pitchFamily="18" charset="0"/>
                    <a:sym typeface="Wingdings" panose="05000000000000000000" pitchFamily="2" charset="2"/>
                  </a:rPr>
                  <a:t>The coefficient </a:t>
                </a:r>
                <a:r>
                  <a:rPr lang="fr-FR" dirty="0" err="1">
                    <a:latin typeface="Cambria" panose="02040503050406030204" pitchFamily="18" charset="0"/>
                    <a:ea typeface="Cambria" panose="02040503050406030204" pitchFamily="18" charset="0"/>
                    <a:sym typeface="Wingdings" panose="05000000000000000000" pitchFamily="2" charset="2"/>
                  </a:rPr>
                  <a:t>belongs</a:t>
                </a:r>
                <a:r>
                  <a:rPr lang="fr-FR" dirty="0">
                    <a:latin typeface="Cambria" panose="02040503050406030204" pitchFamily="18" charset="0"/>
                    <a:ea typeface="Cambria" panose="02040503050406030204" pitchFamily="18" charset="0"/>
                    <a:sym typeface="Wingdings" panose="05000000000000000000" pitchFamily="2" charset="2"/>
                  </a:rPr>
                  <a:t> to [</a:t>
                </a:r>
                <a:r>
                  <a:rPr lang="fr-FR" sz="1800" dirty="0">
                    <a:latin typeface="Cambria" panose="02040503050406030204" pitchFamily="18" charset="0"/>
                    <a:ea typeface="Cambria" panose="02040503050406030204" pitchFamily="18" charset="0"/>
                    <a:sym typeface="Wingdings" panose="05000000000000000000" pitchFamily="2" charset="2"/>
                  </a:rPr>
                  <a:t>0 ; 0.5[ </a:t>
                </a:r>
              </a:p>
              <a:p>
                <a:r>
                  <a:rPr lang="en-US" dirty="0">
                    <a:latin typeface="Cambria" panose="02040503050406030204" pitchFamily="18" charset="0"/>
                    <a:ea typeface="Cambria" panose="02040503050406030204" pitchFamily="18" charset="0"/>
                  </a:rPr>
                  <a:t>This implies that the intensity of the linear link between the two variables is weak.
</a:t>
                </a:r>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p>
              <a:p>
                <a:r>
                  <a:rPr lang="fr-FR" dirty="0"/>
                  <a:t> </a:t>
                </a:r>
              </a:p>
            </p:txBody>
          </p:sp>
        </mc:Choice>
        <mc:Fallback>
          <p:sp>
            <p:nvSpPr>
              <p:cNvPr id="16" name="ZoneTexte 15">
                <a:extLst>
                  <a:ext uri="{FF2B5EF4-FFF2-40B4-BE49-F238E27FC236}">
                    <a16:creationId xmlns:a16="http://schemas.microsoft.com/office/drawing/2014/main" id="{9D37E00B-689E-4493-93D9-A757205BD570}"/>
                  </a:ext>
                </a:extLst>
              </p:cNvPr>
              <p:cNvSpPr txBox="1">
                <a:spLocks noRot="1" noChangeAspect="1" noMove="1" noResize="1" noEditPoints="1" noAdjustHandles="1" noChangeArrowheads="1" noChangeShapeType="1" noTextEdit="1"/>
              </p:cNvSpPr>
              <p:nvPr/>
            </p:nvSpPr>
            <p:spPr>
              <a:xfrm>
                <a:off x="1619672" y="2391197"/>
                <a:ext cx="6480720" cy="5604355"/>
              </a:xfrm>
              <a:prstGeom prst="rect">
                <a:avLst/>
              </a:prstGeom>
              <a:blipFill>
                <a:blip r:embed="rId2"/>
                <a:stretch>
                  <a:fillRect l="-847" t="-652" r="-659"/>
                </a:stretch>
              </a:blipFill>
            </p:spPr>
            <p:txBody>
              <a:bodyPr/>
              <a:lstStyle/>
              <a:p>
                <a:r>
                  <a:rPr lang="fr-FR">
                    <a:noFill/>
                  </a:rPr>
                  <a:t> </a:t>
                </a:r>
              </a:p>
            </p:txBody>
          </p:sp>
        </mc:Fallback>
      </mc:AlternateContent>
      <p:pic>
        <p:nvPicPr>
          <p:cNvPr id="10" name="Image 9">
            <a:extLst>
              <a:ext uri="{FF2B5EF4-FFF2-40B4-BE49-F238E27FC236}">
                <a16:creationId xmlns:a16="http://schemas.microsoft.com/office/drawing/2014/main" id="{CBAB60F6-58BF-4851-A6EE-63E7967D0B6A}"/>
              </a:ext>
            </a:extLst>
          </p:cNvPr>
          <p:cNvPicPr>
            <a:picLocks noChangeAspect="1"/>
          </p:cNvPicPr>
          <p:nvPr/>
        </p:nvPicPr>
        <p:blipFill>
          <a:blip r:embed="rId3"/>
          <a:stretch>
            <a:fillRect/>
          </a:stretch>
        </p:blipFill>
        <p:spPr>
          <a:xfrm>
            <a:off x="1259632" y="2931333"/>
            <a:ext cx="4680520" cy="804324"/>
          </a:xfrm>
          <a:prstGeom prst="rect">
            <a:avLst/>
          </a:prstGeom>
        </p:spPr>
      </p:pic>
    </p:spTree>
    <p:extLst>
      <p:ext uri="{BB962C8B-B14F-4D97-AF65-F5344CB8AC3E}">
        <p14:creationId xmlns:p14="http://schemas.microsoft.com/office/powerpoint/2010/main" val="144971770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2CBBB177BCECA4BA07D6B8F331069E6" ma:contentTypeVersion="8" ma:contentTypeDescription="Crée un document." ma:contentTypeScope="" ma:versionID="a1792ed5d19ee5ab252c33350085386f">
  <xsd:schema xmlns:xsd="http://www.w3.org/2001/XMLSchema" xmlns:xs="http://www.w3.org/2001/XMLSchema" xmlns:p="http://schemas.microsoft.com/office/2006/metadata/properties" xmlns:ns2="9e182b23-170a-47e8-a965-13b876d21b7d" targetNamespace="http://schemas.microsoft.com/office/2006/metadata/properties" ma:root="true" ma:fieldsID="f2f4ce115f52bc9505b5498e049d5905" ns2:_="">
    <xsd:import namespace="9e182b23-170a-47e8-a965-13b876d21b7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182b23-170a-47e8-a965-13b876d21b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1AC1EBE-977F-480B-B90F-A9F24D28C013}">
  <ds:schemaRefs>
    <ds:schemaRef ds:uri="64acb2c5-0a2b-4bda-bd34-58e36cbb80d2"/>
    <ds:schemaRef ds:uri="http://schemas.microsoft.com/office/2006/documentManagement/types"/>
    <ds:schemaRef ds:uri="http://purl.org/dc/elements/1.1/"/>
    <ds:schemaRef ds:uri="http://schemas.microsoft.com/office/2006/metadata/properties"/>
    <ds:schemaRef ds:uri="6d93d202-47fc-4405-873a-cab67cc5f1b2"/>
    <ds:schemaRef ds:uri="http://schemas.microsoft.com/office/infopath/2007/PartnerControls"/>
    <ds:schemaRef ds:uri="http://purl.org/dc/term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C6DBA099-409A-41BD-87C5-7562281B3B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182b23-170a-47e8-a965-13b876d21b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C77513C-6410-45B8-BF50-2A1802B05B9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669</TotalTime>
  <Words>1263</Words>
  <Application>Microsoft Office PowerPoint</Application>
  <PresentationFormat>Affichage à l'écran (4:3)</PresentationFormat>
  <Paragraphs>251</Paragraphs>
  <Slides>23</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23</vt:i4>
      </vt:variant>
    </vt:vector>
  </HeadingPairs>
  <TitlesOfParts>
    <vt:vector size="30" baseType="lpstr">
      <vt:lpstr>Arial</vt:lpstr>
      <vt:lpstr>Calibri</vt:lpstr>
      <vt:lpstr>Cambria</vt:lpstr>
      <vt:lpstr>Cambria Math</vt:lpstr>
      <vt:lpstr>Times New Roman</vt:lpstr>
      <vt:lpstr>Wingdings</vt:lpstr>
      <vt:lpstr>Thème Office</vt:lpstr>
      <vt:lpstr>Data Description </vt:lpstr>
      <vt:lpstr>Descriptive statistics – Bivariate </vt:lpstr>
      <vt:lpstr>The case of two quantitatives whose data are presented in the raw state</vt:lpstr>
      <vt:lpstr>Example </vt:lpstr>
      <vt:lpstr>Graphical Representation – Scatter plot</vt:lpstr>
      <vt:lpstr>Calculation of the covariance  </vt:lpstr>
      <vt:lpstr>Interpretation of covariance 
</vt:lpstr>
      <vt:lpstr>Back to example 
</vt:lpstr>
      <vt:lpstr>Back to example 
</vt:lpstr>
      <vt:lpstr>The linear correlation coefficient
</vt:lpstr>
      <vt:lpstr>Interpretation - The linear correlation coefficient
</vt:lpstr>
      <vt:lpstr>Back to example 
</vt:lpstr>
      <vt:lpstr>Back to example 
</vt:lpstr>
      <vt:lpstr>The case of two quantitatives whose data are presented in a contingency table 
</vt:lpstr>
      <vt:lpstr>The case of two quantitatives whose data are presented in a contingency table 
</vt:lpstr>
      <vt:lpstr>The case of two quantitatives whose data are presented in a contingency table</vt:lpstr>
      <vt:lpstr>The case of two quantitatives whose data are presented in a contingency table</vt:lpstr>
      <vt:lpstr>The case of two quantitatives whose data are presented in a contingency table</vt:lpstr>
      <vt:lpstr>The case of two quantitatives whose data are presented in a contingency table</vt:lpstr>
      <vt:lpstr>The case of two quantitatives whose data are presented in a contingency table</vt:lpstr>
      <vt:lpstr>The case of two quantitatives whose data are presented in a contingency table</vt:lpstr>
      <vt:lpstr>The case of two quantitatives whose data are presented in a contingency table</vt:lpstr>
      <vt:lpstr>The case of two quantitatives whose data are presented in a contingency table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 </dc:title>
  <dc:creator>KACHOUR Maher</dc:creator>
  <cp:lastModifiedBy>KACHOUR Maher</cp:lastModifiedBy>
  <cp:revision>52</cp:revision>
  <dcterms:created xsi:type="dcterms:W3CDTF">2021-02-02T16:40:54Z</dcterms:created>
  <dcterms:modified xsi:type="dcterms:W3CDTF">2021-10-15T14:16:38Z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0x01010082CBBB177BCECA4BA07D6B8F331069E6</vt:lpwstr>
  </property>
</Properties>
</file>