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30" r:id="rId13"/>
    <p:sldId id="324" r:id="rId14"/>
    <p:sldId id="331" r:id="rId15"/>
    <p:sldId id="326" r:id="rId16"/>
    <p:sldId id="332" r:id="rId17"/>
    <p:sldId id="328" r:id="rId18"/>
    <p:sldId id="333" r:id="rId1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128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B59AB8C-016A-46A4-8C7F-AF65AA542FF3}"/>
    <pc:docChg chg="modSld">
      <pc:chgData name="KACHOUR Maher" userId="09775c39-7739-40bf-ba04-c8ef3ab24a94" providerId="ADAL" clId="{4B59AB8C-016A-46A4-8C7F-AF65AA542FF3}" dt="2021-10-15T13:08:06.434" v="7" actId="1076"/>
      <pc:docMkLst>
        <pc:docMk/>
      </pc:docMkLst>
      <pc:sldChg chg="modSp mod">
        <pc:chgData name="KACHOUR Maher" userId="09775c39-7739-40bf-ba04-c8ef3ab24a94" providerId="ADAL" clId="{4B59AB8C-016A-46A4-8C7F-AF65AA542FF3}" dt="2021-10-15T13:07:46.571" v="3" actId="1076"/>
        <pc:sldMkLst>
          <pc:docMk/>
          <pc:sldMk cId="2330945451" sldId="326"/>
        </pc:sldMkLst>
        <pc:graphicFrameChg chg="mod modGraphic">
          <ac:chgData name="KACHOUR Maher" userId="09775c39-7739-40bf-ba04-c8ef3ab24a94" providerId="ADAL" clId="{4B59AB8C-016A-46A4-8C7F-AF65AA542FF3}" dt="2021-10-15T13:07:46.571" v="3" actId="1076"/>
          <ac:graphicFrameMkLst>
            <pc:docMk/>
            <pc:sldMk cId="2330945451" sldId="326"/>
            <ac:graphicFrameMk id="5" creationId="{FD9D37B9-216A-4C04-AFF2-3C528348783A}"/>
          </ac:graphicFrameMkLst>
        </pc:graphicFrameChg>
      </pc:sldChg>
      <pc:sldChg chg="modSp mod">
        <pc:chgData name="KACHOUR Maher" userId="09775c39-7739-40bf-ba04-c8ef3ab24a94" providerId="ADAL" clId="{4B59AB8C-016A-46A4-8C7F-AF65AA542FF3}" dt="2021-10-15T13:07:58.506" v="5" actId="1076"/>
        <pc:sldMkLst>
          <pc:docMk/>
          <pc:sldMk cId="3768866805" sldId="328"/>
        </pc:sldMkLst>
        <pc:graphicFrameChg chg="mod modGraphic">
          <ac:chgData name="KACHOUR Maher" userId="09775c39-7739-40bf-ba04-c8ef3ab24a94" providerId="ADAL" clId="{4B59AB8C-016A-46A4-8C7F-AF65AA542FF3}" dt="2021-10-15T13:07:58.506" v="5" actId="1076"/>
          <ac:graphicFrameMkLst>
            <pc:docMk/>
            <pc:sldMk cId="3768866805" sldId="328"/>
            <ac:graphicFrameMk id="5" creationId="{850BCA77-32AC-4715-9498-184BB36BDAB9}"/>
          </ac:graphicFrameMkLst>
        </pc:graphicFrameChg>
      </pc:sldChg>
      <pc:sldChg chg="modSp mod">
        <pc:chgData name="KACHOUR Maher" userId="09775c39-7739-40bf-ba04-c8ef3ab24a94" providerId="ADAL" clId="{4B59AB8C-016A-46A4-8C7F-AF65AA542FF3}" dt="2021-10-15T13:07:36.050" v="1" actId="1076"/>
        <pc:sldMkLst>
          <pc:docMk/>
          <pc:sldMk cId="3474272761" sldId="332"/>
        </pc:sldMkLst>
        <pc:graphicFrameChg chg="mod modGraphic">
          <ac:chgData name="KACHOUR Maher" userId="09775c39-7739-40bf-ba04-c8ef3ab24a94" providerId="ADAL" clId="{4B59AB8C-016A-46A4-8C7F-AF65AA542FF3}" dt="2021-10-15T13:07:36.050" v="1" actId="1076"/>
          <ac:graphicFrameMkLst>
            <pc:docMk/>
            <pc:sldMk cId="3474272761" sldId="332"/>
            <ac:graphicFrameMk id="5" creationId="{FD9D37B9-216A-4C04-AFF2-3C528348783A}"/>
          </ac:graphicFrameMkLst>
        </pc:graphicFrameChg>
      </pc:sldChg>
      <pc:sldChg chg="modSp mod">
        <pc:chgData name="KACHOUR Maher" userId="09775c39-7739-40bf-ba04-c8ef3ab24a94" providerId="ADAL" clId="{4B59AB8C-016A-46A4-8C7F-AF65AA542FF3}" dt="2021-10-15T13:08:06.434" v="7" actId="1076"/>
        <pc:sldMkLst>
          <pc:docMk/>
          <pc:sldMk cId="2000608379" sldId="333"/>
        </pc:sldMkLst>
        <pc:graphicFrameChg chg="mod modGraphic">
          <ac:chgData name="KACHOUR Maher" userId="09775c39-7739-40bf-ba04-c8ef3ab24a94" providerId="ADAL" clId="{4B59AB8C-016A-46A4-8C7F-AF65AA542FF3}" dt="2021-10-15T13:08:06.434" v="7" actId="1076"/>
          <ac:graphicFrameMkLst>
            <pc:docMk/>
            <pc:sldMk cId="2000608379" sldId="333"/>
            <ac:graphicFrameMk id="5" creationId="{850BCA77-32AC-4715-9498-184BB36BDAB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8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19FEE-4859-44AC-B8F4-C60BFFD5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Form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C66DD1-318B-4FCB-89C4-573006772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536" y="1166018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F17"/>
              </a:rPr>
              <a:t>A numerical indicator is called of the form if it is a key number to characterize the distribution around a central value, such as the average data, relative frequencies (or frequencies) associated with </a:t>
            </a:r>
            <a:r>
              <a:rPr lang="fr-FR" sz="1800" b="0" i="0" u="none" strike="noStrike" baseline="0" dirty="0">
                <a:latin typeface="F17"/>
              </a:rPr>
              <a:t>observations / </a:t>
            </a:r>
            <a:r>
              <a:rPr lang="fr-FR" sz="1800" b="0" i="0" u="none" strike="noStrike" baseline="0" dirty="0" err="1">
                <a:latin typeface="F17"/>
              </a:rPr>
              <a:t>modalities</a:t>
            </a:r>
            <a:r>
              <a:rPr lang="fr-FR" sz="1800" b="0" i="0" u="none" strike="noStrike" baseline="0" dirty="0">
                <a:latin typeface="F17"/>
              </a:rPr>
              <a:t>.</a:t>
            </a:r>
          </a:p>
          <a:p>
            <a:pPr marL="0" indent="0" algn="l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 this course, we will focus on asymmetry coefficients
Explicitly, we will study the following indicators:
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The Pearson coefficient
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Yule and Kendall coefficient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Bulle narrative : ronde 3">
            <a:extLst>
              <a:ext uri="{FF2B5EF4-FFF2-40B4-BE49-F238E27FC236}">
                <a16:creationId xmlns:a16="http://schemas.microsoft.com/office/drawing/2014/main" id="{69D084A7-4459-4A72-A946-2477CC8D2B0F}"/>
              </a:ext>
            </a:extLst>
          </p:cNvPr>
          <p:cNvSpPr/>
          <p:nvPr/>
        </p:nvSpPr>
        <p:spPr>
          <a:xfrm>
            <a:off x="5782504" y="5301208"/>
            <a:ext cx="3096344" cy="1008112"/>
          </a:xfrm>
          <a:prstGeom prst="wedgeEllipseCallout">
            <a:avLst>
              <a:gd name="adj1" fmla="val -99276"/>
              <a:gd name="adj2" fmla="val -55605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E550BC2-C7A2-4DA3-97F1-4930C0DB2312}"/>
              </a:ext>
            </a:extLst>
          </p:cNvPr>
          <p:cNvSpPr txBox="1"/>
          <p:nvPr/>
        </p:nvSpPr>
        <p:spPr>
          <a:xfrm>
            <a:off x="6516216" y="5552828"/>
            <a:ext cx="1872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Indicators associated with data from a quantitative variable only
</a:t>
            </a:r>
            <a:endParaRPr lang="fr-FR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755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7C387E-2F2E-4F1B-9F66-09F48FBB0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Asymmetry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Pearson Coefficient
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BE02A17-E83C-48A9-867B-C76F11D5BD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Pearson coefficient is defined by:
</a:t>
                </a:r>
                <a:endParaRPr lang="fr-FR" sz="3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𝑀𝑒𝑎𝑛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𝑀𝑜𝑑𝑒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𝑆𝑡𝑎𝑛𝑑𝑎𝑟𝑑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𝑑𝑒𝑣𝑖𝑎𝑡𝑖𝑜𝑛</m:t>
                          </m:r>
                        </m:den>
                      </m:f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fr-FR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𝑀𝑜𝑑𝑒</m:t>
                              </m:r>
                            </m:e>
                          </m:d>
                        </m:num>
                        <m:den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fr-FR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fr-FR" sz="1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 = 0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implies that the observations are evenly /symmetrically distributed (around the mean)</a:t>
                </a:r>
              </a:p>
              <a:p>
                <a:pPr marL="0" indent="0">
                  <a:buNone/>
                </a:pPr>
                <a:endParaRPr lang="fr-FR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fr-FR" sz="1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 &gt; 0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implies that the distribution of the data is spread to the right (of the average) </a:t>
                </a:r>
                <a:r>
                  <a:rPr lang="fr-FR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 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 The lower observations/modalities (than average) have more weight  </a:t>
                </a:r>
              </a:p>
              <a:p>
                <a:pPr marL="0" indent="0">
                  <a:buNone/>
                </a:pPr>
                <a:endParaRPr lang="fr-FR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fr-FR" sz="1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 &lt; 0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implies that the distribution of the data is spread to the left (of the average) 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       </a:t>
                </a:r>
                <a:r>
                  <a:rPr lang="fr-FR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The upper observations/modalities (than average) have more weight  </a:t>
                </a:r>
              </a:p>
              <a:p>
                <a:pPr marL="0" indent="0">
                  <a:buNone/>
                </a:pPr>
                <a:endParaRPr lang="fr-FR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BE02A17-E83C-48A9-867B-C76F11D5B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4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7541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7C387E-2F2E-4F1B-9F66-09F48FBB0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224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Indicators of asymmetry – 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Yule and Kendall coefficient
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BE02A17-E83C-48A9-867B-C76F11D5BD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Yule and Kendall coefficient is defined by:
</a:t>
                </a:r>
                <a:endParaRPr lang="fr-F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𝑀𝑒𝑑𝑖𝑎𝑛</m:t>
                              </m:r>
                            </m:e>
                          </m:d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𝑀𝑒𝑑𝑖𝑎𝑛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fr-FR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fr-FR" sz="1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Y = 0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implies that the observations are evenly /symmetrically distributed (around the median)</a:t>
                </a:r>
              </a:p>
              <a:p>
                <a:pPr marL="0" indent="0">
                  <a:buNone/>
                </a:pPr>
                <a:endParaRPr lang="fr-FR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fr-FR" sz="1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Y &gt; 0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implies that the distribution of the data is spread to the right (of the average) </a:t>
                </a:r>
                <a:r>
                  <a:rPr lang="fr-FR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 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 The lower observations/modalities (than median) have more weight  </a:t>
                </a:r>
              </a:p>
              <a:p>
                <a:pPr marL="0" indent="0">
                  <a:buNone/>
                </a:pPr>
                <a:endParaRPr lang="fr-FR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fr-FR" sz="1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Y &lt; 0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implies that the distribution of the data is spread to the left (of the average) 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       </a:t>
                </a:r>
                <a:r>
                  <a:rPr lang="fr-FR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The upper observations/modalities (than median) have more weight 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BE02A17-E83C-48A9-867B-C76F11D5B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4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476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209AB2-F8E2-475D-A5F7-675444A59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Asymmetry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 - </a:t>
            </a:r>
            <a:r>
              <a:rPr lang="fr-FR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Graphically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 
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D0A8704-8012-4824-B470-6731332588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733" y="1852821"/>
            <a:ext cx="3168352" cy="2839161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9C05761-A305-44E3-802F-CFCD2A719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714" y="1696222"/>
            <a:ext cx="2990653" cy="315235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4BB10C8-D899-4ABF-BD82-CC4FCBDFC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459" y="1852821"/>
            <a:ext cx="2843808" cy="315235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C8CFF04-F5D0-4A9E-A78C-15CDAB368C2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163" t="43000" r="30313" b="50000"/>
          <a:stretch/>
        </p:blipFill>
        <p:spPr>
          <a:xfrm>
            <a:off x="2116800" y="5283762"/>
            <a:ext cx="5326733" cy="49321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6EFBFCF-E8D5-47E8-A083-C027B55CA23C}"/>
              </a:ext>
            </a:extLst>
          </p:cNvPr>
          <p:cNvSpPr txBox="1"/>
          <p:nvPr/>
        </p:nvSpPr>
        <p:spPr>
          <a:xfrm>
            <a:off x="902728" y="1450563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Spread on the right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4F5056D-7FBE-4850-980E-AEDF1892A017}"/>
              </a:ext>
            </a:extLst>
          </p:cNvPr>
          <p:cNvSpPr txBox="1"/>
          <p:nvPr/>
        </p:nvSpPr>
        <p:spPr>
          <a:xfrm>
            <a:off x="6638433" y="1344197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Spread on the </a:t>
            </a:r>
            <a:r>
              <a:rPr lang="fr-FR" dirty="0" err="1"/>
              <a:t>left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314EBAD-688D-4E4A-BF61-4CF562DB7A94}"/>
              </a:ext>
            </a:extLst>
          </p:cNvPr>
          <p:cNvSpPr txBox="1"/>
          <p:nvPr/>
        </p:nvSpPr>
        <p:spPr>
          <a:xfrm>
            <a:off x="3519831" y="1354957"/>
            <a:ext cx="3006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symmetrically distributed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3972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2469691-F636-4953-AF98-56AEE8A2D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The sign of the Yule and Kendall coefficient – Graphically 
</a:t>
            </a:r>
            <a:endParaRPr lang="fr-FR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294B267-ABFD-451C-9183-3D5868408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9877" y="768736"/>
            <a:ext cx="4190207" cy="1738935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19739A1-4ECB-45FF-BA80-DF9E03B2A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03" y="4148003"/>
            <a:ext cx="4190206" cy="179131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A8D8200-24B4-4759-92B3-CE2F23AEB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878" y="4168954"/>
            <a:ext cx="4190207" cy="174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9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DAA49A-9770-4CEA-95B0-8BCA690AF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Asymmetry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General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Remarks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0EECF8-BB90-4531-8612-DF9E4F735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Remark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1 : </a:t>
            </a:r>
          </a:p>
          <a:p>
            <a:pPr marL="0" indent="0">
              <a:buNone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Remark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2 :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12426B8-EA03-4A23-8E85-2146CEB3BB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57000" r="29526" b="23370"/>
          <a:stretch/>
        </p:blipFill>
        <p:spPr>
          <a:xfrm>
            <a:off x="3210848" y="1735975"/>
            <a:ext cx="5670682" cy="144572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C0D2521-F699-4EF5-862E-9ECD6E32A1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163" t="50841" r="30313" b="35638"/>
          <a:stretch/>
        </p:blipFill>
        <p:spPr>
          <a:xfrm>
            <a:off x="3059832" y="4162586"/>
            <a:ext cx="5494448" cy="98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02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D768A4-4B47-4390-BDD0-0AD3CDD0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>
            <a:normAutofit/>
          </a:bodyPr>
          <a:lstStyle/>
          <a:p>
            <a:r>
              <a:rPr lang="fr-FR" sz="4000" dirty="0" err="1"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endParaRPr lang="fr-FR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B8C8501-2113-4D12-B48F-5F2AFF5EF94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38" y="908720"/>
            <a:ext cx="9142462" cy="586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age of visitors to a website:
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right proposal (among the four proposals below):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coefficient of variation is less than 25%
 The 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Pearson coefficient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positive
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mode is equal to 21.22 years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average age is equal to 35.25 years 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96C763F7-A954-4676-80EE-C8D4A9B62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435370"/>
              </p:ext>
            </p:extLst>
          </p:nvPr>
        </p:nvGraphicFramePr>
        <p:xfrm>
          <a:off x="2843808" y="1628800"/>
          <a:ext cx="31683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6445929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82991047"/>
                    </a:ext>
                  </a:extLst>
                </a:gridCol>
              </a:tblGrid>
              <a:tr h="5203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visitors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28421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&lt;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875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[18 ; 20[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262945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[20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742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[30 ; 35[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8362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[35 ; 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31004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≥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406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20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D768A4-4B47-4390-BDD0-0AD3CDD0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>
            <a:normAutofit/>
          </a:bodyPr>
          <a:lstStyle/>
          <a:p>
            <a:r>
              <a:rPr lang="fr-FR" sz="4000" dirty="0" err="1"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endParaRPr lang="fr-FR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B8C8501-2113-4D12-B48F-5F2AFF5EF94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38" y="908720"/>
            <a:ext cx="9142462" cy="586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age of visitors to a website:
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right proposal (among the four proposals below):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coefficient of variation is less than 25%
</a:t>
            </a: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The </a:t>
            </a:r>
            <a:r>
              <a:rPr lang="fr-FR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Pearson coefficient </a:t>
            </a:r>
            <a:r>
              <a:rPr lang="fr-FR" sz="20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</a:t>
            </a:r>
            <a:r>
              <a:rPr lang="fr-FR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positive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
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mode is equal to 21.22 years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average age is equal to 35.25 years 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96C763F7-A954-4676-80EE-C8D4A9B62004}"/>
              </a:ext>
            </a:extLst>
          </p:cNvPr>
          <p:cNvGraphicFramePr>
            <a:graphicFrameLocks noGrp="1"/>
          </p:cNvGraphicFramePr>
          <p:nvPr/>
        </p:nvGraphicFramePr>
        <p:xfrm>
          <a:off x="2843808" y="1628800"/>
          <a:ext cx="31683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6445929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82991047"/>
                    </a:ext>
                  </a:extLst>
                </a:gridCol>
              </a:tblGrid>
              <a:tr h="5203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visitors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28421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&lt;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875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[18 ; 20[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262945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[20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742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[30 ; 35[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8362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[35 ; 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31004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≥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406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379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D768A4-4B47-4390-BDD0-0AD3CDD0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34280"/>
            <a:ext cx="8229600" cy="1143000"/>
          </a:xfrm>
        </p:spPr>
        <p:txBody>
          <a:bodyPr>
            <a:normAutofit/>
          </a:bodyPr>
          <a:lstStyle/>
          <a:p>
            <a:r>
              <a:rPr lang="fr-FR" sz="4000" dirty="0" err="1"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endParaRPr lang="fr-FR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B8C8501-2113-4D12-B48F-5F2AFF5EF94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38" y="908720"/>
            <a:ext cx="9142462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age of visitors to a website: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right proposal (among the four proposals below):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first quartile is equal to 31,233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median is equal to 29,431
 The third quartile is equal to 36.28
The Yule and Kendall coefficient is negative 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1FB458AF-A9CC-4332-848F-AD87E84B1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062172"/>
              </p:ext>
            </p:extLst>
          </p:nvPr>
        </p:nvGraphicFramePr>
        <p:xfrm>
          <a:off x="2771800" y="1340768"/>
          <a:ext cx="31683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6445929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82991047"/>
                    </a:ext>
                  </a:extLst>
                </a:gridCol>
              </a:tblGrid>
              <a:tr h="5203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visitors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28421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&lt;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875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[18 ; 20[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262945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[20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742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[30 ; 35[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8362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[35 ; 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31004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≥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406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598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D768A4-4B47-4390-BDD0-0AD3CDD0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34280"/>
            <a:ext cx="8229600" cy="1143000"/>
          </a:xfrm>
        </p:spPr>
        <p:txBody>
          <a:bodyPr>
            <a:normAutofit/>
          </a:bodyPr>
          <a:lstStyle/>
          <a:p>
            <a:r>
              <a:rPr lang="fr-FR" sz="4000" dirty="0" err="1"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endParaRPr lang="fr-FR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B8C8501-2113-4D12-B48F-5F2AFF5EF94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38" y="908720"/>
            <a:ext cx="9142462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age of visitors to a website: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right proposal (among the four proposals below):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first quartile is equal to 31,233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median is equal to 29,431
 The third quartile is equal to 36.28
</a:t>
            </a: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Yule and Kendall coefficient is negative </a:t>
            </a:r>
            <a:endParaRPr lang="fr-FR" sz="20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1FB458AF-A9CC-4332-848F-AD87E84B18B7}"/>
              </a:ext>
            </a:extLst>
          </p:cNvPr>
          <p:cNvGraphicFramePr>
            <a:graphicFrameLocks noGrp="1"/>
          </p:cNvGraphicFramePr>
          <p:nvPr/>
        </p:nvGraphicFramePr>
        <p:xfrm>
          <a:off x="2771800" y="1340768"/>
          <a:ext cx="31683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6445929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82991047"/>
                    </a:ext>
                  </a:extLst>
                </a:gridCol>
              </a:tblGrid>
              <a:tr h="5203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visitors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28421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&lt;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875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[18 ; 20[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262945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[20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742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[30 ; 35[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8362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[35 ; 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31004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≥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406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117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8ED741-9FC0-4920-95C4-950CC56AF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fr-FR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5D8AB6-C0B4-46D4-9A63-F313BD0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" y="1009476"/>
            <a:ext cx="9077325" cy="5791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number of products purchased during the visit of 100 visitors to a shopping center: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right proposal (among the four proposals below):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mean is equal to 2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The Pearson coefficient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negative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
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standard deviation is equal to 1.470238
The coefficient of variation is greater than 95%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FD9D37B9-216A-4C04-AFF2-3C5283487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22062"/>
              </p:ext>
            </p:extLst>
          </p:nvPr>
        </p:nvGraphicFramePr>
        <p:xfrm>
          <a:off x="3203848" y="1772816"/>
          <a:ext cx="388843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6445929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82991047"/>
                    </a:ext>
                  </a:extLst>
                </a:gridCol>
              </a:tblGrid>
              <a:tr h="5203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Nb of </a:t>
                      </a:r>
                      <a:r>
                        <a:rPr lang="fr-FR" dirty="0" err="1"/>
                        <a:t>products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purchased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visitors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28421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875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262945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742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8362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31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0945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8ED741-9FC0-4920-95C4-950CC56AF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fr-FR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5D8AB6-C0B4-46D4-9A63-F313BD0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" y="1009476"/>
            <a:ext cx="9077325" cy="5791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number of products purchased during the visit of 100 visitors to a shopping center: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right proposal (among the four proposals below):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mean is equal to 2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The Pearson coefficient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negative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
</a:t>
            </a: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standard deviation is equal to 1.470238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
The coefficient of variation is greater than 95%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FD9D37B9-216A-4C04-AFF2-3C5283487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191054"/>
              </p:ext>
            </p:extLst>
          </p:nvPr>
        </p:nvGraphicFramePr>
        <p:xfrm>
          <a:off x="3131840" y="1844824"/>
          <a:ext cx="3816424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6445929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82991047"/>
                    </a:ext>
                  </a:extLst>
                </a:gridCol>
              </a:tblGrid>
              <a:tr h="5203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Nb of </a:t>
                      </a:r>
                      <a:r>
                        <a:rPr lang="fr-FR" dirty="0" err="1"/>
                        <a:t>products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purchased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visitors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28421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875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262945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742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8362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31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272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8ED741-9FC0-4920-95C4-950CC56AF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fr-FR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5D8AB6-C0B4-46D4-9A63-F313BD0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" y="1009476"/>
            <a:ext cx="9077325" cy="5791374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number of products purchased during the visit of 100 visitors to a shopping center: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right proposal (among the four proposals below):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first quartile is equal to 0
The median is equal to 2
The Yule and Kendall coefficient is positive
The interquartile range is equal to 2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50BCA77-32AC-4715-9498-184BB36BD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782930"/>
              </p:ext>
            </p:extLst>
          </p:nvPr>
        </p:nvGraphicFramePr>
        <p:xfrm>
          <a:off x="3203848" y="1772816"/>
          <a:ext cx="39604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6445929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82991047"/>
                    </a:ext>
                  </a:extLst>
                </a:gridCol>
              </a:tblGrid>
              <a:tr h="5203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Nb of </a:t>
                      </a:r>
                      <a:r>
                        <a:rPr lang="fr-FR" dirty="0" err="1"/>
                        <a:t>products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purchased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visitors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28421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875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262945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742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8362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31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866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8ED741-9FC0-4920-95C4-950CC56AF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fr-FR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5D8AB6-C0B4-46D4-9A63-F313BD09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" y="1009476"/>
            <a:ext cx="9077325" cy="5791374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number of products purchased during the visit of 100 visitors to a shopping center: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right proposal (among the four proposals below):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first quartile is equal to 0
The median is equal to 2
</a:t>
            </a: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Yule and Kendall coefficient is positive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
The interquartile range is equal to 2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50BCA77-32AC-4715-9498-184BB36BD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144588"/>
              </p:ext>
            </p:extLst>
          </p:nvPr>
        </p:nvGraphicFramePr>
        <p:xfrm>
          <a:off x="3347864" y="1772816"/>
          <a:ext cx="3744416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6445929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82991047"/>
                    </a:ext>
                  </a:extLst>
                </a:gridCol>
              </a:tblGrid>
              <a:tr h="5203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Nb of </a:t>
                      </a:r>
                      <a:r>
                        <a:rPr lang="fr-FR" dirty="0" err="1"/>
                        <a:t>products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purchased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visitors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28421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875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262945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742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8362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31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6083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CBBB177BCECA4BA07D6B8F331069E6" ma:contentTypeVersion="8" ma:contentTypeDescription="Crée un document." ma:contentTypeScope="" ma:versionID="a1792ed5d19ee5ab252c33350085386f">
  <xsd:schema xmlns:xsd="http://www.w3.org/2001/XMLSchema" xmlns:xs="http://www.w3.org/2001/XMLSchema" xmlns:p="http://schemas.microsoft.com/office/2006/metadata/properties" xmlns:ns2="9e182b23-170a-47e8-a965-13b876d21b7d" targetNamespace="http://schemas.microsoft.com/office/2006/metadata/properties" ma:root="true" ma:fieldsID="f2f4ce115f52bc9505b5498e049d5905" ns2:_="">
    <xsd:import namespace="9e182b23-170a-47e8-a965-13b876d21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82b23-170a-47e8-a965-13b876d21b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B9F60E-0D7F-4CD0-9939-B06DECDB4D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7E6E705-B6D2-449E-BC21-85F934C7D9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82b23-170a-47e8-a965-13b876d21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1042</Words>
  <Application>Microsoft Office PowerPoint</Application>
  <PresentationFormat>Affichage à l'écran (4:3)</PresentationFormat>
  <Paragraphs>225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Cambria Math</vt:lpstr>
      <vt:lpstr>F17</vt:lpstr>
      <vt:lpstr>Wingdings</vt:lpstr>
      <vt:lpstr>Thème Office</vt:lpstr>
      <vt:lpstr>Data Description </vt:lpstr>
      <vt:lpstr>The Form indicators
</vt:lpstr>
      <vt:lpstr>Asymmetry Indicators –  The Pearson Coefficient
</vt:lpstr>
      <vt:lpstr>Indicators of asymmetry –  The Yule and Kendall coefficient
</vt:lpstr>
      <vt:lpstr>Asymmetry - Graphically 
</vt:lpstr>
      <vt:lpstr>The sign of the Yule and Kendall coefficient – Graphically 
</vt:lpstr>
      <vt:lpstr>Asymmetry Indicators – General Remarks
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15</cp:revision>
  <dcterms:created xsi:type="dcterms:W3CDTF">2021-02-02T16:40:54Z</dcterms:created>
  <dcterms:modified xsi:type="dcterms:W3CDTF">2021-10-15T13:08:16Z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0x01010082CBBB177BCECA4BA07D6B8F331069E6</vt:lpwstr>
  </property>
</Properties>
</file>