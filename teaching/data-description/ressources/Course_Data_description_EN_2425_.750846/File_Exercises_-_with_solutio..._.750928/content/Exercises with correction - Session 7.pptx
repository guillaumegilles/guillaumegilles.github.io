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3" r:id="rId5"/>
    <p:sldId id="259" r:id="rId6"/>
    <p:sldId id="262" r:id="rId7"/>
    <p:sldId id="264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A53DD8-B3E4-4039-B56F-E5EF414AC823}" v="14" dt="2021-10-15T12:58:48.0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1DA53DD8-B3E4-4039-B56F-E5EF414AC823}"/>
    <pc:docChg chg="custSel modSld">
      <pc:chgData name="KACHOUR Maher" userId="09775c39-7739-40bf-ba04-c8ef3ab24a94" providerId="ADAL" clId="{1DA53DD8-B3E4-4039-B56F-E5EF414AC823}" dt="2021-10-16T15:45:16.360" v="26" actId="255"/>
      <pc:docMkLst>
        <pc:docMk/>
      </pc:docMkLst>
      <pc:sldChg chg="modSp mod">
        <pc:chgData name="KACHOUR Maher" userId="09775c39-7739-40bf-ba04-c8ef3ab24a94" providerId="ADAL" clId="{1DA53DD8-B3E4-4039-B56F-E5EF414AC823}" dt="2021-10-16T15:45:03.340" v="23" actId="20577"/>
        <pc:sldMkLst>
          <pc:docMk/>
          <pc:sldMk cId="3884457258" sldId="256"/>
        </pc:sldMkLst>
        <pc:spChg chg="mod">
          <ac:chgData name="KACHOUR Maher" userId="09775c39-7739-40bf-ba04-c8ef3ab24a94" providerId="ADAL" clId="{1DA53DD8-B3E4-4039-B56F-E5EF414AC823}" dt="2021-10-15T12:57:00.575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1DA53DD8-B3E4-4039-B56F-E5EF414AC823}" dt="2021-10-16T15:45:03.340" v="23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1DA53DD8-B3E4-4039-B56F-E5EF414AC823}" dt="2021-10-16T15:35:59.577" v="21" actId="20577"/>
        <pc:sldMkLst>
          <pc:docMk/>
          <pc:sldMk cId="0" sldId="257"/>
        </pc:sldMkLst>
        <pc:spChg chg="mod">
          <ac:chgData name="KACHOUR Maher" userId="09775c39-7739-40bf-ba04-c8ef3ab24a94" providerId="ADAL" clId="{1DA53DD8-B3E4-4039-B56F-E5EF414AC823}" dt="2021-10-16T15:35:59.577" v="2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1DA53DD8-B3E4-4039-B56F-E5EF414AC823}" dt="2021-10-15T12:57:36.547" v="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1DA53DD8-B3E4-4039-B56F-E5EF414AC823}" dt="2021-10-15T12:57:36.547" v="3" actId="20577"/>
          <ac:spMkLst>
            <pc:docMk/>
            <pc:sldMk cId="1632906986" sldId="258"/>
            <ac:spMk id="2" creationId="{A4AEDEBA-6FE9-4F23-B02B-9FB71BC17484}"/>
          </ac:spMkLst>
        </pc:spChg>
      </pc:sldChg>
      <pc:sldChg chg="modSp mod">
        <pc:chgData name="KACHOUR Maher" userId="09775c39-7739-40bf-ba04-c8ef3ab24a94" providerId="ADAL" clId="{1DA53DD8-B3E4-4039-B56F-E5EF414AC823}" dt="2021-10-16T15:45:16.360" v="26" actId="255"/>
        <pc:sldMkLst>
          <pc:docMk/>
          <pc:sldMk cId="3342625250" sldId="259"/>
        </pc:sldMkLst>
        <pc:spChg chg="mod">
          <ac:chgData name="KACHOUR Maher" userId="09775c39-7739-40bf-ba04-c8ef3ab24a94" providerId="ADAL" clId="{1DA53DD8-B3E4-4039-B56F-E5EF414AC823}" dt="2021-10-16T15:45:16.360" v="26" actId="255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1DA53DD8-B3E4-4039-B56F-E5EF414AC823}" dt="2021-10-15T12:58:26.227" v="10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1DA53DD8-B3E4-4039-B56F-E5EF414AC823}" dt="2021-10-15T12:57:53.724" v="5" actId="20577"/>
        <pc:sldMkLst>
          <pc:docMk/>
          <pc:sldMk cId="290671189" sldId="263"/>
        </pc:sldMkLst>
        <pc:spChg chg="mod">
          <ac:chgData name="KACHOUR Maher" userId="09775c39-7739-40bf-ba04-c8ef3ab24a94" providerId="ADAL" clId="{1DA53DD8-B3E4-4039-B56F-E5EF414AC823}" dt="2021-10-15T12:57:53.724" v="5" actId="20577"/>
          <ac:spMkLst>
            <pc:docMk/>
            <pc:sldMk cId="290671189" sldId="263"/>
            <ac:spMk id="2" creationId="{A4AEDEBA-6FE9-4F23-B02B-9FB71BC17484}"/>
          </ac:spMkLst>
        </pc:spChg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</a:t>
            </a:r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temperature (i.e. measured between 7am and 7.30am) over 200 days chosen </a:t>
            </a:r>
            <a:r>
              <a:rPr lang="en-US" sz="2000" dirty="0"/>
              <a:t>randomly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Calculate the coefficient of variation 
Calculate the relative interquartile coefficient 
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Frequency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2199" t="-8333" r="-2837" b="-6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4590182" y="1683109"/>
                <a:ext cx="8116167" cy="3936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×40+0×34+2 ×86+3 ×20+7×20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fr-FR" dirty="0"/>
              </a:p>
              <a:p>
                <a:r>
                  <a:rPr lang="fr-FR" dirty="0"/>
                  <a:t>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=−1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×0.2+0×0.17+2×0.43+3×0.1+7×0.1</m:t>
                    </m:r>
                  </m:oMath>
                </a14:m>
                <a:endParaRPr lang="fr-FR" dirty="0"/>
              </a:p>
              <a:p>
                <a:r>
                  <a:rPr lang="fr-FR" dirty="0"/>
                  <a:t> 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=1.66</m:t>
                    </m:r>
                  </m:oMath>
                </a14:m>
                <a:endParaRPr lang="fr-FR" dirty="0"/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(−1)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×40+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×34+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×86+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×20</m:t>
                              </m:r>
                              <m:r>
                                <a:rPr lang="fr-FR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×20</m:t>
                              </m:r>
                            </m:num>
                            <m:den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200</m:t>
                              </m:r>
                            </m:den>
                          </m:f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sSup>
                            <m:s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1.66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600" dirty="0"/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0.17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0.43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0.1) −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1.66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600" dirty="0"/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i="1">
                          <a:latin typeface="Cambria Math" panose="02040503050406030204" pitchFamily="18" charset="0"/>
                        </a:rPr>
                        <m:t>=2.228093</m:t>
                      </m:r>
                    </m:oMath>
                  </m:oMathPara>
                </a14:m>
                <a:endParaRPr lang="fr-FR" sz="1600" dirty="0"/>
              </a:p>
              <a:p>
                <a:pPr lvl="1"/>
                <a:endParaRPr lang="fr-FR" sz="16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×100=134.2225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%&gt;15%</m:t>
                      </m:r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182" y="1683109"/>
                <a:ext cx="8116167" cy="39365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5533158" y="2060554"/>
                <a:ext cx="6096868" cy="2157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𝑑𝑖𝑎𝑛𝑒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endParaRPr lang="fr-F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=100%&gt;15%</m:t>
                    </m:r>
                  </m:oMath>
                </a14:m>
                <a:r>
                  <a:rPr lang="fr-FR" i="1" dirty="0">
                    <a:latin typeface="Cambria Math" panose="02040503050406030204" pitchFamily="18" charset="0"/>
                  </a:rPr>
                  <a:t> </a:t>
                </a:r>
              </a:p>
              <a:p>
                <a:endParaRPr lang="fr-FR" i="1" dirty="0">
                  <a:latin typeface="Cambria Math" panose="02040503050406030204" pitchFamily="18" charset="0"/>
                </a:endParaRPr>
              </a:p>
              <a:p>
                <a:endParaRPr lang="fr-FR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158" y="2060554"/>
                <a:ext cx="6096868" cy="21577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C960491C-B5FD-4D83-9566-AD3C9234B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262639"/>
                  </p:ext>
                </p:extLst>
              </p:nvPr>
            </p:nvGraphicFramePr>
            <p:xfrm>
              <a:off x="152400" y="1840229"/>
              <a:ext cx="4610100" cy="310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63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73822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98099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747545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23304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C960491C-B5FD-4D83-9566-AD3C9234B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262639"/>
                  </p:ext>
                </p:extLst>
              </p:nvPr>
            </p:nvGraphicFramePr>
            <p:xfrm>
              <a:off x="152400" y="1840229"/>
              <a:ext cx="4610100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63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73822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98099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747545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385496" t="-4762" r="-96947" b="-35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517073" t="-4762" r="-3252" b="-35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67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speed (i.e. measured (in Km/h) between 7am and 7.30am) of the wind over 240 days chosen </a:t>
            </a:r>
            <a:r>
              <a:rPr lang="en-US" sz="2400" dirty="0"/>
              <a:t>randomly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Calculate the coefficient of variation 
Calculate the relative interquartile coefficient </a:t>
            </a: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244432"/>
              </p:ext>
            </p:extLst>
          </p:nvPr>
        </p:nvGraphicFramePr>
        <p:xfrm>
          <a:off x="5146826" y="2850753"/>
          <a:ext cx="361209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263684">
                <a:tc>
                  <a:txBody>
                    <a:bodyPr/>
                    <a:lstStyle/>
                    <a:p>
                      <a:r>
                        <a:rPr lang="fr-FR" dirty="0"/>
                        <a:t>Speed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/>
              <a:t>Exercice 2 - 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3946117"/>
                  </p:ext>
                </p:extLst>
              </p:nvPr>
            </p:nvGraphicFramePr>
            <p:xfrm>
              <a:off x="236131" y="2776766"/>
              <a:ext cx="3230969" cy="3731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Speed
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3946117"/>
                  </p:ext>
                </p:extLst>
              </p:nvPr>
            </p:nvGraphicFramePr>
            <p:xfrm>
              <a:off x="236131" y="2776766"/>
              <a:ext cx="32309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05645" t="-6098" r="-126613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47712" t="-6098" r="-2614" b="-5939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/>
              <p:nvPr/>
            </p:nvSpPr>
            <p:spPr>
              <a:xfrm>
                <a:off x="4150906" y="2676139"/>
                <a:ext cx="6881038" cy="3845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×42+20×48+50×90+85×24+125×36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240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=50.875</m:t>
                      </m:r>
                    </m:oMath>
                  </m:oMathPara>
                </a14:m>
                <a:endParaRPr lang="fr-FR" dirty="0"/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×4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20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×4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50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90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85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×2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fr-FR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125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36</m:t>
                              </m:r>
                            </m:num>
                            <m:den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240</m:t>
                              </m:r>
                            </m:den>
                          </m:f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sSup>
                            <m:s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50.875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600" dirty="0"/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(5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0.175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50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0.375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85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125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0.15) −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50.875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 lvl="1"/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=38.72802</m:t>
                    </m:r>
                  </m:oMath>
                </a14:m>
                <a:r>
                  <a:rPr lang="fr-FR" sz="1600" dirty="0"/>
                  <a:t> </a:t>
                </a:r>
              </a:p>
              <a:p>
                <a:pPr lvl="1"/>
                <a:endParaRPr lang="fr-FR" sz="16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×100=76.12387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%&gt;15%</m:t>
                      </m:r>
                    </m:oMath>
                  </m:oMathPara>
                </a14:m>
                <a:endParaRPr lang="fr-FR" sz="1600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906" y="2676139"/>
                <a:ext cx="6881038" cy="3845092"/>
              </a:xfrm>
              <a:prstGeom prst="rect">
                <a:avLst/>
              </a:prstGeom>
              <a:blipFill>
                <a:blip r:embed="rId3"/>
                <a:stretch>
                  <a:fillRect r="-90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/>
              <a:t>Exercice 2 - Solution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4416" y="2716244"/>
              <a:ext cx="3908460" cy="36684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Speed
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7892771"/>
                  </p:ext>
                </p:extLst>
              </p:nvPr>
            </p:nvGraphicFramePr>
            <p:xfrm>
              <a:off x="554416" y="2716244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134197" t="-6250" r="-101554" b="-60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235417" t="-6250" r="-2083" b="-60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/>
              <p:nvPr/>
            </p:nvSpPr>
            <p:spPr>
              <a:xfrm>
                <a:off x="5638800" y="2971800"/>
                <a:ext cx="4960332" cy="1788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17.5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43.33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fr-FR" dirty="0"/>
              </a:p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121.1632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%&gt;15%</m:t>
                    </m:r>
                  </m:oMath>
                </a14:m>
                <a:r>
                  <a:rPr lang="fr-FR" i="1" dirty="0">
                    <a:latin typeface="Cambria Math" panose="02040503050406030204" pitchFamily="18" charset="0"/>
                  </a:rPr>
                  <a:t> </a:t>
                </a:r>
              </a:p>
              <a:p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971800"/>
                <a:ext cx="4960332" cy="1788438"/>
              </a:xfrm>
              <a:prstGeom prst="rect">
                <a:avLst/>
              </a:prstGeom>
              <a:blipFill>
                <a:blip r:embed="rId3"/>
                <a:stretch>
                  <a:fillRect l="-15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7615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468</Words>
  <Application>Microsoft Office PowerPoint</Application>
  <PresentationFormat>Grand écran</PresentationFormat>
  <Paragraphs>174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Exercise 1</vt:lpstr>
      <vt:lpstr>Exercise 1 - Solution</vt:lpstr>
      <vt:lpstr>Exercise 1 - Solution</vt:lpstr>
      <vt:lpstr>Exercice 2</vt:lpstr>
      <vt:lpstr>Exercice 2 - Solution</vt:lpstr>
      <vt:lpstr>Exercice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2021-10-16T15:45:20Z</dcterms:modified>
</cp:coreProperties>
</file>