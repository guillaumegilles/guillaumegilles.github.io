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3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30FBB-2E40-4ECD-9A6F-A1042FA7C207}" v="41" dt="2021-10-15T13:51:48.4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6:04.484" v="332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31630FBB-2E40-4ECD-9A6F-A1042FA7C207}"/>
    <pc:docChg chg="custSel modSld">
      <pc:chgData name="KACHOUR Maher" userId="09775c39-7739-40bf-ba04-c8ef3ab24a94" providerId="ADAL" clId="{31630FBB-2E40-4ECD-9A6F-A1042FA7C207}" dt="2021-10-16T15:46:25.036" v="71" actId="255"/>
      <pc:docMkLst>
        <pc:docMk/>
      </pc:docMkLst>
      <pc:sldChg chg="modSp mod">
        <pc:chgData name="KACHOUR Maher" userId="09775c39-7739-40bf-ba04-c8ef3ab24a94" providerId="ADAL" clId="{31630FBB-2E40-4ECD-9A6F-A1042FA7C207}" dt="2021-10-16T15:46:12.930" v="6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31630FBB-2E40-4ECD-9A6F-A1042FA7C207}" dt="2021-10-15T13:50:26.215" v="28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31630FBB-2E40-4ECD-9A6F-A1042FA7C207}" dt="2021-10-16T15:46:12.930" v="68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31630FBB-2E40-4ECD-9A6F-A1042FA7C207}" dt="2021-10-16T15:36:52.837" v="66" actId="20577"/>
        <pc:sldMkLst>
          <pc:docMk/>
          <pc:sldMk cId="0" sldId="257"/>
        </pc:sldMkLst>
        <pc:spChg chg="mod">
          <ac:chgData name="KACHOUR Maher" userId="09775c39-7739-40bf-ba04-c8ef3ab24a94" providerId="ADAL" clId="{31630FBB-2E40-4ECD-9A6F-A1042FA7C207}" dt="2021-10-16T15:36:52.837" v="66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31630FBB-2E40-4ECD-9A6F-A1042FA7C207}" dt="2021-10-15T13:49:38.607" v="8" actId="20577"/>
        <pc:sldMkLst>
          <pc:docMk/>
          <pc:sldMk cId="1632906986" sldId="258"/>
        </pc:sldMkLst>
        <pc:spChg chg="mod">
          <ac:chgData name="KACHOUR Maher" userId="09775c39-7739-40bf-ba04-c8ef3ab24a94" providerId="ADAL" clId="{31630FBB-2E40-4ECD-9A6F-A1042FA7C207}" dt="2021-10-15T13:49:38.607" v="8" actId="20577"/>
          <ac:spMkLst>
            <pc:docMk/>
            <pc:sldMk cId="1632906986" sldId="258"/>
            <ac:spMk id="2" creationId="{A4AEDEBA-6FE9-4F23-B02B-9FB71BC17484}"/>
          </ac:spMkLst>
        </pc:spChg>
        <pc:spChg chg="mod">
          <ac:chgData name="KACHOUR Maher" userId="09775c39-7739-40bf-ba04-c8ef3ab24a94" providerId="ADAL" clId="{31630FBB-2E40-4ECD-9A6F-A1042FA7C207}" dt="2021-10-15T13:49:17.127" v="5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31630FBB-2E40-4ECD-9A6F-A1042FA7C207}" dt="2021-10-15T13:49:28.561" v="6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6T15:46:25.036" v="71" actId="255"/>
        <pc:sldMkLst>
          <pc:docMk/>
          <pc:sldMk cId="3342625250" sldId="259"/>
        </pc:sldMkLst>
        <pc:spChg chg="mod">
          <ac:chgData name="KACHOUR Maher" userId="09775c39-7739-40bf-ba04-c8ef3ab24a94" providerId="ADAL" clId="{31630FBB-2E40-4ECD-9A6F-A1042FA7C207}" dt="2021-10-15T13:50:20.073" v="26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6T15:46:25.036" v="71" actId="255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31630FBB-2E40-4ECD-9A6F-A1042FA7C207}" dt="2021-10-15T13:51:10.194" v="30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5T13:51:33.812" v="41" actId="20577"/>
        <pc:sldMkLst>
          <pc:docMk/>
          <pc:sldMk cId="4200507792" sldId="262"/>
        </pc:sldMkLst>
        <pc:spChg chg="mod">
          <ac:chgData name="KACHOUR Maher" userId="09775c39-7739-40bf-ba04-c8ef3ab24a94" providerId="ADAL" clId="{31630FBB-2E40-4ECD-9A6F-A1042FA7C207}" dt="2021-10-15T13:51:22.248" v="36" actId="20577"/>
          <ac:spMkLst>
            <pc:docMk/>
            <pc:sldMk cId="4200507792" sldId="262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5T13:51:18.033" v="34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31630FBB-2E40-4ECD-9A6F-A1042FA7C207}" dt="2021-10-15T13:51:33.812" v="41" actId="20577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modSp mod">
        <pc:chgData name="KACHOUR Maher" userId="09775c39-7739-40bf-ba04-c8ef3ab24a94" providerId="ADAL" clId="{31630FBB-2E40-4ECD-9A6F-A1042FA7C207}" dt="2021-10-15T13:50:14.430" v="24" actId="20577"/>
        <pc:sldMkLst>
          <pc:docMk/>
          <pc:sldMk cId="290671189" sldId="263"/>
        </pc:sldMkLst>
        <pc:spChg chg="mod">
          <ac:chgData name="KACHOUR Maher" userId="09775c39-7739-40bf-ba04-c8ef3ab24a94" providerId="ADAL" clId="{31630FBB-2E40-4ECD-9A6F-A1042FA7C207}" dt="2021-10-15T13:49:44.857" v="10" actId="20577"/>
          <ac:spMkLst>
            <pc:docMk/>
            <pc:sldMk cId="290671189" sldId="263"/>
            <ac:spMk id="2" creationId="{A4AEDEBA-6FE9-4F23-B02B-9FB71BC17484}"/>
          </ac:spMkLst>
        </pc:spChg>
        <pc:spChg chg="mod">
          <ac:chgData name="KACHOUR Maher" userId="09775c39-7739-40bf-ba04-c8ef3ab24a94" providerId="ADAL" clId="{31630FBB-2E40-4ECD-9A6F-A1042FA7C207}" dt="2021-10-15T13:50:14.430" v="24" actId="20577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31630FBB-2E40-4ECD-9A6F-A1042FA7C207}" dt="2021-10-15T13:51:53.093" v="55" actId="20577"/>
        <pc:sldMkLst>
          <pc:docMk/>
          <pc:sldMk cId="385761548" sldId="264"/>
        </pc:sldMkLst>
        <pc:spChg chg="mod">
          <ac:chgData name="KACHOUR Maher" userId="09775c39-7739-40bf-ba04-c8ef3ab24a94" providerId="ADAL" clId="{31630FBB-2E40-4ECD-9A6F-A1042FA7C207}" dt="2021-10-15T13:51:53.093" v="55" actId="20577"/>
          <ac:spMkLst>
            <pc:docMk/>
            <pc:sldMk cId="385761548" sldId="264"/>
            <ac:spMk id="2" creationId="{159DF4AF-EB56-497F-9EC4-3792B7715C09}"/>
          </ac:spMkLst>
        </pc:spChg>
        <pc:spChg chg="mod">
          <ac:chgData name="KACHOUR Maher" userId="09775c39-7739-40bf-ba04-c8ef3ab24a94" providerId="ADAL" clId="{31630FBB-2E40-4ECD-9A6F-A1042FA7C207}" dt="2021-10-15T13:51:48.478" v="53" actId="20577"/>
          <ac:spMkLst>
            <pc:docMk/>
            <pc:sldMk cId="385761548" sldId="264"/>
            <ac:spMk id="5" creationId="{D7B24147-55AB-4BC4-B183-ED51FCA4DB97}"/>
          </ac:spMkLst>
        </pc:spChg>
        <pc:graphicFrameChg chg="modGraphic">
          <ac:chgData name="KACHOUR Maher" userId="09775c39-7739-40bf-ba04-c8ef3ab24a94" providerId="ADAL" clId="{31630FBB-2E40-4ECD-9A6F-A1042FA7C207}" dt="2021-10-15T13:51:40.156" v="46" actId="20577"/>
          <ac:graphicFrameMkLst>
            <pc:docMk/>
            <pc:sldMk cId="385761548" sldId="264"/>
            <ac:graphicFrameMk id="4" creationId="{D8731FE7-289F-4569-8899-DD98785D8C02}"/>
          </ac:graphicFrameMkLst>
        </pc:graphicFrameChg>
      </pc:sldChg>
    </pc:docChg>
  </pc:docChgLst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Pearson coefficient 
Calculate the Yule and Kendall coefficient
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500263"/>
                  </p:ext>
                </p:extLst>
              </p:nvPr>
            </p:nvGraphicFramePr>
            <p:xfrm>
              <a:off x="180975" y="1849754"/>
              <a:ext cx="4218708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22110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40054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500263"/>
                  </p:ext>
                </p:extLst>
              </p:nvPr>
            </p:nvGraphicFramePr>
            <p:xfrm>
              <a:off x="180975" y="1849754"/>
              <a:ext cx="4218708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22110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40054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2899" t="-4762" r="-2899" b="-35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4590182" y="1683109"/>
                <a:ext cx="8116167" cy="2962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=1.66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=2.228093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sz="2400" b="0" dirty="0"/>
              </a:p>
              <a:p>
                <a:endParaRPr lang="fr-FR" sz="2400" dirty="0"/>
              </a:p>
              <a:p>
                <a:r>
                  <a:rPr lang="fr-FR" sz="2400" dirty="0"/>
                  <a:t>Coefficient of Pearson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1.66 −2</m:t>
                            </m:r>
                          </m:num>
                          <m:den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2.228093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</m:t>
                            </m:r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=−0.1525969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&lt; 0 </m:t>
                        </m:r>
                      </m:e>
                    </m:box>
                  </m:oMath>
                </a14:m>
                <a:endParaRPr lang="fr-FR" sz="2400" dirty="0"/>
              </a:p>
              <a:p>
                <a:pPr lvl="1"/>
                <a:endParaRPr lang="fr-FR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82" y="1683109"/>
                <a:ext cx="8116167" cy="2962286"/>
              </a:xfrm>
              <a:prstGeom prst="rect">
                <a:avLst/>
              </a:prstGeom>
              <a:blipFill>
                <a:blip r:embed="rId3"/>
                <a:stretch>
                  <a:fillRect l="-12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085483" y="2012929"/>
                <a:ext cx="6735042" cy="2315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endParaRPr lang="fr-FR" sz="2400" i="1" dirty="0">
                  <a:latin typeface="Cambria Math" panose="02040503050406030204" pitchFamily="18" charset="0"/>
                </a:endParaRPr>
              </a:p>
              <a:p>
                <a:r>
                  <a:rPr lang="fr-FR" sz="2400" dirty="0"/>
                  <a:t>Coefficient of Yule &amp; Kendall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2 −2</m:t>
                                </m:r>
                              </m:e>
                            </m:d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 −(2 −0)</m:t>
                            </m:r>
                          </m:num>
                          <m:den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(2 −0)</m:t>
                            </m:r>
                          </m:den>
                        </m:f>
                      </m:e>
                    </m:box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=−1&lt;0</m:t>
                    </m:r>
                  </m:oMath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3" y="2012929"/>
                <a:ext cx="6735042" cy="2315186"/>
              </a:xfrm>
              <a:prstGeom prst="rect">
                <a:avLst/>
              </a:prstGeom>
              <a:blipFill>
                <a:blip r:embed="rId2"/>
                <a:stretch>
                  <a:fillRect l="-13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23304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85496" t="-4762" r="-96947" b="-3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517073" t="-4762" r="-3252" b="-35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67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 over 240 days chosen </a:t>
            </a:r>
            <a:r>
              <a:rPr lang="en-US" sz="2600" dirty="0"/>
              <a:t>randomly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Pearson coefficient 
Calculate the Yule and Kendall coefficient
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245763"/>
              </p:ext>
            </p:extLst>
          </p:nvPr>
        </p:nvGraphicFramePr>
        <p:xfrm>
          <a:off x="4809368" y="2472759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 dirty="0" err="1"/>
              <a:t>Exercise</a:t>
            </a:r>
            <a:r>
              <a:rPr lang="fr-FR" sz="3200" dirty="0"/>
              <a:t>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2188042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2188042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5645" t="-6098" r="-126613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7712" t="-6098" r="-261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4150906" y="2676139"/>
                <a:ext cx="6881038" cy="271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=38.72802</m:t>
                    </m:r>
                  </m:oMath>
                </a14:m>
                <a:r>
                  <a:rPr lang="fr-FR" sz="2400" dirty="0"/>
                  <a:t> </a:t>
                </a:r>
              </a:p>
              <a:p>
                <a:pPr lvl="1"/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r>
                  <a:rPr lang="fr-FR" sz="2400" dirty="0"/>
                  <a:t>Coefficient of Pearson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50.875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</m:t>
                            </m:r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−7</m:t>
                            </m:r>
                          </m:num>
                          <m:den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38.72802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 </m:t>
                            </m:r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=1.132901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&gt; 0 </m:t>
                        </m:r>
                      </m:e>
                    </m:box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06" y="2676139"/>
                <a:ext cx="6881038" cy="2716065"/>
              </a:xfrm>
              <a:prstGeom prst="rect">
                <a:avLst/>
              </a:prstGeom>
              <a:blipFill>
                <a:blip r:embed="rId3"/>
                <a:stretch>
                  <a:fillRect l="-1417" b="-29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 dirty="0" err="1"/>
              <a:t>Exercise</a:t>
            </a:r>
            <a:r>
              <a:rPr lang="fr-FR" sz="3200" dirty="0"/>
              <a:t>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835344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835344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4709159" y="2859119"/>
                <a:ext cx="8416291" cy="2175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17.5</m:t>
                      </m:r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fr-FR" sz="2000" dirty="0"/>
              </a:p>
              <a:p>
                <a:endParaRPr lang="fr-FR" sz="2000" dirty="0"/>
              </a:p>
              <a:p>
                <a:r>
                  <a:rPr lang="fr-FR" sz="2000" dirty="0"/>
                  <a:t>Coefficient of Yule &amp; Kendall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43.33</m:t>
                                </m:r>
                              </m:e>
                            </m:d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−(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43.33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17.5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70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17.5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box>
                    <m:r>
                      <a:rPr lang="fr-FR" sz="2000" i="1">
                        <a:latin typeface="Cambria Math" panose="02040503050406030204" pitchFamily="18" charset="0"/>
                      </a:rPr>
                      <m:t>=0.016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FR" sz="2000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159" y="2859119"/>
                <a:ext cx="8416291" cy="2175788"/>
              </a:xfrm>
              <a:prstGeom prst="rect">
                <a:avLst/>
              </a:prstGeom>
              <a:blipFill>
                <a:blip r:embed="rId3"/>
                <a:stretch>
                  <a:fillRect l="-18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615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435</Words>
  <Application>Microsoft Office PowerPoint</Application>
  <PresentationFormat>Grand écran</PresentationFormat>
  <Paragraphs>169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Exercise 1</vt:lpstr>
      <vt:lpstr>Exercise 1 - Solution</vt:lpstr>
      <vt:lpstr>Exercise 1 - Solution</vt:lpstr>
      <vt:lpstr>Exercise 2</vt:lpstr>
      <vt:lpstr>Exercise 2 - Solution</vt:lpstr>
      <vt:lpstr>Exercise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2021-10-16T15:46:29Z</dcterms:modified>
</cp:coreProperties>
</file>