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1" r:id="rId6"/>
    <p:sldId id="277" r:id="rId7"/>
    <p:sldId id="280" r:id="rId8"/>
    <p:sldId id="279" r:id="rId9"/>
    <p:sldId id="262" r:id="rId10"/>
    <p:sldId id="267" r:id="rId11"/>
    <p:sldId id="281" r:id="rId12"/>
    <p:sldId id="264" r:id="rId13"/>
    <p:sldId id="265" r:id="rId14"/>
    <p:sldId id="266" r:id="rId15"/>
    <p:sldId id="282" r:id="rId16"/>
    <p:sldId id="283" r:id="rId17"/>
    <p:sldId id="268" r:id="rId18"/>
    <p:sldId id="269" r:id="rId19"/>
    <p:sldId id="284" r:id="rId20"/>
    <p:sldId id="270" r:id="rId21"/>
    <p:sldId id="271" r:id="rId22"/>
    <p:sldId id="272" r:id="rId23"/>
    <p:sldId id="285" r:id="rId24"/>
    <p:sldId id="273" r:id="rId25"/>
    <p:sldId id="274" r:id="rId26"/>
    <p:sldId id="278" r:id="rId27"/>
    <p:sldId id="275" r:id="rId28"/>
    <p:sldId id="286" r:id="rId29"/>
    <p:sldId id="288" r:id="rId30"/>
    <p:sldId id="287" r:id="rId31"/>
    <p:sldId id="289" r:id="rId32"/>
    <p:sldId id="276" r:id="rId3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26A9E3-DB1D-41F5-A982-00B8D0EC1147}" v="8" dt="2021-10-14T07:47:54.32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6126A9E3-DB1D-41F5-A982-00B8D0EC1147}"/>
    <pc:docChg chg="custSel addSld modSld sldOrd">
      <pc:chgData name="KACHOUR Maher" userId="09775c39-7739-40bf-ba04-c8ef3ab24a94" providerId="ADAL" clId="{6126A9E3-DB1D-41F5-A982-00B8D0EC1147}" dt="2021-10-14T07:48:25.103" v="307" actId="1076"/>
      <pc:docMkLst>
        <pc:docMk/>
      </pc:docMkLst>
      <pc:sldChg chg="modSp mod">
        <pc:chgData name="KACHOUR Maher" userId="09775c39-7739-40bf-ba04-c8ef3ab24a94" providerId="ADAL" clId="{6126A9E3-DB1D-41F5-A982-00B8D0EC1147}" dt="2021-10-13T16:48:08.984" v="14" actId="790"/>
        <pc:sldMkLst>
          <pc:docMk/>
          <pc:sldMk cId="2217304767" sldId="261"/>
        </pc:sldMkLst>
        <pc:spChg chg="mod">
          <ac:chgData name="KACHOUR Maher" userId="09775c39-7739-40bf-ba04-c8ef3ab24a94" providerId="ADAL" clId="{6126A9E3-DB1D-41F5-A982-00B8D0EC1147}" dt="2021-10-13T16:47:56.039" v="13" actId="790"/>
          <ac:spMkLst>
            <pc:docMk/>
            <pc:sldMk cId="2217304767" sldId="261"/>
            <ac:spMk id="2" creationId="{00000000-0000-0000-0000-000000000000}"/>
          </ac:spMkLst>
        </pc:spChg>
        <pc:spChg chg="mod">
          <ac:chgData name="KACHOUR Maher" userId="09775c39-7739-40bf-ba04-c8ef3ab24a94" providerId="ADAL" clId="{6126A9E3-DB1D-41F5-A982-00B8D0EC1147}" dt="2021-10-13T16:48:08.984" v="14" actId="790"/>
          <ac:spMkLst>
            <pc:docMk/>
            <pc:sldMk cId="2217304767" sldId="261"/>
            <ac:spMk id="7" creationId="{00000000-0000-0000-0000-000000000000}"/>
          </ac:spMkLst>
        </pc:spChg>
      </pc:sldChg>
      <pc:sldChg chg="modSp mod">
        <pc:chgData name="KACHOUR Maher" userId="09775c39-7739-40bf-ba04-c8ef3ab24a94" providerId="ADAL" clId="{6126A9E3-DB1D-41F5-A982-00B8D0EC1147}" dt="2021-10-14T07:23:52.559" v="49" actId="207"/>
        <pc:sldMkLst>
          <pc:docMk/>
          <pc:sldMk cId="2131802041" sldId="264"/>
        </pc:sldMkLst>
        <pc:spChg chg="mod">
          <ac:chgData name="KACHOUR Maher" userId="09775c39-7739-40bf-ba04-c8ef3ab24a94" providerId="ADAL" clId="{6126A9E3-DB1D-41F5-A982-00B8D0EC1147}" dt="2021-10-14T07:19:11.365" v="42" actId="790"/>
          <ac:spMkLst>
            <pc:docMk/>
            <pc:sldMk cId="2131802041" sldId="264"/>
            <ac:spMk id="2" creationId="{0DD3DBAA-B753-4584-85E3-3991CCF40AA3}"/>
          </ac:spMkLst>
        </pc:spChg>
        <pc:spChg chg="mod">
          <ac:chgData name="KACHOUR Maher" userId="09775c39-7739-40bf-ba04-c8ef3ab24a94" providerId="ADAL" clId="{6126A9E3-DB1D-41F5-A982-00B8D0EC1147}" dt="2021-10-14T07:23:52.559" v="49" actId="207"/>
          <ac:spMkLst>
            <pc:docMk/>
            <pc:sldMk cId="2131802041" sldId="264"/>
            <ac:spMk id="3" creationId="{22942A69-CA5A-44ED-ABE0-A159469C5274}"/>
          </ac:spMkLst>
        </pc:spChg>
      </pc:sldChg>
      <pc:sldChg chg="modSp mod">
        <pc:chgData name="KACHOUR Maher" userId="09775c39-7739-40bf-ba04-c8ef3ab24a94" providerId="ADAL" clId="{6126A9E3-DB1D-41F5-A982-00B8D0EC1147}" dt="2021-10-14T07:29:21.024" v="110" actId="20577"/>
        <pc:sldMkLst>
          <pc:docMk/>
          <pc:sldMk cId="2470683761" sldId="265"/>
        </pc:sldMkLst>
        <pc:spChg chg="mod">
          <ac:chgData name="KACHOUR Maher" userId="09775c39-7739-40bf-ba04-c8ef3ab24a94" providerId="ADAL" clId="{6126A9E3-DB1D-41F5-A982-00B8D0EC1147}" dt="2021-10-14T07:22:04.767" v="48" actId="14100"/>
          <ac:spMkLst>
            <pc:docMk/>
            <pc:sldMk cId="2470683761" sldId="265"/>
            <ac:spMk id="5" creationId="{0EE741EE-5EF6-4D30-834A-ACB6DF131A1E}"/>
          </ac:spMkLst>
        </pc:spChg>
        <pc:graphicFrameChg chg="mod modGraphic">
          <ac:chgData name="KACHOUR Maher" userId="09775c39-7739-40bf-ba04-c8ef3ab24a94" providerId="ADAL" clId="{6126A9E3-DB1D-41F5-A982-00B8D0EC1147}" dt="2021-10-14T07:29:21.024" v="110" actId="20577"/>
          <ac:graphicFrameMkLst>
            <pc:docMk/>
            <pc:sldMk cId="2470683761" sldId="265"/>
            <ac:graphicFrameMk id="7" creationId="{49D4F1EC-90ED-4143-B2CB-3B7C6E8C43CB}"/>
          </ac:graphicFrameMkLst>
        </pc:graphicFrameChg>
      </pc:sldChg>
      <pc:sldChg chg="addSp delSp modSp mod">
        <pc:chgData name="KACHOUR Maher" userId="09775c39-7739-40bf-ba04-c8ef3ab24a94" providerId="ADAL" clId="{6126A9E3-DB1D-41F5-A982-00B8D0EC1147}" dt="2021-10-14T07:28:02.902" v="108" actId="1076"/>
        <pc:sldMkLst>
          <pc:docMk/>
          <pc:sldMk cId="4029125219" sldId="266"/>
        </pc:sldMkLst>
        <pc:spChg chg="del mod">
          <ac:chgData name="KACHOUR Maher" userId="09775c39-7739-40bf-ba04-c8ef3ab24a94" providerId="ADAL" clId="{6126A9E3-DB1D-41F5-A982-00B8D0EC1147}" dt="2021-10-14T07:27:50.872" v="105" actId="478"/>
          <ac:spMkLst>
            <pc:docMk/>
            <pc:sldMk cId="4029125219" sldId="266"/>
            <ac:spMk id="12" creationId="{FD04F170-1415-4063-8204-0B7DA7A0B4C4}"/>
          </ac:spMkLst>
        </pc:spChg>
        <pc:spChg chg="del mod">
          <ac:chgData name="KACHOUR Maher" userId="09775c39-7739-40bf-ba04-c8ef3ab24a94" providerId="ADAL" clId="{6126A9E3-DB1D-41F5-A982-00B8D0EC1147}" dt="2021-10-14T07:27:53.740" v="106" actId="478"/>
          <ac:spMkLst>
            <pc:docMk/>
            <pc:sldMk cId="4029125219" sldId="266"/>
            <ac:spMk id="13" creationId="{D228E0C4-2755-454A-9040-5B005A2F4BF6}"/>
          </ac:spMkLst>
        </pc:spChg>
        <pc:graphicFrameChg chg="add mod modGraphic">
          <ac:chgData name="KACHOUR Maher" userId="09775c39-7739-40bf-ba04-c8ef3ab24a94" providerId="ADAL" clId="{6126A9E3-DB1D-41F5-A982-00B8D0EC1147}" dt="2021-10-14T07:28:02.902" v="108" actId="1076"/>
          <ac:graphicFrameMkLst>
            <pc:docMk/>
            <pc:sldMk cId="4029125219" sldId="266"/>
            <ac:graphicFrameMk id="4" creationId="{0D62A07F-C272-419C-BE1A-33DCD4601154}"/>
          </ac:graphicFrameMkLst>
        </pc:graphicFrameChg>
        <pc:picChg chg="del mod">
          <ac:chgData name="KACHOUR Maher" userId="09775c39-7739-40bf-ba04-c8ef3ab24a94" providerId="ADAL" clId="{6126A9E3-DB1D-41F5-A982-00B8D0EC1147}" dt="2021-10-14T07:27:56.001" v="107" actId="478"/>
          <ac:picMkLst>
            <pc:docMk/>
            <pc:sldMk cId="4029125219" sldId="266"/>
            <ac:picMk id="8" creationId="{D313FDA7-D433-41D7-AA6D-40787F594C4E}"/>
          </ac:picMkLst>
        </pc:picChg>
      </pc:sldChg>
      <pc:sldChg chg="modSp mod">
        <pc:chgData name="KACHOUR Maher" userId="09775c39-7739-40bf-ba04-c8ef3ab24a94" providerId="ADAL" clId="{6126A9E3-DB1D-41F5-A982-00B8D0EC1147}" dt="2021-10-14T07:17:21.671" v="33" actId="20577"/>
        <pc:sldMkLst>
          <pc:docMk/>
          <pc:sldMk cId="727762592" sldId="267"/>
        </pc:sldMkLst>
        <pc:spChg chg="mod">
          <ac:chgData name="KACHOUR Maher" userId="09775c39-7739-40bf-ba04-c8ef3ab24a94" providerId="ADAL" clId="{6126A9E3-DB1D-41F5-A982-00B8D0EC1147}" dt="2021-10-14T07:17:21.671" v="33" actId="20577"/>
          <ac:spMkLst>
            <pc:docMk/>
            <pc:sldMk cId="727762592" sldId="267"/>
            <ac:spMk id="3" creationId="{922DB5E6-6035-4539-A1C7-11FB05D53725}"/>
          </ac:spMkLst>
        </pc:spChg>
      </pc:sldChg>
      <pc:sldChg chg="addSp delSp modSp mod">
        <pc:chgData name="KACHOUR Maher" userId="09775c39-7739-40bf-ba04-c8ef3ab24a94" providerId="ADAL" clId="{6126A9E3-DB1D-41F5-A982-00B8D0EC1147}" dt="2021-10-14T07:39:56.003" v="223" actId="113"/>
        <pc:sldMkLst>
          <pc:docMk/>
          <pc:sldMk cId="870743358" sldId="269"/>
        </pc:sldMkLst>
        <pc:spChg chg="del topLvl">
          <ac:chgData name="KACHOUR Maher" userId="09775c39-7739-40bf-ba04-c8ef3ab24a94" providerId="ADAL" clId="{6126A9E3-DB1D-41F5-A982-00B8D0EC1147}" dt="2021-10-14T07:39:12.611" v="179" actId="478"/>
          <ac:spMkLst>
            <pc:docMk/>
            <pc:sldMk cId="870743358" sldId="269"/>
            <ac:spMk id="7" creationId="{360401C9-621A-457D-8C3C-DDB97A9EC064}"/>
          </ac:spMkLst>
        </pc:spChg>
        <pc:spChg chg="del topLvl">
          <ac:chgData name="KACHOUR Maher" userId="09775c39-7739-40bf-ba04-c8ef3ab24a94" providerId="ADAL" clId="{6126A9E3-DB1D-41F5-A982-00B8D0EC1147}" dt="2021-10-14T07:39:08.117" v="178" actId="478"/>
          <ac:spMkLst>
            <pc:docMk/>
            <pc:sldMk cId="870743358" sldId="269"/>
            <ac:spMk id="9" creationId="{E2F38BAE-5EEA-42DA-BF98-A9A264605FE5}"/>
          </ac:spMkLst>
        </pc:spChg>
        <pc:grpChg chg="del">
          <ac:chgData name="KACHOUR Maher" userId="09775c39-7739-40bf-ba04-c8ef3ab24a94" providerId="ADAL" clId="{6126A9E3-DB1D-41F5-A982-00B8D0EC1147}" dt="2021-10-14T07:39:08.117" v="178" actId="478"/>
          <ac:grpSpMkLst>
            <pc:docMk/>
            <pc:sldMk cId="870743358" sldId="269"/>
            <ac:grpSpMk id="11" creationId="{39300D0B-A8B7-467B-94DB-ACA366BBDB2B}"/>
          </ac:grpSpMkLst>
        </pc:grpChg>
        <pc:graphicFrameChg chg="add mod modGraphic">
          <ac:chgData name="KACHOUR Maher" userId="09775c39-7739-40bf-ba04-c8ef3ab24a94" providerId="ADAL" clId="{6126A9E3-DB1D-41F5-A982-00B8D0EC1147}" dt="2021-10-14T07:39:56.003" v="223" actId="113"/>
          <ac:graphicFrameMkLst>
            <pc:docMk/>
            <pc:sldMk cId="870743358" sldId="269"/>
            <ac:graphicFrameMk id="3" creationId="{228BA124-D48D-493A-9CF4-DAD94ED15AD0}"/>
          </ac:graphicFrameMkLst>
        </pc:graphicFrameChg>
        <pc:picChg chg="del">
          <ac:chgData name="KACHOUR Maher" userId="09775c39-7739-40bf-ba04-c8ef3ab24a94" providerId="ADAL" clId="{6126A9E3-DB1D-41F5-A982-00B8D0EC1147}" dt="2021-10-14T07:39:03.235" v="177" actId="478"/>
          <ac:picMkLst>
            <pc:docMk/>
            <pc:sldMk cId="870743358" sldId="269"/>
            <ac:picMk id="8" creationId="{4548506E-2746-4256-9376-A72BA0077370}"/>
          </ac:picMkLst>
        </pc:picChg>
      </pc:sldChg>
      <pc:sldChg chg="addSp delSp modSp mod">
        <pc:chgData name="KACHOUR Maher" userId="09775c39-7739-40bf-ba04-c8ef3ab24a94" providerId="ADAL" clId="{6126A9E3-DB1D-41F5-A982-00B8D0EC1147}" dt="2021-10-14T07:41:26.355" v="271" actId="1076"/>
        <pc:sldMkLst>
          <pc:docMk/>
          <pc:sldMk cId="526900021" sldId="272"/>
        </pc:sldMkLst>
        <pc:spChg chg="mod">
          <ac:chgData name="KACHOUR Maher" userId="09775c39-7739-40bf-ba04-c8ef3ab24a94" providerId="ADAL" clId="{6126A9E3-DB1D-41F5-A982-00B8D0EC1147}" dt="2021-10-14T07:41:15.929" v="270" actId="1076"/>
          <ac:spMkLst>
            <pc:docMk/>
            <pc:sldMk cId="526900021" sldId="272"/>
            <ac:spMk id="10" creationId="{D00598FB-A56E-4973-8723-4EF8ECE9C57F}"/>
          </ac:spMkLst>
        </pc:spChg>
        <pc:spChg chg="mod">
          <ac:chgData name="KACHOUR Maher" userId="09775c39-7739-40bf-ba04-c8ef3ab24a94" providerId="ADAL" clId="{6126A9E3-DB1D-41F5-A982-00B8D0EC1147}" dt="2021-10-14T07:19:57.978" v="43" actId="790"/>
          <ac:spMkLst>
            <pc:docMk/>
            <pc:sldMk cId="526900021" sldId="272"/>
            <ac:spMk id="11" creationId="{38CED182-D357-4973-815C-FCCED4A61898}"/>
          </ac:spMkLst>
        </pc:spChg>
        <pc:graphicFrameChg chg="add mod modGraphic">
          <ac:chgData name="KACHOUR Maher" userId="09775c39-7739-40bf-ba04-c8ef3ab24a94" providerId="ADAL" clId="{6126A9E3-DB1D-41F5-A982-00B8D0EC1147}" dt="2021-10-14T07:41:26.355" v="271" actId="1076"/>
          <ac:graphicFrameMkLst>
            <pc:docMk/>
            <pc:sldMk cId="526900021" sldId="272"/>
            <ac:graphicFrameMk id="3" creationId="{CC04CAD9-D5F7-4932-9D7A-0805E4AB1817}"/>
          </ac:graphicFrameMkLst>
        </pc:graphicFrameChg>
        <pc:picChg chg="del">
          <ac:chgData name="KACHOUR Maher" userId="09775c39-7739-40bf-ba04-c8ef3ab24a94" providerId="ADAL" clId="{6126A9E3-DB1D-41F5-A982-00B8D0EC1147}" dt="2021-10-14T07:40:25.581" v="225" actId="478"/>
          <ac:picMkLst>
            <pc:docMk/>
            <pc:sldMk cId="526900021" sldId="272"/>
            <ac:picMk id="4" creationId="{904F2B5F-1B8F-4AFF-BA59-64BC51651D2D}"/>
          </ac:picMkLst>
        </pc:picChg>
      </pc:sldChg>
      <pc:sldChg chg="modSp mod">
        <pc:chgData name="KACHOUR Maher" userId="09775c39-7739-40bf-ba04-c8ef3ab24a94" providerId="ADAL" clId="{6126A9E3-DB1D-41F5-A982-00B8D0EC1147}" dt="2021-10-14T07:20:39.309" v="46" actId="2711"/>
        <pc:sldMkLst>
          <pc:docMk/>
          <pc:sldMk cId="4072213904" sldId="273"/>
        </pc:sldMkLst>
        <pc:spChg chg="mod">
          <ac:chgData name="KACHOUR Maher" userId="09775c39-7739-40bf-ba04-c8ef3ab24a94" providerId="ADAL" clId="{6126A9E3-DB1D-41F5-A982-00B8D0EC1147}" dt="2021-10-14T07:20:39.309" v="46" actId="2711"/>
          <ac:spMkLst>
            <pc:docMk/>
            <pc:sldMk cId="4072213904" sldId="273"/>
            <ac:spMk id="4" creationId="{9C8C3E54-7FE3-4F1A-AEBE-8BDF3C6B745B}"/>
          </ac:spMkLst>
        </pc:spChg>
      </pc:sldChg>
      <pc:sldChg chg="delSp modSp mod ord">
        <pc:chgData name="KACHOUR Maher" userId="09775c39-7739-40bf-ba04-c8ef3ab24a94" providerId="ADAL" clId="{6126A9E3-DB1D-41F5-A982-00B8D0EC1147}" dt="2021-10-14T07:47:11.857" v="288" actId="1076"/>
        <pc:sldMkLst>
          <pc:docMk/>
          <pc:sldMk cId="3981332052" sldId="275"/>
        </pc:sldMkLst>
        <pc:picChg chg="del">
          <ac:chgData name="KACHOUR Maher" userId="09775c39-7739-40bf-ba04-c8ef3ab24a94" providerId="ADAL" clId="{6126A9E3-DB1D-41F5-A982-00B8D0EC1147}" dt="2021-10-14T07:46:59.308" v="286" actId="478"/>
          <ac:picMkLst>
            <pc:docMk/>
            <pc:sldMk cId="3981332052" sldId="275"/>
            <ac:picMk id="4" creationId="{1E5ED45B-D319-4601-A37F-7589AE98F831}"/>
          </ac:picMkLst>
        </pc:picChg>
        <pc:picChg chg="mod">
          <ac:chgData name="KACHOUR Maher" userId="09775c39-7739-40bf-ba04-c8ef3ab24a94" providerId="ADAL" clId="{6126A9E3-DB1D-41F5-A982-00B8D0EC1147}" dt="2021-10-14T07:47:11.857" v="288" actId="1076"/>
          <ac:picMkLst>
            <pc:docMk/>
            <pc:sldMk cId="3981332052" sldId="275"/>
            <ac:picMk id="5" creationId="{205271FE-4FEC-4A7A-B0B5-4D0E2D0858A6}"/>
          </ac:picMkLst>
        </pc:picChg>
        <pc:picChg chg="del">
          <ac:chgData name="KACHOUR Maher" userId="09775c39-7739-40bf-ba04-c8ef3ab24a94" providerId="ADAL" clId="{6126A9E3-DB1D-41F5-A982-00B8D0EC1147}" dt="2021-10-14T07:47:01.344" v="287" actId="478"/>
          <ac:picMkLst>
            <pc:docMk/>
            <pc:sldMk cId="3981332052" sldId="275"/>
            <ac:picMk id="8" creationId="{2B953362-25F7-47D5-9758-6DE15CD96776}"/>
          </ac:picMkLst>
        </pc:picChg>
      </pc:sldChg>
      <pc:sldChg chg="addSp delSp modSp mod">
        <pc:chgData name="KACHOUR Maher" userId="09775c39-7739-40bf-ba04-c8ef3ab24a94" providerId="ADAL" clId="{6126A9E3-DB1D-41F5-A982-00B8D0EC1147}" dt="2021-10-13T16:47:43.071" v="12" actId="790"/>
        <pc:sldMkLst>
          <pc:docMk/>
          <pc:sldMk cId="4231536356" sldId="277"/>
        </pc:sldMkLst>
        <pc:spChg chg="mod">
          <ac:chgData name="KACHOUR Maher" userId="09775c39-7739-40bf-ba04-c8ef3ab24a94" providerId="ADAL" clId="{6126A9E3-DB1D-41F5-A982-00B8D0EC1147}" dt="2021-10-13T16:47:43.071" v="12" actId="790"/>
          <ac:spMkLst>
            <pc:docMk/>
            <pc:sldMk cId="4231536356" sldId="277"/>
            <ac:spMk id="2" creationId="{2C5B5ECA-7C18-49ED-B766-9DBA250DD5E1}"/>
          </ac:spMkLst>
        </pc:spChg>
        <pc:spChg chg="add mod">
          <ac:chgData name="KACHOUR Maher" userId="09775c39-7739-40bf-ba04-c8ef3ab24a94" providerId="ADAL" clId="{6126A9E3-DB1D-41F5-A982-00B8D0EC1147}" dt="2021-10-13T16:47:32.027" v="11" actId="2711"/>
          <ac:spMkLst>
            <pc:docMk/>
            <pc:sldMk cId="4231536356" sldId="277"/>
            <ac:spMk id="5" creationId="{892CDD47-C631-4981-AA67-4A280133F62C}"/>
          </ac:spMkLst>
        </pc:spChg>
        <pc:graphicFrameChg chg="del modGraphic">
          <ac:chgData name="KACHOUR Maher" userId="09775c39-7739-40bf-ba04-c8ef3ab24a94" providerId="ADAL" clId="{6126A9E3-DB1D-41F5-A982-00B8D0EC1147}" dt="2021-10-13T16:45:35.751" v="5" actId="478"/>
          <ac:graphicFrameMkLst>
            <pc:docMk/>
            <pc:sldMk cId="4231536356" sldId="277"/>
            <ac:graphicFrameMk id="4" creationId="{FF693F28-5001-45E2-A32B-66BDFA440517}"/>
          </ac:graphicFrameMkLst>
        </pc:graphicFrameChg>
      </pc:sldChg>
      <pc:sldChg chg="delSp modSp mod">
        <pc:chgData name="KACHOUR Maher" userId="09775c39-7739-40bf-ba04-c8ef3ab24a94" providerId="ADAL" clId="{6126A9E3-DB1D-41F5-A982-00B8D0EC1147}" dt="2021-10-14T07:46:56.427" v="285" actId="1076"/>
        <pc:sldMkLst>
          <pc:docMk/>
          <pc:sldMk cId="1979777204" sldId="278"/>
        </pc:sldMkLst>
        <pc:spChg chg="mod">
          <ac:chgData name="KACHOUR Maher" userId="09775c39-7739-40bf-ba04-c8ef3ab24a94" providerId="ADAL" clId="{6126A9E3-DB1D-41F5-A982-00B8D0EC1147}" dt="2021-10-14T07:46:48.001" v="282" actId="20577"/>
          <ac:spMkLst>
            <pc:docMk/>
            <pc:sldMk cId="1979777204" sldId="278"/>
            <ac:spMk id="3" creationId="{BCB1E9CE-2092-4731-8569-2AD3949CF473}"/>
          </ac:spMkLst>
        </pc:spChg>
        <pc:grpChg chg="mod">
          <ac:chgData name="KACHOUR Maher" userId="09775c39-7739-40bf-ba04-c8ef3ab24a94" providerId="ADAL" clId="{6126A9E3-DB1D-41F5-A982-00B8D0EC1147}" dt="2021-10-14T07:46:56.427" v="285" actId="1076"/>
          <ac:grpSpMkLst>
            <pc:docMk/>
            <pc:sldMk cId="1979777204" sldId="278"/>
            <ac:grpSpMk id="8" creationId="{EBEC6656-1FB6-4DA2-A09B-E229A94C738A}"/>
          </ac:grpSpMkLst>
        </pc:grpChg>
        <pc:picChg chg="del">
          <ac:chgData name="KACHOUR Maher" userId="09775c39-7739-40bf-ba04-c8ef3ab24a94" providerId="ADAL" clId="{6126A9E3-DB1D-41F5-A982-00B8D0EC1147}" dt="2021-10-14T07:46:51.090" v="283" actId="478"/>
          <ac:picMkLst>
            <pc:docMk/>
            <pc:sldMk cId="1979777204" sldId="278"/>
            <ac:picMk id="13" creationId="{C91156E5-F6DA-4B64-A1C7-73ED3CFE4FB7}"/>
          </ac:picMkLst>
        </pc:picChg>
        <pc:picChg chg="del">
          <ac:chgData name="KACHOUR Maher" userId="09775c39-7739-40bf-ba04-c8ef3ab24a94" providerId="ADAL" clId="{6126A9E3-DB1D-41F5-A982-00B8D0EC1147}" dt="2021-10-14T07:46:53.050" v="284" actId="478"/>
          <ac:picMkLst>
            <pc:docMk/>
            <pc:sldMk cId="1979777204" sldId="278"/>
            <ac:picMk id="14" creationId="{490E382A-1EDE-40AC-BC31-E99258CD869D}"/>
          </ac:picMkLst>
        </pc:picChg>
      </pc:sldChg>
      <pc:sldChg chg="add">
        <pc:chgData name="KACHOUR Maher" userId="09775c39-7739-40bf-ba04-c8ef3ab24a94" providerId="ADAL" clId="{6126A9E3-DB1D-41F5-A982-00B8D0EC1147}" dt="2021-10-13T16:45:02.112" v="0" actId="2890"/>
        <pc:sldMkLst>
          <pc:docMk/>
          <pc:sldMk cId="1304109704" sldId="279"/>
        </pc:sldMkLst>
      </pc:sldChg>
      <pc:sldChg chg="modSp add mod">
        <pc:chgData name="KACHOUR Maher" userId="09775c39-7739-40bf-ba04-c8ef3ab24a94" providerId="ADAL" clId="{6126A9E3-DB1D-41F5-A982-00B8D0EC1147}" dt="2021-10-13T16:47:15.606" v="10" actId="790"/>
        <pc:sldMkLst>
          <pc:docMk/>
          <pc:sldMk cId="1867429784" sldId="280"/>
        </pc:sldMkLst>
        <pc:spChg chg="mod">
          <ac:chgData name="KACHOUR Maher" userId="09775c39-7739-40bf-ba04-c8ef3ab24a94" providerId="ADAL" clId="{6126A9E3-DB1D-41F5-A982-00B8D0EC1147}" dt="2021-10-13T16:46:56.441" v="8" actId="790"/>
          <ac:spMkLst>
            <pc:docMk/>
            <pc:sldMk cId="1867429784" sldId="280"/>
            <ac:spMk id="2" creationId="{2C5B5ECA-7C18-49ED-B766-9DBA250DD5E1}"/>
          </ac:spMkLst>
        </pc:spChg>
        <pc:graphicFrameChg chg="modGraphic">
          <ac:chgData name="KACHOUR Maher" userId="09775c39-7739-40bf-ba04-c8ef3ab24a94" providerId="ADAL" clId="{6126A9E3-DB1D-41F5-A982-00B8D0EC1147}" dt="2021-10-13T16:47:15.606" v="10" actId="790"/>
          <ac:graphicFrameMkLst>
            <pc:docMk/>
            <pc:sldMk cId="1867429784" sldId="280"/>
            <ac:graphicFrameMk id="4" creationId="{FF693F28-5001-45E2-A32B-66BDFA440517}"/>
          </ac:graphicFrameMkLst>
        </pc:graphicFrameChg>
      </pc:sldChg>
      <pc:sldChg chg="modSp add mod">
        <pc:chgData name="KACHOUR Maher" userId="09775c39-7739-40bf-ba04-c8ef3ab24a94" providerId="ADAL" clId="{6126A9E3-DB1D-41F5-A982-00B8D0EC1147}" dt="2021-10-14T07:18:08.708" v="39" actId="33524"/>
        <pc:sldMkLst>
          <pc:docMk/>
          <pc:sldMk cId="39123846" sldId="281"/>
        </pc:sldMkLst>
        <pc:spChg chg="mod">
          <ac:chgData name="KACHOUR Maher" userId="09775c39-7739-40bf-ba04-c8ef3ab24a94" providerId="ADAL" clId="{6126A9E3-DB1D-41F5-A982-00B8D0EC1147}" dt="2021-10-14T07:18:08.708" v="39" actId="33524"/>
          <ac:spMkLst>
            <pc:docMk/>
            <pc:sldMk cId="39123846" sldId="281"/>
            <ac:spMk id="3" creationId="{922DB5E6-6035-4539-A1C7-11FB05D53725}"/>
          </ac:spMkLst>
        </pc:spChg>
      </pc:sldChg>
      <pc:sldChg chg="add">
        <pc:chgData name="KACHOUR Maher" userId="09775c39-7739-40bf-ba04-c8ef3ab24a94" providerId="ADAL" clId="{6126A9E3-DB1D-41F5-A982-00B8D0EC1147}" dt="2021-10-14T07:26:28.313" v="50" actId="2890"/>
        <pc:sldMkLst>
          <pc:docMk/>
          <pc:sldMk cId="368661801" sldId="282"/>
        </pc:sldMkLst>
      </pc:sldChg>
      <pc:sldChg chg="addSp delSp modSp add mod ord">
        <pc:chgData name="KACHOUR Maher" userId="09775c39-7739-40bf-ba04-c8ef3ab24a94" providerId="ADAL" clId="{6126A9E3-DB1D-41F5-A982-00B8D0EC1147}" dt="2021-10-14T07:38:25.767" v="175"/>
        <pc:sldMkLst>
          <pc:docMk/>
          <pc:sldMk cId="390872840" sldId="283"/>
        </pc:sldMkLst>
        <pc:grpChg chg="del mod">
          <ac:chgData name="KACHOUR Maher" userId="09775c39-7739-40bf-ba04-c8ef3ab24a94" providerId="ADAL" clId="{6126A9E3-DB1D-41F5-A982-00B8D0EC1147}" dt="2021-10-14T07:38:10.160" v="172" actId="478"/>
          <ac:grpSpMkLst>
            <pc:docMk/>
            <pc:sldMk cId="390872840" sldId="283"/>
            <ac:grpSpMk id="12" creationId="{F49B8B8D-BB0B-4669-88AE-8E5D41053ABE}"/>
          </ac:grpSpMkLst>
        </pc:grpChg>
        <pc:graphicFrameChg chg="add mod modGraphic">
          <ac:chgData name="KACHOUR Maher" userId="09775c39-7739-40bf-ba04-c8ef3ab24a94" providerId="ADAL" clId="{6126A9E3-DB1D-41F5-A982-00B8D0EC1147}" dt="2021-10-14T07:38:13.412" v="173" actId="1076"/>
          <ac:graphicFrameMkLst>
            <pc:docMk/>
            <pc:sldMk cId="390872840" sldId="283"/>
            <ac:graphicFrameMk id="3" creationId="{6F36D207-BF96-464A-B488-DFDAF94C913A}"/>
          </ac:graphicFrameMkLst>
        </pc:graphicFrameChg>
      </pc:sldChg>
      <pc:sldChg chg="add">
        <pc:chgData name="KACHOUR Maher" userId="09775c39-7739-40bf-ba04-c8ef3ab24a94" providerId="ADAL" clId="{6126A9E3-DB1D-41F5-A982-00B8D0EC1147}" dt="2021-10-14T07:38:39.201" v="176" actId="2890"/>
        <pc:sldMkLst>
          <pc:docMk/>
          <pc:sldMk cId="2566369134" sldId="284"/>
        </pc:sldMkLst>
      </pc:sldChg>
      <pc:sldChg chg="add">
        <pc:chgData name="KACHOUR Maher" userId="09775c39-7739-40bf-ba04-c8ef3ab24a94" providerId="ADAL" clId="{6126A9E3-DB1D-41F5-A982-00B8D0EC1147}" dt="2021-10-14T07:40:10.982" v="224" actId="2890"/>
        <pc:sldMkLst>
          <pc:docMk/>
          <pc:sldMk cId="3502793993" sldId="285"/>
        </pc:sldMkLst>
      </pc:sldChg>
      <pc:sldChg chg="delSp modSp add mod">
        <pc:chgData name="KACHOUR Maher" userId="09775c39-7739-40bf-ba04-c8ef3ab24a94" providerId="ADAL" clId="{6126A9E3-DB1D-41F5-A982-00B8D0EC1147}" dt="2021-10-14T07:47:26.237" v="292" actId="1076"/>
        <pc:sldMkLst>
          <pc:docMk/>
          <pc:sldMk cId="1592290791" sldId="286"/>
        </pc:sldMkLst>
        <pc:spChg chg="mod">
          <ac:chgData name="KACHOUR Maher" userId="09775c39-7739-40bf-ba04-c8ef3ab24a94" providerId="ADAL" clId="{6126A9E3-DB1D-41F5-A982-00B8D0EC1147}" dt="2021-10-14T07:47:19.396" v="289" actId="20577"/>
          <ac:spMkLst>
            <pc:docMk/>
            <pc:sldMk cId="1592290791" sldId="286"/>
            <ac:spMk id="3" creationId="{BCB1E9CE-2092-4731-8569-2AD3949CF473}"/>
          </ac:spMkLst>
        </pc:spChg>
        <pc:grpChg chg="del">
          <ac:chgData name="KACHOUR Maher" userId="09775c39-7739-40bf-ba04-c8ef3ab24a94" providerId="ADAL" clId="{6126A9E3-DB1D-41F5-A982-00B8D0EC1147}" dt="2021-10-14T07:47:21.171" v="290" actId="478"/>
          <ac:grpSpMkLst>
            <pc:docMk/>
            <pc:sldMk cId="1592290791" sldId="286"/>
            <ac:grpSpMk id="8" creationId="{EBEC6656-1FB6-4DA2-A09B-E229A94C738A}"/>
          </ac:grpSpMkLst>
        </pc:grpChg>
        <pc:picChg chg="mod">
          <ac:chgData name="KACHOUR Maher" userId="09775c39-7739-40bf-ba04-c8ef3ab24a94" providerId="ADAL" clId="{6126A9E3-DB1D-41F5-A982-00B8D0EC1147}" dt="2021-10-14T07:47:26.237" v="292" actId="1076"/>
          <ac:picMkLst>
            <pc:docMk/>
            <pc:sldMk cId="1592290791" sldId="286"/>
            <ac:picMk id="13" creationId="{C91156E5-F6DA-4B64-A1C7-73ED3CFE4FB7}"/>
          </ac:picMkLst>
        </pc:picChg>
        <pc:picChg chg="del">
          <ac:chgData name="KACHOUR Maher" userId="09775c39-7739-40bf-ba04-c8ef3ab24a94" providerId="ADAL" clId="{6126A9E3-DB1D-41F5-A982-00B8D0EC1147}" dt="2021-10-14T07:47:23.443" v="291" actId="478"/>
          <ac:picMkLst>
            <pc:docMk/>
            <pc:sldMk cId="1592290791" sldId="286"/>
            <ac:picMk id="14" creationId="{490E382A-1EDE-40AC-BC31-E99258CD869D}"/>
          </ac:picMkLst>
        </pc:picChg>
      </pc:sldChg>
      <pc:sldChg chg="delSp modSp add mod">
        <pc:chgData name="KACHOUR Maher" userId="09775c39-7739-40bf-ba04-c8ef3ab24a94" providerId="ADAL" clId="{6126A9E3-DB1D-41F5-A982-00B8D0EC1147}" dt="2021-10-14T07:48:02.903" v="301" actId="1076"/>
        <pc:sldMkLst>
          <pc:docMk/>
          <pc:sldMk cId="2553761799" sldId="287"/>
        </pc:sldMkLst>
        <pc:spChg chg="mod">
          <ac:chgData name="KACHOUR Maher" userId="09775c39-7739-40bf-ba04-c8ef3ab24a94" providerId="ADAL" clId="{6126A9E3-DB1D-41F5-A982-00B8D0EC1147}" dt="2021-10-14T07:47:54.328" v="298" actId="20577"/>
          <ac:spMkLst>
            <pc:docMk/>
            <pc:sldMk cId="2553761799" sldId="287"/>
            <ac:spMk id="3" creationId="{BCB1E9CE-2092-4731-8569-2AD3949CF473}"/>
          </ac:spMkLst>
        </pc:spChg>
        <pc:grpChg chg="del">
          <ac:chgData name="KACHOUR Maher" userId="09775c39-7739-40bf-ba04-c8ef3ab24a94" providerId="ADAL" clId="{6126A9E3-DB1D-41F5-A982-00B8D0EC1147}" dt="2021-10-14T07:47:56.651" v="299" actId="478"/>
          <ac:grpSpMkLst>
            <pc:docMk/>
            <pc:sldMk cId="2553761799" sldId="287"/>
            <ac:grpSpMk id="8" creationId="{EBEC6656-1FB6-4DA2-A09B-E229A94C738A}"/>
          </ac:grpSpMkLst>
        </pc:grpChg>
        <pc:picChg chg="del">
          <ac:chgData name="KACHOUR Maher" userId="09775c39-7739-40bf-ba04-c8ef3ab24a94" providerId="ADAL" clId="{6126A9E3-DB1D-41F5-A982-00B8D0EC1147}" dt="2021-10-14T07:47:58.745" v="300" actId="478"/>
          <ac:picMkLst>
            <pc:docMk/>
            <pc:sldMk cId="2553761799" sldId="287"/>
            <ac:picMk id="13" creationId="{C91156E5-F6DA-4B64-A1C7-73ED3CFE4FB7}"/>
          </ac:picMkLst>
        </pc:picChg>
        <pc:picChg chg="mod">
          <ac:chgData name="KACHOUR Maher" userId="09775c39-7739-40bf-ba04-c8ef3ab24a94" providerId="ADAL" clId="{6126A9E3-DB1D-41F5-A982-00B8D0EC1147}" dt="2021-10-14T07:48:02.903" v="301" actId="1076"/>
          <ac:picMkLst>
            <pc:docMk/>
            <pc:sldMk cId="2553761799" sldId="287"/>
            <ac:picMk id="14" creationId="{490E382A-1EDE-40AC-BC31-E99258CD869D}"/>
          </ac:picMkLst>
        </pc:picChg>
      </pc:sldChg>
      <pc:sldChg chg="addSp delSp modSp add mod ord">
        <pc:chgData name="KACHOUR Maher" userId="09775c39-7739-40bf-ba04-c8ef3ab24a94" providerId="ADAL" clId="{6126A9E3-DB1D-41F5-A982-00B8D0EC1147}" dt="2021-10-14T07:47:44.879" v="297" actId="478"/>
        <pc:sldMkLst>
          <pc:docMk/>
          <pc:sldMk cId="3149534508" sldId="288"/>
        </pc:sldMkLst>
        <pc:spChg chg="add del mod">
          <ac:chgData name="KACHOUR Maher" userId="09775c39-7739-40bf-ba04-c8ef3ab24a94" providerId="ADAL" clId="{6126A9E3-DB1D-41F5-A982-00B8D0EC1147}" dt="2021-10-14T07:47:35.442" v="294" actId="478"/>
          <ac:spMkLst>
            <pc:docMk/>
            <pc:sldMk cId="3149534508" sldId="288"/>
            <ac:spMk id="6" creationId="{9CEC7AD0-F051-4857-B7B5-C0F91715FDC5}"/>
          </ac:spMkLst>
        </pc:spChg>
        <pc:spChg chg="del">
          <ac:chgData name="KACHOUR Maher" userId="09775c39-7739-40bf-ba04-c8ef3ab24a94" providerId="ADAL" clId="{6126A9E3-DB1D-41F5-A982-00B8D0EC1147}" dt="2021-10-14T07:47:40.075" v="295" actId="478"/>
          <ac:spMkLst>
            <pc:docMk/>
            <pc:sldMk cId="3149534508" sldId="288"/>
            <ac:spMk id="11" creationId="{5B6203AB-F925-453A-A8EE-D2EA8A7B001A}"/>
          </ac:spMkLst>
        </pc:spChg>
        <pc:spChg chg="del">
          <ac:chgData name="KACHOUR Maher" userId="09775c39-7739-40bf-ba04-c8ef3ab24a94" providerId="ADAL" clId="{6126A9E3-DB1D-41F5-A982-00B8D0EC1147}" dt="2021-10-14T07:47:42.725" v="296" actId="478"/>
          <ac:spMkLst>
            <pc:docMk/>
            <pc:sldMk cId="3149534508" sldId="288"/>
            <ac:spMk id="12" creationId="{0579E1E1-9805-4D2F-82D8-B76F69556BD9}"/>
          </ac:spMkLst>
        </pc:spChg>
        <pc:picChg chg="del">
          <ac:chgData name="KACHOUR Maher" userId="09775c39-7739-40bf-ba04-c8ef3ab24a94" providerId="ADAL" clId="{6126A9E3-DB1D-41F5-A982-00B8D0EC1147}" dt="2021-10-14T07:47:32.894" v="293" actId="478"/>
          <ac:picMkLst>
            <pc:docMk/>
            <pc:sldMk cId="3149534508" sldId="288"/>
            <ac:picMk id="5" creationId="{205271FE-4FEC-4A7A-B0B5-4D0E2D0858A6}"/>
          </ac:picMkLst>
        </pc:picChg>
        <pc:picChg chg="del">
          <ac:chgData name="KACHOUR Maher" userId="09775c39-7739-40bf-ba04-c8ef3ab24a94" providerId="ADAL" clId="{6126A9E3-DB1D-41F5-A982-00B8D0EC1147}" dt="2021-10-14T07:47:44.879" v="297" actId="478"/>
          <ac:picMkLst>
            <pc:docMk/>
            <pc:sldMk cId="3149534508" sldId="288"/>
            <ac:picMk id="8" creationId="{2B953362-25F7-47D5-9758-6DE15CD96776}"/>
          </ac:picMkLst>
        </pc:picChg>
      </pc:sldChg>
      <pc:sldChg chg="addSp delSp modSp add mod ord">
        <pc:chgData name="KACHOUR Maher" userId="09775c39-7739-40bf-ba04-c8ef3ab24a94" providerId="ADAL" clId="{6126A9E3-DB1D-41F5-A982-00B8D0EC1147}" dt="2021-10-14T07:48:25.103" v="307" actId="1076"/>
        <pc:sldMkLst>
          <pc:docMk/>
          <pc:sldMk cId="3312963330" sldId="289"/>
        </pc:sldMkLst>
        <pc:spChg chg="add del mod">
          <ac:chgData name="KACHOUR Maher" userId="09775c39-7739-40bf-ba04-c8ef3ab24a94" providerId="ADAL" clId="{6126A9E3-DB1D-41F5-A982-00B8D0EC1147}" dt="2021-10-14T07:48:12.003" v="303" actId="478"/>
          <ac:spMkLst>
            <pc:docMk/>
            <pc:sldMk cId="3312963330" sldId="289"/>
            <ac:spMk id="6" creationId="{4C001F42-BFAF-454D-8556-040FBBA0857D}"/>
          </ac:spMkLst>
        </pc:spChg>
        <pc:spChg chg="del">
          <ac:chgData name="KACHOUR Maher" userId="09775c39-7739-40bf-ba04-c8ef3ab24a94" providerId="ADAL" clId="{6126A9E3-DB1D-41F5-A982-00B8D0EC1147}" dt="2021-10-14T07:48:16.436" v="304" actId="478"/>
          <ac:spMkLst>
            <pc:docMk/>
            <pc:sldMk cId="3312963330" sldId="289"/>
            <ac:spMk id="11" creationId="{5B6203AB-F925-453A-A8EE-D2EA8A7B001A}"/>
          </ac:spMkLst>
        </pc:spChg>
        <pc:spChg chg="del">
          <ac:chgData name="KACHOUR Maher" userId="09775c39-7739-40bf-ba04-c8ef3ab24a94" providerId="ADAL" clId="{6126A9E3-DB1D-41F5-A982-00B8D0EC1147}" dt="2021-10-14T07:48:19.462" v="305" actId="478"/>
          <ac:spMkLst>
            <pc:docMk/>
            <pc:sldMk cId="3312963330" sldId="289"/>
            <ac:spMk id="12" creationId="{0579E1E1-9805-4D2F-82D8-B76F69556BD9}"/>
          </ac:spMkLst>
        </pc:spChg>
        <pc:picChg chg="del">
          <ac:chgData name="KACHOUR Maher" userId="09775c39-7739-40bf-ba04-c8ef3ab24a94" providerId="ADAL" clId="{6126A9E3-DB1D-41F5-A982-00B8D0EC1147}" dt="2021-10-14T07:48:22.027" v="306" actId="478"/>
          <ac:picMkLst>
            <pc:docMk/>
            <pc:sldMk cId="3312963330" sldId="289"/>
            <ac:picMk id="4" creationId="{1E5ED45B-D319-4601-A37F-7589AE98F831}"/>
          </ac:picMkLst>
        </pc:picChg>
        <pc:picChg chg="del">
          <ac:chgData name="KACHOUR Maher" userId="09775c39-7739-40bf-ba04-c8ef3ab24a94" providerId="ADAL" clId="{6126A9E3-DB1D-41F5-A982-00B8D0EC1147}" dt="2021-10-14T07:48:08.306" v="302" actId="478"/>
          <ac:picMkLst>
            <pc:docMk/>
            <pc:sldMk cId="3312963330" sldId="289"/>
            <ac:picMk id="5" creationId="{205271FE-4FEC-4A7A-B0B5-4D0E2D0858A6}"/>
          </ac:picMkLst>
        </pc:picChg>
        <pc:picChg chg="mod">
          <ac:chgData name="KACHOUR Maher" userId="09775c39-7739-40bf-ba04-c8ef3ab24a94" providerId="ADAL" clId="{6126A9E3-DB1D-41F5-A982-00B8D0EC1147}" dt="2021-10-14T07:48:25.103" v="307" actId="1076"/>
          <ac:picMkLst>
            <pc:docMk/>
            <pc:sldMk cId="3312963330" sldId="289"/>
            <ac:picMk id="8" creationId="{2B953362-25F7-47D5-9758-6DE15CD9677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Session 1</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Terminology</a:t>
            </a:r>
            <a:r>
              <a:rPr lang="fr-FR" dirty="0"/>
              <a:t> </a:t>
            </a:r>
          </a:p>
        </p:txBody>
      </p:sp>
      <p:sp>
        <p:nvSpPr>
          <p:cNvPr id="4" name="Ellipse 3"/>
          <p:cNvSpPr/>
          <p:nvPr/>
        </p:nvSpPr>
        <p:spPr>
          <a:xfrm>
            <a:off x="71500" y="2384884"/>
            <a:ext cx="4500500"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Multiplication 5"/>
          <p:cNvSpPr/>
          <p:nvPr/>
        </p:nvSpPr>
        <p:spPr>
          <a:xfrm>
            <a:off x="683568" y="3789040"/>
            <a:ext cx="288032" cy="360040"/>
          </a:xfrm>
          <a:prstGeom prst="mathMultiply">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p:cNvSpPr txBox="1"/>
          <p:nvPr/>
        </p:nvSpPr>
        <p:spPr>
          <a:xfrm>
            <a:off x="946286" y="3419708"/>
            <a:ext cx="4500500" cy="369332"/>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Individual</a:t>
            </a:r>
            <a:r>
              <a:rPr lang="fr-FR" dirty="0">
                <a:latin typeface="Cambria" panose="02040503050406030204" pitchFamily="18" charset="0"/>
                <a:ea typeface="Cambria" panose="02040503050406030204" pitchFamily="18" charset="0"/>
              </a:rPr>
              <a:t> </a:t>
            </a:r>
            <a:r>
              <a:rPr lang="fr-FR" sz="1100" dirty="0">
                <a:latin typeface="Cambria" panose="02040503050406030204" pitchFamily="18" charset="0"/>
                <a:ea typeface="Cambria" panose="02040503050406030204" pitchFamily="18" charset="0"/>
              </a:rPr>
              <a:t>(</a:t>
            </a:r>
            <a:r>
              <a:rPr lang="en-US" sz="1100" dirty="0">
                <a:latin typeface="Cambria" panose="02040503050406030204" pitchFamily="18" charset="0"/>
                <a:ea typeface="Cambria" panose="02040503050406030204" pitchFamily="18" charset="0"/>
              </a:rPr>
              <a:t>an element of the population</a:t>
            </a:r>
            <a:r>
              <a:rPr lang="fr-FR" sz="1100" dirty="0">
                <a:latin typeface="Cambria" panose="02040503050406030204" pitchFamily="18" charset="0"/>
                <a:ea typeface="Cambria" panose="02040503050406030204" pitchFamily="18" charset="0"/>
              </a:rPr>
              <a:t>)</a:t>
            </a:r>
          </a:p>
        </p:txBody>
      </p:sp>
      <p:sp>
        <p:nvSpPr>
          <p:cNvPr id="3" name="ZoneTexte 2">
            <a:extLst>
              <a:ext uri="{FF2B5EF4-FFF2-40B4-BE49-F238E27FC236}">
                <a16:creationId xmlns:a16="http://schemas.microsoft.com/office/drawing/2014/main" id="{3392D7B8-1778-4DD2-8B1B-9D360198069F}"/>
              </a:ext>
            </a:extLst>
          </p:cNvPr>
          <p:cNvSpPr txBox="1"/>
          <p:nvPr/>
        </p:nvSpPr>
        <p:spPr>
          <a:xfrm>
            <a:off x="2771800" y="5350291"/>
            <a:ext cx="3924436" cy="1477328"/>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Population: a set of elements sharing one or more characteristics that are used to group them together
</a:t>
            </a:r>
            <a:endParaRPr lang="fr-FR" dirty="0">
              <a:effectLst/>
              <a:latin typeface="Cambria" panose="02040503050406030204" pitchFamily="18" charset="0"/>
              <a:ea typeface="Cambria" panose="02040503050406030204" pitchFamily="18" charset="0"/>
            </a:endParaRPr>
          </a:p>
        </p:txBody>
      </p:sp>
      <p:sp>
        <p:nvSpPr>
          <p:cNvPr id="9" name="Phylactère : pensées 8">
            <a:extLst>
              <a:ext uri="{FF2B5EF4-FFF2-40B4-BE49-F238E27FC236}">
                <a16:creationId xmlns:a16="http://schemas.microsoft.com/office/drawing/2014/main" id="{D100CB1E-276F-4CC3-88B1-A178DD7EFE60}"/>
              </a:ext>
            </a:extLst>
          </p:cNvPr>
          <p:cNvSpPr/>
          <p:nvPr/>
        </p:nvSpPr>
        <p:spPr>
          <a:xfrm>
            <a:off x="6516216" y="609428"/>
            <a:ext cx="2325636" cy="2690589"/>
          </a:xfrm>
          <a:prstGeom prst="cloudCallout">
            <a:avLst>
              <a:gd name="adj1" fmla="val -83859"/>
              <a:gd name="adj2" fmla="val 11804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AB909E3C-80B1-4AA8-A0A8-655C8FAAEE96}"/>
              </a:ext>
            </a:extLst>
          </p:cNvPr>
          <p:cNvSpPr txBox="1"/>
          <p:nvPr/>
        </p:nvSpPr>
        <p:spPr>
          <a:xfrm>
            <a:off x="7020272" y="1446890"/>
            <a:ext cx="1440160" cy="1169551"/>
          </a:xfrm>
          <a:prstGeom prst="rect">
            <a:avLst/>
          </a:prstGeom>
          <a:noFill/>
        </p:spPr>
        <p:txBody>
          <a:bodyPr wrap="square" rtlCol="0">
            <a:spAutoFit/>
          </a:bodyPr>
          <a:lstStyle/>
          <a:p>
            <a:r>
              <a:rPr lang="en-US" sz="1000" dirty="0">
                <a:latin typeface="Cambria" panose="02040503050406030204" pitchFamily="18" charset="0"/>
                <a:ea typeface="Cambria" panose="02040503050406030204" pitchFamily="18" charset="0"/>
              </a:rPr>
              <a:t>Population is said to be finite if we can determine the exact number of its individuals (otherwise it is said to be infinite)
</a:t>
            </a:r>
            <a:endParaRPr lang="fr-FR" sz="1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17304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5B5ECA-7C18-49ED-B766-9DBA250DD5E1}"/>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Terminology</a:t>
            </a:r>
            <a:endParaRPr lang="en-US" dirty="0"/>
          </a:p>
        </p:txBody>
      </p:sp>
      <p:sp>
        <p:nvSpPr>
          <p:cNvPr id="5" name="Espace réservé du contenu 4">
            <a:extLst>
              <a:ext uri="{FF2B5EF4-FFF2-40B4-BE49-F238E27FC236}">
                <a16:creationId xmlns:a16="http://schemas.microsoft.com/office/drawing/2014/main" id="{892CDD47-C631-4981-AA67-4A280133F62C}"/>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A population is finite if the number of its individuals is finite </a:t>
            </a:r>
          </a:p>
          <a:p>
            <a:r>
              <a:rPr lang="en-US" dirty="0">
                <a:latin typeface="Cambria" panose="02040503050406030204" pitchFamily="18" charset="0"/>
                <a:ea typeface="Cambria" panose="02040503050406030204" pitchFamily="18" charset="0"/>
              </a:rPr>
              <a:t>A population is infinite if we cannot determine the "exact" number of its individuals. </a:t>
            </a:r>
            <a:endParaRPr lang="fr-F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31536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5B5ECA-7C18-49ED-B766-9DBA250DD5E1}"/>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Terminology</a:t>
            </a:r>
            <a:endParaRPr lang="en-US" dirty="0"/>
          </a:p>
        </p:txBody>
      </p:sp>
      <p:graphicFrame>
        <p:nvGraphicFramePr>
          <p:cNvPr id="4" name="Tableau 4">
            <a:extLst>
              <a:ext uri="{FF2B5EF4-FFF2-40B4-BE49-F238E27FC236}">
                <a16:creationId xmlns:a16="http://schemas.microsoft.com/office/drawing/2014/main" id="{FF693F28-5001-45E2-A32B-66BDFA440517}"/>
              </a:ext>
            </a:extLst>
          </p:cNvPr>
          <p:cNvGraphicFramePr>
            <a:graphicFrameLocks noGrp="1"/>
          </p:cNvGraphicFramePr>
          <p:nvPr>
            <p:ph idx="1"/>
            <p:extLst>
              <p:ext uri="{D42A27DB-BD31-4B8C-83A1-F6EECF244321}">
                <p14:modId xmlns:p14="http://schemas.microsoft.com/office/powerpoint/2010/main" val="1257362937"/>
              </p:ext>
            </p:extLst>
          </p:nvPr>
        </p:nvGraphicFramePr>
        <p:xfrm>
          <a:off x="457200" y="1600200"/>
          <a:ext cx="6172200" cy="30226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474722971"/>
                    </a:ext>
                  </a:extLst>
                </a:gridCol>
                <a:gridCol w="2057400">
                  <a:extLst>
                    <a:ext uri="{9D8B030D-6E8A-4147-A177-3AD203B41FA5}">
                      <a16:colId xmlns:a16="http://schemas.microsoft.com/office/drawing/2014/main" val="12850362"/>
                    </a:ext>
                  </a:extLst>
                </a:gridCol>
                <a:gridCol w="2057400">
                  <a:extLst>
                    <a:ext uri="{9D8B030D-6E8A-4147-A177-3AD203B41FA5}">
                      <a16:colId xmlns:a16="http://schemas.microsoft.com/office/drawing/2014/main" val="2936298048"/>
                    </a:ext>
                  </a:extLst>
                </a:gridCol>
              </a:tblGrid>
              <a:tr h="370840">
                <a:tc>
                  <a:txBody>
                    <a:bodyPr/>
                    <a:lstStyle/>
                    <a:p>
                      <a:r>
                        <a:rPr lang="fr-FR" dirty="0">
                          <a:latin typeface="Cambria" panose="02040503050406030204" pitchFamily="18" charset="0"/>
                          <a:ea typeface="Cambria" panose="02040503050406030204" pitchFamily="18" charset="0"/>
                        </a:rPr>
                        <a:t>Population </a:t>
                      </a:r>
                    </a:p>
                  </a:txBody>
                  <a:tcPr/>
                </a:tc>
                <a:tc>
                  <a:txBody>
                    <a:bodyPr/>
                    <a:lstStyle/>
                    <a:p>
                      <a:r>
                        <a:rPr lang="en-US" noProof="0" dirty="0">
                          <a:latin typeface="Cambria" panose="02040503050406030204" pitchFamily="18" charset="0"/>
                          <a:ea typeface="Cambria" panose="02040503050406030204" pitchFamily="18" charset="0"/>
                        </a:rPr>
                        <a:t>Finite </a:t>
                      </a:r>
                    </a:p>
                  </a:txBody>
                  <a:tcPr/>
                </a:tc>
                <a:tc>
                  <a:txBody>
                    <a:bodyPr/>
                    <a:lstStyle/>
                    <a:p>
                      <a:r>
                        <a:rPr lang="en-US" noProof="0" dirty="0">
                          <a:latin typeface="Cambria" panose="02040503050406030204" pitchFamily="18" charset="0"/>
                          <a:ea typeface="Cambria" panose="02040503050406030204" pitchFamily="18" charset="0"/>
                        </a:rPr>
                        <a:t>Infinite </a:t>
                      </a:r>
                    </a:p>
                  </a:txBody>
                  <a:tcPr/>
                </a:tc>
                <a:extLst>
                  <a:ext uri="{0D108BD9-81ED-4DB2-BD59-A6C34878D82A}">
                    <a16:rowId xmlns:a16="http://schemas.microsoft.com/office/drawing/2014/main" val="2825872408"/>
                  </a:ext>
                </a:extLst>
              </a:tr>
              <a:tr h="370840">
                <a:tc>
                  <a:txBody>
                    <a:bodyPr/>
                    <a:lstStyle/>
                    <a:p>
                      <a:r>
                        <a:rPr lang="en-US" dirty="0">
                          <a:latin typeface="Cambria" panose="02040503050406030204" pitchFamily="18" charset="0"/>
                          <a:ea typeface="Cambria" panose="02040503050406030204" pitchFamily="18" charset="0"/>
                        </a:rPr>
                        <a:t>ESSCA students in the first year for the class of 2020
</a:t>
                      </a:r>
                      <a:endParaRPr lang="fr-FR" dirty="0">
                        <a:latin typeface="Cambria" panose="02040503050406030204" pitchFamily="18" charset="0"/>
                        <a:ea typeface="Cambria" panose="02040503050406030204" pitchFamily="18" charset="0"/>
                      </a:endParaRPr>
                    </a:p>
                  </a:txBody>
                  <a:tcPr/>
                </a:tc>
                <a:tc>
                  <a:txBody>
                    <a:bodyPr/>
                    <a:lstStyle/>
                    <a:p>
                      <a:endParaRPr lang="fr-FR" dirty="0">
                        <a:latin typeface="Cambria" panose="02040503050406030204" pitchFamily="18" charset="0"/>
                        <a:ea typeface="Cambria" panose="02040503050406030204" pitchFamily="18" charset="0"/>
                      </a:endParaRPr>
                    </a:p>
                    <a:p>
                      <a:pPr algn="ctr"/>
                      <a:endParaRPr lang="fr-FR" sz="4000" dirty="0">
                        <a:latin typeface="Cambria" panose="02040503050406030204" pitchFamily="18" charset="0"/>
                        <a:ea typeface="Cambria" panose="02040503050406030204" pitchFamily="18" charset="0"/>
                      </a:endParaRPr>
                    </a:p>
                  </a:txBody>
                  <a:tcPr/>
                </a:tc>
                <a:tc>
                  <a:txBody>
                    <a:bodyPr/>
                    <a:lstStyle/>
                    <a:p>
                      <a:endParaRPr lang="fr-FR">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579331976"/>
                  </a:ext>
                </a:extLst>
              </a:tr>
              <a:tr h="370840">
                <a:tc>
                  <a:txBody>
                    <a:bodyPr/>
                    <a:lstStyle/>
                    <a:p>
                      <a:r>
                        <a:rPr lang="en-US" dirty="0">
                          <a:latin typeface="Cambria" panose="02040503050406030204" pitchFamily="18" charset="0"/>
                          <a:ea typeface="Cambria" panose="02040503050406030204" pitchFamily="18" charset="0"/>
                        </a:rPr>
                        <a:t>Cars that pass at a crossroads between 10am and 3pm
</a:t>
                      </a:r>
                      <a:endParaRPr lang="fr-FR" dirty="0">
                        <a:latin typeface="Cambria" panose="02040503050406030204" pitchFamily="18" charset="0"/>
                        <a:ea typeface="Cambria" panose="02040503050406030204" pitchFamily="18" charset="0"/>
                      </a:endParaRPr>
                    </a:p>
                  </a:txBody>
                  <a:tcPr/>
                </a:tc>
                <a:tc>
                  <a:txBody>
                    <a:bodyPr/>
                    <a:lstStyle/>
                    <a:p>
                      <a:endParaRPr lang="fr-FR">
                        <a:latin typeface="Cambria" panose="02040503050406030204" pitchFamily="18" charset="0"/>
                        <a:ea typeface="Cambria" panose="02040503050406030204" pitchFamily="18" charset="0"/>
                      </a:endParaRPr>
                    </a:p>
                  </a:txBody>
                  <a:tcPr/>
                </a:tc>
                <a:tc>
                  <a:txBody>
                    <a:bodyPr/>
                    <a:lstStyle/>
                    <a:p>
                      <a:endParaRPr lang="fr-FR" dirty="0">
                        <a:latin typeface="Cambria" panose="02040503050406030204" pitchFamily="18" charset="0"/>
                        <a:ea typeface="Cambria" panose="02040503050406030204" pitchFamily="18" charset="0"/>
                      </a:endParaRPr>
                    </a:p>
                    <a:p>
                      <a:pPr algn="ctr"/>
                      <a:endParaRPr lang="fr-FR" dirty="0">
                        <a:latin typeface="Cambria" panose="02040503050406030204" pitchFamily="18" charset="0"/>
                        <a:ea typeface="Cambria" panose="02040503050406030204" pitchFamily="18" charset="0"/>
                      </a:endParaRPr>
                    </a:p>
                    <a:p>
                      <a:pPr algn="ctr"/>
                      <a:endParaRPr lang="fr-FR" sz="4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681731661"/>
                  </a:ext>
                </a:extLst>
              </a:tr>
            </a:tbl>
          </a:graphicData>
        </a:graphic>
      </p:graphicFrame>
    </p:spTree>
    <p:extLst>
      <p:ext uri="{BB962C8B-B14F-4D97-AF65-F5344CB8AC3E}">
        <p14:creationId xmlns:p14="http://schemas.microsoft.com/office/powerpoint/2010/main" val="1867429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5B5ECA-7C18-49ED-B766-9DBA250DD5E1}"/>
              </a:ext>
            </a:extLst>
          </p:cNvPr>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Terminology</a:t>
            </a:r>
            <a:endParaRPr lang="fr-FR" dirty="0"/>
          </a:p>
        </p:txBody>
      </p:sp>
      <p:graphicFrame>
        <p:nvGraphicFramePr>
          <p:cNvPr id="4" name="Tableau 4">
            <a:extLst>
              <a:ext uri="{FF2B5EF4-FFF2-40B4-BE49-F238E27FC236}">
                <a16:creationId xmlns:a16="http://schemas.microsoft.com/office/drawing/2014/main" id="{FF693F28-5001-45E2-A32B-66BDFA440517}"/>
              </a:ext>
            </a:extLst>
          </p:cNvPr>
          <p:cNvGraphicFramePr>
            <a:graphicFrameLocks noGrp="1"/>
          </p:cNvGraphicFramePr>
          <p:nvPr>
            <p:ph idx="1"/>
          </p:nvPr>
        </p:nvGraphicFramePr>
        <p:xfrm>
          <a:off x="457200" y="1600200"/>
          <a:ext cx="8229600" cy="32969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474722971"/>
                    </a:ext>
                  </a:extLst>
                </a:gridCol>
                <a:gridCol w="2057400">
                  <a:extLst>
                    <a:ext uri="{9D8B030D-6E8A-4147-A177-3AD203B41FA5}">
                      <a16:colId xmlns:a16="http://schemas.microsoft.com/office/drawing/2014/main" val="12850362"/>
                    </a:ext>
                  </a:extLst>
                </a:gridCol>
                <a:gridCol w="2057400">
                  <a:extLst>
                    <a:ext uri="{9D8B030D-6E8A-4147-A177-3AD203B41FA5}">
                      <a16:colId xmlns:a16="http://schemas.microsoft.com/office/drawing/2014/main" val="2936298048"/>
                    </a:ext>
                  </a:extLst>
                </a:gridCol>
                <a:gridCol w="2057400">
                  <a:extLst>
                    <a:ext uri="{9D8B030D-6E8A-4147-A177-3AD203B41FA5}">
                      <a16:colId xmlns:a16="http://schemas.microsoft.com/office/drawing/2014/main" val="2533192039"/>
                    </a:ext>
                  </a:extLst>
                </a:gridCol>
              </a:tblGrid>
              <a:tr h="370840">
                <a:tc>
                  <a:txBody>
                    <a:bodyPr/>
                    <a:lstStyle/>
                    <a:p>
                      <a:r>
                        <a:rPr lang="fr-FR" dirty="0">
                          <a:latin typeface="Cambria" panose="02040503050406030204" pitchFamily="18" charset="0"/>
                          <a:ea typeface="Cambria" panose="02040503050406030204" pitchFamily="18" charset="0"/>
                        </a:rPr>
                        <a:t>Population </a:t>
                      </a:r>
                    </a:p>
                  </a:txBody>
                  <a:tcPr/>
                </a:tc>
                <a:tc>
                  <a:txBody>
                    <a:bodyPr/>
                    <a:lstStyle/>
                    <a:p>
                      <a:r>
                        <a:rPr lang="fr-FR" dirty="0" err="1">
                          <a:latin typeface="Cambria" panose="02040503050406030204" pitchFamily="18" charset="0"/>
                          <a:ea typeface="Cambria" panose="02040503050406030204" pitchFamily="18" charset="0"/>
                        </a:rPr>
                        <a:t>Finite</a:t>
                      </a:r>
                      <a:r>
                        <a:rPr lang="fr-FR" dirty="0">
                          <a:latin typeface="Cambria" panose="02040503050406030204" pitchFamily="18" charset="0"/>
                          <a:ea typeface="Cambria" panose="02040503050406030204" pitchFamily="18" charset="0"/>
                        </a:rPr>
                        <a:t> </a:t>
                      </a:r>
                    </a:p>
                  </a:txBody>
                  <a:tcPr/>
                </a:tc>
                <a:tc>
                  <a:txBody>
                    <a:bodyPr/>
                    <a:lstStyle/>
                    <a:p>
                      <a:r>
                        <a:rPr lang="fr-FR" dirty="0" err="1">
                          <a:latin typeface="Cambria" panose="02040503050406030204" pitchFamily="18" charset="0"/>
                          <a:ea typeface="Cambria" panose="02040503050406030204" pitchFamily="18" charset="0"/>
                        </a:rPr>
                        <a:t>Infinite</a:t>
                      </a:r>
                      <a:r>
                        <a:rPr lang="fr-FR" dirty="0">
                          <a:latin typeface="Cambria" panose="02040503050406030204" pitchFamily="18" charset="0"/>
                          <a:ea typeface="Cambria" panose="02040503050406030204" pitchFamily="18" charset="0"/>
                        </a:rPr>
                        <a:t> </a:t>
                      </a:r>
                    </a:p>
                  </a:txBody>
                  <a:tcPr/>
                </a:tc>
                <a:tc>
                  <a:txBody>
                    <a:bodyPr/>
                    <a:lstStyle/>
                    <a:p>
                      <a:r>
                        <a:rPr lang="fr-FR" dirty="0" err="1">
                          <a:latin typeface="Cambria" panose="02040503050406030204" pitchFamily="18" charset="0"/>
                          <a:ea typeface="Cambria" panose="02040503050406030204" pitchFamily="18" charset="0"/>
                        </a:rPr>
                        <a:t>Remark</a:t>
                      </a:r>
                      <a:r>
                        <a:rPr lang="fr-FR"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2825872408"/>
                  </a:ext>
                </a:extLst>
              </a:tr>
              <a:tr h="370840">
                <a:tc>
                  <a:txBody>
                    <a:bodyPr/>
                    <a:lstStyle/>
                    <a:p>
                      <a:r>
                        <a:rPr lang="en-US" dirty="0">
                          <a:latin typeface="Cambria" panose="02040503050406030204" pitchFamily="18" charset="0"/>
                          <a:ea typeface="Cambria" panose="02040503050406030204" pitchFamily="18" charset="0"/>
                        </a:rPr>
                        <a:t>ESSCA students in the first year for the class of 2020
</a:t>
                      </a:r>
                      <a:endParaRPr lang="fr-FR" dirty="0">
                        <a:latin typeface="Cambria" panose="02040503050406030204" pitchFamily="18" charset="0"/>
                        <a:ea typeface="Cambria" panose="02040503050406030204" pitchFamily="18" charset="0"/>
                      </a:endParaRPr>
                    </a:p>
                  </a:txBody>
                  <a:tcPr/>
                </a:tc>
                <a:tc>
                  <a:txBody>
                    <a:bodyPr/>
                    <a:lstStyle/>
                    <a:p>
                      <a:endParaRPr lang="fr-FR" dirty="0">
                        <a:latin typeface="Cambria" panose="02040503050406030204" pitchFamily="18" charset="0"/>
                        <a:ea typeface="Cambria" panose="02040503050406030204" pitchFamily="18" charset="0"/>
                      </a:endParaRPr>
                    </a:p>
                    <a:p>
                      <a:pPr algn="ctr"/>
                      <a:r>
                        <a:rPr lang="fr-FR" sz="4000" dirty="0">
                          <a:latin typeface="Cambria" panose="02040503050406030204" pitchFamily="18" charset="0"/>
                          <a:ea typeface="Cambria" panose="02040503050406030204" pitchFamily="18" charset="0"/>
                        </a:rPr>
                        <a:t>x</a:t>
                      </a:r>
                    </a:p>
                  </a:txBody>
                  <a:tcPr/>
                </a:tc>
                <a:tc>
                  <a:txBody>
                    <a:bodyPr/>
                    <a:lstStyle/>
                    <a:p>
                      <a:endParaRPr lang="fr-FR">
                        <a:latin typeface="Cambria" panose="02040503050406030204" pitchFamily="18" charset="0"/>
                        <a:ea typeface="Cambria" panose="02040503050406030204" pitchFamily="18" charset="0"/>
                      </a:endParaRPr>
                    </a:p>
                  </a:txBody>
                  <a:tcPr/>
                </a:tc>
                <a:tc>
                  <a:txBody>
                    <a:bodyPr/>
                    <a:lstStyle/>
                    <a:p>
                      <a:r>
                        <a:rPr lang="en-US" dirty="0">
                          <a:latin typeface="Cambria" panose="02040503050406030204" pitchFamily="18" charset="0"/>
                          <a:ea typeface="Cambria" panose="02040503050406030204" pitchFamily="18" charset="0"/>
                        </a:rPr>
                        <a:t>The number of students concerned is finite
</a:t>
                      </a:r>
                      <a:endParaRPr lang="fr-FR"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579331976"/>
                  </a:ext>
                </a:extLst>
              </a:tr>
              <a:tr h="370840">
                <a:tc>
                  <a:txBody>
                    <a:bodyPr/>
                    <a:lstStyle/>
                    <a:p>
                      <a:r>
                        <a:rPr lang="en-US" dirty="0">
                          <a:latin typeface="Cambria" panose="02040503050406030204" pitchFamily="18" charset="0"/>
                          <a:ea typeface="Cambria" panose="02040503050406030204" pitchFamily="18" charset="0"/>
                        </a:rPr>
                        <a:t>Cars that pass at a crossroads between 10am and 3pm
</a:t>
                      </a:r>
                      <a:endParaRPr lang="fr-FR" dirty="0">
                        <a:latin typeface="Cambria" panose="02040503050406030204" pitchFamily="18" charset="0"/>
                        <a:ea typeface="Cambria" panose="02040503050406030204" pitchFamily="18" charset="0"/>
                      </a:endParaRPr>
                    </a:p>
                  </a:txBody>
                  <a:tcPr/>
                </a:tc>
                <a:tc>
                  <a:txBody>
                    <a:bodyPr/>
                    <a:lstStyle/>
                    <a:p>
                      <a:endParaRPr lang="fr-FR">
                        <a:latin typeface="Cambria" panose="02040503050406030204" pitchFamily="18" charset="0"/>
                        <a:ea typeface="Cambria" panose="02040503050406030204" pitchFamily="18" charset="0"/>
                      </a:endParaRPr>
                    </a:p>
                  </a:txBody>
                  <a:tcPr/>
                </a:tc>
                <a:tc>
                  <a:txBody>
                    <a:bodyPr/>
                    <a:lstStyle/>
                    <a:p>
                      <a:endParaRPr lang="fr-FR" dirty="0">
                        <a:latin typeface="Cambria" panose="02040503050406030204" pitchFamily="18" charset="0"/>
                        <a:ea typeface="Cambria" panose="02040503050406030204" pitchFamily="18" charset="0"/>
                      </a:endParaRPr>
                    </a:p>
                    <a:p>
                      <a:pPr algn="ctr"/>
                      <a:endParaRPr lang="fr-FR" dirty="0">
                        <a:latin typeface="Cambria" panose="02040503050406030204" pitchFamily="18" charset="0"/>
                        <a:ea typeface="Cambria" panose="02040503050406030204" pitchFamily="18" charset="0"/>
                      </a:endParaRPr>
                    </a:p>
                    <a:p>
                      <a:pPr algn="ctr"/>
                      <a:r>
                        <a:rPr lang="fr-FR" sz="4000" dirty="0">
                          <a:latin typeface="Cambria" panose="02040503050406030204" pitchFamily="18" charset="0"/>
                          <a:ea typeface="Cambria" panose="02040503050406030204" pitchFamily="18" charset="0"/>
                        </a:rPr>
                        <a:t>x</a:t>
                      </a:r>
                    </a:p>
                  </a:txBody>
                  <a:tcPr/>
                </a:tc>
                <a:tc>
                  <a:txBody>
                    <a:bodyPr/>
                    <a:lstStyle/>
                    <a:p>
                      <a:r>
                        <a:rPr lang="en-US" dirty="0">
                          <a:latin typeface="Cambria" panose="02040503050406030204" pitchFamily="18" charset="0"/>
                          <a:ea typeface="Cambria" panose="02040503050406030204" pitchFamily="18" charset="0"/>
                        </a:rPr>
                        <a:t>The number of cars concerned is not finite (a car can pass several times)
</a:t>
                      </a:r>
                      <a:endParaRPr lang="fr-FR"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681731661"/>
                  </a:ext>
                </a:extLst>
              </a:tr>
            </a:tbl>
          </a:graphicData>
        </a:graphic>
      </p:graphicFrame>
    </p:spTree>
    <p:extLst>
      <p:ext uri="{BB962C8B-B14F-4D97-AF65-F5344CB8AC3E}">
        <p14:creationId xmlns:p14="http://schemas.microsoft.com/office/powerpoint/2010/main" val="1304109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Terminology</a:t>
            </a:r>
            <a:r>
              <a:rPr lang="fr-FR" dirty="0"/>
              <a:t> </a:t>
            </a:r>
          </a:p>
        </p:txBody>
      </p:sp>
      <p:pic>
        <p:nvPicPr>
          <p:cNvPr id="14" name="Image 13">
            <a:extLst>
              <a:ext uri="{FF2B5EF4-FFF2-40B4-BE49-F238E27FC236}">
                <a16:creationId xmlns:a16="http://schemas.microsoft.com/office/drawing/2014/main" id="{2666DAC9-5EBD-42C3-84C4-9F0F318EFCD1}"/>
              </a:ext>
            </a:extLst>
          </p:cNvPr>
          <p:cNvPicPr>
            <a:picLocks noChangeAspect="1"/>
          </p:cNvPicPr>
          <p:nvPr/>
        </p:nvPicPr>
        <p:blipFill rotWithShape="1">
          <a:blip r:embed="rId2"/>
          <a:srcRect l="41338" t="44750" r="25587" b="23050"/>
          <a:stretch/>
        </p:blipFill>
        <p:spPr>
          <a:xfrm>
            <a:off x="1547664" y="1556792"/>
            <a:ext cx="6048672" cy="3312368"/>
          </a:xfrm>
          <a:prstGeom prst="rect">
            <a:avLst/>
          </a:prstGeom>
        </p:spPr>
      </p:pic>
    </p:spTree>
    <p:extLst>
      <p:ext uri="{BB962C8B-B14F-4D97-AF65-F5344CB8AC3E}">
        <p14:creationId xmlns:p14="http://schemas.microsoft.com/office/powerpoint/2010/main" val="640108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4FC903-6086-4DA7-BB90-89710A2EA341}"/>
              </a:ext>
            </a:extLst>
          </p:cNvPr>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Examples</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922DB5E6-6035-4539-A1C7-11FB05D53725}"/>
              </a:ext>
            </a:extLst>
          </p:cNvPr>
          <p:cNvSpPr>
            <a:spLocks noGrp="1"/>
          </p:cNvSpPr>
          <p:nvPr>
            <p:ph idx="1"/>
          </p:nvPr>
        </p:nvSpPr>
        <p:spPr/>
        <p:txBody>
          <a:bodyPr>
            <a:normAutofit/>
          </a:bodyPr>
          <a:lstStyle/>
          <a:p>
            <a:pPr marL="0" indent="0">
              <a:buNone/>
            </a:pPr>
            <a:r>
              <a:rPr lang="en-US" sz="1800" dirty="0">
                <a:latin typeface="Cambria" panose="02040503050406030204" pitchFamily="18" charset="0"/>
                <a:ea typeface="Cambria" panose="02040503050406030204" pitchFamily="18" charset="0"/>
              </a:rPr>
              <a:t>Find the type / nature of the variables below: </a:t>
            </a:r>
          </a:p>
          <a:p>
            <a:pPr marL="0" indent="0">
              <a:buNone/>
            </a:pP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Hair color of hair salon customers </a:t>
            </a:r>
            <a:r>
              <a:rPr lang="fr-FR" sz="1800" dirty="0">
                <a:latin typeface="Cambria" panose="02040503050406030204" pitchFamily="18" charset="0"/>
                <a:ea typeface="Cambria" panose="02040503050406030204" pitchFamily="18" charset="0"/>
                <a:sym typeface="Wingdings" panose="05000000000000000000" pitchFamily="2" charset="2"/>
              </a:rPr>
              <a:t> </a:t>
            </a:r>
          </a:p>
          <a:p>
            <a:r>
              <a:rPr lang="en-US" sz="1800" dirty="0">
                <a:latin typeface="Cambria" panose="02040503050406030204" pitchFamily="18" charset="0"/>
                <a:ea typeface="Cambria" panose="02040503050406030204" pitchFamily="18" charset="0"/>
                <a:sym typeface="Wingdings" panose="05000000000000000000" pitchFamily="2" charset="2"/>
              </a:rPr>
              <a:t>The level of customer satisfaction of a telephone operator </a:t>
            </a:r>
            <a:r>
              <a:rPr lang="fr-FR" sz="1800" dirty="0">
                <a:latin typeface="Cambria" panose="02040503050406030204" pitchFamily="18" charset="0"/>
                <a:ea typeface="Cambria" panose="02040503050406030204" pitchFamily="18" charset="0"/>
                <a:sym typeface="Wingdings" panose="05000000000000000000" pitchFamily="2" charset="2"/>
              </a:rPr>
              <a:t></a:t>
            </a:r>
          </a:p>
          <a:p>
            <a:r>
              <a:rPr lang="en-US" sz="1800" dirty="0">
                <a:latin typeface="Cambria" panose="02040503050406030204" pitchFamily="18" charset="0"/>
                <a:ea typeface="Cambria" panose="02040503050406030204" pitchFamily="18" charset="0"/>
              </a:rPr>
              <a:t>The number of people in Parisian households </a:t>
            </a:r>
            <a:r>
              <a:rPr lang="fr-FR" sz="1800" dirty="0">
                <a:latin typeface="Cambria" panose="02040503050406030204" pitchFamily="18" charset="0"/>
                <a:ea typeface="Cambria" panose="02040503050406030204" pitchFamily="18" charset="0"/>
                <a:sym typeface="Wingdings" panose="05000000000000000000" pitchFamily="2" charset="2"/>
              </a:rPr>
              <a:t></a:t>
            </a:r>
          </a:p>
          <a:p>
            <a:r>
              <a:rPr lang="en-US" sz="1800" dirty="0">
                <a:latin typeface="Cambria" panose="02040503050406030204" pitchFamily="18" charset="0"/>
                <a:ea typeface="Cambria" panose="02040503050406030204" pitchFamily="18" charset="0"/>
                <a:sym typeface="Wingdings" panose="05000000000000000000" pitchFamily="2" charset="2"/>
              </a:rPr>
              <a:t>The "exact" waiting time on the phone of customers before being answered by the technical service of an internet provider </a:t>
            </a:r>
            <a:r>
              <a:rPr lang="fr-FR" sz="1800" dirty="0">
                <a:latin typeface="Cambria" panose="02040503050406030204" pitchFamily="18" charset="0"/>
                <a:ea typeface="Cambria" panose="02040503050406030204" pitchFamily="18" charset="0"/>
                <a:sym typeface="Wingdings" panose="05000000000000000000" pitchFamily="2" charset="2"/>
              </a:rPr>
              <a:t></a:t>
            </a:r>
            <a:endParaRPr lang="fr-F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27762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4FC903-6086-4DA7-BB90-89710A2EA341}"/>
              </a:ext>
            </a:extLst>
          </p:cNvPr>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Examples</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922DB5E6-6035-4539-A1C7-11FB05D53725}"/>
              </a:ext>
            </a:extLst>
          </p:cNvPr>
          <p:cNvSpPr>
            <a:spLocks noGrp="1"/>
          </p:cNvSpPr>
          <p:nvPr>
            <p:ph idx="1"/>
          </p:nvPr>
        </p:nvSpPr>
        <p:spPr/>
        <p:txBody>
          <a:bodyPr>
            <a:normAutofit/>
          </a:bodyPr>
          <a:lstStyle/>
          <a:p>
            <a:r>
              <a:rPr lang="en-US" sz="1800" dirty="0">
                <a:latin typeface="Cambria" panose="02040503050406030204" pitchFamily="18" charset="0"/>
                <a:ea typeface="Cambria" panose="02040503050406030204" pitchFamily="18" charset="0"/>
              </a:rPr>
              <a:t>Hair color of hair salon customers </a:t>
            </a:r>
            <a:r>
              <a:rPr lang="fr-FR" sz="1800" dirty="0">
                <a:latin typeface="Cambria" panose="02040503050406030204" pitchFamily="18" charset="0"/>
                <a:ea typeface="Cambria" panose="02040503050406030204" pitchFamily="18" charset="0"/>
                <a:sym typeface="Wingdings" panose="05000000000000000000" pitchFamily="2" charset="2"/>
              </a:rPr>
              <a:t>  </a:t>
            </a:r>
            <a:r>
              <a:rPr lang="en-US" sz="1800" dirty="0">
                <a:latin typeface="Cambria" panose="02040503050406030204" pitchFamily="18" charset="0"/>
                <a:ea typeface="Cambria" panose="02040503050406030204" pitchFamily="18" charset="0"/>
              </a:rPr>
              <a:t> </a:t>
            </a:r>
            <a:r>
              <a:rPr lang="en-US" sz="1800" dirty="0">
                <a:solidFill>
                  <a:srgbClr val="FF0000"/>
                </a:solidFill>
                <a:latin typeface="Cambria" panose="02040503050406030204" pitchFamily="18" charset="0"/>
                <a:ea typeface="Cambria" panose="02040503050406030204" pitchFamily="18" charset="0"/>
              </a:rPr>
              <a:t>The answers are unordered qualities (It’s a qualitative nominal variable)</a:t>
            </a:r>
          </a:p>
          <a:p>
            <a:pPr marL="0" indent="0">
              <a:buNone/>
            </a:pPr>
            <a:endParaRPr lang="fr-FR" sz="1800" dirty="0">
              <a:latin typeface="Cambria" panose="02040503050406030204" pitchFamily="18" charset="0"/>
              <a:ea typeface="Cambria" panose="02040503050406030204" pitchFamily="18" charset="0"/>
              <a:sym typeface="Wingdings" panose="05000000000000000000" pitchFamily="2" charset="2"/>
            </a:endParaRPr>
          </a:p>
          <a:p>
            <a:r>
              <a:rPr lang="en-US" sz="1800" dirty="0">
                <a:latin typeface="Cambria" panose="02040503050406030204" pitchFamily="18" charset="0"/>
                <a:ea typeface="Cambria" panose="02040503050406030204" pitchFamily="18" charset="0"/>
                <a:sym typeface="Wingdings" panose="05000000000000000000" pitchFamily="2" charset="2"/>
              </a:rPr>
              <a:t>The level of customer satisfaction of a telephone operator </a:t>
            </a:r>
            <a:r>
              <a:rPr lang="fr-FR" sz="1800" dirty="0">
                <a:latin typeface="Cambria" panose="02040503050406030204" pitchFamily="18" charset="0"/>
                <a:ea typeface="Cambria" panose="02040503050406030204" pitchFamily="18" charset="0"/>
                <a:sym typeface="Wingdings" panose="05000000000000000000" pitchFamily="2" charset="2"/>
              </a:rPr>
              <a:t> </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The </a:t>
            </a:r>
            <a:r>
              <a:rPr lang="fr-FR" sz="1800" dirty="0" err="1">
                <a:solidFill>
                  <a:srgbClr val="FF0000"/>
                </a:solidFill>
                <a:latin typeface="Cambria" panose="02040503050406030204" pitchFamily="18" charset="0"/>
                <a:ea typeface="Cambria" panose="02040503050406030204" pitchFamily="18" charset="0"/>
                <a:sym typeface="Wingdings" panose="05000000000000000000" pitchFamily="2" charset="2"/>
              </a:rPr>
              <a:t>answers</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 (</a:t>
            </a:r>
            <a:r>
              <a:rPr lang="en-US" sz="1800" dirty="0">
                <a:solidFill>
                  <a:srgbClr val="FF0000"/>
                </a:solidFill>
                <a:latin typeface="Cambria" panose="02040503050406030204" pitchFamily="18" charset="0"/>
                <a:ea typeface="Cambria" panose="02040503050406030204" pitchFamily="18" charset="0"/>
                <a:sym typeface="Wingdings" panose="05000000000000000000" pitchFamily="2" charset="2"/>
              </a:rPr>
              <a:t>very dissatisfied / dissatisfied / satisfied / very satisfied) are qualities with a logical order (It’s an ordinal qualitative variable)</a:t>
            </a:r>
          </a:p>
          <a:p>
            <a:pPr marL="0" indent="0">
              <a:buNone/>
            </a:pPr>
            <a:endParaRPr lang="fr-FR" sz="1800" dirty="0">
              <a:latin typeface="Cambria" panose="02040503050406030204" pitchFamily="18" charset="0"/>
              <a:ea typeface="Cambria" panose="02040503050406030204" pitchFamily="18" charset="0"/>
              <a:sym typeface="Wingdings" panose="05000000000000000000" pitchFamily="2" charset="2"/>
            </a:endParaRPr>
          </a:p>
          <a:p>
            <a:r>
              <a:rPr lang="en-US" sz="1800" dirty="0">
                <a:latin typeface="Cambria" panose="02040503050406030204" pitchFamily="18" charset="0"/>
                <a:ea typeface="Cambria" panose="02040503050406030204" pitchFamily="18" charset="0"/>
              </a:rPr>
              <a:t>The number of people in Parisian households </a:t>
            </a:r>
            <a:r>
              <a:rPr lang="fr-FR" sz="1800" dirty="0">
                <a:latin typeface="Cambria" panose="02040503050406030204" pitchFamily="18" charset="0"/>
                <a:ea typeface="Cambria" panose="02040503050406030204" pitchFamily="18" charset="0"/>
                <a:sym typeface="Wingdings" panose="05000000000000000000" pitchFamily="2" charset="2"/>
              </a:rPr>
              <a:t> </a:t>
            </a:r>
            <a:r>
              <a:rPr lang="en-US" sz="1800" dirty="0">
                <a:solidFill>
                  <a:srgbClr val="FF0000"/>
                </a:solidFill>
                <a:latin typeface="Cambria" panose="02040503050406030204" pitchFamily="18" charset="0"/>
                <a:ea typeface="Cambria" panose="02040503050406030204" pitchFamily="18" charset="0"/>
                <a:sym typeface="Wingdings" panose="05000000000000000000" pitchFamily="2" charset="2"/>
              </a:rPr>
              <a:t>the answers are numbers, and the set of answers is finite or countable </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a:t>
            </a:r>
            <a:r>
              <a:rPr lang="fr-FR" sz="1800" dirty="0" err="1">
                <a:solidFill>
                  <a:srgbClr val="FF0000"/>
                </a:solidFill>
                <a:latin typeface="Cambria" panose="02040503050406030204" pitchFamily="18" charset="0"/>
                <a:ea typeface="Cambria" panose="02040503050406030204" pitchFamily="18" charset="0"/>
                <a:sym typeface="Wingdings" panose="05000000000000000000" pitchFamily="2" charset="2"/>
              </a:rPr>
              <a:t>It’s</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 a </a:t>
            </a:r>
            <a:r>
              <a:rPr lang="fr-FR" sz="1800" dirty="0" err="1">
                <a:solidFill>
                  <a:srgbClr val="FF0000"/>
                </a:solidFill>
                <a:latin typeface="Cambria" panose="02040503050406030204" pitchFamily="18" charset="0"/>
                <a:ea typeface="Cambria" panose="02040503050406030204" pitchFamily="18" charset="0"/>
                <a:sym typeface="Wingdings" panose="05000000000000000000" pitchFamily="2" charset="2"/>
              </a:rPr>
              <a:t>discrete</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 quantitative variable)</a:t>
            </a:r>
          </a:p>
          <a:p>
            <a:endParaRPr lang="fr-FR" sz="1800" dirty="0">
              <a:latin typeface="Cambria" panose="02040503050406030204" pitchFamily="18" charset="0"/>
              <a:ea typeface="Cambria" panose="02040503050406030204" pitchFamily="18" charset="0"/>
              <a:sym typeface="Wingdings" panose="05000000000000000000" pitchFamily="2" charset="2"/>
            </a:endParaRPr>
          </a:p>
          <a:p>
            <a:r>
              <a:rPr lang="en-US" sz="1800" dirty="0">
                <a:latin typeface="Cambria" panose="02040503050406030204" pitchFamily="18" charset="0"/>
                <a:ea typeface="Cambria" panose="02040503050406030204" pitchFamily="18" charset="0"/>
                <a:sym typeface="Wingdings" panose="05000000000000000000" pitchFamily="2" charset="2"/>
              </a:rPr>
              <a:t>The "exact" waiting time on the phone of customers before being answered by the technical service of an internet provider </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 </a:t>
            </a:r>
            <a:r>
              <a:rPr lang="en-US" sz="1800" dirty="0">
                <a:solidFill>
                  <a:srgbClr val="FF0000"/>
                </a:solidFill>
                <a:latin typeface="Cambria" panose="02040503050406030204" pitchFamily="18" charset="0"/>
                <a:ea typeface="Cambria" panose="02040503050406030204" pitchFamily="18" charset="0"/>
                <a:sym typeface="Wingdings" panose="05000000000000000000" pitchFamily="2" charset="2"/>
              </a:rPr>
              <a:t>the answers can be "any values" in an interval </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a:t>
            </a:r>
            <a:r>
              <a:rPr lang="fr-FR" sz="1800" dirty="0" err="1">
                <a:solidFill>
                  <a:srgbClr val="FF0000"/>
                </a:solidFill>
                <a:latin typeface="Cambria" panose="02040503050406030204" pitchFamily="18" charset="0"/>
                <a:ea typeface="Cambria" panose="02040503050406030204" pitchFamily="18" charset="0"/>
                <a:sym typeface="Wingdings" panose="05000000000000000000" pitchFamily="2" charset="2"/>
              </a:rPr>
              <a:t>It’s</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 a </a:t>
            </a:r>
            <a:r>
              <a:rPr lang="fr-FR" sz="1800" dirty="0" err="1">
                <a:solidFill>
                  <a:srgbClr val="FF0000"/>
                </a:solidFill>
                <a:latin typeface="Cambria" panose="02040503050406030204" pitchFamily="18" charset="0"/>
                <a:ea typeface="Cambria" panose="02040503050406030204" pitchFamily="18" charset="0"/>
                <a:sym typeface="Wingdings" panose="05000000000000000000" pitchFamily="2" charset="2"/>
              </a:rPr>
              <a:t>continuous</a:t>
            </a:r>
            <a:r>
              <a:rPr lang="fr-FR" sz="1800" dirty="0">
                <a:solidFill>
                  <a:srgbClr val="FF0000"/>
                </a:solidFill>
                <a:latin typeface="Cambria" panose="02040503050406030204" pitchFamily="18" charset="0"/>
                <a:ea typeface="Cambria" panose="02040503050406030204" pitchFamily="18" charset="0"/>
                <a:sym typeface="Wingdings" panose="05000000000000000000" pitchFamily="2" charset="2"/>
              </a:rPr>
              <a:t> quantitative variable)</a:t>
            </a:r>
          </a:p>
          <a:p>
            <a:pPr marL="0" indent="0">
              <a:buNone/>
            </a:pPr>
            <a:endParaRPr lang="fr-F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123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D3DBAA-B753-4584-85E3-3991CCF40AA3}"/>
              </a:ext>
            </a:extLst>
          </p:cNvPr>
          <p:cNvSpPr>
            <a:spLocks noGrp="1"/>
          </p:cNvSpPr>
          <p:nvPr>
            <p:ph type="title"/>
          </p:nvPr>
        </p:nvSpPr>
        <p:spPr/>
        <p:txBody>
          <a:bodyPr>
            <a:normAutofit fontScale="90000"/>
          </a:bodyPr>
          <a:lstStyle/>
          <a:p>
            <a:r>
              <a:rPr lang="en-ZA" dirty="0">
                <a:latin typeface="Cambria" panose="02040503050406030204" pitchFamily="18" charset="0"/>
                <a:ea typeface="Cambria" panose="02040503050406030204" pitchFamily="18" charset="0"/>
              </a:rPr>
              <a:t>Data representation </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22942A69-CA5A-44ED-ABE0-A159469C5274}"/>
                  </a:ext>
                </a:extLst>
              </p:cNvPr>
              <p:cNvSpPr>
                <a:spLocks noGrp="1"/>
              </p:cNvSpPr>
              <p:nvPr>
                <p:ph idx="1"/>
              </p:nvPr>
            </p:nvSpPr>
            <p:spPr>
              <a:xfrm>
                <a:off x="611560" y="1417638"/>
                <a:ext cx="8229600" cy="4525963"/>
              </a:xfrm>
            </p:spPr>
            <p:txBody>
              <a:bodyPr>
                <a:normAutofit fontScale="92500" lnSpcReduction="10000"/>
              </a:bodyPr>
              <a:lstStyle/>
              <a:p>
                <a:pPr marL="0" indent="0">
                  <a:buNone/>
                </a:pPr>
                <a:r>
                  <a:rPr lang="en-AU" dirty="0">
                    <a:latin typeface="Cambria" panose="02040503050406030204" pitchFamily="18" charset="0"/>
                    <a:ea typeface="Cambria" panose="02040503050406030204" pitchFamily="18" charset="0"/>
                  </a:rPr>
                  <a:t>Univariate data = Statistical series </a:t>
                </a:r>
              </a:p>
              <a:p>
                <a:pPr marL="0" indent="0">
                  <a:buNone/>
                </a:pPr>
                <a:r>
                  <a:rPr lang="en-US" sz="2000" dirty="0">
                    <a:latin typeface="Cambria" panose="02040503050406030204" pitchFamily="18" charset="0"/>
                    <a:ea typeface="Cambria" panose="02040503050406030204" pitchFamily="18" charset="0"/>
                  </a:rPr>
                  <a:t>A sequence of observations of a variable studied for all individuals in a population </a:t>
                </a:r>
                <a:r>
                  <a:rPr lang="fr-FR" sz="2000" dirty="0">
                    <a:latin typeface="Cambria" panose="02040503050406030204" pitchFamily="18" charset="0"/>
                    <a:ea typeface="Cambria" panose="02040503050406030204" pitchFamily="18" charset="0"/>
                  </a:rPr>
                  <a:t>or a part of the population</a:t>
                </a:r>
                <a:r>
                  <a:rPr lang="en-US" sz="2000" dirty="0">
                    <a:latin typeface="Cambria" panose="02040503050406030204" pitchFamily="18" charset="0"/>
                    <a:ea typeface="Cambria" panose="02040503050406030204" pitchFamily="18" charset="0"/>
                  </a:rPr>
                  <a:t>
</a:t>
                </a:r>
                <a:endParaRPr lang="fr-FR" sz="2000" dirty="0">
                  <a:latin typeface="Cambria" panose="02040503050406030204" pitchFamily="18" charset="0"/>
                  <a:ea typeface="Cambria" panose="02040503050406030204" pitchFamily="18" charset="0"/>
                </a:endParaRPr>
              </a:p>
              <a:p>
                <a:pPr marL="0" indent="0">
                  <a:buNone/>
                </a:pPr>
                <a:r>
                  <a:rPr lang="en-ZA" dirty="0">
                    <a:latin typeface="Cambria" panose="02040503050406030204" pitchFamily="18" charset="0"/>
                    <a:ea typeface="Cambria" panose="02040503050406030204" pitchFamily="18" charset="0"/>
                  </a:rPr>
                  <a:t>Total number </a:t>
                </a:r>
                <a:r>
                  <a:rPr lang="fr-FR" dirty="0">
                    <a:latin typeface="Cambria" panose="02040503050406030204" pitchFamily="18" charset="0"/>
                    <a:ea typeface="Cambria" panose="02040503050406030204" pitchFamily="18" charset="0"/>
                  </a:rPr>
                  <a:t>of observations = n</a:t>
                </a:r>
              </a:p>
              <a:p>
                <a:pPr marL="0" indent="0">
                  <a:buNone/>
                </a:pPr>
                <a:r>
                  <a:rPr lang="en-US" sz="2000" dirty="0">
                    <a:latin typeface="Cambria" panose="02040503050406030204" pitchFamily="18" charset="0"/>
                    <a:ea typeface="Cambria" panose="02040503050406030204" pitchFamily="18" charset="0"/>
                  </a:rPr>
                  <a:t>Number of individuals involved in the study 
</a:t>
                </a:r>
                <a:endParaRPr lang="fr-FR" sz="2000" dirty="0">
                  <a:latin typeface="Cambria" panose="02040503050406030204" pitchFamily="18" charset="0"/>
                  <a:ea typeface="Cambria" panose="02040503050406030204" pitchFamily="18" charset="0"/>
                </a:endParaRPr>
              </a:p>
              <a:p>
                <a:pPr marL="0" indent="0">
                  <a:buNone/>
                </a:pPr>
                <a:r>
                  <a:rPr lang="en-US" sz="2800" dirty="0">
                    <a:latin typeface="Cambria" panose="02040503050406030204" pitchFamily="18" charset="0"/>
                    <a:ea typeface="Cambria" panose="02040503050406030204" pitchFamily="18" charset="0"/>
                  </a:rPr>
                  <a:t>The data is usually collected in its </a:t>
                </a:r>
                <a:r>
                  <a:rPr lang="en-US" sz="2800" dirty="0">
                    <a:solidFill>
                      <a:srgbClr val="FF0000"/>
                    </a:solidFill>
                    <a:latin typeface="Cambria" panose="02040503050406030204" pitchFamily="18" charset="0"/>
                    <a:ea typeface="Cambria" panose="02040503050406030204" pitchFamily="18" charset="0"/>
                  </a:rPr>
                  <a:t>raw state </a:t>
                </a:r>
                <a:r>
                  <a:rPr lang="en-US" sz="2800" dirty="0">
                    <a:latin typeface="Cambria" panose="02040503050406030204" pitchFamily="18" charset="0"/>
                    <a:ea typeface="Cambria" panose="02040503050406030204" pitchFamily="18" charset="0"/>
                  </a:rPr>
                  <a:t>(without any particular organization / as a column in an Excel file), i.e. in the following form </a:t>
                </a:r>
                <a:r>
                  <a:rPr lang="fr-FR" sz="2800" dirty="0">
                    <a:effectLst/>
                    <a:latin typeface="Cambria" panose="02040503050406030204" pitchFamily="18" charset="0"/>
                    <a:ea typeface="Cambria" panose="02040503050406030204" pitchFamily="18" charset="0"/>
                  </a:rPr>
                  <a:t>:</a:t>
                </a:r>
              </a:p>
              <a:p>
                <a:pPr marL="0" indent="0" algn="ctr">
                  <a:buNone/>
                </a:pPr>
                <a14:m>
                  <m:oMathPara xmlns:m="http://schemas.openxmlformats.org/officeDocument/2006/math">
                    <m:oMathParaPr>
                      <m:jc m:val="centerGroup"/>
                    </m:oMathParaPr>
                    <m:oMath xmlns:m="http://schemas.openxmlformats.org/officeDocument/2006/math">
                      <m:sSub>
                        <m:sSubPr>
                          <m:ctrlPr>
                            <a:rPr lang="fr-FR" sz="280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1</m:t>
                          </m:r>
                        </m:sub>
                      </m:sSub>
                      <m:r>
                        <a:rPr lang="fr-FR" sz="2800" b="0" i="1" smtClean="0">
                          <a:latin typeface="Cambria Math" panose="02040503050406030204" pitchFamily="18" charset="0"/>
                          <a:ea typeface="Cambria" panose="02040503050406030204" pitchFamily="18" charset="0"/>
                        </a:rPr>
                        <m:t>, </m:t>
                      </m:r>
                      <m:sSub>
                        <m:sSubPr>
                          <m:ctrlPr>
                            <a:rPr lang="fr-FR" sz="2800" b="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2</m:t>
                          </m:r>
                        </m:sub>
                      </m:sSub>
                      <m:r>
                        <a:rPr lang="fr-FR" sz="2800" b="0" i="1" smtClean="0">
                          <a:latin typeface="Cambria Math" panose="02040503050406030204" pitchFamily="18" charset="0"/>
                          <a:ea typeface="Cambria" panose="02040503050406030204" pitchFamily="18" charset="0"/>
                        </a:rPr>
                        <m:t>, …, </m:t>
                      </m:r>
                      <m:sSub>
                        <m:sSubPr>
                          <m:ctrlPr>
                            <a:rPr lang="fr-FR" sz="2800" b="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𝑛</m:t>
                          </m:r>
                        </m:sub>
                      </m:sSub>
                    </m:oMath>
                  </m:oMathPara>
                </a14:m>
                <a:endParaRPr lang="fr-FR" sz="2800" dirty="0">
                  <a:latin typeface="Cambria" panose="02040503050406030204" pitchFamily="18" charset="0"/>
                  <a:ea typeface="Cambria" panose="02040503050406030204" pitchFamily="18" charset="0"/>
                </a:endParaRPr>
              </a:p>
              <a:p>
                <a:pPr marL="0" indent="0">
                  <a:buNone/>
                </a:pPr>
                <a:r>
                  <a:rPr lang="en-ZA" sz="2800" dirty="0">
                    <a:latin typeface="Cambria" panose="02040503050406030204" pitchFamily="18" charset="0"/>
                    <a:ea typeface="Cambria" panose="02040503050406030204" pitchFamily="18" charset="0"/>
                  </a:rPr>
                  <a:t>Where</a:t>
                </a:r>
                <a:r>
                  <a:rPr lang="fr-FR" sz="2800" dirty="0">
                    <a:latin typeface="Cambria" panose="02040503050406030204" pitchFamily="18" charset="0"/>
                    <a:ea typeface="Cambria" panose="02040503050406030204" pitchFamily="18" charset="0"/>
                  </a:rPr>
                  <a:t> </a:t>
                </a:r>
                <a14:m>
                  <m:oMath xmlns:m="http://schemas.openxmlformats.org/officeDocument/2006/math">
                    <m:sSub>
                      <m:sSubPr>
                        <m:ctrlPr>
                          <a:rPr lang="fr-FR" sz="280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𝑖</m:t>
                        </m:r>
                      </m:sub>
                    </m:sSub>
                  </m:oMath>
                </a14:m>
                <a:r>
                  <a:rPr lang="fr-FR"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is the "answer" of the i-th individual </a:t>
                </a:r>
                <a:endParaRPr lang="fr-FR" sz="2800" dirty="0">
                  <a:latin typeface="Cambria" panose="02040503050406030204" pitchFamily="18" charset="0"/>
                  <a:ea typeface="Cambria" panose="02040503050406030204" pitchFamily="18" charset="0"/>
                </a:endParaRPr>
              </a:p>
            </p:txBody>
          </p:sp>
        </mc:Choice>
        <mc:Fallback>
          <p:sp>
            <p:nvSpPr>
              <p:cNvPr id="3" name="Espace réservé du contenu 2">
                <a:extLst>
                  <a:ext uri="{FF2B5EF4-FFF2-40B4-BE49-F238E27FC236}">
                    <a16:creationId xmlns:a16="http://schemas.microsoft.com/office/drawing/2014/main" id="{22942A69-CA5A-44ED-ABE0-A159469C5274}"/>
                  </a:ext>
                </a:extLst>
              </p:cNvPr>
              <p:cNvSpPr>
                <a:spLocks noGrp="1" noRot="1" noChangeAspect="1" noMove="1" noResize="1" noEditPoints="1" noAdjustHandles="1" noChangeArrowheads="1" noChangeShapeType="1" noTextEdit="1"/>
              </p:cNvSpPr>
              <p:nvPr>
                <p:ph idx="1"/>
              </p:nvPr>
            </p:nvSpPr>
            <p:spPr>
              <a:xfrm>
                <a:off x="611560" y="1417638"/>
                <a:ext cx="8229600" cy="4525963"/>
              </a:xfrm>
              <a:blipFill>
                <a:blip r:embed="rId2"/>
                <a:stretch>
                  <a:fillRect l="-1704" t="-2830" r="-1259" b="-3235"/>
                </a:stretch>
              </a:blipFill>
            </p:spPr>
            <p:txBody>
              <a:bodyPr/>
              <a:lstStyle/>
              <a:p>
                <a:r>
                  <a:rPr lang="fr-FR">
                    <a:noFill/>
                  </a:rPr>
                  <a:t> </a:t>
                </a:r>
              </a:p>
            </p:txBody>
          </p:sp>
        </mc:Fallback>
      </mc:AlternateContent>
    </p:spTree>
    <p:extLst>
      <p:ext uri="{BB962C8B-B14F-4D97-AF65-F5344CB8AC3E}">
        <p14:creationId xmlns:p14="http://schemas.microsoft.com/office/powerpoint/2010/main" val="2131802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D04328-F07C-4D4D-93F6-3C0094764136}"/>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Table </a:t>
            </a:r>
            <a:r>
              <a:rPr lang="fr-FR" dirty="0" err="1">
                <a:latin typeface="Cambria" panose="02040503050406030204" pitchFamily="18" charset="0"/>
                <a:ea typeface="Cambria" panose="02040503050406030204" pitchFamily="18" charset="0"/>
              </a:rPr>
              <a:t>summary</a:t>
            </a:r>
            <a:r>
              <a:rPr lang="fr-FR" dirty="0">
                <a:latin typeface="Cambria" panose="02040503050406030204" pitchFamily="18" charset="0"/>
                <a:ea typeface="Cambria" panose="02040503050406030204" pitchFamily="18" charset="0"/>
              </a:rPr>
              <a:t> 
</a:t>
            </a:r>
          </a:p>
        </p:txBody>
      </p:sp>
      <p:sp>
        <p:nvSpPr>
          <p:cNvPr id="3" name="Espace réservé du contenu 2">
            <a:extLst>
              <a:ext uri="{FF2B5EF4-FFF2-40B4-BE49-F238E27FC236}">
                <a16:creationId xmlns:a16="http://schemas.microsoft.com/office/drawing/2014/main" id="{173F0DFE-7483-4FDC-861F-B53F4A16F5E4}"/>
              </a:ext>
            </a:extLst>
          </p:cNvPr>
          <p:cNvSpPr>
            <a:spLocks noGrp="1"/>
          </p:cNvSpPr>
          <p:nvPr>
            <p:ph idx="1"/>
          </p:nvPr>
        </p:nvSpPr>
        <p:spPr>
          <a:xfrm>
            <a:off x="132656" y="1417638"/>
            <a:ext cx="9011344" cy="4525963"/>
          </a:xfrm>
        </p:spPr>
        <p:txBody>
          <a:bodyPr>
            <a:normAutofit/>
          </a:bodyPr>
          <a:lstStyle/>
          <a:p>
            <a:pPr marL="0" indent="0">
              <a:buNone/>
            </a:pPr>
            <a:r>
              <a:rPr lang="en-US" sz="2400" dirty="0">
                <a:latin typeface="Cambria" panose="02040503050406030204" pitchFamily="18" charset="0"/>
                <a:ea typeface="Cambria" panose="02040503050406030204" pitchFamily="18" charset="0"/>
              </a:rPr>
              <a:t>A modality is a category of answers obtained/observed
</a:t>
            </a:r>
            <a:r>
              <a:rPr lang="fr-FR" sz="2400" dirty="0">
                <a:effectLst/>
                <a:latin typeface="Cambria" panose="02040503050406030204" pitchFamily="18" charset="0"/>
                <a:ea typeface="Cambria" panose="02040503050406030204" pitchFamily="18" charset="0"/>
              </a:rPr>
              <a:t> </a:t>
            </a:r>
            <a:endParaRPr lang="fr-FR" sz="2400" dirty="0">
              <a:latin typeface="Cambria" panose="02040503050406030204" pitchFamily="18" charset="0"/>
              <a:ea typeface="Cambria" panose="02040503050406030204" pitchFamily="18" charset="0"/>
            </a:endParaRPr>
          </a:p>
        </p:txBody>
      </p:sp>
      <p:sp>
        <p:nvSpPr>
          <p:cNvPr id="4" name="Flèche : angle droit 3">
            <a:extLst>
              <a:ext uri="{FF2B5EF4-FFF2-40B4-BE49-F238E27FC236}">
                <a16:creationId xmlns:a16="http://schemas.microsoft.com/office/drawing/2014/main" id="{7E09EBE6-4EC8-4FA7-ABB9-41EDDDE81B3D}"/>
              </a:ext>
            </a:extLst>
          </p:cNvPr>
          <p:cNvSpPr/>
          <p:nvPr/>
        </p:nvSpPr>
        <p:spPr>
          <a:xfrm rot="5400000">
            <a:off x="397764" y="2120284"/>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0EE741EE-5EF6-4D30-834A-ACB6DF131A1E}"/>
              </a:ext>
            </a:extLst>
          </p:cNvPr>
          <p:cNvSpPr txBox="1"/>
          <p:nvPr/>
        </p:nvSpPr>
        <p:spPr>
          <a:xfrm>
            <a:off x="1979712" y="2636912"/>
            <a:ext cx="6408712" cy="646331"/>
          </a:xfrm>
          <a:prstGeom prst="rect">
            <a:avLst/>
          </a:prstGeom>
          <a:noFill/>
        </p:spPr>
        <p:txBody>
          <a:bodyPr wrap="square" rtlCol="0">
            <a:spAutoFit/>
          </a:bodyPr>
          <a:lstStyle/>
          <a:p>
            <a:r>
              <a:rPr lang="en-US" dirty="0">
                <a:highlight>
                  <a:srgbClr val="FFFF00"/>
                </a:highlight>
                <a:latin typeface="Cambria" panose="02040503050406030204" pitchFamily="18" charset="0"/>
                <a:ea typeface="Cambria" panose="02040503050406030204" pitchFamily="18" charset="0"/>
              </a:rPr>
              <a:t>There are k modalities, where k is an integer between 1 and n
</a:t>
            </a:r>
            <a:endParaRPr lang="fr-FR" dirty="0">
              <a:highlight>
                <a:srgbClr val="FFFF00"/>
              </a:highlight>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graphicFrame>
            <p:nvGraphicFramePr>
              <p:cNvPr id="7" name="Tableau 7">
                <a:extLst>
                  <a:ext uri="{FF2B5EF4-FFF2-40B4-BE49-F238E27FC236}">
                    <a16:creationId xmlns:a16="http://schemas.microsoft.com/office/drawing/2014/main" id="{49D4F1EC-90ED-4143-B2CB-3B7C6E8C43CB}"/>
                  </a:ext>
                </a:extLst>
              </p:cNvPr>
              <p:cNvGraphicFramePr>
                <a:graphicFrameLocks noGrp="1"/>
              </p:cNvGraphicFramePr>
              <p:nvPr>
                <p:extLst>
                  <p:ext uri="{D42A27DB-BD31-4B8C-83A1-F6EECF244321}">
                    <p14:modId xmlns:p14="http://schemas.microsoft.com/office/powerpoint/2010/main" val="2466034852"/>
                  </p:ext>
                </p:extLst>
              </p:nvPr>
            </p:nvGraphicFramePr>
            <p:xfrm>
              <a:off x="2555776" y="3657377"/>
              <a:ext cx="4572000" cy="2758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71110681"/>
                        </a:ext>
                      </a:extLst>
                    </a:gridCol>
                    <a:gridCol w="1524000">
                      <a:extLst>
                        <a:ext uri="{9D8B030D-6E8A-4147-A177-3AD203B41FA5}">
                          <a16:colId xmlns:a16="http://schemas.microsoft.com/office/drawing/2014/main" val="1710144086"/>
                        </a:ext>
                      </a:extLst>
                    </a:gridCol>
                    <a:gridCol w="1524000">
                      <a:extLst>
                        <a:ext uri="{9D8B030D-6E8A-4147-A177-3AD203B41FA5}">
                          <a16:colId xmlns:a16="http://schemas.microsoft.com/office/drawing/2014/main" val="1685914369"/>
                        </a:ext>
                      </a:extLst>
                    </a:gridCol>
                  </a:tblGrid>
                  <a:tr h="370840">
                    <a:tc>
                      <a:txBody>
                        <a:bodyPr/>
                        <a:lstStyle/>
                        <a:p>
                          <a:r>
                            <a:rPr lang="en-ZA" noProof="0" dirty="0">
                              <a:latin typeface="Cambria" panose="02040503050406030204" pitchFamily="18" charset="0"/>
                              <a:ea typeface="Cambria" panose="02040503050406030204" pitchFamily="18" charset="0"/>
                            </a:rPr>
                            <a:t>Modalities</a:t>
                          </a:r>
                        </a:p>
                      </a:txBody>
                      <a:tcPr/>
                    </a:tc>
                    <a:tc>
                      <a:txBody>
                        <a:bodyPr/>
                        <a:lstStyle/>
                        <a:p>
                          <a14:m>
                            <m:oMath xmlns:m="http://schemas.openxmlformats.org/officeDocument/2006/math">
                              <m:sSub>
                                <m:sSubPr>
                                  <m:ctrlPr>
                                    <a:rPr lang="fr-FR" i="1" smtClean="0">
                                      <a:latin typeface="Cambria Math" panose="02040503050406030204" pitchFamily="18" charset="0"/>
                                    </a:rPr>
                                  </m:ctrlPr>
                                </m:sSubPr>
                                <m:e>
                                  <m:r>
                                    <a:rPr lang="fr-FR" b="1" i="1" smtClean="0">
                                      <a:latin typeface="Cambria Math" panose="02040503050406030204" pitchFamily="18" charset="0"/>
                                    </a:rPr>
                                    <m:t>𝒏</m:t>
                                  </m:r>
                                </m:e>
                                <m:sub>
                                  <m:r>
                                    <a:rPr lang="fr-FR" b="1" i="1" smtClean="0">
                                      <a:latin typeface="Cambria Math" panose="02040503050406030204" pitchFamily="18" charset="0"/>
                                    </a:rPr>
                                    <m:t>𝒊</m:t>
                                  </m:r>
                                </m:sub>
                              </m:sSub>
                            </m:oMath>
                          </a14:m>
                          <a:r>
                            <a:rPr lang="fr-FR" dirty="0">
                              <a:latin typeface="Cambria" panose="02040503050406030204" pitchFamily="18" charset="0"/>
                              <a:ea typeface="Cambria" panose="02040503050406030204" pitchFamily="18" charset="0"/>
                            </a:rPr>
                            <a:t> </a:t>
                          </a:r>
                          <a:r>
                            <a:rPr lang="en-ZA" noProof="0" dirty="0">
                              <a:latin typeface="Cambria" panose="02040503050406030204" pitchFamily="18" charset="0"/>
                              <a:ea typeface="Cambria" panose="02040503050406030204" pitchFamily="18" charset="0"/>
                            </a:rPr>
                            <a:t>absolute frequencies</a:t>
                          </a:r>
                        </a:p>
                      </a:txBody>
                      <a:tcPr/>
                    </a:tc>
                    <a:tc>
                      <a:txBody>
                        <a:bodyPr/>
                        <a:lstStyle/>
                        <a:p>
                          <a14:m>
                            <m:oMath xmlns:m="http://schemas.openxmlformats.org/officeDocument/2006/math">
                              <m:sSub>
                                <m:sSubPr>
                                  <m:ctrlPr>
                                    <a:rPr lang="fr-FR" i="1" smtClean="0">
                                      <a:latin typeface="Cambria Math" panose="02040503050406030204" pitchFamily="18" charset="0"/>
                                    </a:rPr>
                                  </m:ctrlPr>
                                </m:sSubPr>
                                <m:e>
                                  <m:r>
                                    <a:rPr lang="fr-FR" b="1" i="1" smtClean="0">
                                      <a:latin typeface="Cambria Math" panose="02040503050406030204" pitchFamily="18" charset="0"/>
                                    </a:rPr>
                                    <m:t>𝒇</m:t>
                                  </m:r>
                                </m:e>
                                <m:sub>
                                  <m:r>
                                    <a:rPr lang="fr-FR" b="1" i="1" smtClean="0">
                                      <a:latin typeface="Cambria Math" panose="02040503050406030204" pitchFamily="18" charset="0"/>
                                    </a:rPr>
                                    <m:t>𝒊</m:t>
                                  </m:r>
                                </m:sub>
                              </m:sSub>
                            </m:oMath>
                          </a14:m>
                          <a:r>
                            <a:rPr lang="fr-FR" dirty="0">
                              <a:latin typeface="Cambria" panose="02040503050406030204" pitchFamily="18" charset="0"/>
                              <a:ea typeface="Cambria" panose="02040503050406030204" pitchFamily="18" charset="0"/>
                            </a:rPr>
                            <a:t> </a:t>
                          </a:r>
                          <a:r>
                            <a:rPr lang="en-ZA" noProof="0" dirty="0">
                              <a:latin typeface="Cambria" panose="02040503050406030204" pitchFamily="18" charset="0"/>
                              <a:ea typeface="Cambria" panose="02040503050406030204" pitchFamily="18" charset="0"/>
                            </a:rPr>
                            <a:t>relative frequencies</a:t>
                          </a:r>
                        </a:p>
                      </a:txBody>
                      <a:tcPr/>
                    </a:tc>
                    <a:extLst>
                      <a:ext uri="{0D108BD9-81ED-4DB2-BD59-A6C34878D82A}">
                        <a16:rowId xmlns:a16="http://schemas.microsoft.com/office/drawing/2014/main" val="4211700389"/>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798996807"/>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839807845"/>
                      </a:ext>
                    </a:extLst>
                  </a:tr>
                  <a:tr h="370840">
                    <a:tc>
                      <a:txBody>
                        <a:bodyPr/>
                        <a:lstStyle/>
                        <a:p>
                          <a:pPr algn="ct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p>
                          <a:pPr algn="ctr"/>
                          <a:endParaRPr lang="fr-FR" b="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36779345"/>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1539034089"/>
                      </a:ext>
                    </a:extLst>
                  </a:tr>
                  <a:tr h="149671">
                    <a:tc>
                      <a:txBody>
                        <a:bodyPr/>
                        <a:lstStyle/>
                        <a:p>
                          <a:pPr algn="ctr"/>
                          <a:r>
                            <a:rPr lang="fr-FR" b="1" dirty="0">
                              <a:latin typeface="Cambria" panose="02040503050406030204" pitchFamily="18" charset="0"/>
                              <a:ea typeface="Cambria" panose="02040503050406030204" pitchFamily="18" charset="0"/>
                            </a:rPr>
                            <a:t>Total </a:t>
                          </a:r>
                        </a:p>
                      </a:txBody>
                      <a:tcPr/>
                    </a:tc>
                    <a:tc>
                      <a:txBody>
                        <a:bodyPr/>
                        <a:lstStyle/>
                        <a:p>
                          <a:pPr algn="ctr"/>
                          <a:r>
                            <a:rPr lang="fr-FR" b="1" dirty="0">
                              <a:latin typeface="Cambria" panose="02040503050406030204" pitchFamily="18" charset="0"/>
                              <a:ea typeface="Cambria" panose="02040503050406030204" pitchFamily="18" charset="0"/>
                            </a:rPr>
                            <a:t>n</a:t>
                          </a:r>
                        </a:p>
                      </a:txBody>
                      <a:tcPr/>
                    </a:tc>
                    <a:tc>
                      <a:txBody>
                        <a:bodyPr/>
                        <a:lstStyle/>
                        <a:p>
                          <a:pPr algn="ctr"/>
                          <a:r>
                            <a:rPr lang="fr-FR" b="1" dirty="0">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3139986627"/>
                      </a:ext>
                    </a:extLst>
                  </a:tr>
                </a:tbl>
              </a:graphicData>
            </a:graphic>
          </p:graphicFrame>
        </mc:Choice>
        <mc:Fallback>
          <p:graphicFrame>
            <p:nvGraphicFramePr>
              <p:cNvPr id="7" name="Tableau 7">
                <a:extLst>
                  <a:ext uri="{FF2B5EF4-FFF2-40B4-BE49-F238E27FC236}">
                    <a16:creationId xmlns:a16="http://schemas.microsoft.com/office/drawing/2014/main" id="{49D4F1EC-90ED-4143-B2CB-3B7C6E8C43CB}"/>
                  </a:ext>
                </a:extLst>
              </p:cNvPr>
              <p:cNvGraphicFramePr>
                <a:graphicFrameLocks noGrp="1"/>
              </p:cNvGraphicFramePr>
              <p:nvPr>
                <p:extLst>
                  <p:ext uri="{D42A27DB-BD31-4B8C-83A1-F6EECF244321}">
                    <p14:modId xmlns:p14="http://schemas.microsoft.com/office/powerpoint/2010/main" val="2466034852"/>
                  </p:ext>
                </p:extLst>
              </p:nvPr>
            </p:nvGraphicFramePr>
            <p:xfrm>
              <a:off x="2555776" y="3657377"/>
              <a:ext cx="4572000" cy="2758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71110681"/>
                        </a:ext>
                      </a:extLst>
                    </a:gridCol>
                    <a:gridCol w="1524000">
                      <a:extLst>
                        <a:ext uri="{9D8B030D-6E8A-4147-A177-3AD203B41FA5}">
                          <a16:colId xmlns:a16="http://schemas.microsoft.com/office/drawing/2014/main" val="1710144086"/>
                        </a:ext>
                      </a:extLst>
                    </a:gridCol>
                    <a:gridCol w="1524000">
                      <a:extLst>
                        <a:ext uri="{9D8B030D-6E8A-4147-A177-3AD203B41FA5}">
                          <a16:colId xmlns:a16="http://schemas.microsoft.com/office/drawing/2014/main" val="1685914369"/>
                        </a:ext>
                      </a:extLst>
                    </a:gridCol>
                  </a:tblGrid>
                  <a:tr h="640080">
                    <a:tc>
                      <a:txBody>
                        <a:bodyPr/>
                        <a:lstStyle/>
                        <a:p>
                          <a:r>
                            <a:rPr lang="en-ZA" noProof="0" dirty="0">
                              <a:latin typeface="Cambria" panose="02040503050406030204" pitchFamily="18" charset="0"/>
                              <a:ea typeface="Cambria" panose="02040503050406030204" pitchFamily="18" charset="0"/>
                            </a:rPr>
                            <a:t>Modalities</a:t>
                          </a:r>
                        </a:p>
                      </a:txBody>
                      <a:tcPr/>
                    </a:tc>
                    <a:tc>
                      <a:txBody>
                        <a:bodyPr/>
                        <a:lstStyle/>
                        <a:p>
                          <a:endParaRPr lang="fr-FR"/>
                        </a:p>
                      </a:txBody>
                      <a:tcPr>
                        <a:blipFill>
                          <a:blip r:embed="rId2"/>
                          <a:stretch>
                            <a:fillRect l="-100000" t="-5714" r="-101195" b="-345714"/>
                          </a:stretch>
                        </a:blipFill>
                      </a:tcPr>
                    </a:tc>
                    <a:tc>
                      <a:txBody>
                        <a:bodyPr/>
                        <a:lstStyle/>
                        <a:p>
                          <a:endParaRPr lang="fr-FR"/>
                        </a:p>
                      </a:txBody>
                      <a:tcPr>
                        <a:blipFill>
                          <a:blip r:embed="rId2"/>
                          <a:stretch>
                            <a:fillRect l="-200800" t="-5714" r="-1600" b="-345714"/>
                          </a:stretch>
                        </a:blipFill>
                      </a:tcPr>
                    </a:tc>
                    <a:extLst>
                      <a:ext uri="{0D108BD9-81ED-4DB2-BD59-A6C34878D82A}">
                        <a16:rowId xmlns:a16="http://schemas.microsoft.com/office/drawing/2014/main" val="4211700389"/>
                      </a:ext>
                    </a:extLst>
                  </a:tr>
                  <a:tr h="370840">
                    <a:tc>
                      <a:txBody>
                        <a:bodyPr/>
                        <a:lstStyle/>
                        <a:p>
                          <a:endParaRPr lang="fr-FR"/>
                        </a:p>
                      </a:txBody>
                      <a:tcPr>
                        <a:blipFill>
                          <a:blip r:embed="rId2"/>
                          <a:stretch>
                            <a:fillRect l="-400" t="-181967" r="-202000" b="-495082"/>
                          </a:stretch>
                        </a:blipFill>
                      </a:tcPr>
                    </a:tc>
                    <a:tc>
                      <a:txBody>
                        <a:bodyPr/>
                        <a:lstStyle/>
                        <a:p>
                          <a:endParaRPr lang="fr-FR"/>
                        </a:p>
                      </a:txBody>
                      <a:tcPr>
                        <a:blipFill>
                          <a:blip r:embed="rId2"/>
                          <a:stretch>
                            <a:fillRect l="-100000" t="-181967" r="-101195" b="-495082"/>
                          </a:stretch>
                        </a:blipFill>
                      </a:tcPr>
                    </a:tc>
                    <a:tc>
                      <a:txBody>
                        <a:bodyPr/>
                        <a:lstStyle/>
                        <a:p>
                          <a:endParaRPr lang="fr-FR"/>
                        </a:p>
                      </a:txBody>
                      <a:tcPr>
                        <a:blipFill>
                          <a:blip r:embed="rId2"/>
                          <a:stretch>
                            <a:fillRect l="-200800" t="-181967" r="-1600" b="-495082"/>
                          </a:stretch>
                        </a:blipFill>
                      </a:tcPr>
                    </a:tc>
                    <a:extLst>
                      <a:ext uri="{0D108BD9-81ED-4DB2-BD59-A6C34878D82A}">
                        <a16:rowId xmlns:a16="http://schemas.microsoft.com/office/drawing/2014/main" val="798996807"/>
                      </a:ext>
                    </a:extLst>
                  </a:tr>
                  <a:tr h="370840">
                    <a:tc>
                      <a:txBody>
                        <a:bodyPr/>
                        <a:lstStyle/>
                        <a:p>
                          <a:endParaRPr lang="fr-FR"/>
                        </a:p>
                      </a:txBody>
                      <a:tcPr>
                        <a:blipFill>
                          <a:blip r:embed="rId2"/>
                          <a:stretch>
                            <a:fillRect l="-400" t="-281967" r="-202000" b="-395082"/>
                          </a:stretch>
                        </a:blipFill>
                      </a:tcPr>
                    </a:tc>
                    <a:tc>
                      <a:txBody>
                        <a:bodyPr/>
                        <a:lstStyle/>
                        <a:p>
                          <a:endParaRPr lang="fr-FR"/>
                        </a:p>
                      </a:txBody>
                      <a:tcPr>
                        <a:blipFill>
                          <a:blip r:embed="rId2"/>
                          <a:stretch>
                            <a:fillRect l="-100000" t="-281967" r="-101195" b="-395082"/>
                          </a:stretch>
                        </a:blipFill>
                      </a:tcPr>
                    </a:tc>
                    <a:tc>
                      <a:txBody>
                        <a:bodyPr/>
                        <a:lstStyle/>
                        <a:p>
                          <a:endParaRPr lang="fr-FR"/>
                        </a:p>
                      </a:txBody>
                      <a:tcPr>
                        <a:blipFill>
                          <a:blip r:embed="rId2"/>
                          <a:stretch>
                            <a:fillRect l="-200800" t="-281967" r="-1600" b="-395082"/>
                          </a:stretch>
                        </a:blipFill>
                      </a:tcPr>
                    </a:tc>
                    <a:extLst>
                      <a:ext uri="{0D108BD9-81ED-4DB2-BD59-A6C34878D82A}">
                        <a16:rowId xmlns:a16="http://schemas.microsoft.com/office/drawing/2014/main" val="839807845"/>
                      </a:ext>
                    </a:extLst>
                  </a:tr>
                  <a:tr h="640080">
                    <a:tc>
                      <a:txBody>
                        <a:bodyPr/>
                        <a:lstStyle/>
                        <a:p>
                          <a:endParaRPr lang="fr-FR"/>
                        </a:p>
                      </a:txBody>
                      <a:tcPr>
                        <a:blipFill>
                          <a:blip r:embed="rId2"/>
                          <a:stretch>
                            <a:fillRect l="-400" t="-219811" r="-202000" b="-127358"/>
                          </a:stretch>
                        </a:blipFill>
                      </a:tcPr>
                    </a:tc>
                    <a:tc>
                      <a:txBody>
                        <a:bodyPr/>
                        <a:lstStyle/>
                        <a:p>
                          <a:endParaRPr lang="fr-FR"/>
                        </a:p>
                      </a:txBody>
                      <a:tcPr>
                        <a:blipFill>
                          <a:blip r:embed="rId2"/>
                          <a:stretch>
                            <a:fillRect l="-100000" t="-219811" r="-101195" b="-127358"/>
                          </a:stretch>
                        </a:blipFill>
                      </a:tcPr>
                    </a:tc>
                    <a:tc>
                      <a:txBody>
                        <a:bodyPr/>
                        <a:lstStyle/>
                        <a:p>
                          <a:endParaRPr lang="fr-FR"/>
                        </a:p>
                      </a:txBody>
                      <a:tcPr>
                        <a:blipFill>
                          <a:blip r:embed="rId2"/>
                          <a:stretch>
                            <a:fillRect l="-200800" t="-219811" r="-1600" b="-127358"/>
                          </a:stretch>
                        </a:blipFill>
                      </a:tcPr>
                    </a:tc>
                    <a:extLst>
                      <a:ext uri="{0D108BD9-81ED-4DB2-BD59-A6C34878D82A}">
                        <a16:rowId xmlns:a16="http://schemas.microsoft.com/office/drawing/2014/main" val="3736779345"/>
                      </a:ext>
                    </a:extLst>
                  </a:tr>
                  <a:tr h="370840">
                    <a:tc>
                      <a:txBody>
                        <a:bodyPr/>
                        <a:lstStyle/>
                        <a:p>
                          <a:endParaRPr lang="fr-FR"/>
                        </a:p>
                      </a:txBody>
                      <a:tcPr>
                        <a:blipFill>
                          <a:blip r:embed="rId2"/>
                          <a:stretch>
                            <a:fillRect l="-400" t="-555738" r="-202000" b="-121311"/>
                          </a:stretch>
                        </a:blipFill>
                      </a:tcPr>
                    </a:tc>
                    <a:tc>
                      <a:txBody>
                        <a:bodyPr/>
                        <a:lstStyle/>
                        <a:p>
                          <a:endParaRPr lang="fr-FR"/>
                        </a:p>
                      </a:txBody>
                      <a:tcPr>
                        <a:blipFill>
                          <a:blip r:embed="rId2"/>
                          <a:stretch>
                            <a:fillRect l="-100000" t="-555738" r="-101195" b="-121311"/>
                          </a:stretch>
                        </a:blipFill>
                      </a:tcPr>
                    </a:tc>
                    <a:tc>
                      <a:txBody>
                        <a:bodyPr/>
                        <a:lstStyle/>
                        <a:p>
                          <a:endParaRPr lang="fr-FR"/>
                        </a:p>
                      </a:txBody>
                      <a:tcPr>
                        <a:blipFill>
                          <a:blip r:embed="rId2"/>
                          <a:stretch>
                            <a:fillRect l="-200800" t="-555738" r="-1600" b="-121311"/>
                          </a:stretch>
                        </a:blipFill>
                      </a:tcPr>
                    </a:tc>
                    <a:extLst>
                      <a:ext uri="{0D108BD9-81ED-4DB2-BD59-A6C34878D82A}">
                        <a16:rowId xmlns:a16="http://schemas.microsoft.com/office/drawing/2014/main" val="1539034089"/>
                      </a:ext>
                    </a:extLst>
                  </a:tr>
                  <a:tr h="365760">
                    <a:tc>
                      <a:txBody>
                        <a:bodyPr/>
                        <a:lstStyle/>
                        <a:p>
                          <a:pPr algn="ctr"/>
                          <a:r>
                            <a:rPr lang="fr-FR" b="1" dirty="0">
                              <a:latin typeface="Cambria" panose="02040503050406030204" pitchFamily="18" charset="0"/>
                              <a:ea typeface="Cambria" panose="02040503050406030204" pitchFamily="18" charset="0"/>
                            </a:rPr>
                            <a:t>Total </a:t>
                          </a:r>
                        </a:p>
                      </a:txBody>
                      <a:tcPr/>
                    </a:tc>
                    <a:tc>
                      <a:txBody>
                        <a:bodyPr/>
                        <a:lstStyle/>
                        <a:p>
                          <a:pPr algn="ctr"/>
                          <a:r>
                            <a:rPr lang="fr-FR" b="1" dirty="0">
                              <a:latin typeface="Cambria" panose="02040503050406030204" pitchFamily="18" charset="0"/>
                              <a:ea typeface="Cambria" panose="02040503050406030204" pitchFamily="18" charset="0"/>
                            </a:rPr>
                            <a:t>n</a:t>
                          </a:r>
                        </a:p>
                      </a:txBody>
                      <a:tcPr/>
                    </a:tc>
                    <a:tc>
                      <a:txBody>
                        <a:bodyPr/>
                        <a:lstStyle/>
                        <a:p>
                          <a:pPr algn="ctr"/>
                          <a:r>
                            <a:rPr lang="fr-FR" b="1" dirty="0">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3139986627"/>
                      </a:ext>
                    </a:extLst>
                  </a:tr>
                </a:tbl>
              </a:graphicData>
            </a:graphic>
          </p:graphicFrame>
        </mc:Fallback>
      </mc:AlternateContent>
      <p:sp>
        <p:nvSpPr>
          <p:cNvPr id="8" name="Bulle narrative : ronde 7">
            <a:extLst>
              <a:ext uri="{FF2B5EF4-FFF2-40B4-BE49-F238E27FC236}">
                <a16:creationId xmlns:a16="http://schemas.microsoft.com/office/drawing/2014/main" id="{4A32A5C4-3E96-437A-8C28-F86C7EBBA6F7}"/>
              </a:ext>
            </a:extLst>
          </p:cNvPr>
          <p:cNvSpPr/>
          <p:nvPr/>
        </p:nvSpPr>
        <p:spPr>
          <a:xfrm>
            <a:off x="146795" y="3230414"/>
            <a:ext cx="1944216" cy="1800200"/>
          </a:xfrm>
          <a:prstGeom prst="wedgeEllipseCallout">
            <a:avLst>
              <a:gd name="adj1" fmla="val 69610"/>
              <a:gd name="adj2" fmla="val 3443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36A869A5-5BE9-4EC4-B953-700EEA893227}"/>
              </a:ext>
            </a:extLst>
          </p:cNvPr>
          <p:cNvSpPr txBox="1"/>
          <p:nvPr/>
        </p:nvSpPr>
        <p:spPr>
          <a:xfrm>
            <a:off x="251520" y="3637473"/>
            <a:ext cx="1835696" cy="1015663"/>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The modalities are arranged in ascending order. Except for nominal qualitative variables (no order for modalities</a:t>
            </a:r>
            <a:r>
              <a:rPr lang="fr-FR" sz="12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470683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75A00-E69E-4E70-B7E8-9973627A6C0C}"/>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1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Qualitative nominal variable</a:t>
            </a:r>
          </a:p>
        </p:txBody>
      </p:sp>
      <p:sp>
        <p:nvSpPr>
          <p:cNvPr id="6" name="Flèche : angle droit 5">
            <a:extLst>
              <a:ext uri="{FF2B5EF4-FFF2-40B4-BE49-F238E27FC236}">
                <a16:creationId xmlns:a16="http://schemas.microsoft.com/office/drawing/2014/main" id="{7EA068D9-0846-4A43-8EBE-D8238B454DFC}"/>
              </a:ext>
            </a:extLst>
          </p:cNvPr>
          <p:cNvSpPr/>
          <p:nvPr/>
        </p:nvSpPr>
        <p:spPr>
          <a:xfrm rot="5400000">
            <a:off x="1776260" y="3520052"/>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04CFFB4-94BE-4456-9F99-1665B3880B52}"/>
              </a:ext>
            </a:extLst>
          </p:cNvPr>
          <p:cNvSpPr txBox="1"/>
          <p:nvPr/>
        </p:nvSpPr>
        <p:spPr>
          <a:xfrm>
            <a:off x="323528" y="1862155"/>
            <a:ext cx="4968552" cy="1477328"/>
          </a:xfrm>
          <a:prstGeom prst="rect">
            <a:avLst/>
          </a:prstGeom>
          <a:noFill/>
        </p:spPr>
        <p:txBody>
          <a:bodyPr wrap="square" rtlCol="0">
            <a:spAutoFit/>
          </a:bodyPr>
          <a:lstStyle/>
          <a:p>
            <a:r>
              <a:rPr lang="fr-FR" dirty="0"/>
              <a:t>The </a:t>
            </a:r>
            <a:r>
              <a:rPr lang="fr-FR" dirty="0" err="1"/>
              <a:t>following</a:t>
            </a:r>
            <a:r>
              <a:rPr lang="fr-FR" dirty="0"/>
              <a:t> data </a:t>
            </a:r>
            <a:r>
              <a:rPr lang="fr-FR" dirty="0" err="1"/>
              <a:t>represents</a:t>
            </a:r>
            <a:r>
              <a:rPr lang="fr-FR" dirty="0"/>
              <a:t> the </a:t>
            </a:r>
            <a:r>
              <a:rPr lang="fr-FR" dirty="0" err="1"/>
              <a:t>gender</a:t>
            </a:r>
            <a:r>
              <a:rPr lang="fr-FR" dirty="0"/>
              <a:t> of 24 candidates to a </a:t>
            </a:r>
            <a:r>
              <a:rPr lang="fr-FR" dirty="0" err="1"/>
              <a:t>competition</a:t>
            </a:r>
            <a:r>
              <a:rPr lang="fr-FR" dirty="0"/>
              <a:t> :</a:t>
            </a:r>
          </a:p>
          <a:p>
            <a:r>
              <a:rPr lang="fr-FR" dirty="0">
                <a:solidFill>
                  <a:srgbClr val="FF0000"/>
                </a:solidFill>
              </a:rPr>
              <a:t>H, H, F, H, F, H, H, F, H, F</a:t>
            </a:r>
          </a:p>
          <a:p>
            <a:r>
              <a:rPr lang="fr-FR" dirty="0">
                <a:solidFill>
                  <a:srgbClr val="FF0000"/>
                </a:solidFill>
              </a:rPr>
              <a:t>H, F, H, F, H, F, H, H, H</a:t>
            </a:r>
          </a:p>
          <a:p>
            <a:r>
              <a:rPr lang="fr-FR" dirty="0">
                <a:solidFill>
                  <a:srgbClr val="FF0000"/>
                </a:solidFill>
              </a:rPr>
              <a:t>F, H, F, H, H</a:t>
            </a:r>
          </a:p>
        </p:txBody>
      </p:sp>
      <p:graphicFrame>
        <p:nvGraphicFramePr>
          <p:cNvPr id="4" name="Tableau 4">
            <a:extLst>
              <a:ext uri="{FF2B5EF4-FFF2-40B4-BE49-F238E27FC236}">
                <a16:creationId xmlns:a16="http://schemas.microsoft.com/office/drawing/2014/main" id="{0D62A07F-C272-419C-BE1A-33DCD4601154}"/>
              </a:ext>
            </a:extLst>
          </p:cNvPr>
          <p:cNvGraphicFramePr>
            <a:graphicFrameLocks noGrp="1"/>
          </p:cNvGraphicFramePr>
          <p:nvPr>
            <p:extLst>
              <p:ext uri="{D42A27DB-BD31-4B8C-83A1-F6EECF244321}">
                <p14:modId xmlns:p14="http://schemas.microsoft.com/office/powerpoint/2010/main" val="2045734772"/>
              </p:ext>
            </p:extLst>
          </p:nvPr>
        </p:nvGraphicFramePr>
        <p:xfrm>
          <a:off x="2699792" y="4005064"/>
          <a:ext cx="6096000" cy="1752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39369074"/>
                    </a:ext>
                  </a:extLst>
                </a:gridCol>
                <a:gridCol w="2032000">
                  <a:extLst>
                    <a:ext uri="{9D8B030D-6E8A-4147-A177-3AD203B41FA5}">
                      <a16:colId xmlns:a16="http://schemas.microsoft.com/office/drawing/2014/main" val="287232069"/>
                    </a:ext>
                  </a:extLst>
                </a:gridCol>
                <a:gridCol w="2032000">
                  <a:extLst>
                    <a:ext uri="{9D8B030D-6E8A-4147-A177-3AD203B41FA5}">
                      <a16:colId xmlns:a16="http://schemas.microsoft.com/office/drawing/2014/main" val="2598131862"/>
                    </a:ext>
                  </a:extLst>
                </a:gridCol>
              </a:tblGrid>
              <a:tr h="370840">
                <a:tc>
                  <a:txBody>
                    <a:bodyPr/>
                    <a:lstStyle/>
                    <a:p>
                      <a:r>
                        <a:rPr lang="fr-FR" dirty="0" err="1"/>
                        <a:t>Gender</a:t>
                      </a:r>
                      <a:endParaRPr lang="fr-FR" dirty="0"/>
                    </a:p>
                  </a:txBody>
                  <a:tcPr/>
                </a:tc>
                <a:tc>
                  <a:txBody>
                    <a:bodyPr/>
                    <a:lstStyle/>
                    <a:p>
                      <a:r>
                        <a:rPr lang="fr-FR" dirty="0" err="1"/>
                        <a:t>Number</a:t>
                      </a:r>
                      <a:r>
                        <a:rPr lang="fr-FR" dirty="0"/>
                        <a:t> of candidates</a:t>
                      </a:r>
                    </a:p>
                  </a:txBody>
                  <a:tcPr/>
                </a:tc>
                <a:tc>
                  <a:txBody>
                    <a:bodyPr/>
                    <a:lstStyle/>
                    <a:p>
                      <a:r>
                        <a:rPr lang="fr-FR" dirty="0" err="1"/>
                        <a:t>Frequencies</a:t>
                      </a:r>
                      <a:endParaRPr lang="fr-FR" dirty="0"/>
                    </a:p>
                  </a:txBody>
                  <a:tcPr/>
                </a:tc>
                <a:extLst>
                  <a:ext uri="{0D108BD9-81ED-4DB2-BD59-A6C34878D82A}">
                    <a16:rowId xmlns:a16="http://schemas.microsoft.com/office/drawing/2014/main" val="2749644928"/>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2538784773"/>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550776753"/>
                  </a:ext>
                </a:extLst>
              </a:tr>
              <a:tr h="370840">
                <a:tc>
                  <a:txBody>
                    <a:bodyPr/>
                    <a:lstStyle/>
                    <a:p>
                      <a:r>
                        <a:rPr lang="fr-FR" b="1" dirty="0"/>
                        <a:t>Total</a:t>
                      </a:r>
                    </a:p>
                  </a:txBody>
                  <a:tcPr/>
                </a:tc>
                <a:tc>
                  <a:txBody>
                    <a:bodyPr/>
                    <a:lstStyle/>
                    <a:p>
                      <a:r>
                        <a:rPr lang="fr-FR" b="1" dirty="0"/>
                        <a:t>24</a:t>
                      </a:r>
                    </a:p>
                  </a:txBody>
                  <a:tcPr/>
                </a:tc>
                <a:tc>
                  <a:txBody>
                    <a:bodyPr/>
                    <a:lstStyle/>
                    <a:p>
                      <a:r>
                        <a:rPr lang="fr-FR" b="1" dirty="0"/>
                        <a:t>1</a:t>
                      </a:r>
                    </a:p>
                  </a:txBody>
                  <a:tcPr/>
                </a:tc>
                <a:extLst>
                  <a:ext uri="{0D108BD9-81ED-4DB2-BD59-A6C34878D82A}">
                    <a16:rowId xmlns:a16="http://schemas.microsoft.com/office/drawing/2014/main" val="1321413913"/>
                  </a:ext>
                </a:extLst>
              </a:tr>
            </a:tbl>
          </a:graphicData>
        </a:graphic>
      </p:graphicFrame>
    </p:spTree>
    <p:extLst>
      <p:ext uri="{BB962C8B-B14F-4D97-AF65-F5344CB8AC3E}">
        <p14:creationId xmlns:p14="http://schemas.microsoft.com/office/powerpoint/2010/main" val="4029125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75A00-E69E-4E70-B7E8-9973627A6C0C}"/>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1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Qualitative nominal variable</a:t>
            </a:r>
          </a:p>
        </p:txBody>
      </p:sp>
      <p:sp>
        <p:nvSpPr>
          <p:cNvPr id="6" name="Flèche : angle droit 5">
            <a:extLst>
              <a:ext uri="{FF2B5EF4-FFF2-40B4-BE49-F238E27FC236}">
                <a16:creationId xmlns:a16="http://schemas.microsoft.com/office/drawing/2014/main" id="{7EA068D9-0846-4A43-8EBE-D8238B454DFC}"/>
              </a:ext>
            </a:extLst>
          </p:cNvPr>
          <p:cNvSpPr/>
          <p:nvPr/>
        </p:nvSpPr>
        <p:spPr>
          <a:xfrm rot="5400000">
            <a:off x="1776260" y="3520052"/>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04CFFB4-94BE-4456-9F99-1665B3880B52}"/>
              </a:ext>
            </a:extLst>
          </p:cNvPr>
          <p:cNvSpPr txBox="1"/>
          <p:nvPr/>
        </p:nvSpPr>
        <p:spPr>
          <a:xfrm>
            <a:off x="323528" y="1862155"/>
            <a:ext cx="4968552" cy="1477328"/>
          </a:xfrm>
          <a:prstGeom prst="rect">
            <a:avLst/>
          </a:prstGeom>
          <a:noFill/>
        </p:spPr>
        <p:txBody>
          <a:bodyPr wrap="square" rtlCol="0">
            <a:spAutoFit/>
          </a:bodyPr>
          <a:lstStyle/>
          <a:p>
            <a:r>
              <a:rPr lang="fr-FR" dirty="0"/>
              <a:t>The </a:t>
            </a:r>
            <a:r>
              <a:rPr lang="fr-FR" dirty="0" err="1"/>
              <a:t>following</a:t>
            </a:r>
            <a:r>
              <a:rPr lang="fr-FR" dirty="0"/>
              <a:t> data </a:t>
            </a:r>
            <a:r>
              <a:rPr lang="fr-FR" dirty="0" err="1"/>
              <a:t>represents</a:t>
            </a:r>
            <a:r>
              <a:rPr lang="fr-FR" dirty="0"/>
              <a:t> the </a:t>
            </a:r>
            <a:r>
              <a:rPr lang="fr-FR" dirty="0" err="1"/>
              <a:t>gender</a:t>
            </a:r>
            <a:r>
              <a:rPr lang="fr-FR" dirty="0"/>
              <a:t> of 24 candidates to a </a:t>
            </a:r>
            <a:r>
              <a:rPr lang="fr-FR" dirty="0" err="1"/>
              <a:t>competition</a:t>
            </a:r>
            <a:r>
              <a:rPr lang="fr-FR" dirty="0"/>
              <a:t> :</a:t>
            </a:r>
          </a:p>
          <a:p>
            <a:r>
              <a:rPr lang="fr-FR" dirty="0">
                <a:solidFill>
                  <a:srgbClr val="FF0000"/>
                </a:solidFill>
              </a:rPr>
              <a:t>H, H, F, H, F, H, H, F, H, F</a:t>
            </a:r>
          </a:p>
          <a:p>
            <a:r>
              <a:rPr lang="fr-FR" dirty="0">
                <a:solidFill>
                  <a:srgbClr val="FF0000"/>
                </a:solidFill>
              </a:rPr>
              <a:t>H, F, H, F, H, F, H, H, H</a:t>
            </a:r>
          </a:p>
          <a:p>
            <a:r>
              <a:rPr lang="fr-FR" dirty="0">
                <a:solidFill>
                  <a:srgbClr val="FF0000"/>
                </a:solidFill>
              </a:rPr>
              <a:t>F, H, F, H, H</a:t>
            </a:r>
          </a:p>
        </p:txBody>
      </p:sp>
      <p:pic>
        <p:nvPicPr>
          <p:cNvPr id="8" name="Image 7">
            <a:extLst>
              <a:ext uri="{FF2B5EF4-FFF2-40B4-BE49-F238E27FC236}">
                <a16:creationId xmlns:a16="http://schemas.microsoft.com/office/drawing/2014/main" id="{D313FDA7-D433-41D7-AA6D-40787F594C4E}"/>
              </a:ext>
            </a:extLst>
          </p:cNvPr>
          <p:cNvPicPr>
            <a:picLocks noChangeAspect="1"/>
          </p:cNvPicPr>
          <p:nvPr/>
        </p:nvPicPr>
        <p:blipFill>
          <a:blip r:embed="rId2"/>
          <a:stretch>
            <a:fillRect/>
          </a:stretch>
        </p:blipFill>
        <p:spPr>
          <a:xfrm>
            <a:off x="2915816" y="3445480"/>
            <a:ext cx="5503046" cy="2265960"/>
          </a:xfrm>
          <a:prstGeom prst="rect">
            <a:avLst/>
          </a:prstGeom>
        </p:spPr>
      </p:pic>
      <p:sp>
        <p:nvSpPr>
          <p:cNvPr id="12" name="ZoneTexte 11">
            <a:extLst>
              <a:ext uri="{FF2B5EF4-FFF2-40B4-BE49-F238E27FC236}">
                <a16:creationId xmlns:a16="http://schemas.microsoft.com/office/drawing/2014/main" id="{FD04F170-1415-4063-8204-0B7DA7A0B4C4}"/>
              </a:ext>
            </a:extLst>
          </p:cNvPr>
          <p:cNvSpPr txBox="1"/>
          <p:nvPr/>
        </p:nvSpPr>
        <p:spPr>
          <a:xfrm>
            <a:off x="3046720" y="3815462"/>
            <a:ext cx="1504960" cy="261610"/>
          </a:xfrm>
          <a:prstGeom prst="rect">
            <a:avLst/>
          </a:prstGeom>
          <a:solidFill>
            <a:schemeClr val="bg1"/>
          </a:solidFill>
        </p:spPr>
        <p:txBody>
          <a:bodyPr wrap="square" rtlCol="0">
            <a:spAutoFit/>
          </a:bodyPr>
          <a:lstStyle/>
          <a:p>
            <a:r>
              <a:rPr lang="fr-FR" sz="1100" b="1" dirty="0"/>
              <a:t>Variable : The </a:t>
            </a:r>
            <a:r>
              <a:rPr lang="fr-FR" sz="1100" b="1" dirty="0" err="1"/>
              <a:t>Gender</a:t>
            </a:r>
            <a:endParaRPr lang="fr-FR" sz="1100" b="1" dirty="0"/>
          </a:p>
        </p:txBody>
      </p:sp>
      <p:sp>
        <p:nvSpPr>
          <p:cNvPr id="13" name="ZoneTexte 12">
            <a:extLst>
              <a:ext uri="{FF2B5EF4-FFF2-40B4-BE49-F238E27FC236}">
                <a16:creationId xmlns:a16="http://schemas.microsoft.com/office/drawing/2014/main" id="{D228E0C4-2755-454A-9040-5B005A2F4BF6}"/>
              </a:ext>
            </a:extLst>
          </p:cNvPr>
          <p:cNvSpPr txBox="1"/>
          <p:nvPr/>
        </p:nvSpPr>
        <p:spPr>
          <a:xfrm>
            <a:off x="5292080" y="3817438"/>
            <a:ext cx="1872208" cy="261610"/>
          </a:xfrm>
          <a:prstGeom prst="rect">
            <a:avLst/>
          </a:prstGeom>
          <a:solidFill>
            <a:schemeClr val="bg1"/>
          </a:solidFill>
        </p:spPr>
        <p:txBody>
          <a:bodyPr wrap="square" rtlCol="0">
            <a:spAutoFit/>
          </a:bodyPr>
          <a:lstStyle/>
          <a:p>
            <a:r>
              <a:rPr lang="fr-FR" sz="1100" b="1" dirty="0" err="1"/>
              <a:t>Number</a:t>
            </a:r>
            <a:r>
              <a:rPr lang="fr-FR" sz="1100" b="1" dirty="0"/>
              <a:t> of candidates</a:t>
            </a:r>
          </a:p>
        </p:txBody>
      </p:sp>
    </p:spTree>
    <p:extLst>
      <p:ext uri="{BB962C8B-B14F-4D97-AF65-F5344CB8AC3E}">
        <p14:creationId xmlns:p14="http://schemas.microsoft.com/office/powerpoint/2010/main" val="368661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C0F69E-1B6C-4050-948E-8CEC781EB83E}"/>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2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Qualitative ordinal variable</a:t>
            </a:r>
            <a:endParaRPr lang="fr-FR" dirty="0"/>
          </a:p>
        </p:txBody>
      </p:sp>
      <p:sp>
        <p:nvSpPr>
          <p:cNvPr id="6" name="Flèche : angle droit 5">
            <a:extLst>
              <a:ext uri="{FF2B5EF4-FFF2-40B4-BE49-F238E27FC236}">
                <a16:creationId xmlns:a16="http://schemas.microsoft.com/office/drawing/2014/main" id="{E565A958-CF74-44E4-B2FA-92CAC6A38BC0}"/>
              </a:ext>
            </a:extLst>
          </p:cNvPr>
          <p:cNvSpPr/>
          <p:nvPr/>
        </p:nvSpPr>
        <p:spPr>
          <a:xfrm rot="5400000">
            <a:off x="1255284" y="3298196"/>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1DB7D01E-50AD-4C56-931B-0E69AED4D0C1}"/>
              </a:ext>
            </a:extLst>
          </p:cNvPr>
          <p:cNvSpPr txBox="1"/>
          <p:nvPr/>
        </p:nvSpPr>
        <p:spPr>
          <a:xfrm>
            <a:off x="539552" y="1735648"/>
            <a:ext cx="4968552" cy="1477328"/>
          </a:xfrm>
          <a:prstGeom prst="rect">
            <a:avLst/>
          </a:prstGeom>
          <a:noFill/>
        </p:spPr>
        <p:txBody>
          <a:bodyPr wrap="square" rtlCol="0">
            <a:spAutoFit/>
          </a:bodyPr>
          <a:lstStyle/>
          <a:p>
            <a:r>
              <a:rPr lang="fr-FR" dirty="0"/>
              <a:t>The </a:t>
            </a:r>
            <a:r>
              <a:rPr lang="fr-FR" dirty="0" err="1"/>
              <a:t>following</a:t>
            </a:r>
            <a:r>
              <a:rPr lang="fr-FR" dirty="0"/>
              <a:t> data </a:t>
            </a:r>
            <a:r>
              <a:rPr lang="fr-FR" dirty="0" err="1"/>
              <a:t>represents</a:t>
            </a:r>
            <a:r>
              <a:rPr lang="fr-FR" dirty="0"/>
              <a:t> the </a:t>
            </a:r>
            <a:r>
              <a:rPr lang="fr-FR" dirty="0" err="1"/>
              <a:t>level</a:t>
            </a:r>
            <a:r>
              <a:rPr lang="fr-FR" dirty="0"/>
              <a:t> of </a:t>
            </a:r>
            <a:r>
              <a:rPr lang="fr-FR" dirty="0" err="1"/>
              <a:t>study</a:t>
            </a:r>
            <a:r>
              <a:rPr lang="fr-FR" dirty="0"/>
              <a:t> of 24 candidates to a </a:t>
            </a:r>
            <a:r>
              <a:rPr lang="fr-FR" dirty="0" err="1"/>
              <a:t>competition</a:t>
            </a:r>
            <a:r>
              <a:rPr lang="fr-FR" dirty="0"/>
              <a:t> :</a:t>
            </a:r>
          </a:p>
          <a:p>
            <a:r>
              <a:rPr lang="fr-FR" dirty="0">
                <a:solidFill>
                  <a:srgbClr val="FF0000"/>
                </a:solidFill>
              </a:rPr>
              <a:t>L, L, M, M, L, L, L, L, M, D</a:t>
            </a:r>
          </a:p>
          <a:p>
            <a:r>
              <a:rPr lang="fr-FR" dirty="0">
                <a:solidFill>
                  <a:srgbClr val="FF0000"/>
                </a:solidFill>
              </a:rPr>
              <a:t>L, L, L, L, L, M, L, L, L</a:t>
            </a:r>
          </a:p>
          <a:p>
            <a:r>
              <a:rPr lang="fr-FR" dirty="0">
                <a:solidFill>
                  <a:srgbClr val="FF0000"/>
                </a:solidFill>
              </a:rPr>
              <a:t>L, L, L, L, D</a:t>
            </a:r>
          </a:p>
        </p:txBody>
      </p:sp>
      <p:graphicFrame>
        <p:nvGraphicFramePr>
          <p:cNvPr id="3" name="Tableau 3">
            <a:extLst>
              <a:ext uri="{FF2B5EF4-FFF2-40B4-BE49-F238E27FC236}">
                <a16:creationId xmlns:a16="http://schemas.microsoft.com/office/drawing/2014/main" id="{6F36D207-BF96-464A-B488-DFDAF94C913A}"/>
              </a:ext>
            </a:extLst>
          </p:cNvPr>
          <p:cNvGraphicFramePr>
            <a:graphicFrameLocks noGrp="1"/>
          </p:cNvGraphicFramePr>
          <p:nvPr>
            <p:extLst>
              <p:ext uri="{D42A27DB-BD31-4B8C-83A1-F6EECF244321}">
                <p14:modId xmlns:p14="http://schemas.microsoft.com/office/powerpoint/2010/main" val="551855949"/>
              </p:ext>
            </p:extLst>
          </p:nvPr>
        </p:nvGraphicFramePr>
        <p:xfrm>
          <a:off x="2460104" y="3429000"/>
          <a:ext cx="6096000" cy="2123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57398601"/>
                    </a:ext>
                  </a:extLst>
                </a:gridCol>
                <a:gridCol w="2032000">
                  <a:extLst>
                    <a:ext uri="{9D8B030D-6E8A-4147-A177-3AD203B41FA5}">
                      <a16:colId xmlns:a16="http://schemas.microsoft.com/office/drawing/2014/main" val="1353897874"/>
                    </a:ext>
                  </a:extLst>
                </a:gridCol>
                <a:gridCol w="2032000">
                  <a:extLst>
                    <a:ext uri="{9D8B030D-6E8A-4147-A177-3AD203B41FA5}">
                      <a16:colId xmlns:a16="http://schemas.microsoft.com/office/drawing/2014/main" val="4000847796"/>
                    </a:ext>
                  </a:extLst>
                </a:gridCol>
              </a:tblGrid>
              <a:tr h="370840">
                <a:tc>
                  <a:txBody>
                    <a:bodyPr/>
                    <a:lstStyle/>
                    <a:p>
                      <a:r>
                        <a:rPr lang="fr-FR" dirty="0" err="1"/>
                        <a:t>Level</a:t>
                      </a:r>
                      <a:r>
                        <a:rPr lang="fr-FR" dirty="0"/>
                        <a:t> of </a:t>
                      </a:r>
                      <a:r>
                        <a:rPr lang="fr-FR" dirty="0" err="1"/>
                        <a:t>study</a:t>
                      </a:r>
                      <a:endParaRPr lang="fr-FR" dirty="0"/>
                    </a:p>
                  </a:txBody>
                  <a:tcPr/>
                </a:tc>
                <a:tc>
                  <a:txBody>
                    <a:bodyPr/>
                    <a:lstStyle/>
                    <a:p>
                      <a:r>
                        <a:rPr lang="fr-FR" dirty="0" err="1"/>
                        <a:t>Number</a:t>
                      </a:r>
                      <a:r>
                        <a:rPr lang="fr-FR" dirty="0"/>
                        <a:t> of candidates</a:t>
                      </a:r>
                    </a:p>
                  </a:txBody>
                  <a:tcPr/>
                </a:tc>
                <a:tc>
                  <a:txBody>
                    <a:bodyPr/>
                    <a:lstStyle/>
                    <a:p>
                      <a:r>
                        <a:rPr lang="fr-FR" dirty="0" err="1"/>
                        <a:t>Frenquency</a:t>
                      </a:r>
                      <a:endParaRPr lang="fr-FR" dirty="0"/>
                    </a:p>
                  </a:txBody>
                  <a:tcPr/>
                </a:tc>
                <a:extLst>
                  <a:ext uri="{0D108BD9-81ED-4DB2-BD59-A6C34878D82A}">
                    <a16:rowId xmlns:a16="http://schemas.microsoft.com/office/drawing/2014/main" val="2435585758"/>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3707552150"/>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922695373"/>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3268538608"/>
                  </a:ext>
                </a:extLst>
              </a:tr>
              <a:tr h="370840">
                <a:tc>
                  <a:txBody>
                    <a:bodyPr/>
                    <a:lstStyle/>
                    <a:p>
                      <a:r>
                        <a:rPr lang="fr-FR" dirty="0"/>
                        <a:t>Total</a:t>
                      </a:r>
                    </a:p>
                  </a:txBody>
                  <a:tcPr/>
                </a:tc>
                <a:tc>
                  <a:txBody>
                    <a:bodyPr/>
                    <a:lstStyle/>
                    <a:p>
                      <a:r>
                        <a:rPr lang="fr-FR" dirty="0"/>
                        <a:t>24</a:t>
                      </a:r>
                    </a:p>
                  </a:txBody>
                  <a:tcPr/>
                </a:tc>
                <a:tc>
                  <a:txBody>
                    <a:bodyPr/>
                    <a:lstStyle/>
                    <a:p>
                      <a:r>
                        <a:rPr lang="fr-FR" dirty="0"/>
                        <a:t>1</a:t>
                      </a:r>
                    </a:p>
                  </a:txBody>
                  <a:tcPr/>
                </a:tc>
                <a:extLst>
                  <a:ext uri="{0D108BD9-81ED-4DB2-BD59-A6C34878D82A}">
                    <a16:rowId xmlns:a16="http://schemas.microsoft.com/office/drawing/2014/main" val="4183597734"/>
                  </a:ext>
                </a:extLst>
              </a:tr>
            </a:tbl>
          </a:graphicData>
        </a:graphic>
      </p:graphicFrame>
    </p:spTree>
    <p:extLst>
      <p:ext uri="{BB962C8B-B14F-4D97-AF65-F5344CB8AC3E}">
        <p14:creationId xmlns:p14="http://schemas.microsoft.com/office/powerpoint/2010/main" val="390872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C0F69E-1B6C-4050-948E-8CEC781EB83E}"/>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2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Qualitative ordinal variable</a:t>
            </a:r>
            <a:endParaRPr lang="fr-FR" dirty="0"/>
          </a:p>
        </p:txBody>
      </p:sp>
      <p:sp>
        <p:nvSpPr>
          <p:cNvPr id="6" name="Flèche : angle droit 5">
            <a:extLst>
              <a:ext uri="{FF2B5EF4-FFF2-40B4-BE49-F238E27FC236}">
                <a16:creationId xmlns:a16="http://schemas.microsoft.com/office/drawing/2014/main" id="{E565A958-CF74-44E4-B2FA-92CAC6A38BC0}"/>
              </a:ext>
            </a:extLst>
          </p:cNvPr>
          <p:cNvSpPr/>
          <p:nvPr/>
        </p:nvSpPr>
        <p:spPr>
          <a:xfrm rot="5400000">
            <a:off x="1255284" y="3298196"/>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1DB7D01E-50AD-4C56-931B-0E69AED4D0C1}"/>
              </a:ext>
            </a:extLst>
          </p:cNvPr>
          <p:cNvSpPr txBox="1"/>
          <p:nvPr/>
        </p:nvSpPr>
        <p:spPr>
          <a:xfrm>
            <a:off x="539552" y="1735648"/>
            <a:ext cx="4968552" cy="1477328"/>
          </a:xfrm>
          <a:prstGeom prst="rect">
            <a:avLst/>
          </a:prstGeom>
          <a:noFill/>
        </p:spPr>
        <p:txBody>
          <a:bodyPr wrap="square" rtlCol="0">
            <a:spAutoFit/>
          </a:bodyPr>
          <a:lstStyle/>
          <a:p>
            <a:r>
              <a:rPr lang="fr-FR" dirty="0"/>
              <a:t>The </a:t>
            </a:r>
            <a:r>
              <a:rPr lang="fr-FR" dirty="0" err="1"/>
              <a:t>following</a:t>
            </a:r>
            <a:r>
              <a:rPr lang="fr-FR" dirty="0"/>
              <a:t> data </a:t>
            </a:r>
            <a:r>
              <a:rPr lang="fr-FR" dirty="0" err="1"/>
              <a:t>represents</a:t>
            </a:r>
            <a:r>
              <a:rPr lang="fr-FR" dirty="0"/>
              <a:t> the </a:t>
            </a:r>
            <a:r>
              <a:rPr lang="fr-FR" dirty="0" err="1"/>
              <a:t>level</a:t>
            </a:r>
            <a:r>
              <a:rPr lang="fr-FR" dirty="0"/>
              <a:t> of </a:t>
            </a:r>
            <a:r>
              <a:rPr lang="fr-FR" dirty="0" err="1"/>
              <a:t>study</a:t>
            </a:r>
            <a:r>
              <a:rPr lang="fr-FR" dirty="0"/>
              <a:t> of 24 candidates to a </a:t>
            </a:r>
            <a:r>
              <a:rPr lang="fr-FR" dirty="0" err="1"/>
              <a:t>competition</a:t>
            </a:r>
            <a:r>
              <a:rPr lang="fr-FR" dirty="0"/>
              <a:t> :</a:t>
            </a:r>
          </a:p>
          <a:p>
            <a:r>
              <a:rPr lang="fr-FR" dirty="0">
                <a:solidFill>
                  <a:srgbClr val="FF0000"/>
                </a:solidFill>
              </a:rPr>
              <a:t>L, L, M, M, L, L, L, L, M, D</a:t>
            </a:r>
          </a:p>
          <a:p>
            <a:r>
              <a:rPr lang="fr-FR" dirty="0">
                <a:solidFill>
                  <a:srgbClr val="FF0000"/>
                </a:solidFill>
              </a:rPr>
              <a:t>L, L, L, L, L, M, L, L, L</a:t>
            </a:r>
          </a:p>
          <a:p>
            <a:r>
              <a:rPr lang="fr-FR" dirty="0">
                <a:solidFill>
                  <a:srgbClr val="FF0000"/>
                </a:solidFill>
              </a:rPr>
              <a:t>L, L, L, L, D</a:t>
            </a:r>
          </a:p>
        </p:txBody>
      </p:sp>
      <p:grpSp>
        <p:nvGrpSpPr>
          <p:cNvPr id="12" name="Groupe 11">
            <a:extLst>
              <a:ext uri="{FF2B5EF4-FFF2-40B4-BE49-F238E27FC236}">
                <a16:creationId xmlns:a16="http://schemas.microsoft.com/office/drawing/2014/main" id="{F49B8B8D-BB0B-4669-88AE-8E5D41053ABE}"/>
              </a:ext>
            </a:extLst>
          </p:cNvPr>
          <p:cNvGrpSpPr/>
          <p:nvPr/>
        </p:nvGrpSpPr>
        <p:grpSpPr>
          <a:xfrm>
            <a:off x="2555776" y="3573016"/>
            <a:ext cx="5328592" cy="2520744"/>
            <a:chOff x="2555776" y="3573016"/>
            <a:chExt cx="5328592" cy="2520744"/>
          </a:xfrm>
        </p:grpSpPr>
        <p:pic>
          <p:nvPicPr>
            <p:cNvPr id="8" name="Image 7">
              <a:extLst>
                <a:ext uri="{FF2B5EF4-FFF2-40B4-BE49-F238E27FC236}">
                  <a16:creationId xmlns:a16="http://schemas.microsoft.com/office/drawing/2014/main" id="{48CCB8AE-2E50-4C44-8136-65BABA586E03}"/>
                </a:ext>
              </a:extLst>
            </p:cNvPr>
            <p:cNvPicPr>
              <a:picLocks noChangeAspect="1"/>
            </p:cNvPicPr>
            <p:nvPr/>
          </p:nvPicPr>
          <p:blipFill>
            <a:blip r:embed="rId2"/>
            <a:stretch>
              <a:fillRect/>
            </a:stretch>
          </p:blipFill>
          <p:spPr>
            <a:xfrm>
              <a:off x="2555776" y="3573016"/>
              <a:ext cx="5328592" cy="2520744"/>
            </a:xfrm>
            <a:prstGeom prst="rect">
              <a:avLst/>
            </a:prstGeom>
          </p:spPr>
        </p:pic>
        <p:sp>
          <p:nvSpPr>
            <p:cNvPr id="9" name="ZoneTexte 8">
              <a:extLst>
                <a:ext uri="{FF2B5EF4-FFF2-40B4-BE49-F238E27FC236}">
                  <a16:creationId xmlns:a16="http://schemas.microsoft.com/office/drawing/2014/main" id="{3895016D-2B3F-4370-997A-295F53E3AB9E}"/>
                </a:ext>
              </a:extLst>
            </p:cNvPr>
            <p:cNvSpPr txBox="1"/>
            <p:nvPr/>
          </p:nvSpPr>
          <p:spPr>
            <a:xfrm>
              <a:off x="2915816" y="4018276"/>
              <a:ext cx="2009016" cy="261610"/>
            </a:xfrm>
            <a:prstGeom prst="rect">
              <a:avLst/>
            </a:prstGeom>
            <a:solidFill>
              <a:schemeClr val="bg1"/>
            </a:solidFill>
          </p:spPr>
          <p:txBody>
            <a:bodyPr wrap="square" rtlCol="0">
              <a:spAutoFit/>
            </a:bodyPr>
            <a:lstStyle/>
            <a:p>
              <a:r>
                <a:rPr lang="fr-FR" sz="1100" b="1" dirty="0"/>
                <a:t>Variable : The </a:t>
              </a:r>
              <a:r>
                <a:rPr lang="fr-FR" sz="1100" b="1" dirty="0" err="1"/>
                <a:t>Level</a:t>
              </a:r>
              <a:r>
                <a:rPr lang="fr-FR" sz="1100" b="1" dirty="0"/>
                <a:t> of </a:t>
              </a:r>
              <a:r>
                <a:rPr lang="fr-FR" sz="1100" b="1" dirty="0" err="1"/>
                <a:t>Study</a:t>
              </a:r>
              <a:endParaRPr lang="fr-FR" sz="1100" b="1" dirty="0"/>
            </a:p>
          </p:txBody>
        </p:sp>
        <p:sp>
          <p:nvSpPr>
            <p:cNvPr id="10" name="ZoneTexte 9">
              <a:extLst>
                <a:ext uri="{FF2B5EF4-FFF2-40B4-BE49-F238E27FC236}">
                  <a16:creationId xmlns:a16="http://schemas.microsoft.com/office/drawing/2014/main" id="{D4AE4A57-4198-4787-81A8-835BFD7C5AE9}"/>
                </a:ext>
              </a:extLst>
            </p:cNvPr>
            <p:cNvSpPr txBox="1"/>
            <p:nvPr/>
          </p:nvSpPr>
          <p:spPr>
            <a:xfrm>
              <a:off x="5436098" y="4002746"/>
              <a:ext cx="1656182" cy="261611"/>
            </a:xfrm>
            <a:prstGeom prst="rect">
              <a:avLst/>
            </a:prstGeom>
            <a:solidFill>
              <a:schemeClr val="bg1"/>
            </a:solidFill>
          </p:spPr>
          <p:txBody>
            <a:bodyPr wrap="square" rtlCol="0">
              <a:spAutoFit/>
            </a:bodyPr>
            <a:lstStyle/>
            <a:p>
              <a:r>
                <a:rPr lang="fr-FR" sz="1100" b="1" dirty="0" err="1"/>
                <a:t>Number</a:t>
              </a:r>
              <a:r>
                <a:rPr lang="fr-FR" sz="1100" b="1" dirty="0"/>
                <a:t> of candidates</a:t>
              </a:r>
            </a:p>
          </p:txBody>
        </p:sp>
      </p:grpSp>
    </p:spTree>
    <p:extLst>
      <p:ext uri="{BB962C8B-B14F-4D97-AF65-F5344CB8AC3E}">
        <p14:creationId xmlns:p14="http://schemas.microsoft.com/office/powerpoint/2010/main" val="904395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CA1CC-FF4D-4125-B55A-D2611E436AB9}"/>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3</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Quantitative </a:t>
            </a:r>
            <a:r>
              <a:rPr lang="fr-FR" dirty="0" err="1">
                <a:latin typeface="Cambria" panose="02040503050406030204" pitchFamily="18" charset="0"/>
                <a:ea typeface="Cambria" panose="02040503050406030204" pitchFamily="18" charset="0"/>
              </a:rPr>
              <a:t>discrete</a:t>
            </a:r>
            <a:r>
              <a:rPr lang="fr-FR" dirty="0">
                <a:latin typeface="Cambria" panose="02040503050406030204" pitchFamily="18" charset="0"/>
                <a:ea typeface="Cambria" panose="02040503050406030204" pitchFamily="18" charset="0"/>
              </a:rPr>
              <a:t> variable</a:t>
            </a:r>
            <a:endParaRPr lang="fr-FR" dirty="0"/>
          </a:p>
        </p:txBody>
      </p:sp>
      <p:sp>
        <p:nvSpPr>
          <p:cNvPr id="6" name="Flèche : angle droit 5">
            <a:extLst>
              <a:ext uri="{FF2B5EF4-FFF2-40B4-BE49-F238E27FC236}">
                <a16:creationId xmlns:a16="http://schemas.microsoft.com/office/drawing/2014/main" id="{BC0871B0-BC54-4128-89F9-A073791B37F1}"/>
              </a:ext>
            </a:extLst>
          </p:cNvPr>
          <p:cNvSpPr/>
          <p:nvPr/>
        </p:nvSpPr>
        <p:spPr>
          <a:xfrm rot="5400000">
            <a:off x="2424332" y="3762864"/>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6CB3EDF-B416-47D2-ADFC-BBDDCDF2C935}"/>
              </a:ext>
            </a:extLst>
          </p:cNvPr>
          <p:cNvSpPr txBox="1"/>
          <p:nvPr/>
        </p:nvSpPr>
        <p:spPr>
          <a:xfrm>
            <a:off x="435774" y="1824605"/>
            <a:ext cx="4968552" cy="1477328"/>
          </a:xfrm>
          <a:prstGeom prst="rect">
            <a:avLst/>
          </a:prstGeom>
          <a:noFill/>
        </p:spPr>
        <p:txBody>
          <a:bodyPr wrap="square" rtlCol="0">
            <a:spAutoFit/>
          </a:bodyPr>
          <a:lstStyle/>
          <a:p>
            <a:pPr algn="l"/>
            <a:r>
              <a:rPr lang="en-US" sz="1800" b="0" i="0" u="none" strike="noStrike" baseline="0" dirty="0">
                <a:latin typeface="F17"/>
              </a:rPr>
              <a:t>We consider the grade (out of 20) of 24 candidates in a </a:t>
            </a:r>
            <a:r>
              <a:rPr lang="fr-FR" sz="1800" b="0" i="0" u="none" strike="noStrike" baseline="0" dirty="0" err="1">
                <a:latin typeface="F17"/>
              </a:rPr>
              <a:t>competition</a:t>
            </a:r>
            <a:r>
              <a:rPr lang="fr-FR" sz="1800" b="0" i="0" u="none" strike="noStrike" baseline="0" dirty="0">
                <a:latin typeface="F17"/>
              </a:rPr>
              <a:t>:</a:t>
            </a:r>
          </a:p>
          <a:p>
            <a:pPr algn="l"/>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13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7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13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7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a:t>
            </a:r>
          </a:p>
          <a:p>
            <a:pPr algn="l"/>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a:t>
            </a:r>
            <a:endParaRPr lang="fr-FR" dirty="0">
              <a:solidFill>
                <a:srgbClr val="FF0000"/>
              </a:solidFill>
            </a:endParaRPr>
          </a:p>
        </p:txBody>
      </p:sp>
      <p:graphicFrame>
        <p:nvGraphicFramePr>
          <p:cNvPr id="3" name="Tableau 3">
            <a:extLst>
              <a:ext uri="{FF2B5EF4-FFF2-40B4-BE49-F238E27FC236}">
                <a16:creationId xmlns:a16="http://schemas.microsoft.com/office/drawing/2014/main" id="{228BA124-D48D-493A-9CF4-DAD94ED15AD0}"/>
              </a:ext>
            </a:extLst>
          </p:cNvPr>
          <p:cNvGraphicFramePr>
            <a:graphicFrameLocks noGrp="1"/>
          </p:cNvGraphicFramePr>
          <p:nvPr>
            <p:extLst>
              <p:ext uri="{D42A27DB-BD31-4B8C-83A1-F6EECF244321}">
                <p14:modId xmlns:p14="http://schemas.microsoft.com/office/powerpoint/2010/main" val="332649121"/>
              </p:ext>
            </p:extLst>
          </p:nvPr>
        </p:nvGraphicFramePr>
        <p:xfrm>
          <a:off x="3419872" y="3162511"/>
          <a:ext cx="5184576" cy="2966720"/>
        </p:xfrm>
        <a:graphic>
          <a:graphicData uri="http://schemas.openxmlformats.org/drawingml/2006/table">
            <a:tbl>
              <a:tblPr firstRow="1" bandRow="1">
                <a:tableStyleId>{5C22544A-7EE6-4342-B048-85BDC9FD1C3A}</a:tableStyleId>
              </a:tblPr>
              <a:tblGrid>
                <a:gridCol w="2592288">
                  <a:extLst>
                    <a:ext uri="{9D8B030D-6E8A-4147-A177-3AD203B41FA5}">
                      <a16:colId xmlns:a16="http://schemas.microsoft.com/office/drawing/2014/main" val="3751175161"/>
                    </a:ext>
                  </a:extLst>
                </a:gridCol>
                <a:gridCol w="2592288">
                  <a:extLst>
                    <a:ext uri="{9D8B030D-6E8A-4147-A177-3AD203B41FA5}">
                      <a16:colId xmlns:a16="http://schemas.microsoft.com/office/drawing/2014/main" val="1625873196"/>
                    </a:ext>
                  </a:extLst>
                </a:gridCol>
              </a:tblGrid>
              <a:tr h="370840">
                <a:tc>
                  <a:txBody>
                    <a:bodyPr/>
                    <a:lstStyle/>
                    <a:p>
                      <a:r>
                        <a:rPr lang="fr-FR" dirty="0"/>
                        <a:t>Grade</a:t>
                      </a:r>
                    </a:p>
                  </a:txBody>
                  <a:tcPr/>
                </a:tc>
                <a:tc>
                  <a:txBody>
                    <a:bodyPr/>
                    <a:lstStyle/>
                    <a:p>
                      <a:r>
                        <a:rPr lang="fr-FR" dirty="0" err="1"/>
                        <a:t>Number</a:t>
                      </a:r>
                      <a:r>
                        <a:rPr lang="fr-FR" dirty="0"/>
                        <a:t> of candidates </a:t>
                      </a:r>
                    </a:p>
                  </a:txBody>
                  <a:tcPr/>
                </a:tc>
                <a:extLst>
                  <a:ext uri="{0D108BD9-81ED-4DB2-BD59-A6C34878D82A}">
                    <a16:rowId xmlns:a16="http://schemas.microsoft.com/office/drawing/2014/main" val="984634728"/>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39419655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91745230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55483913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563971873"/>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610809595"/>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811776237"/>
                  </a:ext>
                </a:extLst>
              </a:tr>
              <a:tr h="370840">
                <a:tc>
                  <a:txBody>
                    <a:bodyPr/>
                    <a:lstStyle/>
                    <a:p>
                      <a:r>
                        <a:rPr lang="fr-FR" b="1" dirty="0"/>
                        <a:t>Total </a:t>
                      </a:r>
                    </a:p>
                  </a:txBody>
                  <a:tcPr/>
                </a:tc>
                <a:tc>
                  <a:txBody>
                    <a:bodyPr/>
                    <a:lstStyle/>
                    <a:p>
                      <a:r>
                        <a:rPr lang="fr-FR" b="1" dirty="0"/>
                        <a:t>24</a:t>
                      </a:r>
                    </a:p>
                  </a:txBody>
                  <a:tcPr/>
                </a:tc>
                <a:extLst>
                  <a:ext uri="{0D108BD9-81ED-4DB2-BD59-A6C34878D82A}">
                    <a16:rowId xmlns:a16="http://schemas.microsoft.com/office/drawing/2014/main" val="3367784695"/>
                  </a:ext>
                </a:extLst>
              </a:tr>
            </a:tbl>
          </a:graphicData>
        </a:graphic>
      </p:graphicFrame>
    </p:spTree>
    <p:extLst>
      <p:ext uri="{BB962C8B-B14F-4D97-AF65-F5344CB8AC3E}">
        <p14:creationId xmlns:p14="http://schemas.microsoft.com/office/powerpoint/2010/main" val="870743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CA1CC-FF4D-4125-B55A-D2611E436AB9}"/>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3</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Quantitative </a:t>
            </a:r>
            <a:r>
              <a:rPr lang="fr-FR" dirty="0" err="1">
                <a:latin typeface="Cambria" panose="02040503050406030204" pitchFamily="18" charset="0"/>
                <a:ea typeface="Cambria" panose="02040503050406030204" pitchFamily="18" charset="0"/>
              </a:rPr>
              <a:t>discrete</a:t>
            </a:r>
            <a:r>
              <a:rPr lang="fr-FR" dirty="0">
                <a:latin typeface="Cambria" panose="02040503050406030204" pitchFamily="18" charset="0"/>
                <a:ea typeface="Cambria" panose="02040503050406030204" pitchFamily="18" charset="0"/>
              </a:rPr>
              <a:t> variable</a:t>
            </a:r>
            <a:endParaRPr lang="fr-FR" dirty="0"/>
          </a:p>
        </p:txBody>
      </p:sp>
      <p:sp>
        <p:nvSpPr>
          <p:cNvPr id="6" name="Flèche : angle droit 5">
            <a:extLst>
              <a:ext uri="{FF2B5EF4-FFF2-40B4-BE49-F238E27FC236}">
                <a16:creationId xmlns:a16="http://schemas.microsoft.com/office/drawing/2014/main" id="{BC0871B0-BC54-4128-89F9-A073791B37F1}"/>
              </a:ext>
            </a:extLst>
          </p:cNvPr>
          <p:cNvSpPr/>
          <p:nvPr/>
        </p:nvSpPr>
        <p:spPr>
          <a:xfrm rot="5400000">
            <a:off x="2424332" y="3762864"/>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 name="Groupe 10">
            <a:extLst>
              <a:ext uri="{FF2B5EF4-FFF2-40B4-BE49-F238E27FC236}">
                <a16:creationId xmlns:a16="http://schemas.microsoft.com/office/drawing/2014/main" id="{39300D0B-A8B7-467B-94DB-ACA366BBDB2B}"/>
              </a:ext>
            </a:extLst>
          </p:cNvPr>
          <p:cNvGrpSpPr/>
          <p:nvPr/>
        </p:nvGrpSpPr>
        <p:grpSpPr>
          <a:xfrm>
            <a:off x="4067943" y="3212976"/>
            <a:ext cx="4255181" cy="2808312"/>
            <a:chOff x="4067943" y="3212976"/>
            <a:chExt cx="4255181" cy="2808312"/>
          </a:xfrm>
        </p:grpSpPr>
        <p:pic>
          <p:nvPicPr>
            <p:cNvPr id="8" name="Image 7">
              <a:extLst>
                <a:ext uri="{FF2B5EF4-FFF2-40B4-BE49-F238E27FC236}">
                  <a16:creationId xmlns:a16="http://schemas.microsoft.com/office/drawing/2014/main" id="{4548506E-2746-4256-9376-A72BA0077370}"/>
                </a:ext>
              </a:extLst>
            </p:cNvPr>
            <p:cNvPicPr>
              <a:picLocks noChangeAspect="1"/>
            </p:cNvPicPr>
            <p:nvPr/>
          </p:nvPicPr>
          <p:blipFill>
            <a:blip r:embed="rId2"/>
            <a:stretch>
              <a:fillRect/>
            </a:stretch>
          </p:blipFill>
          <p:spPr>
            <a:xfrm>
              <a:off x="4067943" y="3212976"/>
              <a:ext cx="4255181" cy="2808312"/>
            </a:xfrm>
            <a:prstGeom prst="rect">
              <a:avLst/>
            </a:prstGeom>
          </p:spPr>
        </p:pic>
        <p:sp>
          <p:nvSpPr>
            <p:cNvPr id="7" name="ZoneTexte 6">
              <a:extLst>
                <a:ext uri="{FF2B5EF4-FFF2-40B4-BE49-F238E27FC236}">
                  <a16:creationId xmlns:a16="http://schemas.microsoft.com/office/drawing/2014/main" id="{360401C9-621A-457D-8C3C-DDB97A9EC064}"/>
                </a:ext>
              </a:extLst>
            </p:cNvPr>
            <p:cNvSpPr txBox="1"/>
            <p:nvPr/>
          </p:nvSpPr>
          <p:spPr>
            <a:xfrm>
              <a:off x="6372200" y="3717032"/>
              <a:ext cx="1901007" cy="261610"/>
            </a:xfrm>
            <a:prstGeom prst="rect">
              <a:avLst/>
            </a:prstGeom>
            <a:solidFill>
              <a:schemeClr val="bg1"/>
            </a:solidFill>
          </p:spPr>
          <p:txBody>
            <a:bodyPr wrap="square" rtlCol="0">
              <a:spAutoFit/>
            </a:bodyPr>
            <a:lstStyle/>
            <a:p>
              <a:r>
                <a:rPr lang="fr-FR" sz="1100" b="1" dirty="0" err="1"/>
                <a:t>Number</a:t>
              </a:r>
              <a:r>
                <a:rPr lang="fr-FR" sz="1100" b="1" dirty="0"/>
                <a:t> of candidates</a:t>
              </a:r>
            </a:p>
          </p:txBody>
        </p:sp>
        <p:sp>
          <p:nvSpPr>
            <p:cNvPr id="9" name="ZoneTexte 8">
              <a:extLst>
                <a:ext uri="{FF2B5EF4-FFF2-40B4-BE49-F238E27FC236}">
                  <a16:creationId xmlns:a16="http://schemas.microsoft.com/office/drawing/2014/main" id="{E2F38BAE-5EEA-42DA-BF98-A9A264605FE5}"/>
                </a:ext>
              </a:extLst>
            </p:cNvPr>
            <p:cNvSpPr txBox="1"/>
            <p:nvPr/>
          </p:nvSpPr>
          <p:spPr>
            <a:xfrm>
              <a:off x="4389799" y="3717032"/>
              <a:ext cx="1334329" cy="261610"/>
            </a:xfrm>
            <a:prstGeom prst="rect">
              <a:avLst/>
            </a:prstGeom>
            <a:solidFill>
              <a:schemeClr val="bg1"/>
            </a:solidFill>
          </p:spPr>
          <p:txBody>
            <a:bodyPr wrap="square" rtlCol="0">
              <a:spAutoFit/>
            </a:bodyPr>
            <a:lstStyle/>
            <a:p>
              <a:r>
                <a:rPr lang="fr-FR" sz="1100" b="1" dirty="0"/>
                <a:t>Variable : Grade</a:t>
              </a:r>
            </a:p>
          </p:txBody>
        </p:sp>
      </p:grpSp>
      <p:sp>
        <p:nvSpPr>
          <p:cNvPr id="10" name="ZoneTexte 9">
            <a:extLst>
              <a:ext uri="{FF2B5EF4-FFF2-40B4-BE49-F238E27FC236}">
                <a16:creationId xmlns:a16="http://schemas.microsoft.com/office/drawing/2014/main" id="{E6CB3EDF-B416-47D2-ADFC-BBDDCDF2C935}"/>
              </a:ext>
            </a:extLst>
          </p:cNvPr>
          <p:cNvSpPr txBox="1"/>
          <p:nvPr/>
        </p:nvSpPr>
        <p:spPr>
          <a:xfrm>
            <a:off x="435774" y="1824605"/>
            <a:ext cx="4968552" cy="1477328"/>
          </a:xfrm>
          <a:prstGeom prst="rect">
            <a:avLst/>
          </a:prstGeom>
          <a:noFill/>
        </p:spPr>
        <p:txBody>
          <a:bodyPr wrap="square" rtlCol="0">
            <a:spAutoFit/>
          </a:bodyPr>
          <a:lstStyle/>
          <a:p>
            <a:pPr algn="l"/>
            <a:r>
              <a:rPr lang="en-US" sz="1800" b="0" i="0" u="none" strike="noStrike" baseline="0" dirty="0">
                <a:latin typeface="F17"/>
              </a:rPr>
              <a:t>We consider the grade (out of 20) of 24 candidates in a </a:t>
            </a:r>
            <a:r>
              <a:rPr lang="fr-FR" sz="1800" b="0" i="0" u="none" strike="noStrike" baseline="0" dirty="0" err="1">
                <a:latin typeface="F17"/>
              </a:rPr>
              <a:t>competition</a:t>
            </a:r>
            <a:r>
              <a:rPr lang="fr-FR" sz="1800" b="0" i="0" u="none" strike="noStrike" baseline="0" dirty="0">
                <a:latin typeface="F17"/>
              </a:rPr>
              <a:t>:</a:t>
            </a:r>
          </a:p>
          <a:p>
            <a:pPr algn="l"/>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13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7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13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7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a:t>
            </a:r>
          </a:p>
          <a:p>
            <a:pPr algn="l"/>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a:t>
            </a:r>
            <a:endParaRPr lang="fr-FR" dirty="0">
              <a:solidFill>
                <a:srgbClr val="FF0000"/>
              </a:solidFill>
            </a:endParaRPr>
          </a:p>
        </p:txBody>
      </p:sp>
    </p:spTree>
    <p:extLst>
      <p:ext uri="{BB962C8B-B14F-4D97-AF65-F5344CB8AC3E}">
        <p14:creationId xmlns:p14="http://schemas.microsoft.com/office/powerpoint/2010/main" val="2566369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FB6D-162E-4E5B-96E7-1CC13F7E13F3}"/>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Data synthesis of a continuous variable</a:t>
            </a:r>
            <a:endParaRPr lang="fr-FR"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8F09342-BCAB-4839-A67A-FE7A362C738F}"/>
                  </a:ext>
                </a:extLst>
              </p:cNvPr>
              <p:cNvSpPr>
                <a:spLocks noGrp="1"/>
              </p:cNvSpPr>
              <p:nvPr>
                <p:ph idx="1"/>
              </p:nvPr>
            </p:nvSpPr>
            <p:spPr/>
            <p:txBody>
              <a:bodyPr/>
              <a:lstStyle/>
              <a:p>
                <a:pPr marL="0" indent="0">
                  <a:buNone/>
                </a:pPr>
                <a:r>
                  <a:rPr lang="en-US" sz="2400" dirty="0">
                    <a:latin typeface="Cambria" panose="02040503050406030204" pitchFamily="18" charset="0"/>
                    <a:ea typeface="Cambria" panose="02040503050406030204" pitchFamily="18" charset="0"/>
                  </a:rPr>
                  <a:t>The tabular synthesis of the data (observed in the raw state) of a continuous variable reveals that the number of modalities is almost equal to the total number, i.e. k ≈n
</a:t>
                </a:r>
                <a:endParaRPr lang="fr-FR" dirty="0"/>
              </a:p>
            </p:txBody>
          </p:sp>
        </mc:Choice>
        <mc:Fallback xmlns="">
          <p:sp>
            <p:nvSpPr>
              <p:cNvPr id="3" name="Espace réservé du contenu 2">
                <a:extLst>
                  <a:ext uri="{FF2B5EF4-FFF2-40B4-BE49-F238E27FC236}">
                    <a16:creationId xmlns:a16="http://schemas.microsoft.com/office/drawing/2014/main" id="{E8F09342-BCAB-4839-A67A-FE7A362C738F}"/>
                  </a:ext>
                </a:extLst>
              </p:cNvPr>
              <p:cNvSpPr>
                <a:spLocks noGrp="1" noRot="1" noChangeAspect="1" noMove="1" noResize="1" noEditPoints="1" noAdjustHandles="1" noChangeArrowheads="1" noChangeShapeType="1" noTextEdit="1"/>
              </p:cNvSpPr>
              <p:nvPr>
                <p:ph idx="1"/>
              </p:nvPr>
            </p:nvSpPr>
            <p:spPr>
              <a:blipFill>
                <a:blip r:embed="rId2"/>
                <a:stretch>
                  <a:fillRect l="-1111" t="-1078" r="-667"/>
                </a:stretch>
              </a:blipFill>
            </p:spPr>
            <p:txBody>
              <a:bodyPr/>
              <a:lstStyle/>
              <a:p>
                <a:r>
                  <a:rPr lang="fr-FR">
                    <a:noFill/>
                  </a:rPr>
                  <a:t> </a:t>
                </a:r>
              </a:p>
            </p:txBody>
          </p:sp>
        </mc:Fallback>
      </mc:AlternateContent>
      <p:sp>
        <p:nvSpPr>
          <p:cNvPr id="4" name="Flèche : angle droit 3">
            <a:extLst>
              <a:ext uri="{FF2B5EF4-FFF2-40B4-BE49-F238E27FC236}">
                <a16:creationId xmlns:a16="http://schemas.microsoft.com/office/drawing/2014/main" id="{52FF2DB2-ECDD-49FE-A4A3-3A99717B980B}"/>
              </a:ext>
            </a:extLst>
          </p:cNvPr>
          <p:cNvSpPr/>
          <p:nvPr/>
        </p:nvSpPr>
        <p:spPr>
          <a:xfrm rot="5400000">
            <a:off x="1200196" y="2912372"/>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4445EFA2-546F-4CFF-913C-92C3DFB78ECD}"/>
              </a:ext>
            </a:extLst>
          </p:cNvPr>
          <p:cNvSpPr txBox="1"/>
          <p:nvPr/>
        </p:nvSpPr>
        <p:spPr>
          <a:xfrm>
            <a:off x="2411760" y="3325336"/>
            <a:ext cx="5472608" cy="707886"/>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The observations are almost all different 
</a:t>
            </a:r>
            <a:endParaRPr lang="fr-FR" sz="2000" dirty="0">
              <a:latin typeface="Cambria" panose="02040503050406030204" pitchFamily="18" charset="0"/>
              <a:ea typeface="Cambria" panose="02040503050406030204" pitchFamily="18" charset="0"/>
            </a:endParaRPr>
          </a:p>
        </p:txBody>
      </p:sp>
      <p:sp>
        <p:nvSpPr>
          <p:cNvPr id="6" name="ZoneTexte 5">
            <a:extLst>
              <a:ext uri="{FF2B5EF4-FFF2-40B4-BE49-F238E27FC236}">
                <a16:creationId xmlns:a16="http://schemas.microsoft.com/office/drawing/2014/main" id="{22533A2D-B2BF-4211-BB9F-F40CF7D2D504}"/>
              </a:ext>
            </a:extLst>
          </p:cNvPr>
          <p:cNvSpPr txBox="1"/>
          <p:nvPr/>
        </p:nvSpPr>
        <p:spPr>
          <a:xfrm>
            <a:off x="755576" y="4437112"/>
            <a:ext cx="7704856" cy="1200329"/>
          </a:xfrm>
          <a:prstGeom prst="rect">
            <a:avLst/>
          </a:prstGeom>
          <a:noFill/>
        </p:spPr>
        <p:txBody>
          <a:bodyPr wrap="square" rtlCol="0">
            <a:spAutoFit/>
          </a:bodyPr>
          <a:lstStyle/>
          <a:p>
            <a:pPr algn="ctr"/>
            <a:r>
              <a:rPr lang="en-US" sz="2400" dirty="0">
                <a:latin typeface="Cambria" panose="02040503050406030204" pitchFamily="18" charset="0"/>
                <a:ea typeface="Cambria" panose="02040503050406030204" pitchFamily="18" charset="0"/>
              </a:rPr>
              <a:t>At this point, the table synthesis does not bring any added value !!!
</a:t>
            </a: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23292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491FFE-793D-4505-BFC7-DBA45AF89C9B}"/>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Data synthesis of a continuous variable</a:t>
            </a:r>
            <a:endParaRPr lang="fr-FR" dirty="0"/>
          </a:p>
        </p:txBody>
      </p:sp>
      <p:sp>
        <p:nvSpPr>
          <p:cNvPr id="3" name="Espace réservé du contenu 2">
            <a:extLst>
              <a:ext uri="{FF2B5EF4-FFF2-40B4-BE49-F238E27FC236}">
                <a16:creationId xmlns:a16="http://schemas.microsoft.com/office/drawing/2014/main" id="{10279462-E8AB-4BF2-B003-1ACB5DA94F15}"/>
              </a:ext>
            </a:extLst>
          </p:cNvPr>
          <p:cNvSpPr>
            <a:spLocks noGrp="1"/>
          </p:cNvSpPr>
          <p:nvPr>
            <p:ph idx="1"/>
          </p:nvPr>
        </p:nvSpPr>
        <p:spPr/>
        <p:txBody>
          <a:bodyPr>
            <a:normAutofit/>
          </a:bodyPr>
          <a:lstStyle/>
          <a:p>
            <a:pPr marL="0" indent="0">
              <a:buNone/>
            </a:pPr>
            <a:r>
              <a:rPr lang="fr-FR" dirty="0">
                <a:highlight>
                  <a:srgbClr val="FFFF00"/>
                </a:highlight>
                <a:latin typeface="Cambria" panose="02040503050406030204" pitchFamily="18" charset="0"/>
                <a:ea typeface="Cambria" panose="02040503050406030204" pitchFamily="18" charset="0"/>
              </a:rPr>
              <a:t>Solution</a:t>
            </a:r>
            <a:r>
              <a:rPr lang="fr-FR" dirty="0">
                <a:latin typeface="Cambria" panose="02040503050406030204" pitchFamily="18" charset="0"/>
                <a:ea typeface="Cambria" panose="02040503050406030204" pitchFamily="18" charset="0"/>
              </a:rPr>
              <a:t> </a:t>
            </a:r>
            <a:r>
              <a:rPr lang="fr-FR" dirty="0">
                <a:latin typeface="Cambria" panose="02040503050406030204" pitchFamily="18" charset="0"/>
                <a:ea typeface="Cambria" panose="02040503050406030204" pitchFamily="18" charset="0"/>
                <a:sym typeface="Wingdings" panose="05000000000000000000" pitchFamily="2" charset="2"/>
              </a:rPr>
              <a:t> </a:t>
            </a:r>
          </a:p>
          <a:p>
            <a:pPr marL="0" indent="0" algn="ctr">
              <a:buNone/>
            </a:pPr>
            <a:r>
              <a:rPr lang="en-US" dirty="0">
                <a:latin typeface="Cambria" panose="02040503050406030204" pitchFamily="18" charset="0"/>
                <a:ea typeface="Cambria" panose="02040503050406030204" pitchFamily="18" charset="0"/>
                <a:sym typeface="Wingdings" panose="05000000000000000000" pitchFamily="2" charset="2"/>
              </a:rPr>
              <a:t>Splitting / Grouping of data into classes / intervals</a:t>
            </a:r>
            <a:endParaRPr lang="fr-FR" dirty="0">
              <a:latin typeface="Cambria" panose="02040503050406030204" pitchFamily="18" charset="0"/>
              <a:ea typeface="Cambria" panose="02040503050406030204" pitchFamily="18" charset="0"/>
              <a:sym typeface="Wingdings" panose="05000000000000000000" pitchFamily="2" charset="2"/>
            </a:endParaRPr>
          </a:p>
          <a:p>
            <a:pPr marL="0" indent="0" algn="ctr">
              <a:buNone/>
            </a:pPr>
            <a:endParaRPr lang="fr-FR" dirty="0">
              <a:latin typeface="Cambria" panose="02040503050406030204" pitchFamily="18" charset="0"/>
              <a:ea typeface="Cambria" panose="02040503050406030204" pitchFamily="18" charset="0"/>
              <a:sym typeface="Wingdings" panose="05000000000000000000" pitchFamily="2" charset="2"/>
            </a:endParaRPr>
          </a:p>
          <a:p>
            <a:pPr>
              <a:buFont typeface="Wingdings" panose="05000000000000000000" pitchFamily="2" charset="2"/>
              <a:buChar char="ü"/>
            </a:pPr>
            <a:r>
              <a:rPr lang="fr-FR" dirty="0">
                <a:latin typeface="Cambria" panose="02040503050406030204" pitchFamily="18" charset="0"/>
                <a:ea typeface="Cambria" panose="02040503050406030204" pitchFamily="18" charset="0"/>
                <a:sym typeface="Wingdings" panose="05000000000000000000" pitchFamily="2" charset="2"/>
              </a:rPr>
              <a:t> </a:t>
            </a:r>
            <a:r>
              <a:rPr lang="en-US" sz="2400" dirty="0">
                <a:latin typeface="Cambria" panose="02040503050406030204" pitchFamily="18" charset="0"/>
                <a:ea typeface="Cambria" panose="02040503050406030204" pitchFamily="18" charset="0"/>
                <a:sym typeface="Wingdings" panose="05000000000000000000" pitchFamily="2" charset="2"/>
              </a:rPr>
              <a:t>Splitting via mathematical methods/tools
</a:t>
            </a:r>
            <a:r>
              <a:rPr lang="fr-FR" dirty="0">
                <a:latin typeface="Cambria" panose="02040503050406030204" pitchFamily="18" charset="0"/>
                <a:ea typeface="Cambria" panose="02040503050406030204" pitchFamily="18" charset="0"/>
                <a:sym typeface="Wingdings" panose="05000000000000000000" pitchFamily="2" charset="2"/>
              </a:rPr>
              <a:t> </a:t>
            </a:r>
            <a:r>
              <a:rPr lang="en-US" sz="2400" dirty="0">
                <a:latin typeface="Cambria" panose="02040503050406030204" pitchFamily="18" charset="0"/>
                <a:ea typeface="Cambria" panose="02040503050406030204" pitchFamily="18" charset="0"/>
                <a:sym typeface="Wingdings" panose="05000000000000000000" pitchFamily="2" charset="2"/>
              </a:rPr>
              <a:t>Splitting based on predefined / imposed classes (by the problem treated and / or by prior information concerning this problem)</a:t>
            </a:r>
            <a:endParaRPr lang="fr-F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45057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F1932B-997C-455F-AD24-DA43134EF156}"/>
              </a:ext>
            </a:extLst>
          </p:cNvPr>
          <p:cNvSpPr>
            <a:spLocks noGrp="1"/>
          </p:cNvSpPr>
          <p:nvPr>
            <p:ph type="title"/>
          </p:nvPr>
        </p:nvSpPr>
        <p:spPr/>
        <p:txBody>
          <a:bodyPr>
            <a:normAutofit/>
          </a:bodyPr>
          <a:lstStyle/>
          <a:p>
            <a:r>
              <a:rPr lang="fr-FR" sz="3200" dirty="0">
                <a:latin typeface="Cambria" panose="02040503050406030204" pitchFamily="18" charset="0"/>
                <a:ea typeface="Cambria" panose="02040503050406030204" pitchFamily="18" charset="0"/>
              </a:rPr>
              <a:t>Example </a:t>
            </a:r>
            <a:br>
              <a:rPr lang="fr-FR" sz="3200" dirty="0">
                <a:latin typeface="Cambria" panose="02040503050406030204" pitchFamily="18" charset="0"/>
                <a:ea typeface="Cambria" panose="02040503050406030204" pitchFamily="18" charset="0"/>
              </a:rPr>
            </a:br>
            <a:r>
              <a:rPr lang="en-US" sz="3200" dirty="0">
                <a:latin typeface="Cambria" panose="02040503050406030204" pitchFamily="18" charset="0"/>
                <a:ea typeface="Cambria" panose="02040503050406030204" pitchFamily="18" charset="0"/>
              </a:rPr>
              <a:t>Data synthesis of a continuous variable</a:t>
            </a:r>
            <a:endParaRPr lang="fr-FR" sz="3200" dirty="0"/>
          </a:p>
        </p:txBody>
      </p:sp>
      <p:pic>
        <p:nvPicPr>
          <p:cNvPr id="5" name="Espace réservé du contenu 4">
            <a:extLst>
              <a:ext uri="{FF2B5EF4-FFF2-40B4-BE49-F238E27FC236}">
                <a16:creationId xmlns:a16="http://schemas.microsoft.com/office/drawing/2014/main" id="{9559CCB7-5563-48E2-A39B-48FE32078B51}"/>
              </a:ext>
            </a:extLst>
          </p:cNvPr>
          <p:cNvPicPr>
            <a:picLocks noGrp="1" noChangeAspect="1"/>
          </p:cNvPicPr>
          <p:nvPr>
            <p:ph idx="1"/>
          </p:nvPr>
        </p:nvPicPr>
        <p:blipFill rotWithShape="1">
          <a:blip r:embed="rId2"/>
          <a:srcRect t="49662"/>
          <a:stretch/>
        </p:blipFill>
        <p:spPr>
          <a:xfrm>
            <a:off x="457200" y="2200002"/>
            <a:ext cx="6336704" cy="724942"/>
          </a:xfrm>
        </p:spPr>
      </p:pic>
      <p:sp>
        <p:nvSpPr>
          <p:cNvPr id="6" name="Flèche : angle droit 5">
            <a:extLst>
              <a:ext uri="{FF2B5EF4-FFF2-40B4-BE49-F238E27FC236}">
                <a16:creationId xmlns:a16="http://schemas.microsoft.com/office/drawing/2014/main" id="{7E7A2773-7692-48EF-9748-0D64B499D964}"/>
              </a:ext>
            </a:extLst>
          </p:cNvPr>
          <p:cNvSpPr/>
          <p:nvPr/>
        </p:nvSpPr>
        <p:spPr>
          <a:xfrm rot="5400000">
            <a:off x="900160" y="2915182"/>
            <a:ext cx="648072" cy="648073"/>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9E65314-720B-478D-A858-5D356B100020}"/>
              </a:ext>
            </a:extLst>
          </p:cNvPr>
          <p:cNvSpPr txBox="1"/>
          <p:nvPr/>
        </p:nvSpPr>
        <p:spPr>
          <a:xfrm>
            <a:off x="667591" y="3572780"/>
            <a:ext cx="3528392" cy="830997"/>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We decided to synthesize the data according to the modalities below :
</a:t>
            </a:r>
            <a:endParaRPr lang="fr-FR" sz="1600" dirty="0">
              <a:latin typeface="Cambria" panose="02040503050406030204" pitchFamily="18" charset="0"/>
              <a:ea typeface="Cambria" panose="02040503050406030204" pitchFamily="18" charset="0"/>
            </a:endParaRPr>
          </a:p>
        </p:txBody>
      </p:sp>
      <p:pic>
        <p:nvPicPr>
          <p:cNvPr id="9" name="Image 8">
            <a:extLst>
              <a:ext uri="{FF2B5EF4-FFF2-40B4-BE49-F238E27FC236}">
                <a16:creationId xmlns:a16="http://schemas.microsoft.com/office/drawing/2014/main" id="{C8B937C7-8932-4283-B68D-80D408B24B16}"/>
              </a:ext>
            </a:extLst>
          </p:cNvPr>
          <p:cNvPicPr>
            <a:picLocks noChangeAspect="1"/>
          </p:cNvPicPr>
          <p:nvPr/>
        </p:nvPicPr>
        <p:blipFill>
          <a:blip r:embed="rId3"/>
          <a:stretch>
            <a:fillRect/>
          </a:stretch>
        </p:blipFill>
        <p:spPr>
          <a:xfrm>
            <a:off x="611560" y="4416789"/>
            <a:ext cx="1873346" cy="1790792"/>
          </a:xfrm>
          <a:prstGeom prst="rect">
            <a:avLst/>
          </a:prstGeom>
        </p:spPr>
      </p:pic>
      <p:sp>
        <p:nvSpPr>
          <p:cNvPr id="10" name="Flèche : droite 9">
            <a:extLst>
              <a:ext uri="{FF2B5EF4-FFF2-40B4-BE49-F238E27FC236}">
                <a16:creationId xmlns:a16="http://schemas.microsoft.com/office/drawing/2014/main" id="{D00598FB-A56E-4973-8723-4EF8ECE9C57F}"/>
              </a:ext>
            </a:extLst>
          </p:cNvPr>
          <p:cNvSpPr/>
          <p:nvPr/>
        </p:nvSpPr>
        <p:spPr>
          <a:xfrm>
            <a:off x="3414363" y="4691573"/>
            <a:ext cx="576064" cy="36004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38CED182-D357-4973-815C-FCCED4A61898}"/>
              </a:ext>
            </a:extLst>
          </p:cNvPr>
          <p:cNvSpPr txBox="1"/>
          <p:nvPr/>
        </p:nvSpPr>
        <p:spPr>
          <a:xfrm>
            <a:off x="457200" y="1598442"/>
            <a:ext cx="7427168" cy="646331"/>
          </a:xfrm>
          <a:prstGeom prst="rect">
            <a:avLst/>
          </a:prstGeom>
          <a:noFill/>
        </p:spPr>
        <p:txBody>
          <a:bodyPr wrap="square" rtlCol="0">
            <a:spAutoFit/>
          </a:bodyPr>
          <a:lstStyle/>
          <a:p>
            <a:pPr algn="l"/>
            <a:r>
              <a:rPr lang="en-US" dirty="0">
                <a:latin typeface="F17"/>
              </a:rPr>
              <a:t>T</a:t>
            </a:r>
            <a:r>
              <a:rPr lang="en-US" sz="1800" b="0" i="0" u="none" strike="noStrike" baseline="0" dirty="0">
                <a:latin typeface="F17"/>
              </a:rPr>
              <a:t>he data below represents the current monthly net</a:t>
            </a:r>
          </a:p>
          <a:p>
            <a:pPr algn="l"/>
            <a:r>
              <a:rPr lang="en-US" sz="1800" b="0" i="0" u="none" strike="noStrike" baseline="0" dirty="0">
                <a:latin typeface="F17"/>
              </a:rPr>
              <a:t>salary (rounded to nearest hundredth) of 24 candidates to a </a:t>
            </a:r>
            <a:r>
              <a:rPr lang="en-ZA" sz="1800" b="0" i="0" u="none" strike="noStrike" baseline="0" dirty="0">
                <a:latin typeface="F17"/>
              </a:rPr>
              <a:t>competition</a:t>
            </a:r>
            <a:r>
              <a:rPr lang="fr-FR" sz="1800" b="0" i="0" u="none" strike="noStrike" baseline="0" dirty="0">
                <a:latin typeface="F17"/>
              </a:rPr>
              <a:t> :</a:t>
            </a:r>
          </a:p>
        </p:txBody>
      </p:sp>
      <p:graphicFrame>
        <p:nvGraphicFramePr>
          <p:cNvPr id="3" name="Tableau 7">
            <a:extLst>
              <a:ext uri="{FF2B5EF4-FFF2-40B4-BE49-F238E27FC236}">
                <a16:creationId xmlns:a16="http://schemas.microsoft.com/office/drawing/2014/main" id="{CC04CAD9-D5F7-4932-9D7A-0805E4AB1817}"/>
              </a:ext>
            </a:extLst>
          </p:cNvPr>
          <p:cNvGraphicFramePr>
            <a:graphicFrameLocks noGrp="1"/>
          </p:cNvGraphicFramePr>
          <p:nvPr>
            <p:extLst>
              <p:ext uri="{D42A27DB-BD31-4B8C-83A1-F6EECF244321}">
                <p14:modId xmlns:p14="http://schemas.microsoft.com/office/powerpoint/2010/main" val="3721755503"/>
              </p:ext>
            </p:extLst>
          </p:nvPr>
        </p:nvGraphicFramePr>
        <p:xfrm>
          <a:off x="4539977" y="3429000"/>
          <a:ext cx="4488160" cy="3237344"/>
        </p:xfrm>
        <a:graphic>
          <a:graphicData uri="http://schemas.openxmlformats.org/drawingml/2006/table">
            <a:tbl>
              <a:tblPr firstRow="1" bandRow="1">
                <a:tableStyleId>{5C22544A-7EE6-4342-B048-85BDC9FD1C3A}</a:tableStyleId>
              </a:tblPr>
              <a:tblGrid>
                <a:gridCol w="2244080">
                  <a:extLst>
                    <a:ext uri="{9D8B030D-6E8A-4147-A177-3AD203B41FA5}">
                      <a16:colId xmlns:a16="http://schemas.microsoft.com/office/drawing/2014/main" val="1356652941"/>
                    </a:ext>
                  </a:extLst>
                </a:gridCol>
                <a:gridCol w="2244080">
                  <a:extLst>
                    <a:ext uri="{9D8B030D-6E8A-4147-A177-3AD203B41FA5}">
                      <a16:colId xmlns:a16="http://schemas.microsoft.com/office/drawing/2014/main" val="2048177844"/>
                    </a:ext>
                  </a:extLst>
                </a:gridCol>
              </a:tblGrid>
              <a:tr h="370840">
                <a:tc>
                  <a:txBody>
                    <a:bodyPr/>
                    <a:lstStyle/>
                    <a:p>
                      <a:r>
                        <a:rPr lang="fr-FR" dirty="0"/>
                        <a:t>Net </a:t>
                      </a:r>
                      <a:r>
                        <a:rPr lang="fr-FR" dirty="0" err="1"/>
                        <a:t>salary</a:t>
                      </a:r>
                      <a:endParaRPr lang="fr-FR" dirty="0"/>
                    </a:p>
                  </a:txBody>
                  <a:tcPr/>
                </a:tc>
                <a:tc>
                  <a:txBody>
                    <a:bodyPr/>
                    <a:lstStyle/>
                    <a:p>
                      <a:r>
                        <a:rPr lang="fr-FR" dirty="0" err="1"/>
                        <a:t>Number</a:t>
                      </a:r>
                      <a:r>
                        <a:rPr lang="fr-FR" dirty="0"/>
                        <a:t> of candidates</a:t>
                      </a:r>
                    </a:p>
                  </a:txBody>
                  <a:tcPr/>
                </a:tc>
                <a:extLst>
                  <a:ext uri="{0D108BD9-81ED-4DB2-BD59-A6C34878D82A}">
                    <a16:rowId xmlns:a16="http://schemas.microsoft.com/office/drawing/2014/main" val="1975563695"/>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944154543"/>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3304038032"/>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321812077"/>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06752121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3338994966"/>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606775362"/>
                  </a:ext>
                </a:extLst>
              </a:tr>
              <a:tr h="372224">
                <a:tc>
                  <a:txBody>
                    <a:bodyPr/>
                    <a:lstStyle/>
                    <a:p>
                      <a:r>
                        <a:rPr lang="fr-FR" b="1" dirty="0"/>
                        <a:t>Total</a:t>
                      </a:r>
                    </a:p>
                  </a:txBody>
                  <a:tcPr/>
                </a:tc>
                <a:tc>
                  <a:txBody>
                    <a:bodyPr/>
                    <a:lstStyle/>
                    <a:p>
                      <a:r>
                        <a:rPr lang="fr-FR" b="1" dirty="0"/>
                        <a:t>24</a:t>
                      </a:r>
                    </a:p>
                  </a:txBody>
                  <a:tcPr/>
                </a:tc>
                <a:extLst>
                  <a:ext uri="{0D108BD9-81ED-4DB2-BD59-A6C34878D82A}">
                    <a16:rowId xmlns:a16="http://schemas.microsoft.com/office/drawing/2014/main" val="1608825736"/>
                  </a:ext>
                </a:extLst>
              </a:tr>
            </a:tbl>
          </a:graphicData>
        </a:graphic>
      </p:graphicFrame>
    </p:spTree>
    <p:extLst>
      <p:ext uri="{BB962C8B-B14F-4D97-AF65-F5344CB8AC3E}">
        <p14:creationId xmlns:p14="http://schemas.microsoft.com/office/powerpoint/2010/main" val="526900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F1932B-997C-455F-AD24-DA43134EF156}"/>
              </a:ext>
            </a:extLst>
          </p:cNvPr>
          <p:cNvSpPr>
            <a:spLocks noGrp="1"/>
          </p:cNvSpPr>
          <p:nvPr>
            <p:ph type="title"/>
          </p:nvPr>
        </p:nvSpPr>
        <p:spPr/>
        <p:txBody>
          <a:bodyPr>
            <a:normAutofit/>
          </a:bodyPr>
          <a:lstStyle/>
          <a:p>
            <a:r>
              <a:rPr lang="fr-FR" sz="3200" dirty="0">
                <a:latin typeface="Cambria" panose="02040503050406030204" pitchFamily="18" charset="0"/>
                <a:ea typeface="Cambria" panose="02040503050406030204" pitchFamily="18" charset="0"/>
              </a:rPr>
              <a:t>Example </a:t>
            </a:r>
            <a:br>
              <a:rPr lang="fr-FR" sz="3200" dirty="0">
                <a:latin typeface="Cambria" panose="02040503050406030204" pitchFamily="18" charset="0"/>
                <a:ea typeface="Cambria" panose="02040503050406030204" pitchFamily="18" charset="0"/>
              </a:rPr>
            </a:br>
            <a:r>
              <a:rPr lang="en-US" sz="3200" dirty="0">
                <a:latin typeface="Cambria" panose="02040503050406030204" pitchFamily="18" charset="0"/>
                <a:ea typeface="Cambria" panose="02040503050406030204" pitchFamily="18" charset="0"/>
              </a:rPr>
              <a:t>Data synthesis of a continuous variable</a:t>
            </a:r>
            <a:endParaRPr lang="fr-FR" sz="3200" dirty="0"/>
          </a:p>
        </p:txBody>
      </p:sp>
      <p:pic>
        <p:nvPicPr>
          <p:cNvPr id="5" name="Espace réservé du contenu 4">
            <a:extLst>
              <a:ext uri="{FF2B5EF4-FFF2-40B4-BE49-F238E27FC236}">
                <a16:creationId xmlns:a16="http://schemas.microsoft.com/office/drawing/2014/main" id="{9559CCB7-5563-48E2-A39B-48FE32078B51}"/>
              </a:ext>
            </a:extLst>
          </p:cNvPr>
          <p:cNvPicPr>
            <a:picLocks noGrp="1" noChangeAspect="1"/>
          </p:cNvPicPr>
          <p:nvPr>
            <p:ph idx="1"/>
          </p:nvPr>
        </p:nvPicPr>
        <p:blipFill rotWithShape="1">
          <a:blip r:embed="rId2"/>
          <a:srcRect t="49662"/>
          <a:stretch/>
        </p:blipFill>
        <p:spPr>
          <a:xfrm>
            <a:off x="457200" y="2200002"/>
            <a:ext cx="6336704" cy="724942"/>
          </a:xfrm>
        </p:spPr>
      </p:pic>
      <p:sp>
        <p:nvSpPr>
          <p:cNvPr id="6" name="Flèche : angle droit 5">
            <a:extLst>
              <a:ext uri="{FF2B5EF4-FFF2-40B4-BE49-F238E27FC236}">
                <a16:creationId xmlns:a16="http://schemas.microsoft.com/office/drawing/2014/main" id="{7E7A2773-7692-48EF-9748-0D64B499D964}"/>
              </a:ext>
            </a:extLst>
          </p:cNvPr>
          <p:cNvSpPr/>
          <p:nvPr/>
        </p:nvSpPr>
        <p:spPr>
          <a:xfrm rot="5400000">
            <a:off x="900160" y="2915182"/>
            <a:ext cx="648072" cy="648073"/>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9E65314-720B-478D-A858-5D356B100020}"/>
              </a:ext>
            </a:extLst>
          </p:cNvPr>
          <p:cNvSpPr txBox="1"/>
          <p:nvPr/>
        </p:nvSpPr>
        <p:spPr>
          <a:xfrm>
            <a:off x="667591" y="3572780"/>
            <a:ext cx="3528392" cy="830997"/>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We decided to synthesize the data according to the modalities below :
</a:t>
            </a:r>
            <a:endParaRPr lang="fr-FR" sz="1600" dirty="0">
              <a:latin typeface="Cambria" panose="02040503050406030204" pitchFamily="18" charset="0"/>
              <a:ea typeface="Cambria" panose="02040503050406030204" pitchFamily="18" charset="0"/>
            </a:endParaRPr>
          </a:p>
        </p:txBody>
      </p:sp>
      <p:pic>
        <p:nvPicPr>
          <p:cNvPr id="9" name="Image 8">
            <a:extLst>
              <a:ext uri="{FF2B5EF4-FFF2-40B4-BE49-F238E27FC236}">
                <a16:creationId xmlns:a16="http://schemas.microsoft.com/office/drawing/2014/main" id="{C8B937C7-8932-4283-B68D-80D408B24B16}"/>
              </a:ext>
            </a:extLst>
          </p:cNvPr>
          <p:cNvPicPr>
            <a:picLocks noChangeAspect="1"/>
          </p:cNvPicPr>
          <p:nvPr/>
        </p:nvPicPr>
        <p:blipFill>
          <a:blip r:embed="rId3"/>
          <a:stretch>
            <a:fillRect/>
          </a:stretch>
        </p:blipFill>
        <p:spPr>
          <a:xfrm>
            <a:off x="611560" y="4416789"/>
            <a:ext cx="1873346" cy="1790792"/>
          </a:xfrm>
          <a:prstGeom prst="rect">
            <a:avLst/>
          </a:prstGeom>
        </p:spPr>
      </p:pic>
      <p:sp>
        <p:nvSpPr>
          <p:cNvPr id="10" name="Flèche : droite 9">
            <a:extLst>
              <a:ext uri="{FF2B5EF4-FFF2-40B4-BE49-F238E27FC236}">
                <a16:creationId xmlns:a16="http://schemas.microsoft.com/office/drawing/2014/main" id="{D00598FB-A56E-4973-8723-4EF8ECE9C57F}"/>
              </a:ext>
            </a:extLst>
          </p:cNvPr>
          <p:cNvSpPr/>
          <p:nvPr/>
        </p:nvSpPr>
        <p:spPr>
          <a:xfrm>
            <a:off x="4195983" y="4653136"/>
            <a:ext cx="576064" cy="36004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38CED182-D357-4973-815C-FCCED4A61898}"/>
              </a:ext>
            </a:extLst>
          </p:cNvPr>
          <p:cNvSpPr txBox="1"/>
          <p:nvPr/>
        </p:nvSpPr>
        <p:spPr>
          <a:xfrm>
            <a:off x="457200" y="1598442"/>
            <a:ext cx="7427168" cy="646331"/>
          </a:xfrm>
          <a:prstGeom prst="rect">
            <a:avLst/>
          </a:prstGeom>
          <a:noFill/>
        </p:spPr>
        <p:txBody>
          <a:bodyPr wrap="square" rtlCol="0">
            <a:spAutoFit/>
          </a:bodyPr>
          <a:lstStyle/>
          <a:p>
            <a:pPr algn="l"/>
            <a:r>
              <a:rPr lang="en-US" dirty="0">
                <a:latin typeface="F17"/>
              </a:rPr>
              <a:t>T</a:t>
            </a:r>
            <a:r>
              <a:rPr lang="en-US" sz="1800" b="0" i="0" u="none" strike="noStrike" baseline="0" dirty="0">
                <a:latin typeface="F17"/>
              </a:rPr>
              <a:t>he data below represents the current monthly net</a:t>
            </a:r>
          </a:p>
          <a:p>
            <a:pPr algn="l"/>
            <a:r>
              <a:rPr lang="en-US" sz="1800" b="0" i="0" u="none" strike="noStrike" baseline="0" dirty="0">
                <a:latin typeface="F17"/>
              </a:rPr>
              <a:t>salary (rounded to nearest hundredth) of 24 candidates to a </a:t>
            </a:r>
            <a:r>
              <a:rPr lang="en-ZA" sz="1800" b="0" i="0" u="none" strike="noStrike" baseline="0" dirty="0">
                <a:latin typeface="F17"/>
              </a:rPr>
              <a:t>competition</a:t>
            </a:r>
            <a:r>
              <a:rPr lang="fr-FR" sz="1800" b="0" i="0" u="none" strike="noStrike" baseline="0" dirty="0">
                <a:latin typeface="F17"/>
              </a:rPr>
              <a:t> :</a:t>
            </a:r>
          </a:p>
        </p:txBody>
      </p:sp>
      <p:pic>
        <p:nvPicPr>
          <p:cNvPr id="4" name="Image 3">
            <a:extLst>
              <a:ext uri="{FF2B5EF4-FFF2-40B4-BE49-F238E27FC236}">
                <a16:creationId xmlns:a16="http://schemas.microsoft.com/office/drawing/2014/main" id="{904F2B5F-1B8F-4AFF-BA59-64BC51651D2D}"/>
              </a:ext>
            </a:extLst>
          </p:cNvPr>
          <p:cNvPicPr>
            <a:picLocks noChangeAspect="1"/>
          </p:cNvPicPr>
          <p:nvPr/>
        </p:nvPicPr>
        <p:blipFill rotWithShape="1">
          <a:blip r:embed="rId4"/>
          <a:srcRect l="27175" t="50000" r="52658" b="33201"/>
          <a:stretch/>
        </p:blipFill>
        <p:spPr>
          <a:xfrm>
            <a:off x="4861117" y="3988278"/>
            <a:ext cx="4031363" cy="1888994"/>
          </a:xfrm>
          <a:prstGeom prst="rect">
            <a:avLst/>
          </a:prstGeom>
        </p:spPr>
      </p:pic>
    </p:spTree>
    <p:extLst>
      <p:ext uri="{BB962C8B-B14F-4D97-AF65-F5344CB8AC3E}">
        <p14:creationId xmlns:p14="http://schemas.microsoft.com/office/powerpoint/2010/main" val="3502793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6EAA5E-6BF7-4EBE-B95A-25E1F8FF2037}"/>
              </a:ext>
            </a:extLst>
          </p:cNvPr>
          <p:cNvSpPr>
            <a:spLocks noGrp="1"/>
          </p:cNvSpPr>
          <p:nvPr>
            <p:ph type="title"/>
          </p:nvPr>
        </p:nvSpPr>
        <p:spPr>
          <a:xfrm>
            <a:off x="457200" y="485800"/>
            <a:ext cx="8075240" cy="1143000"/>
          </a:xfrm>
        </p:spPr>
        <p:txBody>
          <a:bodyPr>
            <a:noAutofit/>
          </a:bodyPr>
          <a:lstStyle/>
          <a:p>
            <a:r>
              <a:rPr lang="en-US" sz="3600" dirty="0">
                <a:latin typeface="Cambria" panose="02040503050406030204" pitchFamily="18" charset="0"/>
                <a:ea typeface="Cambria" panose="02040503050406030204" pitchFamily="18" charset="0"/>
              </a:rPr>
              <a:t>Continuous variable "discretized" data (upstream) </a:t>
            </a:r>
            <a:r>
              <a:rPr lang="fr-FR" sz="3600" dirty="0">
                <a:latin typeface="Cambria" panose="02040503050406030204" pitchFamily="18" charset="0"/>
                <a:ea typeface="Cambria" panose="02040503050406030204" pitchFamily="18" charset="0"/>
              </a:rPr>
              <a:t> </a:t>
            </a:r>
            <a:br>
              <a:rPr lang="fr-FR" sz="3600" dirty="0">
                <a:latin typeface="Cambria" panose="02040503050406030204" pitchFamily="18" charset="0"/>
                <a:ea typeface="Cambria" panose="02040503050406030204" pitchFamily="18" charset="0"/>
              </a:rPr>
            </a:br>
            <a:endParaRPr lang="fr-FR" sz="3600" dirty="0">
              <a:latin typeface="Cambria" panose="02040503050406030204" pitchFamily="18" charset="0"/>
              <a:ea typeface="Cambria" panose="02040503050406030204" pitchFamily="18" charset="0"/>
            </a:endParaRPr>
          </a:p>
        </p:txBody>
      </p:sp>
      <p:sp>
        <p:nvSpPr>
          <p:cNvPr id="4" name="Espace réservé du contenu 3">
            <a:extLst>
              <a:ext uri="{FF2B5EF4-FFF2-40B4-BE49-F238E27FC236}">
                <a16:creationId xmlns:a16="http://schemas.microsoft.com/office/drawing/2014/main" id="{9C8C3E54-7FE3-4F1A-AEBE-8BDF3C6B745B}"/>
              </a:ext>
            </a:extLst>
          </p:cNvPr>
          <p:cNvSpPr>
            <a:spLocks noGrp="1"/>
          </p:cNvSpPr>
          <p:nvPr>
            <p:ph idx="1"/>
          </p:nvPr>
        </p:nvSpPr>
        <p:spPr/>
        <p:txBody>
          <a:bodyPr>
            <a:normAutofit/>
          </a:bodyPr>
          <a:lstStyle/>
          <a:p>
            <a:pPr marL="0" indent="0">
              <a:buNone/>
            </a:pPr>
            <a:r>
              <a:rPr lang="en-CA" dirty="0">
                <a:latin typeface="Cambria" panose="02040503050406030204" pitchFamily="18" charset="0"/>
                <a:ea typeface="Cambria" panose="02040503050406030204" pitchFamily="18" charset="0"/>
              </a:rPr>
              <a:t>Remark:</a:t>
            </a:r>
          </a:p>
          <a:p>
            <a:pPr marL="0" indent="0">
              <a:buNone/>
            </a:pPr>
            <a:endParaRPr lang="fr-FR" dirty="0">
              <a:latin typeface="Cambria" panose="02040503050406030204" pitchFamily="18" charset="0"/>
              <a:ea typeface="Cambria" panose="02040503050406030204" pitchFamily="18" charset="0"/>
            </a:endParaRPr>
          </a:p>
          <a:p>
            <a:pPr marL="0" indent="0">
              <a:buNone/>
            </a:pPr>
            <a:r>
              <a:rPr lang="en-US" sz="2400" dirty="0">
                <a:latin typeface="Cambria" panose="02040503050406030204" pitchFamily="18" charset="0"/>
                <a:ea typeface="Cambria" panose="02040503050406030204" pitchFamily="18" charset="0"/>
              </a:rPr>
              <a:t>In practice (in the context of a survey for example), continuous variables are discretized beforehand. Explicitly, the "data scientist" divides in advance the set of possible values of the continuous variable into intervals (modalities). </a:t>
            </a:r>
          </a:p>
          <a:p>
            <a:pPr marL="0" indent="0">
              <a:buNone/>
            </a:pPr>
            <a:r>
              <a:rPr lang="en-US" sz="2400" dirty="0">
                <a:latin typeface="Cambria" panose="02040503050406030204" pitchFamily="18" charset="0"/>
                <a:ea typeface="Cambria" panose="02040503050406030204" pitchFamily="18" charset="0"/>
              </a:rPr>
              <a:t>He (she) asks the participants to situate themselves regarding these intervals. This splitting is often based on the needs of the study on the one hand, and prior knowledge of the variable and the population studied on the other.</a:t>
            </a: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72213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923CAB-B80F-4B96-A356-44164A8C1453}"/>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Operations</a:t>
            </a:r>
            <a:r>
              <a:rPr lang="fr-FR" dirty="0"/>
              <a:t> </a:t>
            </a:r>
          </a:p>
        </p:txBody>
      </p:sp>
      <p:pic>
        <p:nvPicPr>
          <p:cNvPr id="4" name="Image 3">
            <a:extLst>
              <a:ext uri="{FF2B5EF4-FFF2-40B4-BE49-F238E27FC236}">
                <a16:creationId xmlns:a16="http://schemas.microsoft.com/office/drawing/2014/main" id="{72CBE940-A926-4DF5-88A2-86D68A767C7B}"/>
              </a:ext>
            </a:extLst>
          </p:cNvPr>
          <p:cNvPicPr>
            <a:picLocks noChangeAspect="1"/>
          </p:cNvPicPr>
          <p:nvPr/>
        </p:nvPicPr>
        <p:blipFill rotWithShape="1">
          <a:blip r:embed="rId2"/>
          <a:srcRect l="30222" t="61200" r="30313" b="23400"/>
          <a:stretch/>
        </p:blipFill>
        <p:spPr>
          <a:xfrm>
            <a:off x="1283950" y="1556792"/>
            <a:ext cx="7123354" cy="1563508"/>
          </a:xfrm>
          <a:prstGeom prst="rect">
            <a:avLst/>
          </a:prstGeom>
        </p:spPr>
      </p:pic>
      <p:pic>
        <p:nvPicPr>
          <p:cNvPr id="7" name="Image 6">
            <a:extLst>
              <a:ext uri="{FF2B5EF4-FFF2-40B4-BE49-F238E27FC236}">
                <a16:creationId xmlns:a16="http://schemas.microsoft.com/office/drawing/2014/main" id="{2A7B47D5-65EE-437C-A9A0-72147CAFC8F4}"/>
              </a:ext>
            </a:extLst>
          </p:cNvPr>
          <p:cNvPicPr>
            <a:picLocks noChangeAspect="1"/>
          </p:cNvPicPr>
          <p:nvPr/>
        </p:nvPicPr>
        <p:blipFill rotWithShape="1">
          <a:blip r:embed="rId3"/>
          <a:srcRect l="30312" t="30400" r="29526" b="54295"/>
          <a:stretch/>
        </p:blipFill>
        <p:spPr>
          <a:xfrm>
            <a:off x="1283949" y="3344036"/>
            <a:ext cx="7032467" cy="1507496"/>
          </a:xfrm>
          <a:prstGeom prst="rect">
            <a:avLst/>
          </a:prstGeom>
        </p:spPr>
      </p:pic>
      <p:pic>
        <p:nvPicPr>
          <p:cNvPr id="11" name="Image 10">
            <a:extLst>
              <a:ext uri="{FF2B5EF4-FFF2-40B4-BE49-F238E27FC236}">
                <a16:creationId xmlns:a16="http://schemas.microsoft.com/office/drawing/2014/main" id="{47B7E1CB-9173-4C27-B723-65D4DE66352F}"/>
              </a:ext>
            </a:extLst>
          </p:cNvPr>
          <p:cNvPicPr>
            <a:picLocks noChangeAspect="1"/>
          </p:cNvPicPr>
          <p:nvPr/>
        </p:nvPicPr>
        <p:blipFill rotWithShape="1">
          <a:blip r:embed="rId4"/>
          <a:srcRect l="30313" t="56002" r="32676" b="36000"/>
          <a:stretch/>
        </p:blipFill>
        <p:spPr>
          <a:xfrm>
            <a:off x="1283949" y="5075268"/>
            <a:ext cx="6573127" cy="657988"/>
          </a:xfrm>
          <a:prstGeom prst="rect">
            <a:avLst/>
          </a:prstGeom>
        </p:spPr>
      </p:pic>
      <p:pic>
        <p:nvPicPr>
          <p:cNvPr id="13" name="Image 12">
            <a:extLst>
              <a:ext uri="{FF2B5EF4-FFF2-40B4-BE49-F238E27FC236}">
                <a16:creationId xmlns:a16="http://schemas.microsoft.com/office/drawing/2014/main" id="{53F14A7A-C028-4BBF-96F8-4708FFDC4190}"/>
              </a:ext>
            </a:extLst>
          </p:cNvPr>
          <p:cNvPicPr>
            <a:picLocks noChangeAspect="1"/>
          </p:cNvPicPr>
          <p:nvPr/>
        </p:nvPicPr>
        <p:blipFill rotWithShape="1">
          <a:blip r:embed="rId4"/>
          <a:srcRect l="30313" t="75007" r="34250" b="16087"/>
          <a:stretch/>
        </p:blipFill>
        <p:spPr>
          <a:xfrm>
            <a:off x="1283949" y="5733256"/>
            <a:ext cx="6357296" cy="657988"/>
          </a:xfrm>
          <a:prstGeom prst="rect">
            <a:avLst/>
          </a:prstGeom>
        </p:spPr>
      </p:pic>
      <p:pic>
        <p:nvPicPr>
          <p:cNvPr id="17" name="Image 16">
            <a:extLst>
              <a:ext uri="{FF2B5EF4-FFF2-40B4-BE49-F238E27FC236}">
                <a16:creationId xmlns:a16="http://schemas.microsoft.com/office/drawing/2014/main" id="{0F1E5E0E-080C-45F6-9782-9651FE61B4EA}"/>
              </a:ext>
            </a:extLst>
          </p:cNvPr>
          <p:cNvPicPr>
            <a:picLocks noChangeAspect="1"/>
          </p:cNvPicPr>
          <p:nvPr/>
        </p:nvPicPr>
        <p:blipFill rotWithShape="1">
          <a:blip r:embed="rId5"/>
          <a:srcRect l="24276" t="40200" r="73625" b="17993"/>
          <a:stretch/>
        </p:blipFill>
        <p:spPr>
          <a:xfrm>
            <a:off x="736696" y="1412776"/>
            <a:ext cx="411446" cy="4608511"/>
          </a:xfrm>
          <a:prstGeom prst="rect">
            <a:avLst/>
          </a:prstGeom>
        </p:spPr>
      </p:pic>
    </p:spTree>
    <p:extLst>
      <p:ext uri="{BB962C8B-B14F-4D97-AF65-F5344CB8AC3E}">
        <p14:creationId xmlns:p14="http://schemas.microsoft.com/office/powerpoint/2010/main" val="1707031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Application – Back to </a:t>
            </a:r>
            <a:r>
              <a:rPr lang="fr-FR" dirty="0" err="1">
                <a:latin typeface="Cambria" panose="02040503050406030204" pitchFamily="18" charset="0"/>
                <a:ea typeface="Cambria" panose="02040503050406030204" pitchFamily="18" charset="0"/>
              </a:rPr>
              <a:t>examples</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107504" y="1166018"/>
                <a:ext cx="9036496" cy="4525963"/>
              </a:xfrm>
            </p:spPr>
            <p:txBody>
              <a:bodyPr>
                <a:normAutofit/>
              </a:bodyPr>
              <a:lstStyle/>
              <a:p>
                <a:pPr marL="0" indent="0">
                  <a:buNone/>
                </a:pPr>
                <a:r>
                  <a:rPr lang="fr-FR" sz="2400" dirty="0" err="1">
                    <a:latin typeface="Cambria" panose="02040503050406030204" pitchFamily="18" charset="0"/>
                    <a:ea typeface="Cambria" panose="02040503050406030204" pitchFamily="18" charset="0"/>
                  </a:rPr>
                  <a:t>Calculate</a:t>
                </a:r>
                <a:r>
                  <a:rPr lang="fr-FR" sz="2400" dirty="0">
                    <a:latin typeface="Cambria" panose="02040503050406030204" pitchFamily="18" charset="0"/>
                    <a:ea typeface="Cambria" panose="02040503050406030204" pitchFamily="18" charset="0"/>
                  </a:rPr>
                  <a:t> </a:t>
                </a:r>
                <a14:m>
                  <m:oMath xmlns:m="http://schemas.openxmlformats.org/officeDocument/2006/math">
                    <m:sSubSup>
                      <m:sSubSupPr>
                        <m:ctrlPr>
                          <a:rPr lang="fr-FR" sz="2400" i="1" smtClean="0">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𝑛</m:t>
                        </m:r>
                      </m:e>
                      <m:sub>
                        <m:r>
                          <a:rPr lang="fr-FR" sz="2400" b="0" i="1" smtClean="0">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i="1">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i="1">
                            <a:solidFill>
                              <a:srgbClr val="FF0000"/>
                            </a:solidFill>
                            <a:latin typeface="Cambria Math" panose="02040503050406030204" pitchFamily="18" charset="0"/>
                          </a:rPr>
                          <m:t>𝑛</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et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t> </a:t>
                </a:r>
                <a:r>
                  <a:rPr lang="en-US" sz="2400" dirty="0"/>
                  <a:t>of the data presented in the table below:</a:t>
                </a:r>
                <a:endParaRPr lang="fr-FR" sz="2400" dirty="0"/>
              </a:p>
              <a:p>
                <a:pPr marL="0" indent="0">
                  <a:buNone/>
                </a:pPr>
                <a:r>
                  <a:rPr lang="fr-FR" sz="2400" dirty="0"/>
                  <a:t> </a:t>
                </a:r>
              </a:p>
            </p:txBody>
          </p:sp>
        </mc:Choice>
        <mc:Fallback>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107504" y="1166018"/>
                <a:ext cx="9036496" cy="4525963"/>
              </a:xfrm>
              <a:blipFill>
                <a:blip r:embed="rId2"/>
                <a:stretch>
                  <a:fillRect l="-1080" t="-1077"/>
                </a:stretch>
              </a:blipFill>
            </p:spPr>
            <p:txBody>
              <a:bodyPr/>
              <a:lstStyle/>
              <a:p>
                <a:r>
                  <a:rPr lang="fr-FR">
                    <a:noFill/>
                  </a:rPr>
                  <a:t> </a:t>
                </a:r>
              </a:p>
            </p:txBody>
          </p:sp>
        </mc:Fallback>
      </mc:AlternateContent>
      <p:grpSp>
        <p:nvGrpSpPr>
          <p:cNvPr id="8" name="Groupe 7">
            <a:extLst>
              <a:ext uri="{FF2B5EF4-FFF2-40B4-BE49-F238E27FC236}">
                <a16:creationId xmlns:a16="http://schemas.microsoft.com/office/drawing/2014/main" id="{EBEC6656-1FB6-4DA2-A09B-E229A94C738A}"/>
              </a:ext>
            </a:extLst>
          </p:cNvPr>
          <p:cNvGrpSpPr/>
          <p:nvPr/>
        </p:nvGrpSpPr>
        <p:grpSpPr>
          <a:xfrm>
            <a:off x="1835696" y="2424270"/>
            <a:ext cx="4764334" cy="2009458"/>
            <a:chOff x="2555776" y="3573016"/>
            <a:chExt cx="5328592" cy="2520744"/>
          </a:xfrm>
        </p:grpSpPr>
        <p:pic>
          <p:nvPicPr>
            <p:cNvPr id="9" name="Image 8">
              <a:extLst>
                <a:ext uri="{FF2B5EF4-FFF2-40B4-BE49-F238E27FC236}">
                  <a16:creationId xmlns:a16="http://schemas.microsoft.com/office/drawing/2014/main" id="{82AE9471-55C1-4A3B-BB7A-4257239030A6}"/>
                </a:ext>
              </a:extLst>
            </p:cNvPr>
            <p:cNvPicPr>
              <a:picLocks noChangeAspect="1"/>
            </p:cNvPicPr>
            <p:nvPr/>
          </p:nvPicPr>
          <p:blipFill>
            <a:blip r:embed="rId3"/>
            <a:stretch>
              <a:fillRect/>
            </a:stretch>
          </p:blipFill>
          <p:spPr>
            <a:xfrm>
              <a:off x="2555776" y="3573016"/>
              <a:ext cx="5328592" cy="2520744"/>
            </a:xfrm>
            <a:prstGeom prst="rect">
              <a:avLst/>
            </a:prstGeom>
          </p:spPr>
        </p:pic>
        <p:sp>
          <p:nvSpPr>
            <p:cNvPr id="10" name="ZoneTexte 9">
              <a:extLst>
                <a:ext uri="{FF2B5EF4-FFF2-40B4-BE49-F238E27FC236}">
                  <a16:creationId xmlns:a16="http://schemas.microsoft.com/office/drawing/2014/main" id="{E980A7ED-C9C9-4B5B-A0E7-CD1A2EDD5F37}"/>
                </a:ext>
              </a:extLst>
            </p:cNvPr>
            <p:cNvSpPr txBox="1"/>
            <p:nvPr/>
          </p:nvSpPr>
          <p:spPr>
            <a:xfrm>
              <a:off x="2915815" y="3940474"/>
              <a:ext cx="2009016" cy="328174"/>
            </a:xfrm>
            <a:prstGeom prst="rect">
              <a:avLst/>
            </a:prstGeom>
            <a:solidFill>
              <a:schemeClr val="bg1"/>
            </a:solidFill>
          </p:spPr>
          <p:txBody>
            <a:bodyPr wrap="square" rtlCol="0">
              <a:spAutoFit/>
            </a:bodyPr>
            <a:lstStyle/>
            <a:p>
              <a:r>
                <a:rPr lang="fr-FR" sz="1100" b="1" dirty="0"/>
                <a:t>The </a:t>
              </a:r>
              <a:r>
                <a:rPr lang="fr-FR" sz="1100" b="1" dirty="0" err="1"/>
                <a:t>Level</a:t>
              </a:r>
              <a:r>
                <a:rPr lang="fr-FR" sz="1100" b="1" dirty="0"/>
                <a:t> of </a:t>
              </a:r>
              <a:r>
                <a:rPr lang="fr-FR" sz="1100" b="1" dirty="0" err="1"/>
                <a:t>Study</a:t>
              </a:r>
              <a:endParaRPr lang="fr-FR" sz="1100" b="1" dirty="0"/>
            </a:p>
          </p:txBody>
        </p:sp>
        <p:sp>
          <p:nvSpPr>
            <p:cNvPr id="11" name="ZoneTexte 10">
              <a:extLst>
                <a:ext uri="{FF2B5EF4-FFF2-40B4-BE49-F238E27FC236}">
                  <a16:creationId xmlns:a16="http://schemas.microsoft.com/office/drawing/2014/main" id="{9AE4FF80-C07C-4724-912A-17A65DF35A70}"/>
                </a:ext>
              </a:extLst>
            </p:cNvPr>
            <p:cNvSpPr txBox="1"/>
            <p:nvPr/>
          </p:nvSpPr>
          <p:spPr>
            <a:xfrm>
              <a:off x="5436098" y="4002746"/>
              <a:ext cx="1656182" cy="261611"/>
            </a:xfrm>
            <a:prstGeom prst="rect">
              <a:avLst/>
            </a:prstGeom>
            <a:solidFill>
              <a:schemeClr val="bg1"/>
            </a:solidFill>
          </p:spPr>
          <p:txBody>
            <a:bodyPr wrap="square" rtlCol="0">
              <a:spAutoFit/>
            </a:bodyPr>
            <a:lstStyle/>
            <a:p>
              <a:r>
                <a:rPr lang="fr-FR" sz="1100" b="1" dirty="0" err="1"/>
                <a:t>Number</a:t>
              </a:r>
              <a:r>
                <a:rPr lang="fr-FR" sz="1100" b="1" dirty="0"/>
                <a:t> of candidates</a:t>
              </a:r>
            </a:p>
          </p:txBody>
        </p:sp>
      </p:grpSp>
    </p:spTree>
    <p:extLst>
      <p:ext uri="{BB962C8B-B14F-4D97-AF65-F5344CB8AC3E}">
        <p14:creationId xmlns:p14="http://schemas.microsoft.com/office/powerpoint/2010/main" val="1979777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91352" y="799217"/>
            <a:ext cx="2200313" cy="2506881"/>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Espace réservé du contenu 4">
            <a:extLst>
              <a:ext uri="{FF2B5EF4-FFF2-40B4-BE49-F238E27FC236}">
                <a16:creationId xmlns:a16="http://schemas.microsoft.com/office/drawing/2014/main" id="{205271FE-4FEC-4A7A-B0B5-4D0E2D0858A6}"/>
              </a:ext>
            </a:extLst>
          </p:cNvPr>
          <p:cNvPicPr>
            <a:picLocks noGrp="1" noChangeAspect="1"/>
          </p:cNvPicPr>
          <p:nvPr>
            <p:ph idx="1"/>
          </p:nvPr>
        </p:nvPicPr>
        <p:blipFill>
          <a:blip r:embed="rId2"/>
          <a:stretch>
            <a:fillRect/>
          </a:stretch>
        </p:blipFill>
        <p:spPr>
          <a:xfrm>
            <a:off x="3212277" y="839156"/>
            <a:ext cx="5722540" cy="2146127"/>
          </a:xfrm>
        </p:spPr>
      </p:pic>
      <p:sp>
        <p:nvSpPr>
          <p:cNvPr id="2" name="Titre 1">
            <a:extLst>
              <a:ext uri="{FF2B5EF4-FFF2-40B4-BE49-F238E27FC236}">
                <a16:creationId xmlns:a16="http://schemas.microsoft.com/office/drawing/2014/main" id="{35140B3E-EB43-4BA7-971D-07248E2D3158}"/>
              </a:ext>
            </a:extLst>
          </p:cNvPr>
          <p:cNvSpPr>
            <a:spLocks noGrp="1"/>
          </p:cNvSpPr>
          <p:nvPr>
            <p:ph type="title"/>
          </p:nvPr>
        </p:nvSpPr>
        <p:spPr>
          <a:xfrm>
            <a:off x="725214" y="1204108"/>
            <a:ext cx="2002054" cy="1781175"/>
          </a:xfrm>
        </p:spPr>
        <p:txBody>
          <a:bodyPr>
            <a:normAutofit/>
          </a:bodyPr>
          <a:lstStyle/>
          <a:p>
            <a:r>
              <a:rPr lang="fr-FR" sz="2800" dirty="0">
                <a:solidFill>
                  <a:srgbClr val="FFFFFF"/>
                </a:solidFill>
                <a:latin typeface="Cambria" panose="02040503050406030204" pitchFamily="18" charset="0"/>
                <a:ea typeface="Cambria" panose="02040503050406030204" pitchFamily="18" charset="0"/>
              </a:rPr>
              <a:t>Solution</a:t>
            </a:r>
          </a:p>
        </p:txBody>
      </p:sp>
      <p:sp>
        <p:nvSpPr>
          <p:cNvPr id="11" name="ZoneTexte 10">
            <a:extLst>
              <a:ext uri="{FF2B5EF4-FFF2-40B4-BE49-F238E27FC236}">
                <a16:creationId xmlns:a16="http://schemas.microsoft.com/office/drawing/2014/main" id="{5B6203AB-F925-453A-A8EE-D2EA8A7B001A}"/>
              </a:ext>
            </a:extLst>
          </p:cNvPr>
          <p:cNvSpPr txBox="1"/>
          <p:nvPr/>
        </p:nvSpPr>
        <p:spPr>
          <a:xfrm>
            <a:off x="3419871" y="1295182"/>
            <a:ext cx="1480805" cy="261610"/>
          </a:xfrm>
          <a:prstGeom prst="rect">
            <a:avLst/>
          </a:prstGeom>
          <a:solidFill>
            <a:schemeClr val="bg1"/>
          </a:solidFill>
        </p:spPr>
        <p:txBody>
          <a:bodyPr wrap="square" rtlCol="0">
            <a:spAutoFit/>
          </a:bodyPr>
          <a:lstStyle/>
          <a:p>
            <a:r>
              <a:rPr lang="fr-FR" sz="1100" b="1" dirty="0"/>
              <a:t>The </a:t>
            </a:r>
            <a:r>
              <a:rPr lang="fr-FR" sz="1100" b="1" dirty="0" err="1"/>
              <a:t>Level</a:t>
            </a:r>
            <a:r>
              <a:rPr lang="fr-FR" sz="1100" b="1" dirty="0"/>
              <a:t> of </a:t>
            </a:r>
            <a:r>
              <a:rPr lang="fr-FR" sz="1100" b="1" dirty="0" err="1"/>
              <a:t>Study</a:t>
            </a:r>
            <a:endParaRPr lang="fr-FR" sz="1100" b="1" dirty="0"/>
          </a:p>
        </p:txBody>
      </p:sp>
      <p:sp>
        <p:nvSpPr>
          <p:cNvPr id="12" name="ZoneTexte 11">
            <a:extLst>
              <a:ext uri="{FF2B5EF4-FFF2-40B4-BE49-F238E27FC236}">
                <a16:creationId xmlns:a16="http://schemas.microsoft.com/office/drawing/2014/main" id="{0579E1E1-9805-4D2F-82D8-B76F69556BD9}"/>
              </a:ext>
            </a:extLst>
          </p:cNvPr>
          <p:cNvSpPr txBox="1"/>
          <p:nvPr/>
        </p:nvSpPr>
        <p:spPr>
          <a:xfrm>
            <a:off x="5315269" y="1295183"/>
            <a:ext cx="1200947" cy="261610"/>
          </a:xfrm>
          <a:prstGeom prst="rect">
            <a:avLst/>
          </a:prstGeom>
          <a:solidFill>
            <a:schemeClr val="bg1"/>
          </a:solidFill>
        </p:spPr>
        <p:txBody>
          <a:bodyPr wrap="square" rtlCol="0">
            <a:spAutoFit/>
          </a:bodyPr>
          <a:lstStyle/>
          <a:p>
            <a:r>
              <a:rPr lang="fr-FR" sz="1100" b="1" dirty="0"/>
              <a:t>Nb of candidates</a:t>
            </a:r>
          </a:p>
        </p:txBody>
      </p:sp>
    </p:spTree>
    <p:extLst>
      <p:ext uri="{BB962C8B-B14F-4D97-AF65-F5344CB8AC3E}">
        <p14:creationId xmlns:p14="http://schemas.microsoft.com/office/powerpoint/2010/main" val="3981332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Application – Back to </a:t>
            </a:r>
            <a:r>
              <a:rPr lang="fr-FR" dirty="0" err="1">
                <a:latin typeface="Cambria" panose="02040503050406030204" pitchFamily="18" charset="0"/>
                <a:ea typeface="Cambria" panose="02040503050406030204" pitchFamily="18" charset="0"/>
              </a:rPr>
              <a:t>examples</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107504" y="1166018"/>
                <a:ext cx="9036496" cy="4525963"/>
              </a:xfrm>
            </p:spPr>
            <p:txBody>
              <a:bodyPr>
                <a:normAutofit/>
              </a:bodyPr>
              <a:lstStyle/>
              <a:p>
                <a:pPr marL="0" indent="0">
                  <a:buNone/>
                </a:pPr>
                <a:r>
                  <a:rPr lang="fr-FR" sz="2400" dirty="0" err="1">
                    <a:latin typeface="Cambria" panose="02040503050406030204" pitchFamily="18" charset="0"/>
                    <a:ea typeface="Cambria" panose="02040503050406030204" pitchFamily="18" charset="0"/>
                  </a:rPr>
                  <a:t>Calculate</a:t>
                </a:r>
                <a:r>
                  <a:rPr lang="fr-FR" sz="2400" dirty="0">
                    <a:latin typeface="Cambria" panose="02040503050406030204" pitchFamily="18" charset="0"/>
                    <a:ea typeface="Cambria" panose="02040503050406030204" pitchFamily="18" charset="0"/>
                  </a:rPr>
                  <a:t> </a:t>
                </a:r>
                <a14:m>
                  <m:oMath xmlns:m="http://schemas.openxmlformats.org/officeDocument/2006/math">
                    <m:sSubSup>
                      <m:sSubSupPr>
                        <m:ctrlPr>
                          <a:rPr lang="fr-FR" sz="2400" i="1" smtClean="0">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𝑛</m:t>
                        </m:r>
                      </m:e>
                      <m:sub>
                        <m:r>
                          <a:rPr lang="fr-FR" sz="2400" b="0" i="1" smtClean="0">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i="1">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i="1">
                            <a:solidFill>
                              <a:srgbClr val="FF0000"/>
                            </a:solidFill>
                            <a:latin typeface="Cambria Math" panose="02040503050406030204" pitchFamily="18" charset="0"/>
                          </a:rPr>
                          <m:t>𝑛</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et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t> </a:t>
                </a:r>
                <a:r>
                  <a:rPr lang="en-US" sz="2400" dirty="0"/>
                  <a:t>of the data presented in the table below:</a:t>
                </a:r>
                <a:endParaRPr lang="fr-FR" sz="2400" dirty="0"/>
              </a:p>
              <a:p>
                <a:pPr marL="0" indent="0">
                  <a:buNone/>
                </a:pPr>
                <a:r>
                  <a:rPr lang="fr-FR" sz="2400" dirty="0"/>
                  <a:t> </a:t>
                </a:r>
              </a:p>
            </p:txBody>
          </p:sp>
        </mc:Choice>
        <mc:Fallback>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107504" y="1166018"/>
                <a:ext cx="9036496" cy="4525963"/>
              </a:xfrm>
              <a:blipFill>
                <a:blip r:embed="rId2"/>
                <a:stretch>
                  <a:fillRect l="-1080" t="-1077"/>
                </a:stretch>
              </a:blipFill>
            </p:spPr>
            <p:txBody>
              <a:bodyPr/>
              <a:lstStyle/>
              <a:p>
                <a:r>
                  <a:rPr lang="fr-FR">
                    <a:noFill/>
                  </a:rPr>
                  <a:t> </a:t>
                </a:r>
              </a:p>
            </p:txBody>
          </p:sp>
        </mc:Fallback>
      </mc:AlternateContent>
      <p:pic>
        <p:nvPicPr>
          <p:cNvPr id="13" name="Image 12">
            <a:extLst>
              <a:ext uri="{FF2B5EF4-FFF2-40B4-BE49-F238E27FC236}">
                <a16:creationId xmlns:a16="http://schemas.microsoft.com/office/drawing/2014/main" id="{C91156E5-F6DA-4B64-A1C7-73ED3CFE4FB7}"/>
              </a:ext>
            </a:extLst>
          </p:cNvPr>
          <p:cNvPicPr>
            <a:picLocks noChangeAspect="1"/>
          </p:cNvPicPr>
          <p:nvPr/>
        </p:nvPicPr>
        <p:blipFill rotWithShape="1">
          <a:blip r:embed="rId3"/>
          <a:srcRect l="27163" t="50000" r="55512" b="34600"/>
          <a:stretch/>
        </p:blipFill>
        <p:spPr>
          <a:xfrm>
            <a:off x="2627784" y="2420888"/>
            <a:ext cx="3677814" cy="1838907"/>
          </a:xfrm>
          <a:prstGeom prst="rect">
            <a:avLst/>
          </a:prstGeom>
        </p:spPr>
      </p:pic>
    </p:spTree>
    <p:extLst>
      <p:ext uri="{BB962C8B-B14F-4D97-AF65-F5344CB8AC3E}">
        <p14:creationId xmlns:p14="http://schemas.microsoft.com/office/powerpoint/2010/main" val="1592290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91352" y="799217"/>
            <a:ext cx="2200313" cy="2506881"/>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5140B3E-EB43-4BA7-971D-07248E2D3158}"/>
              </a:ext>
            </a:extLst>
          </p:cNvPr>
          <p:cNvSpPr>
            <a:spLocks noGrp="1"/>
          </p:cNvSpPr>
          <p:nvPr>
            <p:ph type="title"/>
          </p:nvPr>
        </p:nvSpPr>
        <p:spPr>
          <a:xfrm>
            <a:off x="725214" y="1204108"/>
            <a:ext cx="2002054" cy="1781175"/>
          </a:xfrm>
        </p:spPr>
        <p:txBody>
          <a:bodyPr>
            <a:normAutofit/>
          </a:bodyPr>
          <a:lstStyle/>
          <a:p>
            <a:r>
              <a:rPr lang="fr-FR" sz="2800" dirty="0">
                <a:solidFill>
                  <a:srgbClr val="FFFFFF"/>
                </a:solidFill>
                <a:latin typeface="Cambria" panose="02040503050406030204" pitchFamily="18" charset="0"/>
                <a:ea typeface="Cambria" panose="02040503050406030204" pitchFamily="18" charset="0"/>
              </a:rPr>
              <a:t>Solution</a:t>
            </a:r>
          </a:p>
        </p:txBody>
      </p:sp>
      <p:pic>
        <p:nvPicPr>
          <p:cNvPr id="4" name="Image 3">
            <a:extLst>
              <a:ext uri="{FF2B5EF4-FFF2-40B4-BE49-F238E27FC236}">
                <a16:creationId xmlns:a16="http://schemas.microsoft.com/office/drawing/2014/main" id="{1E5ED45B-D319-4601-A37F-7589AE98F831}"/>
              </a:ext>
            </a:extLst>
          </p:cNvPr>
          <p:cNvPicPr>
            <a:picLocks noChangeAspect="1"/>
          </p:cNvPicPr>
          <p:nvPr/>
        </p:nvPicPr>
        <p:blipFill rotWithShape="1">
          <a:blip r:embed="rId2"/>
          <a:srcRect l="27163" t="50000" r="35825" b="33201"/>
          <a:stretch/>
        </p:blipFill>
        <p:spPr>
          <a:xfrm>
            <a:off x="2034866" y="3428999"/>
            <a:ext cx="6622759" cy="1690917"/>
          </a:xfrm>
          <a:prstGeom prst="rect">
            <a:avLst/>
          </a:prstGeom>
        </p:spPr>
      </p:pic>
    </p:spTree>
    <p:extLst>
      <p:ext uri="{BB962C8B-B14F-4D97-AF65-F5344CB8AC3E}">
        <p14:creationId xmlns:p14="http://schemas.microsoft.com/office/powerpoint/2010/main" val="3149534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Application – Back to </a:t>
            </a:r>
            <a:r>
              <a:rPr lang="fr-FR" dirty="0" err="1">
                <a:latin typeface="Cambria" panose="02040503050406030204" pitchFamily="18" charset="0"/>
                <a:ea typeface="Cambria" panose="02040503050406030204" pitchFamily="18" charset="0"/>
              </a:rPr>
              <a:t>examples</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107504" y="1166018"/>
                <a:ext cx="9036496" cy="4525963"/>
              </a:xfrm>
            </p:spPr>
            <p:txBody>
              <a:bodyPr>
                <a:normAutofit/>
              </a:bodyPr>
              <a:lstStyle/>
              <a:p>
                <a:pPr marL="0" indent="0">
                  <a:buNone/>
                </a:pPr>
                <a:r>
                  <a:rPr lang="fr-FR" sz="2400" dirty="0" err="1">
                    <a:latin typeface="Cambria" panose="02040503050406030204" pitchFamily="18" charset="0"/>
                    <a:ea typeface="Cambria" panose="02040503050406030204" pitchFamily="18" charset="0"/>
                  </a:rPr>
                  <a:t>Calculate</a:t>
                </a:r>
                <a:r>
                  <a:rPr lang="fr-FR" sz="2400" dirty="0">
                    <a:latin typeface="Cambria" panose="02040503050406030204" pitchFamily="18" charset="0"/>
                    <a:ea typeface="Cambria" panose="02040503050406030204" pitchFamily="18" charset="0"/>
                  </a:rPr>
                  <a:t> </a:t>
                </a:r>
                <a14:m>
                  <m:oMath xmlns:m="http://schemas.openxmlformats.org/officeDocument/2006/math">
                    <m:sSubSup>
                      <m:sSubSupPr>
                        <m:ctrlPr>
                          <a:rPr lang="fr-FR" sz="2400" i="1" smtClean="0">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𝑛</m:t>
                        </m:r>
                      </m:e>
                      <m:sub>
                        <m:r>
                          <a:rPr lang="fr-FR" sz="2400" b="0" i="1" smtClean="0">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i="1">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i="1">
                            <a:solidFill>
                              <a:srgbClr val="FF0000"/>
                            </a:solidFill>
                            <a:latin typeface="Cambria Math" panose="02040503050406030204" pitchFamily="18" charset="0"/>
                          </a:rPr>
                          <m:t>𝑛</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et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t> </a:t>
                </a:r>
                <a:r>
                  <a:rPr lang="en-US" sz="2400" dirty="0"/>
                  <a:t>of the data presented in the table below:</a:t>
                </a:r>
                <a:endParaRPr lang="fr-FR" sz="2400" dirty="0"/>
              </a:p>
              <a:p>
                <a:pPr marL="0" indent="0">
                  <a:buNone/>
                </a:pPr>
                <a:r>
                  <a:rPr lang="fr-FR" sz="2400" dirty="0"/>
                  <a:t> </a:t>
                </a:r>
              </a:p>
            </p:txBody>
          </p:sp>
        </mc:Choice>
        <mc:Fallback>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107504" y="1166018"/>
                <a:ext cx="9036496" cy="4525963"/>
              </a:xfrm>
              <a:blipFill>
                <a:blip r:embed="rId2"/>
                <a:stretch>
                  <a:fillRect l="-1080" t="-1077"/>
                </a:stretch>
              </a:blipFill>
            </p:spPr>
            <p:txBody>
              <a:bodyPr/>
              <a:lstStyle/>
              <a:p>
                <a:r>
                  <a:rPr lang="fr-FR">
                    <a:noFill/>
                  </a:rPr>
                  <a:t> </a:t>
                </a:r>
              </a:p>
            </p:txBody>
          </p:sp>
        </mc:Fallback>
      </mc:AlternateContent>
      <p:pic>
        <p:nvPicPr>
          <p:cNvPr id="14" name="Image 13">
            <a:extLst>
              <a:ext uri="{FF2B5EF4-FFF2-40B4-BE49-F238E27FC236}">
                <a16:creationId xmlns:a16="http://schemas.microsoft.com/office/drawing/2014/main" id="{490E382A-1EDE-40AC-BC31-E99258CD869D}"/>
              </a:ext>
            </a:extLst>
          </p:cNvPr>
          <p:cNvPicPr>
            <a:picLocks noChangeAspect="1"/>
          </p:cNvPicPr>
          <p:nvPr/>
        </p:nvPicPr>
        <p:blipFill rotWithShape="1">
          <a:blip r:embed="rId3"/>
          <a:srcRect l="27175" t="50000" r="52658" b="33201"/>
          <a:stretch/>
        </p:blipFill>
        <p:spPr>
          <a:xfrm>
            <a:off x="2610070" y="2624004"/>
            <a:ext cx="4031363" cy="1888994"/>
          </a:xfrm>
          <a:prstGeom prst="rect">
            <a:avLst/>
          </a:prstGeom>
        </p:spPr>
      </p:pic>
    </p:spTree>
    <p:extLst>
      <p:ext uri="{BB962C8B-B14F-4D97-AF65-F5344CB8AC3E}">
        <p14:creationId xmlns:p14="http://schemas.microsoft.com/office/powerpoint/2010/main" val="2553761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91352" y="799217"/>
            <a:ext cx="2200313" cy="2506881"/>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5140B3E-EB43-4BA7-971D-07248E2D3158}"/>
              </a:ext>
            </a:extLst>
          </p:cNvPr>
          <p:cNvSpPr>
            <a:spLocks noGrp="1"/>
          </p:cNvSpPr>
          <p:nvPr>
            <p:ph type="title"/>
          </p:nvPr>
        </p:nvSpPr>
        <p:spPr>
          <a:xfrm>
            <a:off x="725214" y="1204108"/>
            <a:ext cx="2002054" cy="1781175"/>
          </a:xfrm>
        </p:spPr>
        <p:txBody>
          <a:bodyPr>
            <a:normAutofit/>
          </a:bodyPr>
          <a:lstStyle/>
          <a:p>
            <a:r>
              <a:rPr lang="fr-FR" sz="2800" dirty="0">
                <a:solidFill>
                  <a:srgbClr val="FFFFFF"/>
                </a:solidFill>
                <a:latin typeface="Cambria" panose="02040503050406030204" pitchFamily="18" charset="0"/>
                <a:ea typeface="Cambria" panose="02040503050406030204" pitchFamily="18" charset="0"/>
              </a:rPr>
              <a:t>Solution</a:t>
            </a:r>
          </a:p>
        </p:txBody>
      </p:sp>
      <p:pic>
        <p:nvPicPr>
          <p:cNvPr id="8" name="Image 7">
            <a:extLst>
              <a:ext uri="{FF2B5EF4-FFF2-40B4-BE49-F238E27FC236}">
                <a16:creationId xmlns:a16="http://schemas.microsoft.com/office/drawing/2014/main" id="{2B953362-25F7-47D5-9758-6DE15CD96776}"/>
              </a:ext>
            </a:extLst>
          </p:cNvPr>
          <p:cNvPicPr>
            <a:picLocks noChangeAspect="1"/>
          </p:cNvPicPr>
          <p:nvPr/>
        </p:nvPicPr>
        <p:blipFill rotWithShape="1">
          <a:blip r:embed="rId2"/>
          <a:srcRect l="27163" t="49522" r="33462" b="34600"/>
          <a:stretch/>
        </p:blipFill>
        <p:spPr>
          <a:xfrm>
            <a:off x="1784265" y="3501008"/>
            <a:ext cx="6622759" cy="1502217"/>
          </a:xfrm>
          <a:prstGeom prst="rect">
            <a:avLst/>
          </a:prstGeom>
        </p:spPr>
      </p:pic>
    </p:spTree>
    <p:extLst>
      <p:ext uri="{BB962C8B-B14F-4D97-AF65-F5344CB8AC3E}">
        <p14:creationId xmlns:p14="http://schemas.microsoft.com/office/powerpoint/2010/main" val="3312963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24D736-25C8-4448-9B9B-5AB89E9909B1}"/>
              </a:ext>
            </a:extLst>
          </p:cNvPr>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Remark</a:t>
            </a:r>
            <a:r>
              <a:rPr lang="fr-FR" dirty="0"/>
              <a: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9FDB92E4-1448-4C9B-A446-0D455F668722}"/>
                  </a:ext>
                </a:extLst>
              </p:cNvPr>
              <p:cNvSpPr>
                <a:spLocks noGrp="1"/>
              </p:cNvSpPr>
              <p:nvPr>
                <p:ph idx="1"/>
              </p:nvPr>
            </p:nvSpPr>
            <p:spPr/>
            <p:txBody>
              <a:bodyPr/>
              <a:lstStyle/>
              <a:p>
                <a:pPr marL="0" indent="0">
                  <a:buNone/>
                </a:pPr>
                <a:r>
                  <a:rPr lang="fr-FR" dirty="0">
                    <a:latin typeface="Cambria" panose="02040503050406030204" pitchFamily="18" charset="0"/>
                    <a:ea typeface="Cambria" panose="02040503050406030204" pitchFamily="18" charset="0"/>
                  </a:rPr>
                  <a:t>For nominal qualitative variables, the </a:t>
                </a:r>
                <a:r>
                  <a:rPr lang="fr-FR" dirty="0" err="1">
                    <a:latin typeface="Cambria" panose="02040503050406030204" pitchFamily="18" charset="0"/>
                    <a:ea typeface="Cambria" panose="02040503050406030204" pitchFamily="18" charset="0"/>
                  </a:rPr>
                  <a:t>calculation</a:t>
                </a:r>
                <a:r>
                  <a:rPr lang="fr-FR" dirty="0">
                    <a:latin typeface="Cambria" panose="02040503050406030204" pitchFamily="18" charset="0"/>
                    <a:ea typeface="Cambria" panose="02040503050406030204" pitchFamily="18" charset="0"/>
                  </a:rPr>
                  <a:t> of </a:t>
                </a:r>
                <a14:m>
                  <m:oMath xmlns:m="http://schemas.openxmlformats.org/officeDocument/2006/math">
                    <m:sSubSup>
                      <m:sSubSupPr>
                        <m:ctrlPr>
                          <a:rPr lang="fr-FR" i="1" smtClean="0">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𝑛</m:t>
                        </m:r>
                      </m:e>
                      <m:sub>
                        <m:r>
                          <a:rPr lang="fr-FR" b="0" i="1" smtClean="0">
                            <a:solidFill>
                              <a:srgbClr val="FF0000"/>
                            </a:solidFill>
                            <a:latin typeface="Cambria Math" panose="02040503050406030204" pitchFamily="18" charset="0"/>
                          </a:rPr>
                          <m:t>𝑖</m:t>
                        </m:r>
                      </m:sub>
                      <m:sup>
                        <m:r>
                          <a:rPr lang="fr-FR" b="0" i="1" smtClean="0">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i="1">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𝑓</m:t>
                        </m:r>
                      </m:e>
                      <m:sub>
                        <m:r>
                          <a:rPr lang="fr-FR" i="1">
                            <a:solidFill>
                              <a:srgbClr val="FF0000"/>
                            </a:solidFill>
                            <a:latin typeface="Cambria Math" panose="02040503050406030204" pitchFamily="18" charset="0"/>
                          </a:rPr>
                          <m:t>𝑖</m:t>
                        </m:r>
                      </m:sub>
                      <m:sup>
                        <m:r>
                          <a:rPr lang="fr-FR" i="1">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i="1">
                            <a:solidFill>
                              <a:srgbClr val="FF0000"/>
                            </a:solidFill>
                            <a:latin typeface="Cambria Math" panose="02040503050406030204" pitchFamily="18" charset="0"/>
                          </a:rPr>
                        </m:ctrlPr>
                      </m:sSubSupPr>
                      <m:e>
                        <m:r>
                          <a:rPr lang="fr-FR" i="1">
                            <a:solidFill>
                              <a:srgbClr val="FF0000"/>
                            </a:solidFill>
                            <a:latin typeface="Cambria Math" panose="02040503050406030204" pitchFamily="18" charset="0"/>
                          </a:rPr>
                          <m:t>𝑛</m:t>
                        </m:r>
                      </m:e>
                      <m:sub>
                        <m:r>
                          <a:rPr lang="fr-FR" i="1">
                            <a:solidFill>
                              <a:srgbClr val="FF0000"/>
                            </a:solidFill>
                            <a:latin typeface="Cambria Math" panose="02040503050406030204" pitchFamily="18" charset="0"/>
                          </a:rPr>
                          <m:t>𝑖</m:t>
                        </m:r>
                      </m:sub>
                      <m:sup>
                        <m:r>
                          <a:rPr lang="fr-FR" b="0" i="1" smtClean="0">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and </a:t>
                </a:r>
                <a14:m>
                  <m:oMath xmlns:m="http://schemas.openxmlformats.org/officeDocument/2006/math">
                    <m:sSubSup>
                      <m:sSubSupPr>
                        <m:ctrlPr>
                          <a:rPr lang="fr-FR" i="1">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𝑓</m:t>
                        </m:r>
                      </m:e>
                      <m:sub>
                        <m:r>
                          <a:rPr lang="fr-FR" i="1">
                            <a:solidFill>
                              <a:srgbClr val="FF0000"/>
                            </a:solidFill>
                            <a:latin typeface="Cambria Math" panose="02040503050406030204" pitchFamily="18" charset="0"/>
                          </a:rPr>
                          <m:t>𝑖</m:t>
                        </m:r>
                      </m:sub>
                      <m:sup>
                        <m:r>
                          <a:rPr lang="fr-FR" b="0" i="1" smtClean="0">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t>
                </a:r>
                <a:r>
                  <a:rPr lang="fr-FR" dirty="0">
                    <a:latin typeface="Cambria" panose="02040503050406030204" pitchFamily="18" charset="0"/>
                    <a:ea typeface="Cambria" panose="02040503050406030204" pitchFamily="18" charset="0"/>
                  </a:rPr>
                  <a:t>makes no sense …</a:t>
                </a:r>
              </a:p>
              <a:p>
                <a:pPr marL="0" indent="0">
                  <a:buNone/>
                </a:pPr>
                <a:endParaRPr lang="fr-FR"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(even if it is possible from a purely </a:t>
                </a:r>
                <a:r>
                  <a:rPr lang="en-US" dirty="0" err="1">
                    <a:latin typeface="Cambria" panose="02040503050406030204" pitchFamily="18" charset="0"/>
                    <a:ea typeface="Cambria" panose="02040503050406030204" pitchFamily="18" charset="0"/>
                  </a:rPr>
                  <a:t>calculatory</a:t>
                </a:r>
                <a:r>
                  <a:rPr lang="en-US" dirty="0">
                    <a:latin typeface="Cambria" panose="02040503050406030204" pitchFamily="18" charset="0"/>
                    <a:ea typeface="Cambria" panose="02040503050406030204" pitchFamily="18" charset="0"/>
                  </a:rPr>
                  <a:t> point of view)
</a:t>
                </a:r>
                <a:endParaRPr lang="fr-FR"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9FDB92E4-1448-4C9B-A446-0D455F668722}"/>
                  </a:ext>
                </a:extLst>
              </p:cNvPr>
              <p:cNvSpPr>
                <a:spLocks noGrp="1" noRot="1" noChangeAspect="1" noMove="1" noResize="1" noEditPoints="1" noAdjustHandles="1" noChangeArrowheads="1" noChangeShapeType="1" noTextEdit="1"/>
              </p:cNvSpPr>
              <p:nvPr>
                <p:ph idx="1"/>
              </p:nvPr>
            </p:nvSpPr>
            <p:spPr>
              <a:blipFill>
                <a:blip r:embed="rId2"/>
                <a:stretch>
                  <a:fillRect l="-1852" t="-1752" r="-1481"/>
                </a:stretch>
              </a:blipFill>
            </p:spPr>
            <p:txBody>
              <a:bodyPr/>
              <a:lstStyle/>
              <a:p>
                <a:r>
                  <a:rPr lang="fr-FR">
                    <a:noFill/>
                  </a:rPr>
                  <a:t> </a:t>
                </a:r>
              </a:p>
            </p:txBody>
          </p:sp>
        </mc:Fallback>
      </mc:AlternateContent>
    </p:spTree>
    <p:extLst>
      <p:ext uri="{BB962C8B-B14F-4D97-AF65-F5344CB8AC3E}">
        <p14:creationId xmlns:p14="http://schemas.microsoft.com/office/powerpoint/2010/main" val="427598803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267934-113D-467C-9297-F4689E4992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EAE49AB5-5809-40D8-B1E1-E3F8C21624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199</TotalTime>
  <Words>1401</Words>
  <Application>Microsoft Office PowerPoint</Application>
  <PresentationFormat>Affichage à l'écran (4:3)</PresentationFormat>
  <Paragraphs>174</Paragraphs>
  <Slides>29</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29</vt:i4>
      </vt:variant>
    </vt:vector>
  </HeadingPairs>
  <TitlesOfParts>
    <vt:vector size="38" baseType="lpstr">
      <vt:lpstr>Arial</vt:lpstr>
      <vt:lpstr>Calibri</vt:lpstr>
      <vt:lpstr>Cambria</vt:lpstr>
      <vt:lpstr>Cambria Math</vt:lpstr>
      <vt:lpstr>CMMI10</vt:lpstr>
      <vt:lpstr>CMR10</vt:lpstr>
      <vt:lpstr>F17</vt:lpstr>
      <vt:lpstr>Wingdings</vt:lpstr>
      <vt:lpstr>Thème Office</vt:lpstr>
      <vt:lpstr>Data Description </vt:lpstr>
      <vt:lpstr>Terminology </vt:lpstr>
      <vt:lpstr>Terminology</vt:lpstr>
      <vt:lpstr>Terminology</vt:lpstr>
      <vt:lpstr>Terminology</vt:lpstr>
      <vt:lpstr>Terminology </vt:lpstr>
      <vt:lpstr>Examples</vt:lpstr>
      <vt:lpstr>Examples</vt:lpstr>
      <vt:lpstr>Data representation 
</vt:lpstr>
      <vt:lpstr>Table summary 
</vt:lpstr>
      <vt:lpstr>Example 1  Qualitative nominal variable</vt:lpstr>
      <vt:lpstr>Example 1  Qualitative nominal variable</vt:lpstr>
      <vt:lpstr>Example 2  Qualitative ordinal variable</vt:lpstr>
      <vt:lpstr>Example 2  Qualitative ordinal variable</vt:lpstr>
      <vt:lpstr>Example 3 Quantitative discrete variable</vt:lpstr>
      <vt:lpstr>Example 3 Quantitative discrete variable</vt:lpstr>
      <vt:lpstr>Data synthesis of a continuous variable</vt:lpstr>
      <vt:lpstr>Data synthesis of a continuous variable</vt:lpstr>
      <vt:lpstr>Example  Data synthesis of a continuous variable</vt:lpstr>
      <vt:lpstr>Example  Data synthesis of a continuous variable</vt:lpstr>
      <vt:lpstr>Continuous variable "discretized" data (upstream)   </vt:lpstr>
      <vt:lpstr>Operations </vt:lpstr>
      <vt:lpstr>Application – Back to examples
</vt:lpstr>
      <vt:lpstr>Solution</vt:lpstr>
      <vt:lpstr>Application – Back to examples
</vt:lpstr>
      <vt:lpstr>Solution</vt:lpstr>
      <vt:lpstr>Application – Back to examples
</vt:lpstr>
      <vt:lpstr>Solution</vt:lpstr>
      <vt:lpstr>Remark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32</cp:revision>
  <dcterms:created xsi:type="dcterms:W3CDTF">2021-02-02T16:40:54Z</dcterms:created>
  <dcterms:modified xsi:type="dcterms:W3CDTF">2021-10-14T07:48:37Z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