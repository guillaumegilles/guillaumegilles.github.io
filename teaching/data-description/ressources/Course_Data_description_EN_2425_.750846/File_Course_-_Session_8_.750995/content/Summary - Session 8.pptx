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316" r:id="rId6"/>
    <p:sldId id="334" r:id="rId7"/>
    <p:sldId id="317" r:id="rId8"/>
    <p:sldId id="335" r:id="rId9"/>
    <p:sldId id="318" r:id="rId10"/>
    <p:sldId id="336" r:id="rId11"/>
    <p:sldId id="319" r:id="rId12"/>
    <p:sldId id="337" r:id="rId13"/>
    <p:sldId id="320" r:id="rId14"/>
    <p:sldId id="338" r:id="rId15"/>
    <p:sldId id="321" r:id="rId16"/>
    <p:sldId id="339" r:id="rId17"/>
    <p:sldId id="322" r:id="rId18"/>
    <p:sldId id="340" r:id="rId19"/>
    <p:sldId id="324" r:id="rId20"/>
    <p:sldId id="341" r:id="rId21"/>
    <p:sldId id="326" r:id="rId22"/>
    <p:sldId id="342" r:id="rId23"/>
    <p:sldId id="328" r:id="rId24"/>
    <p:sldId id="343" r:id="rId25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3AE4579-3DB7-48FE-AD68-CB08BE346E64}" v="1" dt="2021-10-15T13:18:12.35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>
      <p:cViewPr varScale="1">
        <p:scale>
          <a:sx n="67" d="100"/>
          <a:sy n="67" d="100"/>
        </p:scale>
        <p:origin x="1284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CHOUR Maher" userId="09775c39-7739-40bf-ba04-c8ef3ab24a94" providerId="ADAL" clId="{A3AE4579-3DB7-48FE-AD68-CB08BE346E64}"/>
    <pc:docChg chg="custSel addSld delSld modSld sldOrd">
      <pc:chgData name="KACHOUR Maher" userId="09775c39-7739-40bf-ba04-c8ef3ab24a94" providerId="ADAL" clId="{A3AE4579-3DB7-48FE-AD68-CB08BE346E64}" dt="2021-10-15T13:19:13.342" v="39" actId="47"/>
      <pc:docMkLst>
        <pc:docMk/>
      </pc:docMkLst>
      <pc:sldChg chg="del">
        <pc:chgData name="KACHOUR Maher" userId="09775c39-7739-40bf-ba04-c8ef3ab24a94" providerId="ADAL" clId="{A3AE4579-3DB7-48FE-AD68-CB08BE346E64}" dt="2021-10-15T13:18:53.016" v="27" actId="47"/>
        <pc:sldMkLst>
          <pc:docMk/>
          <pc:sldMk cId="4022379877" sldId="330"/>
        </pc:sldMkLst>
      </pc:sldChg>
      <pc:sldChg chg="del">
        <pc:chgData name="KACHOUR Maher" userId="09775c39-7739-40bf-ba04-c8ef3ab24a94" providerId="ADAL" clId="{A3AE4579-3DB7-48FE-AD68-CB08BE346E64}" dt="2021-10-15T13:18:59.852" v="31" actId="47"/>
        <pc:sldMkLst>
          <pc:docMk/>
          <pc:sldMk cId="3258117618" sldId="331"/>
        </pc:sldMkLst>
      </pc:sldChg>
      <pc:sldChg chg="del">
        <pc:chgData name="KACHOUR Maher" userId="09775c39-7739-40bf-ba04-c8ef3ab24a94" providerId="ADAL" clId="{A3AE4579-3DB7-48FE-AD68-CB08BE346E64}" dt="2021-10-15T13:19:05.909" v="35" actId="47"/>
        <pc:sldMkLst>
          <pc:docMk/>
          <pc:sldMk cId="3474272761" sldId="332"/>
        </pc:sldMkLst>
      </pc:sldChg>
      <pc:sldChg chg="del">
        <pc:chgData name="KACHOUR Maher" userId="09775c39-7739-40bf-ba04-c8ef3ab24a94" providerId="ADAL" clId="{A3AE4579-3DB7-48FE-AD68-CB08BE346E64}" dt="2021-10-15T13:19:13.342" v="39" actId="47"/>
        <pc:sldMkLst>
          <pc:docMk/>
          <pc:sldMk cId="2000608379" sldId="333"/>
        </pc:sldMkLst>
      </pc:sldChg>
      <pc:sldChg chg="addSp delSp modSp new mod">
        <pc:chgData name="KACHOUR Maher" userId="09775c39-7739-40bf-ba04-c8ef3ab24a94" providerId="ADAL" clId="{A3AE4579-3DB7-48FE-AD68-CB08BE346E64}" dt="2021-10-15T13:18:15.918" v="8" actId="13822"/>
        <pc:sldMkLst>
          <pc:docMk/>
          <pc:sldMk cId="2516293292" sldId="334"/>
        </pc:sldMkLst>
        <pc:spChg chg="mod">
          <ac:chgData name="KACHOUR Maher" userId="09775c39-7739-40bf-ba04-c8ef3ab24a94" providerId="ADAL" clId="{A3AE4579-3DB7-48FE-AD68-CB08BE346E64}" dt="2021-10-15T13:17:59.976" v="5" actId="20577"/>
          <ac:spMkLst>
            <pc:docMk/>
            <pc:sldMk cId="2516293292" sldId="334"/>
            <ac:spMk id="2" creationId="{C979A531-62BF-4497-9B27-6A2357D3BF69}"/>
          </ac:spMkLst>
        </pc:spChg>
        <pc:spChg chg="del">
          <ac:chgData name="KACHOUR Maher" userId="09775c39-7739-40bf-ba04-c8ef3ab24a94" providerId="ADAL" clId="{A3AE4579-3DB7-48FE-AD68-CB08BE346E64}" dt="2021-10-15T13:18:02.934" v="6" actId="478"/>
          <ac:spMkLst>
            <pc:docMk/>
            <pc:sldMk cId="2516293292" sldId="334"/>
            <ac:spMk id="3" creationId="{30AD9CCC-5800-4FE3-97B9-F7AAA00BE4CC}"/>
          </ac:spMkLst>
        </pc:spChg>
        <pc:spChg chg="add mod">
          <ac:chgData name="KACHOUR Maher" userId="09775c39-7739-40bf-ba04-c8ef3ab24a94" providerId="ADAL" clId="{A3AE4579-3DB7-48FE-AD68-CB08BE346E64}" dt="2021-10-15T13:18:15.918" v="8" actId="13822"/>
          <ac:spMkLst>
            <pc:docMk/>
            <pc:sldMk cId="2516293292" sldId="334"/>
            <ac:spMk id="4" creationId="{55225D18-5247-4070-A196-6AD861FF7E93}"/>
          </ac:spMkLst>
        </pc:spChg>
      </pc:sldChg>
      <pc:sldChg chg="add ord">
        <pc:chgData name="KACHOUR Maher" userId="09775c39-7739-40bf-ba04-c8ef3ab24a94" providerId="ADAL" clId="{A3AE4579-3DB7-48FE-AD68-CB08BE346E64}" dt="2021-10-15T13:18:22.975" v="11"/>
        <pc:sldMkLst>
          <pc:docMk/>
          <pc:sldMk cId="3847474494" sldId="335"/>
        </pc:sldMkLst>
      </pc:sldChg>
      <pc:sldChg chg="add ord">
        <pc:chgData name="KACHOUR Maher" userId="09775c39-7739-40bf-ba04-c8ef3ab24a94" providerId="ADAL" clId="{A3AE4579-3DB7-48FE-AD68-CB08BE346E64}" dt="2021-10-15T13:18:27.524" v="14"/>
        <pc:sldMkLst>
          <pc:docMk/>
          <pc:sldMk cId="1728638849" sldId="336"/>
        </pc:sldMkLst>
      </pc:sldChg>
      <pc:sldChg chg="add ord">
        <pc:chgData name="KACHOUR Maher" userId="09775c39-7739-40bf-ba04-c8ef3ab24a94" providerId="ADAL" clId="{A3AE4579-3DB7-48FE-AD68-CB08BE346E64}" dt="2021-10-15T13:18:32.470" v="17"/>
        <pc:sldMkLst>
          <pc:docMk/>
          <pc:sldMk cId="2263179404" sldId="337"/>
        </pc:sldMkLst>
      </pc:sldChg>
      <pc:sldChg chg="add ord">
        <pc:chgData name="KACHOUR Maher" userId="09775c39-7739-40bf-ba04-c8ef3ab24a94" providerId="ADAL" clId="{A3AE4579-3DB7-48FE-AD68-CB08BE346E64}" dt="2021-10-15T13:18:37.158" v="20"/>
        <pc:sldMkLst>
          <pc:docMk/>
          <pc:sldMk cId="1072754929" sldId="338"/>
        </pc:sldMkLst>
      </pc:sldChg>
      <pc:sldChg chg="add ord">
        <pc:chgData name="KACHOUR Maher" userId="09775c39-7739-40bf-ba04-c8ef3ab24a94" providerId="ADAL" clId="{A3AE4579-3DB7-48FE-AD68-CB08BE346E64}" dt="2021-10-15T13:18:41.404" v="23"/>
        <pc:sldMkLst>
          <pc:docMk/>
          <pc:sldMk cId="556787591" sldId="339"/>
        </pc:sldMkLst>
      </pc:sldChg>
      <pc:sldChg chg="add ord">
        <pc:chgData name="KACHOUR Maher" userId="09775c39-7739-40bf-ba04-c8ef3ab24a94" providerId="ADAL" clId="{A3AE4579-3DB7-48FE-AD68-CB08BE346E64}" dt="2021-10-15T13:18:51.030" v="26"/>
        <pc:sldMkLst>
          <pc:docMk/>
          <pc:sldMk cId="3862971945" sldId="340"/>
        </pc:sldMkLst>
      </pc:sldChg>
      <pc:sldChg chg="add ord">
        <pc:chgData name="KACHOUR Maher" userId="09775c39-7739-40bf-ba04-c8ef3ab24a94" providerId="ADAL" clId="{A3AE4579-3DB7-48FE-AD68-CB08BE346E64}" dt="2021-10-15T13:18:57.892" v="30"/>
        <pc:sldMkLst>
          <pc:docMk/>
          <pc:sldMk cId="3918104999" sldId="341"/>
        </pc:sldMkLst>
      </pc:sldChg>
      <pc:sldChg chg="add ord">
        <pc:chgData name="KACHOUR Maher" userId="09775c39-7739-40bf-ba04-c8ef3ab24a94" providerId="ADAL" clId="{A3AE4579-3DB7-48FE-AD68-CB08BE346E64}" dt="2021-10-15T13:19:04.212" v="34"/>
        <pc:sldMkLst>
          <pc:docMk/>
          <pc:sldMk cId="948232075" sldId="342"/>
        </pc:sldMkLst>
      </pc:sldChg>
      <pc:sldChg chg="add ord">
        <pc:chgData name="KACHOUR Maher" userId="09775c39-7739-40bf-ba04-c8ef3ab24a94" providerId="ADAL" clId="{A3AE4579-3DB7-48FE-AD68-CB08BE346E64}" dt="2021-10-15T13:19:11.327" v="38"/>
        <pc:sldMkLst>
          <pc:docMk/>
          <pc:sldMk cId="3037560409" sldId="343"/>
        </pc:sldMkLst>
      </pc:sldChg>
    </pc:docChg>
  </pc:docChgLst>
  <pc:docChgLst>
    <pc:chgData name="KACHOUR Maher" userId="09775c39-7739-40bf-ba04-c8ef3ab24a94" providerId="ADAL" clId="{4B59AB8C-016A-46A4-8C7F-AF65AA542FF3}"/>
    <pc:docChg chg="modSld">
      <pc:chgData name="KACHOUR Maher" userId="09775c39-7739-40bf-ba04-c8ef3ab24a94" providerId="ADAL" clId="{4B59AB8C-016A-46A4-8C7F-AF65AA542FF3}" dt="2021-10-15T13:08:06.434" v="7" actId="1076"/>
      <pc:docMkLst>
        <pc:docMk/>
      </pc:docMkLst>
      <pc:sldChg chg="modSp mod">
        <pc:chgData name="KACHOUR Maher" userId="09775c39-7739-40bf-ba04-c8ef3ab24a94" providerId="ADAL" clId="{4B59AB8C-016A-46A4-8C7F-AF65AA542FF3}" dt="2021-10-15T13:07:46.571" v="3" actId="1076"/>
        <pc:sldMkLst>
          <pc:docMk/>
          <pc:sldMk cId="2330945451" sldId="326"/>
        </pc:sldMkLst>
        <pc:graphicFrameChg chg="mod modGraphic">
          <ac:chgData name="KACHOUR Maher" userId="09775c39-7739-40bf-ba04-c8ef3ab24a94" providerId="ADAL" clId="{4B59AB8C-016A-46A4-8C7F-AF65AA542FF3}" dt="2021-10-15T13:07:46.571" v="3" actId="1076"/>
          <ac:graphicFrameMkLst>
            <pc:docMk/>
            <pc:sldMk cId="2330945451" sldId="326"/>
            <ac:graphicFrameMk id="5" creationId="{FD9D37B9-216A-4C04-AFF2-3C528348783A}"/>
          </ac:graphicFrameMkLst>
        </pc:graphicFrameChg>
      </pc:sldChg>
      <pc:sldChg chg="modSp mod">
        <pc:chgData name="KACHOUR Maher" userId="09775c39-7739-40bf-ba04-c8ef3ab24a94" providerId="ADAL" clId="{4B59AB8C-016A-46A4-8C7F-AF65AA542FF3}" dt="2021-10-15T13:07:58.506" v="5" actId="1076"/>
        <pc:sldMkLst>
          <pc:docMk/>
          <pc:sldMk cId="3768866805" sldId="328"/>
        </pc:sldMkLst>
        <pc:graphicFrameChg chg="mod modGraphic">
          <ac:chgData name="KACHOUR Maher" userId="09775c39-7739-40bf-ba04-c8ef3ab24a94" providerId="ADAL" clId="{4B59AB8C-016A-46A4-8C7F-AF65AA542FF3}" dt="2021-10-15T13:07:58.506" v="5" actId="1076"/>
          <ac:graphicFrameMkLst>
            <pc:docMk/>
            <pc:sldMk cId="3768866805" sldId="328"/>
            <ac:graphicFrameMk id="5" creationId="{850BCA77-32AC-4715-9498-184BB36BDAB9}"/>
          </ac:graphicFrameMkLst>
        </pc:graphicFrameChg>
      </pc:sldChg>
      <pc:sldChg chg="modSp mod">
        <pc:chgData name="KACHOUR Maher" userId="09775c39-7739-40bf-ba04-c8ef3ab24a94" providerId="ADAL" clId="{4B59AB8C-016A-46A4-8C7F-AF65AA542FF3}" dt="2021-10-15T13:07:36.050" v="1" actId="1076"/>
        <pc:sldMkLst>
          <pc:docMk/>
          <pc:sldMk cId="3474272761" sldId="332"/>
        </pc:sldMkLst>
        <pc:graphicFrameChg chg="mod modGraphic">
          <ac:chgData name="KACHOUR Maher" userId="09775c39-7739-40bf-ba04-c8ef3ab24a94" providerId="ADAL" clId="{4B59AB8C-016A-46A4-8C7F-AF65AA542FF3}" dt="2021-10-15T13:07:36.050" v="1" actId="1076"/>
          <ac:graphicFrameMkLst>
            <pc:docMk/>
            <pc:sldMk cId="3474272761" sldId="332"/>
            <ac:graphicFrameMk id="5" creationId="{FD9D37B9-216A-4C04-AFF2-3C528348783A}"/>
          </ac:graphicFrameMkLst>
        </pc:graphicFrameChg>
      </pc:sldChg>
      <pc:sldChg chg="modSp mod">
        <pc:chgData name="KACHOUR Maher" userId="09775c39-7739-40bf-ba04-c8ef3ab24a94" providerId="ADAL" clId="{4B59AB8C-016A-46A4-8C7F-AF65AA542FF3}" dt="2021-10-15T13:08:06.434" v="7" actId="1076"/>
        <pc:sldMkLst>
          <pc:docMk/>
          <pc:sldMk cId="2000608379" sldId="333"/>
        </pc:sldMkLst>
        <pc:graphicFrameChg chg="mod modGraphic">
          <ac:chgData name="KACHOUR Maher" userId="09775c39-7739-40bf-ba04-c8ef3ab24a94" providerId="ADAL" clId="{4B59AB8C-016A-46A4-8C7F-AF65AA542FF3}" dt="2021-10-15T13:08:06.434" v="7" actId="1076"/>
          <ac:graphicFrameMkLst>
            <pc:docMk/>
            <pc:sldMk cId="2000608379" sldId="333"/>
            <ac:graphicFrameMk id="5" creationId="{850BCA77-32AC-4715-9498-184BB36BDAB9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15/10/2021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15/10/2021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15/10/2021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15/10/2021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15/10/2021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15/10/2021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15/10/2021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15/10/2021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15/10/2021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15/10/2021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15/10/2021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302334-7E8B-4320-A1E2-4B05AC15A670}" type="datetimeFigureOut">
              <a:rPr lang="fr-FR" smtClean="0"/>
              <a:pPr/>
              <a:t>15/10/2021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10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8" name="Picture 414" descr="C:\Users\Tom\AppData\Local\Microsoft\Windows\Temporary Internet Files\Content.IE5\54P6HUVA\MPj04385580000[1]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Session 8 </a:t>
            </a:r>
          </a:p>
          <a:p>
            <a:r>
              <a:rPr lang="fr-FR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M. Kachour</a:t>
            </a:r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>
                <a:latin typeface="Cambria" panose="02040503050406030204" pitchFamily="18" charset="0"/>
                <a:ea typeface="Cambria" panose="02040503050406030204" pitchFamily="18" charset="0"/>
              </a:rPr>
              <a:t>Data Description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8319FEE-4859-44AC-B8F4-C60BFFD5E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The </a:t>
            </a:r>
            <a:r>
              <a:rPr lang="fr-FR" dirty="0" err="1">
                <a:latin typeface="Cambria" panose="02040503050406030204" pitchFamily="18" charset="0"/>
                <a:ea typeface="Cambria" panose="02040503050406030204" pitchFamily="18" charset="0"/>
              </a:rPr>
              <a:t>Form</a:t>
            </a: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fr-FR" dirty="0" err="1">
                <a:latin typeface="Cambria" panose="02040503050406030204" pitchFamily="18" charset="0"/>
                <a:ea typeface="Cambria" panose="02040503050406030204" pitchFamily="18" charset="0"/>
              </a:rPr>
              <a:t>indicators</a:t>
            </a: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
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1C66DD1-318B-4FCB-89C4-5730067729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536" y="1166018"/>
            <a:ext cx="91440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fr-FR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l">
              <a:buNone/>
            </a:pPr>
            <a:r>
              <a:rPr lang="en-US" sz="1800" b="0" i="0" u="none" strike="noStrike" baseline="0" dirty="0">
                <a:latin typeface="F17"/>
              </a:rPr>
              <a:t>A numerical indicator is called of the form if it is a key number to characterize the distribution around a central value, such as the average data, relative frequencies (or frequencies) associated with </a:t>
            </a:r>
            <a:r>
              <a:rPr lang="fr-FR" sz="1800" b="0" i="0" u="none" strike="noStrike" baseline="0" dirty="0">
                <a:latin typeface="F17"/>
              </a:rPr>
              <a:t>observations / </a:t>
            </a:r>
            <a:r>
              <a:rPr lang="fr-FR" sz="1800" b="0" i="0" u="none" strike="noStrike" baseline="0" dirty="0" err="1">
                <a:latin typeface="F17"/>
              </a:rPr>
              <a:t>modalities</a:t>
            </a:r>
            <a:r>
              <a:rPr lang="fr-FR" sz="1800" b="0" i="0" u="none" strike="noStrike" baseline="0" dirty="0">
                <a:latin typeface="F17"/>
              </a:rPr>
              <a:t>.</a:t>
            </a:r>
          </a:p>
          <a:p>
            <a:pPr marL="0" indent="0" algn="l">
              <a:buNone/>
            </a:pPr>
            <a:endParaRPr lang="fr-FR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In this course, we will focus on asymmetry coefficients
Explicitly, we will study the following indicators:
</a:t>
            </a:r>
            <a:endParaRPr lang="fr-FR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fr-FR" sz="2400" dirty="0">
                <a:latin typeface="Cambria" panose="02040503050406030204" pitchFamily="18" charset="0"/>
                <a:ea typeface="Cambria" panose="02040503050406030204" pitchFamily="18" charset="0"/>
              </a:rPr>
              <a:t>The Pearson coefficient
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The Yule and Kendall coefficient</a:t>
            </a:r>
            <a:endParaRPr lang="fr-FR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Bulle narrative : ronde 3">
            <a:extLst>
              <a:ext uri="{FF2B5EF4-FFF2-40B4-BE49-F238E27FC236}">
                <a16:creationId xmlns:a16="http://schemas.microsoft.com/office/drawing/2014/main" id="{69D084A7-4459-4A72-A946-2477CC8D2B0F}"/>
              </a:ext>
            </a:extLst>
          </p:cNvPr>
          <p:cNvSpPr/>
          <p:nvPr/>
        </p:nvSpPr>
        <p:spPr>
          <a:xfrm>
            <a:off x="5782504" y="5301208"/>
            <a:ext cx="3096344" cy="1008112"/>
          </a:xfrm>
          <a:prstGeom prst="wedgeEllipseCallout">
            <a:avLst>
              <a:gd name="adj1" fmla="val -99276"/>
              <a:gd name="adj2" fmla="val -55605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1E550BC2-C7A2-4DA3-97F1-4930C0DB2312}"/>
              </a:ext>
            </a:extLst>
          </p:cNvPr>
          <p:cNvSpPr txBox="1"/>
          <p:nvPr/>
        </p:nvSpPr>
        <p:spPr>
          <a:xfrm>
            <a:off x="6516216" y="5552828"/>
            <a:ext cx="187220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Cambria" panose="02040503050406030204" pitchFamily="18" charset="0"/>
                <a:ea typeface="Cambria" panose="02040503050406030204" pitchFamily="18" charset="0"/>
              </a:rPr>
              <a:t>Indicators associated with data from a quantitative variable only
</a:t>
            </a:r>
            <a:endParaRPr lang="fr-FR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47556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979A531-62BF-4497-9B27-6A2357D3B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 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55225D18-5247-4070-A196-6AD861FF7E93}"/>
              </a:ext>
            </a:extLst>
          </p:cNvPr>
          <p:cNvSpPr txBox="1"/>
          <p:nvPr/>
        </p:nvSpPr>
        <p:spPr>
          <a:xfrm>
            <a:off x="611560" y="1628800"/>
            <a:ext cx="8075240" cy="460851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162932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D7C387E-2F2E-4F1B-9F66-09F48FBB00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04664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fr-FR" dirty="0" err="1">
                <a:latin typeface="Cambria" panose="02040503050406030204" pitchFamily="18" charset="0"/>
                <a:ea typeface="Cambria" panose="02040503050406030204" pitchFamily="18" charset="0"/>
              </a:rPr>
              <a:t>Asymmetry</a:t>
            </a: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fr-FR" dirty="0" err="1">
                <a:latin typeface="Cambria" panose="02040503050406030204" pitchFamily="18" charset="0"/>
                <a:ea typeface="Cambria" panose="02040503050406030204" pitchFamily="18" charset="0"/>
              </a:rPr>
              <a:t>Indicators</a:t>
            </a: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 – </a:t>
            </a:r>
            <a:b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The Pearson Coefficient
</a:t>
            </a:r>
            <a:endParaRPr lang="fr-F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EBE02A17-E83C-48A9-867B-C76F11D5BD3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sz="22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The Pearson coefficient is defined by:
</a:t>
                </a:r>
                <a:endParaRPr lang="fr-FR" sz="30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fr-FR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F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𝑀𝑒𝑎𝑛</m:t>
                          </m:r>
                          <m:r>
                            <a:rPr lang="fr-F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−</m:t>
                          </m:r>
                          <m:r>
                            <a:rPr lang="fr-F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𝑀𝑜𝑑𝑒</m:t>
                          </m:r>
                          <m:r>
                            <a:rPr lang="fr-F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fr-F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𝑆𝑡𝑎𝑛𝑑𝑎𝑟𝑑</m:t>
                          </m:r>
                          <m:r>
                            <a:rPr lang="fr-F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𝑑𝑒𝑣𝑖𝑎𝑡𝑖𝑜𝑛</m:t>
                          </m:r>
                        </m:den>
                      </m:f>
                      <m:r>
                        <a:rPr lang="fr-FR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fr-FR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̅"/>
                                  <m:ctrlPr>
                                    <a:rPr lang="fr-FR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fr-FR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  <m:r>
                                <a:rPr lang="fr-FR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 −</m:t>
                              </m:r>
                              <m:r>
                                <a:rPr lang="fr-FR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𝑀𝑜𝑑𝑒</m:t>
                              </m:r>
                            </m:e>
                          </m:d>
                        </m:num>
                        <m:den>
                          <m:r>
                            <a:rPr lang="fr-F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den>
                      </m:f>
                    </m:oMath>
                  </m:oMathPara>
                </a14:m>
                <a:endParaRPr lang="fr-FR" dirty="0">
                  <a:solidFill>
                    <a:srgbClr val="FF0000"/>
                  </a:solidFill>
                </a:endParaRPr>
              </a:p>
              <a:p>
                <a:pPr marL="0" indent="0" algn="ctr">
                  <a:buNone/>
                </a:pPr>
                <a:endParaRPr lang="fr-FR" dirty="0">
                  <a:solidFill>
                    <a:srgbClr val="FF0000"/>
                  </a:solidFill>
                </a:endParaRPr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fr-FR" sz="1800" dirty="0">
                    <a:solidFill>
                      <a:srgbClr val="FF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S = 0 </a:t>
                </a:r>
                <a:r>
                  <a:rPr lang="en-US" sz="18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implies that the observations are evenly /symmetrically distributed (around the mean)</a:t>
                </a:r>
              </a:p>
              <a:p>
                <a:pPr marL="0" indent="0">
                  <a:buNone/>
                </a:pPr>
                <a:endParaRPr lang="fr-FR" sz="18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fr-FR" sz="1800" dirty="0">
                    <a:solidFill>
                      <a:srgbClr val="FF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S &gt; 0 </a:t>
                </a:r>
                <a:r>
                  <a:rPr lang="en-US" sz="18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implies that the distribution of the data is spread to the right (of the average) </a:t>
                </a:r>
                <a:r>
                  <a:rPr lang="fr-FR" sz="1800" dirty="0">
                    <a:latin typeface="Cambria" panose="02040503050406030204" pitchFamily="18" charset="0"/>
                    <a:ea typeface="Cambria" panose="02040503050406030204" pitchFamily="18" charset="0"/>
                    <a:sym typeface="Wingdings" panose="05000000000000000000" pitchFamily="2" charset="2"/>
                  </a:rPr>
                  <a:t> </a:t>
                </a:r>
                <a:r>
                  <a:rPr lang="en-US" sz="1800" dirty="0">
                    <a:latin typeface="Cambria" panose="02040503050406030204" pitchFamily="18" charset="0"/>
                    <a:ea typeface="Cambria" panose="02040503050406030204" pitchFamily="18" charset="0"/>
                    <a:sym typeface="Wingdings" panose="05000000000000000000" pitchFamily="2" charset="2"/>
                  </a:rPr>
                  <a:t> The lower observations/modalities (than average) have more weight  </a:t>
                </a:r>
              </a:p>
              <a:p>
                <a:pPr marL="0" indent="0">
                  <a:buNone/>
                </a:pPr>
                <a:endParaRPr lang="fr-FR" sz="18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fr-FR" sz="1800" dirty="0">
                    <a:solidFill>
                      <a:srgbClr val="FF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S &lt; 0 </a:t>
                </a:r>
                <a:r>
                  <a:rPr lang="en-US" sz="18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implies that the distribution of the data is spread to the left (of the average) </a:t>
                </a:r>
              </a:p>
              <a:p>
                <a:pPr marL="0" indent="0">
                  <a:buNone/>
                </a:pPr>
                <a:r>
                  <a:rPr lang="en-US" sz="1800" dirty="0">
                    <a:latin typeface="Cambria" panose="02040503050406030204" pitchFamily="18" charset="0"/>
                    <a:ea typeface="Cambria" panose="02040503050406030204" pitchFamily="18" charset="0"/>
                    <a:sym typeface="Wingdings" panose="05000000000000000000" pitchFamily="2" charset="2"/>
                  </a:rPr>
                  <a:t>       </a:t>
                </a:r>
                <a:r>
                  <a:rPr lang="fr-FR" sz="1800" dirty="0">
                    <a:latin typeface="Cambria" panose="02040503050406030204" pitchFamily="18" charset="0"/>
                    <a:ea typeface="Cambria" panose="02040503050406030204" pitchFamily="18" charset="0"/>
                    <a:sym typeface="Wingdings" panose="05000000000000000000" pitchFamily="2" charset="2"/>
                  </a:rPr>
                  <a:t> </a:t>
                </a:r>
                <a:r>
                  <a:rPr lang="en-US" sz="1800" dirty="0">
                    <a:latin typeface="Cambria" panose="02040503050406030204" pitchFamily="18" charset="0"/>
                    <a:ea typeface="Cambria" panose="02040503050406030204" pitchFamily="18" charset="0"/>
                    <a:sym typeface="Wingdings" panose="05000000000000000000" pitchFamily="2" charset="2"/>
                  </a:rPr>
                  <a:t>The upper observations/modalities (than average) have more weight  </a:t>
                </a:r>
              </a:p>
              <a:p>
                <a:pPr marL="0" indent="0">
                  <a:buNone/>
                </a:pPr>
                <a:endParaRPr lang="fr-FR" sz="18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EBE02A17-E83C-48A9-867B-C76F11D5BD3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41" t="-148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775418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979A531-62BF-4497-9B27-6A2357D3B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 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55225D18-5247-4070-A196-6AD861FF7E93}"/>
              </a:ext>
            </a:extLst>
          </p:cNvPr>
          <p:cNvSpPr txBox="1"/>
          <p:nvPr/>
        </p:nvSpPr>
        <p:spPr>
          <a:xfrm>
            <a:off x="611560" y="1628800"/>
            <a:ext cx="8075240" cy="460851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474744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D7C387E-2F2E-4F1B-9F66-09F48FBB00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224" y="26064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Indicators of asymmetry – </a:t>
            </a:r>
            <a:b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The Yule and Kendall coefficient
</a:t>
            </a:r>
            <a:endParaRPr lang="fr-F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EBE02A17-E83C-48A9-867B-C76F11D5BD3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sz="22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The Yule and Kendall coefficient is defined by:
</a:t>
                </a:r>
                <a:endParaRPr lang="fr-FR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fr-FR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fr-FR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fr-FR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fr-FR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fr-FR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 −</m:t>
                              </m:r>
                              <m:r>
                                <a:rPr lang="fr-FR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𝑀𝑒𝑑𝑖𝑎𝑛</m:t>
                              </m:r>
                            </m:e>
                          </m:d>
                          <m:r>
                            <a:rPr lang="fr-F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−(</m:t>
                          </m:r>
                          <m:r>
                            <a:rPr lang="fr-F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𝑀𝑒𝑑𝑖𝑎𝑛</m:t>
                          </m:r>
                          <m:r>
                            <a:rPr lang="fr-F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− </m:t>
                          </m:r>
                          <m:sSub>
                            <m:sSubPr>
                              <m:ctrlPr>
                                <a:rPr lang="fr-FR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fr-FR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fr-F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fr-F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fr-FR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fr-FR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fr-F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−</m:t>
                          </m:r>
                          <m:sSub>
                            <m:sSubPr>
                              <m:ctrlPr>
                                <a:rPr lang="fr-FR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fr-FR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fr-F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fr-FR" dirty="0">
                  <a:solidFill>
                    <a:srgbClr val="FF0000"/>
                  </a:solidFill>
                </a:endParaRPr>
              </a:p>
              <a:p>
                <a:pPr marL="0" indent="0" algn="ctr">
                  <a:buNone/>
                </a:pPr>
                <a:endParaRPr lang="fr-FR" dirty="0">
                  <a:solidFill>
                    <a:srgbClr val="FF0000"/>
                  </a:solidFill>
                </a:endParaRPr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fr-FR" sz="1800" dirty="0">
                    <a:solidFill>
                      <a:srgbClr val="FF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Y = 0 </a:t>
                </a:r>
                <a:r>
                  <a:rPr lang="en-US" sz="18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implies that the observations are evenly /symmetrically distributed (around the median)</a:t>
                </a:r>
              </a:p>
              <a:p>
                <a:pPr marL="0" indent="0">
                  <a:buNone/>
                </a:pPr>
                <a:endParaRPr lang="fr-FR" sz="18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fr-FR" sz="1800" dirty="0">
                    <a:solidFill>
                      <a:srgbClr val="FF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Y &gt; 0 </a:t>
                </a:r>
                <a:r>
                  <a:rPr lang="en-US" sz="18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implies that the distribution of the data is spread to the right (of the average) </a:t>
                </a:r>
                <a:r>
                  <a:rPr lang="fr-FR" sz="1800" dirty="0">
                    <a:latin typeface="Cambria" panose="02040503050406030204" pitchFamily="18" charset="0"/>
                    <a:ea typeface="Cambria" panose="02040503050406030204" pitchFamily="18" charset="0"/>
                    <a:sym typeface="Wingdings" panose="05000000000000000000" pitchFamily="2" charset="2"/>
                  </a:rPr>
                  <a:t> </a:t>
                </a:r>
                <a:r>
                  <a:rPr lang="en-US" sz="1800" dirty="0">
                    <a:latin typeface="Cambria" panose="02040503050406030204" pitchFamily="18" charset="0"/>
                    <a:ea typeface="Cambria" panose="02040503050406030204" pitchFamily="18" charset="0"/>
                    <a:sym typeface="Wingdings" panose="05000000000000000000" pitchFamily="2" charset="2"/>
                  </a:rPr>
                  <a:t> The lower observations/modalities (than median) have more weight  </a:t>
                </a:r>
              </a:p>
              <a:p>
                <a:pPr marL="0" indent="0">
                  <a:buNone/>
                </a:pPr>
                <a:endParaRPr lang="fr-FR" sz="18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fr-FR" sz="1800" dirty="0">
                    <a:solidFill>
                      <a:srgbClr val="FF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Y &lt; 0 </a:t>
                </a:r>
                <a:r>
                  <a:rPr lang="en-US" sz="18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implies that the distribution of the data is spread to the left (of the average) </a:t>
                </a:r>
              </a:p>
              <a:p>
                <a:pPr marL="0" indent="0">
                  <a:buNone/>
                </a:pPr>
                <a:r>
                  <a:rPr lang="en-US" sz="1800" dirty="0">
                    <a:latin typeface="Cambria" panose="02040503050406030204" pitchFamily="18" charset="0"/>
                    <a:ea typeface="Cambria" panose="02040503050406030204" pitchFamily="18" charset="0"/>
                    <a:sym typeface="Wingdings" panose="05000000000000000000" pitchFamily="2" charset="2"/>
                  </a:rPr>
                  <a:t>       </a:t>
                </a:r>
                <a:r>
                  <a:rPr lang="fr-FR" sz="1800" dirty="0">
                    <a:latin typeface="Cambria" panose="02040503050406030204" pitchFamily="18" charset="0"/>
                    <a:ea typeface="Cambria" panose="02040503050406030204" pitchFamily="18" charset="0"/>
                    <a:sym typeface="Wingdings" panose="05000000000000000000" pitchFamily="2" charset="2"/>
                  </a:rPr>
                  <a:t> </a:t>
                </a:r>
                <a:r>
                  <a:rPr lang="en-US" sz="1800" dirty="0">
                    <a:latin typeface="Cambria" panose="02040503050406030204" pitchFamily="18" charset="0"/>
                    <a:ea typeface="Cambria" panose="02040503050406030204" pitchFamily="18" charset="0"/>
                    <a:sym typeface="Wingdings" panose="05000000000000000000" pitchFamily="2" charset="2"/>
                  </a:rPr>
                  <a:t>The upper observations/modalities (than median) have more weight  </a:t>
                </a:r>
              </a:p>
            </p:txBody>
          </p:sp>
        </mc:Choice>
        <mc:Fallback xmlns="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EBE02A17-E83C-48A9-867B-C76F11D5BD3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41" t="-148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147633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979A531-62BF-4497-9B27-6A2357D3B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 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55225D18-5247-4070-A196-6AD861FF7E93}"/>
              </a:ext>
            </a:extLst>
          </p:cNvPr>
          <p:cNvSpPr txBox="1"/>
          <p:nvPr/>
        </p:nvSpPr>
        <p:spPr>
          <a:xfrm>
            <a:off x="611560" y="1628800"/>
            <a:ext cx="8075240" cy="460851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286388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209AB2-F8E2-475D-A5F7-675444A59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sz="3600" dirty="0" err="1">
                <a:latin typeface="Cambria" panose="02040503050406030204" pitchFamily="18" charset="0"/>
                <a:ea typeface="Cambria" panose="02040503050406030204" pitchFamily="18" charset="0"/>
              </a:rPr>
              <a:t>Asymmetry</a:t>
            </a:r>
            <a:r>
              <a:rPr lang="fr-FR" sz="3600" dirty="0">
                <a:latin typeface="Cambria" panose="02040503050406030204" pitchFamily="18" charset="0"/>
                <a:ea typeface="Cambria" panose="02040503050406030204" pitchFamily="18" charset="0"/>
              </a:rPr>
              <a:t> - </a:t>
            </a:r>
            <a:r>
              <a:rPr lang="fr-FR" sz="3600" dirty="0" err="1">
                <a:latin typeface="Cambria" panose="02040503050406030204" pitchFamily="18" charset="0"/>
                <a:ea typeface="Cambria" panose="02040503050406030204" pitchFamily="18" charset="0"/>
              </a:rPr>
              <a:t>Graphically</a:t>
            </a:r>
            <a:r>
              <a:rPr lang="fr-FR" sz="3600" dirty="0">
                <a:latin typeface="Cambria" panose="02040503050406030204" pitchFamily="18" charset="0"/>
                <a:ea typeface="Cambria" panose="02040503050406030204" pitchFamily="18" charset="0"/>
              </a:rPr>
              <a:t> 
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ED0A8704-8012-4824-B470-6731332588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7733" y="1852821"/>
            <a:ext cx="3168352" cy="2839161"/>
          </a:xfr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D9C05761-A305-44E3-802F-CFCD2A719D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6714" y="1696222"/>
            <a:ext cx="2990653" cy="3152357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A4BB10C8-D899-4ABF-BD82-CC4FCBDFCA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459" y="1852821"/>
            <a:ext cx="2843808" cy="3152357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0C8CFF04-F5D0-4A9E-A78C-15CDAB368C29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7163" t="43000" r="30313" b="50000"/>
          <a:stretch/>
        </p:blipFill>
        <p:spPr>
          <a:xfrm>
            <a:off x="2116800" y="5283762"/>
            <a:ext cx="5326733" cy="493216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96EFBFCF-E8D5-47E8-A083-C027B55CA23C}"/>
              </a:ext>
            </a:extLst>
          </p:cNvPr>
          <p:cNvSpPr txBox="1"/>
          <p:nvPr/>
        </p:nvSpPr>
        <p:spPr>
          <a:xfrm>
            <a:off x="902728" y="1450563"/>
            <a:ext cx="2160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Spread on the right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84F5056D-7FBE-4850-980E-AEDF1892A017}"/>
              </a:ext>
            </a:extLst>
          </p:cNvPr>
          <p:cNvSpPr txBox="1"/>
          <p:nvPr/>
        </p:nvSpPr>
        <p:spPr>
          <a:xfrm>
            <a:off x="6638433" y="1344197"/>
            <a:ext cx="2160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Spread on the </a:t>
            </a:r>
            <a:r>
              <a:rPr lang="fr-FR" dirty="0" err="1"/>
              <a:t>left</a:t>
            </a:r>
            <a:endParaRPr lang="fr-FR" dirty="0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5314EBAD-688D-4E4A-BF61-4CF562DB7A94}"/>
              </a:ext>
            </a:extLst>
          </p:cNvPr>
          <p:cNvSpPr txBox="1"/>
          <p:nvPr/>
        </p:nvSpPr>
        <p:spPr>
          <a:xfrm>
            <a:off x="3519831" y="1354957"/>
            <a:ext cx="30067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symmetrically distributed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539725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979A531-62BF-4497-9B27-6A2357D3B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 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55225D18-5247-4070-A196-6AD861FF7E93}"/>
              </a:ext>
            </a:extLst>
          </p:cNvPr>
          <p:cNvSpPr txBox="1"/>
          <p:nvPr/>
        </p:nvSpPr>
        <p:spPr>
          <a:xfrm>
            <a:off x="611560" y="1628800"/>
            <a:ext cx="8075240" cy="460851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631794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7316481C-0A49-4796-812B-0D64F063B7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2469691-F636-4953-AF98-56AEE8A2D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373" y="655128"/>
            <a:ext cx="3460439" cy="1499616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l">
              <a:lnSpc>
                <a:spcPct val="90000"/>
              </a:lnSpc>
            </a:pPr>
            <a:r>
              <a:rPr lang="en-US" sz="2600" dirty="0">
                <a:latin typeface="Cambria" panose="02040503050406030204" pitchFamily="18" charset="0"/>
                <a:ea typeface="Cambria" panose="02040503050406030204" pitchFamily="18" charset="0"/>
              </a:rPr>
              <a:t>The sign of the Yule and Kendall coefficient – Graphically 
</a:t>
            </a:r>
            <a:endParaRPr lang="fr-FR" sz="2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5271697-90F1-4A23-8EF2-0179F2EAFA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455228" cy="323398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F49CE81-B2F4-47B2-9D4A-886DCE0A84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91533" y="73152"/>
            <a:ext cx="884223" cy="232963"/>
            <a:chOff x="7763256" y="73152"/>
            <a:chExt cx="1178966" cy="232963"/>
          </a:xfrm>
        </p:grpSpPr>
        <p:sp>
          <p:nvSpPr>
            <p:cNvPr id="19" name="Rectangle 64">
              <a:extLst>
                <a:ext uri="{FF2B5EF4-FFF2-40B4-BE49-F238E27FC236}">
                  <a16:creationId xmlns:a16="http://schemas.microsoft.com/office/drawing/2014/main" id="{4BE32177-3EAD-42DA-997C-8DAE1BFEE5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63077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66">
              <a:extLst>
                <a:ext uri="{FF2B5EF4-FFF2-40B4-BE49-F238E27FC236}">
                  <a16:creationId xmlns:a16="http://schemas.microsoft.com/office/drawing/2014/main" id="{A0DEE160-9825-4DB5-8188-911AC13EA7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63077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64">
              <a:extLst>
                <a:ext uri="{FF2B5EF4-FFF2-40B4-BE49-F238E27FC236}">
                  <a16:creationId xmlns:a16="http://schemas.microsoft.com/office/drawing/2014/main" id="{9C5FEDB5-0AEE-40E4-9CA6-6718B956D9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138122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66">
              <a:extLst>
                <a:ext uri="{FF2B5EF4-FFF2-40B4-BE49-F238E27FC236}">
                  <a16:creationId xmlns:a16="http://schemas.microsoft.com/office/drawing/2014/main" id="{1A11DF2D-1D4B-45DA-906B-2A1F84C996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138122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64">
              <a:extLst>
                <a:ext uri="{FF2B5EF4-FFF2-40B4-BE49-F238E27FC236}">
                  <a16:creationId xmlns:a16="http://schemas.microsoft.com/office/drawing/2014/main" id="{B6A5BAC0-9806-4124-A584-7F924A6589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13167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66">
              <a:extLst>
                <a:ext uri="{FF2B5EF4-FFF2-40B4-BE49-F238E27FC236}">
                  <a16:creationId xmlns:a16="http://schemas.microsoft.com/office/drawing/2014/main" id="{A8F6BFA3-38BE-4F0A-94D9-EF0E6EA01A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13167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64">
              <a:extLst>
                <a:ext uri="{FF2B5EF4-FFF2-40B4-BE49-F238E27FC236}">
                  <a16:creationId xmlns:a16="http://schemas.microsoft.com/office/drawing/2014/main" id="{BE6BCF21-959F-419E-BCA4-B20AF92EF4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88211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66">
              <a:extLst>
                <a:ext uri="{FF2B5EF4-FFF2-40B4-BE49-F238E27FC236}">
                  <a16:creationId xmlns:a16="http://schemas.microsoft.com/office/drawing/2014/main" id="{54B6E037-E222-42EB-9AEB-C45EF2090A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88211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64">
              <a:extLst>
                <a:ext uri="{FF2B5EF4-FFF2-40B4-BE49-F238E27FC236}">
                  <a16:creationId xmlns:a16="http://schemas.microsoft.com/office/drawing/2014/main" id="{A0494426-372E-42B8-87E1-170F1B5969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63256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66">
              <a:extLst>
                <a:ext uri="{FF2B5EF4-FFF2-40B4-BE49-F238E27FC236}">
                  <a16:creationId xmlns:a16="http://schemas.microsoft.com/office/drawing/2014/main" id="{14DB5AB5-5D73-4375-8CF4-DF4B7A5D7F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63256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64">
              <a:extLst>
                <a:ext uri="{FF2B5EF4-FFF2-40B4-BE49-F238E27FC236}">
                  <a16:creationId xmlns:a16="http://schemas.microsoft.com/office/drawing/2014/main" id="{009B2A6E-6D36-4A9A-AFAA-CF4D859147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887854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66">
              <a:extLst>
                <a:ext uri="{FF2B5EF4-FFF2-40B4-BE49-F238E27FC236}">
                  <a16:creationId xmlns:a16="http://schemas.microsoft.com/office/drawing/2014/main" id="{85DC0718-B29F-47A6-931F-F0EF9FA99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887854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64">
              <a:extLst>
                <a:ext uri="{FF2B5EF4-FFF2-40B4-BE49-F238E27FC236}">
                  <a16:creationId xmlns:a16="http://schemas.microsoft.com/office/drawing/2014/main" id="{AAED958D-AFCC-4BEF-818A-EFF7E41D17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762899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66">
              <a:extLst>
                <a:ext uri="{FF2B5EF4-FFF2-40B4-BE49-F238E27FC236}">
                  <a16:creationId xmlns:a16="http://schemas.microsoft.com/office/drawing/2014/main" id="{C216DD5A-D1AE-429E-937E-456A50345E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762899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64">
              <a:extLst>
                <a:ext uri="{FF2B5EF4-FFF2-40B4-BE49-F238E27FC236}">
                  <a16:creationId xmlns:a16="http://schemas.microsoft.com/office/drawing/2014/main" id="{A845B253-9DEE-45AC-AADA-FAA6812C39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37944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66">
              <a:extLst>
                <a:ext uri="{FF2B5EF4-FFF2-40B4-BE49-F238E27FC236}">
                  <a16:creationId xmlns:a16="http://schemas.microsoft.com/office/drawing/2014/main" id="{CE7B6CBF-757B-4B55-84CB-062B712D38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37944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64">
              <a:extLst>
                <a:ext uri="{FF2B5EF4-FFF2-40B4-BE49-F238E27FC236}">
                  <a16:creationId xmlns:a16="http://schemas.microsoft.com/office/drawing/2014/main" id="{2CC28C7A-EF33-43D3-90CD-DCAC92546A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512988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66">
              <a:extLst>
                <a:ext uri="{FF2B5EF4-FFF2-40B4-BE49-F238E27FC236}">
                  <a16:creationId xmlns:a16="http://schemas.microsoft.com/office/drawing/2014/main" id="{BC0C9DCF-F15B-4B7A-A16B-37B4335E6B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512988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64">
              <a:extLst>
                <a:ext uri="{FF2B5EF4-FFF2-40B4-BE49-F238E27FC236}">
                  <a16:creationId xmlns:a16="http://schemas.microsoft.com/office/drawing/2014/main" id="{94991FD1-406A-4958-87D4-8DFA9FEA4C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388033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66">
              <a:extLst>
                <a:ext uri="{FF2B5EF4-FFF2-40B4-BE49-F238E27FC236}">
                  <a16:creationId xmlns:a16="http://schemas.microsoft.com/office/drawing/2014/main" id="{5CD32F69-27AD-4088-877C-E2A40F8B07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388033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6294B267-ABFD-451C-9183-3D58684086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59877" y="768736"/>
            <a:ext cx="4190207" cy="1738935"/>
          </a:xfrm>
          <a:prstGeom prst="rect">
            <a:avLst/>
          </a:prstGeom>
        </p:spPr>
      </p:pic>
      <p:sp>
        <p:nvSpPr>
          <p:cNvPr id="40" name="Rectangle 39">
            <a:extLst>
              <a:ext uri="{FF2B5EF4-FFF2-40B4-BE49-F238E27FC236}">
                <a16:creationId xmlns:a16="http://schemas.microsoft.com/office/drawing/2014/main" id="{D9F5512A-48E1-4C07-B75E-3CCC517B6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233984"/>
            <a:ext cx="455228" cy="36240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E19739A1-4ECB-45FF-BA80-DF9E03B2A0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903" y="4148003"/>
            <a:ext cx="4190206" cy="1791313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BA8D8200-24B4-4759-92B3-CE2F23AEB2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9878" y="4168954"/>
            <a:ext cx="4190207" cy="1749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0694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979A531-62BF-4497-9B27-6A2357D3B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 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55225D18-5247-4070-A196-6AD861FF7E93}"/>
              </a:ext>
            </a:extLst>
          </p:cNvPr>
          <p:cNvSpPr txBox="1"/>
          <p:nvPr/>
        </p:nvSpPr>
        <p:spPr>
          <a:xfrm>
            <a:off x="611560" y="1628800"/>
            <a:ext cx="8075240" cy="460851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727549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CDAA49A-9770-4CEA-95B0-8BCA690AF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 err="1">
                <a:latin typeface="Cambria" panose="02040503050406030204" pitchFamily="18" charset="0"/>
                <a:ea typeface="Cambria" panose="02040503050406030204" pitchFamily="18" charset="0"/>
              </a:rPr>
              <a:t>Asymmetry</a:t>
            </a: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fr-FR" dirty="0" err="1">
                <a:latin typeface="Cambria" panose="02040503050406030204" pitchFamily="18" charset="0"/>
                <a:ea typeface="Cambria" panose="02040503050406030204" pitchFamily="18" charset="0"/>
              </a:rPr>
              <a:t>Indicators</a:t>
            </a: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 – General </a:t>
            </a:r>
            <a:r>
              <a:rPr lang="fr-FR" dirty="0" err="1">
                <a:latin typeface="Cambria" panose="02040503050406030204" pitchFamily="18" charset="0"/>
                <a:ea typeface="Cambria" panose="02040503050406030204" pitchFamily="18" charset="0"/>
              </a:rPr>
              <a:t>Remarks</a:t>
            </a: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
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20EECF8-BB90-4531-8612-DF9E4F7358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 err="1">
                <a:latin typeface="Cambria" panose="02040503050406030204" pitchFamily="18" charset="0"/>
                <a:ea typeface="Cambria" panose="02040503050406030204" pitchFamily="18" charset="0"/>
              </a:rPr>
              <a:t>Remark</a:t>
            </a: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 1 : </a:t>
            </a:r>
          </a:p>
          <a:p>
            <a:pPr marL="0" indent="0">
              <a:buNone/>
            </a:pPr>
            <a:endParaRPr lang="fr-FR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fr-FR" dirty="0" err="1">
                <a:latin typeface="Cambria" panose="02040503050406030204" pitchFamily="18" charset="0"/>
                <a:ea typeface="Cambria" panose="02040503050406030204" pitchFamily="18" charset="0"/>
              </a:rPr>
              <a:t>Remark</a:t>
            </a: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 2 : 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C12426B8-EA03-4A23-8E85-2146CEB3BB5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163" t="57000" r="29526" b="23370"/>
          <a:stretch/>
        </p:blipFill>
        <p:spPr>
          <a:xfrm>
            <a:off x="3210848" y="1735975"/>
            <a:ext cx="5670682" cy="1445723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FC0D2521-F699-4EF5-862E-9ECD6E32A1A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7163" t="50841" r="30313" b="35638"/>
          <a:stretch/>
        </p:blipFill>
        <p:spPr>
          <a:xfrm>
            <a:off x="3059832" y="4162586"/>
            <a:ext cx="5494448" cy="982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23029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979A531-62BF-4497-9B27-6A2357D3B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 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55225D18-5247-4070-A196-6AD861FF7E93}"/>
              </a:ext>
            </a:extLst>
          </p:cNvPr>
          <p:cNvSpPr txBox="1"/>
          <p:nvPr/>
        </p:nvSpPr>
        <p:spPr>
          <a:xfrm>
            <a:off x="611560" y="1628800"/>
            <a:ext cx="8075240" cy="460851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567875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1D768A4-4B47-4390-BDD0-0AD3CDD00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171400"/>
            <a:ext cx="8229600" cy="1143000"/>
          </a:xfrm>
        </p:spPr>
        <p:txBody>
          <a:bodyPr>
            <a:normAutofit/>
          </a:bodyPr>
          <a:lstStyle/>
          <a:p>
            <a:r>
              <a:rPr lang="fr-FR" sz="4000" dirty="0" err="1">
                <a:latin typeface="Cambria" panose="02040503050406030204" pitchFamily="18" charset="0"/>
                <a:ea typeface="Cambria" panose="02040503050406030204" pitchFamily="18" charset="0"/>
              </a:rPr>
              <a:t>Exercise</a:t>
            </a:r>
            <a:endParaRPr lang="fr-FR" sz="4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B8C8501-2113-4D12-B48F-5F2AFF5EF948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538" y="908720"/>
            <a:ext cx="9142462" cy="586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The data below represents the age of visitors to a website:
</a:t>
            </a:r>
            <a:endParaRPr lang="fr-FR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Find the right proposal (among the four proposals below):
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The coefficient of variation is less than 25%
 The 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Pearson coefficient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is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positive
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The mode is equal to 21.22 years
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The average age is equal to 35.25 years </a:t>
            </a: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5" name="Tableau 4">
            <a:extLst>
              <a:ext uri="{FF2B5EF4-FFF2-40B4-BE49-F238E27FC236}">
                <a16:creationId xmlns:a16="http://schemas.microsoft.com/office/drawing/2014/main" id="{96C763F7-A954-4676-80EE-C8D4A9B620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9435370"/>
              </p:ext>
            </p:extLst>
          </p:nvPr>
        </p:nvGraphicFramePr>
        <p:xfrm>
          <a:off x="2843808" y="1628800"/>
          <a:ext cx="3168352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644592904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382991047"/>
                    </a:ext>
                  </a:extLst>
                </a:gridCol>
              </a:tblGrid>
              <a:tr h="520316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 err="1"/>
                        <a:t>Number</a:t>
                      </a:r>
                      <a:r>
                        <a:rPr lang="fr-FR" dirty="0"/>
                        <a:t> of </a:t>
                      </a:r>
                      <a:r>
                        <a:rPr lang="fr-FR" dirty="0" err="1"/>
                        <a:t>visitors</a:t>
                      </a:r>
                      <a:endParaRPr lang="fr-F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3284218"/>
                  </a:ext>
                </a:extLst>
              </a:tr>
              <a:tr h="297323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&lt; 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2198753"/>
                  </a:ext>
                </a:extLst>
              </a:tr>
              <a:tr h="297323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[18 ; 20[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5262945"/>
                  </a:ext>
                </a:extLst>
              </a:tr>
              <a:tr h="297323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[20 ; 30[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0569742"/>
                  </a:ext>
                </a:extLst>
              </a:tr>
              <a:tr h="297323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[30 ; 35[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8883628"/>
                  </a:ext>
                </a:extLst>
              </a:tr>
              <a:tr h="297323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[35 ; 50[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9531004"/>
                  </a:ext>
                </a:extLst>
              </a:tr>
              <a:tr h="297323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≥ 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7406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7204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979A531-62BF-4497-9B27-6A2357D3B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 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55225D18-5247-4070-A196-6AD861FF7E93}"/>
              </a:ext>
            </a:extLst>
          </p:cNvPr>
          <p:cNvSpPr txBox="1"/>
          <p:nvPr/>
        </p:nvSpPr>
        <p:spPr>
          <a:xfrm>
            <a:off x="611560" y="1628800"/>
            <a:ext cx="8075240" cy="460851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629719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1D768A4-4B47-4390-BDD0-0AD3CDD00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234280"/>
            <a:ext cx="8229600" cy="1143000"/>
          </a:xfrm>
        </p:spPr>
        <p:txBody>
          <a:bodyPr>
            <a:normAutofit/>
          </a:bodyPr>
          <a:lstStyle/>
          <a:p>
            <a:r>
              <a:rPr lang="fr-FR" sz="4000" dirty="0" err="1">
                <a:latin typeface="Cambria" panose="02040503050406030204" pitchFamily="18" charset="0"/>
                <a:ea typeface="Cambria" panose="02040503050406030204" pitchFamily="18" charset="0"/>
              </a:rPr>
              <a:t>Exercise</a:t>
            </a:r>
            <a:endParaRPr lang="fr-FR" sz="4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B8C8501-2113-4D12-B48F-5F2AFF5EF948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538" y="908720"/>
            <a:ext cx="9142462" cy="5570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The data below represents the age of visitors to a website:</a:t>
            </a:r>
          </a:p>
          <a:p>
            <a:pPr marL="0" indent="0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Find the right proposal (among the four proposals below):
</a:t>
            </a: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The first quartile is equal to 31,233
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The median is equal to 29,431
 The third quartile is equal to 36.28
The Yule and Kendall coefficient is negative </a:t>
            </a: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5" name="Tableau 4">
            <a:extLst>
              <a:ext uri="{FF2B5EF4-FFF2-40B4-BE49-F238E27FC236}">
                <a16:creationId xmlns:a16="http://schemas.microsoft.com/office/drawing/2014/main" id="{1FB458AF-A9CC-4332-848F-AD87E84B18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6062172"/>
              </p:ext>
            </p:extLst>
          </p:nvPr>
        </p:nvGraphicFramePr>
        <p:xfrm>
          <a:off x="2771800" y="1340768"/>
          <a:ext cx="3168352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644592904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382991047"/>
                    </a:ext>
                  </a:extLst>
                </a:gridCol>
              </a:tblGrid>
              <a:tr h="520316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 err="1"/>
                        <a:t>Number</a:t>
                      </a:r>
                      <a:r>
                        <a:rPr lang="fr-FR" dirty="0"/>
                        <a:t> of </a:t>
                      </a:r>
                      <a:r>
                        <a:rPr lang="fr-FR" dirty="0" err="1"/>
                        <a:t>visitors</a:t>
                      </a:r>
                      <a:endParaRPr lang="fr-F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3284218"/>
                  </a:ext>
                </a:extLst>
              </a:tr>
              <a:tr h="297323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&lt; 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2198753"/>
                  </a:ext>
                </a:extLst>
              </a:tr>
              <a:tr h="297323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[18 ; 20[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5262945"/>
                  </a:ext>
                </a:extLst>
              </a:tr>
              <a:tr h="297323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[20 ; 30[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0569742"/>
                  </a:ext>
                </a:extLst>
              </a:tr>
              <a:tr h="297323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[30 ; 35[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8883628"/>
                  </a:ext>
                </a:extLst>
              </a:tr>
              <a:tr h="297323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[35 ; 50[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9531004"/>
                  </a:ext>
                </a:extLst>
              </a:tr>
              <a:tr h="297323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≥ 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7406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05983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979A531-62BF-4497-9B27-6A2357D3B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 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55225D18-5247-4070-A196-6AD861FF7E93}"/>
              </a:ext>
            </a:extLst>
          </p:cNvPr>
          <p:cNvSpPr txBox="1"/>
          <p:nvPr/>
        </p:nvSpPr>
        <p:spPr>
          <a:xfrm>
            <a:off x="611560" y="1628800"/>
            <a:ext cx="8075240" cy="460851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181049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F8ED741-9FC0-4920-95C4-950CC56AF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752"/>
            <a:ext cx="8229600" cy="1143000"/>
          </a:xfrm>
        </p:spPr>
        <p:txBody>
          <a:bodyPr/>
          <a:lstStyle/>
          <a:p>
            <a:r>
              <a:rPr lang="fr-FR" sz="4400" dirty="0" err="1">
                <a:latin typeface="Cambria" panose="02040503050406030204" pitchFamily="18" charset="0"/>
                <a:ea typeface="Cambria" panose="02040503050406030204" pitchFamily="18" charset="0"/>
              </a:rPr>
              <a:t>Exercise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D5D8AB6-C0B4-46D4-9A63-F313BD0979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25" y="1009476"/>
            <a:ext cx="9077325" cy="57913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The data below represents the number of products purchased during the visit of 100 visitors to a shopping center:
</a:t>
            </a: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Find the right proposal (among the four proposals below):
</a:t>
            </a: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The mean is equal to 2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The Pearson coefficient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is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negative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
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The standard deviation is equal to 1.470238
The coefficient of variation is greater than 95%</a:t>
            </a: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5" name="Tableau 5">
            <a:extLst>
              <a:ext uri="{FF2B5EF4-FFF2-40B4-BE49-F238E27FC236}">
                <a16:creationId xmlns:a16="http://schemas.microsoft.com/office/drawing/2014/main" id="{FD9D37B9-216A-4C04-AFF2-3C52834878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722062"/>
              </p:ext>
            </p:extLst>
          </p:nvPr>
        </p:nvGraphicFramePr>
        <p:xfrm>
          <a:off x="3203848" y="1772816"/>
          <a:ext cx="3888432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4256">
                  <a:extLst>
                    <a:ext uri="{9D8B030D-6E8A-4147-A177-3AD203B41FA5}">
                      <a16:colId xmlns:a16="http://schemas.microsoft.com/office/drawing/2014/main" val="644592904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382991047"/>
                    </a:ext>
                  </a:extLst>
                </a:gridCol>
              </a:tblGrid>
              <a:tr h="520316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Nb of </a:t>
                      </a:r>
                      <a:r>
                        <a:rPr lang="fr-FR" dirty="0" err="1"/>
                        <a:t>products</a:t>
                      </a:r>
                      <a:r>
                        <a:rPr lang="fr-FR" dirty="0"/>
                        <a:t> </a:t>
                      </a:r>
                      <a:r>
                        <a:rPr lang="fr-FR" dirty="0" err="1"/>
                        <a:t>purchased</a:t>
                      </a:r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 err="1"/>
                        <a:t>Number</a:t>
                      </a:r>
                      <a:r>
                        <a:rPr lang="fr-FR" dirty="0"/>
                        <a:t> of </a:t>
                      </a:r>
                      <a:r>
                        <a:rPr lang="fr-FR" dirty="0" err="1"/>
                        <a:t>visitors</a:t>
                      </a:r>
                      <a:endParaRPr lang="fr-F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3284218"/>
                  </a:ext>
                </a:extLst>
              </a:tr>
              <a:tr h="297323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2198753"/>
                  </a:ext>
                </a:extLst>
              </a:tr>
              <a:tr h="297323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5262945"/>
                  </a:ext>
                </a:extLst>
              </a:tr>
              <a:tr h="297323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0569742"/>
                  </a:ext>
                </a:extLst>
              </a:tr>
              <a:tr h="297323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8883628"/>
                  </a:ext>
                </a:extLst>
              </a:tr>
              <a:tr h="297323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9531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09454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979A531-62BF-4497-9B27-6A2357D3B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 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55225D18-5247-4070-A196-6AD861FF7E93}"/>
              </a:ext>
            </a:extLst>
          </p:cNvPr>
          <p:cNvSpPr txBox="1"/>
          <p:nvPr/>
        </p:nvSpPr>
        <p:spPr>
          <a:xfrm>
            <a:off x="611560" y="1628800"/>
            <a:ext cx="8075240" cy="460851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482320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F8ED741-9FC0-4920-95C4-950CC56AF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752"/>
            <a:ext cx="8229600" cy="1143000"/>
          </a:xfrm>
        </p:spPr>
        <p:txBody>
          <a:bodyPr/>
          <a:lstStyle/>
          <a:p>
            <a:r>
              <a:rPr lang="fr-FR" sz="4400" dirty="0" err="1">
                <a:latin typeface="Cambria" panose="02040503050406030204" pitchFamily="18" charset="0"/>
                <a:ea typeface="Cambria" panose="02040503050406030204" pitchFamily="18" charset="0"/>
              </a:rPr>
              <a:t>Exercise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D5D8AB6-C0B4-46D4-9A63-F313BD0979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25" y="1009476"/>
            <a:ext cx="9077325" cy="5791374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The data below represents the number of products purchased during the visit of 100 visitors to a shopping center:
</a:t>
            </a: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Find the right proposal (among the four proposals below):
</a:t>
            </a: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The first quartile is equal to 0
The median is equal to 2
The Yule and Kendall coefficient is positive
The interquartile range is equal to 2</a:t>
            </a: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5" name="Tableau 5">
            <a:extLst>
              <a:ext uri="{FF2B5EF4-FFF2-40B4-BE49-F238E27FC236}">
                <a16:creationId xmlns:a16="http://schemas.microsoft.com/office/drawing/2014/main" id="{850BCA77-32AC-4715-9498-184BB36BDA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1782930"/>
              </p:ext>
            </p:extLst>
          </p:nvPr>
        </p:nvGraphicFramePr>
        <p:xfrm>
          <a:off x="3203848" y="1772816"/>
          <a:ext cx="396044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6264">
                  <a:extLst>
                    <a:ext uri="{9D8B030D-6E8A-4147-A177-3AD203B41FA5}">
                      <a16:colId xmlns:a16="http://schemas.microsoft.com/office/drawing/2014/main" val="644592904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382991047"/>
                    </a:ext>
                  </a:extLst>
                </a:gridCol>
              </a:tblGrid>
              <a:tr h="520316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Nb of </a:t>
                      </a:r>
                      <a:r>
                        <a:rPr lang="fr-FR" dirty="0" err="1"/>
                        <a:t>products</a:t>
                      </a:r>
                      <a:r>
                        <a:rPr lang="fr-FR" dirty="0"/>
                        <a:t> </a:t>
                      </a:r>
                      <a:r>
                        <a:rPr lang="fr-FR" dirty="0" err="1"/>
                        <a:t>purchased</a:t>
                      </a:r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 err="1"/>
                        <a:t>Number</a:t>
                      </a:r>
                      <a:r>
                        <a:rPr lang="fr-FR" dirty="0"/>
                        <a:t> of </a:t>
                      </a:r>
                      <a:r>
                        <a:rPr lang="fr-FR" dirty="0" err="1"/>
                        <a:t>visitors</a:t>
                      </a:r>
                      <a:endParaRPr lang="fr-F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3284218"/>
                  </a:ext>
                </a:extLst>
              </a:tr>
              <a:tr h="297323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2198753"/>
                  </a:ext>
                </a:extLst>
              </a:tr>
              <a:tr h="297323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5262945"/>
                  </a:ext>
                </a:extLst>
              </a:tr>
              <a:tr h="297323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0569742"/>
                  </a:ext>
                </a:extLst>
              </a:tr>
              <a:tr h="297323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8883628"/>
                  </a:ext>
                </a:extLst>
              </a:tr>
              <a:tr h="297323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9531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88668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979A531-62BF-4497-9B27-6A2357D3B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 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55225D18-5247-4070-A196-6AD861FF7E93}"/>
              </a:ext>
            </a:extLst>
          </p:cNvPr>
          <p:cNvSpPr txBox="1"/>
          <p:nvPr/>
        </p:nvSpPr>
        <p:spPr>
          <a:xfrm>
            <a:off x="611560" y="1628800"/>
            <a:ext cx="8075240" cy="460851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3756040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2CBBB177BCECA4BA07D6B8F331069E6" ma:contentTypeVersion="8" ma:contentTypeDescription="Crée un document." ma:contentTypeScope="" ma:versionID="a1792ed5d19ee5ab252c33350085386f">
  <xsd:schema xmlns:xsd="http://www.w3.org/2001/XMLSchema" xmlns:xs="http://www.w3.org/2001/XMLSchema" xmlns:p="http://schemas.microsoft.com/office/2006/metadata/properties" xmlns:ns2="9e182b23-170a-47e8-a965-13b876d21b7d" targetNamespace="http://schemas.microsoft.com/office/2006/metadata/properties" ma:root="true" ma:fieldsID="f2f4ce115f52bc9505b5498e049d5905" ns2:_="">
    <xsd:import namespace="9e182b23-170a-47e8-a965-13b876d21b7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182b23-170a-47e8-a965-13b876d21b7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BB9F60E-0D7F-4CD0-9939-B06DECDB4D2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7E6E705-B6D2-449E-BC21-85F934C7D92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e182b23-170a-47e8-a965-13b876d21b7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1AC1EBE-977F-480B-B90F-A9F24D28C013}">
  <ds:schemaRefs>
    <ds:schemaRef ds:uri="64acb2c5-0a2b-4bda-bd34-58e36cbb80d2"/>
    <ds:schemaRef ds:uri="http://schemas.microsoft.com/office/2006/documentManagement/types"/>
    <ds:schemaRef ds:uri="http://purl.org/dc/elements/1.1/"/>
    <ds:schemaRef ds:uri="http://schemas.microsoft.com/office/2006/metadata/properties"/>
    <ds:schemaRef ds:uri="6d93d202-47fc-4405-873a-cab67cc5f1b2"/>
    <ds:schemaRef ds:uri="http://schemas.microsoft.com/office/infopath/2007/PartnerControls"/>
    <ds:schemaRef ds:uri="http://purl.org/dc/terms/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702</Words>
  <Application>Microsoft Office PowerPoint</Application>
  <PresentationFormat>Affichage à l'écran (4:3)</PresentationFormat>
  <Paragraphs>143</Paragraphs>
  <Slides>21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21</vt:i4>
      </vt:variant>
    </vt:vector>
  </HeadingPairs>
  <TitlesOfParts>
    <vt:vector size="28" baseType="lpstr">
      <vt:lpstr>Arial</vt:lpstr>
      <vt:lpstr>Calibri</vt:lpstr>
      <vt:lpstr>Cambria</vt:lpstr>
      <vt:lpstr>Cambria Math</vt:lpstr>
      <vt:lpstr>F17</vt:lpstr>
      <vt:lpstr>Wingdings</vt:lpstr>
      <vt:lpstr>Thème Office</vt:lpstr>
      <vt:lpstr>Data Description </vt:lpstr>
      <vt:lpstr>The Form indicators
</vt:lpstr>
      <vt:lpstr>Note </vt:lpstr>
      <vt:lpstr>Asymmetry Indicators –  The Pearson Coefficient
</vt:lpstr>
      <vt:lpstr>Note </vt:lpstr>
      <vt:lpstr>Indicators of asymmetry –  The Yule and Kendall coefficient
</vt:lpstr>
      <vt:lpstr>Note </vt:lpstr>
      <vt:lpstr>Asymmetry - Graphically 
</vt:lpstr>
      <vt:lpstr>Note </vt:lpstr>
      <vt:lpstr>The sign of the Yule and Kendall coefficient – Graphically 
</vt:lpstr>
      <vt:lpstr>Note </vt:lpstr>
      <vt:lpstr>Asymmetry Indicators – General Remarks
</vt:lpstr>
      <vt:lpstr>Note </vt:lpstr>
      <vt:lpstr>Exercise</vt:lpstr>
      <vt:lpstr>Note </vt:lpstr>
      <vt:lpstr>Exercise</vt:lpstr>
      <vt:lpstr>Note </vt:lpstr>
      <vt:lpstr>Exercise</vt:lpstr>
      <vt:lpstr>Note </vt:lpstr>
      <vt:lpstr>Exercise</vt:lpstr>
      <vt:lpstr>Note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Analytics </dc:title>
  <dc:creator>KACHOUR Maher</dc:creator>
  <cp:lastModifiedBy>KACHOUR Maher</cp:lastModifiedBy>
  <cp:revision>15</cp:revision>
  <dcterms:created xsi:type="dcterms:W3CDTF">2021-02-02T16:40:54Z</dcterms:created>
  <dcterms:modified xsi:type="dcterms:W3CDTF">2021-10-15T13:19:18Z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0x01010082CBBB177BCECA4BA07D6B8F331069E6</vt:lpwstr>
  </property>
</Properties>
</file>