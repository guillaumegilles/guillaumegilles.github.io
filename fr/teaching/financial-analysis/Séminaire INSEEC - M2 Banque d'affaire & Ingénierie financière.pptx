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4"/>
  </p:notesMasterIdLst>
  <p:handoutMasterIdLst>
    <p:handoutMasterId r:id="rId105"/>
  </p:handoutMasterIdLst>
  <p:sldIdLst>
    <p:sldId id="256" r:id="rId5"/>
    <p:sldId id="257" r:id="rId6"/>
    <p:sldId id="258" r:id="rId7"/>
    <p:sldId id="268" r:id="rId8"/>
    <p:sldId id="269" r:id="rId9"/>
    <p:sldId id="270" r:id="rId10"/>
    <p:sldId id="271" r:id="rId11"/>
    <p:sldId id="284" r:id="rId12"/>
    <p:sldId id="285"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6" r:id="rId26"/>
    <p:sldId id="267" r:id="rId27"/>
    <p:sldId id="265" r:id="rId28"/>
    <p:sldId id="290" r:id="rId29"/>
    <p:sldId id="287" r:id="rId30"/>
    <p:sldId id="259" r:id="rId31"/>
    <p:sldId id="260" r:id="rId32"/>
    <p:sldId id="263" r:id="rId33"/>
    <p:sldId id="264" r:id="rId34"/>
    <p:sldId id="266" r:id="rId35"/>
    <p:sldId id="261" r:id="rId36"/>
    <p:sldId id="262" r:id="rId37"/>
    <p:sldId id="288" r:id="rId38"/>
    <p:sldId id="289"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10" r:id="rId56"/>
    <p:sldId id="312" r:id="rId57"/>
    <p:sldId id="319" r:id="rId58"/>
    <p:sldId id="307" r:id="rId59"/>
    <p:sldId id="309" r:id="rId60"/>
    <p:sldId id="308" r:id="rId61"/>
    <p:sldId id="311" r:id="rId62"/>
    <p:sldId id="314" r:id="rId63"/>
    <p:sldId id="318" r:id="rId64"/>
    <p:sldId id="315" r:id="rId65"/>
    <p:sldId id="316" r:id="rId66"/>
    <p:sldId id="317" r:id="rId67"/>
    <p:sldId id="320" r:id="rId68"/>
    <p:sldId id="321" r:id="rId69"/>
    <p:sldId id="322" r:id="rId70"/>
    <p:sldId id="323" r:id="rId71"/>
    <p:sldId id="324" r:id="rId72"/>
    <p:sldId id="325" r:id="rId73"/>
    <p:sldId id="326" r:id="rId74"/>
    <p:sldId id="328" r:id="rId75"/>
    <p:sldId id="329" r:id="rId76"/>
    <p:sldId id="330" r:id="rId77"/>
    <p:sldId id="357" r:id="rId78"/>
    <p:sldId id="331" r:id="rId79"/>
    <p:sldId id="332" r:id="rId80"/>
    <p:sldId id="334" r:id="rId81"/>
    <p:sldId id="335" r:id="rId82"/>
    <p:sldId id="336" r:id="rId83"/>
    <p:sldId id="338" r:id="rId84"/>
    <p:sldId id="337" r:id="rId85"/>
    <p:sldId id="339" r:id="rId86"/>
    <p:sldId id="340" r:id="rId87"/>
    <p:sldId id="341" r:id="rId88"/>
    <p:sldId id="342" r:id="rId89"/>
    <p:sldId id="358"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6" r:id="rId103"/>
  </p:sldIdLst>
  <p:sldSz cx="9144000" cy="6858000" type="screen4x3"/>
  <p:notesSz cx="6705600" cy="98425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AA7"/>
    <a:srgbClr val="8B0534"/>
    <a:srgbClr val="FDEADA"/>
    <a:srgbClr val="F3953F"/>
    <a:srgbClr val="F79646"/>
    <a:srgbClr val="FDDFC7"/>
    <a:srgbClr val="3E81DA"/>
    <a:srgbClr val="FCD5B5"/>
    <a:srgbClr val="6FA1E3"/>
    <a:srgbClr val="5B94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93875" autoAdjust="0"/>
  </p:normalViewPr>
  <p:slideViewPr>
    <p:cSldViewPr>
      <p:cViewPr varScale="1">
        <p:scale>
          <a:sx n="63" d="100"/>
          <a:sy n="63" d="100"/>
        </p:scale>
        <p:origin x="1340" y="4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viewProps" Target="viewProp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theme" Target="theme/theme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tableStyles" Target="tableStyle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306FB5-A2B2-49C6-9AD1-55B6917CD944}" type="doc">
      <dgm:prSet loTypeId="urn:microsoft.com/office/officeart/2005/8/layout/cycle2" loCatId="cycle" qsTypeId="urn:microsoft.com/office/officeart/2005/8/quickstyle/simple2" qsCatId="simple" csTypeId="urn:microsoft.com/office/officeart/2005/8/colors/colorful4" csCatId="colorful" phldr="1"/>
      <dgm:spPr/>
      <dgm:t>
        <a:bodyPr/>
        <a:lstStyle/>
        <a:p>
          <a:endParaRPr lang="fr-FR"/>
        </a:p>
      </dgm:t>
    </dgm:pt>
    <dgm:pt modelId="{9DF4BBD3-25B6-419A-AB91-DE3ACD9C4242}">
      <dgm:prSet phldrT="[Texte]" phldr="1" custT="1"/>
      <dgm:spPr>
        <a:solidFill>
          <a:schemeClr val="accent2"/>
        </a:solidFill>
      </dgm:spPr>
      <dgm:t>
        <a:bodyPr/>
        <a:lstStyle/>
        <a:p>
          <a:endParaRPr lang="fr-FR" sz="2000" dirty="0"/>
        </a:p>
      </dgm:t>
    </dgm:pt>
    <dgm:pt modelId="{98CC9FE9-8325-4543-9BDF-A0D40F4BE211}" type="parTrans" cxnId="{7D1C661D-5452-4A24-A461-D1FDD661C07C}">
      <dgm:prSet/>
      <dgm:spPr/>
      <dgm:t>
        <a:bodyPr/>
        <a:lstStyle/>
        <a:p>
          <a:endParaRPr lang="fr-FR"/>
        </a:p>
      </dgm:t>
    </dgm:pt>
    <dgm:pt modelId="{51E61400-E8A1-4078-B0D1-05769AFE3FC2}" type="sibTrans" cxnId="{7D1C661D-5452-4A24-A461-D1FDD661C07C}">
      <dgm:prSet/>
      <dgm:spPr/>
      <dgm:t>
        <a:bodyPr/>
        <a:lstStyle/>
        <a:p>
          <a:endParaRPr lang="fr-FR"/>
        </a:p>
      </dgm:t>
    </dgm:pt>
    <dgm:pt modelId="{A16B7A32-C1AD-495A-A377-0B9A0A7FEC9F}">
      <dgm:prSet phldrT="[Texte]" phldr="1" custT="1"/>
      <dgm:spPr>
        <a:solidFill>
          <a:schemeClr val="accent3"/>
        </a:solidFill>
      </dgm:spPr>
      <dgm:t>
        <a:bodyPr/>
        <a:lstStyle/>
        <a:p>
          <a:endParaRPr lang="fr-FR" sz="2000" dirty="0"/>
        </a:p>
      </dgm:t>
    </dgm:pt>
    <dgm:pt modelId="{054EB8F3-687D-47C1-A8CA-AA8906B81A64}" type="parTrans" cxnId="{D39E6565-AB8E-4150-9AD1-F0C376D118EA}">
      <dgm:prSet/>
      <dgm:spPr/>
      <dgm:t>
        <a:bodyPr/>
        <a:lstStyle/>
        <a:p>
          <a:endParaRPr lang="fr-FR"/>
        </a:p>
      </dgm:t>
    </dgm:pt>
    <dgm:pt modelId="{D093C8A5-C38E-46B0-A43A-6E4799DBF5B8}" type="sibTrans" cxnId="{D39E6565-AB8E-4150-9AD1-F0C376D118EA}">
      <dgm:prSet/>
      <dgm:spPr/>
      <dgm:t>
        <a:bodyPr/>
        <a:lstStyle/>
        <a:p>
          <a:endParaRPr lang="fr-FR"/>
        </a:p>
      </dgm:t>
    </dgm:pt>
    <dgm:pt modelId="{2580DAD5-E4B5-4293-AB07-A4C506041096}">
      <dgm:prSet phldrT="[Texte]" phldr="1" custT="1"/>
      <dgm:spPr>
        <a:solidFill>
          <a:schemeClr val="accent5"/>
        </a:solidFill>
      </dgm:spPr>
      <dgm:t>
        <a:bodyPr/>
        <a:lstStyle/>
        <a:p>
          <a:endParaRPr lang="fr-FR" sz="2000" dirty="0"/>
        </a:p>
      </dgm:t>
    </dgm:pt>
    <dgm:pt modelId="{3872E00E-B2E4-4A20-9A82-F208316DB251}" type="parTrans" cxnId="{75528107-9022-476D-AE40-85E56DB393F3}">
      <dgm:prSet/>
      <dgm:spPr/>
      <dgm:t>
        <a:bodyPr/>
        <a:lstStyle/>
        <a:p>
          <a:endParaRPr lang="fr-FR"/>
        </a:p>
      </dgm:t>
    </dgm:pt>
    <dgm:pt modelId="{8828E4FD-4B51-4892-8A21-08016202413A}" type="sibTrans" cxnId="{75528107-9022-476D-AE40-85E56DB393F3}">
      <dgm:prSet/>
      <dgm:spPr/>
      <dgm:t>
        <a:bodyPr/>
        <a:lstStyle/>
        <a:p>
          <a:endParaRPr lang="fr-FR"/>
        </a:p>
      </dgm:t>
    </dgm:pt>
    <dgm:pt modelId="{8DF2A84E-9439-4676-B13B-880F92495483}">
      <dgm:prSet phldrT="[Texte]" phldr="1" custT="1"/>
      <dgm:spPr/>
      <dgm:t>
        <a:bodyPr/>
        <a:lstStyle/>
        <a:p>
          <a:endParaRPr lang="fr-FR" sz="2000" dirty="0"/>
        </a:p>
      </dgm:t>
    </dgm:pt>
    <dgm:pt modelId="{7051D416-35AC-401B-833F-A4F8C8DD6EA9}" type="parTrans" cxnId="{49A60ED3-5978-4CAC-A39A-F10C23E6AFF3}">
      <dgm:prSet/>
      <dgm:spPr/>
      <dgm:t>
        <a:bodyPr/>
        <a:lstStyle/>
        <a:p>
          <a:endParaRPr lang="fr-FR"/>
        </a:p>
      </dgm:t>
    </dgm:pt>
    <dgm:pt modelId="{C8218148-B48A-4CD5-B315-EB4E2CA794B6}" type="sibTrans" cxnId="{49A60ED3-5978-4CAC-A39A-F10C23E6AFF3}">
      <dgm:prSet/>
      <dgm:spPr/>
      <dgm:t>
        <a:bodyPr/>
        <a:lstStyle/>
        <a:p>
          <a:endParaRPr lang="fr-FR"/>
        </a:p>
      </dgm:t>
    </dgm:pt>
    <dgm:pt modelId="{435C8848-87CA-47E9-A5F7-99C1EC16E483}">
      <dgm:prSet phldrT="[Texte]" phldr="1" custT="1"/>
      <dgm:spPr>
        <a:solidFill>
          <a:srgbClr val="00B0F0"/>
        </a:solidFill>
      </dgm:spPr>
      <dgm:t>
        <a:bodyPr/>
        <a:lstStyle/>
        <a:p>
          <a:endParaRPr lang="fr-FR" sz="2000" dirty="0"/>
        </a:p>
      </dgm:t>
    </dgm:pt>
    <dgm:pt modelId="{A4708D6C-7804-40ED-AC27-D9D8D2A4430F}" type="parTrans" cxnId="{D75495CB-BD7C-4D1C-A798-9A39418CE5D5}">
      <dgm:prSet/>
      <dgm:spPr/>
      <dgm:t>
        <a:bodyPr/>
        <a:lstStyle/>
        <a:p>
          <a:endParaRPr lang="fr-FR"/>
        </a:p>
      </dgm:t>
    </dgm:pt>
    <dgm:pt modelId="{897A74CA-12E4-4886-9909-D0C39E0E9701}" type="sibTrans" cxnId="{D75495CB-BD7C-4D1C-A798-9A39418CE5D5}">
      <dgm:prSet/>
      <dgm:spPr>
        <a:solidFill>
          <a:srgbClr val="00B0F0"/>
        </a:solidFill>
      </dgm:spPr>
      <dgm:t>
        <a:bodyPr/>
        <a:lstStyle/>
        <a:p>
          <a:endParaRPr lang="fr-FR"/>
        </a:p>
      </dgm:t>
    </dgm:pt>
    <dgm:pt modelId="{2549E5CF-6BE3-4B25-97C4-0F3526604FDD}" type="pres">
      <dgm:prSet presAssocID="{87306FB5-A2B2-49C6-9AD1-55B6917CD944}" presName="cycle" presStyleCnt="0">
        <dgm:presLayoutVars>
          <dgm:dir/>
          <dgm:resizeHandles val="exact"/>
        </dgm:presLayoutVars>
      </dgm:prSet>
      <dgm:spPr/>
    </dgm:pt>
    <dgm:pt modelId="{12C7F52A-8E56-4217-BBC6-06CF6074755F}" type="pres">
      <dgm:prSet presAssocID="{9DF4BBD3-25B6-419A-AB91-DE3ACD9C4242}" presName="node" presStyleLbl="node1" presStyleIdx="0" presStyleCnt="5">
        <dgm:presLayoutVars>
          <dgm:bulletEnabled val="1"/>
        </dgm:presLayoutVars>
      </dgm:prSet>
      <dgm:spPr/>
    </dgm:pt>
    <dgm:pt modelId="{FB2D05D1-EBAC-45C1-9BC3-97903D6597E1}" type="pres">
      <dgm:prSet presAssocID="{51E61400-E8A1-4078-B0D1-05769AFE3FC2}" presName="sibTrans" presStyleLbl="sibTrans2D1" presStyleIdx="0" presStyleCnt="5"/>
      <dgm:spPr/>
    </dgm:pt>
    <dgm:pt modelId="{845E2A29-6F89-486D-8E56-8819FCE66F58}" type="pres">
      <dgm:prSet presAssocID="{51E61400-E8A1-4078-B0D1-05769AFE3FC2}" presName="connectorText" presStyleLbl="sibTrans2D1" presStyleIdx="0" presStyleCnt="5"/>
      <dgm:spPr/>
    </dgm:pt>
    <dgm:pt modelId="{DDDB76BB-D706-4697-96A1-8345580A3E0E}" type="pres">
      <dgm:prSet presAssocID="{A16B7A32-C1AD-495A-A377-0B9A0A7FEC9F}" presName="node" presStyleLbl="node1" presStyleIdx="1" presStyleCnt="5">
        <dgm:presLayoutVars>
          <dgm:bulletEnabled val="1"/>
        </dgm:presLayoutVars>
      </dgm:prSet>
      <dgm:spPr/>
    </dgm:pt>
    <dgm:pt modelId="{1023D39A-31F1-4A83-8AD8-96C1812B5FDF}" type="pres">
      <dgm:prSet presAssocID="{D093C8A5-C38E-46B0-A43A-6E4799DBF5B8}" presName="sibTrans" presStyleLbl="sibTrans2D1" presStyleIdx="1" presStyleCnt="5"/>
      <dgm:spPr/>
    </dgm:pt>
    <dgm:pt modelId="{6A16FD32-ED4C-4555-95E6-E17D53BD0E60}" type="pres">
      <dgm:prSet presAssocID="{D093C8A5-C38E-46B0-A43A-6E4799DBF5B8}" presName="connectorText" presStyleLbl="sibTrans2D1" presStyleIdx="1" presStyleCnt="5"/>
      <dgm:spPr/>
    </dgm:pt>
    <dgm:pt modelId="{6F524604-84AD-4D96-A7EE-EFC46B76EE8D}" type="pres">
      <dgm:prSet presAssocID="{2580DAD5-E4B5-4293-AB07-A4C506041096}" presName="node" presStyleLbl="node1" presStyleIdx="2" presStyleCnt="5">
        <dgm:presLayoutVars>
          <dgm:bulletEnabled val="1"/>
        </dgm:presLayoutVars>
      </dgm:prSet>
      <dgm:spPr/>
    </dgm:pt>
    <dgm:pt modelId="{EBD0885B-17D0-430C-A851-26B86F60960F}" type="pres">
      <dgm:prSet presAssocID="{8828E4FD-4B51-4892-8A21-08016202413A}" presName="sibTrans" presStyleLbl="sibTrans2D1" presStyleIdx="2" presStyleCnt="5"/>
      <dgm:spPr/>
    </dgm:pt>
    <dgm:pt modelId="{92DCAC41-0ABC-4ED1-88F9-CEBAA95A0C0F}" type="pres">
      <dgm:prSet presAssocID="{8828E4FD-4B51-4892-8A21-08016202413A}" presName="connectorText" presStyleLbl="sibTrans2D1" presStyleIdx="2" presStyleCnt="5"/>
      <dgm:spPr/>
    </dgm:pt>
    <dgm:pt modelId="{7460B5D4-3A36-4CF5-86DB-C1955EA6D52B}" type="pres">
      <dgm:prSet presAssocID="{8DF2A84E-9439-4676-B13B-880F92495483}" presName="node" presStyleLbl="node1" presStyleIdx="3" presStyleCnt="5">
        <dgm:presLayoutVars>
          <dgm:bulletEnabled val="1"/>
        </dgm:presLayoutVars>
      </dgm:prSet>
      <dgm:spPr/>
    </dgm:pt>
    <dgm:pt modelId="{16D4F65C-FD7E-454B-A435-01046A163639}" type="pres">
      <dgm:prSet presAssocID="{C8218148-B48A-4CD5-B315-EB4E2CA794B6}" presName="sibTrans" presStyleLbl="sibTrans2D1" presStyleIdx="3" presStyleCnt="5"/>
      <dgm:spPr/>
    </dgm:pt>
    <dgm:pt modelId="{E2292487-6927-48A3-9F9D-64DDE27F4EDD}" type="pres">
      <dgm:prSet presAssocID="{C8218148-B48A-4CD5-B315-EB4E2CA794B6}" presName="connectorText" presStyleLbl="sibTrans2D1" presStyleIdx="3" presStyleCnt="5"/>
      <dgm:spPr/>
    </dgm:pt>
    <dgm:pt modelId="{382240D4-C898-4910-84A6-839B8A331502}" type="pres">
      <dgm:prSet presAssocID="{435C8848-87CA-47E9-A5F7-99C1EC16E483}" presName="node" presStyleLbl="node1" presStyleIdx="4" presStyleCnt="5">
        <dgm:presLayoutVars>
          <dgm:bulletEnabled val="1"/>
        </dgm:presLayoutVars>
      </dgm:prSet>
      <dgm:spPr/>
    </dgm:pt>
    <dgm:pt modelId="{468A1386-0908-4400-80C2-60E7E204102D}" type="pres">
      <dgm:prSet presAssocID="{897A74CA-12E4-4886-9909-D0C39E0E9701}" presName="sibTrans" presStyleLbl="sibTrans2D1" presStyleIdx="4" presStyleCnt="5"/>
      <dgm:spPr/>
    </dgm:pt>
    <dgm:pt modelId="{3A775353-482E-4CE9-B20D-AA3100346260}" type="pres">
      <dgm:prSet presAssocID="{897A74CA-12E4-4886-9909-D0C39E0E9701}" presName="connectorText" presStyleLbl="sibTrans2D1" presStyleIdx="4" presStyleCnt="5"/>
      <dgm:spPr/>
    </dgm:pt>
  </dgm:ptLst>
  <dgm:cxnLst>
    <dgm:cxn modelId="{75528107-9022-476D-AE40-85E56DB393F3}" srcId="{87306FB5-A2B2-49C6-9AD1-55B6917CD944}" destId="{2580DAD5-E4B5-4293-AB07-A4C506041096}" srcOrd="2" destOrd="0" parTransId="{3872E00E-B2E4-4A20-9A82-F208316DB251}" sibTransId="{8828E4FD-4B51-4892-8A21-08016202413A}"/>
    <dgm:cxn modelId="{7D1C661D-5452-4A24-A461-D1FDD661C07C}" srcId="{87306FB5-A2B2-49C6-9AD1-55B6917CD944}" destId="{9DF4BBD3-25B6-419A-AB91-DE3ACD9C4242}" srcOrd="0" destOrd="0" parTransId="{98CC9FE9-8325-4543-9BDF-A0D40F4BE211}" sibTransId="{51E61400-E8A1-4078-B0D1-05769AFE3FC2}"/>
    <dgm:cxn modelId="{F09F3D24-1948-4AC1-A18C-EFF985ECD62E}" type="presOf" srcId="{9DF4BBD3-25B6-419A-AB91-DE3ACD9C4242}" destId="{12C7F52A-8E56-4217-BBC6-06CF6074755F}" srcOrd="0" destOrd="0" presId="urn:microsoft.com/office/officeart/2005/8/layout/cycle2"/>
    <dgm:cxn modelId="{F248C62D-08D6-4448-AAF4-6B4C1A9C5AC9}" type="presOf" srcId="{D093C8A5-C38E-46B0-A43A-6E4799DBF5B8}" destId="{6A16FD32-ED4C-4555-95E6-E17D53BD0E60}" srcOrd="1" destOrd="0" presId="urn:microsoft.com/office/officeart/2005/8/layout/cycle2"/>
    <dgm:cxn modelId="{254BB73C-EB7B-4BC1-BB35-CDF9F81E1876}" type="presOf" srcId="{D093C8A5-C38E-46B0-A43A-6E4799DBF5B8}" destId="{1023D39A-31F1-4A83-8AD8-96C1812B5FDF}" srcOrd="0" destOrd="0" presId="urn:microsoft.com/office/officeart/2005/8/layout/cycle2"/>
    <dgm:cxn modelId="{1518605F-1242-42B5-9396-E69156EC186B}" type="presOf" srcId="{C8218148-B48A-4CD5-B315-EB4E2CA794B6}" destId="{E2292487-6927-48A3-9F9D-64DDE27F4EDD}" srcOrd="1" destOrd="0" presId="urn:microsoft.com/office/officeart/2005/8/layout/cycle2"/>
    <dgm:cxn modelId="{A97F1F63-6270-4C4C-B3C6-81CAD8B0236C}" type="presOf" srcId="{897A74CA-12E4-4886-9909-D0C39E0E9701}" destId="{468A1386-0908-4400-80C2-60E7E204102D}" srcOrd="0" destOrd="0" presId="urn:microsoft.com/office/officeart/2005/8/layout/cycle2"/>
    <dgm:cxn modelId="{D39E6565-AB8E-4150-9AD1-F0C376D118EA}" srcId="{87306FB5-A2B2-49C6-9AD1-55B6917CD944}" destId="{A16B7A32-C1AD-495A-A377-0B9A0A7FEC9F}" srcOrd="1" destOrd="0" parTransId="{054EB8F3-687D-47C1-A8CA-AA8906B81A64}" sibTransId="{D093C8A5-C38E-46B0-A43A-6E4799DBF5B8}"/>
    <dgm:cxn modelId="{60F5F165-1165-4592-8A79-674BBE2B70E5}" type="presOf" srcId="{87306FB5-A2B2-49C6-9AD1-55B6917CD944}" destId="{2549E5CF-6BE3-4B25-97C4-0F3526604FDD}" srcOrd="0" destOrd="0" presId="urn:microsoft.com/office/officeart/2005/8/layout/cycle2"/>
    <dgm:cxn modelId="{E0EE0D67-7606-4AC5-A047-F9AC9B3D8910}" type="presOf" srcId="{897A74CA-12E4-4886-9909-D0C39E0E9701}" destId="{3A775353-482E-4CE9-B20D-AA3100346260}" srcOrd="1" destOrd="0" presId="urn:microsoft.com/office/officeart/2005/8/layout/cycle2"/>
    <dgm:cxn modelId="{C4D7B048-BB71-4921-B939-DCA1F97BFDE0}" type="presOf" srcId="{A16B7A32-C1AD-495A-A377-0B9A0A7FEC9F}" destId="{DDDB76BB-D706-4697-96A1-8345580A3E0E}" srcOrd="0" destOrd="0" presId="urn:microsoft.com/office/officeart/2005/8/layout/cycle2"/>
    <dgm:cxn modelId="{890F7F6A-DD89-49A1-B4B7-C70F6D786396}" type="presOf" srcId="{C8218148-B48A-4CD5-B315-EB4E2CA794B6}" destId="{16D4F65C-FD7E-454B-A435-01046A163639}" srcOrd="0" destOrd="0" presId="urn:microsoft.com/office/officeart/2005/8/layout/cycle2"/>
    <dgm:cxn modelId="{BC18C66A-A949-4BFE-820B-0EB9A79E441D}" type="presOf" srcId="{2580DAD5-E4B5-4293-AB07-A4C506041096}" destId="{6F524604-84AD-4D96-A7EE-EFC46B76EE8D}" srcOrd="0" destOrd="0" presId="urn:microsoft.com/office/officeart/2005/8/layout/cycle2"/>
    <dgm:cxn modelId="{09BB5B8E-44F9-4371-B997-1035CB4889D0}" type="presOf" srcId="{51E61400-E8A1-4078-B0D1-05769AFE3FC2}" destId="{FB2D05D1-EBAC-45C1-9BC3-97903D6597E1}" srcOrd="0" destOrd="0" presId="urn:microsoft.com/office/officeart/2005/8/layout/cycle2"/>
    <dgm:cxn modelId="{F51860A6-8982-48AF-96C9-409F1A2BBE1D}" type="presOf" srcId="{51E61400-E8A1-4078-B0D1-05769AFE3FC2}" destId="{845E2A29-6F89-486D-8E56-8819FCE66F58}" srcOrd="1" destOrd="0" presId="urn:microsoft.com/office/officeart/2005/8/layout/cycle2"/>
    <dgm:cxn modelId="{6109A5B7-98DF-4CC6-9DE4-7AED1121F5E3}" type="presOf" srcId="{8DF2A84E-9439-4676-B13B-880F92495483}" destId="{7460B5D4-3A36-4CF5-86DB-C1955EA6D52B}" srcOrd="0" destOrd="0" presId="urn:microsoft.com/office/officeart/2005/8/layout/cycle2"/>
    <dgm:cxn modelId="{D75495CB-BD7C-4D1C-A798-9A39418CE5D5}" srcId="{87306FB5-A2B2-49C6-9AD1-55B6917CD944}" destId="{435C8848-87CA-47E9-A5F7-99C1EC16E483}" srcOrd="4" destOrd="0" parTransId="{A4708D6C-7804-40ED-AC27-D9D8D2A4430F}" sibTransId="{897A74CA-12E4-4886-9909-D0C39E0E9701}"/>
    <dgm:cxn modelId="{49A60ED3-5978-4CAC-A39A-F10C23E6AFF3}" srcId="{87306FB5-A2B2-49C6-9AD1-55B6917CD944}" destId="{8DF2A84E-9439-4676-B13B-880F92495483}" srcOrd="3" destOrd="0" parTransId="{7051D416-35AC-401B-833F-A4F8C8DD6EA9}" sibTransId="{C8218148-B48A-4CD5-B315-EB4E2CA794B6}"/>
    <dgm:cxn modelId="{82AA26D8-D355-4DF9-B9D7-60DF4FCC3725}" type="presOf" srcId="{8828E4FD-4B51-4892-8A21-08016202413A}" destId="{92DCAC41-0ABC-4ED1-88F9-CEBAA95A0C0F}" srcOrd="1" destOrd="0" presId="urn:microsoft.com/office/officeart/2005/8/layout/cycle2"/>
    <dgm:cxn modelId="{16C77CDD-D800-4138-88E0-89EC026BCB48}" type="presOf" srcId="{435C8848-87CA-47E9-A5F7-99C1EC16E483}" destId="{382240D4-C898-4910-84A6-839B8A331502}" srcOrd="0" destOrd="0" presId="urn:microsoft.com/office/officeart/2005/8/layout/cycle2"/>
    <dgm:cxn modelId="{F603A5E7-6B12-4C2E-B642-7E0D841F5EE0}" type="presOf" srcId="{8828E4FD-4B51-4892-8A21-08016202413A}" destId="{EBD0885B-17D0-430C-A851-26B86F60960F}" srcOrd="0" destOrd="0" presId="urn:microsoft.com/office/officeart/2005/8/layout/cycle2"/>
    <dgm:cxn modelId="{8BC63270-C73D-4A33-AFA5-BE8D3EB1EA0E}" type="presParOf" srcId="{2549E5CF-6BE3-4B25-97C4-0F3526604FDD}" destId="{12C7F52A-8E56-4217-BBC6-06CF6074755F}" srcOrd="0" destOrd="0" presId="urn:microsoft.com/office/officeart/2005/8/layout/cycle2"/>
    <dgm:cxn modelId="{BF2D279C-461A-451C-9A32-658A66DD2C50}" type="presParOf" srcId="{2549E5CF-6BE3-4B25-97C4-0F3526604FDD}" destId="{FB2D05D1-EBAC-45C1-9BC3-97903D6597E1}" srcOrd="1" destOrd="0" presId="urn:microsoft.com/office/officeart/2005/8/layout/cycle2"/>
    <dgm:cxn modelId="{3CE18539-5CC8-4257-8E78-19AD97263672}" type="presParOf" srcId="{FB2D05D1-EBAC-45C1-9BC3-97903D6597E1}" destId="{845E2A29-6F89-486D-8E56-8819FCE66F58}" srcOrd="0" destOrd="0" presId="urn:microsoft.com/office/officeart/2005/8/layout/cycle2"/>
    <dgm:cxn modelId="{D0B63C1B-39D1-4D7A-B891-1CA359F4C91E}" type="presParOf" srcId="{2549E5CF-6BE3-4B25-97C4-0F3526604FDD}" destId="{DDDB76BB-D706-4697-96A1-8345580A3E0E}" srcOrd="2" destOrd="0" presId="urn:microsoft.com/office/officeart/2005/8/layout/cycle2"/>
    <dgm:cxn modelId="{17BCC936-E22A-45D3-AC30-1EFFCCAEA7F8}" type="presParOf" srcId="{2549E5CF-6BE3-4B25-97C4-0F3526604FDD}" destId="{1023D39A-31F1-4A83-8AD8-96C1812B5FDF}" srcOrd="3" destOrd="0" presId="urn:microsoft.com/office/officeart/2005/8/layout/cycle2"/>
    <dgm:cxn modelId="{34221E88-4227-463A-98C2-586B2BC9CB3D}" type="presParOf" srcId="{1023D39A-31F1-4A83-8AD8-96C1812B5FDF}" destId="{6A16FD32-ED4C-4555-95E6-E17D53BD0E60}" srcOrd="0" destOrd="0" presId="urn:microsoft.com/office/officeart/2005/8/layout/cycle2"/>
    <dgm:cxn modelId="{C18D64E6-3E41-44D2-85B1-E52BBEC2D7C4}" type="presParOf" srcId="{2549E5CF-6BE3-4B25-97C4-0F3526604FDD}" destId="{6F524604-84AD-4D96-A7EE-EFC46B76EE8D}" srcOrd="4" destOrd="0" presId="urn:microsoft.com/office/officeart/2005/8/layout/cycle2"/>
    <dgm:cxn modelId="{6B88546D-6A28-4EEE-BB7E-7FD5BA48422E}" type="presParOf" srcId="{2549E5CF-6BE3-4B25-97C4-0F3526604FDD}" destId="{EBD0885B-17D0-430C-A851-26B86F60960F}" srcOrd="5" destOrd="0" presId="urn:microsoft.com/office/officeart/2005/8/layout/cycle2"/>
    <dgm:cxn modelId="{86F83175-5EE2-4752-9E67-384F69C63F86}" type="presParOf" srcId="{EBD0885B-17D0-430C-A851-26B86F60960F}" destId="{92DCAC41-0ABC-4ED1-88F9-CEBAA95A0C0F}" srcOrd="0" destOrd="0" presId="urn:microsoft.com/office/officeart/2005/8/layout/cycle2"/>
    <dgm:cxn modelId="{772ACCC5-13E4-4D65-9B65-83CC4E32401A}" type="presParOf" srcId="{2549E5CF-6BE3-4B25-97C4-0F3526604FDD}" destId="{7460B5D4-3A36-4CF5-86DB-C1955EA6D52B}" srcOrd="6" destOrd="0" presId="urn:microsoft.com/office/officeart/2005/8/layout/cycle2"/>
    <dgm:cxn modelId="{17DBCD57-9E67-4A4C-A82B-BF530013E358}" type="presParOf" srcId="{2549E5CF-6BE3-4B25-97C4-0F3526604FDD}" destId="{16D4F65C-FD7E-454B-A435-01046A163639}" srcOrd="7" destOrd="0" presId="urn:microsoft.com/office/officeart/2005/8/layout/cycle2"/>
    <dgm:cxn modelId="{90CC98A4-C981-49CF-A7E3-649E896D6F02}" type="presParOf" srcId="{16D4F65C-FD7E-454B-A435-01046A163639}" destId="{E2292487-6927-48A3-9F9D-64DDE27F4EDD}" srcOrd="0" destOrd="0" presId="urn:microsoft.com/office/officeart/2005/8/layout/cycle2"/>
    <dgm:cxn modelId="{1528C34C-882D-4600-B27D-7000CA8C2852}" type="presParOf" srcId="{2549E5CF-6BE3-4B25-97C4-0F3526604FDD}" destId="{382240D4-C898-4910-84A6-839B8A331502}" srcOrd="8" destOrd="0" presId="urn:microsoft.com/office/officeart/2005/8/layout/cycle2"/>
    <dgm:cxn modelId="{1E80D24A-4E06-43D1-B571-4C1E6F653484}" type="presParOf" srcId="{2549E5CF-6BE3-4B25-97C4-0F3526604FDD}" destId="{468A1386-0908-4400-80C2-60E7E204102D}" srcOrd="9" destOrd="0" presId="urn:microsoft.com/office/officeart/2005/8/layout/cycle2"/>
    <dgm:cxn modelId="{9DD7D189-7463-4A50-8A2C-A97413661D45}" type="presParOf" srcId="{468A1386-0908-4400-80C2-60E7E204102D}" destId="{3A775353-482E-4CE9-B20D-AA3100346260}"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BD58587-F03F-024E-8739-080D25687393}" type="doc">
      <dgm:prSet loTypeId="urn:microsoft.com/office/officeart/2005/8/layout/matrix2" loCatId="" qsTypeId="urn:microsoft.com/office/officeart/2005/8/quickstyle/simple1" qsCatId="simple" csTypeId="urn:microsoft.com/office/officeart/2005/8/colors/accent1_2" csCatId="accent1" phldr="1"/>
      <dgm:spPr/>
      <dgm:t>
        <a:bodyPr/>
        <a:lstStyle/>
        <a:p>
          <a:endParaRPr lang="fr-FR"/>
        </a:p>
      </dgm:t>
    </dgm:pt>
    <dgm:pt modelId="{199CBCA8-6057-C444-8592-268C37E8FF1A}">
      <dgm:prSet phldrT="[Texte]">
        <dgm:style>
          <a:lnRef idx="2">
            <a:schemeClr val="accent5">
              <a:shade val="50000"/>
            </a:schemeClr>
          </a:lnRef>
          <a:fillRef idx="1">
            <a:schemeClr val="accent5"/>
          </a:fillRef>
          <a:effectRef idx="0">
            <a:schemeClr val="accent5"/>
          </a:effectRef>
          <a:fontRef idx="minor">
            <a:schemeClr val="lt1"/>
          </a:fontRef>
        </dgm:style>
      </dgm:prSet>
      <dgm:spPr/>
      <dgm:t>
        <a:bodyPr/>
        <a:lstStyle/>
        <a:p>
          <a:r>
            <a:rPr lang="fr-FR" b="1" dirty="0">
              <a:effectLst/>
            </a:rPr>
            <a:t>STRENGTHS</a:t>
          </a:r>
        </a:p>
        <a:p>
          <a:r>
            <a:rPr lang="fr-FR" dirty="0">
              <a:effectLst/>
            </a:rPr>
            <a:t>Diversification du portefeuille activités/zones géographiques,</a:t>
          </a:r>
        </a:p>
        <a:p>
          <a:r>
            <a:rPr lang="fr-FR" dirty="0">
              <a:effectLst/>
            </a:rPr>
            <a:t>Produit de niche,</a:t>
          </a:r>
        </a:p>
        <a:p>
          <a:r>
            <a:rPr lang="fr-FR" dirty="0">
              <a:effectLst/>
            </a:rPr>
            <a:t>Brevets, Partenariats…</a:t>
          </a:r>
          <a:endParaRPr lang="fr-FR" dirty="0"/>
        </a:p>
      </dgm:t>
    </dgm:pt>
    <dgm:pt modelId="{3FA536F0-D803-0743-AC26-4AE7C314509B}" type="parTrans" cxnId="{627131F5-C9AE-7248-B7B7-0F23C26AF85A}">
      <dgm:prSet/>
      <dgm:spPr/>
      <dgm:t>
        <a:bodyPr/>
        <a:lstStyle/>
        <a:p>
          <a:endParaRPr lang="fr-FR"/>
        </a:p>
      </dgm:t>
    </dgm:pt>
    <dgm:pt modelId="{D2921C23-463D-5E45-B07A-DE4A1222DF52}" type="sibTrans" cxnId="{627131F5-C9AE-7248-B7B7-0F23C26AF85A}">
      <dgm:prSet/>
      <dgm:spPr/>
      <dgm:t>
        <a:bodyPr/>
        <a:lstStyle/>
        <a:p>
          <a:endParaRPr lang="fr-FR"/>
        </a:p>
      </dgm:t>
    </dgm:pt>
    <dgm:pt modelId="{B33462F1-AB5B-2048-A020-C8B74670F579}">
      <dgm:prSet phldrT="[Texte]">
        <dgm:style>
          <a:lnRef idx="2">
            <a:schemeClr val="accent1">
              <a:shade val="50000"/>
            </a:schemeClr>
          </a:lnRef>
          <a:fillRef idx="1">
            <a:schemeClr val="accent1"/>
          </a:fillRef>
          <a:effectRef idx="0">
            <a:schemeClr val="accent1"/>
          </a:effectRef>
          <a:fontRef idx="minor">
            <a:schemeClr val="lt1"/>
          </a:fontRef>
        </dgm:style>
      </dgm:prSet>
      <dgm:spPr/>
      <dgm:t>
        <a:bodyPr/>
        <a:lstStyle/>
        <a:p>
          <a:r>
            <a:rPr lang="fr-FR" b="1" dirty="0"/>
            <a:t>OPPORTUNITUES</a:t>
          </a:r>
        </a:p>
        <a:p>
          <a:r>
            <a:rPr lang="fr-FR" dirty="0">
              <a:effectLst/>
            </a:rPr>
            <a:t>Secteur en croissance,</a:t>
          </a:r>
        </a:p>
        <a:p>
          <a:r>
            <a:rPr lang="fr-FR" dirty="0">
              <a:effectLst/>
            </a:rPr>
            <a:t>Barrières à l’entrée…</a:t>
          </a:r>
          <a:endParaRPr lang="fr-FR" b="1" dirty="0"/>
        </a:p>
      </dgm:t>
    </dgm:pt>
    <dgm:pt modelId="{FFA2F400-943B-F54D-890A-DF962DD5BC1E}" type="parTrans" cxnId="{FAD06086-9970-174A-AD23-FA00717DD600}">
      <dgm:prSet/>
      <dgm:spPr/>
      <dgm:t>
        <a:bodyPr/>
        <a:lstStyle/>
        <a:p>
          <a:endParaRPr lang="fr-FR"/>
        </a:p>
      </dgm:t>
    </dgm:pt>
    <dgm:pt modelId="{F7E8F302-708B-FC45-8EF3-BCE74FE4D001}" type="sibTrans" cxnId="{FAD06086-9970-174A-AD23-FA00717DD600}">
      <dgm:prSet/>
      <dgm:spPr/>
      <dgm:t>
        <a:bodyPr/>
        <a:lstStyle/>
        <a:p>
          <a:endParaRPr lang="fr-FR"/>
        </a:p>
      </dgm:t>
    </dgm:pt>
    <dgm:pt modelId="{EB88EB0C-AC85-B347-86CA-C49E56E6EADF}">
      <dgm:prSet phldrT="[Texte]">
        <dgm:style>
          <a:lnRef idx="2">
            <a:schemeClr val="accent2">
              <a:shade val="50000"/>
            </a:schemeClr>
          </a:lnRef>
          <a:fillRef idx="1">
            <a:schemeClr val="accent2"/>
          </a:fillRef>
          <a:effectRef idx="0">
            <a:schemeClr val="accent2"/>
          </a:effectRef>
          <a:fontRef idx="minor">
            <a:schemeClr val="lt1"/>
          </a:fontRef>
        </dgm:style>
      </dgm:prSet>
      <dgm:spPr/>
      <dgm:t>
        <a:bodyPr/>
        <a:lstStyle/>
        <a:p>
          <a:r>
            <a:rPr lang="fr-FR" b="1" dirty="0"/>
            <a:t>THREATS</a:t>
          </a:r>
        </a:p>
        <a:p>
          <a:r>
            <a:rPr lang="fr-FR" dirty="0">
              <a:effectLst/>
            </a:rPr>
            <a:t>Secteur en récession,</a:t>
          </a:r>
        </a:p>
        <a:p>
          <a:r>
            <a:rPr lang="fr-FR" dirty="0">
              <a:effectLst/>
            </a:rPr>
            <a:t>Très forte intensité concurrentielle et/ou capitalistique,</a:t>
          </a:r>
        </a:p>
        <a:p>
          <a:r>
            <a:rPr lang="fr-FR" dirty="0">
              <a:effectLst/>
            </a:rPr>
            <a:t>Volatilité des cours…</a:t>
          </a:r>
          <a:endParaRPr lang="fr-FR" b="1" dirty="0"/>
        </a:p>
      </dgm:t>
    </dgm:pt>
    <dgm:pt modelId="{004810CE-D6C1-054C-A317-6B8985DA1F5F}" type="parTrans" cxnId="{BF4F67AF-F173-6940-975C-5FEA48BB00FE}">
      <dgm:prSet/>
      <dgm:spPr/>
      <dgm:t>
        <a:bodyPr/>
        <a:lstStyle/>
        <a:p>
          <a:endParaRPr lang="fr-FR"/>
        </a:p>
      </dgm:t>
    </dgm:pt>
    <dgm:pt modelId="{04B45F95-846E-9B49-B81F-B8C419DEC857}" type="sibTrans" cxnId="{BF4F67AF-F173-6940-975C-5FEA48BB00FE}">
      <dgm:prSet/>
      <dgm:spPr/>
      <dgm:t>
        <a:bodyPr/>
        <a:lstStyle/>
        <a:p>
          <a:endParaRPr lang="fr-FR"/>
        </a:p>
      </dgm:t>
    </dgm:pt>
    <dgm:pt modelId="{3FB99712-EC43-4D47-A465-609FF7DF23B1}">
      <dgm:prSet phldrT="[Texte]">
        <dgm:style>
          <a:lnRef idx="2">
            <a:schemeClr val="accent6">
              <a:shade val="50000"/>
            </a:schemeClr>
          </a:lnRef>
          <a:fillRef idx="1">
            <a:schemeClr val="accent6"/>
          </a:fillRef>
          <a:effectRef idx="0">
            <a:schemeClr val="accent6"/>
          </a:effectRef>
          <a:fontRef idx="minor">
            <a:schemeClr val="lt1"/>
          </a:fontRef>
        </dgm:style>
      </dgm:prSet>
      <dgm:spPr/>
      <dgm:t>
        <a:bodyPr/>
        <a:lstStyle/>
        <a:p>
          <a:r>
            <a:rPr lang="fr-FR" b="1" dirty="0">
              <a:effectLst/>
            </a:rPr>
            <a:t>WEAKNESSES</a:t>
          </a:r>
        </a:p>
        <a:p>
          <a:r>
            <a:rPr lang="fr-FR" dirty="0">
              <a:effectLst/>
            </a:rPr>
            <a:t>Portefeuille clients ou fournisseurs peu diversifié…</a:t>
          </a:r>
          <a:endParaRPr lang="fr-FR" dirty="0"/>
        </a:p>
      </dgm:t>
    </dgm:pt>
    <dgm:pt modelId="{04415454-2BCD-E649-BFE5-9D4FB804522C}" type="sibTrans" cxnId="{C31DA96D-5775-D746-B63B-6523FE3D5083}">
      <dgm:prSet/>
      <dgm:spPr/>
      <dgm:t>
        <a:bodyPr/>
        <a:lstStyle/>
        <a:p>
          <a:endParaRPr lang="fr-FR"/>
        </a:p>
      </dgm:t>
    </dgm:pt>
    <dgm:pt modelId="{AB3F69AE-3C84-1643-9E0E-B7D075F74499}" type="parTrans" cxnId="{C31DA96D-5775-D746-B63B-6523FE3D5083}">
      <dgm:prSet/>
      <dgm:spPr/>
      <dgm:t>
        <a:bodyPr/>
        <a:lstStyle/>
        <a:p>
          <a:endParaRPr lang="fr-FR"/>
        </a:p>
      </dgm:t>
    </dgm:pt>
    <dgm:pt modelId="{66E11DCA-9E25-A745-850D-303D31FE77DD}" type="pres">
      <dgm:prSet presAssocID="{2BD58587-F03F-024E-8739-080D25687393}" presName="matrix" presStyleCnt="0">
        <dgm:presLayoutVars>
          <dgm:chMax val="1"/>
          <dgm:dir/>
          <dgm:resizeHandles val="exact"/>
        </dgm:presLayoutVars>
      </dgm:prSet>
      <dgm:spPr/>
    </dgm:pt>
    <dgm:pt modelId="{386DA8A3-1498-F740-8B2F-2FAEAED81EB6}" type="pres">
      <dgm:prSet presAssocID="{2BD58587-F03F-024E-8739-080D25687393}" presName="axisShape" presStyleLbl="bgShp" presStyleIdx="0" presStyleCnt="1"/>
      <dgm:spPr/>
    </dgm:pt>
    <dgm:pt modelId="{77EA572B-C034-9246-967F-2BA4E4F6E806}" type="pres">
      <dgm:prSet presAssocID="{2BD58587-F03F-024E-8739-080D25687393}" presName="rect1" presStyleLbl="node1" presStyleIdx="0" presStyleCnt="4">
        <dgm:presLayoutVars>
          <dgm:chMax val="0"/>
          <dgm:chPref val="0"/>
          <dgm:bulletEnabled val="1"/>
        </dgm:presLayoutVars>
      </dgm:prSet>
      <dgm:spPr/>
    </dgm:pt>
    <dgm:pt modelId="{A105EBE5-5408-DD48-8691-1A96F16FB3C6}" type="pres">
      <dgm:prSet presAssocID="{2BD58587-F03F-024E-8739-080D25687393}" presName="rect2" presStyleLbl="node1" presStyleIdx="1" presStyleCnt="4">
        <dgm:presLayoutVars>
          <dgm:chMax val="0"/>
          <dgm:chPref val="0"/>
          <dgm:bulletEnabled val="1"/>
        </dgm:presLayoutVars>
      </dgm:prSet>
      <dgm:spPr/>
    </dgm:pt>
    <dgm:pt modelId="{CF8E5840-AF0B-2848-BA68-A205F7B4620B}" type="pres">
      <dgm:prSet presAssocID="{2BD58587-F03F-024E-8739-080D25687393}" presName="rect3" presStyleLbl="node1" presStyleIdx="2" presStyleCnt="4">
        <dgm:presLayoutVars>
          <dgm:chMax val="0"/>
          <dgm:chPref val="0"/>
          <dgm:bulletEnabled val="1"/>
        </dgm:presLayoutVars>
      </dgm:prSet>
      <dgm:spPr/>
    </dgm:pt>
    <dgm:pt modelId="{6F82D715-8049-B64A-B77D-2FF97C783A64}" type="pres">
      <dgm:prSet presAssocID="{2BD58587-F03F-024E-8739-080D25687393}" presName="rect4" presStyleLbl="node1" presStyleIdx="3" presStyleCnt="4">
        <dgm:presLayoutVars>
          <dgm:chMax val="0"/>
          <dgm:chPref val="0"/>
          <dgm:bulletEnabled val="1"/>
        </dgm:presLayoutVars>
      </dgm:prSet>
      <dgm:spPr/>
    </dgm:pt>
  </dgm:ptLst>
  <dgm:cxnLst>
    <dgm:cxn modelId="{AB793444-6C70-FA4E-AB6A-125A4F533F6A}" type="presOf" srcId="{2BD58587-F03F-024E-8739-080D25687393}" destId="{66E11DCA-9E25-A745-850D-303D31FE77DD}" srcOrd="0" destOrd="0" presId="urn:microsoft.com/office/officeart/2005/8/layout/matrix2"/>
    <dgm:cxn modelId="{C31DA96D-5775-D746-B63B-6523FE3D5083}" srcId="{2BD58587-F03F-024E-8739-080D25687393}" destId="{3FB99712-EC43-4D47-A465-609FF7DF23B1}" srcOrd="1" destOrd="0" parTransId="{AB3F69AE-3C84-1643-9E0E-B7D075F74499}" sibTransId="{04415454-2BCD-E649-BFE5-9D4FB804522C}"/>
    <dgm:cxn modelId="{FAD06086-9970-174A-AD23-FA00717DD600}" srcId="{2BD58587-F03F-024E-8739-080D25687393}" destId="{B33462F1-AB5B-2048-A020-C8B74670F579}" srcOrd="2" destOrd="0" parTransId="{FFA2F400-943B-F54D-890A-DF962DD5BC1E}" sibTransId="{F7E8F302-708B-FC45-8EF3-BCE74FE4D001}"/>
    <dgm:cxn modelId="{E9B6D489-540B-1B44-80EB-DEEE9CD87AEF}" type="presOf" srcId="{EB88EB0C-AC85-B347-86CA-C49E56E6EADF}" destId="{6F82D715-8049-B64A-B77D-2FF97C783A64}" srcOrd="0" destOrd="0" presId="urn:microsoft.com/office/officeart/2005/8/layout/matrix2"/>
    <dgm:cxn modelId="{836060A5-DE23-D84C-9981-4EC6682401EC}" type="presOf" srcId="{3FB99712-EC43-4D47-A465-609FF7DF23B1}" destId="{A105EBE5-5408-DD48-8691-1A96F16FB3C6}" srcOrd="0" destOrd="0" presId="urn:microsoft.com/office/officeart/2005/8/layout/matrix2"/>
    <dgm:cxn modelId="{FF1DD6A9-E60F-F64A-8BDF-45788F59353E}" type="presOf" srcId="{199CBCA8-6057-C444-8592-268C37E8FF1A}" destId="{77EA572B-C034-9246-967F-2BA4E4F6E806}" srcOrd="0" destOrd="0" presId="urn:microsoft.com/office/officeart/2005/8/layout/matrix2"/>
    <dgm:cxn modelId="{BF4F67AF-F173-6940-975C-5FEA48BB00FE}" srcId="{2BD58587-F03F-024E-8739-080D25687393}" destId="{EB88EB0C-AC85-B347-86CA-C49E56E6EADF}" srcOrd="3" destOrd="0" parTransId="{004810CE-D6C1-054C-A317-6B8985DA1F5F}" sibTransId="{04B45F95-846E-9B49-B81F-B8C419DEC857}"/>
    <dgm:cxn modelId="{FF66E3B3-DC62-AC4B-AC7F-32D65E543B1D}" type="presOf" srcId="{B33462F1-AB5B-2048-A020-C8B74670F579}" destId="{CF8E5840-AF0B-2848-BA68-A205F7B4620B}" srcOrd="0" destOrd="0" presId="urn:microsoft.com/office/officeart/2005/8/layout/matrix2"/>
    <dgm:cxn modelId="{627131F5-C9AE-7248-B7B7-0F23C26AF85A}" srcId="{2BD58587-F03F-024E-8739-080D25687393}" destId="{199CBCA8-6057-C444-8592-268C37E8FF1A}" srcOrd="0" destOrd="0" parTransId="{3FA536F0-D803-0743-AC26-4AE7C314509B}" sibTransId="{D2921C23-463D-5E45-B07A-DE4A1222DF52}"/>
    <dgm:cxn modelId="{0802ED5B-92E9-8C45-A032-6D7FC4895346}" type="presParOf" srcId="{66E11DCA-9E25-A745-850D-303D31FE77DD}" destId="{386DA8A3-1498-F740-8B2F-2FAEAED81EB6}" srcOrd="0" destOrd="0" presId="urn:microsoft.com/office/officeart/2005/8/layout/matrix2"/>
    <dgm:cxn modelId="{2794840B-088E-F541-BB10-543562832969}" type="presParOf" srcId="{66E11DCA-9E25-A745-850D-303D31FE77DD}" destId="{77EA572B-C034-9246-967F-2BA4E4F6E806}" srcOrd="1" destOrd="0" presId="urn:microsoft.com/office/officeart/2005/8/layout/matrix2"/>
    <dgm:cxn modelId="{8F6A09E5-2916-784D-B50B-20BEFFE6F050}" type="presParOf" srcId="{66E11DCA-9E25-A745-850D-303D31FE77DD}" destId="{A105EBE5-5408-DD48-8691-1A96F16FB3C6}" srcOrd="2" destOrd="0" presId="urn:microsoft.com/office/officeart/2005/8/layout/matrix2"/>
    <dgm:cxn modelId="{E0289F19-F4F9-0749-A7DC-0FE4F9AC1077}" type="presParOf" srcId="{66E11DCA-9E25-A745-850D-303D31FE77DD}" destId="{CF8E5840-AF0B-2848-BA68-A205F7B4620B}" srcOrd="3" destOrd="0" presId="urn:microsoft.com/office/officeart/2005/8/layout/matrix2"/>
    <dgm:cxn modelId="{28C640AE-550A-A84F-A8AF-8234F5B71790}" type="presParOf" srcId="{66E11DCA-9E25-A745-850D-303D31FE77DD}" destId="{6F82D715-8049-B64A-B77D-2FF97C783A64}"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C7F52A-8E56-4217-BBC6-06CF6074755F}">
      <dsp:nvSpPr>
        <dsp:cNvPr id="0" name=""/>
        <dsp:cNvSpPr/>
      </dsp:nvSpPr>
      <dsp:spPr>
        <a:xfrm>
          <a:off x="2434828" y="401"/>
          <a:ext cx="1226343" cy="1226343"/>
        </a:xfrm>
        <a:prstGeom prst="ellipse">
          <a:avLst/>
        </a:prstGeom>
        <a:solidFill>
          <a:schemeClr val="accent2"/>
        </a:solidFill>
        <a:ln w="63500" cap="flat" cmpd="sng" algn="ctr">
          <a:solidFill>
            <a:schemeClr val="lt1">
              <a:hueOff val="0"/>
              <a:satOff val="0"/>
              <a:lumOff val="0"/>
              <a:alphaOff val="0"/>
            </a:schemeClr>
          </a:solidFill>
          <a:prstDash val="solid"/>
        </a:ln>
        <a:effectLst>
          <a:outerShdw blurRad="95000" rotWithShape="0">
            <a:srgbClr val="000000">
              <a:alpha val="50000"/>
            </a:srgbClr>
          </a:outerShdw>
          <a:softEdge rad="12700"/>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fr-FR" sz="2000" kern="1200" dirty="0"/>
        </a:p>
      </dsp:txBody>
      <dsp:txXfrm>
        <a:off x="2614422" y="179995"/>
        <a:ext cx="867155" cy="867155"/>
      </dsp:txXfrm>
    </dsp:sp>
    <dsp:sp modelId="{FB2D05D1-EBAC-45C1-9BC3-97903D6597E1}">
      <dsp:nvSpPr>
        <dsp:cNvPr id="0" name=""/>
        <dsp:cNvSpPr/>
      </dsp:nvSpPr>
      <dsp:spPr>
        <a:xfrm rot="2160000">
          <a:off x="3622675" y="942976"/>
          <a:ext cx="327092" cy="413891"/>
        </a:xfrm>
        <a:prstGeom prst="rightArrow">
          <a:avLst>
            <a:gd name="adj1" fmla="val 60000"/>
            <a:gd name="adj2" fmla="val 50000"/>
          </a:avLst>
        </a:prstGeom>
        <a:solidFill>
          <a:schemeClr val="accent4">
            <a:hueOff val="0"/>
            <a:satOff val="0"/>
            <a:lumOff val="0"/>
            <a:alphaOff val="0"/>
          </a:schemeClr>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fr-FR" sz="1700" kern="1200"/>
        </a:p>
      </dsp:txBody>
      <dsp:txXfrm>
        <a:off x="3632045" y="996915"/>
        <a:ext cx="228964" cy="248335"/>
      </dsp:txXfrm>
    </dsp:sp>
    <dsp:sp modelId="{DDDB76BB-D706-4697-96A1-8345580A3E0E}">
      <dsp:nvSpPr>
        <dsp:cNvPr id="0" name=""/>
        <dsp:cNvSpPr/>
      </dsp:nvSpPr>
      <dsp:spPr>
        <a:xfrm>
          <a:off x="3926250" y="1083982"/>
          <a:ext cx="1226343" cy="1226343"/>
        </a:xfrm>
        <a:prstGeom prst="ellipse">
          <a:avLst/>
        </a:prstGeom>
        <a:solidFill>
          <a:schemeClr val="accent3"/>
        </a:solidFill>
        <a:ln w="63500" cap="flat" cmpd="sng" algn="ctr">
          <a:solidFill>
            <a:schemeClr val="lt1">
              <a:hueOff val="0"/>
              <a:satOff val="0"/>
              <a:lumOff val="0"/>
              <a:alphaOff val="0"/>
            </a:schemeClr>
          </a:solidFill>
          <a:prstDash val="solid"/>
        </a:ln>
        <a:effectLst>
          <a:outerShdw blurRad="95000" rotWithShape="0">
            <a:srgbClr val="000000">
              <a:alpha val="50000"/>
            </a:srgbClr>
          </a:outerShdw>
          <a:softEdge rad="12700"/>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fr-FR" sz="2000" kern="1200" dirty="0"/>
        </a:p>
      </dsp:txBody>
      <dsp:txXfrm>
        <a:off x="4105844" y="1263576"/>
        <a:ext cx="867155" cy="867155"/>
      </dsp:txXfrm>
    </dsp:sp>
    <dsp:sp modelId="{1023D39A-31F1-4A83-8AD8-96C1812B5FDF}">
      <dsp:nvSpPr>
        <dsp:cNvPr id="0" name=""/>
        <dsp:cNvSpPr/>
      </dsp:nvSpPr>
      <dsp:spPr>
        <a:xfrm rot="6480000">
          <a:off x="4093900" y="2358041"/>
          <a:ext cx="327092" cy="413891"/>
        </a:xfrm>
        <a:prstGeom prst="rightArrow">
          <a:avLst>
            <a:gd name="adj1" fmla="val 60000"/>
            <a:gd name="adj2" fmla="val 50000"/>
          </a:avLst>
        </a:prstGeom>
        <a:solidFill>
          <a:schemeClr val="accent4">
            <a:hueOff val="1287359"/>
            <a:satOff val="0"/>
            <a:lumOff val="-1471"/>
            <a:alphaOff val="0"/>
          </a:schemeClr>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fr-FR" sz="1700" kern="1200"/>
        </a:p>
      </dsp:txBody>
      <dsp:txXfrm rot="10800000">
        <a:off x="4158126" y="2394156"/>
        <a:ext cx="228964" cy="248335"/>
      </dsp:txXfrm>
    </dsp:sp>
    <dsp:sp modelId="{6F524604-84AD-4D96-A7EE-EFC46B76EE8D}">
      <dsp:nvSpPr>
        <dsp:cNvPr id="0" name=""/>
        <dsp:cNvSpPr/>
      </dsp:nvSpPr>
      <dsp:spPr>
        <a:xfrm>
          <a:off x="3356577" y="2837255"/>
          <a:ext cx="1226343" cy="1226343"/>
        </a:xfrm>
        <a:prstGeom prst="ellipse">
          <a:avLst/>
        </a:prstGeom>
        <a:solidFill>
          <a:schemeClr val="accent5"/>
        </a:solidFill>
        <a:ln w="63500" cap="flat" cmpd="sng" algn="ctr">
          <a:solidFill>
            <a:schemeClr val="lt1">
              <a:hueOff val="0"/>
              <a:satOff val="0"/>
              <a:lumOff val="0"/>
              <a:alphaOff val="0"/>
            </a:schemeClr>
          </a:solidFill>
          <a:prstDash val="solid"/>
        </a:ln>
        <a:effectLst>
          <a:outerShdw blurRad="95000" rotWithShape="0">
            <a:srgbClr val="000000">
              <a:alpha val="50000"/>
            </a:srgbClr>
          </a:outerShdw>
          <a:softEdge rad="12700"/>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fr-FR" sz="2000" kern="1200" dirty="0"/>
        </a:p>
      </dsp:txBody>
      <dsp:txXfrm>
        <a:off x="3536171" y="3016849"/>
        <a:ext cx="867155" cy="867155"/>
      </dsp:txXfrm>
    </dsp:sp>
    <dsp:sp modelId="{EBD0885B-17D0-430C-A851-26B86F60960F}">
      <dsp:nvSpPr>
        <dsp:cNvPr id="0" name=""/>
        <dsp:cNvSpPr/>
      </dsp:nvSpPr>
      <dsp:spPr>
        <a:xfrm rot="10800000">
          <a:off x="2893711" y="3243481"/>
          <a:ext cx="327092" cy="413891"/>
        </a:xfrm>
        <a:prstGeom prst="rightArrow">
          <a:avLst>
            <a:gd name="adj1" fmla="val 60000"/>
            <a:gd name="adj2" fmla="val 50000"/>
          </a:avLst>
        </a:prstGeom>
        <a:solidFill>
          <a:schemeClr val="accent4">
            <a:hueOff val="2574719"/>
            <a:satOff val="0"/>
            <a:lumOff val="-2941"/>
            <a:alphaOff val="0"/>
          </a:schemeClr>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fr-FR" sz="1700" kern="1200"/>
        </a:p>
      </dsp:txBody>
      <dsp:txXfrm rot="10800000">
        <a:off x="2991839" y="3326259"/>
        <a:ext cx="228964" cy="248335"/>
      </dsp:txXfrm>
    </dsp:sp>
    <dsp:sp modelId="{7460B5D4-3A36-4CF5-86DB-C1955EA6D52B}">
      <dsp:nvSpPr>
        <dsp:cNvPr id="0" name=""/>
        <dsp:cNvSpPr/>
      </dsp:nvSpPr>
      <dsp:spPr>
        <a:xfrm>
          <a:off x="1513078" y="2837255"/>
          <a:ext cx="1226343" cy="1226343"/>
        </a:xfrm>
        <a:prstGeom prst="ellipse">
          <a:avLst/>
        </a:prstGeom>
        <a:solidFill>
          <a:schemeClr val="accent4">
            <a:hueOff val="3862078"/>
            <a:satOff val="0"/>
            <a:lumOff val="-4412"/>
            <a:alphaOff val="0"/>
          </a:schemeClr>
        </a:solidFill>
        <a:ln w="63500" cap="flat" cmpd="sng" algn="ctr">
          <a:solidFill>
            <a:schemeClr val="lt1">
              <a:hueOff val="0"/>
              <a:satOff val="0"/>
              <a:lumOff val="0"/>
              <a:alphaOff val="0"/>
            </a:schemeClr>
          </a:solidFill>
          <a:prstDash val="solid"/>
        </a:ln>
        <a:effectLst>
          <a:outerShdw blurRad="95000" rotWithShape="0">
            <a:srgbClr val="000000">
              <a:alpha val="50000"/>
            </a:srgbClr>
          </a:outerShdw>
          <a:softEdge rad="12700"/>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fr-FR" sz="2000" kern="1200" dirty="0"/>
        </a:p>
      </dsp:txBody>
      <dsp:txXfrm>
        <a:off x="1692672" y="3016849"/>
        <a:ext cx="867155" cy="867155"/>
      </dsp:txXfrm>
    </dsp:sp>
    <dsp:sp modelId="{16D4F65C-FD7E-454B-A435-01046A163639}">
      <dsp:nvSpPr>
        <dsp:cNvPr id="0" name=""/>
        <dsp:cNvSpPr/>
      </dsp:nvSpPr>
      <dsp:spPr>
        <a:xfrm rot="15120000">
          <a:off x="1680728" y="2375649"/>
          <a:ext cx="327092" cy="413891"/>
        </a:xfrm>
        <a:prstGeom prst="rightArrow">
          <a:avLst>
            <a:gd name="adj1" fmla="val 60000"/>
            <a:gd name="adj2" fmla="val 50000"/>
          </a:avLst>
        </a:prstGeom>
        <a:solidFill>
          <a:schemeClr val="accent4">
            <a:hueOff val="3862078"/>
            <a:satOff val="0"/>
            <a:lumOff val="-4412"/>
            <a:alphaOff val="0"/>
          </a:schemeClr>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fr-FR" sz="1700" kern="1200"/>
        </a:p>
      </dsp:txBody>
      <dsp:txXfrm rot="10800000">
        <a:off x="1744954" y="2505090"/>
        <a:ext cx="228964" cy="248335"/>
      </dsp:txXfrm>
    </dsp:sp>
    <dsp:sp modelId="{382240D4-C898-4910-84A6-839B8A331502}">
      <dsp:nvSpPr>
        <dsp:cNvPr id="0" name=""/>
        <dsp:cNvSpPr/>
      </dsp:nvSpPr>
      <dsp:spPr>
        <a:xfrm>
          <a:off x="943405" y="1083982"/>
          <a:ext cx="1226343" cy="1226343"/>
        </a:xfrm>
        <a:prstGeom prst="ellipse">
          <a:avLst/>
        </a:prstGeom>
        <a:solidFill>
          <a:srgbClr val="00B0F0"/>
        </a:solidFill>
        <a:ln w="63500" cap="flat" cmpd="sng" algn="ctr">
          <a:solidFill>
            <a:schemeClr val="lt1">
              <a:hueOff val="0"/>
              <a:satOff val="0"/>
              <a:lumOff val="0"/>
              <a:alphaOff val="0"/>
            </a:schemeClr>
          </a:solidFill>
          <a:prstDash val="solid"/>
        </a:ln>
        <a:effectLst>
          <a:outerShdw blurRad="95000" rotWithShape="0">
            <a:srgbClr val="000000">
              <a:alpha val="50000"/>
            </a:srgbClr>
          </a:outerShdw>
          <a:softEdge rad="12700"/>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fr-FR" sz="2000" kern="1200" dirty="0"/>
        </a:p>
      </dsp:txBody>
      <dsp:txXfrm>
        <a:off x="1122999" y="1263576"/>
        <a:ext cx="867155" cy="867155"/>
      </dsp:txXfrm>
    </dsp:sp>
    <dsp:sp modelId="{468A1386-0908-4400-80C2-60E7E204102D}">
      <dsp:nvSpPr>
        <dsp:cNvPr id="0" name=""/>
        <dsp:cNvSpPr/>
      </dsp:nvSpPr>
      <dsp:spPr>
        <a:xfrm rot="19440000">
          <a:off x="2131253" y="953859"/>
          <a:ext cx="327092" cy="413891"/>
        </a:xfrm>
        <a:prstGeom prst="rightArrow">
          <a:avLst>
            <a:gd name="adj1" fmla="val 60000"/>
            <a:gd name="adj2" fmla="val 50000"/>
          </a:avLst>
        </a:prstGeom>
        <a:solidFill>
          <a:srgbClr val="00B0F0"/>
        </a:solidFill>
        <a:ln>
          <a:noFill/>
        </a:ln>
        <a:effectLst>
          <a:outerShdw blurRad="95000" rotWithShape="0">
            <a:srgbClr val="000000">
              <a:alpha val="50000"/>
            </a:srgbClr>
          </a:outerShdw>
          <a:softEdge rad="12700"/>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fr-FR" sz="1700" kern="1200"/>
        </a:p>
      </dsp:txBody>
      <dsp:txXfrm>
        <a:off x="2140623" y="1065476"/>
        <a:ext cx="228964" cy="2483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6DA8A3-1498-F740-8B2F-2FAEAED81EB6}">
      <dsp:nvSpPr>
        <dsp:cNvPr id="0" name=""/>
        <dsp:cNvSpPr/>
      </dsp:nvSpPr>
      <dsp:spPr>
        <a:xfrm>
          <a:off x="2112119" y="0"/>
          <a:ext cx="4005361" cy="4005361"/>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EA572B-C034-9246-967F-2BA4E4F6E806}">
      <dsp:nvSpPr>
        <dsp:cNvPr id="0" name=""/>
        <dsp:cNvSpPr/>
      </dsp:nvSpPr>
      <dsp:spPr>
        <a:xfrm>
          <a:off x="2372467" y="260348"/>
          <a:ext cx="1602144" cy="1602144"/>
        </a:xfrm>
        <a:prstGeom prst="roundRect">
          <a:avLst/>
        </a:prstGeom>
        <a:solidFill>
          <a:schemeClr val="accent5"/>
        </a:solidFill>
        <a:ln w="38100" cap="flat" cmpd="sng" algn="ctr">
          <a:solidFill>
            <a:schemeClr val="accent5">
              <a:shade val="50000"/>
            </a:schemeClr>
          </a:solidFill>
          <a:prstDash val="solid"/>
        </a:ln>
        <a:effectLst/>
      </dsp:spPr>
      <dsp:style>
        <a:lnRef idx="2">
          <a:schemeClr val="accent5">
            <a:shade val="50000"/>
          </a:schemeClr>
        </a:lnRef>
        <a:fillRef idx="1">
          <a:schemeClr val="accent5"/>
        </a:fillRef>
        <a:effectRef idx="0">
          <a:schemeClr val="accent5"/>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effectLst/>
            </a:rPr>
            <a:t>STRENGTHS</a:t>
          </a:r>
        </a:p>
        <a:p>
          <a:pPr marL="0" lvl="0" indent="0" algn="ctr" defTabSz="488950">
            <a:lnSpc>
              <a:spcPct val="90000"/>
            </a:lnSpc>
            <a:spcBef>
              <a:spcPct val="0"/>
            </a:spcBef>
            <a:spcAft>
              <a:spcPct val="35000"/>
            </a:spcAft>
            <a:buNone/>
          </a:pPr>
          <a:r>
            <a:rPr lang="fr-FR" sz="1100" kern="1200" dirty="0">
              <a:effectLst/>
            </a:rPr>
            <a:t>Diversification du portefeuille activités/zones géographiques,</a:t>
          </a:r>
        </a:p>
        <a:p>
          <a:pPr marL="0" lvl="0" indent="0" algn="ctr" defTabSz="488950">
            <a:lnSpc>
              <a:spcPct val="90000"/>
            </a:lnSpc>
            <a:spcBef>
              <a:spcPct val="0"/>
            </a:spcBef>
            <a:spcAft>
              <a:spcPct val="35000"/>
            </a:spcAft>
            <a:buNone/>
          </a:pPr>
          <a:r>
            <a:rPr lang="fr-FR" sz="1100" kern="1200" dirty="0">
              <a:effectLst/>
            </a:rPr>
            <a:t>Produit de niche,</a:t>
          </a:r>
        </a:p>
        <a:p>
          <a:pPr marL="0" lvl="0" indent="0" algn="ctr" defTabSz="488950">
            <a:lnSpc>
              <a:spcPct val="90000"/>
            </a:lnSpc>
            <a:spcBef>
              <a:spcPct val="0"/>
            </a:spcBef>
            <a:spcAft>
              <a:spcPct val="35000"/>
            </a:spcAft>
            <a:buNone/>
          </a:pPr>
          <a:r>
            <a:rPr lang="fr-FR" sz="1100" kern="1200" dirty="0">
              <a:effectLst/>
            </a:rPr>
            <a:t>Brevets, Partenariats…</a:t>
          </a:r>
          <a:endParaRPr lang="fr-FR" sz="1100" kern="1200" dirty="0"/>
        </a:p>
      </dsp:txBody>
      <dsp:txXfrm>
        <a:off x="2450677" y="338558"/>
        <a:ext cx="1445724" cy="1445724"/>
      </dsp:txXfrm>
    </dsp:sp>
    <dsp:sp modelId="{A105EBE5-5408-DD48-8691-1A96F16FB3C6}">
      <dsp:nvSpPr>
        <dsp:cNvPr id="0" name=""/>
        <dsp:cNvSpPr/>
      </dsp:nvSpPr>
      <dsp:spPr>
        <a:xfrm>
          <a:off x="4254987" y="260348"/>
          <a:ext cx="1602144" cy="1602144"/>
        </a:xfrm>
        <a:prstGeom prst="roundRect">
          <a:avLst/>
        </a:prstGeom>
        <a:solidFill>
          <a:schemeClr val="accent6"/>
        </a:solidFill>
        <a:ln w="38100" cap="flat" cmpd="sng" algn="ctr">
          <a:solidFill>
            <a:schemeClr val="accent6">
              <a:shade val="50000"/>
            </a:schemeClr>
          </a:solidFill>
          <a:prstDash val="solid"/>
        </a:ln>
        <a:effectLst/>
      </dsp:spPr>
      <dsp:style>
        <a:lnRef idx="2">
          <a:schemeClr val="accent6">
            <a:shade val="50000"/>
          </a:schemeClr>
        </a:lnRef>
        <a:fillRef idx="1">
          <a:schemeClr val="accent6"/>
        </a:fillRef>
        <a:effectRef idx="0">
          <a:schemeClr val="accent6"/>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effectLst/>
            </a:rPr>
            <a:t>WEAKNESSES</a:t>
          </a:r>
        </a:p>
        <a:p>
          <a:pPr marL="0" lvl="0" indent="0" algn="ctr" defTabSz="488950">
            <a:lnSpc>
              <a:spcPct val="90000"/>
            </a:lnSpc>
            <a:spcBef>
              <a:spcPct val="0"/>
            </a:spcBef>
            <a:spcAft>
              <a:spcPct val="35000"/>
            </a:spcAft>
            <a:buNone/>
          </a:pPr>
          <a:r>
            <a:rPr lang="fr-FR" sz="1100" kern="1200" dirty="0">
              <a:effectLst/>
            </a:rPr>
            <a:t>Portefeuille clients ou fournisseurs peu diversifié…</a:t>
          </a:r>
          <a:endParaRPr lang="fr-FR" sz="1100" kern="1200" dirty="0"/>
        </a:p>
      </dsp:txBody>
      <dsp:txXfrm>
        <a:off x="4333197" y="338558"/>
        <a:ext cx="1445724" cy="1445724"/>
      </dsp:txXfrm>
    </dsp:sp>
    <dsp:sp modelId="{CF8E5840-AF0B-2848-BA68-A205F7B4620B}">
      <dsp:nvSpPr>
        <dsp:cNvPr id="0" name=""/>
        <dsp:cNvSpPr/>
      </dsp:nvSpPr>
      <dsp:spPr>
        <a:xfrm>
          <a:off x="2372467" y="2142868"/>
          <a:ext cx="1602144" cy="1602144"/>
        </a:xfrm>
        <a:prstGeom prst="roundRect">
          <a:avLst/>
        </a:prstGeom>
        <a:solidFill>
          <a:schemeClr val="accent1"/>
        </a:solidFill>
        <a:ln w="38100" cap="flat" cmpd="sng" algn="ctr">
          <a:solidFill>
            <a:schemeClr val="accent1">
              <a:shade val="50000"/>
            </a:schemeClr>
          </a:solidFill>
          <a:prstDash val="solid"/>
        </a:ln>
        <a:effectLst/>
      </dsp:spPr>
      <dsp:style>
        <a:lnRef idx="2">
          <a:schemeClr val="accent1">
            <a:shade val="50000"/>
          </a:schemeClr>
        </a:lnRef>
        <a:fillRef idx="1">
          <a:schemeClr val="accent1"/>
        </a:fillRef>
        <a:effectRef idx="0">
          <a:schemeClr val="accent1"/>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t>OPPORTUNITUES</a:t>
          </a:r>
        </a:p>
        <a:p>
          <a:pPr marL="0" lvl="0" indent="0" algn="ctr" defTabSz="488950">
            <a:lnSpc>
              <a:spcPct val="90000"/>
            </a:lnSpc>
            <a:spcBef>
              <a:spcPct val="0"/>
            </a:spcBef>
            <a:spcAft>
              <a:spcPct val="35000"/>
            </a:spcAft>
            <a:buNone/>
          </a:pPr>
          <a:r>
            <a:rPr lang="fr-FR" sz="1100" kern="1200" dirty="0">
              <a:effectLst/>
            </a:rPr>
            <a:t>Secteur en croissance,</a:t>
          </a:r>
        </a:p>
        <a:p>
          <a:pPr marL="0" lvl="0" indent="0" algn="ctr" defTabSz="488950">
            <a:lnSpc>
              <a:spcPct val="90000"/>
            </a:lnSpc>
            <a:spcBef>
              <a:spcPct val="0"/>
            </a:spcBef>
            <a:spcAft>
              <a:spcPct val="35000"/>
            </a:spcAft>
            <a:buNone/>
          </a:pPr>
          <a:r>
            <a:rPr lang="fr-FR" sz="1100" kern="1200" dirty="0">
              <a:effectLst/>
            </a:rPr>
            <a:t>Barrières à l’entrée…</a:t>
          </a:r>
          <a:endParaRPr lang="fr-FR" sz="1100" b="1" kern="1200" dirty="0"/>
        </a:p>
      </dsp:txBody>
      <dsp:txXfrm>
        <a:off x="2450677" y="2221078"/>
        <a:ext cx="1445724" cy="1445724"/>
      </dsp:txXfrm>
    </dsp:sp>
    <dsp:sp modelId="{6F82D715-8049-B64A-B77D-2FF97C783A64}">
      <dsp:nvSpPr>
        <dsp:cNvPr id="0" name=""/>
        <dsp:cNvSpPr/>
      </dsp:nvSpPr>
      <dsp:spPr>
        <a:xfrm>
          <a:off x="4254987" y="2142868"/>
          <a:ext cx="1602144" cy="1602144"/>
        </a:xfrm>
        <a:prstGeom prst="roundRect">
          <a:avLst/>
        </a:prstGeom>
        <a:solidFill>
          <a:schemeClr val="accent2"/>
        </a:solidFill>
        <a:ln w="38100" cap="flat" cmpd="sng" algn="ctr">
          <a:solidFill>
            <a:schemeClr val="accent2">
              <a:shade val="50000"/>
            </a:schemeClr>
          </a:solidFill>
          <a:prstDash val="solid"/>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fr-FR" sz="1100" b="1" kern="1200" dirty="0"/>
            <a:t>THREATS</a:t>
          </a:r>
        </a:p>
        <a:p>
          <a:pPr marL="0" lvl="0" indent="0" algn="ctr" defTabSz="488950">
            <a:lnSpc>
              <a:spcPct val="90000"/>
            </a:lnSpc>
            <a:spcBef>
              <a:spcPct val="0"/>
            </a:spcBef>
            <a:spcAft>
              <a:spcPct val="35000"/>
            </a:spcAft>
            <a:buNone/>
          </a:pPr>
          <a:r>
            <a:rPr lang="fr-FR" sz="1100" kern="1200" dirty="0">
              <a:effectLst/>
            </a:rPr>
            <a:t>Secteur en récession,</a:t>
          </a:r>
        </a:p>
        <a:p>
          <a:pPr marL="0" lvl="0" indent="0" algn="ctr" defTabSz="488950">
            <a:lnSpc>
              <a:spcPct val="90000"/>
            </a:lnSpc>
            <a:spcBef>
              <a:spcPct val="0"/>
            </a:spcBef>
            <a:spcAft>
              <a:spcPct val="35000"/>
            </a:spcAft>
            <a:buNone/>
          </a:pPr>
          <a:r>
            <a:rPr lang="fr-FR" sz="1100" kern="1200" dirty="0">
              <a:effectLst/>
            </a:rPr>
            <a:t>Très forte intensité concurrentielle et/ou capitalistique,</a:t>
          </a:r>
        </a:p>
        <a:p>
          <a:pPr marL="0" lvl="0" indent="0" algn="ctr" defTabSz="488950">
            <a:lnSpc>
              <a:spcPct val="90000"/>
            </a:lnSpc>
            <a:spcBef>
              <a:spcPct val="0"/>
            </a:spcBef>
            <a:spcAft>
              <a:spcPct val="35000"/>
            </a:spcAft>
            <a:buNone/>
          </a:pPr>
          <a:r>
            <a:rPr lang="fr-FR" sz="1100" kern="1200" dirty="0">
              <a:effectLst/>
            </a:rPr>
            <a:t>Volatilité des cours…</a:t>
          </a:r>
          <a:endParaRPr lang="fr-FR" sz="1100" b="1" kern="1200" dirty="0"/>
        </a:p>
      </dsp:txBody>
      <dsp:txXfrm>
        <a:off x="4333197" y="2221078"/>
        <a:ext cx="1445724" cy="1445724"/>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05125" cy="49212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798888" y="0"/>
            <a:ext cx="2905125" cy="492125"/>
          </a:xfrm>
          <a:prstGeom prst="rect">
            <a:avLst/>
          </a:prstGeom>
        </p:spPr>
        <p:txBody>
          <a:bodyPr vert="horz" lIns="91440" tIns="45720" rIns="91440" bIns="45720" rtlCol="0"/>
          <a:lstStyle>
            <a:lvl1pPr algn="r">
              <a:defRPr sz="1200"/>
            </a:lvl1pPr>
          </a:lstStyle>
          <a:p>
            <a:fld id="{26DC60AF-0A4F-4C57-92D6-5F902025270D}" type="datetimeFigureOut">
              <a:rPr lang="fr-FR" smtClean="0"/>
              <a:t>07/03/2020</a:t>
            </a:fld>
            <a:endParaRPr lang="fr-FR"/>
          </a:p>
        </p:txBody>
      </p:sp>
      <p:sp>
        <p:nvSpPr>
          <p:cNvPr id="4" name="Espace réservé du pied de page 3"/>
          <p:cNvSpPr>
            <a:spLocks noGrp="1"/>
          </p:cNvSpPr>
          <p:nvPr>
            <p:ph type="ftr" sz="quarter" idx="2"/>
          </p:nvPr>
        </p:nvSpPr>
        <p:spPr>
          <a:xfrm>
            <a:off x="0" y="9348788"/>
            <a:ext cx="2905125" cy="492125"/>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798888" y="9348788"/>
            <a:ext cx="2905125" cy="492125"/>
          </a:xfrm>
          <a:prstGeom prst="rect">
            <a:avLst/>
          </a:prstGeom>
        </p:spPr>
        <p:txBody>
          <a:bodyPr vert="horz" lIns="91440" tIns="45720" rIns="91440" bIns="45720" rtlCol="0" anchor="b"/>
          <a:lstStyle>
            <a:lvl1pPr algn="r">
              <a:defRPr sz="1200"/>
            </a:lvl1pPr>
          </a:lstStyle>
          <a:p>
            <a:fld id="{3869DB70-4F8B-4451-827B-4E230DEDB586}" type="slidenum">
              <a:rPr lang="fr-FR" smtClean="0"/>
              <a:t>‹N°›</a:t>
            </a:fld>
            <a:endParaRPr lang="fr-FR"/>
          </a:p>
        </p:txBody>
      </p:sp>
    </p:spTree>
    <p:extLst>
      <p:ext uri="{BB962C8B-B14F-4D97-AF65-F5344CB8AC3E}">
        <p14:creationId xmlns:p14="http://schemas.microsoft.com/office/powerpoint/2010/main" val="40045592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05760" cy="49212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798288" y="0"/>
            <a:ext cx="2905760" cy="492125"/>
          </a:xfrm>
          <a:prstGeom prst="rect">
            <a:avLst/>
          </a:prstGeom>
        </p:spPr>
        <p:txBody>
          <a:bodyPr vert="horz" lIns="91440" tIns="45720" rIns="91440" bIns="45720" rtlCol="0"/>
          <a:lstStyle>
            <a:lvl1pPr algn="r">
              <a:defRPr sz="1200"/>
            </a:lvl1pPr>
          </a:lstStyle>
          <a:p>
            <a:fld id="{4F4031FF-8E9A-455C-8EE0-B77D493128F8}" type="datetimeFigureOut">
              <a:rPr lang="fr-FR" smtClean="0"/>
              <a:t>07/03/2020</a:t>
            </a:fld>
            <a:endParaRPr lang="fr-FR"/>
          </a:p>
        </p:txBody>
      </p:sp>
      <p:sp>
        <p:nvSpPr>
          <p:cNvPr id="4" name="Espace réservé de l'image des diapositives 3"/>
          <p:cNvSpPr>
            <a:spLocks noGrp="1" noRot="1" noChangeAspect="1"/>
          </p:cNvSpPr>
          <p:nvPr>
            <p:ph type="sldImg" idx="2"/>
          </p:nvPr>
        </p:nvSpPr>
        <p:spPr>
          <a:xfrm>
            <a:off x="892175" y="738188"/>
            <a:ext cx="4921250" cy="369093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70560" y="4675188"/>
            <a:ext cx="5364480" cy="4429125"/>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48667"/>
            <a:ext cx="2905760" cy="49212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798288" y="9348667"/>
            <a:ext cx="2905760" cy="492125"/>
          </a:xfrm>
          <a:prstGeom prst="rect">
            <a:avLst/>
          </a:prstGeom>
        </p:spPr>
        <p:txBody>
          <a:bodyPr vert="horz" lIns="91440" tIns="45720" rIns="91440" bIns="45720" rtlCol="0" anchor="b"/>
          <a:lstStyle>
            <a:lvl1pPr algn="r">
              <a:defRPr sz="1200"/>
            </a:lvl1pPr>
          </a:lstStyle>
          <a:p>
            <a:fld id="{BBC74DAE-AAB1-4623-A947-C513F3A67F3C}" type="slidenum">
              <a:rPr lang="fr-FR" smtClean="0"/>
              <a:t>‹N°›</a:t>
            </a:fld>
            <a:endParaRPr lang="fr-FR"/>
          </a:p>
        </p:txBody>
      </p:sp>
    </p:spTree>
    <p:extLst>
      <p:ext uri="{BB962C8B-B14F-4D97-AF65-F5344CB8AC3E}">
        <p14:creationId xmlns:p14="http://schemas.microsoft.com/office/powerpoint/2010/main" val="135486855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23</a:t>
            </a:fld>
            <a:endParaRPr lang="fr-FR"/>
          </a:p>
        </p:txBody>
      </p:sp>
    </p:spTree>
    <p:extLst>
      <p:ext uri="{BB962C8B-B14F-4D97-AF65-F5344CB8AC3E}">
        <p14:creationId xmlns:p14="http://schemas.microsoft.com/office/powerpoint/2010/main" val="3079626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p:txBody>
      </p:sp>
      <p:sp>
        <p:nvSpPr>
          <p:cNvPr id="4" name="Slide Number Placeholder 3"/>
          <p:cNvSpPr>
            <a:spLocks noGrp="1"/>
          </p:cNvSpPr>
          <p:nvPr>
            <p:ph type="sldNum" sz="quarter" idx="10"/>
          </p:nvPr>
        </p:nvSpPr>
        <p:spPr/>
        <p:txBody>
          <a:bodyPr/>
          <a:lstStyle/>
          <a:p>
            <a:fld id="{BBC74DAE-AAB1-4623-A947-C513F3A67F3C}" type="slidenum">
              <a:rPr lang="fr-FR" smtClean="0"/>
              <a:t>24</a:t>
            </a:fld>
            <a:endParaRPr lang="fr-FR"/>
          </a:p>
        </p:txBody>
      </p:sp>
    </p:spTree>
    <p:extLst>
      <p:ext uri="{BB962C8B-B14F-4D97-AF65-F5344CB8AC3E}">
        <p14:creationId xmlns:p14="http://schemas.microsoft.com/office/powerpoint/2010/main" val="1228092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noProof="0" dirty="0"/>
              <a:t>80% de </a:t>
            </a:r>
            <a:r>
              <a:rPr lang="fr-FR" noProof="0"/>
              <a:t>normes</a:t>
            </a:r>
            <a:r>
              <a:rPr lang="fr-FR" baseline="0" noProof="0"/>
              <a:t> francaises </a:t>
            </a:r>
            <a:r>
              <a:rPr lang="fr-FR" baseline="0" noProof="0" dirty="0"/>
              <a:t>+ 20% d’IFRS</a:t>
            </a:r>
            <a:endParaRPr lang="fr-FR" noProof="0" dirty="0"/>
          </a:p>
        </p:txBody>
      </p:sp>
      <p:sp>
        <p:nvSpPr>
          <p:cNvPr id="4" name="Slide Number Placeholder 3"/>
          <p:cNvSpPr>
            <a:spLocks noGrp="1"/>
          </p:cNvSpPr>
          <p:nvPr>
            <p:ph type="sldNum" sz="quarter" idx="10"/>
          </p:nvPr>
        </p:nvSpPr>
        <p:spPr/>
        <p:txBody>
          <a:bodyPr/>
          <a:lstStyle/>
          <a:p>
            <a:fld id="{BBC74DAE-AAB1-4623-A947-C513F3A67F3C}" type="slidenum">
              <a:rPr lang="fr-FR" smtClean="0"/>
              <a:t>27</a:t>
            </a:fld>
            <a:endParaRPr lang="fr-FR"/>
          </a:p>
        </p:txBody>
      </p:sp>
    </p:spTree>
    <p:extLst>
      <p:ext uri="{BB962C8B-B14F-4D97-AF65-F5344CB8AC3E}">
        <p14:creationId xmlns:p14="http://schemas.microsoft.com/office/powerpoint/2010/main" val="829816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Seuils</a:t>
            </a:r>
            <a:r>
              <a:rPr lang="en-US" dirty="0"/>
              <a:t> </a:t>
            </a:r>
            <a:r>
              <a:rPr lang="en-US" dirty="0" err="1"/>
              <a:t>à</a:t>
            </a:r>
            <a:r>
              <a:rPr lang="en-US" dirty="0"/>
              <a:t> respecter :</a:t>
            </a:r>
          </a:p>
          <a:p>
            <a:endParaRPr lang="en-US" dirty="0"/>
          </a:p>
          <a:p>
            <a:r>
              <a:rPr lang="en-US" dirty="0"/>
              <a:t>Cote 3 = 0,10%</a:t>
            </a:r>
          </a:p>
          <a:p>
            <a:r>
              <a:rPr lang="en-US" dirty="0"/>
              <a:t>Cote</a:t>
            </a:r>
            <a:r>
              <a:rPr lang="en-US" baseline="0" dirty="0"/>
              <a:t> 4+ = 0,40%</a:t>
            </a:r>
          </a:p>
          <a:p>
            <a:r>
              <a:rPr lang="en-US" baseline="0" dirty="0"/>
              <a:t>Cote 4 = 1,50%</a:t>
            </a:r>
            <a:endParaRPr lang="en-US" dirty="0"/>
          </a:p>
        </p:txBody>
      </p:sp>
      <p:sp>
        <p:nvSpPr>
          <p:cNvPr id="4" name="Slide Number Placeholder 3"/>
          <p:cNvSpPr>
            <a:spLocks noGrp="1"/>
          </p:cNvSpPr>
          <p:nvPr>
            <p:ph type="sldNum" sz="quarter" idx="10"/>
          </p:nvPr>
        </p:nvSpPr>
        <p:spPr/>
        <p:txBody>
          <a:bodyPr/>
          <a:lstStyle/>
          <a:p>
            <a:fld id="{BBC74DAE-AAB1-4623-A947-C513F3A67F3C}" type="slidenum">
              <a:rPr lang="fr-FR" smtClean="0"/>
              <a:t>32</a:t>
            </a:fld>
            <a:endParaRPr lang="fr-FR"/>
          </a:p>
        </p:txBody>
      </p:sp>
    </p:spTree>
    <p:extLst>
      <p:ext uri="{BB962C8B-B14F-4D97-AF65-F5344CB8AC3E}">
        <p14:creationId xmlns:p14="http://schemas.microsoft.com/office/powerpoint/2010/main" val="1243631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40</a:t>
            </a:fld>
            <a:endParaRPr lang="fr-FR"/>
          </a:p>
        </p:txBody>
      </p:sp>
    </p:spTree>
    <p:extLst>
      <p:ext uri="{BB962C8B-B14F-4D97-AF65-F5344CB8AC3E}">
        <p14:creationId xmlns:p14="http://schemas.microsoft.com/office/powerpoint/2010/main" val="2431188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46</a:t>
            </a:fld>
            <a:endParaRPr lang="fr-FR"/>
          </a:p>
        </p:txBody>
      </p:sp>
    </p:spTree>
    <p:extLst>
      <p:ext uri="{BB962C8B-B14F-4D97-AF65-F5344CB8AC3E}">
        <p14:creationId xmlns:p14="http://schemas.microsoft.com/office/powerpoint/2010/main" val="3497924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52</a:t>
            </a:fld>
            <a:endParaRPr lang="fr-FR"/>
          </a:p>
        </p:txBody>
      </p:sp>
    </p:spTree>
    <p:extLst>
      <p:ext uri="{BB962C8B-B14F-4D97-AF65-F5344CB8AC3E}">
        <p14:creationId xmlns:p14="http://schemas.microsoft.com/office/powerpoint/2010/main" val="720620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14300" indent="0" algn="l">
              <a:buNone/>
            </a:pPr>
            <a:r>
              <a:rPr lang="fr-FR" dirty="0"/>
              <a:t>Quelle conséquence ?</a:t>
            </a:r>
          </a:p>
          <a:p>
            <a:pPr marL="114300" indent="0" algn="l">
              <a:buNone/>
            </a:pPr>
            <a:r>
              <a:rPr lang="fr-FR" dirty="0"/>
              <a:t>L’attitude à adopter dépendra :</a:t>
            </a:r>
          </a:p>
          <a:p>
            <a:pPr marL="285750" indent="-171450" algn="l">
              <a:buFont typeface="Arial" panose="020B0604020202020204" pitchFamily="34" charset="0"/>
              <a:buChar char="•"/>
            </a:pPr>
            <a:r>
              <a:rPr lang="fr-FR" dirty="0"/>
              <a:t>de l’</a:t>
            </a:r>
            <a:r>
              <a:rPr lang="fr-FR" sz="2200" dirty="0"/>
              <a:t>ampleur du risque </a:t>
            </a:r>
            <a:r>
              <a:rPr lang="fr-FR" dirty="0"/>
              <a:t>ou</a:t>
            </a:r>
            <a:r>
              <a:rPr lang="fr-FR" sz="2200" dirty="0"/>
              <a:t> des doutes émis.</a:t>
            </a:r>
          </a:p>
          <a:p>
            <a:pPr marL="285750" indent="-171450" algn="l">
              <a:buFont typeface="Arial" panose="020B0604020202020204" pitchFamily="34" charset="0"/>
              <a:buChar char="•"/>
            </a:pPr>
            <a:r>
              <a:rPr lang="fr-FR" sz="2200" dirty="0"/>
              <a:t>de la possibilité ou non de compenser le manque d’information par une analyse du risque au travers du recoupement des informations (cohérence entre les données communiquées par le groupe et les données issues des bilans sociaux des entités composant le groupe).</a:t>
            </a:r>
          </a:p>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54</a:t>
            </a:fld>
            <a:endParaRPr lang="fr-FR"/>
          </a:p>
        </p:txBody>
      </p:sp>
    </p:spTree>
    <p:extLst>
      <p:ext uri="{BB962C8B-B14F-4D97-AF65-F5344CB8AC3E}">
        <p14:creationId xmlns:p14="http://schemas.microsoft.com/office/powerpoint/2010/main" val="53677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14300" indent="0" algn="l">
              <a:buNone/>
            </a:pPr>
            <a:r>
              <a:rPr lang="fr-FR" dirty="0"/>
              <a:t>Quelle conséquence ?</a:t>
            </a:r>
          </a:p>
          <a:p>
            <a:pPr marL="114300" indent="0" algn="l">
              <a:buNone/>
            </a:pPr>
            <a:r>
              <a:rPr lang="fr-FR" dirty="0"/>
              <a:t>L’attitude à adopter dépendra :</a:t>
            </a:r>
          </a:p>
          <a:p>
            <a:pPr marL="285750" indent="-171450" algn="l">
              <a:buFont typeface="Arial" panose="020B0604020202020204" pitchFamily="34" charset="0"/>
              <a:buChar char="•"/>
            </a:pPr>
            <a:r>
              <a:rPr lang="fr-FR" dirty="0"/>
              <a:t>de l’</a:t>
            </a:r>
            <a:r>
              <a:rPr lang="fr-FR" sz="2200" dirty="0"/>
              <a:t>ampleur du risque </a:t>
            </a:r>
            <a:r>
              <a:rPr lang="fr-FR" dirty="0"/>
              <a:t>ou</a:t>
            </a:r>
            <a:r>
              <a:rPr lang="fr-FR" sz="2200" dirty="0"/>
              <a:t> des doutes émis.</a:t>
            </a:r>
          </a:p>
          <a:p>
            <a:pPr marL="285750" indent="-171450" algn="l">
              <a:buFont typeface="Arial" panose="020B0604020202020204" pitchFamily="34" charset="0"/>
              <a:buChar char="•"/>
            </a:pPr>
            <a:r>
              <a:rPr lang="fr-FR" sz="2200" dirty="0"/>
              <a:t>de la possibilité ou non de compenser le manque d’information par une analyse du risque au travers du recoupement des informations (cohérence entre les données communiquées par le groupe et les données issues des bilans sociaux des entités composant le groupe).</a:t>
            </a:r>
          </a:p>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55</a:t>
            </a:fld>
            <a:endParaRPr lang="fr-FR"/>
          </a:p>
        </p:txBody>
      </p:sp>
    </p:spTree>
    <p:extLst>
      <p:ext uri="{BB962C8B-B14F-4D97-AF65-F5344CB8AC3E}">
        <p14:creationId xmlns:p14="http://schemas.microsoft.com/office/powerpoint/2010/main" val="3372898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56</a:t>
            </a:fld>
            <a:endParaRPr lang="fr-FR"/>
          </a:p>
        </p:txBody>
      </p:sp>
    </p:spTree>
    <p:extLst>
      <p:ext uri="{BB962C8B-B14F-4D97-AF65-F5344CB8AC3E}">
        <p14:creationId xmlns:p14="http://schemas.microsoft.com/office/powerpoint/2010/main" val="1663273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62</a:t>
            </a:fld>
            <a:endParaRPr lang="fr-FR"/>
          </a:p>
        </p:txBody>
      </p:sp>
    </p:spTree>
    <p:extLst>
      <p:ext uri="{BB962C8B-B14F-4D97-AF65-F5344CB8AC3E}">
        <p14:creationId xmlns:p14="http://schemas.microsoft.com/office/powerpoint/2010/main" val="3136874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74</a:t>
            </a:fld>
            <a:endParaRPr lang="fr-FR"/>
          </a:p>
        </p:txBody>
      </p:sp>
    </p:spTree>
    <p:extLst>
      <p:ext uri="{BB962C8B-B14F-4D97-AF65-F5344CB8AC3E}">
        <p14:creationId xmlns:p14="http://schemas.microsoft.com/office/powerpoint/2010/main" val="1609700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80</a:t>
            </a:fld>
            <a:endParaRPr lang="fr-FR"/>
          </a:p>
        </p:txBody>
      </p:sp>
    </p:spTree>
    <p:extLst>
      <p:ext uri="{BB962C8B-B14F-4D97-AF65-F5344CB8AC3E}">
        <p14:creationId xmlns:p14="http://schemas.microsoft.com/office/powerpoint/2010/main" val="448378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86</a:t>
            </a:fld>
            <a:endParaRPr lang="fr-FR"/>
          </a:p>
        </p:txBody>
      </p:sp>
    </p:spTree>
    <p:extLst>
      <p:ext uri="{BB962C8B-B14F-4D97-AF65-F5344CB8AC3E}">
        <p14:creationId xmlns:p14="http://schemas.microsoft.com/office/powerpoint/2010/main" val="700241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74DAE-AAB1-4623-A947-C513F3A67F3C}" type="slidenum">
              <a:rPr lang="fr-FR" smtClean="0"/>
              <a:t>98</a:t>
            </a:fld>
            <a:endParaRPr lang="fr-FR"/>
          </a:p>
        </p:txBody>
      </p:sp>
    </p:spTree>
    <p:extLst>
      <p:ext uri="{BB962C8B-B14F-4D97-AF65-F5344CB8AC3E}">
        <p14:creationId xmlns:p14="http://schemas.microsoft.com/office/powerpoint/2010/main" val="3922754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Titre 3"/>
          <p:cNvSpPr>
            <a:spLocks noGrp="1"/>
          </p:cNvSpPr>
          <p:nvPr>
            <p:ph type="title" hasCustomPrompt="1"/>
          </p:nvPr>
        </p:nvSpPr>
        <p:spPr>
          <a:xfrm>
            <a:off x="1619495" y="2834872"/>
            <a:ext cx="5905010" cy="1260000"/>
          </a:xfrm>
        </p:spPr>
        <p:txBody>
          <a:bodyPr>
            <a:noAutofit/>
          </a:bodyPr>
          <a:lstStyle>
            <a:lvl1pPr algn="ctr">
              <a:defRPr sz="3000" b="1" cap="all" baseline="0">
                <a:solidFill>
                  <a:srgbClr val="205AA7"/>
                </a:solidFill>
                <a:latin typeface="+mn-lt"/>
              </a:defRPr>
            </a:lvl1pPr>
          </a:lstStyle>
          <a:p>
            <a:r>
              <a:rPr lang="fr-FR" dirty="0"/>
              <a:t>MODIFIEZ LE STYLE DU TITRE</a:t>
            </a:r>
          </a:p>
        </p:txBody>
      </p:sp>
      <p:sp>
        <p:nvSpPr>
          <p:cNvPr id="6" name="Espace réservé du texte 5"/>
          <p:cNvSpPr>
            <a:spLocks noGrp="1"/>
          </p:cNvSpPr>
          <p:nvPr>
            <p:ph type="body" sz="quarter" idx="10" hasCustomPrompt="1"/>
          </p:nvPr>
        </p:nvSpPr>
        <p:spPr>
          <a:xfrm>
            <a:off x="5004048" y="5661248"/>
            <a:ext cx="3599284" cy="792088"/>
          </a:xfrm>
        </p:spPr>
        <p:txBody>
          <a:bodyPr>
            <a:noAutofit/>
          </a:bodyPr>
          <a:lstStyle>
            <a:lvl1pPr marL="0" indent="0" algn="r">
              <a:spcBef>
                <a:spcPts val="0"/>
              </a:spcBef>
              <a:buFontTx/>
              <a:buNone/>
              <a:defRPr sz="1200" cap="all" baseline="0">
                <a:solidFill>
                  <a:srgbClr val="205AA7"/>
                </a:solidFill>
              </a:defRPr>
            </a:lvl1pPr>
          </a:lstStyle>
          <a:p>
            <a:pPr lvl="0"/>
            <a:r>
              <a:rPr lang="fr-FR" dirty="0"/>
              <a:t>NOM, service</a:t>
            </a:r>
          </a:p>
        </p:txBody>
      </p:sp>
      <p:sp>
        <p:nvSpPr>
          <p:cNvPr id="7" name="Espace réservé du texte 6"/>
          <p:cNvSpPr>
            <a:spLocks noGrp="1"/>
          </p:cNvSpPr>
          <p:nvPr>
            <p:ph type="body" sz="quarter" idx="11" hasCustomPrompt="1"/>
          </p:nvPr>
        </p:nvSpPr>
        <p:spPr>
          <a:xfrm>
            <a:off x="7019156" y="6489248"/>
            <a:ext cx="1584176" cy="260350"/>
          </a:xfrm>
        </p:spPr>
        <p:txBody>
          <a:bodyPr>
            <a:normAutofit/>
          </a:bodyPr>
          <a:lstStyle>
            <a:lvl1pPr marL="0" indent="0" algn="r">
              <a:buFontTx/>
              <a:buNone/>
              <a:defRPr sz="900" b="1" cap="all" baseline="0">
                <a:solidFill>
                  <a:srgbClr val="205AA7"/>
                </a:solidFill>
              </a:defRPr>
            </a:lvl1pPr>
          </a:lstStyle>
          <a:p>
            <a:pPr lvl="0"/>
            <a:r>
              <a:rPr lang="fr-FR" dirty="0"/>
              <a:t>DATE</a:t>
            </a:r>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92000" y="252000"/>
            <a:ext cx="2160000" cy="1011455"/>
          </a:xfrm>
          <a:prstGeom prst="rect">
            <a:avLst/>
          </a:prstGeom>
        </p:spPr>
      </p:pic>
      <p:pic>
        <p:nvPicPr>
          <p:cNvPr id="11" name="Imag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496" y="1772816"/>
            <a:ext cx="1583999" cy="3483136"/>
          </a:xfrm>
          <a:prstGeom prst="rect">
            <a:avLst/>
          </a:prstGeom>
        </p:spPr>
      </p:pic>
      <p:pic>
        <p:nvPicPr>
          <p:cNvPr id="8" name="Imag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flipH="1">
            <a:off x="7524505" y="1772816"/>
            <a:ext cx="1583999" cy="3483136"/>
          </a:xfrm>
          <a:prstGeom prst="rect">
            <a:avLst/>
          </a:prstGeom>
        </p:spPr>
      </p:pic>
    </p:spTree>
    <p:extLst>
      <p:ext uri="{BB962C8B-B14F-4D97-AF65-F5344CB8AC3E}">
        <p14:creationId xmlns:p14="http://schemas.microsoft.com/office/powerpoint/2010/main" val="1460949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11" name="Espace réservé du pied de page 4"/>
          <p:cNvSpPr>
            <a:spLocks noGrp="1"/>
          </p:cNvSpPr>
          <p:nvPr>
            <p:ph type="ftr" sz="quarter" idx="3"/>
          </p:nvPr>
        </p:nvSpPr>
        <p:spPr>
          <a:xfrm>
            <a:off x="3124200" y="6480000"/>
            <a:ext cx="4976192" cy="360000"/>
          </a:xfrm>
          <a:prstGeom prst="rect">
            <a:avLst/>
          </a:prstGeom>
        </p:spPr>
        <p:txBody>
          <a:bodyPr vert="horz" lIns="91440" tIns="45720" rIns="91440" bIns="45720" rtlCol="0" anchor="t" anchorCtr="0"/>
          <a:lstStyle>
            <a:lvl1pPr algn="r">
              <a:defRPr sz="900">
                <a:solidFill>
                  <a:srgbClr val="205AA7"/>
                </a:solidFill>
              </a:defRPr>
            </a:lvl1pPr>
          </a:lstStyle>
          <a:p>
            <a:endParaRPr lang="fr-FR" dirty="0"/>
          </a:p>
        </p:txBody>
      </p:sp>
      <p:sp>
        <p:nvSpPr>
          <p:cNvPr id="12" name="Espace réservé du numéro de diapositive 5"/>
          <p:cNvSpPr>
            <a:spLocks noGrp="1"/>
          </p:cNvSpPr>
          <p:nvPr>
            <p:ph type="sldNum" sz="quarter" idx="4"/>
          </p:nvPr>
        </p:nvSpPr>
        <p:spPr>
          <a:xfrm>
            <a:off x="8172400" y="6480000"/>
            <a:ext cx="540000" cy="360000"/>
          </a:xfrm>
          <a:prstGeom prst="rect">
            <a:avLst/>
          </a:prstGeom>
        </p:spPr>
        <p:txBody>
          <a:bodyPr/>
          <a:lstStyle>
            <a:lvl1pPr algn="r">
              <a:defRPr sz="900">
                <a:solidFill>
                  <a:srgbClr val="205AA7"/>
                </a:solidFill>
              </a:defRPr>
            </a:lvl1pPr>
          </a:lstStyle>
          <a:p>
            <a:fld id="{A5612AF6-3794-417C-8315-010C3BB3AD18}" type="slidenum">
              <a:rPr lang="fr-FR" smtClean="0"/>
              <a:pPr/>
              <a:t>‹N°›</a:t>
            </a:fld>
            <a:endParaRPr lang="fr-FR" dirty="0"/>
          </a:p>
        </p:txBody>
      </p:sp>
      <p:pic>
        <p:nvPicPr>
          <p:cNvPr id="15" name="Imag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92000" y="252000"/>
            <a:ext cx="2160000" cy="1011455"/>
          </a:xfrm>
          <a:prstGeom prst="rect">
            <a:avLst/>
          </a:prstGeom>
        </p:spPr>
      </p:pic>
      <p:pic>
        <p:nvPicPr>
          <p:cNvPr id="8" name="Imag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496" y="1772816"/>
            <a:ext cx="1583999" cy="3483136"/>
          </a:xfrm>
          <a:prstGeom prst="rect">
            <a:avLst/>
          </a:prstGeom>
        </p:spPr>
      </p:pic>
      <p:sp>
        <p:nvSpPr>
          <p:cNvPr id="3" name="Espace réservé du texte 2"/>
          <p:cNvSpPr>
            <a:spLocks noGrp="1"/>
          </p:cNvSpPr>
          <p:nvPr>
            <p:ph type="body" sz="quarter" idx="10"/>
          </p:nvPr>
        </p:nvSpPr>
        <p:spPr>
          <a:xfrm>
            <a:off x="1692000" y="1584000"/>
            <a:ext cx="7020000" cy="4500000"/>
          </a:xfrm>
        </p:spPr>
        <p:txBody>
          <a:bodyPr/>
          <a:lstStyle>
            <a:lvl1pPr marL="396000" indent="-396000">
              <a:buFont typeface="+mj-lt"/>
              <a:buAutoNum type="arabicPeriod"/>
              <a:defRPr cap="none" baseline="0"/>
            </a:lvl1pPr>
            <a:lvl2pPr marL="914400" indent="-457200">
              <a:buFont typeface="+mj-lt"/>
              <a:buAutoNum type="arabicPeriod"/>
              <a:defRPr/>
            </a:lvl2pPr>
            <a:lvl3pPr marL="1371600" indent="-457200">
              <a:buFont typeface="+mj-lt"/>
              <a:buAutoNum type="arabicPeriod"/>
              <a:defRPr/>
            </a:lvl3pPr>
            <a:lvl4pPr marL="1828800" indent="-457200">
              <a:buFont typeface="+mj-lt"/>
              <a:buAutoNum type="arabicPeriod"/>
              <a:defRPr/>
            </a:lvl4pPr>
            <a:lvl5pPr marL="2171700" indent="-342900">
              <a:buFont typeface="+mj-lt"/>
              <a:buAutoNum type="arabicPeriod"/>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536314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3" name="Rectangle 2"/>
          <p:cNvSpPr/>
          <p:nvPr userDrawn="1"/>
        </p:nvSpPr>
        <p:spPr>
          <a:xfrm>
            <a:off x="0" y="0"/>
            <a:ext cx="9144000" cy="115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hasCustomPrompt="1"/>
          </p:nvPr>
        </p:nvSpPr>
        <p:spPr/>
        <p:txBody>
          <a:bodyPr/>
          <a:lstStyle>
            <a:lvl1pPr>
              <a:defRPr cap="all" baseline="0"/>
            </a:lvl1pPr>
          </a:lstStyle>
          <a:p>
            <a:r>
              <a:rPr lang="fr-FR" dirty="0"/>
              <a:t>MODIFIEZ LE STYLE DU TITRE</a:t>
            </a:r>
          </a:p>
        </p:txBody>
      </p:sp>
      <p:sp>
        <p:nvSpPr>
          <p:cNvPr id="11" name="Espace réservé du pied de page 4"/>
          <p:cNvSpPr>
            <a:spLocks noGrp="1"/>
          </p:cNvSpPr>
          <p:nvPr>
            <p:ph type="ftr" sz="quarter" idx="3"/>
          </p:nvPr>
        </p:nvSpPr>
        <p:spPr>
          <a:xfrm>
            <a:off x="3124200" y="6480000"/>
            <a:ext cx="4976192" cy="360000"/>
          </a:xfrm>
          <a:prstGeom prst="rect">
            <a:avLst/>
          </a:prstGeom>
        </p:spPr>
        <p:txBody>
          <a:bodyPr vert="horz" lIns="91440" tIns="45720" rIns="91440" bIns="45720" rtlCol="0" anchor="t" anchorCtr="0"/>
          <a:lstStyle>
            <a:lvl1pPr algn="r">
              <a:defRPr sz="900">
                <a:solidFill>
                  <a:srgbClr val="205AA7"/>
                </a:solidFill>
              </a:defRPr>
            </a:lvl1pPr>
          </a:lstStyle>
          <a:p>
            <a:endParaRPr lang="fr-FR" dirty="0"/>
          </a:p>
        </p:txBody>
      </p:sp>
      <p:sp>
        <p:nvSpPr>
          <p:cNvPr id="12" name="Espace réservé du numéro de diapositive 5"/>
          <p:cNvSpPr>
            <a:spLocks noGrp="1"/>
          </p:cNvSpPr>
          <p:nvPr>
            <p:ph type="sldNum" sz="quarter" idx="4"/>
          </p:nvPr>
        </p:nvSpPr>
        <p:spPr>
          <a:xfrm>
            <a:off x="8172400" y="6480000"/>
            <a:ext cx="540000" cy="360000"/>
          </a:xfrm>
          <a:prstGeom prst="rect">
            <a:avLst/>
          </a:prstGeom>
        </p:spPr>
        <p:txBody>
          <a:bodyPr/>
          <a:lstStyle>
            <a:lvl1pPr algn="r">
              <a:defRPr sz="900">
                <a:solidFill>
                  <a:srgbClr val="205AA7"/>
                </a:solidFill>
              </a:defRPr>
            </a:lvl1pPr>
          </a:lstStyle>
          <a:p>
            <a:fld id="{A5612AF6-3794-417C-8315-010C3BB3AD18}" type="slidenum">
              <a:rPr lang="fr-FR" smtClean="0"/>
              <a:pPr/>
              <a:t>‹N°›</a:t>
            </a:fld>
            <a:endParaRPr lang="fr-FR" dirty="0"/>
          </a:p>
        </p:txBody>
      </p:sp>
      <p:pic>
        <p:nvPicPr>
          <p:cNvPr id="8" name="Imag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3608" y="6309320"/>
            <a:ext cx="900000" cy="421438"/>
          </a:xfrm>
          <a:prstGeom prst="rect">
            <a:avLst/>
          </a:prstGeom>
        </p:spPr>
      </p:pic>
      <p:pic>
        <p:nvPicPr>
          <p:cNvPr id="6" name="Image 5"/>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72000" y="198000"/>
            <a:ext cx="406800" cy="756000"/>
          </a:xfrm>
          <a:prstGeom prst="rect">
            <a:avLst/>
          </a:prstGeom>
        </p:spPr>
      </p:pic>
      <p:sp>
        <p:nvSpPr>
          <p:cNvPr id="15" name="Espace réservé du texte 2"/>
          <p:cNvSpPr>
            <a:spLocks noGrp="1"/>
          </p:cNvSpPr>
          <p:nvPr>
            <p:ph idx="1"/>
          </p:nvPr>
        </p:nvSpPr>
        <p:spPr>
          <a:xfrm>
            <a:off x="468000" y="1440000"/>
            <a:ext cx="8229600" cy="4525963"/>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763546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57200" y="1600200"/>
            <a:ext cx="4038600" cy="4525963"/>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contenu 3"/>
          <p:cNvSpPr>
            <a:spLocks noGrp="1"/>
          </p:cNvSpPr>
          <p:nvPr>
            <p:ph sz="half" idx="2"/>
          </p:nvPr>
        </p:nvSpPr>
        <p:spPr>
          <a:xfrm>
            <a:off x="4648200" y="1600200"/>
            <a:ext cx="4038600" cy="4525963"/>
          </a:xfrm>
        </p:spPr>
        <p:txBody>
          <a:bodyPr/>
          <a:lstStyle>
            <a:lvl1pPr>
              <a:defRPr sz="2000"/>
            </a:lvl1pPr>
            <a:lvl2pPr>
              <a:defRPr sz="2000"/>
            </a:lvl2pPr>
            <a:lvl3pPr>
              <a:defRPr sz="1600"/>
            </a:lvl3pPr>
            <a:lvl4pPr>
              <a:defRPr sz="1600"/>
            </a:lvl4pPr>
            <a:lvl5pPr>
              <a:defRPr sz="16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u pied de page 4"/>
          <p:cNvSpPr>
            <a:spLocks noGrp="1"/>
          </p:cNvSpPr>
          <p:nvPr>
            <p:ph type="ftr" sz="quarter" idx="3"/>
          </p:nvPr>
        </p:nvSpPr>
        <p:spPr>
          <a:xfrm>
            <a:off x="3124200" y="6480000"/>
            <a:ext cx="4976192" cy="360000"/>
          </a:xfrm>
          <a:prstGeom prst="rect">
            <a:avLst/>
          </a:prstGeom>
        </p:spPr>
        <p:txBody>
          <a:bodyPr vert="horz" lIns="91440" tIns="45720" rIns="91440" bIns="45720" rtlCol="0" anchor="t" anchorCtr="0"/>
          <a:lstStyle>
            <a:lvl1pPr algn="r">
              <a:defRPr sz="900">
                <a:solidFill>
                  <a:srgbClr val="205AA7"/>
                </a:solidFill>
              </a:defRPr>
            </a:lvl1pPr>
          </a:lstStyle>
          <a:p>
            <a:endParaRPr lang="fr-FR" dirty="0"/>
          </a:p>
        </p:txBody>
      </p:sp>
      <p:sp>
        <p:nvSpPr>
          <p:cNvPr id="9" name="Espace réservé du numéro de diapositive 5"/>
          <p:cNvSpPr>
            <a:spLocks noGrp="1"/>
          </p:cNvSpPr>
          <p:nvPr>
            <p:ph type="sldNum" sz="quarter" idx="4"/>
          </p:nvPr>
        </p:nvSpPr>
        <p:spPr>
          <a:xfrm>
            <a:off x="8172400" y="6480000"/>
            <a:ext cx="540000" cy="360000"/>
          </a:xfrm>
          <a:prstGeom prst="rect">
            <a:avLst/>
          </a:prstGeom>
        </p:spPr>
        <p:txBody>
          <a:bodyPr/>
          <a:lstStyle>
            <a:lvl1pPr algn="r">
              <a:defRPr sz="900">
                <a:solidFill>
                  <a:srgbClr val="205AA7"/>
                </a:solidFill>
              </a:defRPr>
            </a:lvl1pPr>
          </a:lstStyle>
          <a:p>
            <a:fld id="{A5612AF6-3794-417C-8315-010C3BB3AD18}" type="slidenum">
              <a:rPr lang="fr-FR" smtClean="0"/>
              <a:pPr/>
              <a:t>‹N°›</a:t>
            </a:fld>
            <a:endParaRPr lang="fr-FR" dirty="0"/>
          </a:p>
        </p:txBody>
      </p:sp>
      <p:pic>
        <p:nvPicPr>
          <p:cNvPr id="8" name="Imag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3608" y="6309320"/>
            <a:ext cx="900000" cy="421438"/>
          </a:xfrm>
          <a:prstGeom prst="rect">
            <a:avLst/>
          </a:prstGeom>
        </p:spPr>
      </p:pic>
      <p:sp>
        <p:nvSpPr>
          <p:cNvPr id="11" name="Rectangle 10"/>
          <p:cNvSpPr/>
          <p:nvPr userDrawn="1"/>
        </p:nvSpPr>
        <p:spPr>
          <a:xfrm>
            <a:off x="0" y="0"/>
            <a:ext cx="9144000" cy="115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Titre 1"/>
          <p:cNvSpPr>
            <a:spLocks noGrp="1"/>
          </p:cNvSpPr>
          <p:nvPr>
            <p:ph type="title"/>
          </p:nvPr>
        </p:nvSpPr>
        <p:spPr>
          <a:xfrm>
            <a:off x="468000" y="0"/>
            <a:ext cx="8229600" cy="1143000"/>
          </a:xfrm>
        </p:spPr>
        <p:txBody>
          <a:bodyPr/>
          <a:lstStyle>
            <a:lvl1pPr>
              <a:defRPr cap="all" baseline="0"/>
            </a:lvl1pPr>
          </a:lstStyle>
          <a:p>
            <a:r>
              <a:rPr lang="fr-FR"/>
              <a:t>Modifiez le style du titre</a:t>
            </a:r>
            <a:endParaRPr lang="fr-FR" dirty="0"/>
          </a:p>
        </p:txBody>
      </p:sp>
      <p:pic>
        <p:nvPicPr>
          <p:cNvPr id="13" name="Image 12"/>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72000" y="198000"/>
            <a:ext cx="406800" cy="756000"/>
          </a:xfrm>
          <a:prstGeom prst="rect">
            <a:avLst/>
          </a:prstGeom>
        </p:spPr>
      </p:pic>
    </p:spTree>
    <p:extLst>
      <p:ext uri="{BB962C8B-B14F-4D97-AF65-F5344CB8AC3E}">
        <p14:creationId xmlns:p14="http://schemas.microsoft.com/office/powerpoint/2010/main" val="2881454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9" name="Diagramme 8"/>
          <p:cNvGraphicFramePr/>
          <p:nvPr userDrawn="1">
            <p:extLst>
              <p:ext uri="{D42A27DB-BD31-4B8C-83A1-F6EECF244321}">
                <p14:modId xmlns:p14="http://schemas.microsoft.com/office/powerpoint/2010/main" val="1950391629"/>
              </p:ext>
            </p:extLst>
          </p:nvPr>
        </p:nvGraphicFramePr>
        <p:xfrm>
          <a:off x="1524000" y="1692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Espace réservé du pied de page 4"/>
          <p:cNvSpPr>
            <a:spLocks noGrp="1"/>
          </p:cNvSpPr>
          <p:nvPr>
            <p:ph type="ftr" sz="quarter" idx="3"/>
          </p:nvPr>
        </p:nvSpPr>
        <p:spPr>
          <a:xfrm>
            <a:off x="3124200" y="6480000"/>
            <a:ext cx="4976192" cy="360000"/>
          </a:xfrm>
          <a:prstGeom prst="rect">
            <a:avLst/>
          </a:prstGeom>
        </p:spPr>
        <p:txBody>
          <a:bodyPr vert="horz" lIns="91440" tIns="45720" rIns="91440" bIns="45720" rtlCol="0" anchor="t" anchorCtr="0"/>
          <a:lstStyle>
            <a:lvl1pPr algn="r">
              <a:defRPr sz="900">
                <a:solidFill>
                  <a:srgbClr val="205AA7"/>
                </a:solidFill>
              </a:defRPr>
            </a:lvl1pPr>
          </a:lstStyle>
          <a:p>
            <a:endParaRPr lang="fr-FR" dirty="0"/>
          </a:p>
        </p:txBody>
      </p:sp>
      <p:sp>
        <p:nvSpPr>
          <p:cNvPr id="10" name="Espace réservé du numéro de diapositive 5"/>
          <p:cNvSpPr>
            <a:spLocks noGrp="1"/>
          </p:cNvSpPr>
          <p:nvPr>
            <p:ph type="sldNum" sz="quarter" idx="4"/>
          </p:nvPr>
        </p:nvSpPr>
        <p:spPr>
          <a:xfrm>
            <a:off x="8172400" y="6480000"/>
            <a:ext cx="540000" cy="360000"/>
          </a:xfrm>
          <a:prstGeom prst="rect">
            <a:avLst/>
          </a:prstGeom>
        </p:spPr>
        <p:txBody>
          <a:bodyPr/>
          <a:lstStyle>
            <a:lvl1pPr algn="r">
              <a:defRPr sz="900">
                <a:solidFill>
                  <a:srgbClr val="205AA7"/>
                </a:solidFill>
              </a:defRPr>
            </a:lvl1pPr>
          </a:lstStyle>
          <a:p>
            <a:fld id="{A5612AF6-3794-417C-8315-010C3BB3AD18}" type="slidenum">
              <a:rPr lang="fr-FR" smtClean="0"/>
              <a:pPr/>
              <a:t>‹N°›</a:t>
            </a:fld>
            <a:endParaRPr lang="fr-FR" dirty="0"/>
          </a:p>
        </p:txBody>
      </p:sp>
      <p:pic>
        <p:nvPicPr>
          <p:cNvPr id="7" name="Image 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3608" y="6309320"/>
            <a:ext cx="900000" cy="421438"/>
          </a:xfrm>
          <a:prstGeom prst="rect">
            <a:avLst/>
          </a:prstGeom>
        </p:spPr>
      </p:pic>
      <p:sp>
        <p:nvSpPr>
          <p:cNvPr id="12" name="Rectangle 11"/>
          <p:cNvSpPr/>
          <p:nvPr userDrawn="1"/>
        </p:nvSpPr>
        <p:spPr>
          <a:xfrm>
            <a:off x="0" y="0"/>
            <a:ext cx="9144000" cy="115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itre 1"/>
          <p:cNvSpPr>
            <a:spLocks noGrp="1"/>
          </p:cNvSpPr>
          <p:nvPr>
            <p:ph type="title"/>
          </p:nvPr>
        </p:nvSpPr>
        <p:spPr>
          <a:xfrm>
            <a:off x="468000" y="0"/>
            <a:ext cx="8229600" cy="1143000"/>
          </a:xfrm>
        </p:spPr>
        <p:txBody>
          <a:bodyPr/>
          <a:lstStyle/>
          <a:p>
            <a:r>
              <a:rPr lang="fr-FR"/>
              <a:t>Modifiez le style du titre</a:t>
            </a:r>
            <a:endParaRPr lang="fr-FR" dirty="0"/>
          </a:p>
        </p:txBody>
      </p:sp>
      <p:pic>
        <p:nvPicPr>
          <p:cNvPr id="14" name="Image 13"/>
          <p:cNvPicPr>
            <a:picLocks/>
          </p:cNvPicPr>
          <p:nvPr userDrawn="1"/>
        </p:nvPicPr>
        <p:blipFill>
          <a:blip r:embed="rId8" cstate="print">
            <a:extLst>
              <a:ext uri="{28A0092B-C50C-407E-A947-70E740481C1C}">
                <a14:useLocalDpi xmlns:a14="http://schemas.microsoft.com/office/drawing/2010/main" val="0"/>
              </a:ext>
            </a:extLst>
          </a:blip>
          <a:stretch>
            <a:fillRect/>
          </a:stretch>
        </p:blipFill>
        <p:spPr>
          <a:xfrm>
            <a:off x="72000" y="198000"/>
            <a:ext cx="406800" cy="756000"/>
          </a:xfrm>
          <a:prstGeom prst="rect">
            <a:avLst/>
          </a:prstGeom>
        </p:spPr>
      </p:pic>
    </p:spTree>
    <p:extLst>
      <p:ext uri="{BB962C8B-B14F-4D97-AF65-F5344CB8AC3E}">
        <p14:creationId xmlns:p14="http://schemas.microsoft.com/office/powerpoint/2010/main" val="1150542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457200" y="1440000"/>
            <a:ext cx="3008313" cy="4680000"/>
          </a:xfrm>
          <a:solidFill>
            <a:schemeClr val="accent2"/>
          </a:solidFill>
        </p:spPr>
        <p:txBody>
          <a:bodyPr/>
          <a:lstStyle>
            <a:lvl1pPr marL="0" indent="0" algn="l">
              <a:lnSpc>
                <a:spcPct val="150000"/>
              </a:lnSpc>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7" name="Espace réservé du pied de page 4"/>
          <p:cNvSpPr>
            <a:spLocks noGrp="1"/>
          </p:cNvSpPr>
          <p:nvPr>
            <p:ph type="ftr" sz="quarter" idx="3"/>
          </p:nvPr>
        </p:nvSpPr>
        <p:spPr>
          <a:xfrm>
            <a:off x="3124200" y="6480000"/>
            <a:ext cx="4976192" cy="360000"/>
          </a:xfrm>
          <a:prstGeom prst="rect">
            <a:avLst/>
          </a:prstGeom>
        </p:spPr>
        <p:txBody>
          <a:bodyPr vert="horz" lIns="91440" tIns="45720" rIns="91440" bIns="45720" rtlCol="0" anchor="t" anchorCtr="0"/>
          <a:lstStyle>
            <a:lvl1pPr algn="r">
              <a:defRPr sz="900">
                <a:solidFill>
                  <a:srgbClr val="205AA7"/>
                </a:solidFill>
              </a:defRPr>
            </a:lvl1pPr>
          </a:lstStyle>
          <a:p>
            <a:endParaRPr lang="fr-FR" dirty="0"/>
          </a:p>
        </p:txBody>
      </p:sp>
      <p:sp>
        <p:nvSpPr>
          <p:cNvPr id="9" name="Espace réservé du numéro de diapositive 5"/>
          <p:cNvSpPr>
            <a:spLocks noGrp="1"/>
          </p:cNvSpPr>
          <p:nvPr>
            <p:ph type="sldNum" sz="quarter" idx="4"/>
          </p:nvPr>
        </p:nvSpPr>
        <p:spPr>
          <a:xfrm>
            <a:off x="8172400" y="6480000"/>
            <a:ext cx="540000" cy="360000"/>
          </a:xfrm>
          <a:prstGeom prst="rect">
            <a:avLst/>
          </a:prstGeom>
        </p:spPr>
        <p:txBody>
          <a:bodyPr/>
          <a:lstStyle>
            <a:lvl1pPr algn="r">
              <a:defRPr sz="900">
                <a:solidFill>
                  <a:srgbClr val="205AA7"/>
                </a:solidFill>
              </a:defRPr>
            </a:lvl1pPr>
          </a:lstStyle>
          <a:p>
            <a:fld id="{A5612AF6-3794-417C-8315-010C3BB3AD18}" type="slidenum">
              <a:rPr lang="fr-FR" smtClean="0"/>
              <a:pPr/>
              <a:t>‹N°›</a:t>
            </a:fld>
            <a:endParaRPr lang="fr-FR" dirty="0"/>
          </a:p>
        </p:txBody>
      </p:sp>
      <p:pic>
        <p:nvPicPr>
          <p:cNvPr id="8" name="Imag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3608" y="6309320"/>
            <a:ext cx="900000" cy="421438"/>
          </a:xfrm>
          <a:prstGeom prst="rect">
            <a:avLst/>
          </a:prstGeom>
        </p:spPr>
      </p:pic>
      <p:sp>
        <p:nvSpPr>
          <p:cNvPr id="12" name="Rectangle 11"/>
          <p:cNvSpPr/>
          <p:nvPr userDrawn="1"/>
        </p:nvSpPr>
        <p:spPr>
          <a:xfrm>
            <a:off x="0" y="0"/>
            <a:ext cx="9144000" cy="115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itre 1"/>
          <p:cNvSpPr>
            <a:spLocks noGrp="1"/>
          </p:cNvSpPr>
          <p:nvPr>
            <p:ph type="title"/>
          </p:nvPr>
        </p:nvSpPr>
        <p:spPr>
          <a:xfrm>
            <a:off x="468000" y="0"/>
            <a:ext cx="8229600" cy="1143000"/>
          </a:xfrm>
        </p:spPr>
        <p:txBody>
          <a:bodyPr/>
          <a:lstStyle/>
          <a:p>
            <a:r>
              <a:rPr lang="fr-FR"/>
              <a:t>Modifiez le style du titre</a:t>
            </a:r>
            <a:endParaRPr lang="fr-FR" dirty="0"/>
          </a:p>
        </p:txBody>
      </p:sp>
      <p:pic>
        <p:nvPicPr>
          <p:cNvPr id="14" name="Image 13"/>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72000" y="198000"/>
            <a:ext cx="406800" cy="756000"/>
          </a:xfrm>
          <a:prstGeom prst="rect">
            <a:avLst/>
          </a:prstGeom>
        </p:spPr>
      </p:pic>
      <p:sp>
        <p:nvSpPr>
          <p:cNvPr id="15" name="Espace réservé du contenu 2"/>
          <p:cNvSpPr>
            <a:spLocks noGrp="1"/>
          </p:cNvSpPr>
          <p:nvPr>
            <p:ph sz="half" idx="1"/>
          </p:nvPr>
        </p:nvSpPr>
        <p:spPr>
          <a:xfrm>
            <a:off x="3779912" y="1440000"/>
            <a:ext cx="4932000" cy="46800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1383562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68000" y="0"/>
            <a:ext cx="8229600" cy="1143000"/>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p:cNvSpPr>
            <a:spLocks noGrp="1"/>
          </p:cNvSpPr>
          <p:nvPr>
            <p:ph type="body" idx="1"/>
          </p:nvPr>
        </p:nvSpPr>
        <p:spPr>
          <a:xfrm>
            <a:off x="468000" y="1600200"/>
            <a:ext cx="8229600" cy="4525963"/>
          </a:xfrm>
          <a:prstGeom prst="rect">
            <a:avLst/>
          </a:prstGeom>
        </p:spPr>
        <p:txBody>
          <a:bodyPr vert="horz" lIns="91440" tIns="45720" rIns="91440" bIns="45720" rtlCol="0">
            <a:no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pied de page 4"/>
          <p:cNvSpPr>
            <a:spLocks noGrp="1"/>
          </p:cNvSpPr>
          <p:nvPr>
            <p:ph type="ftr" sz="quarter" idx="3"/>
          </p:nvPr>
        </p:nvSpPr>
        <p:spPr>
          <a:xfrm>
            <a:off x="3124200" y="6480000"/>
            <a:ext cx="4976192" cy="360000"/>
          </a:xfrm>
          <a:prstGeom prst="rect">
            <a:avLst/>
          </a:prstGeom>
        </p:spPr>
        <p:txBody>
          <a:bodyPr vert="horz" lIns="91440" tIns="45720" rIns="91440" bIns="45720" rtlCol="0" anchor="t" anchorCtr="0"/>
          <a:lstStyle>
            <a:lvl1pPr algn="r">
              <a:defRPr sz="900">
                <a:solidFill>
                  <a:srgbClr val="205AA7"/>
                </a:solidFill>
              </a:defRPr>
            </a:lvl1pPr>
          </a:lstStyle>
          <a:p>
            <a:endParaRPr lang="fr-FR" dirty="0"/>
          </a:p>
        </p:txBody>
      </p:sp>
      <p:sp>
        <p:nvSpPr>
          <p:cNvPr id="10" name="Espace réservé du numéro de diapositive 5"/>
          <p:cNvSpPr>
            <a:spLocks noGrp="1"/>
          </p:cNvSpPr>
          <p:nvPr>
            <p:ph type="sldNum" sz="quarter" idx="4"/>
          </p:nvPr>
        </p:nvSpPr>
        <p:spPr>
          <a:xfrm>
            <a:off x="8172400" y="6480000"/>
            <a:ext cx="540000" cy="360000"/>
          </a:xfrm>
          <a:prstGeom prst="rect">
            <a:avLst/>
          </a:prstGeom>
        </p:spPr>
        <p:txBody>
          <a:bodyPr/>
          <a:lstStyle>
            <a:lvl1pPr algn="r">
              <a:defRPr sz="900">
                <a:solidFill>
                  <a:srgbClr val="205AA7"/>
                </a:solidFill>
              </a:defRPr>
            </a:lvl1pPr>
          </a:lstStyle>
          <a:p>
            <a:fld id="{A5612AF6-3794-417C-8315-010C3BB3AD18}" type="slidenum">
              <a:rPr lang="fr-FR" smtClean="0"/>
              <a:pPr/>
              <a:t>‹N°›</a:t>
            </a:fld>
            <a:endParaRPr lang="fr-FR" dirty="0"/>
          </a:p>
        </p:txBody>
      </p:sp>
    </p:spTree>
    <p:extLst>
      <p:ext uri="{BB962C8B-B14F-4D97-AF65-F5344CB8AC3E}">
        <p14:creationId xmlns:p14="http://schemas.microsoft.com/office/powerpoint/2010/main" val="10242932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4" r:id="rId3"/>
    <p:sldLayoutId id="2147483652" r:id="rId4"/>
    <p:sldLayoutId id="2147483655" r:id="rId5"/>
    <p:sldLayoutId id="2147483656" r:id="rId6"/>
  </p:sldLayoutIdLst>
  <p:hf hdr="0" dt="0"/>
  <p:txStyles>
    <p:titleStyle>
      <a:lvl1pPr algn="l" defTabSz="914400" rtl="0" eaLnBrk="1" latinLnBrk="0" hangingPunct="1">
        <a:spcBef>
          <a:spcPct val="0"/>
        </a:spcBef>
        <a:buNone/>
        <a:defRPr sz="2400" b="1" kern="1200">
          <a:solidFill>
            <a:schemeClr val="bg1"/>
          </a:solidFill>
          <a:latin typeface="+mn-lt"/>
          <a:ea typeface="+mj-ea"/>
          <a:cs typeface="+mj-cs"/>
        </a:defRPr>
      </a:lvl1pPr>
    </p:titleStyle>
    <p:bodyStyle>
      <a:lvl1pPr marL="252000" indent="-252000" algn="l" defTabSz="914400" rtl="0" eaLnBrk="1" latinLnBrk="0" hangingPunct="1">
        <a:spcBef>
          <a:spcPct val="20000"/>
        </a:spcBef>
        <a:buFont typeface="Wingdings" panose="05000000000000000000" pitchFamily="2" charset="2"/>
        <a:buChar char="§"/>
        <a:defRPr sz="2600" kern="1200">
          <a:solidFill>
            <a:srgbClr val="205AA7"/>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rgbClr val="205AA7"/>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lumMod val="65000"/>
              <a:lumOff val="3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lumMod val="65000"/>
              <a:lumOff val="3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5.png"/><Relationship Id="rId4"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hyperlink" Target="https://unsplash.com/photos/5fNmWej4tAA?utm_source=unsplash&amp;utm_medium=referral&amp;utm_content=creditCopyText"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hyperlink" Target="https://unsplash.com/photos/5fNmWej4tAA?utm_source=unsplash&amp;utm_medium=referral&amp;utm_content=creditCopyText"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hyperlink" Target="https://unsplash.com/photos/5fNmWej4tAA?utm_source=unsplash&amp;utm_medium=referral&amp;utm_content=creditCopyText"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hyperlink" Target="https://unsplash.com/photos/5fNmWej4tAA?utm_source=unsplash&amp;utm_medium=referral&amp;utm_content=creditCopyText"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hyperlink" Target="https://unsplash.com/photos/5fNmWej4tAA?utm_source=unsplash&amp;utm_medium=referral&amp;utm_content=creditCopyText"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hyperlink" Target="https://unsplash.com/photos/5fNmWej4tAA?utm_source=unsplash&amp;utm_medium=referral&amp;utm_content=creditCopyText" TargetMode="External"/></Relationships>
</file>

<file path=ppt/slides/_rels/slide9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mailto:ggilles@inseec-edu.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Analyse financière</a:t>
            </a:r>
          </a:p>
        </p:txBody>
      </p:sp>
      <p:sp>
        <p:nvSpPr>
          <p:cNvPr id="3" name="Espace réservé du texte 2"/>
          <p:cNvSpPr>
            <a:spLocks noGrp="1"/>
          </p:cNvSpPr>
          <p:nvPr>
            <p:ph type="body" sz="quarter" idx="10"/>
          </p:nvPr>
        </p:nvSpPr>
        <p:spPr>
          <a:xfrm>
            <a:off x="1619496" y="4581128"/>
            <a:ext cx="5905009" cy="576064"/>
          </a:xfrm>
        </p:spPr>
        <p:txBody>
          <a:bodyPr/>
          <a:lstStyle/>
          <a:p>
            <a:pPr algn="ctr"/>
            <a:r>
              <a:rPr lang="fr-FR" sz="1600" cap="none" dirty="0"/>
              <a:t>Guillaume GILLES</a:t>
            </a:r>
          </a:p>
          <a:p>
            <a:pPr algn="ctr"/>
            <a:r>
              <a:rPr lang="fr-FR" sz="1600" cap="none" dirty="0"/>
              <a:t>Analyste financier</a:t>
            </a:r>
          </a:p>
          <a:p>
            <a:endParaRPr lang="fr-FR" dirty="0"/>
          </a:p>
          <a:p>
            <a:endParaRPr lang="fr-FR" dirty="0"/>
          </a:p>
        </p:txBody>
      </p:sp>
    </p:spTree>
    <p:extLst>
      <p:ext uri="{BB962C8B-B14F-4D97-AF65-F5344CB8AC3E}">
        <p14:creationId xmlns:p14="http://schemas.microsoft.com/office/powerpoint/2010/main" val="3622028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3"/>
          </p:nvPr>
        </p:nvSpPr>
        <p:spPr/>
        <p:txBody>
          <a:bodyPr/>
          <a:lstStyle/>
          <a:p>
            <a:endParaRPr lang="fr-FR" dirty="0"/>
          </a:p>
        </p:txBody>
      </p:sp>
      <p:sp>
        <p:nvSpPr>
          <p:cNvPr id="3" name="Espace réservé du numéro de diapositive 2"/>
          <p:cNvSpPr>
            <a:spLocks noGrp="1"/>
          </p:cNvSpPr>
          <p:nvPr>
            <p:ph type="sldNum" sz="quarter" idx="4"/>
          </p:nvPr>
        </p:nvSpPr>
        <p:spPr/>
        <p:txBody>
          <a:bodyPr/>
          <a:lstStyle/>
          <a:p>
            <a:fld id="{A5612AF6-3794-417C-8315-010C3BB3AD18}" type="slidenum">
              <a:rPr lang="fr-FR" smtClean="0"/>
              <a:pPr/>
              <a:t>2</a:t>
            </a:fld>
            <a:endParaRPr lang="fr-FR" dirty="0"/>
          </a:p>
        </p:txBody>
      </p:sp>
      <p:sp>
        <p:nvSpPr>
          <p:cNvPr id="4" name="Espace réservé du texte 3"/>
          <p:cNvSpPr>
            <a:spLocks noGrp="1"/>
          </p:cNvSpPr>
          <p:nvPr>
            <p:ph type="body" sz="quarter" idx="10"/>
          </p:nvPr>
        </p:nvSpPr>
        <p:spPr/>
        <p:txBody>
          <a:bodyPr anchor="ctr"/>
          <a:lstStyle/>
          <a:p>
            <a:r>
              <a:rPr lang="fr-FR" dirty="0"/>
              <a:t>Découvrir la Banque de France</a:t>
            </a:r>
          </a:p>
          <a:p>
            <a:r>
              <a:rPr lang="fr-FR" dirty="0">
                <a:solidFill>
                  <a:schemeClr val="accent1">
                    <a:lumMod val="20000"/>
                    <a:lumOff val="80000"/>
                  </a:schemeClr>
                </a:solidFill>
              </a:rPr>
              <a:t>Présentation de la cotation Banque de France</a:t>
            </a:r>
          </a:p>
          <a:p>
            <a:r>
              <a:rPr lang="fr-FR" dirty="0">
                <a:solidFill>
                  <a:schemeClr val="accent1">
                    <a:lumMod val="20000"/>
                    <a:lumOff val="80000"/>
                  </a:schemeClr>
                </a:solidFill>
              </a:rPr>
              <a:t>L’analyse financière des comptes consolidés</a:t>
            </a:r>
          </a:p>
          <a:p>
            <a:endParaRPr lang="fr-FR" dirty="0">
              <a:solidFill>
                <a:schemeClr val="accent1">
                  <a:lumMod val="20000"/>
                  <a:lumOff val="80000"/>
                </a:schemeClr>
              </a:solidFill>
            </a:endParaRPr>
          </a:p>
          <a:p>
            <a:endParaRPr lang="fr-FR" dirty="0">
              <a:solidFill>
                <a:schemeClr val="accent1">
                  <a:lumMod val="20000"/>
                  <a:lumOff val="80000"/>
                </a:schemeClr>
              </a:solidFill>
            </a:endParaRPr>
          </a:p>
        </p:txBody>
      </p:sp>
    </p:spTree>
    <p:extLst>
      <p:ext uri="{BB962C8B-B14F-4D97-AF65-F5344CB8AC3E}">
        <p14:creationId xmlns:p14="http://schemas.microsoft.com/office/powerpoint/2010/main" val="363975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824701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4</a:t>
            </a:fld>
            <a:endParaRPr lang="fr-FR" dirty="0"/>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333512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5</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886428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6</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297579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7</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804484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8</a:t>
            </a:fld>
            <a:endParaRPr lang="fr-FR" dirty="0"/>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222531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9</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673245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10</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982247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11</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929994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12</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258262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13</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564331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14</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417429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15</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467262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16</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462792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17</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60174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18</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255712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19</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121054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20</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364186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1. Découvrir la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21</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0036" y="1439863"/>
            <a:ext cx="8046154" cy="4525962"/>
          </a:xfrm>
        </p:spPr>
      </p:pic>
    </p:spTree>
    <p:extLst>
      <p:ext uri="{BB962C8B-B14F-4D97-AF65-F5344CB8AC3E}">
        <p14:creationId xmlns:p14="http://schemas.microsoft.com/office/powerpoint/2010/main" val="1001895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3"/>
          </p:nvPr>
        </p:nvSpPr>
        <p:spPr/>
        <p:txBody>
          <a:bodyPr/>
          <a:lstStyle/>
          <a:p>
            <a:endParaRPr lang="fr-FR" dirty="0"/>
          </a:p>
        </p:txBody>
      </p:sp>
      <p:sp>
        <p:nvSpPr>
          <p:cNvPr id="3" name="Espace réservé du numéro de diapositive 2"/>
          <p:cNvSpPr>
            <a:spLocks noGrp="1"/>
          </p:cNvSpPr>
          <p:nvPr>
            <p:ph type="sldNum" sz="quarter" idx="4"/>
          </p:nvPr>
        </p:nvSpPr>
        <p:spPr/>
        <p:txBody>
          <a:bodyPr/>
          <a:lstStyle/>
          <a:p>
            <a:fld id="{A5612AF6-3794-417C-8315-010C3BB3AD18}" type="slidenum">
              <a:rPr lang="fr-FR" smtClean="0"/>
              <a:pPr/>
              <a:t>22</a:t>
            </a:fld>
            <a:endParaRPr lang="fr-FR" dirty="0"/>
          </a:p>
        </p:txBody>
      </p:sp>
      <p:sp>
        <p:nvSpPr>
          <p:cNvPr id="4" name="Espace réservé du texte 3"/>
          <p:cNvSpPr>
            <a:spLocks noGrp="1"/>
          </p:cNvSpPr>
          <p:nvPr>
            <p:ph type="body" sz="quarter" idx="10"/>
          </p:nvPr>
        </p:nvSpPr>
        <p:spPr/>
        <p:txBody>
          <a:bodyPr anchor="ctr"/>
          <a:lstStyle/>
          <a:p>
            <a:r>
              <a:rPr lang="fr-FR" dirty="0">
                <a:solidFill>
                  <a:schemeClr val="accent1">
                    <a:lumMod val="20000"/>
                    <a:lumOff val="80000"/>
                  </a:schemeClr>
                </a:solidFill>
              </a:rPr>
              <a:t>Découvrir la Banque de France</a:t>
            </a:r>
          </a:p>
          <a:p>
            <a:r>
              <a:rPr lang="fr-FR" dirty="0"/>
              <a:t>Présentation de la cotation Banque de France</a:t>
            </a:r>
          </a:p>
          <a:p>
            <a:r>
              <a:rPr lang="fr-FR" dirty="0">
                <a:solidFill>
                  <a:schemeClr val="accent1">
                    <a:lumMod val="20000"/>
                    <a:lumOff val="80000"/>
                  </a:schemeClr>
                </a:solidFill>
              </a:rPr>
              <a:t>L’analyse financière des comptes consolidés</a:t>
            </a:r>
          </a:p>
          <a:p>
            <a:endParaRPr lang="fr-FR" dirty="0">
              <a:solidFill>
                <a:schemeClr val="accent1">
                  <a:lumMod val="20000"/>
                  <a:lumOff val="80000"/>
                </a:schemeClr>
              </a:solidFill>
            </a:endParaRPr>
          </a:p>
          <a:p>
            <a:endParaRPr lang="fr-FR" dirty="0">
              <a:solidFill>
                <a:schemeClr val="accent1">
                  <a:lumMod val="20000"/>
                  <a:lumOff val="80000"/>
                </a:schemeClr>
              </a:solidFill>
            </a:endParaRPr>
          </a:p>
        </p:txBody>
      </p:sp>
    </p:spTree>
    <p:extLst>
      <p:ext uri="{BB962C8B-B14F-4D97-AF65-F5344CB8AC3E}">
        <p14:creationId xmlns:p14="http://schemas.microsoft.com/office/powerpoint/2010/main" val="935441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fr-FR" dirty="0"/>
              <a:t>Présentation de La cotation banque de </a:t>
            </a:r>
            <a:r>
              <a:rPr lang="fr-FR" dirty="0" err="1"/>
              <a:t>france</a:t>
            </a:r>
            <a:endParaRPr lang="fr-FR"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23</a:t>
            </a:fld>
            <a:endParaRPr lang="fr-FR" dirty="0"/>
          </a:p>
        </p:txBody>
      </p:sp>
      <p:pic>
        <p:nvPicPr>
          <p:cNvPr id="6" name="La cotation Banque de France.mp4">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560388" y="1439863"/>
            <a:ext cx="8045450" cy="4525962"/>
          </a:xfrm>
        </p:spPr>
      </p:pic>
    </p:spTree>
    <p:extLst>
      <p:ext uri="{BB962C8B-B14F-4D97-AF65-F5344CB8AC3E}">
        <p14:creationId xmlns:p14="http://schemas.microsoft.com/office/powerpoint/2010/main" val="16488603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24</a:t>
            </a:fld>
            <a:endParaRPr lang="fr-FR"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8313" y="1856459"/>
            <a:ext cx="8229600" cy="3692769"/>
          </a:xfrm>
        </p:spPr>
      </p:pic>
    </p:spTree>
    <p:extLst>
      <p:ext uri="{BB962C8B-B14F-4D97-AF65-F5344CB8AC3E}">
        <p14:creationId xmlns:p14="http://schemas.microsoft.com/office/powerpoint/2010/main" val="1630265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25</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68313" y="1856375"/>
            <a:ext cx="8229600" cy="3692938"/>
          </a:xfrm>
        </p:spPr>
      </p:pic>
    </p:spTree>
    <p:extLst>
      <p:ext uri="{BB962C8B-B14F-4D97-AF65-F5344CB8AC3E}">
        <p14:creationId xmlns:p14="http://schemas.microsoft.com/office/powerpoint/2010/main" val="1642809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26</a:t>
            </a:fld>
            <a:endParaRPr lang="fr-FR" dirty="0"/>
          </a:p>
        </p:txBody>
      </p:sp>
      <p:sp>
        <p:nvSpPr>
          <p:cNvPr id="5" name="Content Placeholder 4"/>
          <p:cNvSpPr>
            <a:spLocks noGrp="1"/>
          </p:cNvSpPr>
          <p:nvPr>
            <p:ph idx="1"/>
          </p:nvPr>
        </p:nvSpPr>
        <p:spPr/>
        <p:txBody>
          <a:bodyPr>
            <a:noAutofit/>
          </a:bodyPr>
          <a:lstStyle/>
          <a:p>
            <a:pPr marL="0" indent="0" algn="ctr">
              <a:buNone/>
            </a:pPr>
            <a:r>
              <a:rPr lang="fr-FR" sz="2000" b="1" dirty="0"/>
              <a:t>Cotation ou notation ?</a:t>
            </a:r>
          </a:p>
          <a:p>
            <a:pPr marL="0" indent="0" algn="just">
              <a:buNone/>
            </a:pPr>
            <a:endParaRPr lang="fr-FR" sz="1000" dirty="0"/>
          </a:p>
          <a:p>
            <a:pPr algn="just"/>
            <a:r>
              <a:rPr lang="fr-FR" sz="2000" dirty="0"/>
              <a:t>La cotation a le même objet que la notation d’une agence à savoir évaluer le risque encouru par un prêteur qui avance des fonds.</a:t>
            </a:r>
          </a:p>
          <a:p>
            <a:pPr algn="just"/>
            <a:r>
              <a:rPr lang="fr-FR" sz="2000" dirty="0"/>
              <a:t>le modèle économique de la cotation est très différent :</a:t>
            </a:r>
          </a:p>
          <a:p>
            <a:pPr lvl="1" algn="just"/>
            <a:r>
              <a:rPr lang="fr-FR" sz="1800" dirty="0"/>
              <a:t>l’activité de cotation ne concerne pas les produits financiers mais exclusivement l’appréciation du risque de crédit des entreprises non financières et résidentes. Les États et les collectivités territoriales ne reçoivent pas de cotation Banque de France ;</a:t>
            </a:r>
          </a:p>
          <a:p>
            <a:pPr lvl="1" algn="just"/>
            <a:r>
              <a:rPr lang="fr-FR" sz="1800" dirty="0"/>
              <a:t>la cotation n’est pas publique, le Code monétaire et financier définit strictement les destinataires potentiels de la cotation (Institutions financières essentiellement) ;</a:t>
            </a:r>
          </a:p>
          <a:p>
            <a:pPr lvl="1" algn="just"/>
            <a:r>
              <a:rPr lang="fr-FR" sz="1800" dirty="0"/>
              <a:t>la Banque de France ne perçoit aucune rémunération des entreprises analysées en contrepartie de la cote qu’elle leur attribue. La prestation de cotation est facturée aux seules institutions financières qui l’utilisent.</a:t>
            </a:r>
          </a:p>
        </p:txBody>
      </p:sp>
    </p:spTree>
    <p:extLst>
      <p:ext uri="{BB962C8B-B14F-4D97-AF65-F5344CB8AC3E}">
        <p14:creationId xmlns:p14="http://schemas.microsoft.com/office/powerpoint/2010/main" val="510229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27</a:t>
            </a:fld>
            <a:endParaRPr lang="fr-FR" dirty="0"/>
          </a:p>
        </p:txBody>
      </p:sp>
      <p:sp>
        <p:nvSpPr>
          <p:cNvPr id="5" name="Content Placeholder 4"/>
          <p:cNvSpPr>
            <a:spLocks noGrp="1"/>
          </p:cNvSpPr>
          <p:nvPr>
            <p:ph idx="1"/>
          </p:nvPr>
        </p:nvSpPr>
        <p:spPr/>
        <p:txBody>
          <a:bodyPr>
            <a:normAutofit/>
          </a:bodyPr>
          <a:lstStyle/>
          <a:p>
            <a:pPr algn="just"/>
            <a:r>
              <a:rPr lang="fr-FR" sz="2000" dirty="0"/>
              <a:t>La </a:t>
            </a:r>
            <a:r>
              <a:rPr lang="fr-FR" sz="2000" b="1" dirty="0"/>
              <a:t>cotation </a:t>
            </a:r>
            <a:r>
              <a:rPr lang="fr-FR" sz="2000" dirty="0"/>
              <a:t>de la Banque de France est une appréciation sur la capacité d’une entreprise à honorer ses engagements financiers à un horizon de un à trois ans.</a:t>
            </a:r>
          </a:p>
          <a:p>
            <a:pPr algn="just"/>
            <a:r>
              <a:rPr lang="fr-FR" sz="2000" dirty="0"/>
              <a:t>La cotation est attribuée « à dire d’expert » à plus de 260 000 entreprises (dont près de 5000 groupes étudiés sur la base de leurs comptes consolidés).</a:t>
            </a:r>
          </a:p>
          <a:p>
            <a:pPr algn="just"/>
            <a:r>
              <a:rPr lang="fr-FR" sz="2000" dirty="0"/>
              <a:t>Cette cotation permet :</a:t>
            </a:r>
          </a:p>
          <a:p>
            <a:pPr lvl="1" algn="just"/>
            <a:r>
              <a:rPr lang="fr-FR" sz="1800" dirty="0"/>
              <a:t>une </a:t>
            </a:r>
            <a:r>
              <a:rPr lang="fr-FR" sz="1800" b="1" dirty="0"/>
              <a:t>évaluation du risque de crédit d’une entreprise</a:t>
            </a:r>
            <a:r>
              <a:rPr lang="fr-FR" sz="1800" dirty="0"/>
              <a:t> utilisée pour la politique monétaire et la réglementation prudentielle ;</a:t>
            </a:r>
          </a:p>
          <a:p>
            <a:pPr lvl="1" algn="just"/>
            <a:r>
              <a:rPr lang="fr-FR" sz="1800" dirty="0"/>
              <a:t>de faciliter le </a:t>
            </a:r>
            <a:r>
              <a:rPr lang="fr-FR" sz="1800" b="1" dirty="0"/>
              <a:t>dialogue prêteur entreprise</a:t>
            </a:r>
            <a:r>
              <a:rPr lang="fr-FR" sz="1800" dirty="0"/>
              <a:t> en mettant à disposition une référence commune et reconnue.</a:t>
            </a:r>
          </a:p>
        </p:txBody>
      </p:sp>
    </p:spTree>
    <p:extLst>
      <p:ext uri="{BB962C8B-B14F-4D97-AF65-F5344CB8AC3E}">
        <p14:creationId xmlns:p14="http://schemas.microsoft.com/office/powerpoint/2010/main" val="1375451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28</a:t>
            </a:fld>
            <a:endParaRPr lang="fr-FR" dirty="0"/>
          </a:p>
        </p:txBody>
      </p:sp>
      <p:sp>
        <p:nvSpPr>
          <p:cNvPr id="5" name="Content Placeholder 4"/>
          <p:cNvSpPr>
            <a:spLocks noGrp="1"/>
          </p:cNvSpPr>
          <p:nvPr>
            <p:ph idx="1"/>
          </p:nvPr>
        </p:nvSpPr>
        <p:spPr/>
        <p:txBody>
          <a:bodyPr>
            <a:normAutofit/>
          </a:bodyPr>
          <a:lstStyle/>
          <a:p>
            <a:pPr marL="0" indent="0" algn="ctr">
              <a:buNone/>
            </a:pPr>
            <a:r>
              <a:rPr lang="fr-FR" sz="2000" b="1" dirty="0"/>
              <a:t>Que signifie « à dire d’expert » ?</a:t>
            </a:r>
          </a:p>
          <a:p>
            <a:pPr marL="0" indent="0" algn="just">
              <a:buNone/>
            </a:pPr>
            <a:endParaRPr lang="fr-FR" sz="1000" dirty="0"/>
          </a:p>
          <a:p>
            <a:pPr algn="just"/>
            <a:r>
              <a:rPr lang="fr-FR" sz="2000" dirty="0"/>
              <a:t>C’est-à-dire à partir de l’analyse de la situation d’une entreprise par un analyste en application d’un ensemble de règles méthodologiques, communes à l’ensemble du réseau de la Banque de France.</a:t>
            </a:r>
          </a:p>
          <a:p>
            <a:pPr algn="just"/>
            <a:r>
              <a:rPr lang="fr-FR" sz="2000" dirty="0"/>
              <a:t>Ce mode d’attribution exclut le recours à des procédés de cotation totalement automatisés et/ou fondés exclusivement sur des données financières.</a:t>
            </a:r>
          </a:p>
          <a:p>
            <a:pPr algn="just"/>
            <a:r>
              <a:rPr lang="fr-FR" sz="2000" dirty="0"/>
              <a:t>Dans de nombreux cas, un entretien peut intervenir à l’initiative de la Banque de France, soit avant d’attribuer la cotation</a:t>
            </a:r>
            <a:r>
              <a:rPr lang="fr-FR" sz="2000" b="1" dirty="0"/>
              <a:t> </a:t>
            </a:r>
            <a:r>
              <a:rPr lang="fr-FR" sz="2000" dirty="0"/>
              <a:t>pour recueillir des éléments d’explication sur l’évolution de la situation financière</a:t>
            </a:r>
          </a:p>
        </p:txBody>
      </p:sp>
    </p:spTree>
    <p:extLst>
      <p:ext uri="{BB962C8B-B14F-4D97-AF65-F5344CB8AC3E}">
        <p14:creationId xmlns:p14="http://schemas.microsoft.com/office/powerpoint/2010/main" val="133029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29</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90650" y="1439863"/>
            <a:ext cx="5584925" cy="4525962"/>
          </a:xfrm>
        </p:spPr>
      </p:pic>
    </p:spTree>
    <p:extLst>
      <p:ext uri="{BB962C8B-B14F-4D97-AF65-F5344CB8AC3E}">
        <p14:creationId xmlns:p14="http://schemas.microsoft.com/office/powerpoint/2010/main" val="1482628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30</a:t>
            </a:fld>
            <a:endParaRPr lang="fr-FR"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78547" y="1439863"/>
            <a:ext cx="6809131" cy="4525962"/>
          </a:xfrm>
        </p:spPr>
      </p:pic>
    </p:spTree>
    <p:extLst>
      <p:ext uri="{BB962C8B-B14F-4D97-AF65-F5344CB8AC3E}">
        <p14:creationId xmlns:p14="http://schemas.microsoft.com/office/powerpoint/2010/main" val="334033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31</a:t>
            </a:fld>
            <a:endParaRPr lang="fr-FR" dirty="0"/>
          </a:p>
        </p:txBody>
      </p:sp>
      <p:sp>
        <p:nvSpPr>
          <p:cNvPr id="5" name="Content Placeholder 4"/>
          <p:cNvSpPr>
            <a:spLocks noGrp="1"/>
          </p:cNvSpPr>
          <p:nvPr>
            <p:ph idx="1"/>
          </p:nvPr>
        </p:nvSpPr>
        <p:spPr/>
        <p:txBody>
          <a:bodyPr>
            <a:normAutofit/>
          </a:bodyPr>
          <a:lstStyle/>
          <a:p>
            <a:pPr marL="0" indent="0" algn="ctr">
              <a:buNone/>
            </a:pPr>
            <a:r>
              <a:rPr lang="fr-FR" sz="2000" b="1" dirty="0"/>
              <a:t>La cotation Banque de France repose sur des fondements juridiques</a:t>
            </a:r>
          </a:p>
          <a:p>
            <a:pPr marL="0" indent="0" algn="just">
              <a:buNone/>
            </a:pPr>
            <a:endParaRPr lang="fr-FR" sz="1000" dirty="0"/>
          </a:p>
          <a:p>
            <a:pPr algn="just"/>
            <a:r>
              <a:rPr lang="fr-FR" sz="2000" dirty="0"/>
              <a:t>d’ordre national issus de l’article L.141-6 du code monétaire et financier ;</a:t>
            </a:r>
          </a:p>
          <a:p>
            <a:pPr algn="just"/>
            <a:r>
              <a:rPr lang="fr-FR" sz="2000" dirty="0"/>
              <a:t>d’ordre international issus :</a:t>
            </a:r>
          </a:p>
          <a:p>
            <a:pPr lvl="1" algn="just"/>
            <a:r>
              <a:rPr lang="fr-FR" sz="1800" dirty="0"/>
              <a:t>de la reconnaissance de la Banque de France en tant qu’OEEC (Organisme Externe d’Évaluation du Crédit),</a:t>
            </a:r>
          </a:p>
          <a:p>
            <a:pPr lvl="1" algn="just"/>
            <a:r>
              <a:rPr lang="fr-FR" sz="1800" dirty="0"/>
              <a:t>du statut « d'ICAS » (In-house </a:t>
            </a:r>
            <a:r>
              <a:rPr lang="fr-FR" sz="1800" dirty="0" err="1"/>
              <a:t>Credit</a:t>
            </a:r>
            <a:r>
              <a:rPr lang="fr-FR" sz="1800" dirty="0"/>
              <a:t> </a:t>
            </a:r>
            <a:r>
              <a:rPr lang="fr-FR" sz="1800" dirty="0" err="1"/>
              <a:t>Assessment</a:t>
            </a:r>
            <a:r>
              <a:rPr lang="fr-FR" sz="1800" dirty="0"/>
              <a:t> System) qui atteste que la Banque Centrale Européenne a validé son système d'évaluation du risque de crédit</a:t>
            </a:r>
          </a:p>
        </p:txBody>
      </p:sp>
    </p:spTree>
    <p:extLst>
      <p:ext uri="{BB962C8B-B14F-4D97-AF65-F5344CB8AC3E}">
        <p14:creationId xmlns:p14="http://schemas.microsoft.com/office/powerpoint/2010/main" val="187442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32</a:t>
            </a:fld>
            <a:endParaRPr lang="fr-FR" dirty="0"/>
          </a:p>
        </p:txBody>
      </p:sp>
      <p:sp>
        <p:nvSpPr>
          <p:cNvPr id="5" name="Content Placeholder 4"/>
          <p:cNvSpPr>
            <a:spLocks noGrp="1"/>
          </p:cNvSpPr>
          <p:nvPr>
            <p:ph idx="1"/>
          </p:nvPr>
        </p:nvSpPr>
        <p:spPr/>
        <p:txBody>
          <a:bodyPr>
            <a:noAutofit/>
          </a:bodyPr>
          <a:lstStyle/>
          <a:p>
            <a:pPr marL="0" indent="0" algn="ctr">
              <a:buNone/>
            </a:pPr>
            <a:r>
              <a:rPr lang="fr-FR" sz="2000" b="1" dirty="0"/>
              <a:t>La Banque de France est un Organisme Externe d’Évaluation du Crédit (OEEC)</a:t>
            </a:r>
          </a:p>
          <a:p>
            <a:pPr marL="0" indent="0" algn="just">
              <a:buNone/>
            </a:pPr>
            <a:endParaRPr lang="fr-FR" sz="1000" dirty="0"/>
          </a:p>
          <a:p>
            <a:pPr algn="just"/>
            <a:r>
              <a:rPr lang="fr-FR" sz="2000" dirty="0"/>
              <a:t>Reconnue par la Commission Bancaire (devenue ACPR) depuis le 19 juin 2007</a:t>
            </a:r>
          </a:p>
          <a:p>
            <a:pPr algn="just"/>
            <a:r>
              <a:rPr lang="fr-FR" sz="2000" dirty="0"/>
              <a:t>Ce qui permet aux établissements de crédit de s’appuyer sur son expertise pour calculer leurs besoins en fonds propres réglementaires.</a:t>
            </a:r>
          </a:p>
          <a:p>
            <a:pPr algn="just"/>
            <a:r>
              <a:rPr lang="fr-FR" sz="2000" dirty="0"/>
              <a:t>Ce qui impose de respecter des critères de performance, sous la forme d’une vérification annuelle des taux de défauts cibles et les critères suivants :</a:t>
            </a:r>
          </a:p>
          <a:p>
            <a:pPr lvl="1" algn="just"/>
            <a:r>
              <a:rPr lang="fr-FR" sz="1800" dirty="0"/>
              <a:t>l’objectivité de la méthode de notation et des résultats</a:t>
            </a:r>
          </a:p>
          <a:p>
            <a:pPr lvl="1" algn="just"/>
            <a:r>
              <a:rPr lang="fr-FR" sz="1800" dirty="0"/>
              <a:t>l’indépendance du processus de production de la notation</a:t>
            </a:r>
          </a:p>
          <a:p>
            <a:pPr lvl="1" algn="just"/>
            <a:r>
              <a:rPr lang="fr-FR" sz="1800" dirty="0"/>
              <a:t>l’acceptation par le marché, c’est-à-dire que les évaluations de crédit d’un OEEC sont perçues comme crédibles et fiables par leurs utilisateurs.</a:t>
            </a:r>
            <a:r>
              <a:rPr lang="fr-FR" sz="2000" dirty="0"/>
              <a:t> </a:t>
            </a:r>
          </a:p>
        </p:txBody>
      </p:sp>
    </p:spTree>
    <p:extLst>
      <p:ext uri="{BB962C8B-B14F-4D97-AF65-F5344CB8AC3E}">
        <p14:creationId xmlns:p14="http://schemas.microsoft.com/office/powerpoint/2010/main" val="742872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33</a:t>
            </a:fld>
            <a:endParaRPr lang="fr-FR" dirty="0"/>
          </a:p>
        </p:txBody>
      </p:sp>
      <p:sp>
        <p:nvSpPr>
          <p:cNvPr id="5" name="Content Placeholder 4"/>
          <p:cNvSpPr>
            <a:spLocks noGrp="1"/>
          </p:cNvSpPr>
          <p:nvPr>
            <p:ph idx="1"/>
          </p:nvPr>
        </p:nvSpPr>
        <p:spPr/>
        <p:txBody>
          <a:bodyPr>
            <a:normAutofit/>
          </a:bodyPr>
          <a:lstStyle/>
          <a:p>
            <a:pPr marL="0" indent="0" algn="ctr">
              <a:buNone/>
            </a:pPr>
            <a:r>
              <a:rPr lang="fr-FR" sz="2000" b="1" dirty="0"/>
              <a:t>La Banque de France est reconnue In-house </a:t>
            </a:r>
            <a:r>
              <a:rPr lang="fr-FR" sz="2000" b="1" dirty="0" err="1"/>
              <a:t>Credit</a:t>
            </a:r>
            <a:r>
              <a:rPr lang="fr-FR" sz="2000" b="1" dirty="0"/>
              <a:t> </a:t>
            </a:r>
            <a:r>
              <a:rPr lang="fr-FR" sz="2000" b="1" dirty="0" err="1"/>
              <a:t>Assessment</a:t>
            </a:r>
            <a:r>
              <a:rPr lang="fr-FR" sz="2000" b="1" dirty="0"/>
              <a:t> System (ICAS)</a:t>
            </a:r>
          </a:p>
          <a:p>
            <a:pPr marL="0" indent="0" algn="just">
              <a:buNone/>
            </a:pPr>
            <a:endParaRPr lang="fr-FR" sz="1000" dirty="0"/>
          </a:p>
          <a:p>
            <a:pPr algn="just"/>
            <a:r>
              <a:rPr lang="fr-FR" sz="2000" dirty="0"/>
              <a:t>La cotation des entreprises de la Banque de France est utilisée pour évaluer la qualité de la signature des créances apportées en garantie dans les opérations de refinancement monétaire et pour le refinancement des prêts bancaires dans le cadre de l’ECAF (</a:t>
            </a:r>
            <a:r>
              <a:rPr lang="fr-FR" sz="2000" dirty="0" err="1"/>
              <a:t>Eurosystem</a:t>
            </a:r>
            <a:r>
              <a:rPr lang="fr-FR" sz="2000" dirty="0"/>
              <a:t> </a:t>
            </a:r>
            <a:r>
              <a:rPr lang="fr-FR" sz="2000" dirty="0" err="1"/>
              <a:t>Credit</a:t>
            </a:r>
            <a:r>
              <a:rPr lang="fr-FR" sz="2000" dirty="0"/>
              <a:t> </a:t>
            </a:r>
            <a:r>
              <a:rPr lang="fr-FR" sz="2000" dirty="0" err="1"/>
              <a:t>Assessment</a:t>
            </a:r>
            <a:r>
              <a:rPr lang="fr-FR" sz="2000" dirty="0"/>
              <a:t> Framework).</a:t>
            </a:r>
          </a:p>
          <a:p>
            <a:pPr algn="just"/>
            <a:r>
              <a:rPr lang="fr-FR" sz="2000" dirty="0"/>
              <a:t>Les autres ICAS sont les systèmes d’évaluation des Banques Centrales d’Allemagne, d’Autriche, d’Espagne, de Belgique, d’Italie, du Portugal, de Slovénie.</a:t>
            </a:r>
          </a:p>
        </p:txBody>
      </p:sp>
    </p:spTree>
    <p:extLst>
      <p:ext uri="{BB962C8B-B14F-4D97-AF65-F5344CB8AC3E}">
        <p14:creationId xmlns:p14="http://schemas.microsoft.com/office/powerpoint/2010/main" val="3337704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34</a:t>
            </a:fld>
            <a:endParaRPr lang="fr-FR" dirty="0"/>
          </a:p>
        </p:txBody>
      </p:sp>
      <p:sp>
        <p:nvSpPr>
          <p:cNvPr id="5" name="Content Placeholder 4"/>
          <p:cNvSpPr>
            <a:spLocks noGrp="1"/>
          </p:cNvSpPr>
          <p:nvPr>
            <p:ph idx="1"/>
          </p:nvPr>
        </p:nvSpPr>
        <p:spPr/>
        <p:txBody>
          <a:bodyPr>
            <a:noAutofit/>
          </a:bodyPr>
          <a:lstStyle/>
          <a:p>
            <a:pPr marL="0" indent="0" algn="ctr">
              <a:buNone/>
            </a:pPr>
            <a:r>
              <a:rPr lang="fr-FR" sz="2000" b="1" dirty="0"/>
              <a:t>La cotation prend notamment en compte :</a:t>
            </a:r>
          </a:p>
          <a:p>
            <a:pPr marL="0" indent="0" algn="just">
              <a:buNone/>
            </a:pPr>
            <a:endParaRPr lang="fr-FR" sz="1000" dirty="0"/>
          </a:p>
          <a:p>
            <a:pPr algn="just"/>
            <a:r>
              <a:rPr lang="fr-FR" sz="2000" dirty="0"/>
              <a:t>l’analyse des documents comptables sociaux et consolidés;</a:t>
            </a:r>
          </a:p>
          <a:p>
            <a:pPr algn="just"/>
            <a:r>
              <a:rPr lang="fr-FR" sz="2000" dirty="0"/>
              <a:t>l’examen des engagements financiers et d’éventuels incidents de paiement.</a:t>
            </a:r>
          </a:p>
          <a:p>
            <a:pPr algn="just"/>
            <a:r>
              <a:rPr lang="fr-FR" sz="2000" dirty="0"/>
              <a:t>l’environnement de l’entreprise : secteur d’activité, liens économiques et financiers avec d’autres entités, le cas échéant les événements judiciaires ou autres événements concernant l’entreprise et ses dirigeants, communiqués par les greffes de tribunaux de commerce ou les publications légales.</a:t>
            </a:r>
          </a:p>
          <a:p>
            <a:pPr algn="just"/>
            <a:r>
              <a:rPr lang="fr-FR" sz="2000" dirty="0"/>
              <a:t>Des éléments «qualitatifs», tels que, l’évolution du marché sur lequel elle opère, son positionnement sur ce marché, les relations avec ses clients et fournisseurs, la solidité de l’actionnariat, la stratégie de l’équipe dirigeante, les perspectives et projets à moyen terme, la flexibilité financière de l’entreprise, la transparence de la communication...</a:t>
            </a:r>
          </a:p>
        </p:txBody>
      </p:sp>
    </p:spTree>
    <p:extLst>
      <p:ext uri="{BB962C8B-B14F-4D97-AF65-F5344CB8AC3E}">
        <p14:creationId xmlns:p14="http://schemas.microsoft.com/office/powerpoint/2010/main" val="1156930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a:t>
            </a:r>
            <a:r>
              <a:rPr lang="fr-FR" dirty="0"/>
              <a:t>. Présentation de La cotation banque de France</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35</a:t>
            </a:fld>
            <a:endParaRPr lang="fr-FR"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313" y="1856459"/>
            <a:ext cx="8229600" cy="3692769"/>
          </a:xfrm>
        </p:spPr>
      </p:pic>
    </p:spTree>
    <p:extLst>
      <p:ext uri="{BB962C8B-B14F-4D97-AF65-F5344CB8AC3E}">
        <p14:creationId xmlns:p14="http://schemas.microsoft.com/office/powerpoint/2010/main" val="3723661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3"/>
          </p:nvPr>
        </p:nvSpPr>
        <p:spPr/>
        <p:txBody>
          <a:bodyPr/>
          <a:lstStyle/>
          <a:p>
            <a:endParaRPr lang="fr-FR" dirty="0"/>
          </a:p>
        </p:txBody>
      </p:sp>
      <p:sp>
        <p:nvSpPr>
          <p:cNvPr id="3" name="Espace réservé du numéro de diapositive 2"/>
          <p:cNvSpPr>
            <a:spLocks noGrp="1"/>
          </p:cNvSpPr>
          <p:nvPr>
            <p:ph type="sldNum" sz="quarter" idx="4"/>
          </p:nvPr>
        </p:nvSpPr>
        <p:spPr/>
        <p:txBody>
          <a:bodyPr/>
          <a:lstStyle/>
          <a:p>
            <a:fld id="{A5612AF6-3794-417C-8315-010C3BB3AD18}" type="slidenum">
              <a:rPr lang="fr-FR" smtClean="0"/>
              <a:pPr/>
              <a:t>36</a:t>
            </a:fld>
            <a:endParaRPr lang="fr-FR" dirty="0"/>
          </a:p>
        </p:txBody>
      </p:sp>
      <p:sp>
        <p:nvSpPr>
          <p:cNvPr id="4" name="Espace réservé du texte 3"/>
          <p:cNvSpPr>
            <a:spLocks noGrp="1"/>
          </p:cNvSpPr>
          <p:nvPr>
            <p:ph type="body" sz="quarter" idx="10"/>
          </p:nvPr>
        </p:nvSpPr>
        <p:spPr/>
        <p:txBody>
          <a:bodyPr anchor="ctr"/>
          <a:lstStyle/>
          <a:p>
            <a:r>
              <a:rPr lang="fr-FR" dirty="0">
                <a:solidFill>
                  <a:schemeClr val="accent1">
                    <a:lumMod val="20000"/>
                    <a:lumOff val="80000"/>
                  </a:schemeClr>
                </a:solidFill>
              </a:rPr>
              <a:t>Découvrir la Banque de France</a:t>
            </a:r>
          </a:p>
          <a:p>
            <a:r>
              <a:rPr lang="fr-FR" dirty="0">
                <a:solidFill>
                  <a:schemeClr val="accent1">
                    <a:lumMod val="20000"/>
                    <a:lumOff val="80000"/>
                  </a:schemeClr>
                </a:solidFill>
              </a:rPr>
              <a:t>Présentation de la cotation Banque de France</a:t>
            </a:r>
          </a:p>
          <a:p>
            <a:r>
              <a:rPr lang="fr-FR" dirty="0"/>
              <a:t>L’analyse financière des comptes consolidés</a:t>
            </a:r>
          </a:p>
          <a:p>
            <a:endParaRPr lang="fr-FR" dirty="0"/>
          </a:p>
          <a:p>
            <a:endParaRPr lang="fr-FR" dirty="0"/>
          </a:p>
        </p:txBody>
      </p:sp>
    </p:spTree>
    <p:extLst>
      <p:ext uri="{BB962C8B-B14F-4D97-AF65-F5344CB8AC3E}">
        <p14:creationId xmlns:p14="http://schemas.microsoft.com/office/powerpoint/2010/main" val="1112155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3. L’analyse financière des comptes consolidés</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37</a:t>
            </a:fld>
            <a:endParaRPr lang="fr-FR" dirty="0"/>
          </a:p>
        </p:txBody>
      </p:sp>
      <p:sp>
        <p:nvSpPr>
          <p:cNvPr id="5" name="Content Placeholder 4"/>
          <p:cNvSpPr>
            <a:spLocks noGrp="1"/>
          </p:cNvSpPr>
          <p:nvPr>
            <p:ph idx="1"/>
          </p:nvPr>
        </p:nvSpPr>
        <p:spPr/>
        <p:txBody>
          <a:bodyPr>
            <a:normAutofit/>
          </a:bodyPr>
          <a:lstStyle/>
          <a:p>
            <a:pPr marL="0" indent="0" algn="ctr">
              <a:buNone/>
            </a:pPr>
            <a:r>
              <a:rPr lang="fr-FR" sz="2000" b="1" dirty="0"/>
              <a:t>Préambule</a:t>
            </a:r>
          </a:p>
          <a:p>
            <a:pPr marL="0" indent="0" algn="ctr">
              <a:buNone/>
            </a:pPr>
            <a:endParaRPr lang="fr-FR" sz="1800" b="1" dirty="0"/>
          </a:p>
          <a:p>
            <a:pPr algn="just"/>
            <a:r>
              <a:rPr lang="fr-FR" sz="2000" dirty="0"/>
              <a:t>Du fait des particularités propres aux comptes consolidés, leur analyse est centralisée au sein d’un Pôle Groupes au niveau de chaque succursale régionale.</a:t>
            </a:r>
          </a:p>
          <a:p>
            <a:pPr algn="just"/>
            <a:r>
              <a:rPr lang="fr-FR" sz="2000" dirty="0"/>
              <a:t>La cotation des groupes qui établissent des comptes consolidés est réalisée par des analystes dédiés à cette activité.</a:t>
            </a:r>
          </a:p>
          <a:p>
            <a:pPr algn="just"/>
            <a:r>
              <a:rPr lang="fr-FR" sz="2000" dirty="0"/>
              <a:t>Elle se base sur une méthodologique spécifique qui intègre les modalités de cotation des têtes de groupe et des filiales.</a:t>
            </a:r>
            <a:endParaRPr lang="en-US" sz="2000" dirty="0"/>
          </a:p>
        </p:txBody>
      </p:sp>
    </p:spTree>
    <p:extLst>
      <p:ext uri="{BB962C8B-B14F-4D97-AF65-F5344CB8AC3E}">
        <p14:creationId xmlns:p14="http://schemas.microsoft.com/office/powerpoint/2010/main" val="12078133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3. L’analyse financière des comptes consolidés</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38</a:t>
            </a:fld>
            <a:endParaRPr lang="fr-FR" dirty="0"/>
          </a:p>
        </p:txBody>
      </p:sp>
      <p:sp>
        <p:nvSpPr>
          <p:cNvPr id="5" name="Content Placeholder 4"/>
          <p:cNvSpPr>
            <a:spLocks noGrp="1"/>
          </p:cNvSpPr>
          <p:nvPr>
            <p:ph idx="1"/>
          </p:nvPr>
        </p:nvSpPr>
        <p:spPr/>
        <p:txBody>
          <a:bodyPr>
            <a:noAutofit/>
          </a:bodyPr>
          <a:lstStyle/>
          <a:p>
            <a:pPr marL="0" indent="0" algn="ctr">
              <a:buNone/>
            </a:pPr>
            <a:r>
              <a:rPr lang="fr-FR" sz="2000" b="1" dirty="0"/>
              <a:t>Notion de groupe</a:t>
            </a:r>
          </a:p>
          <a:p>
            <a:pPr marL="0" indent="0" algn="ctr">
              <a:buNone/>
            </a:pPr>
            <a:endParaRPr lang="fr-FR" sz="1000" b="1" dirty="0"/>
          </a:p>
          <a:p>
            <a:pPr algn="just"/>
            <a:r>
              <a:rPr lang="fr-FR" sz="2000" dirty="0"/>
              <a:t>Le groupe est une notion économique : il peut se définir comme un ensemble de sociétés liées par des intérêts communs et une unité de décision.</a:t>
            </a:r>
          </a:p>
          <a:p>
            <a:pPr algn="just"/>
            <a:r>
              <a:rPr lang="fr-FR" sz="2000" dirty="0"/>
              <a:t>Il n’est pas reconnu juridiquement comme une personne morale.</a:t>
            </a:r>
          </a:p>
          <a:p>
            <a:pPr lvl="1" algn="just"/>
            <a:r>
              <a:rPr lang="fr-FR" sz="1800" dirty="0"/>
              <a:t>En droit commercial, il n’y a pas de responsabilité juridique au niveau du groupe : chaque entité est responsable isolément.</a:t>
            </a:r>
          </a:p>
          <a:p>
            <a:pPr lvl="1" algn="just"/>
            <a:r>
              <a:rPr lang="fr-FR" sz="1800" dirty="0"/>
              <a:t>Les engagements bancaires sont pris au niveau des entités et non au niveau du groupe.</a:t>
            </a:r>
          </a:p>
          <a:p>
            <a:pPr algn="just"/>
            <a:r>
              <a:rPr lang="fr-FR" sz="2000" dirty="0"/>
              <a:t>Il n’est pas assujetti à l’impôt.</a:t>
            </a:r>
          </a:p>
          <a:p>
            <a:pPr lvl="1" algn="just"/>
            <a:r>
              <a:rPr lang="fr-FR" sz="1800" dirty="0"/>
              <a:t>Régime « mère-fille »</a:t>
            </a:r>
          </a:p>
          <a:p>
            <a:pPr lvl="1" algn="just"/>
            <a:r>
              <a:rPr lang="fr-FR" sz="1800" dirty="0"/>
              <a:t>Intégration fiscale</a:t>
            </a:r>
            <a:endParaRPr lang="en-US" sz="1800" dirty="0"/>
          </a:p>
        </p:txBody>
      </p:sp>
    </p:spTree>
    <p:extLst>
      <p:ext uri="{BB962C8B-B14F-4D97-AF65-F5344CB8AC3E}">
        <p14:creationId xmlns:p14="http://schemas.microsoft.com/office/powerpoint/2010/main" val="16243987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3. L’analyse financière des comptes consolidés</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39</a:t>
            </a:fld>
            <a:endParaRPr lang="fr-FR" dirty="0"/>
          </a:p>
        </p:txBody>
      </p:sp>
      <p:sp>
        <p:nvSpPr>
          <p:cNvPr id="5" name="Content Placeholder 4"/>
          <p:cNvSpPr>
            <a:spLocks noGrp="1"/>
          </p:cNvSpPr>
          <p:nvPr>
            <p:ph idx="1"/>
          </p:nvPr>
        </p:nvSpPr>
        <p:spPr/>
        <p:txBody>
          <a:bodyPr>
            <a:normAutofit/>
          </a:bodyPr>
          <a:lstStyle/>
          <a:p>
            <a:pPr marL="0" indent="0" algn="ctr">
              <a:buNone/>
            </a:pPr>
            <a:r>
              <a:rPr lang="fr-FR" sz="2000" b="1" dirty="0"/>
              <a:t>Enjeux de l’analyse</a:t>
            </a:r>
          </a:p>
          <a:p>
            <a:pPr marL="0" indent="0" algn="ctr">
              <a:buNone/>
            </a:pPr>
            <a:endParaRPr lang="fr-FR" sz="1000" b="1" dirty="0"/>
          </a:p>
          <a:p>
            <a:pPr algn="just"/>
            <a:r>
              <a:rPr lang="fr-FR" sz="2000" dirty="0"/>
              <a:t>La nécessité de prendre en compte l’environnement proche lors de la cotation d’une entité sociale résulte de la multiplication et de la complexification des montages financiers y compris pour les entités de faible taille afin de répondre à des objectifs fiscaux (LBO, SCI…) et/ou patrimoniaux.</a:t>
            </a:r>
          </a:p>
          <a:p>
            <a:pPr algn="just"/>
            <a:r>
              <a:rPr lang="fr-FR" sz="2000" dirty="0"/>
              <a:t>L’approche groupe est nécessaire pour appréhender :</a:t>
            </a:r>
          </a:p>
          <a:p>
            <a:pPr lvl="1" algn="just"/>
            <a:r>
              <a:rPr lang="fr-FR" sz="1800" dirty="0"/>
              <a:t>La vision globale d’un regroupement d’entités,</a:t>
            </a:r>
          </a:p>
          <a:p>
            <a:pPr lvl="1" algn="just"/>
            <a:r>
              <a:rPr lang="fr-FR" sz="1800" dirty="0"/>
              <a:t>Les opérations intragroupe,</a:t>
            </a:r>
          </a:p>
          <a:p>
            <a:pPr lvl="1" algn="just"/>
            <a:r>
              <a:rPr lang="fr-FR" sz="1800" dirty="0"/>
              <a:t>L’intérêt commun.</a:t>
            </a:r>
            <a:endParaRPr lang="en-US" sz="1800" dirty="0"/>
          </a:p>
        </p:txBody>
      </p:sp>
    </p:spTree>
    <p:extLst>
      <p:ext uri="{BB962C8B-B14F-4D97-AF65-F5344CB8AC3E}">
        <p14:creationId xmlns:p14="http://schemas.microsoft.com/office/powerpoint/2010/main" val="908022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3. L’analyse financière des comptes consolidés</a:t>
            </a:r>
            <a:endParaRPr lang="en-US" dirty="0"/>
          </a:p>
        </p:txBody>
      </p:sp>
      <p:sp>
        <p:nvSpPr>
          <p:cNvPr id="3" name="Footer Placeholder 2"/>
          <p:cNvSpPr>
            <a:spLocks noGrp="1"/>
          </p:cNvSpPr>
          <p:nvPr>
            <p:ph type="ftr" sz="quarter" idx="3"/>
          </p:nvPr>
        </p:nvSpPr>
        <p:spPr/>
        <p:txBody>
          <a:bodyPr/>
          <a:lstStyle/>
          <a:p>
            <a:endParaRPr lang="fr-FR" dirty="0"/>
          </a:p>
        </p:txBody>
      </p:sp>
      <p:sp>
        <p:nvSpPr>
          <p:cNvPr id="4" name="Slide Number Placeholder 3"/>
          <p:cNvSpPr>
            <a:spLocks noGrp="1"/>
          </p:cNvSpPr>
          <p:nvPr>
            <p:ph type="sldNum" sz="quarter" idx="4"/>
          </p:nvPr>
        </p:nvSpPr>
        <p:spPr/>
        <p:txBody>
          <a:bodyPr/>
          <a:lstStyle/>
          <a:p>
            <a:fld id="{A5612AF6-3794-417C-8315-010C3BB3AD18}" type="slidenum">
              <a:rPr lang="fr-FR" smtClean="0"/>
              <a:pPr/>
              <a:t>40</a:t>
            </a:fld>
            <a:endParaRPr lang="fr-FR" dirty="0"/>
          </a:p>
        </p:txBody>
      </p:sp>
      <p:sp>
        <p:nvSpPr>
          <p:cNvPr id="5" name="Content Placeholder 4"/>
          <p:cNvSpPr>
            <a:spLocks noGrp="1"/>
          </p:cNvSpPr>
          <p:nvPr>
            <p:ph idx="1"/>
          </p:nvPr>
        </p:nvSpPr>
        <p:spPr/>
        <p:txBody>
          <a:bodyPr>
            <a:normAutofit/>
          </a:bodyPr>
          <a:lstStyle/>
          <a:p>
            <a:pPr marL="0" indent="0" algn="ctr">
              <a:buNone/>
            </a:pPr>
            <a:r>
              <a:rPr lang="fr-FR" sz="2000" b="1" dirty="0"/>
              <a:t>Critères de consolidation obligatoire</a:t>
            </a:r>
          </a:p>
          <a:p>
            <a:pPr marL="0" indent="0" algn="ctr">
              <a:buNone/>
            </a:pPr>
            <a:endParaRPr lang="fr-FR" sz="1000" b="1" dirty="0"/>
          </a:p>
          <a:p>
            <a:pPr algn="just"/>
            <a:r>
              <a:rPr lang="fr-FR" sz="2000" dirty="0"/>
              <a:t>Émission de titres sur les marchés financiers (appel public à l’épargne).</a:t>
            </a:r>
          </a:p>
          <a:p>
            <a:pPr algn="just"/>
            <a:r>
              <a:rPr lang="fr-FR" sz="2000" dirty="0"/>
              <a:t>Dépassement de 2 des 3 seuils suivants (apprécié sur deux exercices consécutifs) :</a:t>
            </a:r>
          </a:p>
          <a:p>
            <a:pPr lvl="1" algn="just"/>
            <a:r>
              <a:rPr lang="fr-FR" sz="1800" dirty="0"/>
              <a:t>Total bilan		&gt; 24 M€</a:t>
            </a:r>
          </a:p>
          <a:p>
            <a:pPr lvl="1" algn="just"/>
            <a:r>
              <a:rPr lang="fr-FR" sz="1800" dirty="0"/>
              <a:t>Chiffre d’affaires	&gt; 48 M€</a:t>
            </a:r>
          </a:p>
          <a:p>
            <a:pPr lvl="1" algn="just"/>
            <a:r>
              <a:rPr lang="fr-FR" sz="1800" dirty="0"/>
              <a:t>Effectifs		&gt; 250 personnes</a:t>
            </a:r>
          </a:p>
        </p:txBody>
      </p:sp>
    </p:spTree>
    <p:extLst>
      <p:ext uri="{BB962C8B-B14F-4D97-AF65-F5344CB8AC3E}">
        <p14:creationId xmlns:p14="http://schemas.microsoft.com/office/powerpoint/2010/main" val="10462752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23775A-E460-364F-92C1-4A1F24B86E28}"/>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FA53651A-4A01-844E-B8B3-F9BDCBC72AE9}"/>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2C8D577-5B32-554D-83E7-92FC569ABD59}"/>
              </a:ext>
            </a:extLst>
          </p:cNvPr>
          <p:cNvSpPr>
            <a:spLocks noGrp="1"/>
          </p:cNvSpPr>
          <p:nvPr>
            <p:ph type="sldNum" sz="quarter" idx="4"/>
          </p:nvPr>
        </p:nvSpPr>
        <p:spPr/>
        <p:txBody>
          <a:bodyPr/>
          <a:lstStyle/>
          <a:p>
            <a:fld id="{A5612AF6-3794-417C-8315-010C3BB3AD18}" type="slidenum">
              <a:rPr lang="fr-FR" smtClean="0"/>
              <a:pPr/>
              <a:t>41</a:t>
            </a:fld>
            <a:endParaRPr lang="fr-FR" dirty="0"/>
          </a:p>
        </p:txBody>
      </p:sp>
      <p:sp>
        <p:nvSpPr>
          <p:cNvPr id="5" name="Espace réservé du contenu 4">
            <a:extLst>
              <a:ext uri="{FF2B5EF4-FFF2-40B4-BE49-F238E27FC236}">
                <a16:creationId xmlns:a16="http://schemas.microsoft.com/office/drawing/2014/main" id="{78DEBB07-3B33-DC48-9B40-24E5225016A3}"/>
              </a:ext>
            </a:extLst>
          </p:cNvPr>
          <p:cNvSpPr>
            <a:spLocks noGrp="1"/>
          </p:cNvSpPr>
          <p:nvPr>
            <p:ph idx="1"/>
          </p:nvPr>
        </p:nvSpPr>
        <p:spPr/>
        <p:txBody>
          <a:bodyPr>
            <a:normAutofit/>
          </a:bodyPr>
          <a:lstStyle/>
          <a:p>
            <a:pPr marL="0" indent="0" algn="ctr" fontAlgn="t">
              <a:buNone/>
            </a:pPr>
            <a:r>
              <a:rPr lang="fr-FR" sz="2000" b="1" dirty="0"/>
              <a:t>Particularités des comptes consolidés</a:t>
            </a:r>
          </a:p>
          <a:p>
            <a:pPr marL="0" indent="0" algn="ctr" fontAlgn="t">
              <a:buNone/>
            </a:pPr>
            <a:endParaRPr lang="fr-FR" sz="1000" b="1" dirty="0"/>
          </a:p>
          <a:p>
            <a:pPr algn="just" fontAlgn="t"/>
            <a:r>
              <a:rPr lang="fr-FR" sz="2000" dirty="0"/>
              <a:t>Absence de document standard : présentation et nature d’informations très diverses</a:t>
            </a:r>
          </a:p>
          <a:p>
            <a:pPr algn="just" fontAlgn="t"/>
            <a:r>
              <a:rPr lang="fr-FR" sz="2000" dirty="0"/>
              <a:t>Coexistence de 2 référentiels de normes : présentation et nature d’informations très diverses</a:t>
            </a:r>
          </a:p>
          <a:p>
            <a:pPr algn="just" fontAlgn="t"/>
            <a:r>
              <a:rPr lang="fr-FR" sz="2000" dirty="0"/>
              <a:t>Marges de manœuvre : options permises par les règlements comptables</a:t>
            </a:r>
          </a:p>
          <a:p>
            <a:pPr algn="just" fontAlgn="t"/>
            <a:r>
              <a:rPr lang="fr-FR" sz="2000" dirty="0"/>
              <a:t>Déperdition d’informations : présentation très synthétique d’activités souvent très diverses</a:t>
            </a:r>
          </a:p>
          <a:p>
            <a:pPr algn="just" fontAlgn="t"/>
            <a:r>
              <a:rPr lang="fr-FR" sz="2000" dirty="0"/>
              <a:t>Comparaison inter-exercices difficile : Variations de périmètre, documents pro-forma, tableau de trésorerie</a:t>
            </a:r>
          </a:p>
        </p:txBody>
      </p:sp>
    </p:spTree>
    <p:extLst>
      <p:ext uri="{BB962C8B-B14F-4D97-AF65-F5344CB8AC3E}">
        <p14:creationId xmlns:p14="http://schemas.microsoft.com/office/powerpoint/2010/main" val="3406304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91E022-9025-1947-A3BE-82B806D89A07}"/>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0217959E-AE64-F34C-9276-634F21965220}"/>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EC3CF4B-9801-DD4B-A51C-27B47878A975}"/>
              </a:ext>
            </a:extLst>
          </p:cNvPr>
          <p:cNvSpPr>
            <a:spLocks noGrp="1"/>
          </p:cNvSpPr>
          <p:nvPr>
            <p:ph type="sldNum" sz="quarter" idx="4"/>
          </p:nvPr>
        </p:nvSpPr>
        <p:spPr/>
        <p:txBody>
          <a:bodyPr/>
          <a:lstStyle/>
          <a:p>
            <a:fld id="{A5612AF6-3794-417C-8315-010C3BB3AD18}" type="slidenum">
              <a:rPr lang="fr-FR" smtClean="0"/>
              <a:pPr/>
              <a:t>42</a:t>
            </a:fld>
            <a:endParaRPr lang="fr-FR" dirty="0"/>
          </a:p>
        </p:txBody>
      </p:sp>
      <p:sp>
        <p:nvSpPr>
          <p:cNvPr id="5" name="Espace réservé du contenu 4">
            <a:extLst>
              <a:ext uri="{FF2B5EF4-FFF2-40B4-BE49-F238E27FC236}">
                <a16:creationId xmlns:a16="http://schemas.microsoft.com/office/drawing/2014/main" id="{D44D69BE-FB17-934B-8374-3B4778AAF007}"/>
              </a:ext>
            </a:extLst>
          </p:cNvPr>
          <p:cNvSpPr>
            <a:spLocks noGrp="1"/>
          </p:cNvSpPr>
          <p:nvPr>
            <p:ph idx="1"/>
          </p:nvPr>
        </p:nvSpPr>
        <p:spPr/>
        <p:txBody>
          <a:bodyPr>
            <a:noAutofit/>
          </a:bodyPr>
          <a:lstStyle/>
          <a:p>
            <a:pPr marL="0" indent="0" algn="ctr">
              <a:buNone/>
            </a:pPr>
            <a:r>
              <a:rPr lang="fr-FR" sz="2000" b="1" dirty="0"/>
              <a:t>La documentation financière</a:t>
            </a:r>
          </a:p>
          <a:p>
            <a:pPr marL="0" indent="0" algn="ctr">
              <a:buNone/>
            </a:pPr>
            <a:endParaRPr lang="fr-FR" sz="1000" dirty="0"/>
          </a:p>
          <a:p>
            <a:pPr algn="just"/>
            <a:r>
              <a:rPr lang="fr-FR" sz="2000" dirty="0"/>
              <a:t>Les informations réglementaires</a:t>
            </a:r>
          </a:p>
          <a:p>
            <a:pPr lvl="1" algn="just"/>
            <a:r>
              <a:rPr lang="fr-FR" sz="1800" dirty="0"/>
              <a:t>La réglementation comptable : normes françaises (CRC 99-02) et normes internationales (IFRS)</a:t>
            </a:r>
          </a:p>
          <a:p>
            <a:pPr lvl="1" algn="just"/>
            <a:r>
              <a:rPr lang="fr-FR" sz="1800" dirty="0"/>
              <a:t>La réglementation Banque de France : référentiel de cotation, notes et circulaires internes</a:t>
            </a:r>
          </a:p>
          <a:p>
            <a:pPr algn="just"/>
            <a:r>
              <a:rPr lang="fr-FR" sz="2000" dirty="0"/>
              <a:t>Les informations collectées auprès du groupe</a:t>
            </a:r>
          </a:p>
          <a:p>
            <a:pPr lvl="1" algn="just"/>
            <a:r>
              <a:rPr lang="fr-FR" sz="1800" dirty="0"/>
              <a:t>Les comptes consolidés :</a:t>
            </a:r>
          </a:p>
          <a:p>
            <a:pPr lvl="2" algn="just"/>
            <a:r>
              <a:rPr lang="fr-FR" sz="1800" dirty="0">
                <a:solidFill>
                  <a:srgbClr val="205AA7"/>
                </a:solidFill>
              </a:rPr>
              <a:t>états financiers : bilan, compte de résultat et tableau de 	flux,</a:t>
            </a:r>
          </a:p>
          <a:p>
            <a:pPr lvl="2" algn="just"/>
            <a:r>
              <a:rPr lang="fr-FR" sz="1800" dirty="0">
                <a:solidFill>
                  <a:srgbClr val="205AA7"/>
                </a:solidFill>
              </a:rPr>
              <a:t>annexes : périmètre de consolidation, méthodes comptables,</a:t>
            </a:r>
          </a:p>
          <a:p>
            <a:pPr lvl="2" algn="just"/>
            <a:r>
              <a:rPr lang="fr-FR" sz="1800" dirty="0">
                <a:solidFill>
                  <a:srgbClr val="205AA7"/>
                </a:solidFill>
              </a:rPr>
              <a:t>rapport des commissaires aux comptes</a:t>
            </a:r>
            <a:r>
              <a:rPr lang="fr-FR" sz="1800" dirty="0"/>
              <a:t>.</a:t>
            </a:r>
          </a:p>
          <a:p>
            <a:pPr lvl="1" algn="just"/>
            <a:r>
              <a:rPr lang="fr-FR" sz="1800" dirty="0"/>
              <a:t>Le rapport annuel de gestion</a:t>
            </a:r>
          </a:p>
          <a:p>
            <a:pPr lvl="1" algn="just"/>
            <a:r>
              <a:rPr lang="fr-FR" sz="1800" dirty="0"/>
              <a:t>L’organigramme</a:t>
            </a:r>
            <a:endParaRPr lang="fr-FR" sz="2000" dirty="0"/>
          </a:p>
        </p:txBody>
      </p:sp>
    </p:spTree>
    <p:extLst>
      <p:ext uri="{BB962C8B-B14F-4D97-AF65-F5344CB8AC3E}">
        <p14:creationId xmlns:p14="http://schemas.microsoft.com/office/powerpoint/2010/main" val="2140526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39C570-3A68-7F49-B968-63C051CD30A1}"/>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D9F3A2F1-2A30-0642-94CE-02134C13826D}"/>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D9B6581-29E4-9D4C-AE61-C4355660CB6A}"/>
              </a:ext>
            </a:extLst>
          </p:cNvPr>
          <p:cNvSpPr>
            <a:spLocks noGrp="1"/>
          </p:cNvSpPr>
          <p:nvPr>
            <p:ph type="sldNum" sz="quarter" idx="4"/>
          </p:nvPr>
        </p:nvSpPr>
        <p:spPr/>
        <p:txBody>
          <a:bodyPr/>
          <a:lstStyle/>
          <a:p>
            <a:fld id="{A5612AF6-3794-417C-8315-010C3BB3AD18}" type="slidenum">
              <a:rPr lang="fr-FR" smtClean="0"/>
              <a:pPr/>
              <a:t>43</a:t>
            </a:fld>
            <a:endParaRPr lang="fr-FR" dirty="0"/>
          </a:p>
        </p:txBody>
      </p:sp>
      <p:sp>
        <p:nvSpPr>
          <p:cNvPr id="5" name="Espace réservé du contenu 4">
            <a:extLst>
              <a:ext uri="{FF2B5EF4-FFF2-40B4-BE49-F238E27FC236}">
                <a16:creationId xmlns:a16="http://schemas.microsoft.com/office/drawing/2014/main" id="{21D54387-08E1-1841-A188-D12E8C17CF81}"/>
              </a:ext>
            </a:extLst>
          </p:cNvPr>
          <p:cNvSpPr>
            <a:spLocks noGrp="1"/>
          </p:cNvSpPr>
          <p:nvPr>
            <p:ph idx="1"/>
          </p:nvPr>
        </p:nvSpPr>
        <p:spPr/>
        <p:txBody>
          <a:bodyPr>
            <a:normAutofit/>
          </a:bodyPr>
          <a:lstStyle/>
          <a:p>
            <a:pPr marL="114300" indent="0" algn="ctr">
              <a:buNone/>
            </a:pPr>
            <a:r>
              <a:rPr lang="fr-FR" sz="2000" b="1" dirty="0"/>
              <a:t>L’entretien de cotation permet :</a:t>
            </a:r>
          </a:p>
          <a:p>
            <a:pPr marL="114300" indent="0" algn="just">
              <a:buNone/>
            </a:pPr>
            <a:endParaRPr lang="fr-FR" sz="1000" dirty="0"/>
          </a:p>
          <a:p>
            <a:pPr marL="571500" indent="-457200" algn="just"/>
            <a:r>
              <a:rPr lang="fr-FR" sz="2000" dirty="0"/>
              <a:t>D’appréhender les points (peu ou pas détaillés dans les comptes et le rapport annuel) nécessaires à l’analyse : stratégie, environnement, organisation, gestion des risques financiers, analyse prospective et faits marquants post-clôture…</a:t>
            </a:r>
          </a:p>
          <a:p>
            <a:pPr marL="571500" indent="-457200" algn="just"/>
            <a:r>
              <a:rPr lang="fr-FR" sz="2000" dirty="0"/>
              <a:t>De lever les doutes sur les points sensibles : risque de liquidité, soutien aux filiales, évolution chiffrée marquante, perspectives, covenants…</a:t>
            </a:r>
          </a:p>
          <a:p>
            <a:pPr marL="571500" indent="-457200" algn="just"/>
            <a:r>
              <a:rPr lang="fr-FR" sz="2000" dirty="0"/>
              <a:t>De favoriser la compréhension générale du groupe, une meilleure transparence des informations et la fraîcheur de la cotation.</a:t>
            </a:r>
          </a:p>
          <a:p>
            <a:endParaRPr lang="fr-FR" sz="2000" dirty="0"/>
          </a:p>
        </p:txBody>
      </p:sp>
    </p:spTree>
    <p:extLst>
      <p:ext uri="{BB962C8B-B14F-4D97-AF65-F5344CB8AC3E}">
        <p14:creationId xmlns:p14="http://schemas.microsoft.com/office/powerpoint/2010/main" val="3877202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C8C62-8388-B443-A572-25F697F30A02}"/>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664151B2-02D2-004B-B1F3-14343492329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1BDAF2-0BEE-A84C-8E66-E9F9CAD228D4}"/>
              </a:ext>
            </a:extLst>
          </p:cNvPr>
          <p:cNvSpPr>
            <a:spLocks noGrp="1"/>
          </p:cNvSpPr>
          <p:nvPr>
            <p:ph type="sldNum" sz="quarter" idx="4"/>
          </p:nvPr>
        </p:nvSpPr>
        <p:spPr/>
        <p:txBody>
          <a:bodyPr/>
          <a:lstStyle/>
          <a:p>
            <a:fld id="{A5612AF6-3794-417C-8315-010C3BB3AD18}" type="slidenum">
              <a:rPr lang="fr-FR" smtClean="0"/>
              <a:pPr/>
              <a:t>44</a:t>
            </a:fld>
            <a:endParaRPr lang="fr-FR" dirty="0"/>
          </a:p>
        </p:txBody>
      </p:sp>
      <p:sp>
        <p:nvSpPr>
          <p:cNvPr id="5" name="Espace réservé du contenu 4">
            <a:extLst>
              <a:ext uri="{FF2B5EF4-FFF2-40B4-BE49-F238E27FC236}">
                <a16:creationId xmlns:a16="http://schemas.microsoft.com/office/drawing/2014/main" id="{688EDAC1-229D-7542-935F-3B4A75038C1D}"/>
              </a:ext>
            </a:extLst>
          </p:cNvPr>
          <p:cNvSpPr>
            <a:spLocks noGrp="1"/>
          </p:cNvSpPr>
          <p:nvPr>
            <p:ph idx="1"/>
          </p:nvPr>
        </p:nvSpPr>
        <p:spPr/>
        <p:txBody>
          <a:bodyPr>
            <a:normAutofit lnSpcReduction="10000"/>
          </a:bodyPr>
          <a:lstStyle/>
          <a:p>
            <a:pPr marL="114300" indent="0" algn="ctr">
              <a:buNone/>
            </a:pPr>
            <a:r>
              <a:rPr lang="fr-FR" sz="2400" b="1" dirty="0"/>
              <a:t>Les principales étapes de l’analyse :</a:t>
            </a:r>
          </a:p>
          <a:p>
            <a:pPr marL="114300" indent="0" algn="just">
              <a:buNone/>
            </a:pPr>
            <a:endParaRPr lang="fr-FR" sz="2400" dirty="0"/>
          </a:p>
          <a:p>
            <a:pPr marL="571500" indent="-457200" algn="just">
              <a:buFont typeface="+mj-lt"/>
              <a:buAutoNum type="arabicPeriod"/>
            </a:pPr>
            <a:r>
              <a:rPr lang="fr-FR" sz="2400" dirty="0"/>
              <a:t>Analyse de l’environnement, de la stratégie et de l’organisation.</a:t>
            </a:r>
          </a:p>
          <a:p>
            <a:pPr marL="571500" indent="-457200" algn="just">
              <a:buFont typeface="+mj-lt"/>
              <a:buAutoNum type="arabicPeriod"/>
            </a:pPr>
            <a:r>
              <a:rPr lang="fr-FR" sz="2400" dirty="0">
                <a:solidFill>
                  <a:schemeClr val="accent1">
                    <a:lumMod val="20000"/>
                    <a:lumOff val="80000"/>
                  </a:schemeClr>
                </a:solidFill>
              </a:rPr>
              <a:t>Examen critique de la qualité de l’information et étude préalable à l’analyse des comptes.</a:t>
            </a:r>
          </a:p>
          <a:p>
            <a:pPr marL="571500" indent="-457200" algn="just">
              <a:buFont typeface="+mj-lt"/>
              <a:buAutoNum type="arabicPeriod"/>
            </a:pPr>
            <a:r>
              <a:rPr lang="fr-FR" sz="2400" dirty="0">
                <a:solidFill>
                  <a:schemeClr val="accent1">
                    <a:lumMod val="20000"/>
                    <a:lumOff val="80000"/>
                  </a:schemeClr>
                </a:solidFill>
              </a:rPr>
              <a:t>Analyse des performances.</a:t>
            </a:r>
          </a:p>
          <a:p>
            <a:pPr marL="571500" indent="-457200" algn="just">
              <a:buFont typeface="+mj-lt"/>
              <a:buAutoNum type="arabicPeriod"/>
            </a:pPr>
            <a:r>
              <a:rPr lang="fr-FR" sz="2400" dirty="0">
                <a:solidFill>
                  <a:schemeClr val="accent1">
                    <a:lumMod val="20000"/>
                    <a:lumOff val="80000"/>
                  </a:schemeClr>
                </a:solidFill>
              </a:rPr>
              <a:t>Examen de la structure financière (solvabilité et autonomie financière).</a:t>
            </a:r>
          </a:p>
          <a:p>
            <a:pPr marL="571500" indent="-457200" algn="just">
              <a:buFont typeface="+mj-lt"/>
              <a:buAutoNum type="arabicPeriod"/>
            </a:pPr>
            <a:r>
              <a:rPr lang="fr-FR" sz="2400" dirty="0">
                <a:solidFill>
                  <a:schemeClr val="accent1">
                    <a:lumMod val="20000"/>
                    <a:lumOff val="80000"/>
                  </a:schemeClr>
                </a:solidFill>
              </a:rPr>
              <a:t>Analyse de la liquidité.</a:t>
            </a:r>
          </a:p>
          <a:p>
            <a:pPr marL="571500" indent="-457200" algn="just">
              <a:buFont typeface="+mj-lt"/>
              <a:buAutoNum type="arabicPeriod"/>
            </a:pPr>
            <a:r>
              <a:rPr lang="fr-FR" sz="2400" dirty="0">
                <a:solidFill>
                  <a:schemeClr val="accent1">
                    <a:lumMod val="20000"/>
                    <a:lumOff val="80000"/>
                  </a:schemeClr>
                </a:solidFill>
              </a:rPr>
              <a:t>Décision de cotation</a:t>
            </a:r>
          </a:p>
        </p:txBody>
      </p:sp>
    </p:spTree>
    <p:extLst>
      <p:ext uri="{BB962C8B-B14F-4D97-AF65-F5344CB8AC3E}">
        <p14:creationId xmlns:p14="http://schemas.microsoft.com/office/powerpoint/2010/main" val="38819094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1C5405-4AC5-0246-BC0C-13A0765B9185}"/>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5680E0B5-39AD-F74D-9D68-FFD64A6C3056}"/>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AEE9626-6FEC-2143-9F2B-466E5A530D7E}"/>
              </a:ext>
            </a:extLst>
          </p:cNvPr>
          <p:cNvSpPr>
            <a:spLocks noGrp="1"/>
          </p:cNvSpPr>
          <p:nvPr>
            <p:ph type="sldNum" sz="quarter" idx="4"/>
          </p:nvPr>
        </p:nvSpPr>
        <p:spPr/>
        <p:txBody>
          <a:bodyPr/>
          <a:lstStyle/>
          <a:p>
            <a:fld id="{A5612AF6-3794-417C-8315-010C3BB3AD18}" type="slidenum">
              <a:rPr lang="fr-FR" smtClean="0"/>
              <a:pPr/>
              <a:t>45</a:t>
            </a:fld>
            <a:endParaRPr lang="fr-FR" dirty="0"/>
          </a:p>
        </p:txBody>
      </p:sp>
      <p:sp>
        <p:nvSpPr>
          <p:cNvPr id="5" name="Espace réservé du contenu 4">
            <a:extLst>
              <a:ext uri="{FF2B5EF4-FFF2-40B4-BE49-F238E27FC236}">
                <a16:creationId xmlns:a16="http://schemas.microsoft.com/office/drawing/2014/main" id="{EB690F96-F425-2B40-BA5B-60593A018AB0}"/>
              </a:ext>
            </a:extLst>
          </p:cNvPr>
          <p:cNvSpPr>
            <a:spLocks noGrp="1"/>
          </p:cNvSpPr>
          <p:nvPr>
            <p:ph idx="1"/>
          </p:nvPr>
        </p:nvSpPr>
        <p:spPr/>
        <p:txBody>
          <a:bodyPr>
            <a:noAutofit/>
          </a:bodyPr>
          <a:lstStyle/>
          <a:p>
            <a:pPr marL="114300" indent="0" algn="ctr">
              <a:buNone/>
            </a:pPr>
            <a:r>
              <a:rPr lang="fr-FR" sz="2000" b="1" dirty="0"/>
              <a:t>Étape 1 – environnement, stratégie et organisation</a:t>
            </a:r>
          </a:p>
          <a:p>
            <a:pPr marL="114300" indent="0" algn="ctr">
              <a:buNone/>
            </a:pPr>
            <a:endParaRPr lang="fr-FR" sz="1000" b="1" dirty="0"/>
          </a:p>
          <a:p>
            <a:pPr marL="114300" indent="0" algn="ctr">
              <a:buNone/>
            </a:pPr>
            <a:r>
              <a:rPr lang="fr-FR" sz="2000" u="sng" dirty="0"/>
              <a:t>Objectifs de cette étape</a:t>
            </a:r>
          </a:p>
          <a:p>
            <a:pPr marL="571500" indent="-457200" algn="just"/>
            <a:r>
              <a:rPr lang="fr-FR" sz="2000" dirty="0"/>
              <a:t>Comprendre et d’apprécier l’environnement dans lequel le groupe évolue et l’organisation adoptée par le groupe.</a:t>
            </a:r>
          </a:p>
          <a:p>
            <a:pPr marL="571500" indent="-457200" algn="just"/>
            <a:r>
              <a:rPr lang="fr-FR" sz="2000" dirty="0"/>
              <a:t>Dresser un panorama des opportunités et des menaces du marché et souligner les avantages comparatifs et/ou les faiblesses du groupe comparativement à ses marchés et à ses concurrents (matrice SWOT).</a:t>
            </a:r>
          </a:p>
          <a:p>
            <a:pPr marL="571500" indent="-457200" algn="just"/>
            <a:r>
              <a:rPr lang="fr-FR" sz="2000" dirty="0"/>
              <a:t>Appréhender la stratégie du groupe et apprécier sa cohérence en regard des actions menées.</a:t>
            </a:r>
          </a:p>
          <a:p>
            <a:pPr marL="571500" indent="-457200" algn="just"/>
            <a:r>
              <a:rPr lang="fr-FR" sz="2000" dirty="0"/>
              <a:t>Identifier les risques éventuels liés à l’organisation du groupe.</a:t>
            </a:r>
          </a:p>
          <a:p>
            <a:pPr marL="571500" indent="-457200" algn="just"/>
            <a:r>
              <a:rPr lang="fr-FR" sz="2000" dirty="0"/>
              <a:t>Déterminer l’agrégat d’endettement financier retenu (brut ou net) et le degré d’intégration des filiales.</a:t>
            </a:r>
          </a:p>
        </p:txBody>
      </p:sp>
    </p:spTree>
    <p:extLst>
      <p:ext uri="{BB962C8B-B14F-4D97-AF65-F5344CB8AC3E}">
        <p14:creationId xmlns:p14="http://schemas.microsoft.com/office/powerpoint/2010/main" val="3561873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039E7E-D034-7F40-B9C5-FFB54840CED6}"/>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06591D9-D9A2-6F49-AB11-5A1CC0E7E5F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E924214-79DF-D64F-97BE-5ACF1086333E}"/>
              </a:ext>
            </a:extLst>
          </p:cNvPr>
          <p:cNvSpPr>
            <a:spLocks noGrp="1"/>
          </p:cNvSpPr>
          <p:nvPr>
            <p:ph type="sldNum" sz="quarter" idx="4"/>
          </p:nvPr>
        </p:nvSpPr>
        <p:spPr/>
        <p:txBody>
          <a:bodyPr/>
          <a:lstStyle/>
          <a:p>
            <a:fld id="{A5612AF6-3794-417C-8315-010C3BB3AD18}" type="slidenum">
              <a:rPr lang="fr-FR" smtClean="0"/>
              <a:pPr/>
              <a:t>46</a:t>
            </a:fld>
            <a:endParaRPr lang="fr-FR" dirty="0"/>
          </a:p>
        </p:txBody>
      </p:sp>
      <p:graphicFrame>
        <p:nvGraphicFramePr>
          <p:cNvPr id="10" name="Espace réservé du contenu 9">
            <a:extLst>
              <a:ext uri="{FF2B5EF4-FFF2-40B4-BE49-F238E27FC236}">
                <a16:creationId xmlns:a16="http://schemas.microsoft.com/office/drawing/2014/main" id="{FEAD31CB-12E6-314A-B81C-465E6894C526}"/>
              </a:ext>
            </a:extLst>
          </p:cNvPr>
          <p:cNvGraphicFramePr>
            <a:graphicFrameLocks noGrp="1"/>
          </p:cNvGraphicFramePr>
          <p:nvPr>
            <p:ph idx="1"/>
            <p:extLst>
              <p:ext uri="{D42A27DB-BD31-4B8C-83A1-F6EECF244321}">
                <p14:modId xmlns:p14="http://schemas.microsoft.com/office/powerpoint/2010/main" val="3432440944"/>
              </p:ext>
            </p:extLst>
          </p:nvPr>
        </p:nvGraphicFramePr>
        <p:xfrm>
          <a:off x="468313" y="1439863"/>
          <a:ext cx="8229600" cy="4005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ZoneTexte 10">
            <a:extLst>
              <a:ext uri="{FF2B5EF4-FFF2-40B4-BE49-F238E27FC236}">
                <a16:creationId xmlns:a16="http://schemas.microsoft.com/office/drawing/2014/main" id="{25861E1B-A051-1245-810B-971DB550DA5F}"/>
              </a:ext>
            </a:extLst>
          </p:cNvPr>
          <p:cNvSpPr txBox="1"/>
          <p:nvPr/>
        </p:nvSpPr>
        <p:spPr>
          <a:xfrm>
            <a:off x="827584" y="5517232"/>
            <a:ext cx="7870016" cy="707886"/>
          </a:xfrm>
          <a:prstGeom prst="rect">
            <a:avLst/>
          </a:prstGeom>
          <a:noFill/>
        </p:spPr>
        <p:txBody>
          <a:bodyPr wrap="square" rtlCol="0">
            <a:spAutoFit/>
          </a:bodyPr>
          <a:lstStyle/>
          <a:p>
            <a:pPr marL="114300" indent="0" algn="ctr">
              <a:buNone/>
            </a:pPr>
            <a:r>
              <a:rPr lang="fr-FR" sz="2000" b="1" dirty="0">
                <a:solidFill>
                  <a:srgbClr val="205AA7"/>
                </a:solidFill>
                <a:sym typeface="Wingdings"/>
              </a:rPr>
              <a:t> Caractériser les enjeux auxquels le groupe est confronté et la stratégie adoptée pour y faire face.</a:t>
            </a:r>
            <a:endParaRPr lang="fr-FR" sz="2000" b="1" dirty="0">
              <a:solidFill>
                <a:srgbClr val="205AA7"/>
              </a:solidFill>
            </a:endParaRPr>
          </a:p>
        </p:txBody>
      </p:sp>
    </p:spTree>
    <p:extLst>
      <p:ext uri="{BB962C8B-B14F-4D97-AF65-F5344CB8AC3E}">
        <p14:creationId xmlns:p14="http://schemas.microsoft.com/office/powerpoint/2010/main" val="35159277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47</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1 – environnement, stratégie et organisation</a:t>
            </a:r>
          </a:p>
          <a:p>
            <a:pPr marL="0" indent="0" algn="ctr">
              <a:buNone/>
            </a:pPr>
            <a:endParaRPr lang="fr-FR" sz="1000" b="1" dirty="0"/>
          </a:p>
          <a:p>
            <a:pPr marL="0" indent="0" algn="ctr">
              <a:buNone/>
            </a:pPr>
            <a:r>
              <a:rPr lang="fr-FR" sz="2000" u="sng" dirty="0"/>
              <a:t>L’analyse de l’organisation juridique</a:t>
            </a:r>
          </a:p>
          <a:p>
            <a:pPr fontAlgn="t"/>
            <a:r>
              <a:rPr lang="fr-FR" sz="2000" dirty="0"/>
              <a:t>Type d’organigramme</a:t>
            </a:r>
          </a:p>
          <a:p>
            <a:pPr fontAlgn="t"/>
            <a:r>
              <a:rPr lang="fr-FR" sz="2000" dirty="0"/>
              <a:t>Périmètre (consolidation de toutes les entités, présence de filiales dans des paradis fiscaux, freins à la circulation de la trésorerie…)</a:t>
            </a:r>
          </a:p>
          <a:p>
            <a:pPr fontAlgn="t"/>
            <a:r>
              <a:rPr lang="fr-FR" sz="2000" dirty="0"/>
              <a:t>Catégorie juridique des filiales (SNC, GIE…)</a:t>
            </a:r>
          </a:p>
          <a:p>
            <a:pPr fontAlgn="t"/>
            <a:r>
              <a:rPr lang="fr-FR" sz="2000" dirty="0"/>
              <a:t>Structure et typologie de l’actionnariat (poids des minoritaires  risque de retrait, qualité des associés, stratégie commune, existence d’un pacte, cotation en bourse…)</a:t>
            </a:r>
          </a:p>
          <a:p>
            <a:pPr fontAlgn="t"/>
            <a:r>
              <a:rPr lang="fr-FR" sz="2000" dirty="0"/>
              <a:t>Équipe dirigeante (stabilité, expérience…)</a:t>
            </a:r>
          </a:p>
          <a:p>
            <a:pPr fontAlgn="t"/>
            <a:r>
              <a:rPr lang="fr-FR" sz="2000" dirty="0"/>
              <a:t>Homme-clé (</a:t>
            </a:r>
            <a:r>
              <a:rPr lang="fr-FR" sz="2000" dirty="0" err="1"/>
              <a:t>age</a:t>
            </a:r>
            <a:r>
              <a:rPr lang="fr-FR" sz="2000" dirty="0"/>
              <a:t>, succession…)</a:t>
            </a:r>
          </a:p>
          <a:p>
            <a:pPr marL="0" indent="0" fontAlgn="t">
              <a:buNone/>
            </a:pPr>
            <a:endParaRPr lang="fr-FR" sz="1000" dirty="0"/>
          </a:p>
          <a:p>
            <a:pPr marL="0" indent="0" algn="ctr" fontAlgn="t">
              <a:buNone/>
            </a:pPr>
            <a:r>
              <a:rPr lang="fr-FR" sz="2000" b="1" dirty="0">
                <a:sym typeface="Wingdings"/>
              </a:rPr>
              <a:t> Évaluer le degré d’intégration juridique des filiales</a:t>
            </a:r>
            <a:endParaRPr lang="fr-FR" sz="2000" b="1" dirty="0"/>
          </a:p>
        </p:txBody>
      </p:sp>
    </p:spTree>
    <p:extLst>
      <p:ext uri="{BB962C8B-B14F-4D97-AF65-F5344CB8AC3E}">
        <p14:creationId xmlns:p14="http://schemas.microsoft.com/office/powerpoint/2010/main" val="2696946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48</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1 – environnement, stratégie et organisation</a:t>
            </a:r>
          </a:p>
          <a:p>
            <a:pPr marL="0" indent="0" algn="ctr">
              <a:buNone/>
            </a:pPr>
            <a:endParaRPr lang="fr-FR" sz="1000" b="1" dirty="0"/>
          </a:p>
          <a:p>
            <a:pPr marL="0" indent="0" algn="ctr">
              <a:buNone/>
            </a:pPr>
            <a:r>
              <a:rPr lang="fr-FR" sz="2000" u="sng" dirty="0"/>
              <a:t>L’analyse de l’organisation juridique :</a:t>
            </a:r>
          </a:p>
          <a:p>
            <a:pPr marL="0" indent="0" fontAlgn="t">
              <a:buNone/>
            </a:pPr>
            <a:endParaRPr lang="fr-FR" dirty="0"/>
          </a:p>
          <a:p>
            <a:endParaRPr lang="fr-FR" b="1" dirty="0"/>
          </a:p>
          <a:p>
            <a:endParaRPr lang="fr-FR" dirty="0"/>
          </a:p>
        </p:txBody>
      </p:sp>
      <p:pic>
        <p:nvPicPr>
          <p:cNvPr id="6" name="Picture 2">
            <a:extLst>
              <a:ext uri="{FF2B5EF4-FFF2-40B4-BE49-F238E27FC236}">
                <a16:creationId xmlns:a16="http://schemas.microsoft.com/office/drawing/2014/main" id="{F565DF91-AA0F-C041-AD8C-8DC7A7301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434775"/>
            <a:ext cx="5773212" cy="3531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92993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49</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1 – environnement, stratégie et organisation</a:t>
            </a:r>
          </a:p>
          <a:p>
            <a:pPr marL="0" indent="0">
              <a:buNone/>
            </a:pPr>
            <a:endParaRPr lang="fr-FR" sz="1000" b="1" dirty="0"/>
          </a:p>
          <a:p>
            <a:pPr marL="0" indent="0" algn="ctr">
              <a:buNone/>
            </a:pPr>
            <a:r>
              <a:rPr lang="fr-FR" sz="2000" u="sng" dirty="0"/>
              <a:t>L’analyse de l’organisation économique :</a:t>
            </a:r>
          </a:p>
          <a:p>
            <a:pPr marL="571500" indent="-457200" algn="just"/>
            <a:r>
              <a:rPr lang="fr-FR" sz="2000" dirty="0"/>
              <a:t>Identifier les principales branches d’activité et les principaux objectifs assignés aux filiales.</a:t>
            </a:r>
          </a:p>
          <a:p>
            <a:pPr marL="571500" indent="-457200" algn="just"/>
            <a:r>
              <a:rPr lang="fr-FR" sz="2000" dirty="0"/>
              <a:t>Déterminer le caractère stratégique ou non des branches d’activité ou filiales.</a:t>
            </a:r>
          </a:p>
          <a:p>
            <a:pPr marL="571500" indent="-457200" algn="just"/>
            <a:r>
              <a:rPr lang="fr-FR" sz="2000" dirty="0"/>
              <a:t>Préciser la logique d’organisation (fonctionnelle, par division, mixte…), ainsi que les choix de gestion industrielle et commerciale retenus par le groupe (intégration verticale ou horizontale, centralisation ou non de la fonction logistique/distribution…);</a:t>
            </a:r>
          </a:p>
          <a:p>
            <a:pPr marL="571500" indent="-457200" algn="just"/>
            <a:r>
              <a:rPr lang="fr-FR" sz="2000" dirty="0"/>
              <a:t>Qualifier les relations entre les différentes sociétés du groupe.</a:t>
            </a:r>
          </a:p>
          <a:p>
            <a:pPr marL="114300" indent="0" algn="just">
              <a:buNone/>
            </a:pPr>
            <a:endParaRPr lang="fr-FR" sz="1000" dirty="0"/>
          </a:p>
          <a:p>
            <a:pPr marL="114300" indent="0" algn="ctr">
              <a:buNone/>
            </a:pPr>
            <a:r>
              <a:rPr lang="fr-FR" sz="2000" b="1" dirty="0">
                <a:sym typeface="Wingdings"/>
              </a:rPr>
              <a:t> Évaluer le degré d’intégration économique des filiales</a:t>
            </a:r>
            <a:endParaRPr lang="fr-FR" sz="2000" dirty="0"/>
          </a:p>
        </p:txBody>
      </p:sp>
    </p:spTree>
    <p:extLst>
      <p:ext uri="{BB962C8B-B14F-4D97-AF65-F5344CB8AC3E}">
        <p14:creationId xmlns:p14="http://schemas.microsoft.com/office/powerpoint/2010/main" val="2955146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50</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fontScale="92500"/>
          </a:bodyPr>
          <a:lstStyle/>
          <a:p>
            <a:pPr marL="0" indent="0" algn="ctr">
              <a:buNone/>
            </a:pPr>
            <a:r>
              <a:rPr lang="fr-FR" sz="2200" b="1" dirty="0"/>
              <a:t>Étape 1 – environnement, stratégie et organisation</a:t>
            </a:r>
          </a:p>
          <a:p>
            <a:pPr marL="0" indent="0" algn="ctr">
              <a:buNone/>
            </a:pPr>
            <a:endParaRPr lang="fr-FR" sz="1100" b="1" dirty="0"/>
          </a:p>
          <a:p>
            <a:pPr marL="0" indent="0" algn="ctr">
              <a:buNone/>
            </a:pPr>
            <a:r>
              <a:rPr lang="fr-FR" sz="2200" u="sng" dirty="0"/>
              <a:t>L’analyse de l’organisation financière</a:t>
            </a:r>
          </a:p>
          <a:p>
            <a:pPr marL="571500" indent="-457200" algn="just"/>
            <a:r>
              <a:rPr lang="fr-FR" sz="2200" dirty="0"/>
              <a:t>Localiser la dette et la trésorerie</a:t>
            </a:r>
          </a:p>
          <a:p>
            <a:pPr marL="571500" indent="-457200" algn="just"/>
            <a:r>
              <a:rPr lang="fr-FR" sz="2200" dirty="0"/>
              <a:t>Déterminer les centres de profits et de pertes</a:t>
            </a:r>
          </a:p>
          <a:p>
            <a:pPr marL="571500" indent="-457200" algn="just"/>
            <a:r>
              <a:rPr lang="fr-FR" sz="2200" dirty="0"/>
              <a:t>Préciser la logique d’organisation (délais de paiement intragroupe, existence éventuelle de sociétés pivots en matière de gestion de trésorerie, degré de centralisation des relations bancaires…)</a:t>
            </a:r>
          </a:p>
          <a:p>
            <a:pPr marL="571500" indent="-457200" algn="just"/>
            <a:r>
              <a:rPr lang="fr-FR" sz="2200" dirty="0"/>
              <a:t>Porter une appréciation sur la circulation des flux entre les différentes entités du groupe (existence ou non de freins potentiels ou avérés)</a:t>
            </a:r>
          </a:p>
          <a:p>
            <a:pPr marL="114300" indent="0" algn="just">
              <a:buNone/>
            </a:pPr>
            <a:endParaRPr lang="fr-FR" sz="2200" dirty="0"/>
          </a:p>
          <a:p>
            <a:pPr marL="114300" indent="0" algn="ctr">
              <a:buNone/>
            </a:pPr>
            <a:r>
              <a:rPr lang="fr-FR" sz="2200" b="1" dirty="0">
                <a:sym typeface="Wingdings"/>
              </a:rPr>
              <a:t> Évaluer le degré d’intégration financière des filiales</a:t>
            </a:r>
            <a:endParaRPr lang="fr-FR" dirty="0"/>
          </a:p>
        </p:txBody>
      </p:sp>
    </p:spTree>
    <p:extLst>
      <p:ext uri="{BB962C8B-B14F-4D97-AF65-F5344CB8AC3E}">
        <p14:creationId xmlns:p14="http://schemas.microsoft.com/office/powerpoint/2010/main" val="16139865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51</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1 – environnement, stratégie et organisation</a:t>
            </a:r>
          </a:p>
          <a:p>
            <a:pPr marL="0" indent="0" algn="ctr">
              <a:buNone/>
            </a:pPr>
            <a:endParaRPr lang="fr-FR" sz="1000" b="1" dirty="0"/>
          </a:p>
          <a:p>
            <a:pPr marL="0" indent="0" algn="ctr">
              <a:buNone/>
            </a:pPr>
            <a:r>
              <a:rPr lang="fr-FR" sz="2000" u="sng" dirty="0"/>
              <a:t>Faits marquants intervenus au cours de l’exercice et post-clôture</a:t>
            </a:r>
          </a:p>
          <a:p>
            <a:pPr algn="just"/>
            <a:r>
              <a:rPr lang="fr-FR" sz="2000" dirty="0"/>
              <a:t>Les principaux évènements survenus ou cours de l’exercice ou post-clôture doivent être identifiés car ils sont susceptibles d’avoir une incidence importante sur le groupe comme par exemples  les variation de périmètre significative, évolution de l’actionnariat, changement dans la gouvernance, opération de refinancement…</a:t>
            </a:r>
          </a:p>
          <a:p>
            <a:pPr algn="just"/>
            <a:r>
              <a:rPr lang="fr-FR" sz="2000" dirty="0"/>
              <a:t>Ces éléments sont à chiffrer le plus précisément possible et à mettre en perspective avec la stratégie du groupe.</a:t>
            </a:r>
          </a:p>
        </p:txBody>
      </p:sp>
    </p:spTree>
    <p:extLst>
      <p:ext uri="{BB962C8B-B14F-4D97-AF65-F5344CB8AC3E}">
        <p14:creationId xmlns:p14="http://schemas.microsoft.com/office/powerpoint/2010/main" val="174381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52</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400" b="1" dirty="0"/>
              <a:t>Étape 1 – environnement, stratégie et organisation</a:t>
            </a:r>
          </a:p>
          <a:p>
            <a:pPr marL="0" indent="0">
              <a:buNone/>
            </a:pPr>
            <a:endParaRPr lang="fr-FR" b="1" dirty="0"/>
          </a:p>
          <a:p>
            <a:endParaRPr lang="fr-FR" b="1" dirty="0"/>
          </a:p>
          <a:p>
            <a:endParaRPr lang="fr-FR" dirty="0"/>
          </a:p>
        </p:txBody>
      </p:sp>
      <p:pic>
        <p:nvPicPr>
          <p:cNvPr id="7" name="Image 6">
            <a:extLst>
              <a:ext uri="{FF2B5EF4-FFF2-40B4-BE49-F238E27FC236}">
                <a16:creationId xmlns:a16="http://schemas.microsoft.com/office/drawing/2014/main" id="{3A86EDBA-2D41-4E44-A4A1-340FD94931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640" y="1888979"/>
            <a:ext cx="6108836" cy="4076984"/>
          </a:xfrm>
          <a:prstGeom prst="rect">
            <a:avLst/>
          </a:prstGeom>
        </p:spPr>
      </p:pic>
      <p:sp>
        <p:nvSpPr>
          <p:cNvPr id="8" name="ZoneTexte 7">
            <a:extLst>
              <a:ext uri="{FF2B5EF4-FFF2-40B4-BE49-F238E27FC236}">
                <a16:creationId xmlns:a16="http://schemas.microsoft.com/office/drawing/2014/main" id="{64A51BF9-1892-2B4B-A454-FBA5288DFB4F}"/>
              </a:ext>
            </a:extLst>
          </p:cNvPr>
          <p:cNvSpPr txBox="1"/>
          <p:nvPr/>
        </p:nvSpPr>
        <p:spPr>
          <a:xfrm>
            <a:off x="5940152" y="5944437"/>
            <a:ext cx="1622560" cy="215444"/>
          </a:xfrm>
          <a:prstGeom prst="rect">
            <a:avLst/>
          </a:prstGeom>
          <a:noFill/>
        </p:spPr>
        <p:txBody>
          <a:bodyPr wrap="none" rtlCol="0">
            <a:spAutoFit/>
          </a:bodyPr>
          <a:lstStyle/>
          <a:p>
            <a:r>
              <a:rPr lang="fr-FR" sz="800" i="1" dirty="0">
                <a:solidFill>
                  <a:schemeClr val="tx2"/>
                </a:solidFill>
              </a:rPr>
              <a:t>Photo by </a:t>
            </a:r>
            <a:r>
              <a:rPr lang="fr-FR" sz="800" i="1" dirty="0">
                <a:solidFill>
                  <a:schemeClr val="tx2"/>
                </a:solidFill>
                <a:hlinkClick r:id="rId4">
                  <a:extLst>
                    <a:ext uri="{A12FA001-AC4F-418D-AE19-62706E023703}">
                      <ahyp:hlinkClr xmlns:ahyp="http://schemas.microsoft.com/office/drawing/2018/hyperlinkcolor" val="tx"/>
                    </a:ext>
                  </a:extLst>
                </a:hlinkClick>
              </a:rPr>
              <a:t>Helloquence</a:t>
            </a:r>
            <a:r>
              <a:rPr lang="fr-FR" sz="800" i="1" dirty="0">
                <a:solidFill>
                  <a:schemeClr val="tx2"/>
                </a:solidFill>
              </a:rPr>
              <a:t> on </a:t>
            </a:r>
            <a:r>
              <a:rPr lang="fr-FR" sz="800" i="1" dirty="0">
                <a:solidFill>
                  <a:schemeClr val="tx2"/>
                </a:solidFill>
                <a:hlinkClick r:id="rId5">
                  <a:extLst>
                    <a:ext uri="{A12FA001-AC4F-418D-AE19-62706E023703}">
                      <ahyp:hlinkClr xmlns:ahyp="http://schemas.microsoft.com/office/drawing/2018/hyperlinkcolor" val="tx"/>
                    </a:ext>
                  </a:extLst>
                </a:hlinkClick>
              </a:rPr>
              <a:t>Unsplash</a:t>
            </a:r>
            <a:endParaRPr lang="fr-FR" sz="800" i="1" dirty="0">
              <a:solidFill>
                <a:schemeClr val="tx2"/>
              </a:solidFill>
            </a:endParaRPr>
          </a:p>
        </p:txBody>
      </p:sp>
    </p:spTree>
    <p:extLst>
      <p:ext uri="{BB962C8B-B14F-4D97-AF65-F5344CB8AC3E}">
        <p14:creationId xmlns:p14="http://schemas.microsoft.com/office/powerpoint/2010/main" val="25698828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C8C62-8388-B443-A572-25F697F30A02}"/>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664151B2-02D2-004B-B1F3-14343492329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1BDAF2-0BEE-A84C-8E66-E9F9CAD228D4}"/>
              </a:ext>
            </a:extLst>
          </p:cNvPr>
          <p:cNvSpPr>
            <a:spLocks noGrp="1"/>
          </p:cNvSpPr>
          <p:nvPr>
            <p:ph type="sldNum" sz="quarter" idx="4"/>
          </p:nvPr>
        </p:nvSpPr>
        <p:spPr/>
        <p:txBody>
          <a:bodyPr/>
          <a:lstStyle/>
          <a:p>
            <a:fld id="{A5612AF6-3794-417C-8315-010C3BB3AD18}" type="slidenum">
              <a:rPr lang="fr-FR" smtClean="0"/>
              <a:pPr/>
              <a:t>53</a:t>
            </a:fld>
            <a:endParaRPr lang="fr-FR" dirty="0"/>
          </a:p>
        </p:txBody>
      </p:sp>
      <p:sp>
        <p:nvSpPr>
          <p:cNvPr id="5" name="Espace réservé du contenu 4">
            <a:extLst>
              <a:ext uri="{FF2B5EF4-FFF2-40B4-BE49-F238E27FC236}">
                <a16:creationId xmlns:a16="http://schemas.microsoft.com/office/drawing/2014/main" id="{688EDAC1-229D-7542-935F-3B4A75038C1D}"/>
              </a:ext>
            </a:extLst>
          </p:cNvPr>
          <p:cNvSpPr>
            <a:spLocks noGrp="1"/>
          </p:cNvSpPr>
          <p:nvPr>
            <p:ph idx="1"/>
          </p:nvPr>
        </p:nvSpPr>
        <p:spPr/>
        <p:txBody>
          <a:bodyPr>
            <a:normAutofit lnSpcReduction="10000"/>
          </a:bodyPr>
          <a:lstStyle/>
          <a:p>
            <a:pPr marL="114300" indent="0" algn="ctr">
              <a:buNone/>
            </a:pPr>
            <a:r>
              <a:rPr lang="fr-FR" sz="2400" b="1" dirty="0"/>
              <a:t>Les principales étapes de l’analyse :</a:t>
            </a:r>
          </a:p>
          <a:p>
            <a:pPr marL="114300" indent="0" algn="just">
              <a:buNone/>
            </a:pPr>
            <a:endParaRPr lang="fr-FR" sz="2400" dirty="0"/>
          </a:p>
          <a:p>
            <a:pPr marL="571500" indent="-457200" algn="just">
              <a:buFont typeface="+mj-lt"/>
              <a:buAutoNum type="arabicPeriod"/>
            </a:pPr>
            <a:r>
              <a:rPr lang="fr-FR" sz="2400" dirty="0">
                <a:solidFill>
                  <a:schemeClr val="accent1">
                    <a:lumMod val="20000"/>
                    <a:lumOff val="80000"/>
                  </a:schemeClr>
                </a:solidFill>
              </a:rPr>
              <a:t>Analyse de l’environnement, de la stratégie et de l’organisation.</a:t>
            </a:r>
          </a:p>
          <a:p>
            <a:pPr marL="571500" indent="-457200" algn="just">
              <a:buFont typeface="+mj-lt"/>
              <a:buAutoNum type="arabicPeriod"/>
            </a:pPr>
            <a:r>
              <a:rPr lang="fr-FR" sz="2400" dirty="0"/>
              <a:t>Examen critique de la qualité de l’information et étude préalable à l’analyse des comptes.</a:t>
            </a:r>
          </a:p>
          <a:p>
            <a:pPr marL="571500" indent="-457200" algn="just">
              <a:buFont typeface="+mj-lt"/>
              <a:buAutoNum type="arabicPeriod"/>
            </a:pPr>
            <a:r>
              <a:rPr lang="fr-FR" sz="2400" dirty="0">
                <a:solidFill>
                  <a:schemeClr val="accent1">
                    <a:lumMod val="20000"/>
                    <a:lumOff val="80000"/>
                  </a:schemeClr>
                </a:solidFill>
              </a:rPr>
              <a:t>Analyse des performances.</a:t>
            </a:r>
          </a:p>
          <a:p>
            <a:pPr marL="571500" indent="-457200" algn="just">
              <a:buFont typeface="+mj-lt"/>
              <a:buAutoNum type="arabicPeriod"/>
            </a:pPr>
            <a:r>
              <a:rPr lang="fr-FR" sz="2400" dirty="0">
                <a:solidFill>
                  <a:schemeClr val="accent1">
                    <a:lumMod val="20000"/>
                    <a:lumOff val="80000"/>
                  </a:schemeClr>
                </a:solidFill>
              </a:rPr>
              <a:t>Examen de la structure financière (solvabilité et autonomie financière).</a:t>
            </a:r>
          </a:p>
          <a:p>
            <a:pPr marL="571500" indent="-457200" algn="just">
              <a:buFont typeface="+mj-lt"/>
              <a:buAutoNum type="arabicPeriod"/>
            </a:pPr>
            <a:r>
              <a:rPr lang="fr-FR" sz="2400" dirty="0">
                <a:solidFill>
                  <a:schemeClr val="accent1">
                    <a:lumMod val="20000"/>
                    <a:lumOff val="80000"/>
                  </a:schemeClr>
                </a:solidFill>
              </a:rPr>
              <a:t>Analyse de la liquidité.</a:t>
            </a:r>
          </a:p>
          <a:p>
            <a:pPr marL="571500" indent="-457200" algn="just">
              <a:buFont typeface="+mj-lt"/>
              <a:buAutoNum type="arabicPeriod"/>
            </a:pPr>
            <a:r>
              <a:rPr lang="fr-FR" sz="2400" dirty="0">
                <a:solidFill>
                  <a:schemeClr val="accent1">
                    <a:lumMod val="20000"/>
                    <a:lumOff val="80000"/>
                  </a:schemeClr>
                </a:solidFill>
              </a:rPr>
              <a:t>Décision de cotation</a:t>
            </a:r>
          </a:p>
        </p:txBody>
      </p:sp>
    </p:spTree>
    <p:extLst>
      <p:ext uri="{BB962C8B-B14F-4D97-AF65-F5344CB8AC3E}">
        <p14:creationId xmlns:p14="http://schemas.microsoft.com/office/powerpoint/2010/main" val="13647083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54</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2 – Examen critique de l’information</a:t>
            </a:r>
          </a:p>
          <a:p>
            <a:pPr marL="0" indent="0" algn="ctr">
              <a:buNone/>
            </a:pPr>
            <a:endParaRPr lang="fr-FR" sz="1000" b="1" dirty="0"/>
          </a:p>
          <a:p>
            <a:pPr marL="114300" indent="0" algn="ctr">
              <a:buNone/>
            </a:pPr>
            <a:r>
              <a:rPr lang="fr-FR" sz="2000" u="sng" dirty="0"/>
              <a:t>Objectifs de cette étape</a:t>
            </a:r>
          </a:p>
          <a:p>
            <a:pPr marL="571500" indent="-457200" algn="just"/>
            <a:r>
              <a:rPr lang="fr-FR" sz="2000" u="sng" dirty="0"/>
              <a:t>A</a:t>
            </a:r>
            <a:r>
              <a:rPr lang="fr-FR" sz="2000" dirty="0"/>
              <a:t>pprécier la qualité de l’information transmise par le groupe et tirer les conséquences d ’une faible qualité de l’information transmise sur la cotation.</a:t>
            </a:r>
          </a:p>
          <a:p>
            <a:pPr marL="571500" indent="-457200" algn="just"/>
            <a:r>
              <a:rPr lang="fr-FR" sz="2000" dirty="0"/>
              <a:t>Porter un regard critique sur les choix effectués par le groupe en matière de qualité de l’information, de définition du périmètre de consolidation et de pratiques comptables.</a:t>
            </a:r>
          </a:p>
          <a:p>
            <a:pPr marL="571500" indent="-457200" algn="just"/>
            <a:r>
              <a:rPr lang="fr-FR" sz="2000" dirty="0"/>
              <a:t>Mesurer l’impact des variations de périmètre ou des changements comptables.</a:t>
            </a:r>
          </a:p>
          <a:p>
            <a:pPr marL="0" indent="0" fontAlgn="t">
              <a:buNone/>
            </a:pPr>
            <a:endParaRPr lang="fr-FR" dirty="0"/>
          </a:p>
          <a:p>
            <a:endParaRPr lang="fr-FR" b="1" dirty="0"/>
          </a:p>
          <a:p>
            <a:endParaRPr lang="fr-FR" dirty="0"/>
          </a:p>
        </p:txBody>
      </p:sp>
    </p:spTree>
    <p:extLst>
      <p:ext uri="{BB962C8B-B14F-4D97-AF65-F5344CB8AC3E}">
        <p14:creationId xmlns:p14="http://schemas.microsoft.com/office/powerpoint/2010/main" val="11462910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55</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2 – Examen critique de l’information</a:t>
            </a:r>
          </a:p>
          <a:p>
            <a:pPr marL="0" indent="0" algn="just">
              <a:buNone/>
            </a:pPr>
            <a:endParaRPr lang="fr-FR" sz="1000" b="1" dirty="0"/>
          </a:p>
          <a:p>
            <a:pPr marL="0" indent="0" algn="ctr">
              <a:buNone/>
            </a:pPr>
            <a:r>
              <a:rPr lang="fr-FR" sz="2000" u="sng" dirty="0"/>
              <a:t>Qualité de l’information et degré de transparence</a:t>
            </a:r>
          </a:p>
          <a:p>
            <a:pPr algn="just"/>
            <a:r>
              <a:rPr lang="fr-FR" sz="2000" dirty="0"/>
              <a:t>S’assurer que le périmètre de consolidation est exhaustif :</a:t>
            </a:r>
          </a:p>
          <a:p>
            <a:pPr lvl="1" algn="just"/>
            <a:r>
              <a:rPr lang="fr-FR" sz="1800" dirty="0"/>
              <a:t>Décomposition du poste « titres de participation »</a:t>
            </a:r>
          </a:p>
          <a:p>
            <a:pPr lvl="1" algn="just"/>
            <a:r>
              <a:rPr lang="fr-FR" sz="1800" dirty="0"/>
              <a:t>Recoupement avec les liens financiers et les fonctions de direction</a:t>
            </a:r>
          </a:p>
          <a:p>
            <a:pPr lvl="1" algn="just"/>
            <a:r>
              <a:rPr lang="fr-FR" sz="1800" dirty="0"/>
              <a:t>Consultation de l’annexe sur le périmètre de consolidation</a:t>
            </a:r>
          </a:p>
          <a:p>
            <a:pPr algn="just"/>
            <a:r>
              <a:rPr lang="fr-FR" sz="2000" dirty="0"/>
              <a:t>Valider le choix des méthodes de consolidation :</a:t>
            </a:r>
          </a:p>
          <a:p>
            <a:pPr lvl="1" algn="just"/>
            <a:r>
              <a:rPr lang="fr-FR" sz="1800" dirty="0"/>
              <a:t>Cohérence entre la méthode de consolidation et la réalité du contrôle exercé et du risque encouru = méthodes opportunistes à déceler</a:t>
            </a:r>
          </a:p>
          <a:p>
            <a:pPr lvl="1" algn="just"/>
            <a:r>
              <a:rPr lang="fr-FR" sz="1800" dirty="0"/>
              <a:t>Contrôle des postes « participations non consolidées » et « titres mis en équivalence » = exclusions à tort du périmètre à détecter</a:t>
            </a:r>
          </a:p>
          <a:p>
            <a:pPr algn="just"/>
            <a:r>
              <a:rPr lang="fr-FR" sz="2000" dirty="0"/>
              <a:t>Certification des commissaires aux comptes</a:t>
            </a:r>
          </a:p>
          <a:p>
            <a:pPr marL="0" indent="0" fontAlgn="t">
              <a:buNone/>
            </a:pPr>
            <a:endParaRPr lang="fr-FR" sz="2000" dirty="0"/>
          </a:p>
          <a:p>
            <a:endParaRPr lang="fr-FR" sz="2000" b="1" dirty="0"/>
          </a:p>
          <a:p>
            <a:endParaRPr lang="fr-FR" sz="2000" dirty="0"/>
          </a:p>
        </p:txBody>
      </p:sp>
    </p:spTree>
    <p:extLst>
      <p:ext uri="{BB962C8B-B14F-4D97-AF65-F5344CB8AC3E}">
        <p14:creationId xmlns:p14="http://schemas.microsoft.com/office/powerpoint/2010/main" val="35351893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778429-B7FC-B24D-B878-6CAB46EF7BE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C0D6F35F-9DFB-0B48-8A79-B17593310475}"/>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4D19018-1BD5-824A-BFCE-109F8642350C}"/>
              </a:ext>
            </a:extLst>
          </p:cNvPr>
          <p:cNvSpPr>
            <a:spLocks noGrp="1"/>
          </p:cNvSpPr>
          <p:nvPr>
            <p:ph type="sldNum" sz="quarter" idx="4"/>
          </p:nvPr>
        </p:nvSpPr>
        <p:spPr/>
        <p:txBody>
          <a:bodyPr/>
          <a:lstStyle/>
          <a:p>
            <a:fld id="{A5612AF6-3794-417C-8315-010C3BB3AD18}" type="slidenum">
              <a:rPr lang="fr-FR" smtClean="0"/>
              <a:pPr/>
              <a:t>56</a:t>
            </a:fld>
            <a:endParaRPr lang="fr-FR" dirty="0"/>
          </a:p>
        </p:txBody>
      </p:sp>
      <p:sp>
        <p:nvSpPr>
          <p:cNvPr id="5" name="Espace réservé du contenu 4">
            <a:extLst>
              <a:ext uri="{FF2B5EF4-FFF2-40B4-BE49-F238E27FC236}">
                <a16:creationId xmlns:a16="http://schemas.microsoft.com/office/drawing/2014/main" id="{CC731C85-6A31-7240-92B1-CB169E69033D}"/>
              </a:ext>
            </a:extLst>
          </p:cNvPr>
          <p:cNvSpPr>
            <a:spLocks noGrp="1"/>
          </p:cNvSpPr>
          <p:nvPr>
            <p:ph idx="1"/>
          </p:nvPr>
        </p:nvSpPr>
        <p:spPr/>
        <p:txBody>
          <a:bodyPr/>
          <a:lstStyle/>
          <a:p>
            <a:pPr marL="0" indent="0" algn="ctr">
              <a:buNone/>
            </a:pPr>
            <a:r>
              <a:rPr lang="fr-FR" sz="2000" b="1" dirty="0"/>
              <a:t>Étape 2 – Examen critique de l’information</a:t>
            </a:r>
          </a:p>
          <a:p>
            <a:pPr marL="0" indent="0">
              <a:buNone/>
            </a:pPr>
            <a:endParaRPr lang="fr-FR" b="1" dirty="0"/>
          </a:p>
          <a:p>
            <a:pPr marL="0" indent="0">
              <a:buNone/>
            </a:pPr>
            <a:endParaRPr lang="fr-FR" b="1" dirty="0"/>
          </a:p>
          <a:p>
            <a:endParaRPr lang="fr-FR" dirty="0"/>
          </a:p>
        </p:txBody>
      </p:sp>
      <p:graphicFrame>
        <p:nvGraphicFramePr>
          <p:cNvPr id="6" name="Tableau 5">
            <a:extLst>
              <a:ext uri="{FF2B5EF4-FFF2-40B4-BE49-F238E27FC236}">
                <a16:creationId xmlns:a16="http://schemas.microsoft.com/office/drawing/2014/main" id="{FFEB840C-6569-F040-8421-B523E59CA7BF}"/>
              </a:ext>
            </a:extLst>
          </p:cNvPr>
          <p:cNvGraphicFramePr>
            <a:graphicFrameLocks noGrp="1"/>
          </p:cNvGraphicFramePr>
          <p:nvPr>
            <p:extLst>
              <p:ext uri="{D42A27DB-BD31-4B8C-83A1-F6EECF244321}">
                <p14:modId xmlns:p14="http://schemas.microsoft.com/office/powerpoint/2010/main" val="2097894018"/>
              </p:ext>
            </p:extLst>
          </p:nvPr>
        </p:nvGraphicFramePr>
        <p:xfrm>
          <a:off x="468001" y="1844824"/>
          <a:ext cx="8229601" cy="4320480"/>
        </p:xfrm>
        <a:graphic>
          <a:graphicData uri="http://schemas.openxmlformats.org/drawingml/2006/table">
            <a:tbl>
              <a:tblPr firstRow="1" bandRow="1">
                <a:tableStyleId>{5C22544A-7EE6-4342-B048-85BDC9FD1C3A}</a:tableStyleId>
              </a:tblPr>
              <a:tblGrid>
                <a:gridCol w="1511711">
                  <a:extLst>
                    <a:ext uri="{9D8B030D-6E8A-4147-A177-3AD203B41FA5}">
                      <a16:colId xmlns:a16="http://schemas.microsoft.com/office/drawing/2014/main" val="3528515958"/>
                    </a:ext>
                  </a:extLst>
                </a:gridCol>
                <a:gridCol w="2448272">
                  <a:extLst>
                    <a:ext uri="{9D8B030D-6E8A-4147-A177-3AD203B41FA5}">
                      <a16:colId xmlns:a16="http://schemas.microsoft.com/office/drawing/2014/main" val="2463391952"/>
                    </a:ext>
                  </a:extLst>
                </a:gridCol>
                <a:gridCol w="4269618">
                  <a:extLst>
                    <a:ext uri="{9D8B030D-6E8A-4147-A177-3AD203B41FA5}">
                      <a16:colId xmlns:a16="http://schemas.microsoft.com/office/drawing/2014/main" val="2531933622"/>
                    </a:ext>
                  </a:extLst>
                </a:gridCol>
              </a:tblGrid>
              <a:tr h="335877">
                <a:tc>
                  <a:txBody>
                    <a:bodyPr/>
                    <a:lstStyle/>
                    <a:p>
                      <a:r>
                        <a:rPr lang="fr-FR" sz="1100" dirty="0"/>
                        <a:t>Degré de contrôle</a:t>
                      </a:r>
                    </a:p>
                  </a:txBody>
                  <a:tcPr/>
                </a:tc>
                <a:tc>
                  <a:txBody>
                    <a:bodyPr/>
                    <a:lstStyle/>
                    <a:p>
                      <a:r>
                        <a:rPr lang="fr-FR" sz="1100" dirty="0"/>
                        <a:t>Mode de consolidation</a:t>
                      </a:r>
                    </a:p>
                  </a:txBody>
                  <a:tcPr/>
                </a:tc>
                <a:tc>
                  <a:txBody>
                    <a:bodyPr/>
                    <a:lstStyle/>
                    <a:p>
                      <a:r>
                        <a:rPr lang="fr-FR" sz="1100" dirty="0"/>
                        <a:t>Implications sur les comptes</a:t>
                      </a:r>
                    </a:p>
                  </a:txBody>
                  <a:tcPr/>
                </a:tc>
                <a:extLst>
                  <a:ext uri="{0D108BD9-81ED-4DB2-BD59-A6C34878D82A}">
                    <a16:rowId xmlns:a16="http://schemas.microsoft.com/office/drawing/2014/main" val="2365319942"/>
                  </a:ext>
                </a:extLst>
              </a:tr>
              <a:tr h="1071085">
                <a:tc>
                  <a:txBody>
                    <a:bodyPr/>
                    <a:lstStyle/>
                    <a:p>
                      <a:pPr algn="just"/>
                      <a:r>
                        <a:rPr lang="fr-FR" sz="1100" dirty="0"/>
                        <a:t>Contrôle exclusif</a:t>
                      </a:r>
                    </a:p>
                  </a:txBody>
                  <a:tcPr/>
                </a:tc>
                <a:tc>
                  <a:txBody>
                    <a:bodyPr/>
                    <a:lstStyle/>
                    <a:p>
                      <a:pPr algn="just"/>
                      <a:r>
                        <a:rPr lang="fr-FR" sz="1100" dirty="0"/>
                        <a:t>Intégration globale</a:t>
                      </a:r>
                    </a:p>
                  </a:txBody>
                  <a:tcPr/>
                </a:tc>
                <a:tc>
                  <a:txBody>
                    <a:bodyPr/>
                    <a:lstStyle/>
                    <a:p>
                      <a:pPr algn="just">
                        <a:lnSpc>
                          <a:spcPct val="115000"/>
                        </a:lnSpc>
                        <a:spcAft>
                          <a:spcPts val="0"/>
                        </a:spcAft>
                      </a:pPr>
                      <a:r>
                        <a:rPr lang="fr-FR" sz="1100" dirty="0">
                          <a:effectLst/>
                        </a:rPr>
                        <a:t>Agrégation des actifs et des passifs et des comptes de résultat, après neutralisation des opérations intragroupe, du holding « tête de groupe » et de l’entité contrôlée. Valorisation dans les capitaux propres et le résultat net de la quote-part revenant aux minoritaires</a:t>
                      </a:r>
                    </a:p>
                    <a:p>
                      <a:pPr algn="just">
                        <a:lnSpc>
                          <a:spcPct val="115000"/>
                        </a:lnSpc>
                        <a:spcAft>
                          <a:spcPts val="0"/>
                        </a:spcAft>
                      </a:pPr>
                      <a:r>
                        <a:rPr lang="fr-FR" sz="1100" b="1" dirty="0">
                          <a:effectLst/>
                          <a:sym typeface="Wingdings"/>
                        </a:rPr>
                        <a:t></a:t>
                      </a:r>
                      <a:r>
                        <a:rPr lang="fr-FR" sz="1100" b="1" dirty="0">
                          <a:effectLst/>
                        </a:rPr>
                        <a:t> Tous les risques sont intégrés</a:t>
                      </a:r>
                      <a:endParaRPr lang="fr-FR" sz="1100" b="1" dirty="0">
                        <a:effectLst/>
                        <a:latin typeface="+mn-lt"/>
                        <a:ea typeface="Calibri"/>
                        <a:cs typeface="Times New Roman"/>
                      </a:endParaRPr>
                    </a:p>
                  </a:txBody>
                  <a:tcPr/>
                </a:tc>
                <a:extLst>
                  <a:ext uri="{0D108BD9-81ED-4DB2-BD59-A6C34878D82A}">
                    <a16:rowId xmlns:a16="http://schemas.microsoft.com/office/drawing/2014/main" val="3290536787"/>
                  </a:ext>
                </a:extLst>
              </a:tr>
              <a:tr h="675102">
                <a:tc>
                  <a:txBody>
                    <a:bodyPr/>
                    <a:lstStyle/>
                    <a:p>
                      <a:pPr algn="just"/>
                      <a:r>
                        <a:rPr lang="fr-FR" sz="1100" dirty="0"/>
                        <a:t>Contrôle conjoint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100" dirty="0">
                          <a:effectLst/>
                        </a:rPr>
                        <a:t>Intégration proportionnelle (normes françaises uniquement)</a:t>
                      </a:r>
                      <a:endParaRPr lang="fr-FR" sz="1100" dirty="0">
                        <a:effectLst/>
                        <a:latin typeface="+mn-lt"/>
                        <a:ea typeface="Calibri"/>
                        <a:cs typeface="Times New Roman"/>
                      </a:endParaRPr>
                    </a:p>
                    <a:p>
                      <a:pPr algn="just"/>
                      <a:endParaRPr lang="fr-FR" sz="1100" dirty="0"/>
                    </a:p>
                  </a:txBody>
                  <a:tcPr/>
                </a:tc>
                <a:tc>
                  <a:txBody>
                    <a:bodyPr/>
                    <a:lstStyle/>
                    <a:p>
                      <a:pPr algn="just">
                        <a:lnSpc>
                          <a:spcPct val="115000"/>
                        </a:lnSpc>
                        <a:spcAft>
                          <a:spcPts val="0"/>
                        </a:spcAft>
                      </a:pPr>
                      <a:r>
                        <a:rPr lang="fr-FR" sz="1100" dirty="0">
                          <a:effectLst/>
                        </a:rPr>
                        <a:t>Intégration de la quote-part dans les actifs et les passifs et les produits et les charges de l’entité dont le contrôle est partagé</a:t>
                      </a:r>
                    </a:p>
                    <a:p>
                      <a:pPr algn="just">
                        <a:lnSpc>
                          <a:spcPct val="115000"/>
                        </a:lnSpc>
                        <a:spcAft>
                          <a:spcPts val="0"/>
                        </a:spcAft>
                      </a:pPr>
                      <a:r>
                        <a:rPr lang="fr-FR" sz="1100" b="1" dirty="0">
                          <a:effectLst/>
                          <a:sym typeface="Wingdings"/>
                        </a:rPr>
                        <a:t></a:t>
                      </a:r>
                      <a:r>
                        <a:rPr lang="fr-FR" sz="1100" b="1" dirty="0">
                          <a:effectLst/>
                        </a:rPr>
                        <a:t> Les risques sont intégrés partiellement</a:t>
                      </a:r>
                      <a:endParaRPr lang="fr-FR" sz="1100" b="1" dirty="0">
                        <a:effectLst/>
                        <a:latin typeface="+mn-lt"/>
                        <a:ea typeface="Calibri"/>
                        <a:cs typeface="Times New Roman"/>
                      </a:endParaRPr>
                    </a:p>
                  </a:txBody>
                  <a:tcPr/>
                </a:tc>
                <a:extLst>
                  <a:ext uri="{0D108BD9-81ED-4DB2-BD59-A6C34878D82A}">
                    <a16:rowId xmlns:a16="http://schemas.microsoft.com/office/drawing/2014/main" val="1755475042"/>
                  </a:ext>
                </a:extLst>
              </a:tr>
              <a:tr h="1119208">
                <a:tc>
                  <a:txBody>
                    <a:bodyPr/>
                    <a:lstStyle/>
                    <a:p>
                      <a:pPr algn="just"/>
                      <a:r>
                        <a:rPr lang="fr-FR" sz="1100" dirty="0"/>
                        <a:t>Influence notable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100" dirty="0">
                          <a:effectLst/>
                        </a:rPr>
                        <a:t>Mise en équivalence</a:t>
                      </a:r>
                      <a:endParaRPr lang="fr-FR" sz="1100" dirty="0">
                        <a:effectLst/>
                        <a:latin typeface="+mn-lt"/>
                        <a:ea typeface="Calibri"/>
                        <a:cs typeface="Times New Roman"/>
                      </a:endParaRPr>
                    </a:p>
                    <a:p>
                      <a:pPr algn="just"/>
                      <a:endParaRPr lang="fr-FR" sz="1100" dirty="0"/>
                    </a:p>
                  </a:txBody>
                  <a:tcPr/>
                </a:tc>
                <a:tc>
                  <a:txBody>
                    <a:bodyPr/>
                    <a:lstStyle/>
                    <a:p>
                      <a:pPr algn="just">
                        <a:lnSpc>
                          <a:spcPct val="115000"/>
                        </a:lnSpc>
                        <a:spcAft>
                          <a:spcPts val="0"/>
                        </a:spcAft>
                      </a:pPr>
                      <a:r>
                        <a:rPr lang="fr-FR" sz="1100" dirty="0">
                          <a:effectLst/>
                        </a:rPr>
                        <a:t>Réévaluation de la participation, classée dans les titres « mis en équivalence » à hauteur de la quote-part détenue dans les capitaux propres de la société sous influence et intégration au compte de résultat de la quote-part de résultat net dans cette société.</a:t>
                      </a:r>
                    </a:p>
                    <a:p>
                      <a:pPr algn="just">
                        <a:lnSpc>
                          <a:spcPct val="115000"/>
                        </a:lnSpc>
                        <a:spcAft>
                          <a:spcPts val="0"/>
                        </a:spcAft>
                      </a:pPr>
                      <a:r>
                        <a:rPr lang="fr-FR" sz="1100" b="1" dirty="0">
                          <a:effectLst/>
                          <a:sym typeface="Wingdings"/>
                        </a:rPr>
                        <a:t></a:t>
                      </a:r>
                      <a:r>
                        <a:rPr lang="fr-FR" sz="1100" b="1" dirty="0">
                          <a:effectLst/>
                        </a:rPr>
                        <a:t> Aucun risque intégré</a:t>
                      </a:r>
                      <a:endParaRPr lang="fr-FR" sz="1100" b="1" dirty="0">
                        <a:effectLst/>
                        <a:latin typeface="+mn-lt"/>
                        <a:ea typeface="Calibri"/>
                        <a:cs typeface="Times New Roman"/>
                      </a:endParaRPr>
                    </a:p>
                  </a:txBody>
                  <a:tcPr/>
                </a:tc>
                <a:extLst>
                  <a:ext uri="{0D108BD9-81ED-4DB2-BD59-A6C34878D82A}">
                    <a16:rowId xmlns:a16="http://schemas.microsoft.com/office/drawing/2014/main" val="3306705559"/>
                  </a:ext>
                </a:extLst>
              </a:tr>
              <a:tr h="1119208">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100" dirty="0">
                          <a:effectLst/>
                        </a:rPr>
                        <a:t>Absence de contrôle ou d’influence</a:t>
                      </a:r>
                      <a:endParaRPr lang="fr-FR" sz="1100" dirty="0">
                        <a:effectLst/>
                        <a:latin typeface="+mn-lt"/>
                        <a:ea typeface="Calibri"/>
                        <a:cs typeface="Times New Roman"/>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100" dirty="0">
                          <a:effectLst/>
                        </a:rPr>
                        <a:t>Participation matérialisée au sein des titres immobilisés (participation stratégique) ou des VMP (participation financière)</a:t>
                      </a:r>
                      <a:endParaRPr lang="fr-FR" sz="1100" dirty="0">
                        <a:effectLst/>
                        <a:latin typeface="+mn-lt"/>
                        <a:ea typeface="Calibri"/>
                        <a:cs typeface="Times New Roman"/>
                      </a:endParaRPr>
                    </a:p>
                    <a:p>
                      <a:pPr algn="just"/>
                      <a:endParaRPr lang="fr-FR" sz="1100" dirty="0"/>
                    </a:p>
                  </a:txBody>
                  <a:tcPr/>
                </a:tc>
                <a:tc>
                  <a:txBody>
                    <a:bodyPr/>
                    <a:lstStyle/>
                    <a:p>
                      <a:pPr algn="just">
                        <a:lnSpc>
                          <a:spcPct val="115000"/>
                        </a:lnSpc>
                        <a:spcAft>
                          <a:spcPts val="0"/>
                        </a:spcAft>
                      </a:pPr>
                      <a:r>
                        <a:rPr lang="fr-FR" sz="1100" dirty="0">
                          <a:effectLst/>
                        </a:rPr>
                        <a:t>Valorisation de l’actif détenu au sein des titres immobilisés ou des actifs financiers à court terme (valeurs mobilières de placement).Enregistrement des dividendes dans les produits financiers au compte de résultat.</a:t>
                      </a:r>
                    </a:p>
                    <a:p>
                      <a:pPr algn="just">
                        <a:lnSpc>
                          <a:spcPct val="115000"/>
                        </a:lnSpc>
                        <a:spcAft>
                          <a:spcPts val="0"/>
                        </a:spcAft>
                      </a:pPr>
                      <a:r>
                        <a:rPr lang="fr-FR" sz="1100" b="1" dirty="0">
                          <a:effectLst/>
                          <a:sym typeface="Wingdings"/>
                        </a:rPr>
                        <a:t></a:t>
                      </a:r>
                      <a:r>
                        <a:rPr lang="fr-FR" sz="1100" b="1" dirty="0">
                          <a:effectLst/>
                        </a:rPr>
                        <a:t> Aucun risque intégré</a:t>
                      </a:r>
                      <a:endParaRPr lang="fr-FR" sz="1100" b="1" dirty="0">
                        <a:effectLst/>
                        <a:latin typeface="+mn-lt"/>
                        <a:ea typeface="Calibri"/>
                        <a:cs typeface="Times New Roman"/>
                      </a:endParaRPr>
                    </a:p>
                  </a:txBody>
                  <a:tcPr/>
                </a:tc>
                <a:extLst>
                  <a:ext uri="{0D108BD9-81ED-4DB2-BD59-A6C34878D82A}">
                    <a16:rowId xmlns:a16="http://schemas.microsoft.com/office/drawing/2014/main" val="4147301904"/>
                  </a:ext>
                </a:extLst>
              </a:tr>
            </a:tbl>
          </a:graphicData>
        </a:graphic>
      </p:graphicFrame>
    </p:spTree>
    <p:extLst>
      <p:ext uri="{BB962C8B-B14F-4D97-AF65-F5344CB8AC3E}">
        <p14:creationId xmlns:p14="http://schemas.microsoft.com/office/powerpoint/2010/main" val="8653752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57</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2 – Examen critique de l’information</a:t>
            </a:r>
          </a:p>
          <a:p>
            <a:pPr marL="0" indent="0" algn="ctr">
              <a:buNone/>
            </a:pPr>
            <a:endParaRPr lang="fr-FR" sz="1000" b="1" dirty="0"/>
          </a:p>
          <a:p>
            <a:pPr marL="0" indent="0" algn="ctr">
              <a:buNone/>
            </a:pPr>
            <a:r>
              <a:rPr lang="fr-FR" sz="2000" u="sng" dirty="0"/>
              <a:t>Focus sur les sociétés civiles immobilières (SCI)</a:t>
            </a:r>
          </a:p>
          <a:p>
            <a:pPr algn="just"/>
            <a:r>
              <a:rPr lang="fr-FR" sz="2000" dirty="0"/>
              <a:t>Quelle(s) SCI non détenue(s) financièrement sont à intégrer dans le périmètre ?</a:t>
            </a:r>
          </a:p>
          <a:p>
            <a:pPr algn="just"/>
            <a:r>
              <a:rPr lang="fr-FR" sz="2000" dirty="0"/>
              <a:t>Les SCI doivent cumuler les 3 conditions suivantes :</a:t>
            </a:r>
          </a:p>
          <a:p>
            <a:pPr lvl="1" algn="just"/>
            <a:r>
              <a:rPr lang="fr-FR" sz="1800" dirty="0"/>
              <a:t>être liées au démembrement du patrimoine professionnel d’une ou plusieurs entités du groupe</a:t>
            </a:r>
          </a:p>
          <a:p>
            <a:pPr lvl="1" algn="just"/>
            <a:r>
              <a:rPr lang="fr-FR" sz="1800" dirty="0"/>
              <a:t>détenir des actifs professionnels dévolus principalement à l’activité d’une ou plusieurs entités du groupe</a:t>
            </a:r>
          </a:p>
          <a:p>
            <a:pPr lvl="1" algn="just"/>
            <a:r>
              <a:rPr lang="fr-FR" sz="1800" dirty="0"/>
              <a:t>être sous le contrôle d’une ou plusieurs entités du groupe : notion d’unité économique.</a:t>
            </a:r>
          </a:p>
          <a:p>
            <a:pPr marL="0" indent="0" fontAlgn="t">
              <a:buNone/>
            </a:pPr>
            <a:endParaRPr lang="fr-FR" dirty="0"/>
          </a:p>
          <a:p>
            <a:endParaRPr lang="fr-FR" b="1" dirty="0"/>
          </a:p>
          <a:p>
            <a:endParaRPr lang="fr-FR" dirty="0"/>
          </a:p>
        </p:txBody>
      </p:sp>
    </p:spTree>
    <p:extLst>
      <p:ext uri="{BB962C8B-B14F-4D97-AF65-F5344CB8AC3E}">
        <p14:creationId xmlns:p14="http://schemas.microsoft.com/office/powerpoint/2010/main" val="1986041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C8C62-8388-B443-A572-25F697F30A02}"/>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664151B2-02D2-004B-B1F3-14343492329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1BDAF2-0BEE-A84C-8E66-E9F9CAD228D4}"/>
              </a:ext>
            </a:extLst>
          </p:cNvPr>
          <p:cNvSpPr>
            <a:spLocks noGrp="1"/>
          </p:cNvSpPr>
          <p:nvPr>
            <p:ph type="sldNum" sz="quarter" idx="4"/>
          </p:nvPr>
        </p:nvSpPr>
        <p:spPr/>
        <p:txBody>
          <a:bodyPr/>
          <a:lstStyle/>
          <a:p>
            <a:fld id="{A5612AF6-3794-417C-8315-010C3BB3AD18}" type="slidenum">
              <a:rPr lang="fr-FR" smtClean="0"/>
              <a:pPr/>
              <a:t>58</a:t>
            </a:fld>
            <a:endParaRPr lang="fr-FR" dirty="0"/>
          </a:p>
        </p:txBody>
      </p:sp>
      <p:sp>
        <p:nvSpPr>
          <p:cNvPr id="5" name="Espace réservé du contenu 4">
            <a:extLst>
              <a:ext uri="{FF2B5EF4-FFF2-40B4-BE49-F238E27FC236}">
                <a16:creationId xmlns:a16="http://schemas.microsoft.com/office/drawing/2014/main" id="{688EDAC1-229D-7542-935F-3B4A75038C1D}"/>
              </a:ext>
            </a:extLst>
          </p:cNvPr>
          <p:cNvSpPr>
            <a:spLocks noGrp="1"/>
          </p:cNvSpPr>
          <p:nvPr>
            <p:ph idx="1"/>
          </p:nvPr>
        </p:nvSpPr>
        <p:spPr/>
        <p:txBody>
          <a:bodyPr>
            <a:normAutofit lnSpcReduction="10000"/>
          </a:bodyPr>
          <a:lstStyle/>
          <a:p>
            <a:pPr marL="114300" indent="0" algn="ctr">
              <a:buNone/>
            </a:pPr>
            <a:r>
              <a:rPr lang="fr-FR" sz="2400" b="1" dirty="0"/>
              <a:t>Les principales étapes de l’analyse :</a:t>
            </a:r>
          </a:p>
          <a:p>
            <a:pPr marL="114300" indent="0" algn="just">
              <a:buNone/>
            </a:pPr>
            <a:endParaRPr lang="fr-FR" sz="2400" dirty="0"/>
          </a:p>
          <a:p>
            <a:pPr marL="571500" indent="-457200" algn="just">
              <a:buFont typeface="+mj-lt"/>
              <a:buAutoNum type="arabicPeriod"/>
            </a:pPr>
            <a:r>
              <a:rPr lang="fr-FR" sz="2400" dirty="0">
                <a:solidFill>
                  <a:schemeClr val="accent1">
                    <a:lumMod val="20000"/>
                    <a:lumOff val="80000"/>
                  </a:schemeClr>
                </a:solidFill>
              </a:rPr>
              <a:t>Analyse de l’environnement, de la stratégie et de l’organisation.</a:t>
            </a:r>
          </a:p>
          <a:p>
            <a:pPr marL="571500" indent="-457200" algn="just">
              <a:buFont typeface="+mj-lt"/>
              <a:buAutoNum type="arabicPeriod"/>
            </a:pPr>
            <a:r>
              <a:rPr lang="fr-FR" sz="2400" dirty="0">
                <a:solidFill>
                  <a:schemeClr val="accent1">
                    <a:lumMod val="20000"/>
                    <a:lumOff val="80000"/>
                  </a:schemeClr>
                </a:solidFill>
              </a:rPr>
              <a:t>Examen critique de la qualité de l’information et étude préalable à l’analyse des comptes.</a:t>
            </a:r>
          </a:p>
          <a:p>
            <a:pPr marL="571500" indent="-457200" algn="just">
              <a:buFont typeface="+mj-lt"/>
              <a:buAutoNum type="arabicPeriod"/>
            </a:pPr>
            <a:r>
              <a:rPr lang="fr-FR" sz="2400" dirty="0"/>
              <a:t>Analyse des performances.</a:t>
            </a:r>
          </a:p>
          <a:p>
            <a:pPr marL="571500" indent="-457200" algn="just">
              <a:buFont typeface="+mj-lt"/>
              <a:buAutoNum type="arabicPeriod"/>
            </a:pPr>
            <a:r>
              <a:rPr lang="fr-FR" sz="2400" dirty="0">
                <a:solidFill>
                  <a:schemeClr val="accent1">
                    <a:lumMod val="20000"/>
                    <a:lumOff val="80000"/>
                  </a:schemeClr>
                </a:solidFill>
              </a:rPr>
              <a:t>Examen de la structure financière (solvabilité et autonomie financière).</a:t>
            </a:r>
          </a:p>
          <a:p>
            <a:pPr marL="571500" indent="-457200" algn="just">
              <a:buFont typeface="+mj-lt"/>
              <a:buAutoNum type="arabicPeriod"/>
            </a:pPr>
            <a:r>
              <a:rPr lang="fr-FR" sz="2400" dirty="0">
                <a:solidFill>
                  <a:schemeClr val="accent1">
                    <a:lumMod val="20000"/>
                    <a:lumOff val="80000"/>
                  </a:schemeClr>
                </a:solidFill>
              </a:rPr>
              <a:t>Analyse de la liquidité.</a:t>
            </a:r>
          </a:p>
          <a:p>
            <a:pPr marL="571500" indent="-457200" algn="just">
              <a:buFont typeface="+mj-lt"/>
              <a:buAutoNum type="arabicPeriod"/>
            </a:pPr>
            <a:r>
              <a:rPr lang="fr-FR" sz="2400" dirty="0">
                <a:solidFill>
                  <a:schemeClr val="accent1">
                    <a:lumMod val="20000"/>
                    <a:lumOff val="80000"/>
                  </a:schemeClr>
                </a:solidFill>
              </a:rPr>
              <a:t>Décision de cotation</a:t>
            </a:r>
          </a:p>
        </p:txBody>
      </p:sp>
    </p:spTree>
    <p:extLst>
      <p:ext uri="{BB962C8B-B14F-4D97-AF65-F5344CB8AC3E}">
        <p14:creationId xmlns:p14="http://schemas.microsoft.com/office/powerpoint/2010/main" val="16686515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59</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3 – Analyse des performances</a:t>
            </a:r>
          </a:p>
          <a:p>
            <a:pPr marL="0" indent="0" algn="ctr">
              <a:buNone/>
            </a:pPr>
            <a:endParaRPr lang="fr-FR" sz="1000" b="1" dirty="0"/>
          </a:p>
          <a:p>
            <a:pPr marL="114300" indent="0" algn="ctr">
              <a:buNone/>
            </a:pPr>
            <a:r>
              <a:rPr lang="fr-FR" sz="2000" u="sng" dirty="0"/>
              <a:t>Objectifs de cette étape</a:t>
            </a:r>
            <a:endParaRPr lang="fr-FR" sz="2000" dirty="0"/>
          </a:p>
          <a:p>
            <a:pPr marL="571500" indent="-457200" algn="just"/>
            <a:r>
              <a:rPr lang="fr-FR" sz="2000" dirty="0"/>
              <a:t>Évaluer la rentabilité récurrente du groupe en ajustant les composantes du résultat : notion de résultat net récurrent (analyse statique des performances).</a:t>
            </a:r>
          </a:p>
          <a:p>
            <a:pPr marL="571500" indent="-457200" algn="just"/>
            <a:r>
              <a:rPr lang="fr-FR" sz="2000" dirty="0"/>
              <a:t>Examiner les tendances de fond ou structurelles pour anticiper son évolution (analyse dynamique des performances)</a:t>
            </a:r>
          </a:p>
        </p:txBody>
      </p:sp>
    </p:spTree>
    <p:extLst>
      <p:ext uri="{BB962C8B-B14F-4D97-AF65-F5344CB8AC3E}">
        <p14:creationId xmlns:p14="http://schemas.microsoft.com/office/powerpoint/2010/main" val="16423097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60</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a:xfrm>
            <a:off x="468000" y="1484784"/>
            <a:ext cx="8229600" cy="4525963"/>
          </a:xfrm>
        </p:spPr>
        <p:txBody>
          <a:bodyPr>
            <a:normAutofit fontScale="77500" lnSpcReduction="20000"/>
          </a:bodyPr>
          <a:lstStyle/>
          <a:p>
            <a:pPr marL="0" indent="0" algn="ctr">
              <a:buNone/>
            </a:pPr>
            <a:r>
              <a:rPr lang="fr-FR" b="1" dirty="0"/>
              <a:t>Étape 3 – Analyse des performances</a:t>
            </a:r>
          </a:p>
          <a:p>
            <a:pPr marL="0" indent="0" algn="ctr">
              <a:buNone/>
            </a:pPr>
            <a:endParaRPr lang="fr-FR" sz="1300" dirty="0"/>
          </a:p>
          <a:p>
            <a:pPr marL="0" indent="0" algn="ctr">
              <a:buNone/>
            </a:pPr>
            <a:r>
              <a:rPr lang="fr-FR" u="sng" dirty="0"/>
              <a:t>L’indicateur clés de la performance</a:t>
            </a:r>
            <a:endParaRPr lang="fr-FR" dirty="0"/>
          </a:p>
          <a:p>
            <a:pPr algn="just"/>
            <a:r>
              <a:rPr lang="fr-FR" dirty="0"/>
              <a:t>Conserver que les </a:t>
            </a:r>
            <a:r>
              <a:rPr lang="fr-FR" b="1" dirty="0"/>
              <a:t>produits</a:t>
            </a:r>
            <a:r>
              <a:rPr lang="fr-FR" dirty="0"/>
              <a:t> </a:t>
            </a:r>
            <a:r>
              <a:rPr lang="fr-FR" b="1" dirty="0"/>
              <a:t>et</a:t>
            </a:r>
            <a:r>
              <a:rPr lang="fr-FR" dirty="0"/>
              <a:t> </a:t>
            </a:r>
            <a:r>
              <a:rPr lang="fr-FR" b="1" dirty="0"/>
              <a:t>les</a:t>
            </a:r>
            <a:r>
              <a:rPr lang="fr-FR" dirty="0"/>
              <a:t> </a:t>
            </a:r>
            <a:r>
              <a:rPr lang="fr-FR" b="1" dirty="0"/>
              <a:t>charges « récurrents »</a:t>
            </a:r>
            <a:r>
              <a:rPr lang="fr-FR" dirty="0"/>
              <a:t>. Des éléments du résultat exceptionnel peuvent avoir un caractère de récurrence (plus-values de cession, charges de restructuration…). À l’inverse, des éléments figurant en exploitation ou dans le résultat financier peuvent être non récurrents (dotation aux provisions, dépréciation de titres…).</a:t>
            </a:r>
          </a:p>
          <a:p>
            <a:pPr algn="just"/>
            <a:r>
              <a:rPr lang="fr-FR" dirty="0"/>
              <a:t>La dotation aux amortissements (ou la reprise) des écarts d’acquisition et tout élément à caractère exceptionnel sont systématiquement écartés.</a:t>
            </a:r>
          </a:p>
          <a:p>
            <a:pPr algn="just"/>
            <a:r>
              <a:rPr lang="fr-FR" dirty="0"/>
              <a:t>L’impôt effectif applicable au groupe est pris en compte (à défaut, le taux forfaitaire de 33,33 % est retenu).</a:t>
            </a:r>
          </a:p>
          <a:p>
            <a:pPr marL="0" indent="0" algn="just">
              <a:buNone/>
            </a:pPr>
            <a:endParaRPr lang="fr-FR" dirty="0"/>
          </a:p>
          <a:p>
            <a:pPr marL="114300" indent="0" algn="ctr">
              <a:buNone/>
            </a:pPr>
            <a:r>
              <a:rPr lang="fr-FR" b="1" dirty="0">
                <a:sym typeface="Wingdings"/>
              </a:rPr>
              <a:t> Approximation du calcul : RNR = RCAI net de la charge d’impôt (2/3*RCAI par défaut)</a:t>
            </a:r>
            <a:endParaRPr lang="fr-FR" b="1" dirty="0"/>
          </a:p>
          <a:p>
            <a:pPr marL="0" indent="0" fontAlgn="t">
              <a:buNone/>
            </a:pPr>
            <a:endParaRPr lang="fr-FR" dirty="0"/>
          </a:p>
          <a:p>
            <a:endParaRPr lang="fr-FR" b="1" dirty="0"/>
          </a:p>
          <a:p>
            <a:endParaRPr lang="fr-FR" dirty="0"/>
          </a:p>
        </p:txBody>
      </p:sp>
    </p:spTree>
    <p:extLst>
      <p:ext uri="{BB962C8B-B14F-4D97-AF65-F5344CB8AC3E}">
        <p14:creationId xmlns:p14="http://schemas.microsoft.com/office/powerpoint/2010/main" val="14670372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61</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3 – Analyse des performances</a:t>
            </a:r>
          </a:p>
          <a:p>
            <a:pPr marL="0" indent="0" algn="ctr">
              <a:buNone/>
            </a:pPr>
            <a:endParaRPr lang="fr-FR" sz="1100" dirty="0"/>
          </a:p>
          <a:p>
            <a:pPr marL="0" indent="0" algn="ctr">
              <a:buNone/>
            </a:pPr>
            <a:r>
              <a:rPr lang="fr-FR" sz="2000" u="sng" dirty="0"/>
              <a:t>Examen des tendances</a:t>
            </a:r>
          </a:p>
          <a:p>
            <a:pPr algn="just"/>
            <a:r>
              <a:rPr lang="fr-FR" sz="2000" dirty="0"/>
              <a:t>Examen du profil du groupe :</a:t>
            </a:r>
          </a:p>
          <a:p>
            <a:pPr lvl="1" algn="just"/>
            <a:r>
              <a:rPr lang="fr-FR" sz="1800" dirty="0"/>
              <a:t>Groupe à forte croissance = gestion des BFR ?</a:t>
            </a:r>
          </a:p>
          <a:p>
            <a:pPr lvl="1" algn="just"/>
            <a:r>
              <a:rPr lang="fr-FR" sz="1800" dirty="0"/>
              <a:t>Groupe opérant sur un marché mature = maîtrise des coûts ?</a:t>
            </a:r>
          </a:p>
          <a:p>
            <a:pPr lvl="1" algn="just"/>
            <a:r>
              <a:rPr lang="fr-FR" sz="1800" dirty="0"/>
              <a:t>Groupe en perte de vitesse = capacité d’adaptation ? </a:t>
            </a:r>
          </a:p>
          <a:p>
            <a:pPr lvl="1" algn="just"/>
            <a:r>
              <a:rPr lang="fr-FR" sz="1800" dirty="0"/>
              <a:t>Analyse au regard du point mort (couverture des charges fixes), décisions prises (restructuration en cours)…</a:t>
            </a:r>
          </a:p>
          <a:p>
            <a:pPr algn="just"/>
            <a:r>
              <a:rPr lang="fr-FR" sz="2000" dirty="0"/>
              <a:t>Examen de l’origine de la variation de l’activité (analyse de l’impact de la variation du périmètre, du taux de change et de la croissance organique)</a:t>
            </a:r>
          </a:p>
          <a:p>
            <a:pPr algn="just"/>
            <a:r>
              <a:rPr lang="fr-FR" sz="2000" dirty="0"/>
              <a:t>Comparaison avec les principaux concurrents</a:t>
            </a:r>
          </a:p>
          <a:p>
            <a:pPr marL="0" indent="0">
              <a:buNone/>
            </a:pPr>
            <a:endParaRPr lang="fr-FR" b="1" dirty="0"/>
          </a:p>
        </p:txBody>
      </p:sp>
    </p:spTree>
    <p:extLst>
      <p:ext uri="{BB962C8B-B14F-4D97-AF65-F5344CB8AC3E}">
        <p14:creationId xmlns:p14="http://schemas.microsoft.com/office/powerpoint/2010/main" val="37736860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62</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400" b="1" dirty="0"/>
              <a:t>Étape 3 – Analyse des performances</a:t>
            </a:r>
          </a:p>
          <a:p>
            <a:endParaRPr lang="fr-FR" b="1" dirty="0"/>
          </a:p>
          <a:p>
            <a:endParaRPr lang="fr-FR" dirty="0"/>
          </a:p>
        </p:txBody>
      </p:sp>
      <p:pic>
        <p:nvPicPr>
          <p:cNvPr id="7" name="Image 6">
            <a:extLst>
              <a:ext uri="{FF2B5EF4-FFF2-40B4-BE49-F238E27FC236}">
                <a16:creationId xmlns:a16="http://schemas.microsoft.com/office/drawing/2014/main" id="{3A86EDBA-2D41-4E44-A4A1-340FD94931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640" y="1888979"/>
            <a:ext cx="6108836" cy="4076984"/>
          </a:xfrm>
          <a:prstGeom prst="rect">
            <a:avLst/>
          </a:prstGeom>
        </p:spPr>
      </p:pic>
      <p:sp>
        <p:nvSpPr>
          <p:cNvPr id="8" name="ZoneTexte 7">
            <a:extLst>
              <a:ext uri="{FF2B5EF4-FFF2-40B4-BE49-F238E27FC236}">
                <a16:creationId xmlns:a16="http://schemas.microsoft.com/office/drawing/2014/main" id="{64A51BF9-1892-2B4B-A454-FBA5288DFB4F}"/>
              </a:ext>
            </a:extLst>
          </p:cNvPr>
          <p:cNvSpPr txBox="1"/>
          <p:nvPr/>
        </p:nvSpPr>
        <p:spPr>
          <a:xfrm>
            <a:off x="5940152" y="5944437"/>
            <a:ext cx="1622560" cy="215444"/>
          </a:xfrm>
          <a:prstGeom prst="rect">
            <a:avLst/>
          </a:prstGeom>
          <a:noFill/>
        </p:spPr>
        <p:txBody>
          <a:bodyPr wrap="none" rtlCol="0">
            <a:spAutoFit/>
          </a:bodyPr>
          <a:lstStyle/>
          <a:p>
            <a:r>
              <a:rPr lang="fr-FR" sz="800" i="1" dirty="0">
                <a:solidFill>
                  <a:schemeClr val="tx2"/>
                </a:solidFill>
              </a:rPr>
              <a:t>Photo by </a:t>
            </a:r>
            <a:r>
              <a:rPr lang="fr-FR" sz="800" i="1" dirty="0">
                <a:solidFill>
                  <a:schemeClr val="tx2"/>
                </a:solidFill>
                <a:hlinkClick r:id="rId4">
                  <a:extLst>
                    <a:ext uri="{A12FA001-AC4F-418D-AE19-62706E023703}">
                      <ahyp:hlinkClr xmlns:ahyp="http://schemas.microsoft.com/office/drawing/2018/hyperlinkcolor" val="tx"/>
                    </a:ext>
                  </a:extLst>
                </a:hlinkClick>
              </a:rPr>
              <a:t>Helloquence</a:t>
            </a:r>
            <a:r>
              <a:rPr lang="fr-FR" sz="800" i="1" dirty="0">
                <a:solidFill>
                  <a:schemeClr val="tx2"/>
                </a:solidFill>
              </a:rPr>
              <a:t> on </a:t>
            </a:r>
            <a:r>
              <a:rPr lang="fr-FR" sz="800" i="1" dirty="0">
                <a:solidFill>
                  <a:schemeClr val="tx2"/>
                </a:solidFill>
                <a:hlinkClick r:id="rId5">
                  <a:extLst>
                    <a:ext uri="{A12FA001-AC4F-418D-AE19-62706E023703}">
                      <ahyp:hlinkClr xmlns:ahyp="http://schemas.microsoft.com/office/drawing/2018/hyperlinkcolor" val="tx"/>
                    </a:ext>
                  </a:extLst>
                </a:hlinkClick>
              </a:rPr>
              <a:t>Unsplash</a:t>
            </a:r>
            <a:endParaRPr lang="fr-FR" sz="800" i="1" dirty="0">
              <a:solidFill>
                <a:schemeClr val="tx2"/>
              </a:solidFill>
            </a:endParaRPr>
          </a:p>
        </p:txBody>
      </p:sp>
    </p:spTree>
    <p:extLst>
      <p:ext uri="{BB962C8B-B14F-4D97-AF65-F5344CB8AC3E}">
        <p14:creationId xmlns:p14="http://schemas.microsoft.com/office/powerpoint/2010/main" val="5286556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C8C62-8388-B443-A572-25F697F30A02}"/>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664151B2-02D2-004B-B1F3-14343492329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1BDAF2-0BEE-A84C-8E66-E9F9CAD228D4}"/>
              </a:ext>
            </a:extLst>
          </p:cNvPr>
          <p:cNvSpPr>
            <a:spLocks noGrp="1"/>
          </p:cNvSpPr>
          <p:nvPr>
            <p:ph type="sldNum" sz="quarter" idx="4"/>
          </p:nvPr>
        </p:nvSpPr>
        <p:spPr/>
        <p:txBody>
          <a:bodyPr/>
          <a:lstStyle/>
          <a:p>
            <a:fld id="{A5612AF6-3794-417C-8315-010C3BB3AD18}" type="slidenum">
              <a:rPr lang="fr-FR" smtClean="0"/>
              <a:pPr/>
              <a:t>63</a:t>
            </a:fld>
            <a:endParaRPr lang="fr-FR" dirty="0"/>
          </a:p>
        </p:txBody>
      </p:sp>
      <p:sp>
        <p:nvSpPr>
          <p:cNvPr id="5" name="Espace réservé du contenu 4">
            <a:extLst>
              <a:ext uri="{FF2B5EF4-FFF2-40B4-BE49-F238E27FC236}">
                <a16:creationId xmlns:a16="http://schemas.microsoft.com/office/drawing/2014/main" id="{688EDAC1-229D-7542-935F-3B4A75038C1D}"/>
              </a:ext>
            </a:extLst>
          </p:cNvPr>
          <p:cNvSpPr>
            <a:spLocks noGrp="1"/>
          </p:cNvSpPr>
          <p:nvPr>
            <p:ph idx="1"/>
          </p:nvPr>
        </p:nvSpPr>
        <p:spPr/>
        <p:txBody>
          <a:bodyPr>
            <a:normAutofit lnSpcReduction="10000"/>
          </a:bodyPr>
          <a:lstStyle/>
          <a:p>
            <a:pPr marL="114300" indent="0" algn="ctr">
              <a:buNone/>
            </a:pPr>
            <a:r>
              <a:rPr lang="fr-FR" sz="2400" b="1" dirty="0"/>
              <a:t>Les principales étapes de l’analyse :</a:t>
            </a:r>
          </a:p>
          <a:p>
            <a:pPr marL="114300" indent="0" algn="just">
              <a:buNone/>
            </a:pPr>
            <a:endParaRPr lang="fr-FR" sz="2400" dirty="0"/>
          </a:p>
          <a:p>
            <a:pPr marL="571500" indent="-457200" algn="just">
              <a:buFont typeface="+mj-lt"/>
              <a:buAutoNum type="arabicPeriod"/>
            </a:pPr>
            <a:r>
              <a:rPr lang="fr-FR" sz="2400" dirty="0">
                <a:solidFill>
                  <a:schemeClr val="accent1">
                    <a:lumMod val="20000"/>
                    <a:lumOff val="80000"/>
                  </a:schemeClr>
                </a:solidFill>
              </a:rPr>
              <a:t>Analyse de l’environnement, de la stratégie et de l’organisation.</a:t>
            </a:r>
          </a:p>
          <a:p>
            <a:pPr marL="571500" indent="-457200" algn="just">
              <a:buFont typeface="+mj-lt"/>
              <a:buAutoNum type="arabicPeriod"/>
            </a:pPr>
            <a:r>
              <a:rPr lang="fr-FR" sz="2400" dirty="0">
                <a:solidFill>
                  <a:schemeClr val="accent1">
                    <a:lumMod val="20000"/>
                    <a:lumOff val="80000"/>
                  </a:schemeClr>
                </a:solidFill>
              </a:rPr>
              <a:t>Examen critique de la qualité de l’information et étude préalable à l’analyse des comptes.</a:t>
            </a:r>
          </a:p>
          <a:p>
            <a:pPr marL="571500" indent="-457200" algn="just">
              <a:buFont typeface="+mj-lt"/>
              <a:buAutoNum type="arabicPeriod"/>
            </a:pPr>
            <a:r>
              <a:rPr lang="fr-FR" sz="2400" dirty="0">
                <a:solidFill>
                  <a:schemeClr val="accent1">
                    <a:lumMod val="20000"/>
                    <a:lumOff val="80000"/>
                  </a:schemeClr>
                </a:solidFill>
              </a:rPr>
              <a:t>Analyse des performances.</a:t>
            </a:r>
          </a:p>
          <a:p>
            <a:pPr marL="571500" indent="-457200" algn="just">
              <a:buFont typeface="+mj-lt"/>
              <a:buAutoNum type="arabicPeriod"/>
            </a:pPr>
            <a:r>
              <a:rPr lang="fr-FR" sz="2400" dirty="0"/>
              <a:t>Examen de la structure financière (solvabilité et autonomie financière).</a:t>
            </a:r>
          </a:p>
          <a:p>
            <a:pPr marL="571500" indent="-457200" algn="just">
              <a:buFont typeface="+mj-lt"/>
              <a:buAutoNum type="arabicPeriod"/>
            </a:pPr>
            <a:r>
              <a:rPr lang="fr-FR" sz="2400" dirty="0">
                <a:solidFill>
                  <a:schemeClr val="accent1">
                    <a:lumMod val="20000"/>
                    <a:lumOff val="80000"/>
                  </a:schemeClr>
                </a:solidFill>
              </a:rPr>
              <a:t>Analyse de la liquidité.</a:t>
            </a:r>
          </a:p>
          <a:p>
            <a:pPr marL="571500" indent="-457200" algn="just">
              <a:buFont typeface="+mj-lt"/>
              <a:buAutoNum type="arabicPeriod"/>
            </a:pPr>
            <a:r>
              <a:rPr lang="fr-FR" sz="2400" dirty="0">
                <a:solidFill>
                  <a:schemeClr val="accent1">
                    <a:lumMod val="20000"/>
                    <a:lumOff val="80000"/>
                  </a:schemeClr>
                </a:solidFill>
              </a:rPr>
              <a:t>Décision de cotation</a:t>
            </a:r>
          </a:p>
        </p:txBody>
      </p:sp>
    </p:spTree>
    <p:extLst>
      <p:ext uri="{BB962C8B-B14F-4D97-AF65-F5344CB8AC3E}">
        <p14:creationId xmlns:p14="http://schemas.microsoft.com/office/powerpoint/2010/main" val="4174356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64</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algn="ctr"/>
            <a:endParaRPr lang="fr-FR" sz="2000" dirty="0"/>
          </a:p>
          <a:p>
            <a:pPr marL="114300" indent="0" algn="ctr">
              <a:buNone/>
            </a:pPr>
            <a:r>
              <a:rPr lang="fr-FR" sz="2000" u="sng" dirty="0"/>
              <a:t>Objectifs de cette étape</a:t>
            </a:r>
            <a:endParaRPr lang="fr-FR" sz="2000" dirty="0"/>
          </a:p>
          <a:p>
            <a:pPr marL="571500" indent="-457200" algn="just"/>
            <a:r>
              <a:rPr lang="fr-FR" sz="2000" dirty="0"/>
              <a:t>Déterminer le degré de </a:t>
            </a:r>
            <a:r>
              <a:rPr lang="fr-FR" sz="2000" b="1" dirty="0"/>
              <a:t>solvabilité</a:t>
            </a:r>
            <a:r>
              <a:rPr lang="fr-FR" sz="2000" dirty="0"/>
              <a:t> du groupe :</a:t>
            </a:r>
          </a:p>
          <a:p>
            <a:pPr marL="1062450" lvl="1" indent="-457200" algn="just"/>
            <a:r>
              <a:rPr lang="fr-FR" sz="1800" dirty="0"/>
              <a:t>Valeur effective des </a:t>
            </a:r>
            <a:r>
              <a:rPr lang="fr-FR" sz="1800" b="1" dirty="0"/>
              <a:t>fonds propres </a:t>
            </a:r>
            <a:r>
              <a:rPr lang="fr-FR" sz="1800" dirty="0"/>
              <a:t>(risque potentiel de survalorisation en cas d’existence éventuelle de non-valeurs).</a:t>
            </a:r>
          </a:p>
          <a:p>
            <a:pPr marL="1062450" lvl="1" indent="-457200" algn="just"/>
            <a:r>
              <a:rPr lang="fr-FR" sz="1800" dirty="0"/>
              <a:t>Niveau effectif de l’</a:t>
            </a:r>
            <a:r>
              <a:rPr lang="fr-FR" sz="1800" b="1" dirty="0"/>
              <a:t>endettement financier</a:t>
            </a:r>
            <a:r>
              <a:rPr lang="fr-FR" sz="1800" dirty="0"/>
              <a:t> (classement de certains éléments du passif tels que les titres hybrides 	et les comptes courants d’associés, traitement des 	engagements et des risques hors bilan, choix de l’agrégat d’endettement retenu).</a:t>
            </a:r>
          </a:p>
          <a:p>
            <a:pPr marL="571500" indent="-457200" algn="just"/>
            <a:r>
              <a:rPr lang="fr-FR" sz="2000" dirty="0"/>
              <a:t>Déterminer le degré d’</a:t>
            </a:r>
            <a:r>
              <a:rPr lang="fr-FR" sz="2000" b="1" dirty="0"/>
              <a:t>autonomie financière</a:t>
            </a:r>
            <a:r>
              <a:rPr lang="fr-FR" sz="2000" dirty="0"/>
              <a:t> : capacité d’autofinancement récurrente et capacité de remboursement</a:t>
            </a:r>
          </a:p>
          <a:p>
            <a:pPr marL="0" indent="0">
              <a:buNone/>
            </a:pPr>
            <a:endParaRPr lang="fr-FR" b="1" dirty="0"/>
          </a:p>
        </p:txBody>
      </p:sp>
    </p:spTree>
    <p:extLst>
      <p:ext uri="{BB962C8B-B14F-4D97-AF65-F5344CB8AC3E}">
        <p14:creationId xmlns:p14="http://schemas.microsoft.com/office/powerpoint/2010/main" val="15639571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65</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algn="just"/>
            <a:endParaRPr lang="fr-FR" sz="2000" dirty="0"/>
          </a:p>
          <a:p>
            <a:pPr algn="just"/>
            <a:r>
              <a:rPr lang="fr-FR" sz="2000" dirty="0"/>
              <a:t>Les fonds propres (FP) sont une résultante : Actifs – Dettes.</a:t>
            </a:r>
          </a:p>
          <a:p>
            <a:pPr algn="just"/>
            <a:r>
              <a:rPr lang="fr-FR" sz="2000" dirty="0"/>
              <a:t>Ils dépendent de la valorisation des postes :</a:t>
            </a:r>
          </a:p>
          <a:p>
            <a:pPr lvl="1" algn="just"/>
            <a:r>
              <a:rPr lang="fr-FR" sz="1800" dirty="0"/>
              <a:t>« classiques » : immobilisations, stocks, autres créances…</a:t>
            </a:r>
          </a:p>
          <a:p>
            <a:pPr lvl="1" algn="just"/>
            <a:r>
              <a:rPr lang="fr-FR" sz="1800" dirty="0"/>
              <a:t>« spécifiques à la consolidation » : écarts d’acquisition, impôts différés, intérêts minoritaires, provisions pour départs en retraite, écarts de conversion.</a:t>
            </a:r>
          </a:p>
          <a:p>
            <a:pPr marL="457200" lvl="1" indent="0" algn="just">
              <a:buNone/>
            </a:pPr>
            <a:endParaRPr lang="fr-FR" sz="1800" dirty="0"/>
          </a:p>
          <a:p>
            <a:pPr marL="114300" indent="0" algn="ctr">
              <a:buNone/>
            </a:pPr>
            <a:r>
              <a:rPr lang="fr-FR" sz="2000" dirty="0">
                <a:sym typeface="Wingdings"/>
              </a:rPr>
              <a:t> Indicateur d’alerte : </a:t>
            </a:r>
            <a:r>
              <a:rPr lang="fr-FR" sz="2000" b="1" dirty="0">
                <a:sym typeface="Wingdings"/>
              </a:rPr>
              <a:t>fonds propres nets réduits (FPNR)</a:t>
            </a:r>
          </a:p>
          <a:p>
            <a:pPr marL="114300" indent="0" algn="ctr">
              <a:buNone/>
            </a:pPr>
            <a:r>
              <a:rPr lang="fr-FR" sz="2000" b="1" dirty="0"/>
              <a:t>FPNR = FP – écart d’acquisition élargi – impôts différés actif – écarts de conversion positifs</a:t>
            </a:r>
          </a:p>
        </p:txBody>
      </p:sp>
    </p:spTree>
    <p:extLst>
      <p:ext uri="{BB962C8B-B14F-4D97-AF65-F5344CB8AC3E}">
        <p14:creationId xmlns:p14="http://schemas.microsoft.com/office/powerpoint/2010/main" val="2014566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66</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algn="just"/>
            <a:endParaRPr lang="fr-FR" dirty="0"/>
          </a:p>
          <a:p>
            <a:pPr marL="0" indent="0">
              <a:buNone/>
            </a:pPr>
            <a:endParaRPr lang="fr-FR" b="1" dirty="0"/>
          </a:p>
        </p:txBody>
      </p:sp>
      <p:pic>
        <p:nvPicPr>
          <p:cNvPr id="6" name="Picture 2">
            <a:extLst>
              <a:ext uri="{FF2B5EF4-FFF2-40B4-BE49-F238E27FC236}">
                <a16:creationId xmlns:a16="http://schemas.microsoft.com/office/drawing/2014/main" id="{DC1C7876-8515-6C4D-A667-8E06E0D41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8444" y="1821281"/>
            <a:ext cx="6408712" cy="44416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80892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67</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a:xfrm>
            <a:off x="468000" y="1484784"/>
            <a:ext cx="8229600" cy="4525963"/>
          </a:xfrm>
        </p:spPr>
        <p:txBody>
          <a:bodyPr>
            <a:normAutofit fontScale="77500" lnSpcReduction="20000"/>
          </a:bodyPr>
          <a:lstStyle/>
          <a:p>
            <a:pPr marL="0" indent="0" algn="ctr">
              <a:buNone/>
            </a:pPr>
            <a:r>
              <a:rPr lang="fr-FR" b="1" dirty="0"/>
              <a:t>Étape 4 – Examen de la structure financière</a:t>
            </a:r>
          </a:p>
          <a:p>
            <a:pPr marL="0" indent="0" algn="just">
              <a:buNone/>
            </a:pPr>
            <a:endParaRPr lang="fr-FR" dirty="0"/>
          </a:p>
          <a:p>
            <a:pPr algn="just"/>
            <a:r>
              <a:rPr lang="fr-FR" dirty="0"/>
              <a:t>Lorsque l’écart d’acquisition élargi est </a:t>
            </a:r>
            <a:r>
              <a:rPr lang="fr-FR" b="1" dirty="0"/>
              <a:t>significatif</a:t>
            </a:r>
            <a:r>
              <a:rPr lang="fr-FR" dirty="0"/>
              <a:t> ou que le </a:t>
            </a:r>
            <a:r>
              <a:rPr lang="fr-FR" b="1" dirty="0"/>
              <a:t>montant des fonds propres nets réduits est sensiblement inférieur à celui des fonds propres publiés par le groupe</a:t>
            </a:r>
            <a:r>
              <a:rPr lang="fr-FR" dirty="0"/>
              <a:t>, il est nécessaire de circonscrire la valeur de l’écart d’acquisition élargi aux profits générés par l’investissement sur 10 ans. L’excédent est assimilé à une </a:t>
            </a:r>
            <a:r>
              <a:rPr lang="fr-FR" b="1" dirty="0"/>
              <a:t>non-valeur</a:t>
            </a:r>
            <a:r>
              <a:rPr lang="fr-FR" dirty="0"/>
              <a:t>.</a:t>
            </a:r>
          </a:p>
          <a:p>
            <a:pPr algn="just"/>
            <a:r>
              <a:rPr lang="fr-FR" dirty="0"/>
              <a:t>Le délai du retour sur investissement doit être affiné en fonction du secteur d’activité et lorsque la visibilité sur les rendements attendus est faible (la durée de 10 ans peut paraître excessive) ou forte (la durée de 10 ans peut paraître réduite).</a:t>
            </a:r>
          </a:p>
          <a:p>
            <a:pPr algn="just"/>
            <a:r>
              <a:rPr lang="fr-FR" dirty="0"/>
              <a:t>Par défaut, la rentabilité d’une filiale est estimée à 10 fois son résultat net récurrent.</a:t>
            </a:r>
          </a:p>
          <a:p>
            <a:pPr algn="just"/>
            <a:r>
              <a:rPr lang="fr-FR" dirty="0"/>
              <a:t>Lorsqu’on ne dispose pas du détail de l’écart d’acquisition par filiale, ni des performances des filiales concernées, l’écart d’acquisition global peut être comparé au résultat net récurrent du groupe.</a:t>
            </a:r>
          </a:p>
          <a:p>
            <a:pPr marL="0" indent="0">
              <a:buNone/>
            </a:pPr>
            <a:endParaRPr lang="fr-FR" b="1" dirty="0"/>
          </a:p>
        </p:txBody>
      </p:sp>
    </p:spTree>
    <p:extLst>
      <p:ext uri="{BB962C8B-B14F-4D97-AF65-F5344CB8AC3E}">
        <p14:creationId xmlns:p14="http://schemas.microsoft.com/office/powerpoint/2010/main" val="18821859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68</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Les impôts différés</a:t>
            </a:r>
          </a:p>
          <a:p>
            <a:pPr algn="just"/>
            <a:r>
              <a:rPr lang="fr-FR" sz="2000" dirty="0"/>
              <a:t>Il s’agit de la différence entre l’impôt économiquement justifié et l’impôt exigible.</a:t>
            </a:r>
          </a:p>
          <a:p>
            <a:pPr algn="just"/>
            <a:r>
              <a:rPr lang="fr-FR" sz="2000" dirty="0"/>
              <a:t>Les impôts différés proviennent :</a:t>
            </a:r>
          </a:p>
          <a:p>
            <a:pPr lvl="1" algn="just"/>
            <a:r>
              <a:rPr lang="fr-FR" sz="1800" dirty="0"/>
              <a:t>des décalages entre la constatation comptable des produits et des charges et leur inclusion dans le résultat fiscal.</a:t>
            </a:r>
          </a:p>
          <a:p>
            <a:pPr lvl="1" algn="just"/>
            <a:r>
              <a:rPr lang="fr-FR" sz="1800" dirty="0"/>
              <a:t>de l’impact fiscal théorique des retraitements de 	consolidation (déficits fiscaux reportables).</a:t>
            </a:r>
          </a:p>
          <a:p>
            <a:pPr lvl="1" algn="just"/>
            <a:r>
              <a:rPr lang="fr-FR" sz="1800" dirty="0"/>
              <a:t>de la fiscalité latente liée à la revalorisation du bilan dans le cadre d’une acquisition d’entreprise.</a:t>
            </a:r>
          </a:p>
          <a:p>
            <a:pPr marL="0" indent="0">
              <a:buNone/>
            </a:pPr>
            <a:endParaRPr lang="fr-FR" b="1" dirty="0"/>
          </a:p>
        </p:txBody>
      </p:sp>
    </p:spTree>
    <p:extLst>
      <p:ext uri="{BB962C8B-B14F-4D97-AF65-F5344CB8AC3E}">
        <p14:creationId xmlns:p14="http://schemas.microsoft.com/office/powerpoint/2010/main" val="42414327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69</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Un exemple d’impôts différés </a:t>
            </a:r>
          </a:p>
          <a:p>
            <a:pPr marL="0" indent="0">
              <a:buNone/>
            </a:pPr>
            <a:endParaRPr lang="fr-FR" b="1" dirty="0"/>
          </a:p>
        </p:txBody>
      </p:sp>
      <p:pic>
        <p:nvPicPr>
          <p:cNvPr id="6" name="Picture 3">
            <a:extLst>
              <a:ext uri="{FF2B5EF4-FFF2-40B4-BE49-F238E27FC236}">
                <a16:creationId xmlns:a16="http://schemas.microsoft.com/office/drawing/2014/main" id="{86C23137-7DC5-C841-A8E4-6EC53C966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477" y="2348880"/>
            <a:ext cx="6054646" cy="396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67456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70</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Un exemple d’impôts différés </a:t>
            </a:r>
          </a:p>
          <a:p>
            <a:pPr marL="0" indent="0">
              <a:buNone/>
            </a:pPr>
            <a:endParaRPr lang="fr-FR" b="1" dirty="0"/>
          </a:p>
        </p:txBody>
      </p:sp>
      <p:pic>
        <p:nvPicPr>
          <p:cNvPr id="7" name="Picture 2">
            <a:extLst>
              <a:ext uri="{FF2B5EF4-FFF2-40B4-BE49-F238E27FC236}">
                <a16:creationId xmlns:a16="http://schemas.microsoft.com/office/drawing/2014/main" id="{AB674A99-6E2C-4E4C-827E-9BF7F378F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432" y="2348880"/>
            <a:ext cx="5944735" cy="396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39082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71</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a:xfrm>
            <a:off x="468000" y="1484784"/>
            <a:ext cx="8229600" cy="4525963"/>
          </a:xfrm>
        </p:spPr>
        <p:txBody>
          <a:bodyPr>
            <a:normAutofit fontScale="77500" lnSpcReduction="20000"/>
          </a:bodyPr>
          <a:lstStyle/>
          <a:p>
            <a:pPr marL="0" indent="0" algn="ctr">
              <a:buNone/>
            </a:pPr>
            <a:r>
              <a:rPr lang="fr-FR" b="1" dirty="0"/>
              <a:t>Étape 4 – Examen de la structure financière</a:t>
            </a:r>
          </a:p>
          <a:p>
            <a:pPr marL="0" indent="0" algn="ctr">
              <a:buNone/>
            </a:pPr>
            <a:endParaRPr lang="fr-FR" sz="1300" dirty="0"/>
          </a:p>
          <a:p>
            <a:pPr marL="0" indent="0" algn="ctr">
              <a:buNone/>
            </a:pPr>
            <a:r>
              <a:rPr lang="fr-FR" u="sng" dirty="0"/>
              <a:t>Les impôts différés</a:t>
            </a:r>
          </a:p>
          <a:p>
            <a:pPr algn="just"/>
            <a:r>
              <a:rPr lang="fr-FR" dirty="0"/>
              <a:t>En l’absence de détail quant à leur composition, le solde excédentaire du montant net des impôts différés (Actif – Passif) est considéré comme une non-valeur.</a:t>
            </a:r>
          </a:p>
          <a:p>
            <a:pPr algn="just"/>
            <a:r>
              <a:rPr lang="fr-FR" dirty="0"/>
              <a:t>Si les IDA sont rattachables à des provisions (dont engagements de retraite), la provision correspondante est diminuée.</a:t>
            </a:r>
          </a:p>
          <a:p>
            <a:pPr algn="just"/>
            <a:r>
              <a:rPr lang="fr-FR" dirty="0"/>
              <a:t>Si les IDA sont liés à des reports déficitaires, il convient d’analyser la probabilité de récupération et de déduire, le cas échéant, la part que le groupe n’est pas assuré d’utiliser dans les 2 ans des capitaux propres.</a:t>
            </a:r>
          </a:p>
          <a:p>
            <a:pPr algn="just"/>
            <a:r>
              <a:rPr lang="fr-FR" dirty="0"/>
              <a:t>En ce qui concerne les IDP liés à la réévaluation d’actifs immobilisés, l’incidence sur les capitaux propres pourra être nuancée dans la mesure où l’hypothèse de cession de l’actif paraît improbable (actifs stratégiques, cœur de métier…).</a:t>
            </a:r>
            <a:endParaRPr lang="fr-FR" b="1" dirty="0"/>
          </a:p>
          <a:p>
            <a:pPr marL="0" indent="0">
              <a:buNone/>
            </a:pPr>
            <a:endParaRPr lang="fr-FR" b="1" dirty="0"/>
          </a:p>
        </p:txBody>
      </p:sp>
    </p:spTree>
    <p:extLst>
      <p:ext uri="{BB962C8B-B14F-4D97-AF65-F5344CB8AC3E}">
        <p14:creationId xmlns:p14="http://schemas.microsoft.com/office/powerpoint/2010/main" val="38769939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72</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a:xfrm>
            <a:off x="468000" y="1484784"/>
            <a:ext cx="8229600" cy="4525963"/>
          </a:xfrm>
        </p:spPr>
        <p:txBody>
          <a:bodyPr>
            <a:normAutofit fontScale="77500" lnSpcReduction="20000"/>
          </a:bodyPr>
          <a:lstStyle/>
          <a:p>
            <a:pPr marL="0" indent="0" algn="ctr">
              <a:buNone/>
            </a:pPr>
            <a:r>
              <a:rPr lang="fr-FR" b="1" dirty="0"/>
              <a:t>Étape 4 – Examen de la structure financière</a:t>
            </a:r>
          </a:p>
          <a:p>
            <a:pPr marL="0" indent="0" algn="ctr">
              <a:buNone/>
            </a:pPr>
            <a:endParaRPr lang="fr-FR" sz="1300" dirty="0"/>
          </a:p>
          <a:p>
            <a:pPr marL="0" indent="0" algn="ctr">
              <a:buNone/>
            </a:pPr>
            <a:r>
              <a:rPr lang="fr-FR" u="sng" dirty="0"/>
              <a:t>Les écarts de conversion</a:t>
            </a:r>
          </a:p>
          <a:p>
            <a:pPr algn="just"/>
            <a:r>
              <a:rPr lang="fr-FR" dirty="0"/>
              <a:t>Les écarts de conversion sont des plus ou moins-values latentes issues des variations de change sur les filiales réalisant leurs transactions dans une devise étrangère.</a:t>
            </a:r>
          </a:p>
          <a:p>
            <a:pPr algn="just"/>
            <a:r>
              <a:rPr lang="fr-FR" dirty="0"/>
              <a:t>Ils se concrétisent lors de la cession de la filiale ou lors des remontées de dividendes.</a:t>
            </a:r>
          </a:p>
          <a:p>
            <a:pPr algn="just"/>
            <a:r>
              <a:rPr lang="fr-FR" dirty="0"/>
              <a:t>Ils sont comptabilisés :</a:t>
            </a:r>
          </a:p>
          <a:p>
            <a:pPr lvl="1" algn="just"/>
            <a:r>
              <a:rPr lang="fr-FR" sz="2300" dirty="0"/>
              <a:t>dans le résultat financier, pour les écarts de conversion sur éléments monétaires.</a:t>
            </a:r>
          </a:p>
          <a:p>
            <a:pPr lvl="1" algn="just"/>
            <a:r>
              <a:rPr lang="fr-FR" sz="2300" dirty="0"/>
              <a:t>dans les capitaux propres, pour les écarts de conversion sur éléments non monétaires.</a:t>
            </a:r>
          </a:p>
          <a:p>
            <a:pPr algn="just"/>
            <a:r>
              <a:rPr lang="fr-FR" dirty="0"/>
              <a:t>Il convient de distinguer la part a priori acquise (à maintenir dans les capitaux propres) de la part fluctuante (à défalquer des capitaux propres).</a:t>
            </a:r>
          </a:p>
          <a:p>
            <a:pPr marL="0" indent="0" algn="just">
              <a:buNone/>
            </a:pPr>
            <a:endParaRPr lang="fr-FR" b="1" dirty="0"/>
          </a:p>
          <a:p>
            <a:pPr marL="0" indent="0">
              <a:buNone/>
            </a:pPr>
            <a:endParaRPr lang="fr-FR" b="1" dirty="0"/>
          </a:p>
        </p:txBody>
      </p:sp>
    </p:spTree>
    <p:extLst>
      <p:ext uri="{BB962C8B-B14F-4D97-AF65-F5344CB8AC3E}">
        <p14:creationId xmlns:p14="http://schemas.microsoft.com/office/powerpoint/2010/main" val="24576354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73</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Les autres retraitements</a:t>
            </a:r>
          </a:p>
          <a:p>
            <a:pPr algn="just"/>
            <a:r>
              <a:rPr lang="fr-FR" sz="2000" dirty="0"/>
              <a:t>Les intérêts minoritaires : Ils résultent de l’existence d’associés minoritaires dans le cadre de l’intégration globale d’une filiale = </a:t>
            </a:r>
            <a:r>
              <a:rPr lang="fr-FR" sz="2000" b="1" dirty="0"/>
              <a:t>risque de retrait</a:t>
            </a:r>
            <a:r>
              <a:rPr lang="fr-FR" sz="2000" dirty="0"/>
              <a:t>.</a:t>
            </a:r>
          </a:p>
          <a:p>
            <a:pPr algn="just"/>
            <a:r>
              <a:rPr lang="fr-FR" sz="2000" dirty="0"/>
              <a:t>Les engagements de retraites : Il s’agit des indemnités de fin de carrière, des compléments de retraite, des comptes épargne temps, des remboursements de frais médicaux, des garanties de prévoyance s’appliquant après le départ en retraite du personnel = </a:t>
            </a:r>
            <a:r>
              <a:rPr lang="fr-FR" sz="2000" b="1" dirty="0"/>
              <a:t>doivent être provisionnés</a:t>
            </a:r>
          </a:p>
          <a:p>
            <a:pPr marL="0" indent="0">
              <a:buNone/>
            </a:pPr>
            <a:endParaRPr lang="fr-FR" b="1" dirty="0"/>
          </a:p>
        </p:txBody>
      </p:sp>
    </p:spTree>
    <p:extLst>
      <p:ext uri="{BB962C8B-B14F-4D97-AF65-F5344CB8AC3E}">
        <p14:creationId xmlns:p14="http://schemas.microsoft.com/office/powerpoint/2010/main" val="30072656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74</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400" b="1" dirty="0"/>
              <a:t>Étape 4 – Examen de la structure financière</a:t>
            </a:r>
          </a:p>
          <a:p>
            <a:endParaRPr lang="fr-FR" b="1" dirty="0"/>
          </a:p>
          <a:p>
            <a:endParaRPr lang="fr-FR" dirty="0"/>
          </a:p>
        </p:txBody>
      </p:sp>
      <p:pic>
        <p:nvPicPr>
          <p:cNvPr id="7" name="Image 6">
            <a:extLst>
              <a:ext uri="{FF2B5EF4-FFF2-40B4-BE49-F238E27FC236}">
                <a16:creationId xmlns:a16="http://schemas.microsoft.com/office/drawing/2014/main" id="{3A86EDBA-2D41-4E44-A4A1-340FD94931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640" y="1888979"/>
            <a:ext cx="6108836" cy="4076984"/>
          </a:xfrm>
          <a:prstGeom prst="rect">
            <a:avLst/>
          </a:prstGeom>
        </p:spPr>
      </p:pic>
      <p:sp>
        <p:nvSpPr>
          <p:cNvPr id="8" name="ZoneTexte 7">
            <a:extLst>
              <a:ext uri="{FF2B5EF4-FFF2-40B4-BE49-F238E27FC236}">
                <a16:creationId xmlns:a16="http://schemas.microsoft.com/office/drawing/2014/main" id="{64A51BF9-1892-2B4B-A454-FBA5288DFB4F}"/>
              </a:ext>
            </a:extLst>
          </p:cNvPr>
          <p:cNvSpPr txBox="1"/>
          <p:nvPr/>
        </p:nvSpPr>
        <p:spPr>
          <a:xfrm>
            <a:off x="5940152" y="5944437"/>
            <a:ext cx="1622560" cy="215444"/>
          </a:xfrm>
          <a:prstGeom prst="rect">
            <a:avLst/>
          </a:prstGeom>
          <a:noFill/>
        </p:spPr>
        <p:txBody>
          <a:bodyPr wrap="none" rtlCol="0">
            <a:spAutoFit/>
          </a:bodyPr>
          <a:lstStyle/>
          <a:p>
            <a:r>
              <a:rPr lang="fr-FR" sz="800" i="1" dirty="0">
                <a:solidFill>
                  <a:schemeClr val="tx2"/>
                </a:solidFill>
              </a:rPr>
              <a:t>Photo by </a:t>
            </a:r>
            <a:r>
              <a:rPr lang="fr-FR" sz="800" i="1" dirty="0">
                <a:solidFill>
                  <a:schemeClr val="tx2"/>
                </a:solidFill>
                <a:hlinkClick r:id="rId4">
                  <a:extLst>
                    <a:ext uri="{A12FA001-AC4F-418D-AE19-62706E023703}">
                      <ahyp:hlinkClr xmlns:ahyp="http://schemas.microsoft.com/office/drawing/2018/hyperlinkcolor" val="tx"/>
                    </a:ext>
                  </a:extLst>
                </a:hlinkClick>
              </a:rPr>
              <a:t>Helloquence</a:t>
            </a:r>
            <a:r>
              <a:rPr lang="fr-FR" sz="800" i="1" dirty="0">
                <a:solidFill>
                  <a:schemeClr val="tx2"/>
                </a:solidFill>
              </a:rPr>
              <a:t> on </a:t>
            </a:r>
            <a:r>
              <a:rPr lang="fr-FR" sz="800" i="1" dirty="0">
                <a:solidFill>
                  <a:schemeClr val="tx2"/>
                </a:solidFill>
                <a:hlinkClick r:id="rId5">
                  <a:extLst>
                    <a:ext uri="{A12FA001-AC4F-418D-AE19-62706E023703}">
                      <ahyp:hlinkClr xmlns:ahyp="http://schemas.microsoft.com/office/drawing/2018/hyperlinkcolor" val="tx"/>
                    </a:ext>
                  </a:extLst>
                </a:hlinkClick>
              </a:rPr>
              <a:t>Unsplash</a:t>
            </a:r>
            <a:endParaRPr lang="fr-FR" sz="800" i="1" dirty="0">
              <a:solidFill>
                <a:schemeClr val="tx2"/>
              </a:solidFill>
            </a:endParaRPr>
          </a:p>
        </p:txBody>
      </p:sp>
    </p:spTree>
    <p:extLst>
      <p:ext uri="{BB962C8B-B14F-4D97-AF65-F5344CB8AC3E}">
        <p14:creationId xmlns:p14="http://schemas.microsoft.com/office/powerpoint/2010/main" val="17700097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75</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Le niveau d’endettement du groupe</a:t>
            </a:r>
          </a:p>
          <a:p>
            <a:pPr marL="0" indent="0" algn="just">
              <a:buNone/>
            </a:pPr>
            <a:r>
              <a:rPr lang="fr-FR" sz="2000" dirty="0"/>
              <a:t>Quels sont les éléments à prendre en compte dans l’endettement financier ?</a:t>
            </a:r>
          </a:p>
          <a:p>
            <a:pPr marL="571500" indent="-457200" algn="just"/>
            <a:r>
              <a:rPr lang="fr-FR" sz="2000" dirty="0"/>
              <a:t>Les titres hybrides</a:t>
            </a:r>
          </a:p>
          <a:p>
            <a:pPr marL="571500" indent="-457200" algn="just"/>
            <a:r>
              <a:rPr lang="fr-FR" sz="2000" dirty="0"/>
              <a:t>Les comptes courants d’associés</a:t>
            </a:r>
          </a:p>
          <a:p>
            <a:pPr marL="571500" indent="-457200" algn="just"/>
            <a:r>
              <a:rPr lang="fr-FR" sz="2000" dirty="0"/>
              <a:t>Les engagements hors bilan</a:t>
            </a:r>
          </a:p>
          <a:p>
            <a:pPr marL="571500" indent="-457200" algn="just"/>
            <a:r>
              <a:rPr lang="fr-FR" sz="2000" dirty="0"/>
              <a:t>La trésorerie active</a:t>
            </a:r>
          </a:p>
          <a:p>
            <a:pPr marL="114300" indent="0" algn="just">
              <a:buNone/>
            </a:pPr>
            <a:endParaRPr lang="fr-FR" sz="2000" dirty="0"/>
          </a:p>
          <a:p>
            <a:pPr marL="114300" indent="0" algn="ctr">
              <a:buNone/>
            </a:pPr>
            <a:r>
              <a:rPr lang="fr-FR" sz="2000" b="1" dirty="0">
                <a:sym typeface="Wingdings"/>
              </a:rPr>
              <a:t> Taux d’endettement (endettement financier retraité/fonds propres retraités)</a:t>
            </a:r>
            <a:endParaRPr lang="fr-FR" sz="2000" b="1" dirty="0"/>
          </a:p>
          <a:p>
            <a:pPr marL="0" indent="0">
              <a:buNone/>
            </a:pPr>
            <a:endParaRPr lang="fr-FR" b="1" dirty="0"/>
          </a:p>
        </p:txBody>
      </p:sp>
    </p:spTree>
    <p:extLst>
      <p:ext uri="{BB962C8B-B14F-4D97-AF65-F5344CB8AC3E}">
        <p14:creationId xmlns:p14="http://schemas.microsoft.com/office/powerpoint/2010/main" val="10172113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76</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Les titres hybrides</a:t>
            </a:r>
          </a:p>
          <a:p>
            <a:pPr algn="just"/>
            <a:r>
              <a:rPr lang="fr-FR" sz="2000" dirty="0"/>
              <a:t>Les titres hybrides sont des instruments financiers partageant des caractéristiques spécifiques aux dettes et aux fonds propres : emprunt obligataire convertible en actions (OCA), emprunt obligataire remboursable en actions (ORA), titres subordonnés à durée indéterminée (TSDI)…</a:t>
            </a:r>
          </a:p>
          <a:p>
            <a:pPr algn="just"/>
            <a:r>
              <a:rPr lang="fr-FR" sz="2000" dirty="0"/>
              <a:t>Selon les cas, les titres hybrides seront :</a:t>
            </a:r>
          </a:p>
          <a:p>
            <a:pPr lvl="1" algn="just"/>
            <a:r>
              <a:rPr lang="fr-FR" sz="1800" dirty="0"/>
              <a:t>maintenus dans l’endettement,</a:t>
            </a:r>
          </a:p>
          <a:p>
            <a:pPr lvl="1" algn="just"/>
            <a:r>
              <a:rPr lang="fr-FR" sz="1800" dirty="0"/>
              <a:t>neutralisés de l’endettement,</a:t>
            </a:r>
          </a:p>
          <a:p>
            <a:pPr lvl="1" algn="just"/>
            <a:r>
              <a:rPr lang="fr-FR" sz="1800" dirty="0"/>
              <a:t>assimilés aux fonds propres.</a:t>
            </a:r>
          </a:p>
          <a:p>
            <a:pPr marL="0" indent="0">
              <a:buNone/>
            </a:pPr>
            <a:endParaRPr lang="fr-FR" b="1" dirty="0"/>
          </a:p>
        </p:txBody>
      </p:sp>
    </p:spTree>
    <p:extLst>
      <p:ext uri="{BB962C8B-B14F-4D97-AF65-F5344CB8AC3E}">
        <p14:creationId xmlns:p14="http://schemas.microsoft.com/office/powerpoint/2010/main" val="34923397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77</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Les comptes courants d’associés</a:t>
            </a:r>
          </a:p>
          <a:p>
            <a:pPr algn="just"/>
            <a:r>
              <a:rPr lang="fr-FR" sz="2000" dirty="0"/>
              <a:t>La neutralisation des comptes courants d’associés des dettes financières est possible si :</a:t>
            </a:r>
          </a:p>
          <a:p>
            <a:pPr lvl="1" algn="just"/>
            <a:r>
              <a:rPr lang="fr-FR" sz="1800" dirty="0"/>
              <a:t>le soutien des associés sous forme de comptes courants est acquis et pérenne,</a:t>
            </a:r>
          </a:p>
          <a:p>
            <a:pPr lvl="1" algn="just"/>
            <a:r>
              <a:rPr lang="fr-FR" sz="1800" dirty="0"/>
              <a:t>les apporteurs sont connus et ne font pas l’objet d’une cotation péjorative,</a:t>
            </a:r>
          </a:p>
          <a:p>
            <a:pPr lvl="1" algn="just"/>
            <a:r>
              <a:rPr lang="fr-FR" sz="1800" dirty="0"/>
              <a:t>l’endettement est constitué pour une part importante de comptes courants d’associés et qu’il est faible.</a:t>
            </a:r>
          </a:p>
          <a:p>
            <a:pPr algn="just"/>
            <a:r>
              <a:rPr lang="fr-FR" sz="2000" dirty="0"/>
              <a:t>Ils peuvent être exclus des dettes et ajouter aux fonds propres s’ils sont bloqués et incorporables à terme dans les fonds propres.</a:t>
            </a:r>
          </a:p>
        </p:txBody>
      </p:sp>
    </p:spTree>
    <p:extLst>
      <p:ext uri="{BB962C8B-B14F-4D97-AF65-F5344CB8AC3E}">
        <p14:creationId xmlns:p14="http://schemas.microsoft.com/office/powerpoint/2010/main" val="836343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78</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Les engagements hors bilan</a:t>
            </a:r>
          </a:p>
          <a:p>
            <a:pPr algn="just"/>
            <a:r>
              <a:rPr lang="fr-FR" sz="2000" dirty="0"/>
              <a:t>Les engagements à retraiter systématiquement sont :</a:t>
            </a:r>
          </a:p>
          <a:p>
            <a:pPr lvl="1" algn="just"/>
            <a:r>
              <a:rPr lang="fr-FR" sz="1800" dirty="0"/>
              <a:t>le crédit-bail et la location financière, les engagements de location simple fermes et irrévocables,</a:t>
            </a:r>
          </a:p>
          <a:p>
            <a:pPr lvl="1" algn="just"/>
            <a:r>
              <a:rPr lang="fr-FR" sz="1800" dirty="0"/>
              <a:t>les créances mobilisées : effets escomptés non échus, Dailly, affacturage,</a:t>
            </a:r>
          </a:p>
          <a:p>
            <a:pPr lvl="1" algn="just"/>
            <a:r>
              <a:rPr lang="fr-FR" sz="1800" dirty="0"/>
              <a:t>l’engagement ferme de rachat des minoritaires.</a:t>
            </a:r>
          </a:p>
          <a:p>
            <a:pPr algn="just"/>
            <a:r>
              <a:rPr lang="fr-FR" sz="2000" dirty="0"/>
              <a:t>Les engagements à intégrer en fonction de l’importance et de la probabilité du risque sont :</a:t>
            </a:r>
          </a:p>
          <a:p>
            <a:pPr lvl="1" algn="just"/>
            <a:r>
              <a:rPr lang="fr-FR" sz="1800" dirty="0"/>
              <a:t>les risques relatifs aux sociétés non intégrées globalement,</a:t>
            </a:r>
          </a:p>
          <a:p>
            <a:pPr lvl="1" algn="just"/>
            <a:r>
              <a:rPr lang="fr-FR" sz="1800" dirty="0"/>
              <a:t>les risques relatifs aux sociétés de personnes et autres sûretés personnelles (cautions),</a:t>
            </a:r>
          </a:p>
          <a:p>
            <a:pPr lvl="1" algn="just"/>
            <a:r>
              <a:rPr lang="fr-FR" sz="1800" dirty="0"/>
              <a:t>l’engagement optionnel de rachat des minoritaires.</a:t>
            </a:r>
          </a:p>
        </p:txBody>
      </p:sp>
    </p:spTree>
    <p:extLst>
      <p:ext uri="{BB962C8B-B14F-4D97-AF65-F5344CB8AC3E}">
        <p14:creationId xmlns:p14="http://schemas.microsoft.com/office/powerpoint/2010/main" val="38748349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79</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4 – Examen de la structure financière</a:t>
            </a:r>
          </a:p>
          <a:p>
            <a:pPr marL="0" indent="0" algn="ctr">
              <a:buNone/>
            </a:pPr>
            <a:endParaRPr lang="fr-FR" sz="1000" dirty="0"/>
          </a:p>
          <a:p>
            <a:pPr marL="0" indent="0" algn="ctr">
              <a:buNone/>
            </a:pPr>
            <a:r>
              <a:rPr lang="fr-FR" sz="2000" u="sng" dirty="0"/>
              <a:t>La trésorerie disponible au remboursement</a:t>
            </a:r>
          </a:p>
          <a:p>
            <a:pPr algn="just"/>
            <a:r>
              <a:rPr lang="fr-FR" sz="2000" dirty="0"/>
              <a:t>Suite à la décision prise à l’issue de l’analyse de l’organisation financière du groupe de retenir un agrégat d’endettement financier net, l’analyste doit se poser la question suivante : la totalité de la trésorerie active est-elle disponible au désendettement du groupe ?</a:t>
            </a:r>
          </a:p>
          <a:p>
            <a:pPr algn="just"/>
            <a:r>
              <a:rPr lang="fr-FR" sz="2000" dirty="0"/>
              <a:t>Pour s’assurer de la pleine déduction de la trésorerie, il convient de s’interroger sur les points suivants :</a:t>
            </a:r>
          </a:p>
          <a:p>
            <a:pPr lvl="1" algn="just"/>
            <a:r>
              <a:rPr lang="fr-FR" sz="1800" dirty="0"/>
              <a:t>la trésorerie est-elle la conséquence d’un décalage ponctuel entre encaissements et décaissements ?</a:t>
            </a:r>
          </a:p>
          <a:p>
            <a:pPr lvl="1" algn="just"/>
            <a:r>
              <a:rPr lang="fr-FR" sz="1800" dirty="0"/>
              <a:t>la trésorerie à la clôture est-elle déjà pré-affectée (financement d’une acquisition à court terme, investissements, paiement d’un dividende important…) ?</a:t>
            </a:r>
          </a:p>
        </p:txBody>
      </p:sp>
    </p:spTree>
    <p:extLst>
      <p:ext uri="{BB962C8B-B14F-4D97-AF65-F5344CB8AC3E}">
        <p14:creationId xmlns:p14="http://schemas.microsoft.com/office/powerpoint/2010/main" val="19384238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80</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400" b="1" dirty="0"/>
              <a:t>Étape 4 – Examen de la structure financière</a:t>
            </a:r>
          </a:p>
          <a:p>
            <a:endParaRPr lang="fr-FR" b="1" dirty="0"/>
          </a:p>
          <a:p>
            <a:endParaRPr lang="fr-FR" dirty="0"/>
          </a:p>
        </p:txBody>
      </p:sp>
      <p:pic>
        <p:nvPicPr>
          <p:cNvPr id="7" name="Image 6">
            <a:extLst>
              <a:ext uri="{FF2B5EF4-FFF2-40B4-BE49-F238E27FC236}">
                <a16:creationId xmlns:a16="http://schemas.microsoft.com/office/drawing/2014/main" id="{3A86EDBA-2D41-4E44-A4A1-340FD94931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640" y="1888979"/>
            <a:ext cx="6108836" cy="4076984"/>
          </a:xfrm>
          <a:prstGeom prst="rect">
            <a:avLst/>
          </a:prstGeom>
        </p:spPr>
      </p:pic>
      <p:sp>
        <p:nvSpPr>
          <p:cNvPr id="8" name="ZoneTexte 7">
            <a:extLst>
              <a:ext uri="{FF2B5EF4-FFF2-40B4-BE49-F238E27FC236}">
                <a16:creationId xmlns:a16="http://schemas.microsoft.com/office/drawing/2014/main" id="{64A51BF9-1892-2B4B-A454-FBA5288DFB4F}"/>
              </a:ext>
            </a:extLst>
          </p:cNvPr>
          <p:cNvSpPr txBox="1"/>
          <p:nvPr/>
        </p:nvSpPr>
        <p:spPr>
          <a:xfrm>
            <a:off x="5940152" y="5944437"/>
            <a:ext cx="1622560" cy="215444"/>
          </a:xfrm>
          <a:prstGeom prst="rect">
            <a:avLst/>
          </a:prstGeom>
          <a:noFill/>
        </p:spPr>
        <p:txBody>
          <a:bodyPr wrap="none" rtlCol="0">
            <a:spAutoFit/>
          </a:bodyPr>
          <a:lstStyle/>
          <a:p>
            <a:r>
              <a:rPr lang="fr-FR" sz="800" i="1" dirty="0">
                <a:solidFill>
                  <a:schemeClr val="tx2"/>
                </a:solidFill>
              </a:rPr>
              <a:t>Photo by </a:t>
            </a:r>
            <a:r>
              <a:rPr lang="fr-FR" sz="800" i="1" dirty="0">
                <a:solidFill>
                  <a:schemeClr val="tx2"/>
                </a:solidFill>
                <a:hlinkClick r:id="rId4">
                  <a:extLst>
                    <a:ext uri="{A12FA001-AC4F-418D-AE19-62706E023703}">
                      <ahyp:hlinkClr xmlns:ahyp="http://schemas.microsoft.com/office/drawing/2018/hyperlinkcolor" val="tx"/>
                    </a:ext>
                  </a:extLst>
                </a:hlinkClick>
              </a:rPr>
              <a:t>Helloquence</a:t>
            </a:r>
            <a:r>
              <a:rPr lang="fr-FR" sz="800" i="1" dirty="0">
                <a:solidFill>
                  <a:schemeClr val="tx2"/>
                </a:solidFill>
              </a:rPr>
              <a:t> on </a:t>
            </a:r>
            <a:r>
              <a:rPr lang="fr-FR" sz="800" i="1" dirty="0">
                <a:solidFill>
                  <a:schemeClr val="tx2"/>
                </a:solidFill>
                <a:hlinkClick r:id="rId5">
                  <a:extLst>
                    <a:ext uri="{A12FA001-AC4F-418D-AE19-62706E023703}">
                      <ahyp:hlinkClr xmlns:ahyp="http://schemas.microsoft.com/office/drawing/2018/hyperlinkcolor" val="tx"/>
                    </a:ext>
                  </a:extLst>
                </a:hlinkClick>
              </a:rPr>
              <a:t>Unsplash</a:t>
            </a:r>
            <a:endParaRPr lang="fr-FR" sz="800" i="1" dirty="0">
              <a:solidFill>
                <a:schemeClr val="tx2"/>
              </a:solidFill>
            </a:endParaRPr>
          </a:p>
        </p:txBody>
      </p:sp>
    </p:spTree>
    <p:extLst>
      <p:ext uri="{BB962C8B-B14F-4D97-AF65-F5344CB8AC3E}">
        <p14:creationId xmlns:p14="http://schemas.microsoft.com/office/powerpoint/2010/main" val="24667373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81</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4 – Examen de la structure financière</a:t>
            </a:r>
          </a:p>
          <a:p>
            <a:pPr marL="0" indent="0">
              <a:buNone/>
            </a:pPr>
            <a:endParaRPr lang="fr-FR" sz="1000" dirty="0"/>
          </a:p>
          <a:p>
            <a:pPr marL="0" indent="0" algn="ctr">
              <a:buNone/>
            </a:pPr>
            <a:r>
              <a:rPr lang="fr-FR" sz="2000" u="sng" dirty="0"/>
              <a:t>L’autonomie financière</a:t>
            </a:r>
          </a:p>
          <a:p>
            <a:pPr marL="0" indent="0" algn="just">
              <a:buNone/>
            </a:pPr>
            <a:r>
              <a:rPr lang="fr-FR" sz="2000" dirty="0"/>
              <a:t>Il s’agit d’apprécier l’aptitude de la capacité d’autofinancement (CAF) à être en adéquation avec le niveau d’endettement du groupe et à couvrir les deux prochaines échéances financières du groupe.</a:t>
            </a:r>
          </a:p>
          <a:p>
            <a:pPr marL="0" indent="0" algn="just">
              <a:buNone/>
            </a:pPr>
            <a:endParaRPr lang="fr-FR" sz="1000" dirty="0"/>
          </a:p>
          <a:p>
            <a:pPr marL="0" indent="0" algn="ctr">
              <a:buNone/>
            </a:pPr>
            <a:r>
              <a:rPr lang="fr-FR" sz="2000" u="sng" dirty="0"/>
              <a:t>Les i</a:t>
            </a:r>
            <a:r>
              <a:rPr lang="fr-FR" sz="2000" u="sng" dirty="0">
                <a:sym typeface="Wingdings"/>
              </a:rPr>
              <a:t>ndicateurs à suivre</a:t>
            </a:r>
          </a:p>
          <a:p>
            <a:pPr marL="457200" indent="-342900" algn="just"/>
            <a:r>
              <a:rPr lang="fr-FR" sz="2000" dirty="0"/>
              <a:t>Niveau de la capacité d’autofinancement récurrente (</a:t>
            </a:r>
            <a:r>
              <a:rPr lang="fr-FR" sz="2000" dirty="0" err="1"/>
              <a:t>CAFr</a:t>
            </a:r>
            <a:r>
              <a:rPr lang="fr-FR" sz="2000" dirty="0"/>
              <a:t>) </a:t>
            </a:r>
            <a:r>
              <a:rPr lang="fr-FR" sz="2000"/>
              <a:t>= RCAI </a:t>
            </a:r>
            <a:r>
              <a:rPr lang="fr-FR" sz="2000" dirty="0"/>
              <a:t>* 2/3 + dotations aux amortissements et aux provisions d’exploitation nettes des reprises</a:t>
            </a:r>
          </a:p>
          <a:p>
            <a:pPr marL="457200" indent="-342900" algn="just"/>
            <a:r>
              <a:rPr lang="fr-FR" sz="2000" dirty="0"/>
              <a:t>Capacité de remboursement : endettement financier retraité / </a:t>
            </a:r>
            <a:r>
              <a:rPr lang="fr-FR" sz="2000" dirty="0" err="1"/>
              <a:t>CAFr</a:t>
            </a:r>
            <a:endParaRPr lang="fr-FR" sz="2000" dirty="0"/>
          </a:p>
          <a:p>
            <a:pPr marL="457200" indent="-342900" algn="just"/>
            <a:r>
              <a:rPr lang="fr-FR" sz="2000" dirty="0"/>
              <a:t>Couverture des 2 prochaines échéances</a:t>
            </a:r>
            <a:r>
              <a:rPr lang="fr-FR" sz="2000" b="1" dirty="0"/>
              <a:t> </a:t>
            </a:r>
            <a:r>
              <a:rPr lang="fr-FR" sz="2000" dirty="0"/>
              <a:t>: </a:t>
            </a:r>
            <a:r>
              <a:rPr lang="fr-FR" sz="2000" dirty="0" err="1"/>
              <a:t>CAFr</a:t>
            </a:r>
            <a:r>
              <a:rPr lang="fr-FR" sz="2000" dirty="0"/>
              <a:t> &gt; Échéance MLT N+1 </a:t>
            </a:r>
            <a:r>
              <a:rPr lang="fr-FR" sz="2000" u="sng" dirty="0"/>
              <a:t>et</a:t>
            </a:r>
            <a:r>
              <a:rPr lang="fr-FR" sz="2000" dirty="0"/>
              <a:t> CAFR &gt; Échéance MLT N+2</a:t>
            </a:r>
          </a:p>
        </p:txBody>
      </p:sp>
    </p:spTree>
    <p:extLst>
      <p:ext uri="{BB962C8B-B14F-4D97-AF65-F5344CB8AC3E}">
        <p14:creationId xmlns:p14="http://schemas.microsoft.com/office/powerpoint/2010/main" val="824763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C8C62-8388-B443-A572-25F697F30A02}"/>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664151B2-02D2-004B-B1F3-14343492329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1BDAF2-0BEE-A84C-8E66-E9F9CAD228D4}"/>
              </a:ext>
            </a:extLst>
          </p:cNvPr>
          <p:cNvSpPr>
            <a:spLocks noGrp="1"/>
          </p:cNvSpPr>
          <p:nvPr>
            <p:ph type="sldNum" sz="quarter" idx="4"/>
          </p:nvPr>
        </p:nvSpPr>
        <p:spPr/>
        <p:txBody>
          <a:bodyPr/>
          <a:lstStyle/>
          <a:p>
            <a:fld id="{A5612AF6-3794-417C-8315-010C3BB3AD18}" type="slidenum">
              <a:rPr lang="fr-FR" smtClean="0"/>
              <a:pPr/>
              <a:t>82</a:t>
            </a:fld>
            <a:endParaRPr lang="fr-FR" dirty="0"/>
          </a:p>
        </p:txBody>
      </p:sp>
      <p:sp>
        <p:nvSpPr>
          <p:cNvPr id="5" name="Espace réservé du contenu 4">
            <a:extLst>
              <a:ext uri="{FF2B5EF4-FFF2-40B4-BE49-F238E27FC236}">
                <a16:creationId xmlns:a16="http://schemas.microsoft.com/office/drawing/2014/main" id="{688EDAC1-229D-7542-935F-3B4A75038C1D}"/>
              </a:ext>
            </a:extLst>
          </p:cNvPr>
          <p:cNvSpPr>
            <a:spLocks noGrp="1"/>
          </p:cNvSpPr>
          <p:nvPr>
            <p:ph idx="1"/>
          </p:nvPr>
        </p:nvSpPr>
        <p:spPr/>
        <p:txBody>
          <a:bodyPr>
            <a:normAutofit lnSpcReduction="10000"/>
          </a:bodyPr>
          <a:lstStyle/>
          <a:p>
            <a:pPr marL="114300" indent="0" algn="ctr">
              <a:buNone/>
            </a:pPr>
            <a:r>
              <a:rPr lang="fr-FR" sz="2400" b="1" dirty="0"/>
              <a:t>Les principales étapes de l’analyse :</a:t>
            </a:r>
          </a:p>
          <a:p>
            <a:pPr marL="114300" indent="0" algn="just">
              <a:buNone/>
            </a:pPr>
            <a:endParaRPr lang="fr-FR" sz="2400" dirty="0"/>
          </a:p>
          <a:p>
            <a:pPr marL="571500" indent="-457200" algn="just">
              <a:buFont typeface="+mj-lt"/>
              <a:buAutoNum type="arabicPeriod"/>
            </a:pPr>
            <a:r>
              <a:rPr lang="fr-FR" sz="2400" dirty="0">
                <a:solidFill>
                  <a:schemeClr val="accent1">
                    <a:lumMod val="20000"/>
                    <a:lumOff val="80000"/>
                  </a:schemeClr>
                </a:solidFill>
              </a:rPr>
              <a:t>Analyse de l’environnement, de la stratégie et de l’organisation.</a:t>
            </a:r>
          </a:p>
          <a:p>
            <a:pPr marL="571500" indent="-457200" algn="just">
              <a:buFont typeface="+mj-lt"/>
              <a:buAutoNum type="arabicPeriod"/>
            </a:pPr>
            <a:r>
              <a:rPr lang="fr-FR" sz="2400" dirty="0">
                <a:solidFill>
                  <a:schemeClr val="accent1">
                    <a:lumMod val="20000"/>
                    <a:lumOff val="80000"/>
                  </a:schemeClr>
                </a:solidFill>
              </a:rPr>
              <a:t>Examen critique de la qualité de l’information et étude préalable à l’analyse des comptes.</a:t>
            </a:r>
          </a:p>
          <a:p>
            <a:pPr marL="571500" indent="-457200" algn="just">
              <a:buFont typeface="+mj-lt"/>
              <a:buAutoNum type="arabicPeriod"/>
            </a:pPr>
            <a:r>
              <a:rPr lang="fr-FR" sz="2400" dirty="0">
                <a:solidFill>
                  <a:schemeClr val="accent1">
                    <a:lumMod val="20000"/>
                    <a:lumOff val="80000"/>
                  </a:schemeClr>
                </a:solidFill>
              </a:rPr>
              <a:t>Analyse des performances.</a:t>
            </a:r>
          </a:p>
          <a:p>
            <a:pPr marL="571500" indent="-457200" algn="just">
              <a:buFont typeface="+mj-lt"/>
              <a:buAutoNum type="arabicPeriod"/>
            </a:pPr>
            <a:r>
              <a:rPr lang="fr-FR" sz="2400" dirty="0">
                <a:solidFill>
                  <a:schemeClr val="accent1">
                    <a:lumMod val="20000"/>
                    <a:lumOff val="80000"/>
                  </a:schemeClr>
                </a:solidFill>
              </a:rPr>
              <a:t>Examen de la structure financière (solvabilité et autonomie financière).</a:t>
            </a:r>
          </a:p>
          <a:p>
            <a:pPr marL="571500" indent="-457200" algn="just">
              <a:buFont typeface="+mj-lt"/>
              <a:buAutoNum type="arabicPeriod"/>
            </a:pPr>
            <a:r>
              <a:rPr lang="fr-FR" sz="2400" dirty="0"/>
              <a:t>Analyse de la liquidité.</a:t>
            </a:r>
          </a:p>
          <a:p>
            <a:pPr marL="571500" indent="-457200" algn="just">
              <a:buFont typeface="+mj-lt"/>
              <a:buAutoNum type="arabicPeriod"/>
            </a:pPr>
            <a:r>
              <a:rPr lang="fr-FR" sz="2400" dirty="0">
                <a:solidFill>
                  <a:schemeClr val="accent1">
                    <a:lumMod val="20000"/>
                    <a:lumOff val="80000"/>
                  </a:schemeClr>
                </a:solidFill>
              </a:rPr>
              <a:t>Décision de cotation</a:t>
            </a:r>
          </a:p>
        </p:txBody>
      </p:sp>
    </p:spTree>
    <p:extLst>
      <p:ext uri="{BB962C8B-B14F-4D97-AF65-F5344CB8AC3E}">
        <p14:creationId xmlns:p14="http://schemas.microsoft.com/office/powerpoint/2010/main" val="22193606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83</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Objectifs de cette étape</a:t>
            </a:r>
            <a:endParaRPr lang="fr-FR" sz="2000" dirty="0"/>
          </a:p>
          <a:p>
            <a:pPr marL="457200" indent="-342900" algn="just"/>
            <a:r>
              <a:rPr lang="fr-FR" sz="2000" dirty="0"/>
              <a:t>Analyser la génération de trésorerie au travers du tableau des flux apprécier la capacité récurrente du groupe à générer de la liquidité.</a:t>
            </a:r>
          </a:p>
          <a:p>
            <a:pPr marL="457200" indent="-342900" algn="just"/>
            <a:r>
              <a:rPr lang="fr-FR" sz="2000" dirty="0"/>
              <a:t>Anticiper à un horizon de 24 mois l’évolution de la trésorerie afin de mettre en exergue une éventuelle impasse de liquidité</a:t>
            </a:r>
          </a:p>
          <a:p>
            <a:pPr marL="457200" indent="-342900" algn="just"/>
            <a:r>
              <a:rPr lang="fr-FR" sz="2000" dirty="0"/>
              <a:t>Il s’agit de déterminer la capacité du groupe à dégager des ressources internes par sa propre activité en N+1 et N+2.</a:t>
            </a:r>
          </a:p>
          <a:p>
            <a:pPr marL="457200" indent="-342900" algn="just"/>
            <a:r>
              <a:rPr lang="fr-FR" sz="2000" dirty="0"/>
              <a:t>L’analyse de la liquidité comporte 4 phases.</a:t>
            </a:r>
          </a:p>
          <a:p>
            <a:pPr marL="457200" indent="-342900"/>
            <a:endParaRPr lang="fr-FR" sz="2000" dirty="0"/>
          </a:p>
        </p:txBody>
      </p:sp>
    </p:spTree>
    <p:extLst>
      <p:ext uri="{BB962C8B-B14F-4D97-AF65-F5344CB8AC3E}">
        <p14:creationId xmlns:p14="http://schemas.microsoft.com/office/powerpoint/2010/main" val="289130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84</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Phase 1 : analyse statique</a:t>
            </a:r>
            <a:endParaRPr lang="fr-FR" sz="2000" dirty="0"/>
          </a:p>
          <a:p>
            <a:pPr algn="just"/>
            <a:r>
              <a:rPr lang="fr-FR" sz="2000" dirty="0"/>
              <a:t>L’objectif de cette phase est de détecter d’éventuels déséquilibres structurels et/ou des évolutions sensibles et/ou des décaissements à court terme susceptibles d’entraîner une impasse de trésorerie</a:t>
            </a:r>
          </a:p>
          <a:p>
            <a:pPr algn="just"/>
            <a:r>
              <a:rPr lang="fr-FR" sz="2000" dirty="0"/>
              <a:t>Les indicateurs pertinents :</a:t>
            </a:r>
          </a:p>
          <a:p>
            <a:pPr lvl="1" algn="just"/>
            <a:r>
              <a:rPr lang="fr-FR" sz="1800" dirty="0"/>
              <a:t>FRNG</a:t>
            </a:r>
          </a:p>
          <a:p>
            <a:pPr lvl="1" algn="just"/>
            <a:r>
              <a:rPr lang="fr-FR" sz="1800" dirty="0"/>
              <a:t>FRNG/BFR</a:t>
            </a:r>
          </a:p>
          <a:p>
            <a:pPr lvl="1" algn="just"/>
            <a:r>
              <a:rPr lang="fr-FR" sz="1800" dirty="0"/>
              <a:t>Trésorerie nette/Fonds propres</a:t>
            </a:r>
          </a:p>
          <a:p>
            <a:pPr lvl="1" algn="just"/>
            <a:r>
              <a:rPr lang="fr-FR" sz="1800" dirty="0"/>
              <a:t>Variation de la trésorerie nette/Fonds propres</a:t>
            </a:r>
          </a:p>
          <a:p>
            <a:pPr marL="457200" indent="-342900" algn="just"/>
            <a:endParaRPr lang="fr-FR" sz="2000" dirty="0"/>
          </a:p>
        </p:txBody>
      </p:sp>
    </p:spTree>
    <p:extLst>
      <p:ext uri="{BB962C8B-B14F-4D97-AF65-F5344CB8AC3E}">
        <p14:creationId xmlns:p14="http://schemas.microsoft.com/office/powerpoint/2010/main" val="23631987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85</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Phase 2 : analyse dynamique</a:t>
            </a:r>
            <a:endParaRPr lang="fr-FR" sz="2000" dirty="0"/>
          </a:p>
          <a:p>
            <a:r>
              <a:rPr lang="fr-FR" sz="2000" dirty="0"/>
              <a:t>L’objectif : apprécier la capacité récurrente du groupe à générer de la liquidité.</a:t>
            </a:r>
          </a:p>
          <a:p>
            <a:r>
              <a:rPr lang="fr-FR" sz="2000" dirty="0"/>
              <a:t>L’indicateur : flux de trésorerie lié à l’activité (FTA) / chiffre d’affaires</a:t>
            </a:r>
          </a:p>
          <a:p>
            <a:pPr lvl="1"/>
            <a:r>
              <a:rPr lang="fr-FR" sz="1800" dirty="0"/>
              <a:t>Cet indicateur permet d’anticiper une détérioration potentielle de la liquidité et doit faire l’objet d’une analyse :</a:t>
            </a:r>
          </a:p>
          <a:p>
            <a:pPr lvl="1"/>
            <a:r>
              <a:rPr lang="fr-FR" sz="1800" dirty="0"/>
              <a:t>annuelle par composante afin de détecter une incapacité à générer une marge suffisante et/ou une absence de maîtrise des BFR,</a:t>
            </a:r>
          </a:p>
          <a:p>
            <a:pPr lvl="1"/>
            <a:r>
              <a:rPr lang="fr-FR" sz="1800" dirty="0"/>
              <a:t>pluriannuelle afin d’annoncer l’analyse prospective.</a:t>
            </a:r>
          </a:p>
          <a:p>
            <a:pPr marL="457200" indent="-342900"/>
            <a:endParaRPr lang="fr-FR" sz="2000" dirty="0"/>
          </a:p>
        </p:txBody>
      </p:sp>
    </p:spTree>
    <p:extLst>
      <p:ext uri="{BB962C8B-B14F-4D97-AF65-F5344CB8AC3E}">
        <p14:creationId xmlns:p14="http://schemas.microsoft.com/office/powerpoint/2010/main" val="6507730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86</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400" b="1" dirty="0"/>
              <a:t>Étape 5 – Analyse de la liquidité</a:t>
            </a:r>
          </a:p>
          <a:p>
            <a:endParaRPr lang="fr-FR" b="1" dirty="0"/>
          </a:p>
          <a:p>
            <a:endParaRPr lang="fr-FR" dirty="0"/>
          </a:p>
        </p:txBody>
      </p:sp>
      <p:pic>
        <p:nvPicPr>
          <p:cNvPr id="7" name="Image 6">
            <a:extLst>
              <a:ext uri="{FF2B5EF4-FFF2-40B4-BE49-F238E27FC236}">
                <a16:creationId xmlns:a16="http://schemas.microsoft.com/office/drawing/2014/main" id="{3A86EDBA-2D41-4E44-A4A1-340FD94931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640" y="1888979"/>
            <a:ext cx="6108836" cy="4076984"/>
          </a:xfrm>
          <a:prstGeom prst="rect">
            <a:avLst/>
          </a:prstGeom>
        </p:spPr>
      </p:pic>
      <p:sp>
        <p:nvSpPr>
          <p:cNvPr id="8" name="ZoneTexte 7">
            <a:extLst>
              <a:ext uri="{FF2B5EF4-FFF2-40B4-BE49-F238E27FC236}">
                <a16:creationId xmlns:a16="http://schemas.microsoft.com/office/drawing/2014/main" id="{64A51BF9-1892-2B4B-A454-FBA5288DFB4F}"/>
              </a:ext>
            </a:extLst>
          </p:cNvPr>
          <p:cNvSpPr txBox="1"/>
          <p:nvPr/>
        </p:nvSpPr>
        <p:spPr>
          <a:xfrm>
            <a:off x="5940152" y="5944437"/>
            <a:ext cx="1622560" cy="215444"/>
          </a:xfrm>
          <a:prstGeom prst="rect">
            <a:avLst/>
          </a:prstGeom>
          <a:noFill/>
        </p:spPr>
        <p:txBody>
          <a:bodyPr wrap="none" rtlCol="0">
            <a:spAutoFit/>
          </a:bodyPr>
          <a:lstStyle/>
          <a:p>
            <a:r>
              <a:rPr lang="fr-FR" sz="800" i="1" dirty="0">
                <a:solidFill>
                  <a:schemeClr val="tx2"/>
                </a:solidFill>
              </a:rPr>
              <a:t>Photo by </a:t>
            </a:r>
            <a:r>
              <a:rPr lang="fr-FR" sz="800" i="1" dirty="0">
                <a:solidFill>
                  <a:schemeClr val="tx2"/>
                </a:solidFill>
                <a:hlinkClick r:id="rId4">
                  <a:extLst>
                    <a:ext uri="{A12FA001-AC4F-418D-AE19-62706E023703}">
                      <ahyp:hlinkClr xmlns:ahyp="http://schemas.microsoft.com/office/drawing/2018/hyperlinkcolor" val="tx"/>
                    </a:ext>
                  </a:extLst>
                </a:hlinkClick>
              </a:rPr>
              <a:t>Helloquence</a:t>
            </a:r>
            <a:r>
              <a:rPr lang="fr-FR" sz="800" i="1" dirty="0">
                <a:solidFill>
                  <a:schemeClr val="tx2"/>
                </a:solidFill>
              </a:rPr>
              <a:t> on </a:t>
            </a:r>
            <a:r>
              <a:rPr lang="fr-FR" sz="800" i="1" dirty="0">
                <a:solidFill>
                  <a:schemeClr val="tx2"/>
                </a:solidFill>
                <a:hlinkClick r:id="rId5">
                  <a:extLst>
                    <a:ext uri="{A12FA001-AC4F-418D-AE19-62706E023703}">
                      <ahyp:hlinkClr xmlns:ahyp="http://schemas.microsoft.com/office/drawing/2018/hyperlinkcolor" val="tx"/>
                    </a:ext>
                  </a:extLst>
                </a:hlinkClick>
              </a:rPr>
              <a:t>Unsplash</a:t>
            </a:r>
            <a:endParaRPr lang="fr-FR" sz="800" i="1" dirty="0">
              <a:solidFill>
                <a:schemeClr val="tx2"/>
              </a:solidFill>
            </a:endParaRPr>
          </a:p>
        </p:txBody>
      </p:sp>
    </p:spTree>
    <p:extLst>
      <p:ext uri="{BB962C8B-B14F-4D97-AF65-F5344CB8AC3E}">
        <p14:creationId xmlns:p14="http://schemas.microsoft.com/office/powerpoint/2010/main" val="2357831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87</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Phase 3 : analyse prospective</a:t>
            </a:r>
            <a:endParaRPr lang="fr-FR" sz="2000" dirty="0"/>
          </a:p>
          <a:p>
            <a:pPr algn="just"/>
            <a:r>
              <a:rPr lang="fr-FR" sz="2000" dirty="0"/>
              <a:t>L’objectif est d’anticiper à un horizon de 24 mois l’évolution de la trésorerie afin de mettre en exergue une éventuelle impasse de liquidité. Il s’agit de déterminer la capacité du groupe à dégager des ressources internes par sa propre activité en N+1 et N+2.</a:t>
            </a:r>
          </a:p>
          <a:p>
            <a:pPr algn="just"/>
            <a:r>
              <a:rPr lang="fr-FR" sz="2000" dirty="0">
                <a:sym typeface="Wingdings"/>
              </a:rPr>
              <a:t>Les Indicateurs :</a:t>
            </a:r>
          </a:p>
          <a:p>
            <a:pPr lvl="1" algn="just"/>
            <a:r>
              <a:rPr lang="fr-FR" sz="1800" dirty="0">
                <a:sym typeface="Wingdings"/>
              </a:rPr>
              <a:t>Flux de trésorerie disponible (FTD </a:t>
            </a:r>
            <a:r>
              <a:rPr lang="fr-FR" sz="1800" dirty="0"/>
              <a:t>= FTA – Investissements de maintien – Dividendes</a:t>
            </a:r>
            <a:r>
              <a:rPr lang="fr-FR" sz="1800" dirty="0">
                <a:sym typeface="Wingdings"/>
              </a:rPr>
              <a:t>) N+1 estimé</a:t>
            </a:r>
          </a:p>
          <a:p>
            <a:pPr lvl="1" algn="just"/>
            <a:r>
              <a:rPr lang="fr-FR" sz="1800" dirty="0">
                <a:sym typeface="Wingdings"/>
              </a:rPr>
              <a:t>Ressources N+1 – Échéance MLT N+1 &gt; 0 </a:t>
            </a:r>
          </a:p>
          <a:p>
            <a:pPr lvl="1" algn="just"/>
            <a:r>
              <a:rPr lang="fr-FR" sz="1800" dirty="0">
                <a:sym typeface="Wingdings"/>
              </a:rPr>
              <a:t>Ressources N+2 – Échéance MLT N+2 &gt; 0</a:t>
            </a:r>
          </a:p>
          <a:p>
            <a:pPr marL="457200" indent="-342900"/>
            <a:endParaRPr lang="fr-FR" sz="2000" dirty="0"/>
          </a:p>
        </p:txBody>
      </p:sp>
    </p:spTree>
    <p:extLst>
      <p:ext uri="{BB962C8B-B14F-4D97-AF65-F5344CB8AC3E}">
        <p14:creationId xmlns:p14="http://schemas.microsoft.com/office/powerpoint/2010/main" val="10981336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88</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Phase 4 : analyse des risques financiers</a:t>
            </a:r>
            <a:endParaRPr lang="fr-FR" sz="2000" dirty="0"/>
          </a:p>
          <a:p>
            <a:pPr marL="0" indent="0" algn="just">
              <a:buNone/>
            </a:pPr>
            <a:r>
              <a:rPr lang="fr-FR" sz="2000" dirty="0"/>
              <a:t>L’objectif est de déterminer le degré d’exposition du groupe aux risques financiers.</a:t>
            </a:r>
          </a:p>
          <a:p>
            <a:pPr algn="just"/>
            <a:r>
              <a:rPr lang="fr-FR" sz="2000" b="1" dirty="0"/>
              <a:t>Risque de taux </a:t>
            </a:r>
            <a:r>
              <a:rPr lang="fr-FR" sz="2000" dirty="0"/>
              <a:t>: impact d’une hausse des taux d’intérêt et appréciation du degré de couverture.</a:t>
            </a:r>
          </a:p>
          <a:p>
            <a:pPr algn="just"/>
            <a:r>
              <a:rPr lang="fr-FR" sz="2000" b="1" dirty="0"/>
              <a:t>Risque de change </a:t>
            </a:r>
            <a:r>
              <a:rPr lang="fr-FR" sz="2000" dirty="0"/>
              <a:t>: degré d’exposition du chiffre d’affaires et des achats notamment à une variation du taux de change et appréciation du degré de couverture.</a:t>
            </a:r>
          </a:p>
          <a:p>
            <a:pPr algn="just"/>
            <a:r>
              <a:rPr lang="fr-FR" sz="2000" b="1" dirty="0"/>
              <a:t>Risque de matières premières</a:t>
            </a:r>
            <a:r>
              <a:rPr lang="fr-FR" sz="2000" dirty="0"/>
              <a:t> : capacité à répercuter une hausse des cours dans les prix de vente et appréciation du degré de couverture.</a:t>
            </a:r>
          </a:p>
          <a:p>
            <a:pPr algn="just"/>
            <a:r>
              <a:rPr lang="fr-FR" sz="2000" b="1" dirty="0"/>
              <a:t>Autres risques </a:t>
            </a:r>
            <a:r>
              <a:rPr lang="fr-FR" sz="2000" dirty="0"/>
              <a:t>: bris de covenant, environnementaux, de contrepartie…</a:t>
            </a:r>
          </a:p>
        </p:txBody>
      </p:sp>
    </p:spTree>
    <p:extLst>
      <p:ext uri="{BB962C8B-B14F-4D97-AF65-F5344CB8AC3E}">
        <p14:creationId xmlns:p14="http://schemas.microsoft.com/office/powerpoint/2010/main" val="32735267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89</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Appréciation finale du risque de liquidité</a:t>
            </a:r>
            <a:endParaRPr lang="fr-FR" sz="2000" dirty="0"/>
          </a:p>
          <a:p>
            <a:pPr algn="just"/>
            <a:r>
              <a:rPr lang="fr-FR" sz="2000" dirty="0"/>
              <a:t>Le groupe est-il en mesure de faire face à ses engagements financiers dans les 24 mois ?</a:t>
            </a:r>
            <a:endParaRPr lang="fr-FR" sz="2000" b="1" dirty="0">
              <a:solidFill>
                <a:schemeClr val="tx2"/>
              </a:solidFill>
            </a:endParaRPr>
          </a:p>
          <a:p>
            <a:pPr algn="just"/>
            <a:r>
              <a:rPr lang="fr-FR" sz="2000" dirty="0"/>
              <a:t>L’appréciation du risque de liquidité dépendra de :</a:t>
            </a:r>
          </a:p>
          <a:p>
            <a:pPr lvl="1" algn="just"/>
            <a:r>
              <a:rPr lang="fr-FR" sz="1800" dirty="0"/>
              <a:t>la présence ou non de freins à la circulation des flux au sein du groupe et l’assurance que les entités endettées pourront capter le cash nécessaire pour faire face à leur engagement ;</a:t>
            </a:r>
          </a:p>
          <a:p>
            <a:pPr lvl="1" algn="just"/>
            <a:r>
              <a:rPr lang="fr-FR" sz="1800" dirty="0"/>
              <a:t>la valeur des indicateurs de liquidité ;</a:t>
            </a:r>
          </a:p>
          <a:p>
            <a:pPr lvl="1" algn="just"/>
            <a:r>
              <a:rPr lang="fr-FR" sz="1800" dirty="0"/>
              <a:t>la mise en évidence d’une insuffisance future de trésorerie ;</a:t>
            </a:r>
          </a:p>
          <a:p>
            <a:pPr lvl="1" algn="just"/>
            <a:r>
              <a:rPr lang="fr-FR" sz="1800" dirty="0"/>
              <a:t>la flexibilité financière et la capacité du groupe à faire face à une trésorerie qui deviendra insuffisante.</a:t>
            </a:r>
          </a:p>
        </p:txBody>
      </p:sp>
    </p:spTree>
    <p:extLst>
      <p:ext uri="{BB962C8B-B14F-4D97-AF65-F5344CB8AC3E}">
        <p14:creationId xmlns:p14="http://schemas.microsoft.com/office/powerpoint/2010/main" val="8588343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90</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5 – Analyse de la liquidité</a:t>
            </a:r>
          </a:p>
          <a:p>
            <a:pPr marL="0" indent="0" algn="ctr">
              <a:buNone/>
            </a:pPr>
            <a:endParaRPr lang="fr-FR" sz="1000" dirty="0"/>
          </a:p>
          <a:p>
            <a:pPr marL="114300" indent="0" algn="ctr">
              <a:buNone/>
            </a:pPr>
            <a:r>
              <a:rPr lang="fr-FR" sz="2000" u="sng" dirty="0"/>
              <a:t>Appréciation finale du risque de liquidité</a:t>
            </a:r>
            <a:endParaRPr lang="fr-FR" sz="2000" dirty="0"/>
          </a:p>
        </p:txBody>
      </p:sp>
      <p:graphicFrame>
        <p:nvGraphicFramePr>
          <p:cNvPr id="6" name="Tableau 5">
            <a:extLst>
              <a:ext uri="{FF2B5EF4-FFF2-40B4-BE49-F238E27FC236}">
                <a16:creationId xmlns:a16="http://schemas.microsoft.com/office/drawing/2014/main" id="{3B86E76D-BC05-4841-907F-1527022CA6A7}"/>
              </a:ext>
            </a:extLst>
          </p:cNvPr>
          <p:cNvGraphicFramePr>
            <a:graphicFrameLocks noGrp="1"/>
          </p:cNvGraphicFramePr>
          <p:nvPr>
            <p:extLst>
              <p:ext uri="{D42A27DB-BD31-4B8C-83A1-F6EECF244321}">
                <p14:modId xmlns:p14="http://schemas.microsoft.com/office/powerpoint/2010/main" val="1888960756"/>
              </p:ext>
            </p:extLst>
          </p:nvPr>
        </p:nvGraphicFramePr>
        <p:xfrm>
          <a:off x="1270432" y="2636912"/>
          <a:ext cx="6544052" cy="2919211"/>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1132455362"/>
                    </a:ext>
                  </a:extLst>
                </a:gridCol>
                <a:gridCol w="2858080">
                  <a:extLst>
                    <a:ext uri="{9D8B030D-6E8A-4147-A177-3AD203B41FA5}">
                      <a16:colId xmlns:a16="http://schemas.microsoft.com/office/drawing/2014/main" val="2718555651"/>
                    </a:ext>
                  </a:extLst>
                </a:gridCol>
                <a:gridCol w="2954452">
                  <a:extLst>
                    <a:ext uri="{9D8B030D-6E8A-4147-A177-3AD203B41FA5}">
                      <a16:colId xmlns:a16="http://schemas.microsoft.com/office/drawing/2014/main" val="471344225"/>
                    </a:ext>
                  </a:extLst>
                </a:gridCol>
              </a:tblGrid>
              <a:tr h="762901">
                <a:tc>
                  <a:txBody>
                    <a:bodyPr/>
                    <a:lstStyle/>
                    <a:p>
                      <a:endParaRPr lang="fr-FR" dirty="0">
                        <a:solidFill>
                          <a:schemeClr val="accent1">
                            <a:lumMod val="20000"/>
                            <a:lumOff val="80000"/>
                          </a:schemeClr>
                        </a:solidFill>
                      </a:endParaRPr>
                    </a:p>
                  </a:txBody>
                  <a:tcPr>
                    <a:solidFill>
                      <a:schemeClr val="bg1"/>
                    </a:solidFill>
                  </a:tcPr>
                </a:tc>
                <a:tc gridSpan="2">
                  <a:txBody>
                    <a:bodyPr/>
                    <a:lstStyle/>
                    <a:p>
                      <a:pPr algn="ctr"/>
                      <a:r>
                        <a:rPr lang="fr-FR" dirty="0"/>
                        <a:t>Marges de manœuvre</a:t>
                      </a:r>
                    </a:p>
                    <a:p>
                      <a:pPr algn="ctr"/>
                      <a:r>
                        <a:rPr lang="fr-FR" dirty="0"/>
                        <a:t>-                                                   + </a:t>
                      </a:r>
                    </a:p>
                  </a:txBody>
                  <a:tcPr anchor="ctr"/>
                </a:tc>
                <a:tc hMerge="1">
                  <a:txBody>
                    <a:bodyPr/>
                    <a:lstStyle/>
                    <a:p>
                      <a:endParaRPr lang="fr-FR" dirty="0"/>
                    </a:p>
                  </a:txBody>
                  <a:tcPr/>
                </a:tc>
                <a:extLst>
                  <a:ext uri="{0D108BD9-81ED-4DB2-BD59-A6C34878D82A}">
                    <a16:rowId xmlns:a16="http://schemas.microsoft.com/office/drawing/2014/main" val="3239317772"/>
                  </a:ext>
                </a:extLst>
              </a:tr>
              <a:tr h="937526">
                <a:tc rowSpan="2">
                  <a:txBody>
                    <a:bodyPr/>
                    <a:lstStyle/>
                    <a:p>
                      <a:pPr algn="ctr"/>
                      <a:r>
                        <a:rPr lang="fr-FR" b="1" dirty="0"/>
                        <a:t>Horizon</a:t>
                      </a:r>
                    </a:p>
                    <a:p>
                      <a:pPr algn="ctr"/>
                      <a:r>
                        <a:rPr lang="fr-FR" b="1" dirty="0"/>
                        <a:t>+                    - </a:t>
                      </a:r>
                    </a:p>
                  </a:txBody>
                  <a:tcPr vert="vert270" anchor="ctr"/>
                </a:tc>
                <a:tc>
                  <a:txBody>
                    <a:bodyPr/>
                    <a:lstStyle/>
                    <a:p>
                      <a:pPr algn="ctr"/>
                      <a:r>
                        <a:rPr lang="fr-FR" b="1" dirty="0"/>
                        <a:t>Risque avéré</a:t>
                      </a:r>
                    </a:p>
                    <a:p>
                      <a:pPr algn="ctr"/>
                      <a:r>
                        <a:rPr lang="fr-FR" dirty="0"/>
                        <a:t>Attribution d’une cote 5+ à 6 en fonction de l’ampleur</a:t>
                      </a:r>
                    </a:p>
                  </a:txBody>
                  <a:tcPr anchor="ctr">
                    <a:solidFill>
                      <a:srgbClr val="FF0000"/>
                    </a:solidFill>
                  </a:tcPr>
                </a:tc>
                <a:tc>
                  <a:txBody>
                    <a:bodyPr/>
                    <a:lstStyle/>
                    <a:p>
                      <a:pPr algn="ctr"/>
                      <a:r>
                        <a:rPr lang="fr-FR" b="1" dirty="0"/>
                        <a:t>Risque potentiel</a:t>
                      </a:r>
                    </a:p>
                    <a:p>
                      <a:pPr algn="ctr"/>
                      <a:r>
                        <a:rPr lang="fr-FR" dirty="0"/>
                        <a:t>Cote 4 au maximum</a:t>
                      </a:r>
                    </a:p>
                  </a:txBody>
                  <a:tcPr anchor="ctr">
                    <a:solidFill>
                      <a:srgbClr val="FFC000"/>
                    </a:solidFill>
                  </a:tcPr>
                </a:tc>
                <a:extLst>
                  <a:ext uri="{0D108BD9-81ED-4DB2-BD59-A6C34878D82A}">
                    <a16:rowId xmlns:a16="http://schemas.microsoft.com/office/drawing/2014/main" val="2215037841"/>
                  </a:ext>
                </a:extLst>
              </a:tr>
              <a:tr h="1218784">
                <a:tc vMerge="1">
                  <a:txBody>
                    <a:bodyPr/>
                    <a:lstStyle/>
                    <a:p>
                      <a:endParaRPr lang="fr-FR" dirty="0"/>
                    </a:p>
                  </a:txBody>
                  <a:tcPr/>
                </a:tc>
                <a:tc>
                  <a:txBody>
                    <a:bodyPr/>
                    <a:lstStyle/>
                    <a:p>
                      <a:pPr algn="ctr"/>
                      <a:r>
                        <a:rPr lang="fr-FR" b="1" dirty="0"/>
                        <a:t>Risque potentiel</a:t>
                      </a:r>
                    </a:p>
                    <a:p>
                      <a:pPr algn="ctr"/>
                      <a:r>
                        <a:rPr lang="fr-FR" dirty="0"/>
                        <a:t>Cote 4 au maximum</a:t>
                      </a:r>
                    </a:p>
                  </a:txBody>
                  <a:tcPr anchor="ctr">
                    <a:solidFill>
                      <a:srgbClr val="FFC000"/>
                    </a:solidFill>
                  </a:tcPr>
                </a:tc>
                <a:tc>
                  <a:txBody>
                    <a:bodyPr/>
                    <a:lstStyle/>
                    <a:p>
                      <a:pPr algn="ctr"/>
                      <a:r>
                        <a:rPr lang="fr-FR" dirty="0"/>
                        <a:t>Le risque de liquidité peut être écarté. L’attribution d’une cote éligible est possible.</a:t>
                      </a:r>
                    </a:p>
                  </a:txBody>
                  <a:tcPr anchor="ctr">
                    <a:solidFill>
                      <a:srgbClr val="92D050"/>
                    </a:solidFill>
                  </a:tcPr>
                </a:tc>
                <a:extLst>
                  <a:ext uri="{0D108BD9-81ED-4DB2-BD59-A6C34878D82A}">
                    <a16:rowId xmlns:a16="http://schemas.microsoft.com/office/drawing/2014/main" val="1630731739"/>
                  </a:ext>
                </a:extLst>
              </a:tr>
            </a:tbl>
          </a:graphicData>
        </a:graphic>
      </p:graphicFrame>
    </p:spTree>
    <p:extLst>
      <p:ext uri="{BB962C8B-B14F-4D97-AF65-F5344CB8AC3E}">
        <p14:creationId xmlns:p14="http://schemas.microsoft.com/office/powerpoint/2010/main" val="15834285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2C8C62-8388-B443-A572-25F697F30A02}"/>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664151B2-02D2-004B-B1F3-14343492329F}"/>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1BDAF2-0BEE-A84C-8E66-E9F9CAD228D4}"/>
              </a:ext>
            </a:extLst>
          </p:cNvPr>
          <p:cNvSpPr>
            <a:spLocks noGrp="1"/>
          </p:cNvSpPr>
          <p:nvPr>
            <p:ph type="sldNum" sz="quarter" idx="4"/>
          </p:nvPr>
        </p:nvSpPr>
        <p:spPr/>
        <p:txBody>
          <a:bodyPr/>
          <a:lstStyle/>
          <a:p>
            <a:fld id="{A5612AF6-3794-417C-8315-010C3BB3AD18}" type="slidenum">
              <a:rPr lang="fr-FR" smtClean="0"/>
              <a:pPr/>
              <a:t>91</a:t>
            </a:fld>
            <a:endParaRPr lang="fr-FR" dirty="0"/>
          </a:p>
        </p:txBody>
      </p:sp>
      <p:sp>
        <p:nvSpPr>
          <p:cNvPr id="5" name="Espace réservé du contenu 4">
            <a:extLst>
              <a:ext uri="{FF2B5EF4-FFF2-40B4-BE49-F238E27FC236}">
                <a16:creationId xmlns:a16="http://schemas.microsoft.com/office/drawing/2014/main" id="{688EDAC1-229D-7542-935F-3B4A75038C1D}"/>
              </a:ext>
            </a:extLst>
          </p:cNvPr>
          <p:cNvSpPr>
            <a:spLocks noGrp="1"/>
          </p:cNvSpPr>
          <p:nvPr>
            <p:ph idx="1"/>
          </p:nvPr>
        </p:nvSpPr>
        <p:spPr/>
        <p:txBody>
          <a:bodyPr>
            <a:normAutofit lnSpcReduction="10000"/>
          </a:bodyPr>
          <a:lstStyle/>
          <a:p>
            <a:pPr marL="114300" indent="0" algn="ctr">
              <a:buNone/>
            </a:pPr>
            <a:r>
              <a:rPr lang="fr-FR" sz="2400" b="1" dirty="0"/>
              <a:t>Les principales étapes de l’analyse :</a:t>
            </a:r>
          </a:p>
          <a:p>
            <a:pPr marL="114300" indent="0" algn="just">
              <a:buNone/>
            </a:pPr>
            <a:endParaRPr lang="fr-FR" sz="2400" dirty="0"/>
          </a:p>
          <a:p>
            <a:pPr marL="571500" indent="-457200" algn="just">
              <a:buFont typeface="+mj-lt"/>
              <a:buAutoNum type="arabicPeriod"/>
            </a:pPr>
            <a:r>
              <a:rPr lang="fr-FR" sz="2400" dirty="0">
                <a:solidFill>
                  <a:schemeClr val="accent1">
                    <a:lumMod val="20000"/>
                    <a:lumOff val="80000"/>
                  </a:schemeClr>
                </a:solidFill>
              </a:rPr>
              <a:t>Analyse de l’environnement, de la stratégie et de l’organisation.</a:t>
            </a:r>
          </a:p>
          <a:p>
            <a:pPr marL="571500" indent="-457200" algn="just">
              <a:buFont typeface="+mj-lt"/>
              <a:buAutoNum type="arabicPeriod"/>
            </a:pPr>
            <a:r>
              <a:rPr lang="fr-FR" sz="2400" dirty="0">
                <a:solidFill>
                  <a:schemeClr val="accent1">
                    <a:lumMod val="20000"/>
                    <a:lumOff val="80000"/>
                  </a:schemeClr>
                </a:solidFill>
              </a:rPr>
              <a:t>Examen critique de la qualité de l’information et étude préalable à l’analyse des comptes.</a:t>
            </a:r>
          </a:p>
          <a:p>
            <a:pPr marL="571500" indent="-457200" algn="just">
              <a:buFont typeface="+mj-lt"/>
              <a:buAutoNum type="arabicPeriod"/>
            </a:pPr>
            <a:r>
              <a:rPr lang="fr-FR" sz="2400" dirty="0">
                <a:solidFill>
                  <a:schemeClr val="accent1">
                    <a:lumMod val="20000"/>
                    <a:lumOff val="80000"/>
                  </a:schemeClr>
                </a:solidFill>
              </a:rPr>
              <a:t>Analyse des performances.</a:t>
            </a:r>
          </a:p>
          <a:p>
            <a:pPr marL="571500" indent="-457200" algn="just">
              <a:buFont typeface="+mj-lt"/>
              <a:buAutoNum type="arabicPeriod"/>
            </a:pPr>
            <a:r>
              <a:rPr lang="fr-FR" sz="2400" dirty="0">
                <a:solidFill>
                  <a:schemeClr val="accent1">
                    <a:lumMod val="20000"/>
                    <a:lumOff val="80000"/>
                  </a:schemeClr>
                </a:solidFill>
              </a:rPr>
              <a:t>Examen de la structure financière (solvabilité et autonomie financière).</a:t>
            </a:r>
          </a:p>
          <a:p>
            <a:pPr marL="571500" indent="-457200" algn="just">
              <a:buFont typeface="+mj-lt"/>
              <a:buAutoNum type="arabicPeriod"/>
            </a:pPr>
            <a:r>
              <a:rPr lang="fr-FR" sz="2400" dirty="0">
                <a:solidFill>
                  <a:schemeClr val="accent1">
                    <a:lumMod val="20000"/>
                    <a:lumOff val="80000"/>
                  </a:schemeClr>
                </a:solidFill>
              </a:rPr>
              <a:t>Analyse de la liquidité.</a:t>
            </a:r>
          </a:p>
          <a:p>
            <a:pPr marL="571500" indent="-457200" algn="just">
              <a:buFont typeface="+mj-lt"/>
              <a:buAutoNum type="arabicPeriod"/>
            </a:pPr>
            <a:r>
              <a:rPr lang="fr-FR" sz="2400" dirty="0"/>
              <a:t>Décision de cotation</a:t>
            </a:r>
          </a:p>
        </p:txBody>
      </p:sp>
    </p:spTree>
    <p:extLst>
      <p:ext uri="{BB962C8B-B14F-4D97-AF65-F5344CB8AC3E}">
        <p14:creationId xmlns:p14="http://schemas.microsoft.com/office/powerpoint/2010/main" val="9792494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92</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6 – Décision de cotation</a:t>
            </a:r>
          </a:p>
          <a:p>
            <a:pPr marL="0" indent="0" algn="ctr">
              <a:buNone/>
            </a:pPr>
            <a:endParaRPr lang="fr-FR" sz="1000" dirty="0"/>
          </a:p>
          <a:p>
            <a:pPr marL="114300" indent="0" algn="ctr">
              <a:buNone/>
            </a:pPr>
            <a:r>
              <a:rPr lang="fr-FR" sz="2000" u="sng" dirty="0"/>
              <a:t>L’objectif de cette étape</a:t>
            </a:r>
            <a:r>
              <a:rPr lang="fr-FR" sz="2000" dirty="0"/>
              <a:t> :</a:t>
            </a:r>
          </a:p>
          <a:p>
            <a:pPr marL="571500" indent="-457200" algn="just"/>
            <a:r>
              <a:rPr lang="fr-FR" sz="2000" dirty="0"/>
              <a:t>apprécier la capacité du groupe à faire face à ses engagements financiers sur les 24 à 36 prochains mois.</a:t>
            </a:r>
          </a:p>
          <a:p>
            <a:pPr marL="571500" indent="-457200" algn="just"/>
            <a:r>
              <a:rPr lang="fr-FR" sz="2000" dirty="0"/>
              <a:t>Le processus de cotation se décompose en 4 phases :</a:t>
            </a:r>
          </a:p>
          <a:p>
            <a:pPr marL="1062450" lvl="1" indent="-457200" algn="just"/>
            <a:r>
              <a:rPr lang="fr-FR" sz="1800" dirty="0"/>
              <a:t>Détermination de la cote financière</a:t>
            </a:r>
          </a:p>
          <a:p>
            <a:pPr marL="1062450" lvl="1" indent="-457200" algn="just"/>
            <a:r>
              <a:rPr lang="fr-FR" sz="1800" dirty="0"/>
              <a:t>Prise en compte du profil qualitatif (impact favorable, neutre ou défavorable)</a:t>
            </a:r>
          </a:p>
          <a:p>
            <a:pPr marL="1062450" lvl="1" indent="-457200" algn="just"/>
            <a:r>
              <a:rPr lang="fr-FR" sz="1800" dirty="0"/>
              <a:t>Perspective d’évolution de la cotation (favorable, stable ou défavorable)</a:t>
            </a:r>
          </a:p>
          <a:p>
            <a:pPr marL="1062450" lvl="1" indent="-457200" algn="just"/>
            <a:r>
              <a:rPr lang="fr-FR" sz="1800" dirty="0"/>
              <a:t>Préconisation du type de cotation à attribuer aux filiales</a:t>
            </a:r>
          </a:p>
        </p:txBody>
      </p:sp>
    </p:spTree>
    <p:extLst>
      <p:ext uri="{BB962C8B-B14F-4D97-AF65-F5344CB8AC3E}">
        <p14:creationId xmlns:p14="http://schemas.microsoft.com/office/powerpoint/2010/main" val="334882117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93</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6 – Décision de cotation</a:t>
            </a:r>
          </a:p>
          <a:p>
            <a:pPr marL="0" indent="0" algn="ctr">
              <a:buNone/>
            </a:pPr>
            <a:endParaRPr lang="fr-FR" sz="1000" dirty="0"/>
          </a:p>
          <a:p>
            <a:pPr marL="114300" indent="0" algn="ctr">
              <a:buNone/>
            </a:pPr>
            <a:r>
              <a:rPr lang="fr-FR" sz="2000" u="sng" dirty="0"/>
              <a:t>Phase 1 : Déterminer la cote financière</a:t>
            </a:r>
            <a:endParaRPr lang="fr-FR" sz="2000" dirty="0"/>
          </a:p>
          <a:p>
            <a:pPr algn="just"/>
            <a:r>
              <a:rPr lang="fr-FR" sz="2000" dirty="0"/>
              <a:t>Les éléments dont l’impact sur la situation du groupe sont </a:t>
            </a:r>
            <a:r>
              <a:rPr lang="fr-FR" sz="2000" b="1" dirty="0"/>
              <a:t>quantifiables financièrement</a:t>
            </a:r>
            <a:r>
              <a:rPr lang="fr-FR" sz="2000" dirty="0"/>
              <a:t> sont pris en compte au niveau du profil financier.</a:t>
            </a:r>
          </a:p>
          <a:p>
            <a:pPr algn="just"/>
            <a:r>
              <a:rPr lang="fr-FR" sz="2000" dirty="0"/>
              <a:t>Ainsi, les évènements post-clôture réalisés et précisément chiffrés et les données issues des situations intermédiaires, notamment semestrielles, doivent être intégrés au niveau du profil financier, c’est-à-dire avant prise en compte des éléments qualitatifs.</a:t>
            </a:r>
          </a:p>
          <a:p>
            <a:pPr algn="just"/>
            <a:r>
              <a:rPr lang="fr-FR" sz="2000" dirty="0"/>
              <a:t>Le groupe est positionné sur une cote primaire (3, 4, 5 ou 6) qui est ensuite segmentée sur la base d’indicateurs financiers clés discriminants (différents selon les secteurs d’activité) et du risque de liquidité.</a:t>
            </a:r>
          </a:p>
        </p:txBody>
      </p:sp>
    </p:spTree>
    <p:extLst>
      <p:ext uri="{BB962C8B-B14F-4D97-AF65-F5344CB8AC3E}">
        <p14:creationId xmlns:p14="http://schemas.microsoft.com/office/powerpoint/2010/main" val="29551598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94</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6 – Décision de cotation</a:t>
            </a:r>
          </a:p>
          <a:p>
            <a:pPr marL="0" indent="0" algn="ctr">
              <a:buNone/>
            </a:pPr>
            <a:endParaRPr lang="fr-FR" sz="1000" dirty="0"/>
          </a:p>
          <a:p>
            <a:pPr marL="114300" indent="0" algn="ctr">
              <a:buNone/>
            </a:pPr>
            <a:r>
              <a:rPr lang="fr-FR" sz="2000" u="sng" dirty="0"/>
              <a:t>Phase 2 : Déterminer le profil qualitatif</a:t>
            </a:r>
            <a:endParaRPr lang="fr-FR" sz="2000" dirty="0"/>
          </a:p>
          <a:p>
            <a:pPr algn="just"/>
            <a:r>
              <a:rPr lang="fr-FR" sz="2000" dirty="0"/>
              <a:t>Les éléments </a:t>
            </a:r>
            <a:r>
              <a:rPr lang="fr-FR" sz="2000" b="1" dirty="0"/>
              <a:t>non quantifiables financièrement </a:t>
            </a:r>
            <a:r>
              <a:rPr lang="fr-FR" sz="2000" dirty="0"/>
              <a:t>(évènements post-clôture non chiffrés, prévisions d’activité) doivent être appréciés au titre de l’analyse qualitative et leur impact retranscrit au niveau de la cote finalement retenue.</a:t>
            </a:r>
          </a:p>
          <a:p>
            <a:pPr algn="just"/>
            <a:r>
              <a:rPr lang="fr-FR" sz="2000" dirty="0"/>
              <a:t>Un même élément ne peut en aucun cas impacter le profil financier </a:t>
            </a:r>
            <a:r>
              <a:rPr lang="fr-FR" sz="2000" u="sng" dirty="0"/>
              <a:t>et</a:t>
            </a:r>
            <a:r>
              <a:rPr lang="fr-FR" sz="2000" dirty="0"/>
              <a:t> le profil qualitatif.</a:t>
            </a:r>
          </a:p>
          <a:p>
            <a:pPr algn="just"/>
            <a:r>
              <a:rPr lang="fr-FR" sz="2000" dirty="0"/>
              <a:t>L’objectif de cette phase est d’établir une synthèse critique des atouts et des faiblesses du profil qualitatif du groupe au regard des éléments développés dans la fiche de cotation.</a:t>
            </a:r>
          </a:p>
        </p:txBody>
      </p:sp>
    </p:spTree>
    <p:extLst>
      <p:ext uri="{BB962C8B-B14F-4D97-AF65-F5344CB8AC3E}">
        <p14:creationId xmlns:p14="http://schemas.microsoft.com/office/powerpoint/2010/main" val="10039425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95</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6 – Décision de cotation</a:t>
            </a:r>
          </a:p>
          <a:p>
            <a:pPr marL="0" indent="0" algn="ctr">
              <a:buNone/>
            </a:pPr>
            <a:endParaRPr lang="fr-FR" sz="1000" dirty="0"/>
          </a:p>
          <a:p>
            <a:pPr marL="114300" indent="0" algn="ctr">
              <a:buNone/>
            </a:pPr>
            <a:r>
              <a:rPr lang="fr-FR" sz="2000" u="sng" dirty="0"/>
              <a:t>Phase 2 : Déterminer le profil qualitatif</a:t>
            </a:r>
            <a:endParaRPr lang="fr-FR" sz="2000" dirty="0"/>
          </a:p>
        </p:txBody>
      </p:sp>
      <p:pic>
        <p:nvPicPr>
          <p:cNvPr id="6" name="Picture 2">
            <a:extLst>
              <a:ext uri="{FF2B5EF4-FFF2-40B4-BE49-F238E27FC236}">
                <a16:creationId xmlns:a16="http://schemas.microsoft.com/office/drawing/2014/main" id="{D0E4B423-387F-0B42-AF60-97230ED96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7034" y="2348880"/>
            <a:ext cx="4111531" cy="3982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98177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96</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000" b="1" dirty="0"/>
              <a:t>Étape 6 – Décision de cotation</a:t>
            </a:r>
          </a:p>
          <a:p>
            <a:pPr marL="0" indent="0" algn="ctr">
              <a:buNone/>
            </a:pPr>
            <a:endParaRPr lang="fr-FR" sz="1000" dirty="0"/>
          </a:p>
          <a:p>
            <a:pPr marL="114300" indent="0" algn="ctr">
              <a:buNone/>
            </a:pPr>
            <a:r>
              <a:rPr lang="fr-FR" sz="2000" u="sng" dirty="0"/>
              <a:t>Phase 3 : Perspective d’évolution de la cotation</a:t>
            </a:r>
            <a:endParaRPr lang="fr-FR" sz="2000" dirty="0"/>
          </a:p>
          <a:p>
            <a:pPr algn="just"/>
            <a:r>
              <a:rPr lang="fr-FR" sz="2000" dirty="0"/>
              <a:t>L’objectif de cette phase est d’indiquer l’orientation de la cotation du groupe en analysant notamment les indicateurs financiers clés qui peuvent influer sur son évolution.</a:t>
            </a:r>
          </a:p>
          <a:p>
            <a:pPr algn="just"/>
            <a:r>
              <a:rPr lang="fr-FR" sz="2000" dirty="0"/>
              <a:t>A posteriori, cette perspective est étudiée pour relever les écarts éventuels et apprécier la fiabilité des prévisions.</a:t>
            </a:r>
          </a:p>
        </p:txBody>
      </p:sp>
    </p:spTree>
    <p:extLst>
      <p:ext uri="{BB962C8B-B14F-4D97-AF65-F5344CB8AC3E}">
        <p14:creationId xmlns:p14="http://schemas.microsoft.com/office/powerpoint/2010/main" val="701138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97</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Autofit/>
          </a:bodyPr>
          <a:lstStyle/>
          <a:p>
            <a:pPr marL="0" indent="0" algn="ctr">
              <a:buNone/>
            </a:pPr>
            <a:r>
              <a:rPr lang="fr-FR" sz="2000" b="1" dirty="0"/>
              <a:t>Étape 6 – Décision de cotation</a:t>
            </a:r>
          </a:p>
          <a:p>
            <a:pPr marL="0" indent="0" algn="ctr">
              <a:buNone/>
            </a:pPr>
            <a:endParaRPr lang="fr-FR" sz="1000" dirty="0"/>
          </a:p>
          <a:p>
            <a:pPr marL="114300" indent="0" algn="ctr">
              <a:buNone/>
            </a:pPr>
            <a:r>
              <a:rPr lang="fr-FR" sz="2000" u="sng" dirty="0"/>
              <a:t>Phase 4 : Préconisation de cotation pour les filiales</a:t>
            </a:r>
            <a:endParaRPr lang="fr-FR" sz="2000" dirty="0"/>
          </a:p>
          <a:p>
            <a:pPr marL="400050" lvl="1" indent="-342900" algn="just">
              <a:buClr>
                <a:schemeClr val="accent1"/>
              </a:buClr>
              <a:buFont typeface="Wingdings" pitchFamily="2" charset="2"/>
              <a:buChar char="§"/>
            </a:pPr>
            <a:r>
              <a:rPr lang="fr-FR" sz="2000" dirty="0"/>
              <a:t>Les filiales qui ne présentent aucun signe de fragilité reçoivent la cote du groupe.</a:t>
            </a:r>
          </a:p>
          <a:p>
            <a:pPr marL="400050" lvl="1" indent="-342900" algn="just">
              <a:buClr>
                <a:schemeClr val="accent1"/>
              </a:buClr>
              <a:buFont typeface="Wingdings" pitchFamily="2" charset="2"/>
              <a:buChar char="§"/>
            </a:pPr>
            <a:r>
              <a:rPr lang="fr-FR" sz="2000" dirty="0"/>
              <a:t>Celles qui présentent des signes de fragilité (par exemple un risque de liquidité, des pertes récurrentes…) ne peuvent recevoir la cote du groupe que si le soutien financier du groupe est effectif. A défaut, elles reçoivent une cote autonome.</a:t>
            </a:r>
          </a:p>
          <a:p>
            <a:pPr marL="400050" lvl="1" indent="-342900" algn="just">
              <a:buClr>
                <a:schemeClr val="accent1"/>
              </a:buClr>
              <a:buFont typeface="Wingdings" pitchFamily="2" charset="2"/>
              <a:buChar char="§"/>
            </a:pPr>
            <a:r>
              <a:rPr lang="fr-FR" sz="2000" dirty="0"/>
              <a:t>Les filiales qui affichent des capitaux propres négatifs ou des capitaux propres inférieurs à la moitié du capital social reçoivent au mieux un cote 5+.</a:t>
            </a:r>
          </a:p>
        </p:txBody>
      </p:sp>
    </p:spTree>
    <p:extLst>
      <p:ext uri="{BB962C8B-B14F-4D97-AF65-F5344CB8AC3E}">
        <p14:creationId xmlns:p14="http://schemas.microsoft.com/office/powerpoint/2010/main" val="8735129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3659A9-FD17-CA42-B240-529D34F7A71E}"/>
              </a:ext>
            </a:extLst>
          </p:cNvPr>
          <p:cNvSpPr>
            <a:spLocks noGrp="1"/>
          </p:cNvSpPr>
          <p:nvPr>
            <p:ph type="title"/>
          </p:nvPr>
        </p:nvSpPr>
        <p:spPr/>
        <p:txBody>
          <a:bodyPr/>
          <a:lstStyle/>
          <a:p>
            <a:r>
              <a:rPr lang="fr-FR" dirty="0"/>
              <a:t>3. L’analyse financière des comptes consolidés</a:t>
            </a:r>
          </a:p>
        </p:txBody>
      </p:sp>
      <p:sp>
        <p:nvSpPr>
          <p:cNvPr id="3" name="Espace réservé du pied de page 2">
            <a:extLst>
              <a:ext uri="{FF2B5EF4-FFF2-40B4-BE49-F238E27FC236}">
                <a16:creationId xmlns:a16="http://schemas.microsoft.com/office/drawing/2014/main" id="{851487A3-C393-074C-9051-81E1C714A578}"/>
              </a:ext>
            </a:extLst>
          </p:cNvPr>
          <p:cNvSpPr>
            <a:spLocks noGrp="1"/>
          </p:cNvSpPr>
          <p:nvPr>
            <p:ph type="ftr" sz="quarter" idx="3"/>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D675A4D-02D4-E945-9EE8-45E706011C12}"/>
              </a:ext>
            </a:extLst>
          </p:cNvPr>
          <p:cNvSpPr>
            <a:spLocks noGrp="1"/>
          </p:cNvSpPr>
          <p:nvPr>
            <p:ph type="sldNum" sz="quarter" idx="4"/>
          </p:nvPr>
        </p:nvSpPr>
        <p:spPr/>
        <p:txBody>
          <a:bodyPr/>
          <a:lstStyle/>
          <a:p>
            <a:fld id="{A5612AF6-3794-417C-8315-010C3BB3AD18}" type="slidenum">
              <a:rPr lang="fr-FR" smtClean="0"/>
              <a:pPr/>
              <a:t>98</a:t>
            </a:fld>
            <a:endParaRPr lang="fr-FR" dirty="0"/>
          </a:p>
        </p:txBody>
      </p:sp>
      <p:sp>
        <p:nvSpPr>
          <p:cNvPr id="5" name="Espace réservé du contenu 4">
            <a:extLst>
              <a:ext uri="{FF2B5EF4-FFF2-40B4-BE49-F238E27FC236}">
                <a16:creationId xmlns:a16="http://schemas.microsoft.com/office/drawing/2014/main" id="{5CB80947-2699-8742-8722-D10A8F5F655E}"/>
              </a:ext>
            </a:extLst>
          </p:cNvPr>
          <p:cNvSpPr>
            <a:spLocks noGrp="1"/>
          </p:cNvSpPr>
          <p:nvPr>
            <p:ph idx="1"/>
          </p:nvPr>
        </p:nvSpPr>
        <p:spPr/>
        <p:txBody>
          <a:bodyPr>
            <a:normAutofit/>
          </a:bodyPr>
          <a:lstStyle/>
          <a:p>
            <a:pPr marL="0" indent="0" algn="ctr">
              <a:buNone/>
            </a:pPr>
            <a:r>
              <a:rPr lang="fr-FR" sz="2400" b="1" dirty="0"/>
              <a:t>Étude de cas</a:t>
            </a:r>
          </a:p>
          <a:p>
            <a:endParaRPr lang="fr-FR" b="1" dirty="0"/>
          </a:p>
          <a:p>
            <a:endParaRPr lang="fr-FR" dirty="0"/>
          </a:p>
        </p:txBody>
      </p:sp>
      <p:pic>
        <p:nvPicPr>
          <p:cNvPr id="7" name="Image 6">
            <a:extLst>
              <a:ext uri="{FF2B5EF4-FFF2-40B4-BE49-F238E27FC236}">
                <a16:creationId xmlns:a16="http://schemas.microsoft.com/office/drawing/2014/main" id="{3A86EDBA-2D41-4E44-A4A1-340FD94931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1640" y="1888979"/>
            <a:ext cx="6108836" cy="4076984"/>
          </a:xfrm>
          <a:prstGeom prst="rect">
            <a:avLst/>
          </a:prstGeom>
        </p:spPr>
      </p:pic>
      <p:sp>
        <p:nvSpPr>
          <p:cNvPr id="8" name="ZoneTexte 7">
            <a:extLst>
              <a:ext uri="{FF2B5EF4-FFF2-40B4-BE49-F238E27FC236}">
                <a16:creationId xmlns:a16="http://schemas.microsoft.com/office/drawing/2014/main" id="{64A51BF9-1892-2B4B-A454-FBA5288DFB4F}"/>
              </a:ext>
            </a:extLst>
          </p:cNvPr>
          <p:cNvSpPr txBox="1"/>
          <p:nvPr/>
        </p:nvSpPr>
        <p:spPr>
          <a:xfrm>
            <a:off x="5940152" y="5944437"/>
            <a:ext cx="1622560" cy="215444"/>
          </a:xfrm>
          <a:prstGeom prst="rect">
            <a:avLst/>
          </a:prstGeom>
          <a:noFill/>
        </p:spPr>
        <p:txBody>
          <a:bodyPr wrap="none" rtlCol="0">
            <a:spAutoFit/>
          </a:bodyPr>
          <a:lstStyle/>
          <a:p>
            <a:r>
              <a:rPr lang="fr-FR" sz="800" i="1" dirty="0">
                <a:solidFill>
                  <a:schemeClr val="tx2"/>
                </a:solidFill>
              </a:rPr>
              <a:t>Photo by </a:t>
            </a:r>
            <a:r>
              <a:rPr lang="fr-FR" sz="800" i="1" dirty="0">
                <a:solidFill>
                  <a:schemeClr val="tx2"/>
                </a:solidFill>
                <a:hlinkClick r:id="rId4">
                  <a:extLst>
                    <a:ext uri="{A12FA001-AC4F-418D-AE19-62706E023703}">
                      <ahyp:hlinkClr xmlns:ahyp="http://schemas.microsoft.com/office/drawing/2018/hyperlinkcolor" val="tx"/>
                    </a:ext>
                  </a:extLst>
                </a:hlinkClick>
              </a:rPr>
              <a:t>Helloquence</a:t>
            </a:r>
            <a:r>
              <a:rPr lang="fr-FR" sz="800" i="1" dirty="0">
                <a:solidFill>
                  <a:schemeClr val="tx2"/>
                </a:solidFill>
              </a:rPr>
              <a:t> on </a:t>
            </a:r>
            <a:r>
              <a:rPr lang="fr-FR" sz="800" i="1" dirty="0">
                <a:solidFill>
                  <a:schemeClr val="tx2"/>
                </a:solidFill>
                <a:hlinkClick r:id="rId5">
                  <a:extLst>
                    <a:ext uri="{A12FA001-AC4F-418D-AE19-62706E023703}">
                      <ahyp:hlinkClr xmlns:ahyp="http://schemas.microsoft.com/office/drawing/2018/hyperlinkcolor" val="tx"/>
                    </a:ext>
                  </a:extLst>
                </a:hlinkClick>
              </a:rPr>
              <a:t>Unsplash</a:t>
            </a:r>
            <a:endParaRPr lang="fr-FR" sz="800" i="1" dirty="0">
              <a:solidFill>
                <a:schemeClr val="tx2"/>
              </a:solidFill>
            </a:endParaRPr>
          </a:p>
        </p:txBody>
      </p:sp>
    </p:spTree>
    <p:extLst>
      <p:ext uri="{BB962C8B-B14F-4D97-AF65-F5344CB8AC3E}">
        <p14:creationId xmlns:p14="http://schemas.microsoft.com/office/powerpoint/2010/main" val="11550987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Merci pour votre attention</a:t>
            </a:r>
          </a:p>
        </p:txBody>
      </p:sp>
      <p:sp>
        <p:nvSpPr>
          <p:cNvPr id="10" name="Espace réservé du texte 2">
            <a:extLst>
              <a:ext uri="{FF2B5EF4-FFF2-40B4-BE49-F238E27FC236}">
                <a16:creationId xmlns:a16="http://schemas.microsoft.com/office/drawing/2014/main" id="{93BF1250-45DA-8A4D-BAD3-8E6E14E315E3}"/>
              </a:ext>
            </a:extLst>
          </p:cNvPr>
          <p:cNvSpPr txBox="1">
            <a:spLocks/>
          </p:cNvSpPr>
          <p:nvPr/>
        </p:nvSpPr>
        <p:spPr>
          <a:xfrm>
            <a:off x="3725906" y="5517232"/>
            <a:ext cx="1692188" cy="379512"/>
          </a:xfrm>
          <a:prstGeom prst="rect">
            <a:avLst/>
          </a:prstGeom>
        </p:spPr>
        <p:txBody>
          <a:bodyPr vert="horz" lIns="91440" tIns="45720" rIns="91440" bIns="45720" rtlCol="0">
            <a:noAutofit/>
          </a:bodyPr>
          <a:lstStyle>
            <a:lvl1pPr marL="0" indent="0" algn="r" defTabSz="914400" rtl="0" eaLnBrk="1" latinLnBrk="0" hangingPunct="1">
              <a:spcBef>
                <a:spcPts val="0"/>
              </a:spcBef>
              <a:buFontTx/>
              <a:buNone/>
              <a:defRPr sz="1200" kern="1200" cap="all" baseline="0">
                <a:solidFill>
                  <a:srgbClr val="205AA7"/>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rgbClr val="205AA7"/>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lumMod val="65000"/>
                    <a:lumOff val="3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lumMod val="65000"/>
                    <a:lumOff val="3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fr-FR" cap="none" dirty="0">
                <a:hlinkClick r:id="rId2"/>
              </a:rPr>
              <a:t>ggilles@inseec-edu.com</a:t>
            </a:r>
            <a:endParaRPr lang="fr-FR" cap="none" dirty="0"/>
          </a:p>
          <a:p>
            <a:endParaRPr lang="fr-FR" dirty="0"/>
          </a:p>
        </p:txBody>
      </p:sp>
      <p:pic>
        <p:nvPicPr>
          <p:cNvPr id="11" name="Image 10">
            <a:extLst>
              <a:ext uri="{FF2B5EF4-FFF2-40B4-BE49-F238E27FC236}">
                <a16:creationId xmlns:a16="http://schemas.microsoft.com/office/drawing/2014/main" id="{F815818C-9F79-0241-AE4A-0E73DD1A8E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3578" y="4996810"/>
            <a:ext cx="1616844" cy="520422"/>
          </a:xfrm>
          <a:prstGeom prst="rect">
            <a:avLst/>
          </a:prstGeom>
        </p:spPr>
      </p:pic>
      <p:sp>
        <p:nvSpPr>
          <p:cNvPr id="5" name="Espace réservé du texte 4">
            <a:extLst>
              <a:ext uri="{FF2B5EF4-FFF2-40B4-BE49-F238E27FC236}">
                <a16:creationId xmlns:a16="http://schemas.microsoft.com/office/drawing/2014/main" id="{4996615D-02B7-4B3A-A1DF-ACB7063EF6B2}"/>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8170795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ABARIT-powerpoint">
  <a:themeElements>
    <a:clrScheme name="Personnalisé 1">
      <a:dk1>
        <a:sysClr val="windowText" lastClr="000000"/>
      </a:dk1>
      <a:lt1>
        <a:sysClr val="window" lastClr="FFFFFF"/>
      </a:lt1>
      <a:dk2>
        <a:srgbClr val="666666"/>
      </a:dk2>
      <a:lt2>
        <a:srgbClr val="D2D2D2"/>
      </a:lt2>
      <a:accent1>
        <a:srgbClr val="205AA7"/>
      </a:accent1>
      <a:accent2>
        <a:srgbClr val="005BD3"/>
      </a:accent2>
      <a:accent3>
        <a:srgbClr val="00449E"/>
      </a:accent3>
      <a:accent4>
        <a:srgbClr val="00449E"/>
      </a:accent4>
      <a:accent5>
        <a:srgbClr val="800080"/>
      </a:accent5>
      <a:accent6>
        <a:srgbClr val="D60093"/>
      </a:accent6>
      <a:hlink>
        <a:srgbClr val="A0006E"/>
      </a:hlink>
      <a:folHlink>
        <a:srgbClr val="FE19FF"/>
      </a:folHlink>
    </a:clrScheme>
    <a:fontScheme name="Personnalisé 1">
      <a:majorFont>
        <a:latin typeface="Calibri"/>
        <a:ea typeface=""/>
        <a:cs typeface=""/>
      </a:majorFont>
      <a:minorFont>
        <a:latin typeface="Calibri"/>
        <a:ea typeface=""/>
        <a:cs typeface=""/>
      </a:minorFont>
    </a:fontScheme>
    <a:fmtScheme name="Papi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47A41D63B67B8439C09AB678A8DA1B0" ma:contentTypeVersion="0" ma:contentTypeDescription="Crée un document." ma:contentTypeScope="" ma:versionID="fcf5211c4df197de652a9b0f1a16a4a3">
  <xsd:schema xmlns:xsd="http://www.w3.org/2001/XMLSchema" xmlns:xs="http://www.w3.org/2001/XMLSchema" xmlns:p="http://schemas.microsoft.com/office/2006/metadata/properties" targetNamespace="http://schemas.microsoft.com/office/2006/metadata/properties" ma:root="true" ma:fieldsID="b929d331a105c8938e0f56b370c64f3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2FDDFE8-55E5-4F72-9917-6DF7276A2EFF}">
  <ds:schemaRefs>
    <ds:schemaRef ds:uri="http://purl.org/dc/elements/1.1/"/>
    <ds:schemaRef ds:uri="http://schemas.openxmlformats.org/package/2006/metadata/core-properties"/>
    <ds:schemaRef ds:uri="http://purl.org/dc/term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27DFE97A-3E07-4BB1-88D3-DA558751F486}">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1323C1A-603D-4890-99D6-2670B78F61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GABARIT-BDF-PPT</Template>
  <TotalTime>0</TotalTime>
  <Words>5774</Words>
  <Application>Microsoft Office PowerPoint</Application>
  <PresentationFormat>Affichage à l'écran (4:3)</PresentationFormat>
  <Paragraphs>730</Paragraphs>
  <Slides>99</Slides>
  <Notes>15</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99</vt:i4>
      </vt:variant>
    </vt:vector>
  </HeadingPairs>
  <TitlesOfParts>
    <vt:vector size="103" baseType="lpstr">
      <vt:lpstr>Arial</vt:lpstr>
      <vt:lpstr>Calibri</vt:lpstr>
      <vt:lpstr>Wingdings</vt:lpstr>
      <vt:lpstr>GABARIT-powerpoint</vt:lpstr>
      <vt:lpstr>Analyse financière</vt:lpstr>
      <vt:lpstr>Présentation PowerPoint</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1. Découvrir la Banque de France</vt:lpstr>
      <vt:lpstr>Présentation PowerPoint</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2. Présentation de La cotation banque de France</vt:lpstr>
      <vt:lpstr>Présentation PowerPoint</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3. L’analyse financière des comptes consolidés</vt:lpstr>
      <vt:lpstr>Merci pour votre attention</vt:lpstr>
    </vt:vector>
  </TitlesOfParts>
  <Company>Banque de France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TITRE DE LA PRÉSENTATION</dc:title>
  <dc:creator>GILLES Guillaume (UA 0215)</dc:creator>
  <cp:lastModifiedBy>Guillaume GILLES</cp:lastModifiedBy>
  <cp:revision>66</cp:revision>
  <cp:lastPrinted>2019-05-29T21:29:39Z</cp:lastPrinted>
  <dcterms:created xsi:type="dcterms:W3CDTF">2018-11-13T08:29:04Z</dcterms:created>
  <dcterms:modified xsi:type="dcterms:W3CDTF">2020-03-07T22:49:59Z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0x010100747A41D63B67B8439C09AB678A8DA1B0</vt:lpwstr>
  </property>
</Properties>
</file>