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78.xml" ContentType="application/vnd.openxmlformats-officedocument.presentationml.notesSlide+xml"/>
  <Override PartName="/ppt/notesSlides/notesSlide66.xml" ContentType="application/vnd.openxmlformats-officedocument.presentationml.notesSlide+xml"/>
  <Override PartName="/ppt/notesSlides/_rels/notesSlide78.xml.rels" ContentType="application/vnd.openxmlformats-package.relationships+xml"/>
  <Override PartName="/ppt/notesSlides/_rels/notesSlide66.xml.rels" ContentType="application/vnd.openxmlformats-package.relationships+xml"/>
  <Override PartName="/ppt/notesSlides/_rels/notesSlide60.xml.rels" ContentType="application/vnd.openxmlformats-package.relationships+xml"/>
  <Override PartName="/ppt/notesSlides/_rels/notesSlide84.xml.rels" ContentType="application/vnd.openxmlformats-package.relationships+xml"/>
  <Override PartName="/ppt/notesSlides/_rels/notesSlide94.xml.rels" ContentType="application/vnd.openxmlformats-package.relationships+xml"/>
  <Override PartName="/ppt/notesSlides/_rels/notesSlide58.xml.rels" ContentType="application/vnd.openxmlformats-package.relationships+xml"/>
  <Override PartName="/ppt/notesSlides/_rels/notesSlide50.xml.rels" ContentType="application/vnd.openxmlformats-package.relationships+xml"/>
  <Override PartName="/ppt/notesSlides/_rels/notesSlide56.xml.rels" ContentType="application/vnd.openxmlformats-package.relationships+xml"/>
  <Override PartName="/ppt/notesSlides/_rels/notesSlide59.xml.rels" ContentType="application/vnd.openxmlformats-package.relationships+xml"/>
  <Override PartName="/ppt/notesSlides/_rels/notesSlide44.xml.rels" ContentType="application/vnd.openxmlformats-package.relationships+xml"/>
  <Override PartName="/ppt/notesSlides/_rels/notesSlide31.xml.rels" ContentType="application/vnd.openxmlformats-package.relationships+xml"/>
  <Override PartName="/ppt/notesSlides/_rels/notesSlide26.xml.rels" ContentType="application/vnd.openxmlformats-package.relationships+xml"/>
  <Override PartName="/ppt/notesSlides/_rels/notesSlide23.xml.rels" ContentType="application/vnd.openxmlformats-package.relationships+xml"/>
  <Override PartName="/ppt/notesSlides/notesSlide60.xml" ContentType="application/vnd.openxmlformats-officedocument.presentationml.notesSlide+xml"/>
  <Override PartName="/ppt/notesSlides/notesSlide94.xml" ContentType="application/vnd.openxmlformats-officedocument.presentationml.notesSlide+xml"/>
  <Override PartName="/ppt/notesSlides/notesSlide50.xml" ContentType="application/vnd.openxmlformats-officedocument.presentationml.notesSlide+xml"/>
  <Override PartName="/ppt/notesSlides/notesSlide56.xml" ContentType="application/vnd.openxmlformats-officedocument.presentationml.notesSlide+xml"/>
  <Override PartName="/ppt/notesSlides/notesSlide44.xml" ContentType="application/vnd.openxmlformats-officedocument.presentationml.notesSlide+xml"/>
  <Override PartName="/ppt/notesSlides/notesSlide31.xml" ContentType="application/vnd.openxmlformats-officedocument.presentationml.notesSlide+xml"/>
  <Override PartName="/ppt/notesSlides/notesSlide26.xml" ContentType="application/vnd.openxmlformats-officedocument.presentationml.notesSlide+xml"/>
  <Override PartName="/ppt/notesSlides/notesSlide59.xml" ContentType="application/vnd.openxmlformats-officedocument.presentationml.notesSlide+xml"/>
  <Override PartName="/ppt/notesSlides/notesSlide84.xml" ContentType="application/vnd.openxmlformats-officedocument.presentationml.notesSlide+xml"/>
  <Override PartName="/ppt/notesSlides/notesSlide58.xml" ContentType="application/vnd.openxmlformats-officedocument.presentationml.notesSlide+xml"/>
  <Override PartName="/ppt/notesSlides/notesSlide23.xml" ContentType="application/vnd.openxmlformats-officedocument.presentationml.notesSlide+xml"/>
  <Override PartName="/ppt/_rels/presentation.xml.rels" ContentType="application/vnd.openxmlformats-package.relationships+xml"/>
  <Override PartName="/ppt/media/image26.wmf" ContentType="image/x-wmf"/>
  <Override PartName="/ppt/media/image25.wmf" ContentType="image/x-wmf"/>
  <Override PartName="/ppt/media/image24.wmf" ContentType="image/x-wmf"/>
  <Override PartName="/ppt/media/image23.wmf" ContentType="image/x-wmf"/>
  <Override PartName="/ppt/media/image22.wmf" ContentType="image/x-wmf"/>
  <Override PartName="/ppt/media/image21.wmf" ContentType="image/x-wmf"/>
  <Override PartName="/ppt/media/image19.wmf" ContentType="image/x-wmf"/>
  <Override PartName="/ppt/media/image20.wmf" ContentType="image/x-wmf"/>
  <Override PartName="/ppt/media/image18.wmf" ContentType="image/x-wmf"/>
  <Override PartName="/ppt/media/image17.wmf" ContentType="image/x-wmf"/>
  <Override PartName="/ppt/media/image16.wmf" ContentType="image/x-wmf"/>
  <Override PartName="/ppt/media/image45.jpeg" ContentType="image/jpeg"/>
  <Override PartName="/ppt/media/image1.png" ContentType="image/png"/>
  <Override PartName="/ppt/media/image31.png" ContentType="image/png"/>
  <Override PartName="/ppt/media/image29.png" ContentType="image/png"/>
  <Override PartName="/ppt/media/image14.wmf" ContentType="image/x-wmf"/>
  <Override PartName="/ppt/media/image6.png" ContentType="image/png"/>
  <Override PartName="/ppt/media/image27.png" ContentType="image/png"/>
  <Override PartName="/ppt/media/image4.png" ContentType="image/png"/>
  <Override PartName="/ppt/media/image12.wmf" ContentType="image/x-wmf"/>
  <Override PartName="/ppt/media/image35.wmf" ContentType="image/x-wmf"/>
  <Override PartName="/ppt/media/image39.jpeg" ContentType="image/jpeg"/>
  <Override PartName="/ppt/media/image30.png" ContentType="image/png"/>
  <Override PartName="/ppt/media/image13.wmf" ContentType="image/x-wmf"/>
  <Override PartName="/ppt/media/image42.png" ContentType="image/png"/>
  <Override PartName="/ppt/media/image36.wmf" ContentType="image/x-wmf"/>
  <Override PartName="/ppt/media/image44.jpeg" ContentType="image/jpeg"/>
  <Override PartName="/ppt/media/image28.png" ContentType="image/png"/>
  <Override PartName="/ppt/media/image38.jpeg" ContentType="image/jpeg"/>
  <Override PartName="/ppt/media/image33.wmf" ContentType="image/x-wmf"/>
  <Override PartName="/ppt/media/image46.png" ContentType="image/png"/>
  <Override PartName="/ppt/media/image34.wmf" ContentType="image/x-wmf"/>
  <Override PartName="/ppt/media/image47.png" ContentType="image/png"/>
  <Override PartName="/ppt/media/image9.wmf" ContentType="image/x-wmf"/>
  <Override PartName="/ppt/media/image41.png" ContentType="image/png"/>
  <Override PartName="/ppt/media/image5.png" ContentType="image/png"/>
  <Override PartName="/ppt/media/image43.jpeg" ContentType="image/jpeg"/>
  <Override PartName="/ppt/media/image8.wmf" ContentType="image/x-wmf"/>
  <Override PartName="/ppt/media/image40.png" ContentType="image/png"/>
  <Override PartName="/ppt/media/image11.wmf" ContentType="image/x-wmf"/>
  <Override PartName="/ppt/media/image3.png" ContentType="image/png"/>
  <Override PartName="/ppt/media/image37.png" ContentType="image/png"/>
  <Override PartName="/ppt/media/image7.png" ContentType="image/png"/>
  <Override PartName="/ppt/media/image15.wmf" ContentType="image/x-wmf"/>
  <Override PartName="/ppt/media/image2.png" ContentType="image/png"/>
  <Override PartName="/ppt/media/image32.png" ContentType="image/png"/>
  <Override PartName="/ppt/media/image10.wmf" ContentType="image/x-wmf"/>
  <Override PartName="/ppt/slideLayouts/_rels/slideLayout19.xml.rels" ContentType="application/vnd.openxmlformats-package.relationships+xml"/>
  <Override PartName="/ppt/slideLayouts/_rels/slideLayout13.xml.rels" ContentType="application/vnd.openxmlformats-package.relationships+xml"/>
  <Override PartName="/ppt/slideLayouts/_rels/slideLayout23.xml.rels" ContentType="application/vnd.openxmlformats-package.relationships+xml"/>
  <Override PartName="/ppt/slideLayouts/_rels/slideLayout30.xml.rels" ContentType="application/vnd.openxmlformats-package.relationships+xml"/>
  <Override PartName="/ppt/slideLayouts/_rels/slideLayout14.xml.rels" ContentType="application/vnd.openxmlformats-package.relationships+xml"/>
  <Override PartName="/ppt/slideLayouts/_rels/slideLayout29.xml.rels" ContentType="application/vnd.openxmlformats-package.relationships+xml"/>
  <Override PartName="/ppt/slideLayouts/_rels/slideLayout10.xml.rels" ContentType="application/vnd.openxmlformats-package.relationships+xml"/>
  <Override PartName="/ppt/slideLayouts/_rels/slideLayout25.xml.rels" ContentType="application/vnd.openxmlformats-package.relationships+xml"/>
  <Override PartName="/ppt/slideLayouts/_rels/slideLayout16.xml.rels" ContentType="application/vnd.openxmlformats-package.relationships+xml"/>
  <Override PartName="/ppt/slideLayouts/_rels/slideLayout32.xml.rels" ContentType="application/vnd.openxmlformats-package.relationships+xml"/>
  <Override PartName="/ppt/slideLayouts/_rels/slideLayout34.xml.rels" ContentType="application/vnd.openxmlformats-package.relationships+xml"/>
  <Override PartName="/ppt/slideLayouts/_rels/slideLayout20.xml.rels" ContentType="application/vnd.openxmlformats-package.relationships+xml"/>
  <Override PartName="/ppt/slideLayouts/_rels/slideLayout35.xml.rels" ContentType="application/vnd.openxmlformats-package.relationships+xml"/>
  <Override PartName="/ppt/slideLayouts/_rels/slideLayout33.xml.rels" ContentType="application/vnd.openxmlformats-package.relationships+xml"/>
  <Override PartName="/ppt/slideLayouts/_rels/slideLayout3.xml.rels" ContentType="application/vnd.openxmlformats-package.relationships+xml"/>
  <Override PartName="/ppt/slideLayouts/_rels/slideLayout9.xml.rels" ContentType="application/vnd.openxmlformats-package.relationships+xml"/>
  <Override PartName="/ppt/slideLayouts/_rels/slideLayout24.xml.rels" ContentType="application/vnd.openxmlformats-package.relationships+xml"/>
  <Override PartName="/ppt/slideLayouts/_rels/slideLayout15.xml.rels" ContentType="application/vnd.openxmlformats-package.relationships+xml"/>
  <Override PartName="/ppt/slideLayouts/_rels/slideLayout31.xml.rels" ContentType="application/vnd.openxmlformats-package.relationships+xml"/>
  <Override PartName="/ppt/slideLayouts/_rels/slideLayout2.xml.rels" ContentType="application/vnd.openxmlformats-package.relationships+xml"/>
  <Override PartName="/ppt/slideLayouts/_rels/slideLayout8.xml.rels" ContentType="application/vnd.openxmlformats-package.relationships+xml"/>
  <Override PartName="/ppt/slideLayouts/_rels/slideLayout22.xml.rels" ContentType="application/vnd.openxmlformats-package.relationships+xml"/>
  <Override PartName="/ppt/slideLayouts/_rels/slideLayout28.xml.rels" ContentType="application/vnd.openxmlformats-package.relationships+xml"/>
  <Override PartName="/ppt/slideLayouts/_rels/slideLayout7.xml.rels" ContentType="application/vnd.openxmlformats-package.relationships+xml"/>
  <Override PartName="/ppt/slideLayouts/_rels/slideLayout1.xml.rels" ContentType="application/vnd.openxmlformats-package.relationships+xml"/>
  <Override PartName="/ppt/slideLayouts/_rels/slideLayout6.xml.rels" ContentType="application/vnd.openxmlformats-package.relationships+xml"/>
  <Override PartName="/ppt/slideLayouts/_rels/slideLayout36.xml.rels" ContentType="application/vnd.openxmlformats-package.relationships+xml"/>
  <Override PartName="/ppt/slideLayouts/_rels/slideLayout21.xml.rels" ContentType="application/vnd.openxmlformats-package.relationships+xml"/>
  <Override PartName="/ppt/slideLayouts/_rels/slideLayout27.xml.rels" ContentType="application/vnd.openxmlformats-package.relationships+xml"/>
  <Override PartName="/ppt/slideLayouts/_rels/slideLayout5.xml.rels" ContentType="application/vnd.openxmlformats-package.relationships+xml"/>
  <Override PartName="/ppt/slideLayouts/_rels/slideLayout18.xml.rels" ContentType="application/vnd.openxmlformats-package.relationships+xml"/>
  <Override PartName="/ppt/slideLayouts/_rels/slideLayout12.xml.rels" ContentType="application/vnd.openxmlformats-package.relationships+xml"/>
  <Override PartName="/ppt/slideLayouts/_rels/slideLayout4.xml.rels" ContentType="application/vnd.openxmlformats-package.relationships+xml"/>
  <Override PartName="/ppt/slideLayouts/_rels/slideLayout17.xml.rels" ContentType="application/vnd.openxmlformats-package.relationships+xml"/>
  <Override PartName="/ppt/slideLayouts/_rels/slideLayout11.xml.rels" ContentType="application/vnd.openxmlformats-package.relationships+xml"/>
  <Override PartName="/ppt/slideLayouts/_rels/slideLayout26.xml.rels" ContentType="application/vnd.openxmlformats-package.relationships+xml"/>
  <Override PartName="/ppt/slideLayouts/slideLayout29.xml" ContentType="application/vnd.openxmlformats-officedocument.presentationml.slideLayout+xml"/>
  <Override PartName="/ppt/slideLayouts/slideLayout9.xml" ContentType="application/vnd.openxmlformats-officedocument.presentationml.slideLayout+xml"/>
  <Override PartName="/ppt/slideLayouts/slideLayout28.xml" ContentType="application/vnd.openxmlformats-officedocument.presentationml.slideLayout+xml"/>
  <Override PartName="/ppt/slideLayouts/slideLayout8.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27.xml" ContentType="application/vnd.openxmlformats-officedocument.presentationml.slideLayout+xml"/>
  <Override PartName="/ppt/slideLayouts/slideLayout7.xml" ContentType="application/vnd.openxmlformats-officedocument.presentationml.slideLayout+xml"/>
  <Override PartName="/ppt/slideLayouts/slideLayout33.xml" ContentType="application/vnd.openxmlformats-officedocument.presentationml.slideLayout+xml"/>
  <Override PartName="/ppt/slideLayouts/slideLayout10.xml" ContentType="application/vnd.openxmlformats-officedocument.presentationml.slideLayout+xml"/>
  <Override PartName="/ppt/slideLayouts/slideLayout34.xml" ContentType="application/vnd.openxmlformats-officedocument.presentationml.slideLayout+xml"/>
  <Override PartName="/ppt/slideLayouts/slideLayout11.xml" ContentType="application/vnd.openxmlformats-officedocument.presentationml.slideLayout+xml"/>
  <Override PartName="/ppt/slideLayouts/slideLayout35.xml" ContentType="application/vnd.openxmlformats-officedocument.presentationml.slideLayout+xml"/>
  <Override PartName="/ppt/slideLayouts/slideLayout12.xml" ContentType="application/vnd.openxmlformats-officedocument.presentationml.slideLayout+xml"/>
  <Override PartName="/ppt/slideLayouts/slideLayout36.xml" ContentType="application/vnd.openxmlformats-officedocument.presentationml.slideLayout+xml"/>
  <Override PartName="/ppt/slideLayouts/slideLayout26.xml" ContentType="application/vnd.openxmlformats-officedocument.presentationml.slideLayout+xml"/>
  <Override PartName="/ppt/slideLayouts/slideLayout6.xml" ContentType="application/vnd.openxmlformats-officedocument.presentationml.slideLayout+xml"/>
  <Override PartName="/ppt/slideLayouts/slideLayout25.xml" ContentType="application/vnd.openxmlformats-officedocument.presentationml.slideLayout+xml"/>
  <Override PartName="/ppt/slideLayouts/slideLayout5.xml" ContentType="application/vnd.openxmlformats-officedocument.presentationml.slideLayout+xml"/>
  <Override PartName="/ppt/slideLayouts/slideLayout24.xml" ContentType="application/vnd.openxmlformats-officedocument.presentationml.slideLayout+xml"/>
  <Override PartName="/ppt/slideLayouts/slideLayout4.xml" ContentType="application/vnd.openxmlformats-officedocument.presentationml.slideLayout+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Layouts/slideLayout19.xml" ContentType="application/vnd.openxmlformats-officedocument.presentationml.slideLayout+xml"/>
  <Override PartName="/ppt/slideLayouts/slideLayout22.xml" ContentType="application/vnd.openxmlformats-officedocument.presentationml.slideLayout+xml"/>
  <Override PartName="/ppt/slideLayouts/slideLayout2.xml" ContentType="application/vnd.openxmlformats-officedocument.presentationml.slideLayout+xml"/>
  <Override PartName="/ppt/slideLayouts/slideLayout18.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1.xml" ContentType="application/vnd.openxmlformats-officedocument.presentationml.slideLayout+xml"/>
  <Override PartName="/ppt/slideLayouts/slideLayout17.xml" ContentType="application/vnd.openxmlformats-officedocument.presentationml.slideLayout+xml"/>
  <Override PartName="/ppt/notesMasters/_rels/notesMaster1.xml.rels" ContentType="application/vnd.openxmlformats-package.relationships+xml"/>
  <Override PartName="/ppt/notesMasters/notesMaster1.xml" ContentType="application/vnd.openxmlformats-officedocument.presentationml.notesMaster+xml"/>
  <Override PartName="/ppt/slides/slide56.xml" ContentType="application/vnd.openxmlformats-officedocument.presentationml.slide+xml"/>
  <Override PartName="/ppt/slides/slide55.xml" ContentType="application/vnd.openxmlformats-officedocument.presentationml.slide+xml"/>
  <Override PartName="/ppt/slides/slide54.xml" ContentType="application/vnd.openxmlformats-officedocument.presentationml.slide+xml"/>
  <Override PartName="/ppt/slides/slide53.xml" ContentType="application/vnd.openxmlformats-officedocument.presentationml.slide+xml"/>
  <Override PartName="/ppt/slides/slide52.xml" ContentType="application/vnd.openxmlformats-officedocument.presentationml.slide+xml"/>
  <Override PartName="/ppt/slides/slide51.xml" ContentType="application/vnd.openxmlformats-officedocument.presentationml.slide+xml"/>
  <Override PartName="/ppt/slides/slide50.xml" ContentType="application/vnd.openxmlformats-officedocument.presentationml.slide+xml"/>
  <Override PartName="/ppt/slides/slide46.xml" ContentType="application/vnd.openxmlformats-officedocument.presentationml.slide+xml"/>
  <Override PartName="/ppt/slides/slide45.xml" ContentType="application/vnd.openxmlformats-officedocument.presentationml.slide+xml"/>
  <Override PartName="/ppt/slides/slide39.xml" ContentType="application/vnd.openxmlformats-officedocument.presentationml.slide+xml"/>
  <Override PartName="/ppt/slides/slide38.xml" ContentType="application/vnd.openxmlformats-officedocument.presentationml.slide+xml"/>
  <Override PartName="/ppt/slides/slide37.xml" ContentType="application/vnd.openxmlformats-officedocument.presentationml.slide+xml"/>
  <Override PartName="/ppt/slides/slide36.xml" ContentType="application/vnd.openxmlformats-officedocument.presentationml.slide+xml"/>
  <Override PartName="/ppt/slides/slide35.xml" ContentType="application/vnd.openxmlformats-officedocument.presentationml.slide+xml"/>
  <Override PartName="/ppt/slides/slide34.xml" ContentType="application/vnd.openxmlformats-officedocument.presentationml.slide+xml"/>
  <Override PartName="/ppt/slides/slide33.xml" ContentType="application/vnd.openxmlformats-officedocument.presentationml.slide+xml"/>
  <Override PartName="/ppt/slides/slide32.xml" ContentType="application/vnd.openxmlformats-officedocument.presentationml.slide+xml"/>
  <Override PartName="/ppt/slides/slide31.xml" ContentType="application/vnd.openxmlformats-officedocument.presentationml.slide+xml"/>
  <Override PartName="/ppt/slides/slide30.xml" ContentType="application/vnd.openxmlformats-officedocument.presentationml.slide+xml"/>
  <Override PartName="/ppt/slides/_rels/slide41.xml.rels" ContentType="application/vnd.openxmlformats-package.relationships+xml"/>
  <Override PartName="/ppt/slides/_rels/slide6.xml.rels" ContentType="application/vnd.openxmlformats-package.relationships+xml"/>
  <Override PartName="/ppt/slides/_rels/slide18.xml.rels" ContentType="application/vnd.openxmlformats-package.relationships+xml"/>
  <Override PartName="/ppt/slides/_rels/slide22.xml.rels" ContentType="application/vnd.openxmlformats-package.relationships+xml"/>
  <Override PartName="/ppt/slides/_rels/slide1.xml.rels" ContentType="application/vnd.openxmlformats-package.relationships+xml"/>
  <Override PartName="/ppt/slides/_rels/slide85.xml.rels" ContentType="application/vnd.openxmlformats-package.relationships+xml"/>
  <Override PartName="/ppt/slides/_rels/slide32.xml.rels" ContentType="application/vnd.openxmlformats-package.relationships+xml"/>
  <Override PartName="/ppt/slides/_rels/slide57.xml.rels" ContentType="application/vnd.openxmlformats-package.relationships+xml"/>
  <Override PartName="/ppt/slides/_rels/slide61.xml.rels" ContentType="application/vnd.openxmlformats-package.relationships+xml"/>
  <Override PartName="/ppt/slides/_rels/slide20.xml.rels" ContentType="application/vnd.openxmlformats-package.relationships+xml"/>
  <Override PartName="/ppt/slides/_rels/slide16.xml.rels" ContentType="application/vnd.openxmlformats-package.relationships+xml"/>
  <Override PartName="/ppt/slides/_rels/slide19.xml.rels" ContentType="application/vnd.openxmlformats-package.relationships+xml"/>
  <Override PartName="/ppt/slides/_rels/slide23.xml.rels" ContentType="application/vnd.openxmlformats-package.relationships+xml"/>
  <Override PartName="/ppt/slides/_rels/slide24.xml.rels" ContentType="application/vnd.openxmlformats-package.relationships+xml"/>
  <Override PartName="/ppt/slides/_rels/slide25.xml.rels" ContentType="application/vnd.openxmlformats-package.relationships+xml"/>
  <Override PartName="/ppt/slides/_rels/slide17.xml.rels" ContentType="application/vnd.openxmlformats-package.relationships+xml"/>
  <Override PartName="/ppt/slides/_rels/slide21.xml.rels" ContentType="application/vnd.openxmlformats-package.relationships+xml"/>
  <Override PartName="/ppt/slides/_rels/slide26.xml.rels" ContentType="application/vnd.openxmlformats-package.relationships+xml"/>
  <Override PartName="/ppt/slides/_rels/slide2.xml.rels" ContentType="application/vnd.openxmlformats-package.relationships+xml"/>
  <Override PartName="/ppt/slides/_rels/slide86.xml.rels" ContentType="application/vnd.openxmlformats-package.relationships+xml"/>
  <Override PartName="/ppt/slides/_rels/slide27.xml.rels" ContentType="application/vnd.openxmlformats-package.relationships+xml"/>
  <Override PartName="/ppt/slides/_rels/slide28.xml.rels" ContentType="application/vnd.openxmlformats-package.relationships+xml"/>
  <Override PartName="/ppt/slides/_rels/slide14.xml.rels" ContentType="application/vnd.openxmlformats-package.relationships+xml"/>
  <Override PartName="/ppt/slides/_rels/slide89.xml.rels" ContentType="application/vnd.openxmlformats-package.relationships+xml"/>
  <Override PartName="/ppt/slides/_rels/slide29.xml.rels" ContentType="application/vnd.openxmlformats-package.relationships+xml"/>
  <Override PartName="/ppt/slides/_rels/slide33.xml.rels" ContentType="application/vnd.openxmlformats-package.relationships+xml"/>
  <Override PartName="/ppt/slides/_rels/slide94.xml.rels" ContentType="application/vnd.openxmlformats-package.relationships+xml"/>
  <Override PartName="/ppt/slides/_rels/slide87.xml.rels" ContentType="application/vnd.openxmlformats-package.relationships+xml"/>
  <Override PartName="/ppt/slides/_rels/slide3.xml.rels" ContentType="application/vnd.openxmlformats-package.relationships+xml"/>
  <Override PartName="/ppt/slides/_rels/slide72.xml.rels" ContentType="application/vnd.openxmlformats-package.relationships+xml"/>
  <Override PartName="/ppt/slides/_rels/slide68.xml.rels" ContentType="application/vnd.openxmlformats-package.relationships+xml"/>
  <Override PartName="/ppt/slides/_rels/slide78.xml.rels" ContentType="application/vnd.openxmlformats-package.relationships+xml"/>
  <Override PartName="/ppt/slides/_rels/slide79.xml.rels" ContentType="application/vnd.openxmlformats-package.relationships+xml"/>
  <Override PartName="/ppt/slides/_rels/slide83.xml.rels" ContentType="application/vnd.openxmlformats-package.relationships+xml"/>
  <Override PartName="/ppt/slides/_rels/slide30.xml.rels" ContentType="application/vnd.openxmlformats-package.relationships+xml"/>
  <Override PartName="/ppt/slides/_rels/slide95.xml.rels" ContentType="application/vnd.openxmlformats-package.relationships+xml"/>
  <Override PartName="/ppt/slides/_rels/slide88.xml.rels" ContentType="application/vnd.openxmlformats-package.relationships+xml"/>
  <Override PartName="/ppt/slides/_rels/slide73.xml.rels" ContentType="application/vnd.openxmlformats-package.relationships+xml"/>
  <Override PartName="/ppt/slides/_rels/slide69.xml.rels" ContentType="application/vnd.openxmlformats-package.relationships+xml"/>
  <Override PartName="/ppt/slides/_rels/slide96.xml.rels" ContentType="application/vnd.openxmlformats-package.relationships+xml"/>
  <Override PartName="/ppt/slides/_rels/slide8.xml.rels" ContentType="application/vnd.openxmlformats-package.relationships+xml"/>
  <Override PartName="/ppt/slides/_rels/slide43.xml.rels" ContentType="application/vnd.openxmlformats-package.relationships+xml"/>
  <Override PartName="/ppt/slides/_rels/slide7.xml.rels" ContentType="application/vnd.openxmlformats-package.relationships+xml"/>
  <Override PartName="/ppt/slides/_rels/slide42.xml.rels" ContentType="application/vnd.openxmlformats-package.relationships+xml"/>
  <Override PartName="/ppt/slides/_rels/slide35.xml.rels" ContentType="application/vnd.openxmlformats-package.relationships+xml"/>
  <Override PartName="/ppt/slides/_rels/slide51.xml.rels" ContentType="application/vnd.openxmlformats-package.relationships+xml"/>
  <Override PartName="/ppt/slides/_rels/slide63.xml.rels" ContentType="application/vnd.openxmlformats-package.relationships+xml"/>
  <Override PartName="/ppt/slides/_rels/slide47.xml.rels" ContentType="application/vnd.openxmlformats-package.relationships+xml"/>
  <Override PartName="/ppt/slides/_rels/slide54.xml.rels" ContentType="application/vnd.openxmlformats-package.relationships+xml"/>
  <Override PartName="/ppt/slides/_rels/slide4.xml.rels" ContentType="application/vnd.openxmlformats-package.relationships+xml"/>
  <Override PartName="/ppt/slides/_rels/slide70.xml.rels" ContentType="application/vnd.openxmlformats-package.relationships+xml"/>
  <Override PartName="/ppt/slides/_rels/slide100.xml.rels" ContentType="application/vnd.openxmlformats-package.relationships+xml"/>
  <Override PartName="/ppt/slides/_rels/slide77.xml.rels" ContentType="application/vnd.openxmlformats-package.relationships+xml"/>
  <Override PartName="/ppt/slides/_rels/slide93.xml.rels" ContentType="application/vnd.openxmlformats-package.relationships+xml"/>
  <Override PartName="/ppt/slides/_rels/slide15.xml.rels" ContentType="application/vnd.openxmlformats-package.relationships+xml"/>
  <Override PartName="/ppt/slides/_rels/slide39.xml.rels" ContentType="application/vnd.openxmlformats-package.relationships+xml"/>
  <Override PartName="/ppt/slides/_rels/slide80.xml.rels" ContentType="application/vnd.openxmlformats-package.relationships+xml"/>
  <Override PartName="/ppt/slides/_rels/slide102.xml.rels" ContentType="application/vnd.openxmlformats-package.relationships+xml"/>
  <Override PartName="/ppt/slides/_rels/slide11.xml.rels" ContentType="application/vnd.openxmlformats-package.relationships+xml"/>
  <Override PartName="/ppt/slides/_rels/slide101.xml.rels" ContentType="application/vnd.openxmlformats-package.relationships+xml"/>
  <Override PartName="/ppt/slides/_rels/slide48.xml.rels" ContentType="application/vnd.openxmlformats-package.relationships+xml"/>
  <Override PartName="/ppt/slides/_rels/slide55.xml.rels" ContentType="application/vnd.openxmlformats-package.relationships+xml"/>
  <Override PartName="/ppt/slides/_rels/slide64.xml.rels" ContentType="application/vnd.openxmlformats-package.relationships+xml"/>
  <Override PartName="/ppt/slides/_rels/slide5.xml.rels" ContentType="application/vnd.openxmlformats-package.relationships+xml"/>
  <Override PartName="/ppt/slides/_rels/slide40.xml.rels" ContentType="application/vnd.openxmlformats-package.relationships+xml"/>
  <Override PartName="/ppt/slides/_rels/slide81.xml.rels" ContentType="application/vnd.openxmlformats-package.relationships+xml"/>
  <Override PartName="/ppt/slides/_rels/slide65.xml.rels" ContentType="application/vnd.openxmlformats-package.relationships+xml"/>
  <Override PartName="/ppt/slides/_rels/slide74.xml.rels" ContentType="application/vnd.openxmlformats-package.relationships+xml"/>
  <Override PartName="/ppt/slides/_rels/slide58.xml.rels" ContentType="application/vnd.openxmlformats-package.relationships+xml"/>
  <Override PartName="/ppt/slides/_rels/slide12.xml.rels" ContentType="application/vnd.openxmlformats-package.relationships+xml"/>
  <Override PartName="/ppt/slides/_rels/slide49.xml.rels" ContentType="application/vnd.openxmlformats-package.relationships+xml"/>
  <Override PartName="/ppt/slides/_rels/slide34.xml.rels" ContentType="application/vnd.openxmlformats-package.relationships+xml"/>
  <Override PartName="/ppt/slides/_rels/slide53.xml.rels" ContentType="application/vnd.openxmlformats-package.relationships+xml"/>
  <Override PartName="/ppt/slides/_rels/slide62.xml.rels" ContentType="application/vnd.openxmlformats-package.relationships+xml"/>
  <Override PartName="/ppt/slides/_rels/slide46.xml.rels" ContentType="application/vnd.openxmlformats-package.relationships+xml"/>
  <Override PartName="/ppt/slides/_rels/slide52.xml.rels" ContentType="application/vnd.openxmlformats-package.relationships+xml"/>
  <Override PartName="/ppt/slides/_rels/slide76.xml.rels" ContentType="application/vnd.openxmlformats-package.relationships+xml"/>
  <Override PartName="/ppt/slides/_rels/slide71.xml.rels" ContentType="application/vnd.openxmlformats-package.relationships+xml"/>
  <Override PartName="/ppt/slides/_rels/slide67.xml.rels" ContentType="application/vnd.openxmlformats-package.relationships+xml"/>
  <Override PartName="/ppt/slides/_rels/slide13.xml.rels" ContentType="application/vnd.openxmlformats-package.relationships+xml"/>
  <Override PartName="/ppt/slides/_rels/slide38.xml.rels" ContentType="application/vnd.openxmlformats-package.relationships+xml"/>
  <Override PartName="/ppt/slides/_rels/slide37.xml.rels" ContentType="application/vnd.openxmlformats-package.relationships+xml"/>
  <Override PartName="/ppt/slides/_rels/slide97.xml.rels" ContentType="application/vnd.openxmlformats-package.relationships+xml"/>
  <Override PartName="/ppt/slides/_rels/slide44.xml.rels" ContentType="application/vnd.openxmlformats-package.relationships+xml"/>
  <Override PartName="/ppt/slides/_rels/slide9.xml.rels" ContentType="application/vnd.openxmlformats-package.relationships+xml"/>
  <Override PartName="/ppt/slides/_rels/slide36.xml.rels" ContentType="application/vnd.openxmlformats-package.relationships+xml"/>
  <Override PartName="/ppt/slides/_rels/slide66.xml.rels" ContentType="application/vnd.openxmlformats-package.relationships+xml"/>
  <Override PartName="/ppt/slides/_rels/slide75.xml.rels" ContentType="application/vnd.openxmlformats-package.relationships+xml"/>
  <Override PartName="/ppt/slides/_rels/slide56.xml.rels" ContentType="application/vnd.openxmlformats-package.relationships+xml"/>
  <Override PartName="/ppt/slides/_rels/slide60.xml.rels" ContentType="application/vnd.openxmlformats-package.relationships+xml"/>
  <Override PartName="/ppt/slides/_rels/slide82.xml.rels" ContentType="application/vnd.openxmlformats-package.relationships+xml"/>
  <Override PartName="/ppt/slides/_rels/slide59.xml.rels" ContentType="application/vnd.openxmlformats-package.relationships+xml"/>
  <Override PartName="/ppt/slides/_rels/slide10.xml.rels" ContentType="application/vnd.openxmlformats-package.relationships+xml"/>
  <Override PartName="/ppt/slides/_rels/slide50.xml.rels" ContentType="application/vnd.openxmlformats-package.relationships+xml"/>
  <Override PartName="/ppt/slides/_rels/slide99.xml.rels" ContentType="application/vnd.openxmlformats-package.relationships+xml"/>
  <Override PartName="/ppt/slides/_rels/slide91.xml.rels" ContentType="application/vnd.openxmlformats-package.relationships+xml"/>
  <Override PartName="/ppt/slides/_rels/slide31.xml.rels" ContentType="application/vnd.openxmlformats-package.relationships+xml"/>
  <Override PartName="/ppt/slides/_rels/slide84.xml.rels" ContentType="application/vnd.openxmlformats-package.relationships+xml"/>
  <Override PartName="/ppt/slides/_rels/slide45.xml.rels" ContentType="application/vnd.openxmlformats-package.relationships+xml"/>
  <Override PartName="/ppt/slides/_rels/slide98.xml.rels" ContentType="application/vnd.openxmlformats-package.relationships+xml"/>
  <Override PartName="/ppt/slides/_rels/slide90.xml.rels" ContentType="application/vnd.openxmlformats-package.relationships+xml"/>
  <Override PartName="/ppt/slides/_rels/slide92.xml.rels" ContentType="application/vnd.openxmlformats-package.relationships+xml"/>
  <Override PartName="/ppt/slides/slide13.xml" ContentType="application/vnd.openxmlformats-officedocument.presentationml.slide+xml"/>
  <Override PartName="/ppt/slides/slide6.xml" ContentType="application/vnd.openxmlformats-officedocument.presentationml.slide+xml"/>
  <Override PartName="/ppt/slides/slide49.xml" ContentType="application/vnd.openxmlformats-officedocument.presentationml.slide+xml"/>
  <Override PartName="/ppt/slides/slide102.xml" ContentType="application/vnd.openxmlformats-officedocument.presentationml.slide+xml"/>
  <Override PartName="/ppt/slides/slide12.xml" ContentType="application/vnd.openxmlformats-officedocument.presentationml.slide+xml"/>
  <Override PartName="/ppt/slides/slide5.xml" ContentType="application/vnd.openxmlformats-officedocument.presentationml.slide+xml"/>
  <Override PartName="/ppt/slides/slide44.xml" ContentType="application/vnd.openxmlformats-officedocument.presentationml.slide+xml"/>
  <Override PartName="/ppt/slides/slide9.xml" ContentType="application/vnd.openxmlformats-officedocument.presentationml.slide+xml"/>
  <Override PartName="/ppt/slides/slide16.xml" ContentType="application/vnd.openxmlformats-officedocument.presentationml.slide+xml"/>
  <Override PartName="/ppt/slides/slide81.xml" ContentType="application/vnd.openxmlformats-officedocument.presentationml.slide+xml"/>
  <Override PartName="/ppt/slides/slide48.xml" ContentType="application/vnd.openxmlformats-officedocument.presentationml.slide+xml"/>
  <Override PartName="/ppt/slides/slide101.xml" ContentType="application/vnd.openxmlformats-officedocument.presentationml.slide+xml"/>
  <Override PartName="/ppt/slides/slide11.xml" ContentType="application/vnd.openxmlformats-officedocument.presentationml.slide+xml"/>
  <Override PartName="/ppt/slides/slide4.xml" ContentType="application/vnd.openxmlformats-officedocument.presentationml.slide+xml"/>
  <Override PartName="/ppt/slides/slide43.xml" ContentType="application/vnd.openxmlformats-officedocument.presentationml.slide+xml"/>
  <Override PartName="/ppt/slides/slide8.xml" ContentType="application/vnd.openxmlformats-officedocument.presentationml.slide+xml"/>
  <Override PartName="/ppt/slides/slide15.xml" ContentType="application/vnd.openxmlformats-officedocument.presentationml.slide+xml"/>
  <Override PartName="/ppt/slides/slide80.xml" ContentType="application/vnd.openxmlformats-officedocument.presentationml.slide+xml"/>
  <Override PartName="/ppt/slides/slide47.xml" ContentType="application/vnd.openxmlformats-officedocument.presentationml.slide+xml"/>
  <Override PartName="/ppt/slides/slide100.xml" ContentType="application/vnd.openxmlformats-officedocument.presentationml.slide+xml"/>
  <Override PartName="/ppt/slides/slide10.xml" ContentType="application/vnd.openxmlformats-officedocument.presentationml.slide+xml"/>
  <Override PartName="/ppt/slides/slide3.xml" ContentType="application/vnd.openxmlformats-officedocument.presentationml.slide+xml"/>
  <Override PartName="/ppt/slides/slide42.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70.xml" ContentType="application/vnd.openxmlformats-officedocument.presentationml.slide+xml"/>
  <Override PartName="/ppt/slides/slide69.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1.xml" ContentType="application/vnd.openxmlformats-officedocument.presentationml.slide+xml"/>
  <Override PartName="/ppt/slides/slide74.xml" ContentType="application/vnd.openxmlformats-officedocument.presentationml.slide+xml"/>
  <Override PartName="/ppt/slides/slide2.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64.xml" ContentType="application/vnd.openxmlformats-officedocument.presentationml.slide+xml"/>
  <Override PartName="/ppt/slides/slide99.xml" ContentType="application/vnd.openxmlformats-officedocument.presentationml.slide+xml"/>
  <Override PartName="/ppt/slides/slide62.xml" ContentType="application/vnd.openxmlformats-officedocument.presentationml.slide+xml"/>
  <Override PartName="/ppt/slides/slide87.xml" ContentType="application/vnd.openxmlformats-officedocument.presentationml.slide+xml"/>
  <Override PartName="/ppt/slides/slide63.xml" ContentType="application/vnd.openxmlformats-officedocument.presentationml.slide+xml"/>
  <Override PartName="/ppt/slides/slide98.xml" ContentType="application/vnd.openxmlformats-officedocument.presentationml.slide+xml"/>
  <Override PartName="/ppt/slides/slide61.xml" ContentType="application/vnd.openxmlformats-officedocument.presentationml.slide+xml"/>
  <Override PartName="/ppt/slides/slide86.xml" ContentType="application/vnd.openxmlformats-officedocument.presentationml.slide+xml"/>
  <Override PartName="/ppt/slides/slide97.xml" ContentType="application/vnd.openxmlformats-officedocument.presentationml.slide+xml"/>
  <Override PartName="/ppt/slides/slide60.xml" ContentType="application/vnd.openxmlformats-officedocument.presentationml.slide+xml"/>
  <Override PartName="/ppt/slides/slide85.xml" ContentType="application/vnd.openxmlformats-officedocument.presentationml.slide+xml"/>
  <Override PartName="/ppt/slides/slide96.xml" ContentType="application/vnd.openxmlformats-officedocument.presentationml.slide+xml"/>
  <Override PartName="/ppt/slides/slide95.xml" ContentType="application/vnd.openxmlformats-officedocument.presentationml.slide+xml"/>
  <Override PartName="/ppt/slides/slide89.xml" ContentType="application/vnd.openxmlformats-officedocument.presentationml.slide+xml"/>
  <Override PartName="/ppt/slides/slide77.xml" ContentType="application/vnd.openxmlformats-officedocument.presentationml.slide+xml"/>
  <Override PartName="/ppt/slides/slide40.xml" ContentType="application/vnd.openxmlformats-officedocument.presentationml.slide+xml"/>
  <Override PartName="/ppt/slides/slide88.xml" ContentType="application/vnd.openxmlformats-officedocument.presentationml.slide+xml"/>
  <Override PartName="/ppt/slides/slide79.xml" ContentType="application/vnd.openxmlformats-officedocument.presentationml.slide+xml"/>
  <Override PartName="/ppt/slides/slide78.xml" ContentType="application/vnd.openxmlformats-officedocument.presentationml.slide+xml"/>
  <Override PartName="/ppt/slides/slide41.xml" ContentType="application/vnd.openxmlformats-officedocument.presentationml.slide+xml"/>
  <Override PartName="/ppt/slides/slide29.xml" ContentType="application/vnd.openxmlformats-officedocument.presentationml.slide+xml"/>
  <Override PartName="/ppt/slides/slide94.xml" ContentType="application/vnd.openxmlformats-officedocument.presentationml.slide+xml"/>
  <Override PartName="/ppt/slides/slide28.xml" ContentType="application/vnd.openxmlformats-officedocument.presentationml.slide+xml"/>
  <Override PartName="/ppt/slides/slide93.xml" ContentType="application/vnd.openxmlformats-officedocument.presentationml.slide+xml"/>
  <Override PartName="/ppt/slides/slide7.xml" ContentType="application/vnd.openxmlformats-officedocument.presentationml.slide+xml"/>
  <Override PartName="/ppt/slides/slide14.xml" ContentType="application/vnd.openxmlformats-officedocument.presentationml.slide+xml"/>
  <Override PartName="/ppt/slides/slide92.xml" ContentType="application/vnd.openxmlformats-officedocument.presentationml.slide+xml"/>
  <Override PartName="/ppt/slides/slide27.xml" ContentType="application/vnd.openxmlformats-officedocument.presentationml.slide+xml"/>
  <Override PartName="/ppt/slides/slide91.xml" ContentType="application/vnd.openxmlformats-officedocument.presentationml.slide+xml"/>
  <Override PartName="/ppt/slides/slide26.xml" ContentType="application/vnd.openxmlformats-officedocument.presentationml.slide+xml"/>
  <Override PartName="/ppt/slides/slide90.xml" ContentType="application/vnd.openxmlformats-officedocument.presentationml.slide+xml"/>
  <Override PartName="/ppt/slides/slide25.xml" ContentType="application/vnd.openxmlformats-officedocument.presentationml.slide+xml"/>
  <Override PartName="/ppt/slides/slide24.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59.xml" ContentType="application/vnd.openxmlformats-officedocument.presentationml.slide+xml"/>
  <Override PartName="/ppt/slides/slide21.xml" ContentType="application/vnd.openxmlformats-officedocument.presentationml.slide+xml"/>
  <Override PartName="/ppt/slides/slide58.xml" ContentType="application/vnd.openxmlformats-officedocument.presentationml.slide+xml"/>
  <Override PartName="/ppt/slides/slide19.xml" ContentType="application/vnd.openxmlformats-officedocument.presentationml.slide+xml"/>
  <Override PartName="/ppt/slides/slide84.xml" ContentType="application/vnd.openxmlformats-officedocument.presentationml.slide+xml"/>
  <Override PartName="/ppt/slides/slide20.xml" ContentType="application/vnd.openxmlformats-officedocument.presentationml.slide+xml"/>
  <Override PartName="/ppt/slides/slide57.xml" ContentType="application/vnd.openxmlformats-officedocument.presentationml.slide+xml"/>
  <Override PartName="/ppt/slides/slide18.xml" ContentType="application/vnd.openxmlformats-officedocument.presentationml.slide+xml"/>
  <Override PartName="/ppt/slides/slide83.xml" ContentType="application/vnd.openxmlformats-officedocument.presentationml.slide+xml"/>
  <Override PartName="/ppt/slides/slide17.xml" ContentType="application/vnd.openxmlformats-officedocument.presentationml.slide+xml"/>
  <Override PartName="/ppt/slides/slide82.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 id="2147483674"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Lst>
  <p:sldSz cx="9144000" cy="6858000"/>
  <p:notesSz cx="6705600" cy="9842500"/>
</p:presentation>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slide" Target="slides/slide44.xml"/><Relationship Id="rId50" Type="http://schemas.openxmlformats.org/officeDocument/2006/relationships/slide" Target="slides/slide45.xml"/><Relationship Id="rId51" Type="http://schemas.openxmlformats.org/officeDocument/2006/relationships/slide" Target="slides/slide46.xml"/><Relationship Id="rId52" Type="http://schemas.openxmlformats.org/officeDocument/2006/relationships/slide" Target="slides/slide47.xml"/><Relationship Id="rId53" Type="http://schemas.openxmlformats.org/officeDocument/2006/relationships/slide" Target="slides/slide48.xml"/><Relationship Id="rId54" Type="http://schemas.openxmlformats.org/officeDocument/2006/relationships/slide" Target="slides/slide49.xml"/><Relationship Id="rId55" Type="http://schemas.openxmlformats.org/officeDocument/2006/relationships/slide" Target="slides/slide50.xml"/><Relationship Id="rId56" Type="http://schemas.openxmlformats.org/officeDocument/2006/relationships/slide" Target="slides/slide51.xml"/><Relationship Id="rId57" Type="http://schemas.openxmlformats.org/officeDocument/2006/relationships/slide" Target="slides/slide52.xml"/><Relationship Id="rId58" Type="http://schemas.openxmlformats.org/officeDocument/2006/relationships/slide" Target="slides/slide53.xml"/><Relationship Id="rId59" Type="http://schemas.openxmlformats.org/officeDocument/2006/relationships/slide" Target="slides/slide54.xml"/><Relationship Id="rId60" Type="http://schemas.openxmlformats.org/officeDocument/2006/relationships/slide" Target="slides/slide55.xml"/><Relationship Id="rId61" Type="http://schemas.openxmlformats.org/officeDocument/2006/relationships/slide" Target="slides/slide56.xml"/><Relationship Id="rId62" Type="http://schemas.openxmlformats.org/officeDocument/2006/relationships/slide" Target="slides/slide57.xml"/><Relationship Id="rId63" Type="http://schemas.openxmlformats.org/officeDocument/2006/relationships/slide" Target="slides/slide58.xml"/><Relationship Id="rId64" Type="http://schemas.openxmlformats.org/officeDocument/2006/relationships/slide" Target="slides/slide59.xml"/><Relationship Id="rId65" Type="http://schemas.openxmlformats.org/officeDocument/2006/relationships/slide" Target="slides/slide60.xml"/><Relationship Id="rId66" Type="http://schemas.openxmlformats.org/officeDocument/2006/relationships/slide" Target="slides/slide61.xml"/><Relationship Id="rId67" Type="http://schemas.openxmlformats.org/officeDocument/2006/relationships/slide" Target="slides/slide62.xml"/><Relationship Id="rId68" Type="http://schemas.openxmlformats.org/officeDocument/2006/relationships/slide" Target="slides/slide63.xml"/><Relationship Id="rId69" Type="http://schemas.openxmlformats.org/officeDocument/2006/relationships/slide" Target="slides/slide64.xml"/><Relationship Id="rId70" Type="http://schemas.openxmlformats.org/officeDocument/2006/relationships/slide" Target="slides/slide65.xml"/><Relationship Id="rId71" Type="http://schemas.openxmlformats.org/officeDocument/2006/relationships/slide" Target="slides/slide66.xml"/><Relationship Id="rId72" Type="http://schemas.openxmlformats.org/officeDocument/2006/relationships/slide" Target="slides/slide67.xml"/><Relationship Id="rId73" Type="http://schemas.openxmlformats.org/officeDocument/2006/relationships/slide" Target="slides/slide68.xml"/><Relationship Id="rId74" Type="http://schemas.openxmlformats.org/officeDocument/2006/relationships/slide" Target="slides/slide69.xml"/><Relationship Id="rId75" Type="http://schemas.openxmlformats.org/officeDocument/2006/relationships/slide" Target="slides/slide70.xml"/><Relationship Id="rId76" Type="http://schemas.openxmlformats.org/officeDocument/2006/relationships/slide" Target="slides/slide71.xml"/><Relationship Id="rId77" Type="http://schemas.openxmlformats.org/officeDocument/2006/relationships/slide" Target="slides/slide72.xml"/><Relationship Id="rId78" Type="http://schemas.openxmlformats.org/officeDocument/2006/relationships/slide" Target="slides/slide73.xml"/><Relationship Id="rId79" Type="http://schemas.openxmlformats.org/officeDocument/2006/relationships/slide" Target="slides/slide74.xml"/><Relationship Id="rId80" Type="http://schemas.openxmlformats.org/officeDocument/2006/relationships/slide" Target="slides/slide75.xml"/><Relationship Id="rId81" Type="http://schemas.openxmlformats.org/officeDocument/2006/relationships/slide" Target="slides/slide76.xml"/><Relationship Id="rId82" Type="http://schemas.openxmlformats.org/officeDocument/2006/relationships/slide" Target="slides/slide77.xml"/><Relationship Id="rId83" Type="http://schemas.openxmlformats.org/officeDocument/2006/relationships/slide" Target="slides/slide78.xml"/><Relationship Id="rId84" Type="http://schemas.openxmlformats.org/officeDocument/2006/relationships/slide" Target="slides/slide79.xml"/><Relationship Id="rId85" Type="http://schemas.openxmlformats.org/officeDocument/2006/relationships/slide" Target="slides/slide80.xml"/><Relationship Id="rId86" Type="http://schemas.openxmlformats.org/officeDocument/2006/relationships/slide" Target="slides/slide81.xml"/><Relationship Id="rId87" Type="http://schemas.openxmlformats.org/officeDocument/2006/relationships/slide" Target="slides/slide82.xml"/><Relationship Id="rId88" Type="http://schemas.openxmlformats.org/officeDocument/2006/relationships/slide" Target="slides/slide83.xml"/><Relationship Id="rId89" Type="http://schemas.openxmlformats.org/officeDocument/2006/relationships/slide" Target="slides/slide84.xml"/><Relationship Id="rId90" Type="http://schemas.openxmlformats.org/officeDocument/2006/relationships/slide" Target="slides/slide85.xml"/><Relationship Id="rId91" Type="http://schemas.openxmlformats.org/officeDocument/2006/relationships/slide" Target="slides/slide86.xml"/><Relationship Id="rId92" Type="http://schemas.openxmlformats.org/officeDocument/2006/relationships/slide" Target="slides/slide87.xml"/><Relationship Id="rId93" Type="http://schemas.openxmlformats.org/officeDocument/2006/relationships/slide" Target="slides/slide88.xml"/><Relationship Id="rId94" Type="http://schemas.openxmlformats.org/officeDocument/2006/relationships/slide" Target="slides/slide89.xml"/><Relationship Id="rId95" Type="http://schemas.openxmlformats.org/officeDocument/2006/relationships/slide" Target="slides/slide90.xml"/><Relationship Id="rId96" Type="http://schemas.openxmlformats.org/officeDocument/2006/relationships/slide" Target="slides/slide91.xml"/><Relationship Id="rId97" Type="http://schemas.openxmlformats.org/officeDocument/2006/relationships/slide" Target="slides/slide92.xml"/><Relationship Id="rId98" Type="http://schemas.openxmlformats.org/officeDocument/2006/relationships/slide" Target="slides/slide93.xml"/><Relationship Id="rId99" Type="http://schemas.openxmlformats.org/officeDocument/2006/relationships/slide" Target="slides/slide94.xml"/><Relationship Id="rId100" Type="http://schemas.openxmlformats.org/officeDocument/2006/relationships/slide" Target="slides/slide95.xml"/><Relationship Id="rId101" Type="http://schemas.openxmlformats.org/officeDocument/2006/relationships/slide" Target="slides/slide96.xml"/><Relationship Id="rId102" Type="http://schemas.openxmlformats.org/officeDocument/2006/relationships/slide" Target="slides/slide97.xml"/><Relationship Id="rId103" Type="http://schemas.openxmlformats.org/officeDocument/2006/relationships/slide" Target="slides/slide98.xml"/><Relationship Id="rId104" Type="http://schemas.openxmlformats.org/officeDocument/2006/relationships/slide" Target="slides/slide99.xml"/><Relationship Id="rId105" Type="http://schemas.openxmlformats.org/officeDocument/2006/relationships/slide" Target="slides/slide100.xml"/><Relationship Id="rId106" Type="http://schemas.openxmlformats.org/officeDocument/2006/relationships/slide" Target="slides/slide101.xml"/><Relationship Id="rId107" Type="http://schemas.openxmlformats.org/officeDocument/2006/relationships/slide" Target="slides/slide102.xml"/>
</Relationships>
</file>

<file path=ppt/notesMasters/_rels/notesMaster1.xml.rels><?xml version="1.0" encoding="UTF-8"?>
<Relationships xmlns="http://schemas.openxmlformats.org/package/2006/relationships"><Relationship Id="rId1" Type="http://schemas.openxmlformats.org/officeDocument/2006/relationships/theme" Target="../theme/theme4.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7" name="PlaceHolder 1"/>
          <p:cNvSpPr>
            <a:spLocks noGrp="1"/>
          </p:cNvSpPr>
          <p:nvPr>
            <p:ph type="sldImg"/>
          </p:nvPr>
        </p:nvSpPr>
        <p:spPr>
          <a:xfrm>
            <a:off x="216000" y="812520"/>
            <a:ext cx="7127280" cy="4008960"/>
          </a:xfrm>
          <a:prstGeom prst="rect">
            <a:avLst/>
          </a:prstGeom>
        </p:spPr>
        <p:txBody>
          <a:bodyPr lIns="0" rIns="0" tIns="0" bIns="0" anchor="ctr">
            <a:noAutofit/>
          </a:bodyPr>
          <a:p>
            <a:r>
              <a:rPr b="0" lang="fr-FR" sz="1800" spc="-1" strike="noStrike">
                <a:solidFill>
                  <a:srgbClr val="000000"/>
                </a:solidFill>
                <a:latin typeface="Calibri"/>
              </a:rPr>
              <a:t>Click to move the slide</a:t>
            </a:r>
            <a:endParaRPr b="0" lang="fr-FR" sz="1800" spc="-1" strike="noStrike">
              <a:solidFill>
                <a:srgbClr val="000000"/>
              </a:solidFill>
              <a:latin typeface="Calibri"/>
            </a:endParaRPr>
          </a:p>
        </p:txBody>
      </p:sp>
      <p:sp>
        <p:nvSpPr>
          <p:cNvPr id="128" name="PlaceHolder 2"/>
          <p:cNvSpPr>
            <a:spLocks noGrp="1"/>
          </p:cNvSpPr>
          <p:nvPr>
            <p:ph type="body"/>
          </p:nvPr>
        </p:nvSpPr>
        <p:spPr>
          <a:xfrm>
            <a:off x="756000" y="5078520"/>
            <a:ext cx="6047640" cy="4811040"/>
          </a:xfrm>
          <a:prstGeom prst="rect">
            <a:avLst/>
          </a:prstGeom>
        </p:spPr>
        <p:txBody>
          <a:bodyPr lIns="0" rIns="0" tIns="0" bIns="0">
            <a:noAutofit/>
          </a:bodyPr>
          <a:p>
            <a:r>
              <a:rPr b="0" lang="fr-FR" sz="2000" spc="-1" strike="noStrike">
                <a:latin typeface="Arial"/>
              </a:rPr>
              <a:t>Click to edit the notes format</a:t>
            </a:r>
            <a:endParaRPr b="0" lang="fr-FR" sz="2000" spc="-1" strike="noStrike">
              <a:latin typeface="Arial"/>
            </a:endParaRPr>
          </a:p>
        </p:txBody>
      </p:sp>
      <p:sp>
        <p:nvSpPr>
          <p:cNvPr id="129" name="PlaceHolder 3"/>
          <p:cNvSpPr>
            <a:spLocks noGrp="1"/>
          </p:cNvSpPr>
          <p:nvPr>
            <p:ph type="hdr"/>
          </p:nvPr>
        </p:nvSpPr>
        <p:spPr>
          <a:xfrm>
            <a:off x="0" y="0"/>
            <a:ext cx="3280680" cy="534240"/>
          </a:xfrm>
          <a:prstGeom prst="rect">
            <a:avLst/>
          </a:prstGeom>
        </p:spPr>
        <p:txBody>
          <a:bodyPr lIns="0" rIns="0" tIns="0" bIns="0">
            <a:noAutofit/>
          </a:bodyPr>
          <a:p>
            <a:r>
              <a:rPr b="0" lang="fr-FR" sz="1400" spc="-1" strike="noStrike">
                <a:latin typeface="Times New Roman"/>
              </a:rPr>
              <a:t>&lt;header&gt;</a:t>
            </a:r>
            <a:endParaRPr b="0" lang="fr-FR" sz="1400" spc="-1" strike="noStrike">
              <a:latin typeface="Times New Roman"/>
            </a:endParaRPr>
          </a:p>
        </p:txBody>
      </p:sp>
      <p:sp>
        <p:nvSpPr>
          <p:cNvPr id="130" name="PlaceHolder 4"/>
          <p:cNvSpPr>
            <a:spLocks noGrp="1"/>
          </p:cNvSpPr>
          <p:nvPr>
            <p:ph type="dt"/>
          </p:nvPr>
        </p:nvSpPr>
        <p:spPr>
          <a:xfrm>
            <a:off x="4278960" y="0"/>
            <a:ext cx="3280680" cy="534240"/>
          </a:xfrm>
          <a:prstGeom prst="rect">
            <a:avLst/>
          </a:prstGeom>
        </p:spPr>
        <p:txBody>
          <a:bodyPr lIns="0" rIns="0" tIns="0" bIns="0">
            <a:noAutofit/>
          </a:bodyPr>
          <a:p>
            <a:pPr algn="r"/>
            <a:r>
              <a:rPr b="0" lang="fr-FR" sz="1400" spc="-1" strike="noStrike">
                <a:latin typeface="Times New Roman"/>
              </a:rPr>
              <a:t>&lt;date/time&gt;</a:t>
            </a:r>
            <a:endParaRPr b="0" lang="fr-FR" sz="1400" spc="-1" strike="noStrike">
              <a:latin typeface="Times New Roman"/>
            </a:endParaRPr>
          </a:p>
        </p:txBody>
      </p:sp>
      <p:sp>
        <p:nvSpPr>
          <p:cNvPr id="131" name="PlaceHolder 5"/>
          <p:cNvSpPr>
            <a:spLocks noGrp="1"/>
          </p:cNvSpPr>
          <p:nvPr>
            <p:ph type="ftr"/>
          </p:nvPr>
        </p:nvSpPr>
        <p:spPr>
          <a:xfrm>
            <a:off x="0" y="10157400"/>
            <a:ext cx="3280680" cy="534240"/>
          </a:xfrm>
          <a:prstGeom prst="rect">
            <a:avLst/>
          </a:prstGeom>
        </p:spPr>
        <p:txBody>
          <a:bodyPr lIns="0" rIns="0" tIns="0" bIns="0" anchor="b">
            <a:noAutofit/>
          </a:bodyPr>
          <a:p>
            <a:r>
              <a:rPr b="0" lang="fr-FR" sz="1400" spc="-1" strike="noStrike">
                <a:latin typeface="Times New Roman"/>
              </a:rPr>
              <a:t>&lt;footer&gt;</a:t>
            </a:r>
            <a:endParaRPr b="0" lang="fr-FR" sz="1400" spc="-1" strike="noStrike">
              <a:latin typeface="Times New Roman"/>
            </a:endParaRPr>
          </a:p>
        </p:txBody>
      </p:sp>
      <p:sp>
        <p:nvSpPr>
          <p:cNvPr id="132" name="PlaceHolder 6"/>
          <p:cNvSpPr>
            <a:spLocks noGrp="1"/>
          </p:cNvSpPr>
          <p:nvPr>
            <p:ph type="sldNum"/>
          </p:nvPr>
        </p:nvSpPr>
        <p:spPr>
          <a:xfrm>
            <a:off x="4278960" y="10157400"/>
            <a:ext cx="3280680" cy="534240"/>
          </a:xfrm>
          <a:prstGeom prst="rect">
            <a:avLst/>
          </a:prstGeom>
        </p:spPr>
        <p:txBody>
          <a:bodyPr lIns="0" rIns="0" tIns="0" bIns="0" anchor="b">
            <a:noAutofit/>
          </a:bodyPr>
          <a:p>
            <a:pPr algn="r"/>
            <a:fld id="{BC7B7103-57F8-488F-A27B-1156464EFD0F}" type="slidenum">
              <a:rPr b="0" lang="fr-FR" sz="1400" spc="-1" strike="noStrike">
                <a:latin typeface="Times New Roman"/>
              </a:rPr>
              <a:t>&lt;number&gt;</a:t>
            </a:fld>
            <a:endParaRPr b="0" lang="fr-FR" sz="1400" spc="-1" strike="noStrike">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_rels/notesSlide31.xml.rels><?xml version="1.0" encoding="UTF-8"?>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
</Relationships>
</file>

<file path=ppt/notesSlides/_rels/notesSlide44.xml.rels><?xml version="1.0" encoding="UTF-8"?>
<Relationships xmlns="http://schemas.openxmlformats.org/package/2006/relationships"><Relationship Id="rId1" Type="http://schemas.openxmlformats.org/officeDocument/2006/relationships/slide" Target="../slides/slide44.xml"/><Relationship Id="rId2" Type="http://schemas.openxmlformats.org/officeDocument/2006/relationships/notesMaster" Target="../notesMasters/notesMaster1.xml"/>
</Relationships>
</file>

<file path=ppt/notesSlides/_rels/notesSlide50.xml.rels><?xml version="1.0" encoding="UTF-8"?>
<Relationships xmlns="http://schemas.openxmlformats.org/package/2006/relationships"><Relationship Id="rId1" Type="http://schemas.openxmlformats.org/officeDocument/2006/relationships/slide" Target="../slides/slide50.xml"/><Relationship Id="rId2" Type="http://schemas.openxmlformats.org/officeDocument/2006/relationships/notesMaster" Target="../notesMasters/notesMaster1.xml"/>
</Relationships>
</file>

<file path=ppt/notesSlides/_rels/notesSlide56.xml.rels><?xml version="1.0" encoding="UTF-8"?>
<Relationships xmlns="http://schemas.openxmlformats.org/package/2006/relationships"><Relationship Id="rId1" Type="http://schemas.openxmlformats.org/officeDocument/2006/relationships/slide" Target="../slides/slide56.xml"/><Relationship Id="rId2" Type="http://schemas.openxmlformats.org/officeDocument/2006/relationships/notesMaster" Target="../notesMasters/notesMaster1.xml"/>
</Relationships>
</file>

<file path=ppt/notesSlides/_rels/notesSlide58.xml.rels><?xml version="1.0" encoding="UTF-8"?>
<Relationships xmlns="http://schemas.openxmlformats.org/package/2006/relationships"><Relationship Id="rId1" Type="http://schemas.openxmlformats.org/officeDocument/2006/relationships/slide" Target="../slides/slide58.xml"/><Relationship Id="rId2" Type="http://schemas.openxmlformats.org/officeDocument/2006/relationships/notesMaster" Target="../notesMasters/notesMaster1.xml"/>
</Relationships>
</file>

<file path=ppt/notesSlides/_rels/notesSlide59.xml.rels><?xml version="1.0" encoding="UTF-8"?>
<Relationships xmlns="http://schemas.openxmlformats.org/package/2006/relationships"><Relationship Id="rId1" Type="http://schemas.openxmlformats.org/officeDocument/2006/relationships/slide" Target="../slides/slide59.xml"/><Relationship Id="rId2" Type="http://schemas.openxmlformats.org/officeDocument/2006/relationships/notesMaster" Target="../notesMasters/notesMaster1.xml"/>
</Relationships>
</file>

<file path=ppt/notesSlides/_rels/notesSlide60.xml.rels><?xml version="1.0" encoding="UTF-8"?>
<Relationships xmlns="http://schemas.openxmlformats.org/package/2006/relationships"><Relationship Id="rId1" Type="http://schemas.openxmlformats.org/officeDocument/2006/relationships/slide" Target="../slides/slide60.xml"/><Relationship Id="rId2" Type="http://schemas.openxmlformats.org/officeDocument/2006/relationships/notesMaster" Target="../notesMasters/notesMaster1.xml"/>
</Relationships>
</file>

<file path=ppt/notesSlides/_rels/notesSlide66.xml.rels><?xml version="1.0" encoding="UTF-8"?>
<Relationships xmlns="http://schemas.openxmlformats.org/package/2006/relationships"><Relationship Id="rId1" Type="http://schemas.openxmlformats.org/officeDocument/2006/relationships/slide" Target="../slides/slide66.xml"/><Relationship Id="rId2" Type="http://schemas.openxmlformats.org/officeDocument/2006/relationships/notesMaster" Target="../notesMasters/notesMaster1.xml"/>
</Relationships>
</file>

<file path=ppt/notesSlides/_rels/notesSlide78.xml.rels><?xml version="1.0" encoding="UTF-8"?>
<Relationships xmlns="http://schemas.openxmlformats.org/package/2006/relationships"><Relationship Id="rId1" Type="http://schemas.openxmlformats.org/officeDocument/2006/relationships/slide" Target="../slides/slide78.xml"/><Relationship Id="rId2" Type="http://schemas.openxmlformats.org/officeDocument/2006/relationships/notesMaster" Target="../notesMasters/notesMaster1.xml"/>
</Relationships>
</file>

<file path=ppt/notesSlides/_rels/notesSlide84.xml.rels><?xml version="1.0" encoding="UTF-8"?>
<Relationships xmlns="http://schemas.openxmlformats.org/package/2006/relationships"><Relationship Id="rId1" Type="http://schemas.openxmlformats.org/officeDocument/2006/relationships/slide" Target="../slides/slide84.xml"/><Relationship Id="rId2" Type="http://schemas.openxmlformats.org/officeDocument/2006/relationships/notesMaster" Target="../notesMasters/notesMaster1.xml"/>
</Relationships>
</file>

<file path=ppt/notesSlides/_rels/notesSlide94.xml.rels><?xml version="1.0" encoding="UTF-8"?>
<Relationships xmlns="http://schemas.openxmlformats.org/package/2006/relationships"><Relationship Id="rId1" Type="http://schemas.openxmlformats.org/officeDocument/2006/relationships/slide" Target="../slides/slide94.xml"/><Relationship Id="rId2" Type="http://schemas.openxmlformats.org/officeDocument/2006/relationships/notesMaster" Target="../notesMasters/notesMaster1.xml"/>
</Relationship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5" name="PlaceHolder 1"/>
          <p:cNvSpPr>
            <a:spLocks noGrp="1"/>
          </p:cNvSpPr>
          <p:nvPr>
            <p:ph type="sldImg"/>
          </p:nvPr>
        </p:nvSpPr>
        <p:spPr>
          <a:xfrm>
            <a:off x="892080" y="738360"/>
            <a:ext cx="4920840" cy="3690720"/>
          </a:xfrm>
          <a:prstGeom prst="rect">
            <a:avLst/>
          </a:prstGeom>
        </p:spPr>
      </p:sp>
      <p:sp>
        <p:nvSpPr>
          <p:cNvPr id="566" name="PlaceHolder 2"/>
          <p:cNvSpPr>
            <a:spLocks noGrp="1"/>
          </p:cNvSpPr>
          <p:nvPr>
            <p:ph type="body"/>
          </p:nvPr>
        </p:nvSpPr>
        <p:spPr>
          <a:xfrm>
            <a:off x="670680" y="4675320"/>
            <a:ext cx="5364000" cy="4428720"/>
          </a:xfrm>
          <a:prstGeom prst="rect">
            <a:avLst/>
          </a:prstGeom>
        </p:spPr>
        <p:txBody>
          <a:bodyPr>
            <a:noAutofit/>
          </a:bodyPr>
          <a:p>
            <a:endParaRPr b="0" lang="fr-FR" sz="2000" spc="-1" strike="noStrike">
              <a:latin typeface="Arial"/>
            </a:endParaRPr>
          </a:p>
        </p:txBody>
      </p:sp>
      <p:sp>
        <p:nvSpPr>
          <p:cNvPr id="567" name="TextShape 3"/>
          <p:cNvSpPr txBox="1"/>
          <p:nvPr/>
        </p:nvSpPr>
        <p:spPr>
          <a:xfrm>
            <a:off x="3798360" y="9348840"/>
            <a:ext cx="2905560" cy="491760"/>
          </a:xfrm>
          <a:prstGeom prst="rect">
            <a:avLst/>
          </a:prstGeom>
          <a:noFill/>
          <a:ln>
            <a:noFill/>
          </a:ln>
        </p:spPr>
        <p:txBody>
          <a:bodyPr anchor="b">
            <a:noAutofit/>
          </a:bodyPr>
          <a:p>
            <a:pPr algn="r">
              <a:lnSpc>
                <a:spcPct val="100000"/>
              </a:lnSpc>
            </a:pPr>
            <a:fld id="{30DFF658-7BC6-41B7-8D7B-C0FFFF804EE9}" type="slidenum">
              <a:rPr b="0" lang="fr-FR" sz="1200" spc="-1" strike="noStrike">
                <a:solidFill>
                  <a:srgbClr val="000000"/>
                </a:solidFill>
                <a:latin typeface="+mn-lt"/>
                <a:ea typeface="+mn-ea"/>
              </a:rPr>
              <a:t>&lt;number&gt;</a:t>
            </a:fld>
            <a:endParaRPr b="0" lang="fr-FR" sz="1200" spc="-1" strike="noStrike">
              <a:latin typeface="Times New Roman"/>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8" name="PlaceHolder 1"/>
          <p:cNvSpPr>
            <a:spLocks noGrp="1"/>
          </p:cNvSpPr>
          <p:nvPr>
            <p:ph type="sldImg"/>
          </p:nvPr>
        </p:nvSpPr>
        <p:spPr>
          <a:xfrm>
            <a:off x="892080" y="738360"/>
            <a:ext cx="4920840" cy="3690720"/>
          </a:xfrm>
          <a:prstGeom prst="rect">
            <a:avLst/>
          </a:prstGeom>
        </p:spPr>
      </p:sp>
      <p:sp>
        <p:nvSpPr>
          <p:cNvPr id="569" name="PlaceHolder 2"/>
          <p:cNvSpPr>
            <a:spLocks noGrp="1"/>
          </p:cNvSpPr>
          <p:nvPr>
            <p:ph type="body"/>
          </p:nvPr>
        </p:nvSpPr>
        <p:spPr>
          <a:xfrm>
            <a:off x="670680" y="4675320"/>
            <a:ext cx="5364000" cy="4428720"/>
          </a:xfrm>
          <a:prstGeom prst="rect">
            <a:avLst/>
          </a:prstGeom>
        </p:spPr>
        <p:txBody>
          <a:bodyPr>
            <a:noAutofit/>
          </a:bodyPr>
          <a:p>
            <a:pPr marL="216000" indent="-216000">
              <a:lnSpc>
                <a:spcPct val="100000"/>
              </a:lnSpc>
            </a:pPr>
            <a:r>
              <a:rPr b="0" lang="fr-FR" sz="2000" spc="-1" strike="noStrike">
                <a:latin typeface="Arial"/>
              </a:rPr>
              <a:t>80% de normes francaises + 20% d’IFRS</a:t>
            </a:r>
            <a:endParaRPr b="0" lang="fr-FR" sz="2000" spc="-1" strike="noStrike">
              <a:latin typeface="Arial"/>
            </a:endParaRPr>
          </a:p>
        </p:txBody>
      </p:sp>
      <p:sp>
        <p:nvSpPr>
          <p:cNvPr id="570" name="TextShape 3"/>
          <p:cNvSpPr txBox="1"/>
          <p:nvPr/>
        </p:nvSpPr>
        <p:spPr>
          <a:xfrm>
            <a:off x="3798360" y="9348840"/>
            <a:ext cx="2905560" cy="491760"/>
          </a:xfrm>
          <a:prstGeom prst="rect">
            <a:avLst/>
          </a:prstGeom>
          <a:noFill/>
          <a:ln>
            <a:noFill/>
          </a:ln>
        </p:spPr>
        <p:txBody>
          <a:bodyPr anchor="b">
            <a:noAutofit/>
          </a:bodyPr>
          <a:p>
            <a:pPr algn="r">
              <a:lnSpc>
                <a:spcPct val="100000"/>
              </a:lnSpc>
            </a:pPr>
            <a:fld id="{6EC36576-D97D-4174-91DB-BEC46E6AC7AA}" type="slidenum">
              <a:rPr b="0" lang="fr-FR" sz="1200" spc="-1" strike="noStrike">
                <a:solidFill>
                  <a:srgbClr val="000000"/>
                </a:solidFill>
                <a:latin typeface="+mn-lt"/>
                <a:ea typeface="+mn-ea"/>
              </a:rPr>
              <a:t>&lt;number&gt;</a:t>
            </a:fld>
            <a:endParaRPr b="0" lang="fr-FR" sz="1200" spc="-1" strike="noStrike">
              <a:latin typeface="Times New Roman"/>
            </a:endParaRPr>
          </a:p>
        </p:txBody>
      </p:sp>
    </p:spTree>
  </p:cSld>
</p:notes>
</file>

<file path=ppt/notesSlides/notesSlide3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1" name="PlaceHolder 1"/>
          <p:cNvSpPr>
            <a:spLocks noGrp="1"/>
          </p:cNvSpPr>
          <p:nvPr>
            <p:ph type="sldImg"/>
          </p:nvPr>
        </p:nvSpPr>
        <p:spPr>
          <a:xfrm>
            <a:off x="892080" y="738360"/>
            <a:ext cx="4920840" cy="3690720"/>
          </a:xfrm>
          <a:prstGeom prst="rect">
            <a:avLst/>
          </a:prstGeom>
        </p:spPr>
      </p:sp>
      <p:sp>
        <p:nvSpPr>
          <p:cNvPr id="572" name="PlaceHolder 2"/>
          <p:cNvSpPr>
            <a:spLocks noGrp="1"/>
          </p:cNvSpPr>
          <p:nvPr>
            <p:ph type="body"/>
          </p:nvPr>
        </p:nvSpPr>
        <p:spPr>
          <a:xfrm>
            <a:off x="670680" y="4675320"/>
            <a:ext cx="5364000" cy="4428720"/>
          </a:xfrm>
          <a:prstGeom prst="rect">
            <a:avLst/>
          </a:prstGeom>
        </p:spPr>
        <p:txBody>
          <a:bodyPr>
            <a:noAutofit/>
          </a:bodyPr>
          <a:p>
            <a:pPr marL="216000" indent="-216000">
              <a:lnSpc>
                <a:spcPct val="100000"/>
              </a:lnSpc>
            </a:pPr>
            <a:r>
              <a:rPr b="0" lang="en-US" sz="2000" spc="-1" strike="noStrike">
                <a:latin typeface="Arial"/>
              </a:rPr>
              <a:t>Seuils à respecter :</a:t>
            </a:r>
            <a:endParaRPr b="0" lang="fr-FR" sz="2000" spc="-1" strike="noStrike">
              <a:latin typeface="Arial"/>
            </a:endParaRPr>
          </a:p>
          <a:p>
            <a:pPr marL="216000" indent="-216000">
              <a:lnSpc>
                <a:spcPct val="100000"/>
              </a:lnSpc>
            </a:pPr>
            <a:endParaRPr b="0" lang="fr-FR" sz="2000" spc="-1" strike="noStrike">
              <a:latin typeface="Arial"/>
            </a:endParaRPr>
          </a:p>
          <a:p>
            <a:pPr marL="216000" indent="-216000">
              <a:lnSpc>
                <a:spcPct val="100000"/>
              </a:lnSpc>
            </a:pPr>
            <a:r>
              <a:rPr b="0" lang="en-US" sz="2000" spc="-1" strike="noStrike">
                <a:latin typeface="Arial"/>
              </a:rPr>
              <a:t>Cote 3 = 0,10%</a:t>
            </a:r>
            <a:endParaRPr b="0" lang="fr-FR" sz="2000" spc="-1" strike="noStrike">
              <a:latin typeface="Arial"/>
            </a:endParaRPr>
          </a:p>
          <a:p>
            <a:pPr marL="216000" indent="-216000">
              <a:lnSpc>
                <a:spcPct val="100000"/>
              </a:lnSpc>
            </a:pPr>
            <a:r>
              <a:rPr b="0" lang="en-US" sz="2000" spc="-1" strike="noStrike">
                <a:latin typeface="Arial"/>
              </a:rPr>
              <a:t>Cote 4+ = 0,40%</a:t>
            </a:r>
            <a:endParaRPr b="0" lang="fr-FR" sz="2000" spc="-1" strike="noStrike">
              <a:latin typeface="Arial"/>
            </a:endParaRPr>
          </a:p>
          <a:p>
            <a:pPr marL="216000" indent="-216000">
              <a:lnSpc>
                <a:spcPct val="100000"/>
              </a:lnSpc>
            </a:pPr>
            <a:r>
              <a:rPr b="0" lang="en-US" sz="2000" spc="-1" strike="noStrike">
                <a:latin typeface="Arial"/>
              </a:rPr>
              <a:t>Cote 4 = 1,50%</a:t>
            </a:r>
            <a:endParaRPr b="0" lang="fr-FR" sz="2000" spc="-1" strike="noStrike">
              <a:latin typeface="Arial"/>
            </a:endParaRPr>
          </a:p>
        </p:txBody>
      </p:sp>
      <p:sp>
        <p:nvSpPr>
          <p:cNvPr id="573" name="TextShape 3"/>
          <p:cNvSpPr txBox="1"/>
          <p:nvPr/>
        </p:nvSpPr>
        <p:spPr>
          <a:xfrm>
            <a:off x="3798360" y="9348840"/>
            <a:ext cx="2905560" cy="491760"/>
          </a:xfrm>
          <a:prstGeom prst="rect">
            <a:avLst/>
          </a:prstGeom>
          <a:noFill/>
          <a:ln>
            <a:noFill/>
          </a:ln>
        </p:spPr>
        <p:txBody>
          <a:bodyPr anchor="b">
            <a:noAutofit/>
          </a:bodyPr>
          <a:p>
            <a:pPr algn="r">
              <a:lnSpc>
                <a:spcPct val="100000"/>
              </a:lnSpc>
            </a:pPr>
            <a:fld id="{877DAEC3-11E8-4733-9112-9A4CA555DFE6}" type="slidenum">
              <a:rPr b="0" lang="fr-FR" sz="1200" spc="-1" strike="noStrike">
                <a:solidFill>
                  <a:srgbClr val="000000"/>
                </a:solidFill>
                <a:latin typeface="+mn-lt"/>
                <a:ea typeface="+mn-ea"/>
              </a:rPr>
              <a:t>&lt;number&gt;</a:t>
            </a:fld>
            <a:endParaRPr b="0" lang="fr-FR" sz="1200" spc="-1" strike="noStrike">
              <a:latin typeface="Times New Roman"/>
            </a:endParaRPr>
          </a:p>
        </p:txBody>
      </p:sp>
    </p:spTree>
  </p:cSld>
</p:notes>
</file>

<file path=ppt/notesSlides/notesSlide4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4" name="PlaceHolder 1"/>
          <p:cNvSpPr>
            <a:spLocks noGrp="1"/>
          </p:cNvSpPr>
          <p:nvPr>
            <p:ph type="sldImg"/>
          </p:nvPr>
        </p:nvSpPr>
        <p:spPr>
          <a:xfrm>
            <a:off x="892080" y="738360"/>
            <a:ext cx="4920840" cy="3690720"/>
          </a:xfrm>
          <a:prstGeom prst="rect">
            <a:avLst/>
          </a:prstGeom>
        </p:spPr>
      </p:sp>
      <p:sp>
        <p:nvSpPr>
          <p:cNvPr id="575" name="PlaceHolder 2"/>
          <p:cNvSpPr>
            <a:spLocks noGrp="1"/>
          </p:cNvSpPr>
          <p:nvPr>
            <p:ph type="body"/>
          </p:nvPr>
        </p:nvSpPr>
        <p:spPr>
          <a:xfrm>
            <a:off x="670680" y="4675320"/>
            <a:ext cx="5364000" cy="4428720"/>
          </a:xfrm>
          <a:prstGeom prst="rect">
            <a:avLst/>
          </a:prstGeom>
        </p:spPr>
        <p:txBody>
          <a:bodyPr>
            <a:noAutofit/>
          </a:bodyPr>
          <a:p>
            <a:endParaRPr b="0" lang="fr-FR" sz="2000" spc="-1" strike="noStrike">
              <a:latin typeface="Arial"/>
            </a:endParaRPr>
          </a:p>
        </p:txBody>
      </p:sp>
      <p:sp>
        <p:nvSpPr>
          <p:cNvPr id="576" name="TextShape 3"/>
          <p:cNvSpPr txBox="1"/>
          <p:nvPr/>
        </p:nvSpPr>
        <p:spPr>
          <a:xfrm>
            <a:off x="3798360" y="9348840"/>
            <a:ext cx="2905560" cy="491760"/>
          </a:xfrm>
          <a:prstGeom prst="rect">
            <a:avLst/>
          </a:prstGeom>
          <a:noFill/>
          <a:ln>
            <a:noFill/>
          </a:ln>
        </p:spPr>
        <p:txBody>
          <a:bodyPr anchor="b">
            <a:noAutofit/>
          </a:bodyPr>
          <a:p>
            <a:pPr algn="r">
              <a:lnSpc>
                <a:spcPct val="100000"/>
              </a:lnSpc>
            </a:pPr>
            <a:fld id="{4D2D1600-0E98-47C2-BADF-6E7D38F5EC92}" type="slidenum">
              <a:rPr b="0" lang="fr-FR" sz="1200" spc="-1" strike="noStrike">
                <a:latin typeface="Times New Roman"/>
              </a:rPr>
              <a:t>&lt;number&gt;</a:t>
            </a:fld>
            <a:endParaRPr b="0" lang="fr-FR" sz="1200" spc="-1" strike="noStrike">
              <a:latin typeface="Times New Roman"/>
            </a:endParaRPr>
          </a:p>
        </p:txBody>
      </p:sp>
    </p:spTree>
  </p:cSld>
</p:notes>
</file>

<file path=ppt/notesSlides/notesSlide5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7" name="PlaceHolder 1"/>
          <p:cNvSpPr>
            <a:spLocks noGrp="1"/>
          </p:cNvSpPr>
          <p:nvPr>
            <p:ph type="sldImg"/>
          </p:nvPr>
        </p:nvSpPr>
        <p:spPr>
          <a:xfrm>
            <a:off x="892080" y="738360"/>
            <a:ext cx="4920840" cy="3690720"/>
          </a:xfrm>
          <a:prstGeom prst="rect">
            <a:avLst/>
          </a:prstGeom>
        </p:spPr>
      </p:sp>
      <p:sp>
        <p:nvSpPr>
          <p:cNvPr id="578" name="PlaceHolder 2"/>
          <p:cNvSpPr>
            <a:spLocks noGrp="1"/>
          </p:cNvSpPr>
          <p:nvPr>
            <p:ph type="body"/>
          </p:nvPr>
        </p:nvSpPr>
        <p:spPr>
          <a:xfrm>
            <a:off x="670680" y="4675320"/>
            <a:ext cx="5364000" cy="4428720"/>
          </a:xfrm>
          <a:prstGeom prst="rect">
            <a:avLst/>
          </a:prstGeom>
        </p:spPr>
        <p:txBody>
          <a:bodyPr>
            <a:noAutofit/>
          </a:bodyPr>
          <a:p>
            <a:endParaRPr b="0" lang="fr-FR" sz="2000" spc="-1" strike="noStrike">
              <a:latin typeface="Arial"/>
            </a:endParaRPr>
          </a:p>
        </p:txBody>
      </p:sp>
      <p:sp>
        <p:nvSpPr>
          <p:cNvPr id="579" name="TextShape 3"/>
          <p:cNvSpPr txBox="1"/>
          <p:nvPr/>
        </p:nvSpPr>
        <p:spPr>
          <a:xfrm>
            <a:off x="3798360" y="9348840"/>
            <a:ext cx="2905560" cy="491760"/>
          </a:xfrm>
          <a:prstGeom prst="rect">
            <a:avLst/>
          </a:prstGeom>
          <a:noFill/>
          <a:ln>
            <a:noFill/>
          </a:ln>
        </p:spPr>
        <p:txBody>
          <a:bodyPr anchor="b">
            <a:noAutofit/>
          </a:bodyPr>
          <a:p>
            <a:pPr algn="r">
              <a:lnSpc>
                <a:spcPct val="100000"/>
              </a:lnSpc>
            </a:pPr>
            <a:fld id="{A5C220CB-7AA2-43D5-8B70-30A5B55DBD3F}" type="slidenum">
              <a:rPr b="0" lang="fr-FR" sz="1200" spc="-1" strike="noStrike">
                <a:latin typeface="Times New Roman"/>
              </a:rPr>
              <a:t>&lt;number&gt;</a:t>
            </a:fld>
            <a:endParaRPr b="0" lang="fr-FR" sz="1200" spc="-1" strike="noStrike">
              <a:latin typeface="Times New Roman"/>
            </a:endParaRPr>
          </a:p>
        </p:txBody>
      </p:sp>
    </p:spTree>
  </p:cSld>
</p:notes>
</file>

<file path=ppt/notesSlides/notesSlide5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0" name="PlaceHolder 1"/>
          <p:cNvSpPr>
            <a:spLocks noGrp="1"/>
          </p:cNvSpPr>
          <p:nvPr>
            <p:ph type="sldImg"/>
          </p:nvPr>
        </p:nvSpPr>
        <p:spPr>
          <a:xfrm>
            <a:off x="892080" y="738360"/>
            <a:ext cx="4920840" cy="3690720"/>
          </a:xfrm>
          <a:prstGeom prst="rect">
            <a:avLst/>
          </a:prstGeom>
        </p:spPr>
      </p:sp>
      <p:sp>
        <p:nvSpPr>
          <p:cNvPr id="581" name="PlaceHolder 2"/>
          <p:cNvSpPr>
            <a:spLocks noGrp="1"/>
          </p:cNvSpPr>
          <p:nvPr>
            <p:ph type="body"/>
          </p:nvPr>
        </p:nvSpPr>
        <p:spPr>
          <a:xfrm>
            <a:off x="670680" y="4675320"/>
            <a:ext cx="5364000" cy="4428720"/>
          </a:xfrm>
          <a:prstGeom prst="rect">
            <a:avLst/>
          </a:prstGeom>
        </p:spPr>
        <p:txBody>
          <a:bodyPr>
            <a:noAutofit/>
          </a:bodyPr>
          <a:p>
            <a:endParaRPr b="0" lang="fr-FR" sz="2000" spc="-1" strike="noStrike">
              <a:latin typeface="Arial"/>
            </a:endParaRPr>
          </a:p>
        </p:txBody>
      </p:sp>
      <p:sp>
        <p:nvSpPr>
          <p:cNvPr id="582" name="TextShape 3"/>
          <p:cNvSpPr txBox="1"/>
          <p:nvPr/>
        </p:nvSpPr>
        <p:spPr>
          <a:xfrm>
            <a:off x="3798360" y="9348840"/>
            <a:ext cx="2905560" cy="491760"/>
          </a:xfrm>
          <a:prstGeom prst="rect">
            <a:avLst/>
          </a:prstGeom>
          <a:noFill/>
          <a:ln>
            <a:noFill/>
          </a:ln>
        </p:spPr>
        <p:txBody>
          <a:bodyPr anchor="b">
            <a:noAutofit/>
          </a:bodyPr>
          <a:p>
            <a:pPr algn="r">
              <a:lnSpc>
                <a:spcPct val="100000"/>
              </a:lnSpc>
            </a:pPr>
            <a:fld id="{D5DD64D0-9EEA-4D56-A1FB-ECC035E6149E}" type="slidenum">
              <a:rPr b="0" lang="fr-FR" sz="1200" spc="-1" strike="noStrike">
                <a:latin typeface="Times New Roman"/>
              </a:rPr>
              <a:t>&lt;number&gt;</a:t>
            </a:fld>
            <a:endParaRPr b="0" lang="fr-FR" sz="1200" spc="-1" strike="noStrike">
              <a:latin typeface="Times New Roman"/>
            </a:endParaRPr>
          </a:p>
        </p:txBody>
      </p:sp>
    </p:spTree>
  </p:cSld>
</p:notes>
</file>

<file path=ppt/notesSlides/notesSlide5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3" name="PlaceHolder 1"/>
          <p:cNvSpPr>
            <a:spLocks noGrp="1"/>
          </p:cNvSpPr>
          <p:nvPr>
            <p:ph type="sldImg"/>
          </p:nvPr>
        </p:nvSpPr>
        <p:spPr>
          <a:xfrm>
            <a:off x="892080" y="738360"/>
            <a:ext cx="4920840" cy="3690720"/>
          </a:xfrm>
          <a:prstGeom prst="rect">
            <a:avLst/>
          </a:prstGeom>
        </p:spPr>
      </p:sp>
      <p:sp>
        <p:nvSpPr>
          <p:cNvPr id="584" name="PlaceHolder 2"/>
          <p:cNvSpPr>
            <a:spLocks noGrp="1"/>
          </p:cNvSpPr>
          <p:nvPr>
            <p:ph type="body"/>
          </p:nvPr>
        </p:nvSpPr>
        <p:spPr>
          <a:xfrm>
            <a:off x="670680" y="4675320"/>
            <a:ext cx="5364000" cy="4428720"/>
          </a:xfrm>
          <a:prstGeom prst="rect">
            <a:avLst/>
          </a:prstGeom>
        </p:spPr>
        <p:txBody>
          <a:bodyPr>
            <a:noAutofit/>
          </a:bodyPr>
          <a:p>
            <a:pPr marL="114480">
              <a:lnSpc>
                <a:spcPct val="100000"/>
              </a:lnSpc>
              <a:tabLst>
                <a:tab algn="l" pos="0"/>
              </a:tabLst>
            </a:pPr>
            <a:r>
              <a:rPr b="0" lang="fr-FR" sz="2000" spc="-1" strike="noStrike">
                <a:latin typeface="Arial"/>
              </a:rPr>
              <a:t>Quelle conséquence ?</a:t>
            </a:r>
            <a:endParaRPr b="0" lang="fr-FR" sz="2000" spc="-1" strike="noStrike">
              <a:latin typeface="Arial"/>
            </a:endParaRPr>
          </a:p>
          <a:p>
            <a:pPr marL="114480">
              <a:lnSpc>
                <a:spcPct val="100000"/>
              </a:lnSpc>
              <a:tabLst>
                <a:tab algn="l" pos="0"/>
              </a:tabLst>
            </a:pPr>
            <a:r>
              <a:rPr b="0" lang="fr-FR" sz="2000" spc="-1" strike="noStrike">
                <a:latin typeface="Arial"/>
              </a:rPr>
              <a:t>L’attitude à adopter dépendra :</a:t>
            </a:r>
            <a:endParaRPr b="0" lang="fr-FR" sz="2000" spc="-1" strike="noStrike">
              <a:latin typeface="Arial"/>
            </a:endParaRPr>
          </a:p>
          <a:p>
            <a:pPr marL="285840" indent="-171000">
              <a:lnSpc>
                <a:spcPct val="100000"/>
              </a:lnSpc>
              <a:buClr>
                <a:srgbClr val="000000"/>
              </a:buClr>
              <a:buFont typeface="Arial"/>
              <a:buChar char="•"/>
              <a:tabLst>
                <a:tab algn="l" pos="0"/>
              </a:tabLst>
            </a:pPr>
            <a:r>
              <a:rPr b="0" lang="fr-FR" sz="2000" spc="-1" strike="noStrike">
                <a:latin typeface="Arial"/>
              </a:rPr>
              <a:t>de l’</a:t>
            </a:r>
            <a:r>
              <a:rPr b="0" lang="fr-FR" sz="2200" spc="-1" strike="noStrike">
                <a:latin typeface="Arial"/>
              </a:rPr>
              <a:t>ampleur du risque </a:t>
            </a:r>
            <a:r>
              <a:rPr b="0" lang="fr-FR" sz="2000" spc="-1" strike="noStrike">
                <a:latin typeface="Arial"/>
              </a:rPr>
              <a:t>ou</a:t>
            </a:r>
            <a:r>
              <a:rPr b="0" lang="fr-FR" sz="2200" spc="-1" strike="noStrike">
                <a:latin typeface="Arial"/>
              </a:rPr>
              <a:t> des doutes émis.</a:t>
            </a:r>
            <a:endParaRPr b="0" lang="fr-FR" sz="2200" spc="-1" strike="noStrike">
              <a:latin typeface="Arial"/>
            </a:endParaRPr>
          </a:p>
          <a:p>
            <a:pPr marL="285840" indent="-171000">
              <a:lnSpc>
                <a:spcPct val="100000"/>
              </a:lnSpc>
              <a:buClr>
                <a:srgbClr val="000000"/>
              </a:buClr>
              <a:buFont typeface="Arial"/>
              <a:buChar char="•"/>
              <a:tabLst>
                <a:tab algn="l" pos="0"/>
              </a:tabLst>
            </a:pPr>
            <a:r>
              <a:rPr b="0" lang="fr-FR" sz="2200" spc="-1" strike="noStrike">
                <a:latin typeface="Arial"/>
              </a:rPr>
              <a:t>de la possibilité ou non de compenser le manque d’information par une analyse du risque au travers du recoupement des informations (cohérence entre les données communiquées par le groupe et les données issues des bilans sociaux des entités composant le groupe).</a:t>
            </a:r>
            <a:endParaRPr b="0" lang="fr-FR" sz="2200" spc="-1" strike="noStrike">
              <a:latin typeface="Arial"/>
            </a:endParaRPr>
          </a:p>
          <a:p>
            <a:pPr>
              <a:lnSpc>
                <a:spcPct val="100000"/>
              </a:lnSpc>
              <a:tabLst>
                <a:tab algn="l" pos="0"/>
              </a:tabLst>
            </a:pPr>
            <a:endParaRPr b="0" lang="fr-FR" sz="2200" spc="-1" strike="noStrike">
              <a:latin typeface="Arial"/>
            </a:endParaRPr>
          </a:p>
        </p:txBody>
      </p:sp>
      <p:sp>
        <p:nvSpPr>
          <p:cNvPr id="585" name="TextShape 3"/>
          <p:cNvSpPr txBox="1"/>
          <p:nvPr/>
        </p:nvSpPr>
        <p:spPr>
          <a:xfrm>
            <a:off x="3798360" y="9348840"/>
            <a:ext cx="2905560" cy="491760"/>
          </a:xfrm>
          <a:prstGeom prst="rect">
            <a:avLst/>
          </a:prstGeom>
          <a:noFill/>
          <a:ln>
            <a:noFill/>
          </a:ln>
        </p:spPr>
        <p:txBody>
          <a:bodyPr anchor="b">
            <a:noAutofit/>
          </a:bodyPr>
          <a:p>
            <a:pPr algn="r">
              <a:lnSpc>
                <a:spcPct val="100000"/>
              </a:lnSpc>
            </a:pPr>
            <a:fld id="{655F0492-CFEC-479B-9DFB-08752BA7DAC2}" type="slidenum">
              <a:rPr b="0" lang="fr-FR" sz="1200" spc="-1" strike="noStrike">
                <a:latin typeface="Times New Roman"/>
              </a:rPr>
              <a:t>&lt;number&gt;</a:t>
            </a:fld>
            <a:endParaRPr b="0" lang="fr-FR" sz="1200" spc="-1" strike="noStrike">
              <a:latin typeface="Times New Roman"/>
            </a:endParaRPr>
          </a:p>
        </p:txBody>
      </p:sp>
    </p:spTree>
  </p:cSld>
</p:notes>
</file>

<file path=ppt/notesSlides/notesSlide5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6" name="PlaceHolder 1"/>
          <p:cNvSpPr>
            <a:spLocks noGrp="1"/>
          </p:cNvSpPr>
          <p:nvPr>
            <p:ph type="sldImg"/>
          </p:nvPr>
        </p:nvSpPr>
        <p:spPr>
          <a:xfrm>
            <a:off x="892080" y="738360"/>
            <a:ext cx="4920840" cy="3690720"/>
          </a:xfrm>
          <a:prstGeom prst="rect">
            <a:avLst/>
          </a:prstGeom>
        </p:spPr>
      </p:sp>
      <p:sp>
        <p:nvSpPr>
          <p:cNvPr id="587" name="PlaceHolder 2"/>
          <p:cNvSpPr>
            <a:spLocks noGrp="1"/>
          </p:cNvSpPr>
          <p:nvPr>
            <p:ph type="body"/>
          </p:nvPr>
        </p:nvSpPr>
        <p:spPr>
          <a:xfrm>
            <a:off x="670680" y="4675320"/>
            <a:ext cx="5364000" cy="4428720"/>
          </a:xfrm>
          <a:prstGeom prst="rect">
            <a:avLst/>
          </a:prstGeom>
        </p:spPr>
        <p:txBody>
          <a:bodyPr>
            <a:noAutofit/>
          </a:bodyPr>
          <a:p>
            <a:pPr marL="114480">
              <a:lnSpc>
                <a:spcPct val="100000"/>
              </a:lnSpc>
              <a:tabLst>
                <a:tab algn="l" pos="0"/>
              </a:tabLst>
            </a:pPr>
            <a:r>
              <a:rPr b="0" lang="fr-FR" sz="2000" spc="-1" strike="noStrike">
                <a:latin typeface="Arial"/>
              </a:rPr>
              <a:t>Quelle conséquence ?</a:t>
            </a:r>
            <a:endParaRPr b="0" lang="fr-FR" sz="2000" spc="-1" strike="noStrike">
              <a:latin typeface="Arial"/>
            </a:endParaRPr>
          </a:p>
          <a:p>
            <a:pPr marL="114480">
              <a:lnSpc>
                <a:spcPct val="100000"/>
              </a:lnSpc>
              <a:tabLst>
                <a:tab algn="l" pos="0"/>
              </a:tabLst>
            </a:pPr>
            <a:r>
              <a:rPr b="0" lang="fr-FR" sz="2000" spc="-1" strike="noStrike">
                <a:latin typeface="Arial"/>
              </a:rPr>
              <a:t>L’attitude à adopter dépendra :</a:t>
            </a:r>
            <a:endParaRPr b="0" lang="fr-FR" sz="2000" spc="-1" strike="noStrike">
              <a:latin typeface="Arial"/>
            </a:endParaRPr>
          </a:p>
          <a:p>
            <a:pPr marL="285840" indent="-171000">
              <a:lnSpc>
                <a:spcPct val="100000"/>
              </a:lnSpc>
              <a:buClr>
                <a:srgbClr val="000000"/>
              </a:buClr>
              <a:buFont typeface="Arial"/>
              <a:buChar char="•"/>
              <a:tabLst>
                <a:tab algn="l" pos="0"/>
              </a:tabLst>
            </a:pPr>
            <a:r>
              <a:rPr b="0" lang="fr-FR" sz="2000" spc="-1" strike="noStrike">
                <a:latin typeface="Arial"/>
              </a:rPr>
              <a:t>de l’</a:t>
            </a:r>
            <a:r>
              <a:rPr b="0" lang="fr-FR" sz="2200" spc="-1" strike="noStrike">
                <a:latin typeface="Arial"/>
              </a:rPr>
              <a:t>ampleur du risque </a:t>
            </a:r>
            <a:r>
              <a:rPr b="0" lang="fr-FR" sz="2000" spc="-1" strike="noStrike">
                <a:latin typeface="Arial"/>
              </a:rPr>
              <a:t>ou</a:t>
            </a:r>
            <a:r>
              <a:rPr b="0" lang="fr-FR" sz="2200" spc="-1" strike="noStrike">
                <a:latin typeface="Arial"/>
              </a:rPr>
              <a:t> des doutes émis.</a:t>
            </a:r>
            <a:endParaRPr b="0" lang="fr-FR" sz="2200" spc="-1" strike="noStrike">
              <a:latin typeface="Arial"/>
            </a:endParaRPr>
          </a:p>
          <a:p>
            <a:pPr marL="285840" indent="-171000">
              <a:lnSpc>
                <a:spcPct val="100000"/>
              </a:lnSpc>
              <a:buClr>
                <a:srgbClr val="000000"/>
              </a:buClr>
              <a:buFont typeface="Arial"/>
              <a:buChar char="•"/>
              <a:tabLst>
                <a:tab algn="l" pos="0"/>
              </a:tabLst>
            </a:pPr>
            <a:r>
              <a:rPr b="0" lang="fr-FR" sz="2200" spc="-1" strike="noStrike">
                <a:latin typeface="Arial"/>
              </a:rPr>
              <a:t>de la possibilité ou non de compenser le manque d’information par une analyse du risque au travers du recoupement des informations (cohérence entre les données communiquées par le groupe et les données issues des bilans sociaux des entités composant le groupe).</a:t>
            </a:r>
            <a:endParaRPr b="0" lang="fr-FR" sz="2200" spc="-1" strike="noStrike">
              <a:latin typeface="Arial"/>
            </a:endParaRPr>
          </a:p>
          <a:p>
            <a:pPr>
              <a:lnSpc>
                <a:spcPct val="100000"/>
              </a:lnSpc>
              <a:tabLst>
                <a:tab algn="l" pos="0"/>
              </a:tabLst>
            </a:pPr>
            <a:endParaRPr b="0" lang="fr-FR" sz="2200" spc="-1" strike="noStrike">
              <a:latin typeface="Arial"/>
            </a:endParaRPr>
          </a:p>
        </p:txBody>
      </p:sp>
      <p:sp>
        <p:nvSpPr>
          <p:cNvPr id="588" name="TextShape 3"/>
          <p:cNvSpPr txBox="1"/>
          <p:nvPr/>
        </p:nvSpPr>
        <p:spPr>
          <a:xfrm>
            <a:off x="3798360" y="9348840"/>
            <a:ext cx="2905560" cy="491760"/>
          </a:xfrm>
          <a:prstGeom prst="rect">
            <a:avLst/>
          </a:prstGeom>
          <a:noFill/>
          <a:ln>
            <a:noFill/>
          </a:ln>
        </p:spPr>
        <p:txBody>
          <a:bodyPr anchor="b">
            <a:noAutofit/>
          </a:bodyPr>
          <a:p>
            <a:pPr algn="r">
              <a:lnSpc>
                <a:spcPct val="100000"/>
              </a:lnSpc>
            </a:pPr>
            <a:fld id="{4EC60750-DF0C-4F50-8DFB-6539D11FA83C}" type="slidenum">
              <a:rPr b="0" lang="fr-FR" sz="1200" spc="-1" strike="noStrike">
                <a:latin typeface="Times New Roman"/>
              </a:rPr>
              <a:t>&lt;number&gt;</a:t>
            </a:fld>
            <a:endParaRPr b="0" lang="fr-FR" sz="1200" spc="-1" strike="noStrike">
              <a:latin typeface="Times New Roman"/>
            </a:endParaRPr>
          </a:p>
        </p:txBody>
      </p:sp>
    </p:spTree>
  </p:cSld>
</p:notes>
</file>

<file path=ppt/notesSlides/notesSlide6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9" name="PlaceHolder 1"/>
          <p:cNvSpPr>
            <a:spLocks noGrp="1"/>
          </p:cNvSpPr>
          <p:nvPr>
            <p:ph type="sldImg"/>
          </p:nvPr>
        </p:nvSpPr>
        <p:spPr>
          <a:xfrm>
            <a:off x="892080" y="738360"/>
            <a:ext cx="4920840" cy="3690720"/>
          </a:xfrm>
          <a:prstGeom prst="rect">
            <a:avLst/>
          </a:prstGeom>
        </p:spPr>
      </p:sp>
      <p:sp>
        <p:nvSpPr>
          <p:cNvPr id="590" name="PlaceHolder 2"/>
          <p:cNvSpPr>
            <a:spLocks noGrp="1"/>
          </p:cNvSpPr>
          <p:nvPr>
            <p:ph type="body"/>
          </p:nvPr>
        </p:nvSpPr>
        <p:spPr>
          <a:xfrm>
            <a:off x="670680" y="4675320"/>
            <a:ext cx="5364000" cy="4428720"/>
          </a:xfrm>
          <a:prstGeom prst="rect">
            <a:avLst/>
          </a:prstGeom>
        </p:spPr>
        <p:txBody>
          <a:bodyPr>
            <a:noAutofit/>
          </a:bodyPr>
          <a:p>
            <a:endParaRPr b="0" lang="fr-FR" sz="2000" spc="-1" strike="noStrike">
              <a:latin typeface="Arial"/>
            </a:endParaRPr>
          </a:p>
        </p:txBody>
      </p:sp>
      <p:sp>
        <p:nvSpPr>
          <p:cNvPr id="591" name="TextShape 3"/>
          <p:cNvSpPr txBox="1"/>
          <p:nvPr/>
        </p:nvSpPr>
        <p:spPr>
          <a:xfrm>
            <a:off x="3798360" y="9348840"/>
            <a:ext cx="2905560" cy="491760"/>
          </a:xfrm>
          <a:prstGeom prst="rect">
            <a:avLst/>
          </a:prstGeom>
          <a:noFill/>
          <a:ln>
            <a:noFill/>
          </a:ln>
        </p:spPr>
        <p:txBody>
          <a:bodyPr anchor="b">
            <a:noAutofit/>
          </a:bodyPr>
          <a:p>
            <a:pPr algn="r">
              <a:lnSpc>
                <a:spcPct val="100000"/>
              </a:lnSpc>
            </a:pPr>
            <a:fld id="{6CD3E37F-BD35-494B-B279-747AF3EBC11C}" type="slidenum">
              <a:rPr b="0" lang="fr-FR" sz="1200" spc="-1" strike="noStrike">
                <a:latin typeface="Times New Roman"/>
              </a:rPr>
              <a:t>&lt;number&gt;</a:t>
            </a:fld>
            <a:endParaRPr b="0" lang="fr-FR" sz="1200" spc="-1" strike="noStrike">
              <a:latin typeface="Times New Roman"/>
            </a:endParaRPr>
          </a:p>
        </p:txBody>
      </p:sp>
    </p:spTree>
  </p:cSld>
</p:notes>
</file>

<file path=ppt/notesSlides/notesSlide6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2" name="PlaceHolder 1"/>
          <p:cNvSpPr>
            <a:spLocks noGrp="1"/>
          </p:cNvSpPr>
          <p:nvPr>
            <p:ph type="sldImg"/>
          </p:nvPr>
        </p:nvSpPr>
        <p:spPr>
          <a:xfrm>
            <a:off x="892080" y="738360"/>
            <a:ext cx="4920840" cy="3690720"/>
          </a:xfrm>
          <a:prstGeom prst="rect">
            <a:avLst/>
          </a:prstGeom>
        </p:spPr>
      </p:sp>
      <p:sp>
        <p:nvSpPr>
          <p:cNvPr id="593" name="PlaceHolder 2"/>
          <p:cNvSpPr>
            <a:spLocks noGrp="1"/>
          </p:cNvSpPr>
          <p:nvPr>
            <p:ph type="body"/>
          </p:nvPr>
        </p:nvSpPr>
        <p:spPr>
          <a:xfrm>
            <a:off x="670680" y="4675320"/>
            <a:ext cx="5364000" cy="4428720"/>
          </a:xfrm>
          <a:prstGeom prst="rect">
            <a:avLst/>
          </a:prstGeom>
        </p:spPr>
        <p:txBody>
          <a:bodyPr>
            <a:noAutofit/>
          </a:bodyPr>
          <a:p>
            <a:endParaRPr b="0" lang="fr-FR" sz="2000" spc="-1" strike="noStrike">
              <a:latin typeface="Arial"/>
            </a:endParaRPr>
          </a:p>
        </p:txBody>
      </p:sp>
      <p:sp>
        <p:nvSpPr>
          <p:cNvPr id="594" name="TextShape 3"/>
          <p:cNvSpPr txBox="1"/>
          <p:nvPr/>
        </p:nvSpPr>
        <p:spPr>
          <a:xfrm>
            <a:off x="3798360" y="9348840"/>
            <a:ext cx="2905560" cy="491760"/>
          </a:xfrm>
          <a:prstGeom prst="rect">
            <a:avLst/>
          </a:prstGeom>
          <a:noFill/>
          <a:ln>
            <a:noFill/>
          </a:ln>
        </p:spPr>
        <p:txBody>
          <a:bodyPr anchor="b">
            <a:noAutofit/>
          </a:bodyPr>
          <a:p>
            <a:pPr algn="r">
              <a:lnSpc>
                <a:spcPct val="100000"/>
              </a:lnSpc>
            </a:pPr>
            <a:fld id="{217406A5-F9FC-4E84-A589-93C933910E94}" type="slidenum">
              <a:rPr b="0" lang="fr-FR" sz="1200" spc="-1" strike="noStrike">
                <a:latin typeface="Times New Roman"/>
              </a:rPr>
              <a:t>&lt;number&gt;</a:t>
            </a:fld>
            <a:endParaRPr b="0" lang="fr-FR" sz="1200" spc="-1" strike="noStrike">
              <a:latin typeface="Times New Roman"/>
            </a:endParaRPr>
          </a:p>
        </p:txBody>
      </p:sp>
    </p:spTree>
  </p:cSld>
</p:notes>
</file>

<file path=ppt/notesSlides/notesSlide7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5" name="PlaceHolder 1"/>
          <p:cNvSpPr>
            <a:spLocks noGrp="1"/>
          </p:cNvSpPr>
          <p:nvPr>
            <p:ph type="sldImg"/>
          </p:nvPr>
        </p:nvSpPr>
        <p:spPr>
          <a:xfrm>
            <a:off x="892080" y="738360"/>
            <a:ext cx="4920840" cy="3690720"/>
          </a:xfrm>
          <a:prstGeom prst="rect">
            <a:avLst/>
          </a:prstGeom>
        </p:spPr>
      </p:sp>
      <p:sp>
        <p:nvSpPr>
          <p:cNvPr id="596" name="PlaceHolder 2"/>
          <p:cNvSpPr>
            <a:spLocks noGrp="1"/>
          </p:cNvSpPr>
          <p:nvPr>
            <p:ph type="body"/>
          </p:nvPr>
        </p:nvSpPr>
        <p:spPr>
          <a:xfrm>
            <a:off x="670680" y="4675320"/>
            <a:ext cx="5364000" cy="4428720"/>
          </a:xfrm>
          <a:prstGeom prst="rect">
            <a:avLst/>
          </a:prstGeom>
        </p:spPr>
        <p:txBody>
          <a:bodyPr>
            <a:noAutofit/>
          </a:bodyPr>
          <a:p>
            <a:endParaRPr b="0" lang="fr-FR" sz="2000" spc="-1" strike="noStrike">
              <a:latin typeface="Arial"/>
            </a:endParaRPr>
          </a:p>
        </p:txBody>
      </p:sp>
      <p:sp>
        <p:nvSpPr>
          <p:cNvPr id="597" name="TextShape 3"/>
          <p:cNvSpPr txBox="1"/>
          <p:nvPr/>
        </p:nvSpPr>
        <p:spPr>
          <a:xfrm>
            <a:off x="3798360" y="9348840"/>
            <a:ext cx="2905560" cy="491760"/>
          </a:xfrm>
          <a:prstGeom prst="rect">
            <a:avLst/>
          </a:prstGeom>
          <a:noFill/>
          <a:ln>
            <a:noFill/>
          </a:ln>
        </p:spPr>
        <p:txBody>
          <a:bodyPr anchor="b">
            <a:noAutofit/>
          </a:bodyPr>
          <a:p>
            <a:pPr algn="r">
              <a:lnSpc>
                <a:spcPct val="100000"/>
              </a:lnSpc>
            </a:pPr>
            <a:fld id="{AC7B9898-D8F6-4B07-8025-364843929346}" type="slidenum">
              <a:rPr b="0" lang="fr-FR" sz="1200" spc="-1" strike="noStrike">
                <a:latin typeface="Times New Roman"/>
              </a:rPr>
              <a:t>&lt;number&gt;</a:t>
            </a:fld>
            <a:endParaRPr b="0" lang="fr-FR" sz="1200" spc="-1" strike="noStrike">
              <a:latin typeface="Times New Roman"/>
            </a:endParaRPr>
          </a:p>
        </p:txBody>
      </p:sp>
    </p:spTree>
  </p:cSld>
</p:notes>
</file>

<file path=ppt/notesSlides/notesSlide8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8" name="PlaceHolder 1"/>
          <p:cNvSpPr>
            <a:spLocks noGrp="1"/>
          </p:cNvSpPr>
          <p:nvPr>
            <p:ph type="sldImg"/>
          </p:nvPr>
        </p:nvSpPr>
        <p:spPr>
          <a:xfrm>
            <a:off x="892080" y="738360"/>
            <a:ext cx="4920840" cy="3690720"/>
          </a:xfrm>
          <a:prstGeom prst="rect">
            <a:avLst/>
          </a:prstGeom>
        </p:spPr>
      </p:sp>
      <p:sp>
        <p:nvSpPr>
          <p:cNvPr id="599" name="PlaceHolder 2"/>
          <p:cNvSpPr>
            <a:spLocks noGrp="1"/>
          </p:cNvSpPr>
          <p:nvPr>
            <p:ph type="body"/>
          </p:nvPr>
        </p:nvSpPr>
        <p:spPr>
          <a:xfrm>
            <a:off x="670680" y="4675320"/>
            <a:ext cx="5364000" cy="4428720"/>
          </a:xfrm>
          <a:prstGeom prst="rect">
            <a:avLst/>
          </a:prstGeom>
        </p:spPr>
        <p:txBody>
          <a:bodyPr>
            <a:noAutofit/>
          </a:bodyPr>
          <a:p>
            <a:endParaRPr b="0" lang="fr-FR" sz="2000" spc="-1" strike="noStrike">
              <a:latin typeface="Arial"/>
            </a:endParaRPr>
          </a:p>
        </p:txBody>
      </p:sp>
      <p:sp>
        <p:nvSpPr>
          <p:cNvPr id="600" name="TextShape 3"/>
          <p:cNvSpPr txBox="1"/>
          <p:nvPr/>
        </p:nvSpPr>
        <p:spPr>
          <a:xfrm>
            <a:off x="3798360" y="9348840"/>
            <a:ext cx="2905560" cy="491760"/>
          </a:xfrm>
          <a:prstGeom prst="rect">
            <a:avLst/>
          </a:prstGeom>
          <a:noFill/>
          <a:ln>
            <a:noFill/>
          </a:ln>
        </p:spPr>
        <p:txBody>
          <a:bodyPr anchor="b">
            <a:noAutofit/>
          </a:bodyPr>
          <a:p>
            <a:pPr algn="r">
              <a:lnSpc>
                <a:spcPct val="100000"/>
              </a:lnSpc>
            </a:pPr>
            <a:fld id="{0377C4FB-C47E-4B90-9B81-F86C4B351E5A}" type="slidenum">
              <a:rPr b="0" lang="fr-FR" sz="1200" spc="-1" strike="noStrike">
                <a:latin typeface="Times New Roman"/>
              </a:rPr>
              <a:t>&lt;number&gt;</a:t>
            </a:fld>
            <a:endParaRPr b="0" lang="fr-FR" sz="1200" spc="-1" strike="noStrike">
              <a:latin typeface="Times New Roman"/>
            </a:endParaRPr>
          </a:p>
        </p:txBody>
      </p:sp>
    </p:spTree>
  </p:cSld>
</p:notes>
</file>

<file path=ppt/notesSlides/notesSlide9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1" name="PlaceHolder 1"/>
          <p:cNvSpPr>
            <a:spLocks noGrp="1"/>
          </p:cNvSpPr>
          <p:nvPr>
            <p:ph type="sldImg"/>
          </p:nvPr>
        </p:nvSpPr>
        <p:spPr>
          <a:xfrm>
            <a:off x="892080" y="738360"/>
            <a:ext cx="4920840" cy="3690720"/>
          </a:xfrm>
          <a:prstGeom prst="rect">
            <a:avLst/>
          </a:prstGeom>
        </p:spPr>
      </p:sp>
      <p:sp>
        <p:nvSpPr>
          <p:cNvPr id="602" name="PlaceHolder 2"/>
          <p:cNvSpPr>
            <a:spLocks noGrp="1"/>
          </p:cNvSpPr>
          <p:nvPr>
            <p:ph type="body"/>
          </p:nvPr>
        </p:nvSpPr>
        <p:spPr>
          <a:xfrm>
            <a:off x="670680" y="4675320"/>
            <a:ext cx="5364000" cy="4428720"/>
          </a:xfrm>
          <a:prstGeom prst="rect">
            <a:avLst/>
          </a:prstGeom>
        </p:spPr>
        <p:txBody>
          <a:bodyPr>
            <a:noAutofit/>
          </a:bodyPr>
          <a:p>
            <a:endParaRPr b="0" lang="fr-FR" sz="2000" spc="-1" strike="noStrike">
              <a:latin typeface="Arial"/>
            </a:endParaRPr>
          </a:p>
        </p:txBody>
      </p:sp>
      <p:sp>
        <p:nvSpPr>
          <p:cNvPr id="603" name="TextShape 3"/>
          <p:cNvSpPr txBox="1"/>
          <p:nvPr/>
        </p:nvSpPr>
        <p:spPr>
          <a:xfrm>
            <a:off x="3798360" y="9348840"/>
            <a:ext cx="2905560" cy="491760"/>
          </a:xfrm>
          <a:prstGeom prst="rect">
            <a:avLst/>
          </a:prstGeom>
          <a:noFill/>
          <a:ln>
            <a:noFill/>
          </a:ln>
        </p:spPr>
        <p:txBody>
          <a:bodyPr anchor="b">
            <a:noAutofit/>
          </a:bodyPr>
          <a:p>
            <a:pPr algn="r">
              <a:lnSpc>
                <a:spcPct val="100000"/>
              </a:lnSpc>
            </a:pPr>
            <a:fld id="{BED1C671-A6C4-4D10-B25B-FD7806C3928A}" type="slidenum">
              <a:rPr b="0" lang="fr-FR" sz="1200" spc="-1" strike="noStrike">
                <a:latin typeface="Times New Roman"/>
              </a:rPr>
              <a:t>&lt;number&gt;</a:t>
            </a:fld>
            <a:endParaRPr b="0" lang="fr-FR" sz="1200" spc="-1" strike="noStrike">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6" name="PlaceHolder 1"/>
          <p:cNvSpPr>
            <a:spLocks noGrp="1"/>
          </p:cNvSpPr>
          <p:nvPr>
            <p:ph type="title"/>
          </p:nvPr>
        </p:nvSpPr>
        <p:spPr>
          <a:xfrm>
            <a:off x="1619640" y="2835000"/>
            <a:ext cx="5904720" cy="1259640"/>
          </a:xfrm>
          <a:prstGeom prst="rect">
            <a:avLst/>
          </a:prstGeom>
        </p:spPr>
        <p:txBody>
          <a:bodyPr lIns="0" rIns="0" tIns="0" bIns="0" anchor="ctr">
            <a:noAutofit/>
          </a:bodyPr>
          <a:p>
            <a:endParaRPr b="0" lang="fr-FR" sz="1800" spc="-1" strike="noStrike">
              <a:solidFill>
                <a:srgbClr val="000000"/>
              </a:solidFill>
              <a:latin typeface="Calibri"/>
            </a:endParaRPr>
          </a:p>
        </p:txBody>
      </p:sp>
      <p:sp>
        <p:nvSpPr>
          <p:cNvPr id="7" name="PlaceHolder 2"/>
          <p:cNvSpPr>
            <a:spLocks noGrp="1"/>
          </p:cNvSpPr>
          <p:nvPr>
            <p:ph type="subTitle"/>
          </p:nvPr>
        </p:nvSpPr>
        <p:spPr>
          <a:xfrm>
            <a:off x="5004000" y="5661360"/>
            <a:ext cx="3598920" cy="791640"/>
          </a:xfrm>
          <a:prstGeom prst="rect">
            <a:avLst/>
          </a:prstGeom>
        </p:spPr>
        <p:txBody>
          <a:bodyPr lIns="0" rIns="0" tIns="0" bIns="0" anchor="ctr">
            <a:noAutofit/>
          </a:bodyPr>
          <a:p>
            <a:pPr algn="ctr"/>
            <a:endParaRPr b="0" lang="fr-FR" sz="3200" spc="-1" strike="noStrike">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8" name="PlaceHolder 1"/>
          <p:cNvSpPr>
            <a:spLocks noGrp="1"/>
          </p:cNvSpPr>
          <p:nvPr>
            <p:ph type="title"/>
          </p:nvPr>
        </p:nvSpPr>
        <p:spPr>
          <a:xfrm>
            <a:off x="1619640" y="2835000"/>
            <a:ext cx="5904720" cy="1259640"/>
          </a:xfrm>
          <a:prstGeom prst="rect">
            <a:avLst/>
          </a:prstGeom>
        </p:spPr>
        <p:txBody>
          <a:bodyPr lIns="0" rIns="0" tIns="0" bIns="0" anchor="ctr">
            <a:noAutofit/>
          </a:bodyPr>
          <a:p>
            <a:endParaRPr b="0" lang="fr-FR" sz="1800" spc="-1" strike="noStrike">
              <a:solidFill>
                <a:srgbClr val="000000"/>
              </a:solidFill>
              <a:latin typeface="Calibri"/>
            </a:endParaRPr>
          </a:p>
        </p:txBody>
      </p:sp>
      <p:sp>
        <p:nvSpPr>
          <p:cNvPr id="9" name="PlaceHolder 2"/>
          <p:cNvSpPr>
            <a:spLocks noGrp="1"/>
          </p:cNvSpPr>
          <p:nvPr>
            <p:ph type="body"/>
          </p:nvPr>
        </p:nvSpPr>
        <p:spPr>
          <a:xfrm>
            <a:off x="5004000" y="5661360"/>
            <a:ext cx="3598920" cy="791640"/>
          </a:xfrm>
          <a:prstGeom prst="rect">
            <a:avLst/>
          </a:prstGeom>
        </p:spPr>
        <p:txBody>
          <a:bodyPr lIns="0" rIns="0" tIns="0" bIns="0">
            <a:normAutofit/>
          </a:bodyPr>
          <a:p>
            <a:endParaRPr b="0" lang="fr-FR" sz="2600" spc="-1" strike="noStrike">
              <a:solidFill>
                <a:srgbClr val="205aa7"/>
              </a:solidFill>
              <a:latin typeface="Calibri"/>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0" name="PlaceHolder 1"/>
          <p:cNvSpPr>
            <a:spLocks noGrp="1"/>
          </p:cNvSpPr>
          <p:nvPr>
            <p:ph type="title"/>
          </p:nvPr>
        </p:nvSpPr>
        <p:spPr>
          <a:xfrm>
            <a:off x="1619640" y="2835000"/>
            <a:ext cx="5904720" cy="1259640"/>
          </a:xfrm>
          <a:prstGeom prst="rect">
            <a:avLst/>
          </a:prstGeom>
        </p:spPr>
        <p:txBody>
          <a:bodyPr lIns="0" rIns="0" tIns="0" bIns="0" anchor="ctr">
            <a:noAutofit/>
          </a:bodyPr>
          <a:p>
            <a:endParaRPr b="0" lang="fr-FR" sz="1800" spc="-1" strike="noStrike">
              <a:solidFill>
                <a:srgbClr val="000000"/>
              </a:solidFill>
              <a:latin typeface="Calibri"/>
            </a:endParaRPr>
          </a:p>
        </p:txBody>
      </p:sp>
      <p:sp>
        <p:nvSpPr>
          <p:cNvPr id="11" name="PlaceHolder 2"/>
          <p:cNvSpPr>
            <a:spLocks noGrp="1"/>
          </p:cNvSpPr>
          <p:nvPr>
            <p:ph type="body"/>
          </p:nvPr>
        </p:nvSpPr>
        <p:spPr>
          <a:xfrm>
            <a:off x="5004000" y="5661360"/>
            <a:ext cx="1756080" cy="791640"/>
          </a:xfrm>
          <a:prstGeom prst="rect">
            <a:avLst/>
          </a:prstGeom>
        </p:spPr>
        <p:txBody>
          <a:bodyPr lIns="0" rIns="0" tIns="0" bIns="0">
            <a:normAutofit fontScale="55000"/>
          </a:bodyPr>
          <a:p>
            <a:endParaRPr b="0" lang="fr-FR" sz="2600" spc="-1" strike="noStrike">
              <a:solidFill>
                <a:srgbClr val="205aa7"/>
              </a:solidFill>
              <a:latin typeface="Calibri"/>
            </a:endParaRPr>
          </a:p>
        </p:txBody>
      </p:sp>
      <p:sp>
        <p:nvSpPr>
          <p:cNvPr id="12" name="PlaceHolder 3"/>
          <p:cNvSpPr>
            <a:spLocks noGrp="1"/>
          </p:cNvSpPr>
          <p:nvPr>
            <p:ph type="body"/>
          </p:nvPr>
        </p:nvSpPr>
        <p:spPr>
          <a:xfrm>
            <a:off x="6848280" y="5661360"/>
            <a:ext cx="1756080" cy="791640"/>
          </a:xfrm>
          <a:prstGeom prst="rect">
            <a:avLst/>
          </a:prstGeom>
        </p:spPr>
        <p:txBody>
          <a:bodyPr lIns="0" rIns="0" tIns="0" bIns="0">
            <a:normAutofit fontScale="55000"/>
          </a:bodyPr>
          <a:p>
            <a:endParaRPr b="0" lang="fr-FR" sz="2600" spc="-1" strike="noStrike">
              <a:solidFill>
                <a:srgbClr val="205aa7"/>
              </a:solidFill>
              <a:latin typeface="Calibri"/>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3" name="PlaceHolder 1"/>
          <p:cNvSpPr>
            <a:spLocks noGrp="1"/>
          </p:cNvSpPr>
          <p:nvPr>
            <p:ph type="title"/>
          </p:nvPr>
        </p:nvSpPr>
        <p:spPr>
          <a:xfrm>
            <a:off x="1619640" y="2835000"/>
            <a:ext cx="5904720" cy="1259640"/>
          </a:xfrm>
          <a:prstGeom prst="rect">
            <a:avLst/>
          </a:prstGeom>
        </p:spPr>
        <p:txBody>
          <a:bodyPr lIns="0" rIns="0" tIns="0" bIns="0" anchor="ctr">
            <a:noAutofit/>
          </a:bodyPr>
          <a:p>
            <a:endParaRPr b="0" lang="fr-FR" sz="1800" spc="-1" strike="noStrike">
              <a:solidFill>
                <a:srgbClr val="000000"/>
              </a:solidFill>
              <a:latin typeface="Calibri"/>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4" name="PlaceHolder 1"/>
          <p:cNvSpPr>
            <a:spLocks noGrp="1"/>
          </p:cNvSpPr>
          <p:nvPr>
            <p:ph type="subTitle"/>
          </p:nvPr>
        </p:nvSpPr>
        <p:spPr>
          <a:xfrm>
            <a:off x="1619640" y="2835000"/>
            <a:ext cx="5904720" cy="5840280"/>
          </a:xfrm>
          <a:prstGeom prst="rect">
            <a:avLst/>
          </a:prstGeom>
        </p:spPr>
        <p:txBody>
          <a:bodyPr lIns="0" rIns="0" tIns="0" bIns="0" anchor="ctr">
            <a:noAutofit/>
          </a:bodyPr>
          <a:p>
            <a:pPr algn="ctr"/>
            <a:endParaRPr b="0" lang="fr-FR" sz="3200" spc="-1" strike="noStrike">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1619640" y="2835000"/>
            <a:ext cx="5904720" cy="1259640"/>
          </a:xfrm>
          <a:prstGeom prst="rect">
            <a:avLst/>
          </a:prstGeom>
        </p:spPr>
        <p:txBody>
          <a:bodyPr lIns="0" rIns="0" tIns="0" bIns="0" anchor="ctr">
            <a:noAutofit/>
          </a:bodyPr>
          <a:p>
            <a:endParaRPr b="0" lang="fr-FR" sz="1800" spc="-1" strike="noStrike">
              <a:solidFill>
                <a:srgbClr val="000000"/>
              </a:solidFill>
              <a:latin typeface="Calibri"/>
            </a:endParaRPr>
          </a:p>
        </p:txBody>
      </p:sp>
      <p:sp>
        <p:nvSpPr>
          <p:cNvPr id="16" name="PlaceHolder 2"/>
          <p:cNvSpPr>
            <a:spLocks noGrp="1"/>
          </p:cNvSpPr>
          <p:nvPr>
            <p:ph type="body"/>
          </p:nvPr>
        </p:nvSpPr>
        <p:spPr>
          <a:xfrm>
            <a:off x="5004000" y="5661360"/>
            <a:ext cx="1756080" cy="377280"/>
          </a:xfrm>
          <a:prstGeom prst="rect">
            <a:avLst/>
          </a:prstGeom>
        </p:spPr>
        <p:txBody>
          <a:bodyPr lIns="0" rIns="0" tIns="0" bIns="0">
            <a:normAutofit fontScale="18000"/>
          </a:bodyPr>
          <a:p>
            <a:endParaRPr b="0" lang="fr-FR" sz="2600" spc="-1" strike="noStrike">
              <a:solidFill>
                <a:srgbClr val="205aa7"/>
              </a:solidFill>
              <a:latin typeface="Calibri"/>
            </a:endParaRPr>
          </a:p>
        </p:txBody>
      </p:sp>
      <p:sp>
        <p:nvSpPr>
          <p:cNvPr id="17" name="PlaceHolder 3"/>
          <p:cNvSpPr>
            <a:spLocks noGrp="1"/>
          </p:cNvSpPr>
          <p:nvPr>
            <p:ph type="body"/>
          </p:nvPr>
        </p:nvSpPr>
        <p:spPr>
          <a:xfrm>
            <a:off x="6848280" y="5661360"/>
            <a:ext cx="1756080" cy="791640"/>
          </a:xfrm>
          <a:prstGeom prst="rect">
            <a:avLst/>
          </a:prstGeom>
        </p:spPr>
        <p:txBody>
          <a:bodyPr lIns="0" rIns="0" tIns="0" bIns="0">
            <a:normAutofit fontScale="55000"/>
          </a:bodyPr>
          <a:p>
            <a:endParaRPr b="0" lang="fr-FR" sz="2600" spc="-1" strike="noStrike">
              <a:solidFill>
                <a:srgbClr val="205aa7"/>
              </a:solidFill>
              <a:latin typeface="Calibri"/>
            </a:endParaRPr>
          </a:p>
        </p:txBody>
      </p:sp>
      <p:sp>
        <p:nvSpPr>
          <p:cNvPr id="18" name="PlaceHolder 4"/>
          <p:cNvSpPr>
            <a:spLocks noGrp="1"/>
          </p:cNvSpPr>
          <p:nvPr>
            <p:ph type="body"/>
          </p:nvPr>
        </p:nvSpPr>
        <p:spPr>
          <a:xfrm>
            <a:off x="5004000" y="6075000"/>
            <a:ext cx="1756080" cy="377280"/>
          </a:xfrm>
          <a:prstGeom prst="rect">
            <a:avLst/>
          </a:prstGeom>
        </p:spPr>
        <p:txBody>
          <a:bodyPr lIns="0" rIns="0" tIns="0" bIns="0">
            <a:normAutofit fontScale="18000"/>
          </a:bodyPr>
          <a:p>
            <a:endParaRPr b="0" lang="fr-FR" sz="2600" spc="-1" strike="noStrike">
              <a:solidFill>
                <a:srgbClr val="205aa7"/>
              </a:solidFill>
              <a:latin typeface="Calibri"/>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1619640" y="2835000"/>
            <a:ext cx="5904720" cy="1259640"/>
          </a:xfrm>
          <a:prstGeom prst="rect">
            <a:avLst/>
          </a:prstGeom>
        </p:spPr>
        <p:txBody>
          <a:bodyPr lIns="0" rIns="0" tIns="0" bIns="0" anchor="ctr">
            <a:noAutofit/>
          </a:bodyPr>
          <a:p>
            <a:endParaRPr b="0" lang="fr-FR" sz="1800" spc="-1" strike="noStrike">
              <a:solidFill>
                <a:srgbClr val="000000"/>
              </a:solidFill>
              <a:latin typeface="Calibri"/>
            </a:endParaRPr>
          </a:p>
        </p:txBody>
      </p:sp>
      <p:sp>
        <p:nvSpPr>
          <p:cNvPr id="20" name="PlaceHolder 2"/>
          <p:cNvSpPr>
            <a:spLocks noGrp="1"/>
          </p:cNvSpPr>
          <p:nvPr>
            <p:ph type="body"/>
          </p:nvPr>
        </p:nvSpPr>
        <p:spPr>
          <a:xfrm>
            <a:off x="5004000" y="5661360"/>
            <a:ext cx="1756080" cy="791640"/>
          </a:xfrm>
          <a:prstGeom prst="rect">
            <a:avLst/>
          </a:prstGeom>
        </p:spPr>
        <p:txBody>
          <a:bodyPr lIns="0" rIns="0" tIns="0" bIns="0">
            <a:normAutofit fontScale="55000"/>
          </a:bodyPr>
          <a:p>
            <a:endParaRPr b="0" lang="fr-FR" sz="2600" spc="-1" strike="noStrike">
              <a:solidFill>
                <a:srgbClr val="205aa7"/>
              </a:solidFill>
              <a:latin typeface="Calibri"/>
            </a:endParaRPr>
          </a:p>
        </p:txBody>
      </p:sp>
      <p:sp>
        <p:nvSpPr>
          <p:cNvPr id="21" name="PlaceHolder 3"/>
          <p:cNvSpPr>
            <a:spLocks noGrp="1"/>
          </p:cNvSpPr>
          <p:nvPr>
            <p:ph type="body"/>
          </p:nvPr>
        </p:nvSpPr>
        <p:spPr>
          <a:xfrm>
            <a:off x="6848280" y="5661360"/>
            <a:ext cx="1756080" cy="377280"/>
          </a:xfrm>
          <a:prstGeom prst="rect">
            <a:avLst/>
          </a:prstGeom>
        </p:spPr>
        <p:txBody>
          <a:bodyPr lIns="0" rIns="0" tIns="0" bIns="0">
            <a:normAutofit fontScale="18000"/>
          </a:bodyPr>
          <a:p>
            <a:endParaRPr b="0" lang="fr-FR" sz="2600" spc="-1" strike="noStrike">
              <a:solidFill>
                <a:srgbClr val="205aa7"/>
              </a:solidFill>
              <a:latin typeface="Calibri"/>
            </a:endParaRPr>
          </a:p>
        </p:txBody>
      </p:sp>
      <p:sp>
        <p:nvSpPr>
          <p:cNvPr id="22" name="PlaceHolder 4"/>
          <p:cNvSpPr>
            <a:spLocks noGrp="1"/>
          </p:cNvSpPr>
          <p:nvPr>
            <p:ph type="body"/>
          </p:nvPr>
        </p:nvSpPr>
        <p:spPr>
          <a:xfrm>
            <a:off x="6848280" y="6075000"/>
            <a:ext cx="1756080" cy="377280"/>
          </a:xfrm>
          <a:prstGeom prst="rect">
            <a:avLst/>
          </a:prstGeom>
        </p:spPr>
        <p:txBody>
          <a:bodyPr lIns="0" rIns="0" tIns="0" bIns="0">
            <a:normAutofit fontScale="18000"/>
          </a:bodyPr>
          <a:p>
            <a:endParaRPr b="0" lang="fr-FR" sz="2600" spc="-1" strike="noStrike">
              <a:solidFill>
                <a:srgbClr val="205aa7"/>
              </a:solidFill>
              <a:latin typeface="Calibri"/>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1619640" y="2835000"/>
            <a:ext cx="5904720" cy="1259640"/>
          </a:xfrm>
          <a:prstGeom prst="rect">
            <a:avLst/>
          </a:prstGeom>
        </p:spPr>
        <p:txBody>
          <a:bodyPr lIns="0" rIns="0" tIns="0" bIns="0" anchor="ctr">
            <a:noAutofit/>
          </a:bodyPr>
          <a:p>
            <a:endParaRPr b="0" lang="fr-FR" sz="1800" spc="-1" strike="noStrike">
              <a:solidFill>
                <a:srgbClr val="000000"/>
              </a:solidFill>
              <a:latin typeface="Calibri"/>
            </a:endParaRPr>
          </a:p>
        </p:txBody>
      </p:sp>
      <p:sp>
        <p:nvSpPr>
          <p:cNvPr id="24" name="PlaceHolder 2"/>
          <p:cNvSpPr>
            <a:spLocks noGrp="1"/>
          </p:cNvSpPr>
          <p:nvPr>
            <p:ph type="body"/>
          </p:nvPr>
        </p:nvSpPr>
        <p:spPr>
          <a:xfrm>
            <a:off x="5004000" y="5661360"/>
            <a:ext cx="1756080" cy="377280"/>
          </a:xfrm>
          <a:prstGeom prst="rect">
            <a:avLst/>
          </a:prstGeom>
        </p:spPr>
        <p:txBody>
          <a:bodyPr lIns="0" rIns="0" tIns="0" bIns="0">
            <a:normAutofit fontScale="18000"/>
          </a:bodyPr>
          <a:p>
            <a:endParaRPr b="0" lang="fr-FR" sz="2600" spc="-1" strike="noStrike">
              <a:solidFill>
                <a:srgbClr val="205aa7"/>
              </a:solidFill>
              <a:latin typeface="Calibri"/>
            </a:endParaRPr>
          </a:p>
        </p:txBody>
      </p:sp>
      <p:sp>
        <p:nvSpPr>
          <p:cNvPr id="25" name="PlaceHolder 3"/>
          <p:cNvSpPr>
            <a:spLocks noGrp="1"/>
          </p:cNvSpPr>
          <p:nvPr>
            <p:ph type="body"/>
          </p:nvPr>
        </p:nvSpPr>
        <p:spPr>
          <a:xfrm>
            <a:off x="6848280" y="5661360"/>
            <a:ext cx="1756080" cy="377280"/>
          </a:xfrm>
          <a:prstGeom prst="rect">
            <a:avLst/>
          </a:prstGeom>
        </p:spPr>
        <p:txBody>
          <a:bodyPr lIns="0" rIns="0" tIns="0" bIns="0">
            <a:normAutofit fontScale="18000"/>
          </a:bodyPr>
          <a:p>
            <a:endParaRPr b="0" lang="fr-FR" sz="2600" spc="-1" strike="noStrike">
              <a:solidFill>
                <a:srgbClr val="205aa7"/>
              </a:solidFill>
              <a:latin typeface="Calibri"/>
            </a:endParaRPr>
          </a:p>
        </p:txBody>
      </p:sp>
      <p:sp>
        <p:nvSpPr>
          <p:cNvPr id="26" name="PlaceHolder 4"/>
          <p:cNvSpPr>
            <a:spLocks noGrp="1"/>
          </p:cNvSpPr>
          <p:nvPr>
            <p:ph type="body"/>
          </p:nvPr>
        </p:nvSpPr>
        <p:spPr>
          <a:xfrm>
            <a:off x="5004000" y="6075000"/>
            <a:ext cx="3598920" cy="377280"/>
          </a:xfrm>
          <a:prstGeom prst="rect">
            <a:avLst/>
          </a:prstGeom>
        </p:spPr>
        <p:txBody>
          <a:bodyPr lIns="0" rIns="0" tIns="0" bIns="0">
            <a:normAutofit fontScale="97000"/>
          </a:bodyPr>
          <a:p>
            <a:endParaRPr b="0" lang="fr-FR" sz="2600" spc="-1" strike="noStrike">
              <a:solidFill>
                <a:srgbClr val="205aa7"/>
              </a:solidFill>
              <a:latin typeface="Calibri"/>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7" name="PlaceHolder 1"/>
          <p:cNvSpPr>
            <a:spLocks noGrp="1"/>
          </p:cNvSpPr>
          <p:nvPr>
            <p:ph type="title"/>
          </p:nvPr>
        </p:nvSpPr>
        <p:spPr>
          <a:xfrm>
            <a:off x="1619640" y="2835000"/>
            <a:ext cx="5904720" cy="1259640"/>
          </a:xfrm>
          <a:prstGeom prst="rect">
            <a:avLst/>
          </a:prstGeom>
        </p:spPr>
        <p:txBody>
          <a:bodyPr lIns="0" rIns="0" tIns="0" bIns="0" anchor="ctr">
            <a:noAutofit/>
          </a:bodyPr>
          <a:p>
            <a:endParaRPr b="0" lang="fr-FR" sz="1800" spc="-1" strike="noStrike">
              <a:solidFill>
                <a:srgbClr val="000000"/>
              </a:solidFill>
              <a:latin typeface="Calibri"/>
            </a:endParaRPr>
          </a:p>
        </p:txBody>
      </p:sp>
      <p:sp>
        <p:nvSpPr>
          <p:cNvPr id="28" name="PlaceHolder 2"/>
          <p:cNvSpPr>
            <a:spLocks noGrp="1"/>
          </p:cNvSpPr>
          <p:nvPr>
            <p:ph type="body"/>
          </p:nvPr>
        </p:nvSpPr>
        <p:spPr>
          <a:xfrm>
            <a:off x="5004000" y="5661360"/>
            <a:ext cx="3598920" cy="377280"/>
          </a:xfrm>
          <a:prstGeom prst="rect">
            <a:avLst/>
          </a:prstGeom>
        </p:spPr>
        <p:txBody>
          <a:bodyPr lIns="0" rIns="0" tIns="0" bIns="0">
            <a:normAutofit fontScale="97000"/>
          </a:bodyPr>
          <a:p>
            <a:endParaRPr b="0" lang="fr-FR" sz="2600" spc="-1" strike="noStrike">
              <a:solidFill>
                <a:srgbClr val="205aa7"/>
              </a:solidFill>
              <a:latin typeface="Calibri"/>
            </a:endParaRPr>
          </a:p>
        </p:txBody>
      </p:sp>
      <p:sp>
        <p:nvSpPr>
          <p:cNvPr id="29" name="PlaceHolder 3"/>
          <p:cNvSpPr>
            <a:spLocks noGrp="1"/>
          </p:cNvSpPr>
          <p:nvPr>
            <p:ph type="body"/>
          </p:nvPr>
        </p:nvSpPr>
        <p:spPr>
          <a:xfrm>
            <a:off x="5004000" y="6075000"/>
            <a:ext cx="3598920" cy="377280"/>
          </a:xfrm>
          <a:prstGeom prst="rect">
            <a:avLst/>
          </a:prstGeom>
        </p:spPr>
        <p:txBody>
          <a:bodyPr lIns="0" rIns="0" tIns="0" bIns="0">
            <a:normAutofit fontScale="97000"/>
          </a:bodyPr>
          <a:p>
            <a:endParaRPr b="0" lang="fr-FR" sz="2600" spc="-1" strike="noStrike">
              <a:solidFill>
                <a:srgbClr val="205aa7"/>
              </a:solidFill>
              <a:latin typeface="Calibri"/>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0" name="PlaceHolder 1"/>
          <p:cNvSpPr>
            <a:spLocks noGrp="1"/>
          </p:cNvSpPr>
          <p:nvPr>
            <p:ph type="title"/>
          </p:nvPr>
        </p:nvSpPr>
        <p:spPr>
          <a:xfrm>
            <a:off x="1619640" y="2835000"/>
            <a:ext cx="5904720" cy="1259640"/>
          </a:xfrm>
          <a:prstGeom prst="rect">
            <a:avLst/>
          </a:prstGeom>
        </p:spPr>
        <p:txBody>
          <a:bodyPr lIns="0" rIns="0" tIns="0" bIns="0" anchor="ctr">
            <a:noAutofit/>
          </a:bodyPr>
          <a:p>
            <a:endParaRPr b="0" lang="fr-FR" sz="1800" spc="-1" strike="noStrike">
              <a:solidFill>
                <a:srgbClr val="000000"/>
              </a:solidFill>
              <a:latin typeface="Calibri"/>
            </a:endParaRPr>
          </a:p>
        </p:txBody>
      </p:sp>
      <p:sp>
        <p:nvSpPr>
          <p:cNvPr id="31" name="PlaceHolder 2"/>
          <p:cNvSpPr>
            <a:spLocks noGrp="1"/>
          </p:cNvSpPr>
          <p:nvPr>
            <p:ph type="body"/>
          </p:nvPr>
        </p:nvSpPr>
        <p:spPr>
          <a:xfrm>
            <a:off x="5004000" y="5661360"/>
            <a:ext cx="1756080" cy="377280"/>
          </a:xfrm>
          <a:prstGeom prst="rect">
            <a:avLst/>
          </a:prstGeom>
        </p:spPr>
        <p:txBody>
          <a:bodyPr lIns="0" rIns="0" tIns="0" bIns="0">
            <a:normAutofit fontScale="18000"/>
          </a:bodyPr>
          <a:p>
            <a:endParaRPr b="0" lang="fr-FR" sz="2600" spc="-1" strike="noStrike">
              <a:solidFill>
                <a:srgbClr val="205aa7"/>
              </a:solidFill>
              <a:latin typeface="Calibri"/>
            </a:endParaRPr>
          </a:p>
        </p:txBody>
      </p:sp>
      <p:sp>
        <p:nvSpPr>
          <p:cNvPr id="32" name="PlaceHolder 3"/>
          <p:cNvSpPr>
            <a:spLocks noGrp="1"/>
          </p:cNvSpPr>
          <p:nvPr>
            <p:ph type="body"/>
          </p:nvPr>
        </p:nvSpPr>
        <p:spPr>
          <a:xfrm>
            <a:off x="6848280" y="5661360"/>
            <a:ext cx="1756080" cy="377280"/>
          </a:xfrm>
          <a:prstGeom prst="rect">
            <a:avLst/>
          </a:prstGeom>
        </p:spPr>
        <p:txBody>
          <a:bodyPr lIns="0" rIns="0" tIns="0" bIns="0">
            <a:normAutofit fontScale="18000"/>
          </a:bodyPr>
          <a:p>
            <a:endParaRPr b="0" lang="fr-FR" sz="2600" spc="-1" strike="noStrike">
              <a:solidFill>
                <a:srgbClr val="205aa7"/>
              </a:solidFill>
              <a:latin typeface="Calibri"/>
            </a:endParaRPr>
          </a:p>
        </p:txBody>
      </p:sp>
      <p:sp>
        <p:nvSpPr>
          <p:cNvPr id="33" name="PlaceHolder 4"/>
          <p:cNvSpPr>
            <a:spLocks noGrp="1"/>
          </p:cNvSpPr>
          <p:nvPr>
            <p:ph type="body"/>
          </p:nvPr>
        </p:nvSpPr>
        <p:spPr>
          <a:xfrm>
            <a:off x="5004000" y="6075000"/>
            <a:ext cx="1756080" cy="377280"/>
          </a:xfrm>
          <a:prstGeom prst="rect">
            <a:avLst/>
          </a:prstGeom>
        </p:spPr>
        <p:txBody>
          <a:bodyPr lIns="0" rIns="0" tIns="0" bIns="0">
            <a:normAutofit fontScale="18000"/>
          </a:bodyPr>
          <a:p>
            <a:endParaRPr b="0" lang="fr-FR" sz="2600" spc="-1" strike="noStrike">
              <a:solidFill>
                <a:srgbClr val="205aa7"/>
              </a:solidFill>
              <a:latin typeface="Calibri"/>
            </a:endParaRPr>
          </a:p>
        </p:txBody>
      </p:sp>
      <p:sp>
        <p:nvSpPr>
          <p:cNvPr id="34" name="PlaceHolder 5"/>
          <p:cNvSpPr>
            <a:spLocks noGrp="1"/>
          </p:cNvSpPr>
          <p:nvPr>
            <p:ph type="body"/>
          </p:nvPr>
        </p:nvSpPr>
        <p:spPr>
          <a:xfrm>
            <a:off x="6848280" y="6075000"/>
            <a:ext cx="1756080" cy="377280"/>
          </a:xfrm>
          <a:prstGeom prst="rect">
            <a:avLst/>
          </a:prstGeom>
        </p:spPr>
        <p:txBody>
          <a:bodyPr lIns="0" rIns="0" tIns="0" bIns="0">
            <a:normAutofit fontScale="18000"/>
          </a:bodyPr>
          <a:p>
            <a:endParaRPr b="0" lang="fr-FR" sz="2600" spc="-1" strike="noStrike">
              <a:solidFill>
                <a:srgbClr val="205aa7"/>
              </a:solidFill>
              <a:latin typeface="Calibri"/>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5" name="PlaceHolder 1"/>
          <p:cNvSpPr>
            <a:spLocks noGrp="1"/>
          </p:cNvSpPr>
          <p:nvPr>
            <p:ph type="title"/>
          </p:nvPr>
        </p:nvSpPr>
        <p:spPr>
          <a:xfrm>
            <a:off x="1619640" y="2835000"/>
            <a:ext cx="5904720" cy="1259640"/>
          </a:xfrm>
          <a:prstGeom prst="rect">
            <a:avLst/>
          </a:prstGeom>
        </p:spPr>
        <p:txBody>
          <a:bodyPr lIns="0" rIns="0" tIns="0" bIns="0" anchor="ctr">
            <a:noAutofit/>
          </a:bodyPr>
          <a:p>
            <a:endParaRPr b="0" lang="fr-FR" sz="1800" spc="-1" strike="noStrike">
              <a:solidFill>
                <a:srgbClr val="000000"/>
              </a:solidFill>
              <a:latin typeface="Calibri"/>
            </a:endParaRPr>
          </a:p>
        </p:txBody>
      </p:sp>
      <p:sp>
        <p:nvSpPr>
          <p:cNvPr id="36" name="PlaceHolder 2"/>
          <p:cNvSpPr>
            <a:spLocks noGrp="1"/>
          </p:cNvSpPr>
          <p:nvPr>
            <p:ph type="body"/>
          </p:nvPr>
        </p:nvSpPr>
        <p:spPr>
          <a:xfrm>
            <a:off x="5004000" y="5661360"/>
            <a:ext cx="1158480" cy="377280"/>
          </a:xfrm>
          <a:prstGeom prst="rect">
            <a:avLst/>
          </a:prstGeom>
        </p:spPr>
        <p:txBody>
          <a:bodyPr lIns="0" rIns="0" tIns="0" bIns="0">
            <a:normAutofit fontScale="11000"/>
          </a:bodyPr>
          <a:p>
            <a:endParaRPr b="0" lang="fr-FR" sz="2600" spc="-1" strike="noStrike">
              <a:solidFill>
                <a:srgbClr val="205aa7"/>
              </a:solidFill>
              <a:latin typeface="Calibri"/>
            </a:endParaRPr>
          </a:p>
        </p:txBody>
      </p:sp>
      <p:sp>
        <p:nvSpPr>
          <p:cNvPr id="37" name="PlaceHolder 3"/>
          <p:cNvSpPr>
            <a:spLocks noGrp="1"/>
          </p:cNvSpPr>
          <p:nvPr>
            <p:ph type="body"/>
          </p:nvPr>
        </p:nvSpPr>
        <p:spPr>
          <a:xfrm>
            <a:off x="6220800" y="5661360"/>
            <a:ext cx="1158480" cy="377280"/>
          </a:xfrm>
          <a:prstGeom prst="rect">
            <a:avLst/>
          </a:prstGeom>
        </p:spPr>
        <p:txBody>
          <a:bodyPr lIns="0" rIns="0" tIns="0" bIns="0">
            <a:normAutofit fontScale="11000"/>
          </a:bodyPr>
          <a:p>
            <a:endParaRPr b="0" lang="fr-FR" sz="2600" spc="-1" strike="noStrike">
              <a:solidFill>
                <a:srgbClr val="205aa7"/>
              </a:solidFill>
              <a:latin typeface="Calibri"/>
            </a:endParaRPr>
          </a:p>
        </p:txBody>
      </p:sp>
      <p:sp>
        <p:nvSpPr>
          <p:cNvPr id="38" name="PlaceHolder 4"/>
          <p:cNvSpPr>
            <a:spLocks noGrp="1"/>
          </p:cNvSpPr>
          <p:nvPr>
            <p:ph type="body"/>
          </p:nvPr>
        </p:nvSpPr>
        <p:spPr>
          <a:xfrm>
            <a:off x="7437600" y="5661360"/>
            <a:ext cx="1158480" cy="377280"/>
          </a:xfrm>
          <a:prstGeom prst="rect">
            <a:avLst/>
          </a:prstGeom>
        </p:spPr>
        <p:txBody>
          <a:bodyPr lIns="0" rIns="0" tIns="0" bIns="0">
            <a:normAutofit fontScale="11000"/>
          </a:bodyPr>
          <a:p>
            <a:endParaRPr b="0" lang="fr-FR" sz="2600" spc="-1" strike="noStrike">
              <a:solidFill>
                <a:srgbClr val="205aa7"/>
              </a:solidFill>
              <a:latin typeface="Calibri"/>
            </a:endParaRPr>
          </a:p>
        </p:txBody>
      </p:sp>
      <p:sp>
        <p:nvSpPr>
          <p:cNvPr id="39" name="PlaceHolder 5"/>
          <p:cNvSpPr>
            <a:spLocks noGrp="1"/>
          </p:cNvSpPr>
          <p:nvPr>
            <p:ph type="body"/>
          </p:nvPr>
        </p:nvSpPr>
        <p:spPr>
          <a:xfrm>
            <a:off x="5004000" y="6075000"/>
            <a:ext cx="1158480" cy="377280"/>
          </a:xfrm>
          <a:prstGeom prst="rect">
            <a:avLst/>
          </a:prstGeom>
        </p:spPr>
        <p:txBody>
          <a:bodyPr lIns="0" rIns="0" tIns="0" bIns="0">
            <a:normAutofit fontScale="11000"/>
          </a:bodyPr>
          <a:p>
            <a:endParaRPr b="0" lang="fr-FR" sz="2600" spc="-1" strike="noStrike">
              <a:solidFill>
                <a:srgbClr val="205aa7"/>
              </a:solidFill>
              <a:latin typeface="Calibri"/>
            </a:endParaRPr>
          </a:p>
        </p:txBody>
      </p:sp>
      <p:sp>
        <p:nvSpPr>
          <p:cNvPr id="40" name="PlaceHolder 6"/>
          <p:cNvSpPr>
            <a:spLocks noGrp="1"/>
          </p:cNvSpPr>
          <p:nvPr>
            <p:ph type="body"/>
          </p:nvPr>
        </p:nvSpPr>
        <p:spPr>
          <a:xfrm>
            <a:off x="6220800" y="6075000"/>
            <a:ext cx="1158480" cy="377280"/>
          </a:xfrm>
          <a:prstGeom prst="rect">
            <a:avLst/>
          </a:prstGeom>
        </p:spPr>
        <p:txBody>
          <a:bodyPr lIns="0" rIns="0" tIns="0" bIns="0">
            <a:normAutofit fontScale="11000"/>
          </a:bodyPr>
          <a:p>
            <a:endParaRPr b="0" lang="fr-FR" sz="2600" spc="-1" strike="noStrike">
              <a:solidFill>
                <a:srgbClr val="205aa7"/>
              </a:solidFill>
              <a:latin typeface="Calibri"/>
            </a:endParaRPr>
          </a:p>
        </p:txBody>
      </p:sp>
      <p:sp>
        <p:nvSpPr>
          <p:cNvPr id="41" name="PlaceHolder 7"/>
          <p:cNvSpPr>
            <a:spLocks noGrp="1"/>
          </p:cNvSpPr>
          <p:nvPr>
            <p:ph type="body"/>
          </p:nvPr>
        </p:nvSpPr>
        <p:spPr>
          <a:xfrm>
            <a:off x="7437600" y="6075000"/>
            <a:ext cx="1158480" cy="377280"/>
          </a:xfrm>
          <a:prstGeom prst="rect">
            <a:avLst/>
          </a:prstGeom>
        </p:spPr>
        <p:txBody>
          <a:bodyPr lIns="0" rIns="0" tIns="0" bIns="0">
            <a:normAutofit fontScale="11000"/>
          </a:bodyPr>
          <a:p>
            <a:endParaRPr b="0" lang="fr-FR" sz="2600" spc="-1" strike="noStrike">
              <a:solidFill>
                <a:srgbClr val="205aa7"/>
              </a:solidFill>
              <a:latin typeface="Calibri"/>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48" name="PlaceHolder 1"/>
          <p:cNvSpPr>
            <a:spLocks noGrp="1"/>
          </p:cNvSpPr>
          <p:nvPr>
            <p:ph type="title"/>
          </p:nvPr>
        </p:nvSpPr>
        <p:spPr>
          <a:xfrm>
            <a:off x="1619640" y="2835000"/>
            <a:ext cx="5904720" cy="1259640"/>
          </a:xfrm>
          <a:prstGeom prst="rect">
            <a:avLst/>
          </a:prstGeom>
        </p:spPr>
        <p:txBody>
          <a:bodyPr lIns="0" rIns="0" tIns="0" bIns="0" anchor="ctr">
            <a:noAutofit/>
          </a:bodyPr>
          <a:p>
            <a:endParaRPr b="0" lang="fr-FR" sz="1800" spc="-1" strike="noStrike">
              <a:solidFill>
                <a:srgbClr val="000000"/>
              </a:solidFill>
              <a:latin typeface="Calibri"/>
            </a:endParaRPr>
          </a:p>
        </p:txBody>
      </p:sp>
      <p:sp>
        <p:nvSpPr>
          <p:cNvPr id="49" name="PlaceHolder 2"/>
          <p:cNvSpPr>
            <a:spLocks noGrp="1"/>
          </p:cNvSpPr>
          <p:nvPr>
            <p:ph type="subTitle"/>
          </p:nvPr>
        </p:nvSpPr>
        <p:spPr>
          <a:xfrm>
            <a:off x="5004000" y="5661360"/>
            <a:ext cx="3598920" cy="791640"/>
          </a:xfrm>
          <a:prstGeom prst="rect">
            <a:avLst/>
          </a:prstGeom>
        </p:spPr>
        <p:txBody>
          <a:bodyPr lIns="0" rIns="0" tIns="0" bIns="0" anchor="ctr">
            <a:noAutofit/>
          </a:bodyPr>
          <a:p>
            <a:pPr algn="ctr"/>
            <a:endParaRPr b="0" lang="fr-FR" sz="3200" spc="-1" strike="noStrike">
              <a:latin typeface="Arial"/>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50" name="PlaceHolder 1"/>
          <p:cNvSpPr>
            <a:spLocks noGrp="1"/>
          </p:cNvSpPr>
          <p:nvPr>
            <p:ph type="title"/>
          </p:nvPr>
        </p:nvSpPr>
        <p:spPr>
          <a:xfrm>
            <a:off x="1619640" y="2835000"/>
            <a:ext cx="5904720" cy="1259640"/>
          </a:xfrm>
          <a:prstGeom prst="rect">
            <a:avLst/>
          </a:prstGeom>
        </p:spPr>
        <p:txBody>
          <a:bodyPr lIns="0" rIns="0" tIns="0" bIns="0" anchor="ctr">
            <a:noAutofit/>
          </a:bodyPr>
          <a:p>
            <a:endParaRPr b="0" lang="fr-FR" sz="1800" spc="-1" strike="noStrike">
              <a:solidFill>
                <a:srgbClr val="000000"/>
              </a:solidFill>
              <a:latin typeface="Calibri"/>
            </a:endParaRPr>
          </a:p>
        </p:txBody>
      </p:sp>
      <p:sp>
        <p:nvSpPr>
          <p:cNvPr id="51" name="PlaceHolder 2"/>
          <p:cNvSpPr>
            <a:spLocks noGrp="1"/>
          </p:cNvSpPr>
          <p:nvPr>
            <p:ph type="body"/>
          </p:nvPr>
        </p:nvSpPr>
        <p:spPr>
          <a:xfrm>
            <a:off x="5004000" y="5661360"/>
            <a:ext cx="3598920" cy="791640"/>
          </a:xfrm>
          <a:prstGeom prst="rect">
            <a:avLst/>
          </a:prstGeom>
        </p:spPr>
        <p:txBody>
          <a:bodyPr lIns="0" rIns="0" tIns="0" bIns="0">
            <a:normAutofit/>
          </a:bodyPr>
          <a:p>
            <a:endParaRPr b="0" lang="fr-FR" sz="2600" spc="-1" strike="noStrike">
              <a:solidFill>
                <a:srgbClr val="205aa7"/>
              </a:solidFill>
              <a:latin typeface="Calibri"/>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52" name="PlaceHolder 1"/>
          <p:cNvSpPr>
            <a:spLocks noGrp="1"/>
          </p:cNvSpPr>
          <p:nvPr>
            <p:ph type="title"/>
          </p:nvPr>
        </p:nvSpPr>
        <p:spPr>
          <a:xfrm>
            <a:off x="1619640" y="2835000"/>
            <a:ext cx="5904720" cy="1259640"/>
          </a:xfrm>
          <a:prstGeom prst="rect">
            <a:avLst/>
          </a:prstGeom>
        </p:spPr>
        <p:txBody>
          <a:bodyPr lIns="0" rIns="0" tIns="0" bIns="0" anchor="ctr">
            <a:noAutofit/>
          </a:bodyPr>
          <a:p>
            <a:endParaRPr b="0" lang="fr-FR" sz="1800" spc="-1" strike="noStrike">
              <a:solidFill>
                <a:srgbClr val="000000"/>
              </a:solidFill>
              <a:latin typeface="Calibri"/>
            </a:endParaRPr>
          </a:p>
        </p:txBody>
      </p:sp>
      <p:sp>
        <p:nvSpPr>
          <p:cNvPr id="53" name="PlaceHolder 2"/>
          <p:cNvSpPr>
            <a:spLocks noGrp="1"/>
          </p:cNvSpPr>
          <p:nvPr>
            <p:ph type="body"/>
          </p:nvPr>
        </p:nvSpPr>
        <p:spPr>
          <a:xfrm>
            <a:off x="5004000" y="5661360"/>
            <a:ext cx="1756080" cy="791640"/>
          </a:xfrm>
          <a:prstGeom prst="rect">
            <a:avLst/>
          </a:prstGeom>
        </p:spPr>
        <p:txBody>
          <a:bodyPr lIns="0" rIns="0" tIns="0" bIns="0">
            <a:normAutofit fontScale="55000"/>
          </a:bodyPr>
          <a:p>
            <a:endParaRPr b="0" lang="fr-FR" sz="2600" spc="-1" strike="noStrike">
              <a:solidFill>
                <a:srgbClr val="205aa7"/>
              </a:solidFill>
              <a:latin typeface="Calibri"/>
            </a:endParaRPr>
          </a:p>
        </p:txBody>
      </p:sp>
      <p:sp>
        <p:nvSpPr>
          <p:cNvPr id="54" name="PlaceHolder 3"/>
          <p:cNvSpPr>
            <a:spLocks noGrp="1"/>
          </p:cNvSpPr>
          <p:nvPr>
            <p:ph type="body"/>
          </p:nvPr>
        </p:nvSpPr>
        <p:spPr>
          <a:xfrm>
            <a:off x="6848280" y="5661360"/>
            <a:ext cx="1756080" cy="791640"/>
          </a:xfrm>
          <a:prstGeom prst="rect">
            <a:avLst/>
          </a:prstGeom>
        </p:spPr>
        <p:txBody>
          <a:bodyPr lIns="0" rIns="0" tIns="0" bIns="0">
            <a:normAutofit fontScale="55000"/>
          </a:bodyPr>
          <a:p>
            <a:endParaRPr b="0" lang="fr-FR" sz="2600" spc="-1" strike="noStrike">
              <a:solidFill>
                <a:srgbClr val="205aa7"/>
              </a:solidFill>
              <a:latin typeface="Calibri"/>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55" name="PlaceHolder 1"/>
          <p:cNvSpPr>
            <a:spLocks noGrp="1"/>
          </p:cNvSpPr>
          <p:nvPr>
            <p:ph type="title"/>
          </p:nvPr>
        </p:nvSpPr>
        <p:spPr>
          <a:xfrm>
            <a:off x="1619640" y="2835000"/>
            <a:ext cx="5904720" cy="1259640"/>
          </a:xfrm>
          <a:prstGeom prst="rect">
            <a:avLst/>
          </a:prstGeom>
        </p:spPr>
        <p:txBody>
          <a:bodyPr lIns="0" rIns="0" tIns="0" bIns="0" anchor="ctr">
            <a:noAutofit/>
          </a:bodyPr>
          <a:p>
            <a:endParaRPr b="0" lang="fr-FR" sz="1800" spc="-1" strike="noStrike">
              <a:solidFill>
                <a:srgbClr val="000000"/>
              </a:solidFill>
              <a:latin typeface="Calibri"/>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56" name="PlaceHolder 1"/>
          <p:cNvSpPr>
            <a:spLocks noGrp="1"/>
          </p:cNvSpPr>
          <p:nvPr>
            <p:ph type="subTitle"/>
          </p:nvPr>
        </p:nvSpPr>
        <p:spPr>
          <a:xfrm>
            <a:off x="1619640" y="2835000"/>
            <a:ext cx="5904720" cy="5840280"/>
          </a:xfrm>
          <a:prstGeom prst="rect">
            <a:avLst/>
          </a:prstGeom>
        </p:spPr>
        <p:txBody>
          <a:bodyPr lIns="0" rIns="0" tIns="0" bIns="0" anchor="ctr">
            <a:noAutofit/>
          </a:bodyPr>
          <a:p>
            <a:pPr algn="ctr"/>
            <a:endParaRPr b="0" lang="fr-FR" sz="3200" spc="-1" strike="noStrike">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57" name="PlaceHolder 1"/>
          <p:cNvSpPr>
            <a:spLocks noGrp="1"/>
          </p:cNvSpPr>
          <p:nvPr>
            <p:ph type="title"/>
          </p:nvPr>
        </p:nvSpPr>
        <p:spPr>
          <a:xfrm>
            <a:off x="1619640" y="2835000"/>
            <a:ext cx="5904720" cy="1259640"/>
          </a:xfrm>
          <a:prstGeom prst="rect">
            <a:avLst/>
          </a:prstGeom>
        </p:spPr>
        <p:txBody>
          <a:bodyPr lIns="0" rIns="0" tIns="0" bIns="0" anchor="ctr">
            <a:noAutofit/>
          </a:bodyPr>
          <a:p>
            <a:endParaRPr b="0" lang="fr-FR" sz="1800" spc="-1" strike="noStrike">
              <a:solidFill>
                <a:srgbClr val="000000"/>
              </a:solidFill>
              <a:latin typeface="Calibri"/>
            </a:endParaRPr>
          </a:p>
        </p:txBody>
      </p:sp>
      <p:sp>
        <p:nvSpPr>
          <p:cNvPr id="58" name="PlaceHolder 2"/>
          <p:cNvSpPr>
            <a:spLocks noGrp="1"/>
          </p:cNvSpPr>
          <p:nvPr>
            <p:ph type="body"/>
          </p:nvPr>
        </p:nvSpPr>
        <p:spPr>
          <a:xfrm>
            <a:off x="5004000" y="5661360"/>
            <a:ext cx="1756080" cy="377280"/>
          </a:xfrm>
          <a:prstGeom prst="rect">
            <a:avLst/>
          </a:prstGeom>
        </p:spPr>
        <p:txBody>
          <a:bodyPr lIns="0" rIns="0" tIns="0" bIns="0">
            <a:normAutofit fontScale="18000"/>
          </a:bodyPr>
          <a:p>
            <a:endParaRPr b="0" lang="fr-FR" sz="2600" spc="-1" strike="noStrike">
              <a:solidFill>
                <a:srgbClr val="205aa7"/>
              </a:solidFill>
              <a:latin typeface="Calibri"/>
            </a:endParaRPr>
          </a:p>
        </p:txBody>
      </p:sp>
      <p:sp>
        <p:nvSpPr>
          <p:cNvPr id="59" name="PlaceHolder 3"/>
          <p:cNvSpPr>
            <a:spLocks noGrp="1"/>
          </p:cNvSpPr>
          <p:nvPr>
            <p:ph type="body"/>
          </p:nvPr>
        </p:nvSpPr>
        <p:spPr>
          <a:xfrm>
            <a:off x="6848280" y="5661360"/>
            <a:ext cx="1756080" cy="791640"/>
          </a:xfrm>
          <a:prstGeom prst="rect">
            <a:avLst/>
          </a:prstGeom>
        </p:spPr>
        <p:txBody>
          <a:bodyPr lIns="0" rIns="0" tIns="0" bIns="0">
            <a:normAutofit fontScale="55000"/>
          </a:bodyPr>
          <a:p>
            <a:endParaRPr b="0" lang="fr-FR" sz="2600" spc="-1" strike="noStrike">
              <a:solidFill>
                <a:srgbClr val="205aa7"/>
              </a:solidFill>
              <a:latin typeface="Calibri"/>
            </a:endParaRPr>
          </a:p>
        </p:txBody>
      </p:sp>
      <p:sp>
        <p:nvSpPr>
          <p:cNvPr id="60" name="PlaceHolder 4"/>
          <p:cNvSpPr>
            <a:spLocks noGrp="1"/>
          </p:cNvSpPr>
          <p:nvPr>
            <p:ph type="body"/>
          </p:nvPr>
        </p:nvSpPr>
        <p:spPr>
          <a:xfrm>
            <a:off x="5004000" y="6075000"/>
            <a:ext cx="1756080" cy="377280"/>
          </a:xfrm>
          <a:prstGeom prst="rect">
            <a:avLst/>
          </a:prstGeom>
        </p:spPr>
        <p:txBody>
          <a:bodyPr lIns="0" rIns="0" tIns="0" bIns="0">
            <a:normAutofit fontScale="18000"/>
          </a:bodyPr>
          <a:p>
            <a:endParaRPr b="0" lang="fr-FR" sz="2600" spc="-1" strike="noStrike">
              <a:solidFill>
                <a:srgbClr val="205aa7"/>
              </a:solidFill>
              <a:latin typeface="Calibri"/>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61" name="PlaceHolder 1"/>
          <p:cNvSpPr>
            <a:spLocks noGrp="1"/>
          </p:cNvSpPr>
          <p:nvPr>
            <p:ph type="title"/>
          </p:nvPr>
        </p:nvSpPr>
        <p:spPr>
          <a:xfrm>
            <a:off x="1619640" y="2835000"/>
            <a:ext cx="5904720" cy="1259640"/>
          </a:xfrm>
          <a:prstGeom prst="rect">
            <a:avLst/>
          </a:prstGeom>
        </p:spPr>
        <p:txBody>
          <a:bodyPr lIns="0" rIns="0" tIns="0" bIns="0" anchor="ctr">
            <a:noAutofit/>
          </a:bodyPr>
          <a:p>
            <a:endParaRPr b="0" lang="fr-FR" sz="1800" spc="-1" strike="noStrike">
              <a:solidFill>
                <a:srgbClr val="000000"/>
              </a:solidFill>
              <a:latin typeface="Calibri"/>
            </a:endParaRPr>
          </a:p>
        </p:txBody>
      </p:sp>
      <p:sp>
        <p:nvSpPr>
          <p:cNvPr id="62" name="PlaceHolder 2"/>
          <p:cNvSpPr>
            <a:spLocks noGrp="1"/>
          </p:cNvSpPr>
          <p:nvPr>
            <p:ph type="body"/>
          </p:nvPr>
        </p:nvSpPr>
        <p:spPr>
          <a:xfrm>
            <a:off x="5004000" y="5661360"/>
            <a:ext cx="1756080" cy="791640"/>
          </a:xfrm>
          <a:prstGeom prst="rect">
            <a:avLst/>
          </a:prstGeom>
        </p:spPr>
        <p:txBody>
          <a:bodyPr lIns="0" rIns="0" tIns="0" bIns="0">
            <a:normAutofit fontScale="55000"/>
          </a:bodyPr>
          <a:p>
            <a:endParaRPr b="0" lang="fr-FR" sz="2600" spc="-1" strike="noStrike">
              <a:solidFill>
                <a:srgbClr val="205aa7"/>
              </a:solidFill>
              <a:latin typeface="Calibri"/>
            </a:endParaRPr>
          </a:p>
        </p:txBody>
      </p:sp>
      <p:sp>
        <p:nvSpPr>
          <p:cNvPr id="63" name="PlaceHolder 3"/>
          <p:cNvSpPr>
            <a:spLocks noGrp="1"/>
          </p:cNvSpPr>
          <p:nvPr>
            <p:ph type="body"/>
          </p:nvPr>
        </p:nvSpPr>
        <p:spPr>
          <a:xfrm>
            <a:off x="6848280" y="5661360"/>
            <a:ext cx="1756080" cy="377280"/>
          </a:xfrm>
          <a:prstGeom prst="rect">
            <a:avLst/>
          </a:prstGeom>
        </p:spPr>
        <p:txBody>
          <a:bodyPr lIns="0" rIns="0" tIns="0" bIns="0">
            <a:normAutofit fontScale="18000"/>
          </a:bodyPr>
          <a:p>
            <a:endParaRPr b="0" lang="fr-FR" sz="2600" spc="-1" strike="noStrike">
              <a:solidFill>
                <a:srgbClr val="205aa7"/>
              </a:solidFill>
              <a:latin typeface="Calibri"/>
            </a:endParaRPr>
          </a:p>
        </p:txBody>
      </p:sp>
      <p:sp>
        <p:nvSpPr>
          <p:cNvPr id="64" name="PlaceHolder 4"/>
          <p:cNvSpPr>
            <a:spLocks noGrp="1"/>
          </p:cNvSpPr>
          <p:nvPr>
            <p:ph type="body"/>
          </p:nvPr>
        </p:nvSpPr>
        <p:spPr>
          <a:xfrm>
            <a:off x="6848280" y="6075000"/>
            <a:ext cx="1756080" cy="377280"/>
          </a:xfrm>
          <a:prstGeom prst="rect">
            <a:avLst/>
          </a:prstGeom>
        </p:spPr>
        <p:txBody>
          <a:bodyPr lIns="0" rIns="0" tIns="0" bIns="0">
            <a:normAutofit fontScale="18000"/>
          </a:bodyPr>
          <a:p>
            <a:endParaRPr b="0" lang="fr-FR" sz="2600" spc="-1" strike="noStrike">
              <a:solidFill>
                <a:srgbClr val="205aa7"/>
              </a:solidFill>
              <a:latin typeface="Calibri"/>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65" name="PlaceHolder 1"/>
          <p:cNvSpPr>
            <a:spLocks noGrp="1"/>
          </p:cNvSpPr>
          <p:nvPr>
            <p:ph type="title"/>
          </p:nvPr>
        </p:nvSpPr>
        <p:spPr>
          <a:xfrm>
            <a:off x="1619640" y="2835000"/>
            <a:ext cx="5904720" cy="1259640"/>
          </a:xfrm>
          <a:prstGeom prst="rect">
            <a:avLst/>
          </a:prstGeom>
        </p:spPr>
        <p:txBody>
          <a:bodyPr lIns="0" rIns="0" tIns="0" bIns="0" anchor="ctr">
            <a:noAutofit/>
          </a:bodyPr>
          <a:p>
            <a:endParaRPr b="0" lang="fr-FR" sz="1800" spc="-1" strike="noStrike">
              <a:solidFill>
                <a:srgbClr val="000000"/>
              </a:solidFill>
              <a:latin typeface="Calibri"/>
            </a:endParaRPr>
          </a:p>
        </p:txBody>
      </p:sp>
      <p:sp>
        <p:nvSpPr>
          <p:cNvPr id="66" name="PlaceHolder 2"/>
          <p:cNvSpPr>
            <a:spLocks noGrp="1"/>
          </p:cNvSpPr>
          <p:nvPr>
            <p:ph type="body"/>
          </p:nvPr>
        </p:nvSpPr>
        <p:spPr>
          <a:xfrm>
            <a:off x="5004000" y="5661360"/>
            <a:ext cx="1756080" cy="377280"/>
          </a:xfrm>
          <a:prstGeom prst="rect">
            <a:avLst/>
          </a:prstGeom>
        </p:spPr>
        <p:txBody>
          <a:bodyPr lIns="0" rIns="0" tIns="0" bIns="0">
            <a:normAutofit fontScale="18000"/>
          </a:bodyPr>
          <a:p>
            <a:endParaRPr b="0" lang="fr-FR" sz="2600" spc="-1" strike="noStrike">
              <a:solidFill>
                <a:srgbClr val="205aa7"/>
              </a:solidFill>
              <a:latin typeface="Calibri"/>
            </a:endParaRPr>
          </a:p>
        </p:txBody>
      </p:sp>
      <p:sp>
        <p:nvSpPr>
          <p:cNvPr id="67" name="PlaceHolder 3"/>
          <p:cNvSpPr>
            <a:spLocks noGrp="1"/>
          </p:cNvSpPr>
          <p:nvPr>
            <p:ph type="body"/>
          </p:nvPr>
        </p:nvSpPr>
        <p:spPr>
          <a:xfrm>
            <a:off x="6848280" y="5661360"/>
            <a:ext cx="1756080" cy="377280"/>
          </a:xfrm>
          <a:prstGeom prst="rect">
            <a:avLst/>
          </a:prstGeom>
        </p:spPr>
        <p:txBody>
          <a:bodyPr lIns="0" rIns="0" tIns="0" bIns="0">
            <a:normAutofit fontScale="18000"/>
          </a:bodyPr>
          <a:p>
            <a:endParaRPr b="0" lang="fr-FR" sz="2600" spc="-1" strike="noStrike">
              <a:solidFill>
                <a:srgbClr val="205aa7"/>
              </a:solidFill>
              <a:latin typeface="Calibri"/>
            </a:endParaRPr>
          </a:p>
        </p:txBody>
      </p:sp>
      <p:sp>
        <p:nvSpPr>
          <p:cNvPr id="68" name="PlaceHolder 4"/>
          <p:cNvSpPr>
            <a:spLocks noGrp="1"/>
          </p:cNvSpPr>
          <p:nvPr>
            <p:ph type="body"/>
          </p:nvPr>
        </p:nvSpPr>
        <p:spPr>
          <a:xfrm>
            <a:off x="5004000" y="6075000"/>
            <a:ext cx="3598920" cy="377280"/>
          </a:xfrm>
          <a:prstGeom prst="rect">
            <a:avLst/>
          </a:prstGeom>
        </p:spPr>
        <p:txBody>
          <a:bodyPr lIns="0" rIns="0" tIns="0" bIns="0">
            <a:normAutofit fontScale="97000"/>
          </a:bodyPr>
          <a:p>
            <a:endParaRPr b="0" lang="fr-FR" sz="2600" spc="-1" strike="noStrike">
              <a:solidFill>
                <a:srgbClr val="205aa7"/>
              </a:solidFill>
              <a:latin typeface="Calibri"/>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69" name="PlaceHolder 1"/>
          <p:cNvSpPr>
            <a:spLocks noGrp="1"/>
          </p:cNvSpPr>
          <p:nvPr>
            <p:ph type="title"/>
          </p:nvPr>
        </p:nvSpPr>
        <p:spPr>
          <a:xfrm>
            <a:off x="1619640" y="2835000"/>
            <a:ext cx="5904720" cy="1259640"/>
          </a:xfrm>
          <a:prstGeom prst="rect">
            <a:avLst/>
          </a:prstGeom>
        </p:spPr>
        <p:txBody>
          <a:bodyPr lIns="0" rIns="0" tIns="0" bIns="0" anchor="ctr">
            <a:noAutofit/>
          </a:bodyPr>
          <a:p>
            <a:endParaRPr b="0" lang="fr-FR" sz="1800" spc="-1" strike="noStrike">
              <a:solidFill>
                <a:srgbClr val="000000"/>
              </a:solidFill>
              <a:latin typeface="Calibri"/>
            </a:endParaRPr>
          </a:p>
        </p:txBody>
      </p:sp>
      <p:sp>
        <p:nvSpPr>
          <p:cNvPr id="70" name="PlaceHolder 2"/>
          <p:cNvSpPr>
            <a:spLocks noGrp="1"/>
          </p:cNvSpPr>
          <p:nvPr>
            <p:ph type="body"/>
          </p:nvPr>
        </p:nvSpPr>
        <p:spPr>
          <a:xfrm>
            <a:off x="5004000" y="5661360"/>
            <a:ext cx="3598920" cy="377280"/>
          </a:xfrm>
          <a:prstGeom prst="rect">
            <a:avLst/>
          </a:prstGeom>
        </p:spPr>
        <p:txBody>
          <a:bodyPr lIns="0" rIns="0" tIns="0" bIns="0">
            <a:normAutofit fontScale="97000"/>
          </a:bodyPr>
          <a:p>
            <a:endParaRPr b="0" lang="fr-FR" sz="2600" spc="-1" strike="noStrike">
              <a:solidFill>
                <a:srgbClr val="205aa7"/>
              </a:solidFill>
              <a:latin typeface="Calibri"/>
            </a:endParaRPr>
          </a:p>
        </p:txBody>
      </p:sp>
      <p:sp>
        <p:nvSpPr>
          <p:cNvPr id="71" name="PlaceHolder 3"/>
          <p:cNvSpPr>
            <a:spLocks noGrp="1"/>
          </p:cNvSpPr>
          <p:nvPr>
            <p:ph type="body"/>
          </p:nvPr>
        </p:nvSpPr>
        <p:spPr>
          <a:xfrm>
            <a:off x="5004000" y="6075000"/>
            <a:ext cx="3598920" cy="377280"/>
          </a:xfrm>
          <a:prstGeom prst="rect">
            <a:avLst/>
          </a:prstGeom>
        </p:spPr>
        <p:txBody>
          <a:bodyPr lIns="0" rIns="0" tIns="0" bIns="0">
            <a:normAutofit fontScale="97000"/>
          </a:bodyPr>
          <a:p>
            <a:endParaRPr b="0" lang="fr-FR" sz="2600" spc="-1" strike="noStrike">
              <a:solidFill>
                <a:srgbClr val="205aa7"/>
              </a:solidFill>
              <a:latin typeface="Calibri"/>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72" name="PlaceHolder 1"/>
          <p:cNvSpPr>
            <a:spLocks noGrp="1"/>
          </p:cNvSpPr>
          <p:nvPr>
            <p:ph type="title"/>
          </p:nvPr>
        </p:nvSpPr>
        <p:spPr>
          <a:xfrm>
            <a:off x="1619640" y="2835000"/>
            <a:ext cx="5904720" cy="1259640"/>
          </a:xfrm>
          <a:prstGeom prst="rect">
            <a:avLst/>
          </a:prstGeom>
        </p:spPr>
        <p:txBody>
          <a:bodyPr lIns="0" rIns="0" tIns="0" bIns="0" anchor="ctr">
            <a:noAutofit/>
          </a:bodyPr>
          <a:p>
            <a:endParaRPr b="0" lang="fr-FR" sz="1800" spc="-1" strike="noStrike">
              <a:solidFill>
                <a:srgbClr val="000000"/>
              </a:solidFill>
              <a:latin typeface="Calibri"/>
            </a:endParaRPr>
          </a:p>
        </p:txBody>
      </p:sp>
      <p:sp>
        <p:nvSpPr>
          <p:cNvPr id="73" name="PlaceHolder 2"/>
          <p:cNvSpPr>
            <a:spLocks noGrp="1"/>
          </p:cNvSpPr>
          <p:nvPr>
            <p:ph type="body"/>
          </p:nvPr>
        </p:nvSpPr>
        <p:spPr>
          <a:xfrm>
            <a:off x="5004000" y="5661360"/>
            <a:ext cx="1756080" cy="377280"/>
          </a:xfrm>
          <a:prstGeom prst="rect">
            <a:avLst/>
          </a:prstGeom>
        </p:spPr>
        <p:txBody>
          <a:bodyPr lIns="0" rIns="0" tIns="0" bIns="0">
            <a:normAutofit fontScale="18000"/>
          </a:bodyPr>
          <a:p>
            <a:endParaRPr b="0" lang="fr-FR" sz="2600" spc="-1" strike="noStrike">
              <a:solidFill>
                <a:srgbClr val="205aa7"/>
              </a:solidFill>
              <a:latin typeface="Calibri"/>
            </a:endParaRPr>
          </a:p>
        </p:txBody>
      </p:sp>
      <p:sp>
        <p:nvSpPr>
          <p:cNvPr id="74" name="PlaceHolder 3"/>
          <p:cNvSpPr>
            <a:spLocks noGrp="1"/>
          </p:cNvSpPr>
          <p:nvPr>
            <p:ph type="body"/>
          </p:nvPr>
        </p:nvSpPr>
        <p:spPr>
          <a:xfrm>
            <a:off x="6848280" y="5661360"/>
            <a:ext cx="1756080" cy="377280"/>
          </a:xfrm>
          <a:prstGeom prst="rect">
            <a:avLst/>
          </a:prstGeom>
        </p:spPr>
        <p:txBody>
          <a:bodyPr lIns="0" rIns="0" tIns="0" bIns="0">
            <a:normAutofit fontScale="18000"/>
          </a:bodyPr>
          <a:p>
            <a:endParaRPr b="0" lang="fr-FR" sz="2600" spc="-1" strike="noStrike">
              <a:solidFill>
                <a:srgbClr val="205aa7"/>
              </a:solidFill>
              <a:latin typeface="Calibri"/>
            </a:endParaRPr>
          </a:p>
        </p:txBody>
      </p:sp>
      <p:sp>
        <p:nvSpPr>
          <p:cNvPr id="75" name="PlaceHolder 4"/>
          <p:cNvSpPr>
            <a:spLocks noGrp="1"/>
          </p:cNvSpPr>
          <p:nvPr>
            <p:ph type="body"/>
          </p:nvPr>
        </p:nvSpPr>
        <p:spPr>
          <a:xfrm>
            <a:off x="5004000" y="6075000"/>
            <a:ext cx="1756080" cy="377280"/>
          </a:xfrm>
          <a:prstGeom prst="rect">
            <a:avLst/>
          </a:prstGeom>
        </p:spPr>
        <p:txBody>
          <a:bodyPr lIns="0" rIns="0" tIns="0" bIns="0">
            <a:normAutofit fontScale="18000"/>
          </a:bodyPr>
          <a:p>
            <a:endParaRPr b="0" lang="fr-FR" sz="2600" spc="-1" strike="noStrike">
              <a:solidFill>
                <a:srgbClr val="205aa7"/>
              </a:solidFill>
              <a:latin typeface="Calibri"/>
            </a:endParaRPr>
          </a:p>
        </p:txBody>
      </p:sp>
      <p:sp>
        <p:nvSpPr>
          <p:cNvPr id="76" name="PlaceHolder 5"/>
          <p:cNvSpPr>
            <a:spLocks noGrp="1"/>
          </p:cNvSpPr>
          <p:nvPr>
            <p:ph type="body"/>
          </p:nvPr>
        </p:nvSpPr>
        <p:spPr>
          <a:xfrm>
            <a:off x="6848280" y="6075000"/>
            <a:ext cx="1756080" cy="377280"/>
          </a:xfrm>
          <a:prstGeom prst="rect">
            <a:avLst/>
          </a:prstGeom>
        </p:spPr>
        <p:txBody>
          <a:bodyPr lIns="0" rIns="0" tIns="0" bIns="0">
            <a:normAutofit fontScale="18000"/>
          </a:bodyPr>
          <a:p>
            <a:endParaRPr b="0" lang="fr-FR" sz="2600" spc="-1" strike="noStrike">
              <a:solidFill>
                <a:srgbClr val="205aa7"/>
              </a:solidFill>
              <a:latin typeface="Calibri"/>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77" name="PlaceHolder 1"/>
          <p:cNvSpPr>
            <a:spLocks noGrp="1"/>
          </p:cNvSpPr>
          <p:nvPr>
            <p:ph type="title"/>
          </p:nvPr>
        </p:nvSpPr>
        <p:spPr>
          <a:xfrm>
            <a:off x="1619640" y="2835000"/>
            <a:ext cx="5904720" cy="1259640"/>
          </a:xfrm>
          <a:prstGeom prst="rect">
            <a:avLst/>
          </a:prstGeom>
        </p:spPr>
        <p:txBody>
          <a:bodyPr lIns="0" rIns="0" tIns="0" bIns="0" anchor="ctr">
            <a:noAutofit/>
          </a:bodyPr>
          <a:p>
            <a:endParaRPr b="0" lang="fr-FR" sz="1800" spc="-1" strike="noStrike">
              <a:solidFill>
                <a:srgbClr val="000000"/>
              </a:solidFill>
              <a:latin typeface="Calibri"/>
            </a:endParaRPr>
          </a:p>
        </p:txBody>
      </p:sp>
      <p:sp>
        <p:nvSpPr>
          <p:cNvPr id="78" name="PlaceHolder 2"/>
          <p:cNvSpPr>
            <a:spLocks noGrp="1"/>
          </p:cNvSpPr>
          <p:nvPr>
            <p:ph type="body"/>
          </p:nvPr>
        </p:nvSpPr>
        <p:spPr>
          <a:xfrm>
            <a:off x="5004000" y="5661360"/>
            <a:ext cx="1158480" cy="377280"/>
          </a:xfrm>
          <a:prstGeom prst="rect">
            <a:avLst/>
          </a:prstGeom>
        </p:spPr>
        <p:txBody>
          <a:bodyPr lIns="0" rIns="0" tIns="0" bIns="0">
            <a:normAutofit fontScale="11000"/>
          </a:bodyPr>
          <a:p>
            <a:endParaRPr b="0" lang="fr-FR" sz="2600" spc="-1" strike="noStrike">
              <a:solidFill>
                <a:srgbClr val="205aa7"/>
              </a:solidFill>
              <a:latin typeface="Calibri"/>
            </a:endParaRPr>
          </a:p>
        </p:txBody>
      </p:sp>
      <p:sp>
        <p:nvSpPr>
          <p:cNvPr id="79" name="PlaceHolder 3"/>
          <p:cNvSpPr>
            <a:spLocks noGrp="1"/>
          </p:cNvSpPr>
          <p:nvPr>
            <p:ph type="body"/>
          </p:nvPr>
        </p:nvSpPr>
        <p:spPr>
          <a:xfrm>
            <a:off x="6220800" y="5661360"/>
            <a:ext cx="1158480" cy="377280"/>
          </a:xfrm>
          <a:prstGeom prst="rect">
            <a:avLst/>
          </a:prstGeom>
        </p:spPr>
        <p:txBody>
          <a:bodyPr lIns="0" rIns="0" tIns="0" bIns="0">
            <a:normAutofit fontScale="11000"/>
          </a:bodyPr>
          <a:p>
            <a:endParaRPr b="0" lang="fr-FR" sz="2600" spc="-1" strike="noStrike">
              <a:solidFill>
                <a:srgbClr val="205aa7"/>
              </a:solidFill>
              <a:latin typeface="Calibri"/>
            </a:endParaRPr>
          </a:p>
        </p:txBody>
      </p:sp>
      <p:sp>
        <p:nvSpPr>
          <p:cNvPr id="80" name="PlaceHolder 4"/>
          <p:cNvSpPr>
            <a:spLocks noGrp="1"/>
          </p:cNvSpPr>
          <p:nvPr>
            <p:ph type="body"/>
          </p:nvPr>
        </p:nvSpPr>
        <p:spPr>
          <a:xfrm>
            <a:off x="7437600" y="5661360"/>
            <a:ext cx="1158480" cy="377280"/>
          </a:xfrm>
          <a:prstGeom prst="rect">
            <a:avLst/>
          </a:prstGeom>
        </p:spPr>
        <p:txBody>
          <a:bodyPr lIns="0" rIns="0" tIns="0" bIns="0">
            <a:normAutofit fontScale="11000"/>
          </a:bodyPr>
          <a:p>
            <a:endParaRPr b="0" lang="fr-FR" sz="2600" spc="-1" strike="noStrike">
              <a:solidFill>
                <a:srgbClr val="205aa7"/>
              </a:solidFill>
              <a:latin typeface="Calibri"/>
            </a:endParaRPr>
          </a:p>
        </p:txBody>
      </p:sp>
      <p:sp>
        <p:nvSpPr>
          <p:cNvPr id="81" name="PlaceHolder 5"/>
          <p:cNvSpPr>
            <a:spLocks noGrp="1"/>
          </p:cNvSpPr>
          <p:nvPr>
            <p:ph type="body"/>
          </p:nvPr>
        </p:nvSpPr>
        <p:spPr>
          <a:xfrm>
            <a:off x="5004000" y="6075000"/>
            <a:ext cx="1158480" cy="377280"/>
          </a:xfrm>
          <a:prstGeom prst="rect">
            <a:avLst/>
          </a:prstGeom>
        </p:spPr>
        <p:txBody>
          <a:bodyPr lIns="0" rIns="0" tIns="0" bIns="0">
            <a:normAutofit fontScale="11000"/>
          </a:bodyPr>
          <a:p>
            <a:endParaRPr b="0" lang="fr-FR" sz="2600" spc="-1" strike="noStrike">
              <a:solidFill>
                <a:srgbClr val="205aa7"/>
              </a:solidFill>
              <a:latin typeface="Calibri"/>
            </a:endParaRPr>
          </a:p>
        </p:txBody>
      </p:sp>
      <p:sp>
        <p:nvSpPr>
          <p:cNvPr id="82" name="PlaceHolder 6"/>
          <p:cNvSpPr>
            <a:spLocks noGrp="1"/>
          </p:cNvSpPr>
          <p:nvPr>
            <p:ph type="body"/>
          </p:nvPr>
        </p:nvSpPr>
        <p:spPr>
          <a:xfrm>
            <a:off x="6220800" y="6075000"/>
            <a:ext cx="1158480" cy="377280"/>
          </a:xfrm>
          <a:prstGeom prst="rect">
            <a:avLst/>
          </a:prstGeom>
        </p:spPr>
        <p:txBody>
          <a:bodyPr lIns="0" rIns="0" tIns="0" bIns="0">
            <a:normAutofit fontScale="11000"/>
          </a:bodyPr>
          <a:p>
            <a:endParaRPr b="0" lang="fr-FR" sz="2600" spc="-1" strike="noStrike">
              <a:solidFill>
                <a:srgbClr val="205aa7"/>
              </a:solidFill>
              <a:latin typeface="Calibri"/>
            </a:endParaRPr>
          </a:p>
        </p:txBody>
      </p:sp>
      <p:sp>
        <p:nvSpPr>
          <p:cNvPr id="83" name="PlaceHolder 7"/>
          <p:cNvSpPr>
            <a:spLocks noGrp="1"/>
          </p:cNvSpPr>
          <p:nvPr>
            <p:ph type="body"/>
          </p:nvPr>
        </p:nvSpPr>
        <p:spPr>
          <a:xfrm>
            <a:off x="7437600" y="6075000"/>
            <a:ext cx="1158480" cy="377280"/>
          </a:xfrm>
          <a:prstGeom prst="rect">
            <a:avLst/>
          </a:prstGeom>
        </p:spPr>
        <p:txBody>
          <a:bodyPr lIns="0" rIns="0" tIns="0" bIns="0">
            <a:normAutofit fontScale="11000"/>
          </a:bodyPr>
          <a:p>
            <a:endParaRPr b="0" lang="fr-FR" sz="2600" spc="-1" strike="noStrike">
              <a:solidFill>
                <a:srgbClr val="205aa7"/>
              </a:solidFill>
              <a:latin typeface="Calibri"/>
            </a:endParaRP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91" name="PlaceHolder 1"/>
          <p:cNvSpPr>
            <a:spLocks noGrp="1"/>
          </p:cNvSpPr>
          <p:nvPr>
            <p:ph type="title"/>
          </p:nvPr>
        </p:nvSpPr>
        <p:spPr>
          <a:xfrm>
            <a:off x="1619640" y="2835000"/>
            <a:ext cx="5904720" cy="1259640"/>
          </a:xfrm>
          <a:prstGeom prst="rect">
            <a:avLst/>
          </a:prstGeom>
        </p:spPr>
        <p:txBody>
          <a:bodyPr lIns="0" rIns="0" tIns="0" bIns="0" anchor="ctr">
            <a:noAutofit/>
          </a:bodyPr>
          <a:p>
            <a:endParaRPr b="0" lang="fr-FR" sz="1800" spc="-1" strike="noStrike">
              <a:solidFill>
                <a:srgbClr val="000000"/>
              </a:solidFill>
              <a:latin typeface="Calibri"/>
            </a:endParaRPr>
          </a:p>
        </p:txBody>
      </p:sp>
      <p:sp>
        <p:nvSpPr>
          <p:cNvPr id="92" name="PlaceHolder 2"/>
          <p:cNvSpPr>
            <a:spLocks noGrp="1"/>
          </p:cNvSpPr>
          <p:nvPr>
            <p:ph type="subTitle"/>
          </p:nvPr>
        </p:nvSpPr>
        <p:spPr>
          <a:xfrm>
            <a:off x="5004000" y="5661360"/>
            <a:ext cx="3598920" cy="791640"/>
          </a:xfrm>
          <a:prstGeom prst="rect">
            <a:avLst/>
          </a:prstGeom>
        </p:spPr>
        <p:txBody>
          <a:bodyPr lIns="0" rIns="0" tIns="0" bIns="0" anchor="ctr">
            <a:noAutofit/>
          </a:bodyPr>
          <a:p>
            <a:pPr algn="ctr"/>
            <a:endParaRPr b="0" lang="fr-FR" sz="3200" spc="-1" strike="noStrike">
              <a:latin typeface="Arial"/>
            </a:endParaRP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93" name="PlaceHolder 1"/>
          <p:cNvSpPr>
            <a:spLocks noGrp="1"/>
          </p:cNvSpPr>
          <p:nvPr>
            <p:ph type="title"/>
          </p:nvPr>
        </p:nvSpPr>
        <p:spPr>
          <a:xfrm>
            <a:off x="1619640" y="2835000"/>
            <a:ext cx="5904720" cy="1259640"/>
          </a:xfrm>
          <a:prstGeom prst="rect">
            <a:avLst/>
          </a:prstGeom>
        </p:spPr>
        <p:txBody>
          <a:bodyPr lIns="0" rIns="0" tIns="0" bIns="0" anchor="ctr">
            <a:noAutofit/>
          </a:bodyPr>
          <a:p>
            <a:endParaRPr b="0" lang="fr-FR" sz="1800" spc="-1" strike="noStrike">
              <a:solidFill>
                <a:srgbClr val="000000"/>
              </a:solidFill>
              <a:latin typeface="Calibri"/>
            </a:endParaRPr>
          </a:p>
        </p:txBody>
      </p:sp>
      <p:sp>
        <p:nvSpPr>
          <p:cNvPr id="94" name="PlaceHolder 2"/>
          <p:cNvSpPr>
            <a:spLocks noGrp="1"/>
          </p:cNvSpPr>
          <p:nvPr>
            <p:ph type="body"/>
          </p:nvPr>
        </p:nvSpPr>
        <p:spPr>
          <a:xfrm>
            <a:off x="5004000" y="5661360"/>
            <a:ext cx="3598920" cy="791640"/>
          </a:xfrm>
          <a:prstGeom prst="rect">
            <a:avLst/>
          </a:prstGeom>
        </p:spPr>
        <p:txBody>
          <a:bodyPr lIns="0" rIns="0" tIns="0" bIns="0">
            <a:normAutofit/>
          </a:bodyPr>
          <a:p>
            <a:endParaRPr b="0" lang="fr-FR" sz="2600" spc="-1" strike="noStrike">
              <a:solidFill>
                <a:srgbClr val="205aa7"/>
              </a:solidFill>
              <a:latin typeface="Calibri"/>
            </a:endParaRP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95" name="PlaceHolder 1"/>
          <p:cNvSpPr>
            <a:spLocks noGrp="1"/>
          </p:cNvSpPr>
          <p:nvPr>
            <p:ph type="title"/>
          </p:nvPr>
        </p:nvSpPr>
        <p:spPr>
          <a:xfrm>
            <a:off x="1619640" y="2835000"/>
            <a:ext cx="5904720" cy="1259640"/>
          </a:xfrm>
          <a:prstGeom prst="rect">
            <a:avLst/>
          </a:prstGeom>
        </p:spPr>
        <p:txBody>
          <a:bodyPr lIns="0" rIns="0" tIns="0" bIns="0" anchor="ctr">
            <a:noAutofit/>
          </a:bodyPr>
          <a:p>
            <a:endParaRPr b="0" lang="fr-FR" sz="1800" spc="-1" strike="noStrike">
              <a:solidFill>
                <a:srgbClr val="000000"/>
              </a:solidFill>
              <a:latin typeface="Calibri"/>
            </a:endParaRPr>
          </a:p>
        </p:txBody>
      </p:sp>
      <p:sp>
        <p:nvSpPr>
          <p:cNvPr id="96" name="PlaceHolder 2"/>
          <p:cNvSpPr>
            <a:spLocks noGrp="1"/>
          </p:cNvSpPr>
          <p:nvPr>
            <p:ph type="body"/>
          </p:nvPr>
        </p:nvSpPr>
        <p:spPr>
          <a:xfrm>
            <a:off x="5004000" y="5661360"/>
            <a:ext cx="1756080" cy="791640"/>
          </a:xfrm>
          <a:prstGeom prst="rect">
            <a:avLst/>
          </a:prstGeom>
        </p:spPr>
        <p:txBody>
          <a:bodyPr lIns="0" rIns="0" tIns="0" bIns="0">
            <a:normAutofit fontScale="55000"/>
          </a:bodyPr>
          <a:p>
            <a:endParaRPr b="0" lang="fr-FR" sz="2600" spc="-1" strike="noStrike">
              <a:solidFill>
                <a:srgbClr val="205aa7"/>
              </a:solidFill>
              <a:latin typeface="Calibri"/>
            </a:endParaRPr>
          </a:p>
        </p:txBody>
      </p:sp>
      <p:sp>
        <p:nvSpPr>
          <p:cNvPr id="97" name="PlaceHolder 3"/>
          <p:cNvSpPr>
            <a:spLocks noGrp="1"/>
          </p:cNvSpPr>
          <p:nvPr>
            <p:ph type="body"/>
          </p:nvPr>
        </p:nvSpPr>
        <p:spPr>
          <a:xfrm>
            <a:off x="6848280" y="5661360"/>
            <a:ext cx="1756080" cy="791640"/>
          </a:xfrm>
          <a:prstGeom prst="rect">
            <a:avLst/>
          </a:prstGeom>
        </p:spPr>
        <p:txBody>
          <a:bodyPr lIns="0" rIns="0" tIns="0" bIns="0">
            <a:normAutofit fontScale="55000"/>
          </a:bodyPr>
          <a:p>
            <a:endParaRPr b="0" lang="fr-FR" sz="2600" spc="-1" strike="noStrike">
              <a:solidFill>
                <a:srgbClr val="205aa7"/>
              </a:solidFill>
              <a:latin typeface="Calibri"/>
            </a:endParaRPr>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98" name="PlaceHolder 1"/>
          <p:cNvSpPr>
            <a:spLocks noGrp="1"/>
          </p:cNvSpPr>
          <p:nvPr>
            <p:ph type="title"/>
          </p:nvPr>
        </p:nvSpPr>
        <p:spPr>
          <a:xfrm>
            <a:off x="1619640" y="2835000"/>
            <a:ext cx="5904720" cy="1259640"/>
          </a:xfrm>
          <a:prstGeom prst="rect">
            <a:avLst/>
          </a:prstGeom>
        </p:spPr>
        <p:txBody>
          <a:bodyPr lIns="0" rIns="0" tIns="0" bIns="0" anchor="ctr">
            <a:noAutofit/>
          </a:bodyPr>
          <a:p>
            <a:endParaRPr b="0" lang="fr-FR" sz="1800" spc="-1" strike="noStrike">
              <a:solidFill>
                <a:srgbClr val="000000"/>
              </a:solidFill>
              <a:latin typeface="Calibri"/>
            </a:endParaRPr>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99" name="PlaceHolder 1"/>
          <p:cNvSpPr>
            <a:spLocks noGrp="1"/>
          </p:cNvSpPr>
          <p:nvPr>
            <p:ph type="subTitle"/>
          </p:nvPr>
        </p:nvSpPr>
        <p:spPr>
          <a:xfrm>
            <a:off x="1619640" y="2835000"/>
            <a:ext cx="5904720" cy="5840280"/>
          </a:xfrm>
          <a:prstGeom prst="rect">
            <a:avLst/>
          </a:prstGeom>
        </p:spPr>
        <p:txBody>
          <a:bodyPr lIns="0" rIns="0" tIns="0" bIns="0" anchor="ctr">
            <a:noAutofit/>
          </a:bodyPr>
          <a:p>
            <a:pPr algn="ctr"/>
            <a:endParaRPr b="0" lang="fr-FR" sz="3200" spc="-1" strike="noStrike">
              <a:latin typeface="Arial"/>
            </a:endParaRP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00" name="PlaceHolder 1"/>
          <p:cNvSpPr>
            <a:spLocks noGrp="1"/>
          </p:cNvSpPr>
          <p:nvPr>
            <p:ph type="title"/>
          </p:nvPr>
        </p:nvSpPr>
        <p:spPr>
          <a:xfrm>
            <a:off x="1619640" y="2835000"/>
            <a:ext cx="5904720" cy="1259640"/>
          </a:xfrm>
          <a:prstGeom prst="rect">
            <a:avLst/>
          </a:prstGeom>
        </p:spPr>
        <p:txBody>
          <a:bodyPr lIns="0" rIns="0" tIns="0" bIns="0" anchor="ctr">
            <a:noAutofit/>
          </a:bodyPr>
          <a:p>
            <a:endParaRPr b="0" lang="fr-FR" sz="1800" spc="-1" strike="noStrike">
              <a:solidFill>
                <a:srgbClr val="000000"/>
              </a:solidFill>
              <a:latin typeface="Calibri"/>
            </a:endParaRPr>
          </a:p>
        </p:txBody>
      </p:sp>
      <p:sp>
        <p:nvSpPr>
          <p:cNvPr id="101" name="PlaceHolder 2"/>
          <p:cNvSpPr>
            <a:spLocks noGrp="1"/>
          </p:cNvSpPr>
          <p:nvPr>
            <p:ph type="body"/>
          </p:nvPr>
        </p:nvSpPr>
        <p:spPr>
          <a:xfrm>
            <a:off x="5004000" y="5661360"/>
            <a:ext cx="1756080" cy="377280"/>
          </a:xfrm>
          <a:prstGeom prst="rect">
            <a:avLst/>
          </a:prstGeom>
        </p:spPr>
        <p:txBody>
          <a:bodyPr lIns="0" rIns="0" tIns="0" bIns="0">
            <a:normAutofit fontScale="18000"/>
          </a:bodyPr>
          <a:p>
            <a:endParaRPr b="0" lang="fr-FR" sz="2600" spc="-1" strike="noStrike">
              <a:solidFill>
                <a:srgbClr val="205aa7"/>
              </a:solidFill>
              <a:latin typeface="Calibri"/>
            </a:endParaRPr>
          </a:p>
        </p:txBody>
      </p:sp>
      <p:sp>
        <p:nvSpPr>
          <p:cNvPr id="102" name="PlaceHolder 3"/>
          <p:cNvSpPr>
            <a:spLocks noGrp="1"/>
          </p:cNvSpPr>
          <p:nvPr>
            <p:ph type="body"/>
          </p:nvPr>
        </p:nvSpPr>
        <p:spPr>
          <a:xfrm>
            <a:off x="6848280" y="5661360"/>
            <a:ext cx="1756080" cy="791640"/>
          </a:xfrm>
          <a:prstGeom prst="rect">
            <a:avLst/>
          </a:prstGeom>
        </p:spPr>
        <p:txBody>
          <a:bodyPr lIns="0" rIns="0" tIns="0" bIns="0">
            <a:normAutofit fontScale="55000"/>
          </a:bodyPr>
          <a:p>
            <a:endParaRPr b="0" lang="fr-FR" sz="2600" spc="-1" strike="noStrike">
              <a:solidFill>
                <a:srgbClr val="205aa7"/>
              </a:solidFill>
              <a:latin typeface="Calibri"/>
            </a:endParaRPr>
          </a:p>
        </p:txBody>
      </p:sp>
      <p:sp>
        <p:nvSpPr>
          <p:cNvPr id="103" name="PlaceHolder 4"/>
          <p:cNvSpPr>
            <a:spLocks noGrp="1"/>
          </p:cNvSpPr>
          <p:nvPr>
            <p:ph type="body"/>
          </p:nvPr>
        </p:nvSpPr>
        <p:spPr>
          <a:xfrm>
            <a:off x="5004000" y="6075000"/>
            <a:ext cx="1756080" cy="377280"/>
          </a:xfrm>
          <a:prstGeom prst="rect">
            <a:avLst/>
          </a:prstGeom>
        </p:spPr>
        <p:txBody>
          <a:bodyPr lIns="0" rIns="0" tIns="0" bIns="0">
            <a:normAutofit fontScale="18000"/>
          </a:bodyPr>
          <a:p>
            <a:endParaRPr b="0" lang="fr-FR" sz="2600" spc="-1" strike="noStrike">
              <a:solidFill>
                <a:srgbClr val="205aa7"/>
              </a:solidFill>
              <a:latin typeface="Calibri"/>
            </a:endParaRP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04" name="PlaceHolder 1"/>
          <p:cNvSpPr>
            <a:spLocks noGrp="1"/>
          </p:cNvSpPr>
          <p:nvPr>
            <p:ph type="title"/>
          </p:nvPr>
        </p:nvSpPr>
        <p:spPr>
          <a:xfrm>
            <a:off x="1619640" y="2835000"/>
            <a:ext cx="5904720" cy="1259640"/>
          </a:xfrm>
          <a:prstGeom prst="rect">
            <a:avLst/>
          </a:prstGeom>
        </p:spPr>
        <p:txBody>
          <a:bodyPr lIns="0" rIns="0" tIns="0" bIns="0" anchor="ctr">
            <a:noAutofit/>
          </a:bodyPr>
          <a:p>
            <a:endParaRPr b="0" lang="fr-FR" sz="1800" spc="-1" strike="noStrike">
              <a:solidFill>
                <a:srgbClr val="000000"/>
              </a:solidFill>
              <a:latin typeface="Calibri"/>
            </a:endParaRPr>
          </a:p>
        </p:txBody>
      </p:sp>
      <p:sp>
        <p:nvSpPr>
          <p:cNvPr id="105" name="PlaceHolder 2"/>
          <p:cNvSpPr>
            <a:spLocks noGrp="1"/>
          </p:cNvSpPr>
          <p:nvPr>
            <p:ph type="body"/>
          </p:nvPr>
        </p:nvSpPr>
        <p:spPr>
          <a:xfrm>
            <a:off x="5004000" y="5661360"/>
            <a:ext cx="1756080" cy="791640"/>
          </a:xfrm>
          <a:prstGeom prst="rect">
            <a:avLst/>
          </a:prstGeom>
        </p:spPr>
        <p:txBody>
          <a:bodyPr lIns="0" rIns="0" tIns="0" bIns="0">
            <a:normAutofit fontScale="55000"/>
          </a:bodyPr>
          <a:p>
            <a:endParaRPr b="0" lang="fr-FR" sz="2600" spc="-1" strike="noStrike">
              <a:solidFill>
                <a:srgbClr val="205aa7"/>
              </a:solidFill>
              <a:latin typeface="Calibri"/>
            </a:endParaRPr>
          </a:p>
        </p:txBody>
      </p:sp>
      <p:sp>
        <p:nvSpPr>
          <p:cNvPr id="106" name="PlaceHolder 3"/>
          <p:cNvSpPr>
            <a:spLocks noGrp="1"/>
          </p:cNvSpPr>
          <p:nvPr>
            <p:ph type="body"/>
          </p:nvPr>
        </p:nvSpPr>
        <p:spPr>
          <a:xfrm>
            <a:off x="6848280" y="5661360"/>
            <a:ext cx="1756080" cy="377280"/>
          </a:xfrm>
          <a:prstGeom prst="rect">
            <a:avLst/>
          </a:prstGeom>
        </p:spPr>
        <p:txBody>
          <a:bodyPr lIns="0" rIns="0" tIns="0" bIns="0">
            <a:normAutofit fontScale="18000"/>
          </a:bodyPr>
          <a:p>
            <a:endParaRPr b="0" lang="fr-FR" sz="2600" spc="-1" strike="noStrike">
              <a:solidFill>
                <a:srgbClr val="205aa7"/>
              </a:solidFill>
              <a:latin typeface="Calibri"/>
            </a:endParaRPr>
          </a:p>
        </p:txBody>
      </p:sp>
      <p:sp>
        <p:nvSpPr>
          <p:cNvPr id="107" name="PlaceHolder 4"/>
          <p:cNvSpPr>
            <a:spLocks noGrp="1"/>
          </p:cNvSpPr>
          <p:nvPr>
            <p:ph type="body"/>
          </p:nvPr>
        </p:nvSpPr>
        <p:spPr>
          <a:xfrm>
            <a:off x="6848280" y="6075000"/>
            <a:ext cx="1756080" cy="377280"/>
          </a:xfrm>
          <a:prstGeom prst="rect">
            <a:avLst/>
          </a:prstGeom>
        </p:spPr>
        <p:txBody>
          <a:bodyPr lIns="0" rIns="0" tIns="0" bIns="0">
            <a:normAutofit fontScale="18000"/>
          </a:bodyPr>
          <a:p>
            <a:endParaRPr b="0" lang="fr-FR" sz="2600" spc="-1" strike="noStrike">
              <a:solidFill>
                <a:srgbClr val="205aa7"/>
              </a:solidFill>
              <a:latin typeface="Calibri"/>
            </a:endParaRP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08" name="PlaceHolder 1"/>
          <p:cNvSpPr>
            <a:spLocks noGrp="1"/>
          </p:cNvSpPr>
          <p:nvPr>
            <p:ph type="title"/>
          </p:nvPr>
        </p:nvSpPr>
        <p:spPr>
          <a:xfrm>
            <a:off x="1619640" y="2835000"/>
            <a:ext cx="5904720" cy="1259640"/>
          </a:xfrm>
          <a:prstGeom prst="rect">
            <a:avLst/>
          </a:prstGeom>
        </p:spPr>
        <p:txBody>
          <a:bodyPr lIns="0" rIns="0" tIns="0" bIns="0" anchor="ctr">
            <a:noAutofit/>
          </a:bodyPr>
          <a:p>
            <a:endParaRPr b="0" lang="fr-FR" sz="1800" spc="-1" strike="noStrike">
              <a:solidFill>
                <a:srgbClr val="000000"/>
              </a:solidFill>
              <a:latin typeface="Calibri"/>
            </a:endParaRPr>
          </a:p>
        </p:txBody>
      </p:sp>
      <p:sp>
        <p:nvSpPr>
          <p:cNvPr id="109" name="PlaceHolder 2"/>
          <p:cNvSpPr>
            <a:spLocks noGrp="1"/>
          </p:cNvSpPr>
          <p:nvPr>
            <p:ph type="body"/>
          </p:nvPr>
        </p:nvSpPr>
        <p:spPr>
          <a:xfrm>
            <a:off x="5004000" y="5661360"/>
            <a:ext cx="1756080" cy="377280"/>
          </a:xfrm>
          <a:prstGeom prst="rect">
            <a:avLst/>
          </a:prstGeom>
        </p:spPr>
        <p:txBody>
          <a:bodyPr lIns="0" rIns="0" tIns="0" bIns="0">
            <a:normAutofit fontScale="18000"/>
          </a:bodyPr>
          <a:p>
            <a:endParaRPr b="0" lang="fr-FR" sz="2600" spc="-1" strike="noStrike">
              <a:solidFill>
                <a:srgbClr val="205aa7"/>
              </a:solidFill>
              <a:latin typeface="Calibri"/>
            </a:endParaRPr>
          </a:p>
        </p:txBody>
      </p:sp>
      <p:sp>
        <p:nvSpPr>
          <p:cNvPr id="110" name="PlaceHolder 3"/>
          <p:cNvSpPr>
            <a:spLocks noGrp="1"/>
          </p:cNvSpPr>
          <p:nvPr>
            <p:ph type="body"/>
          </p:nvPr>
        </p:nvSpPr>
        <p:spPr>
          <a:xfrm>
            <a:off x="6848280" y="5661360"/>
            <a:ext cx="1756080" cy="377280"/>
          </a:xfrm>
          <a:prstGeom prst="rect">
            <a:avLst/>
          </a:prstGeom>
        </p:spPr>
        <p:txBody>
          <a:bodyPr lIns="0" rIns="0" tIns="0" bIns="0">
            <a:normAutofit fontScale="18000"/>
          </a:bodyPr>
          <a:p>
            <a:endParaRPr b="0" lang="fr-FR" sz="2600" spc="-1" strike="noStrike">
              <a:solidFill>
                <a:srgbClr val="205aa7"/>
              </a:solidFill>
              <a:latin typeface="Calibri"/>
            </a:endParaRPr>
          </a:p>
        </p:txBody>
      </p:sp>
      <p:sp>
        <p:nvSpPr>
          <p:cNvPr id="111" name="PlaceHolder 4"/>
          <p:cNvSpPr>
            <a:spLocks noGrp="1"/>
          </p:cNvSpPr>
          <p:nvPr>
            <p:ph type="body"/>
          </p:nvPr>
        </p:nvSpPr>
        <p:spPr>
          <a:xfrm>
            <a:off x="5004000" y="6075000"/>
            <a:ext cx="3598920" cy="377280"/>
          </a:xfrm>
          <a:prstGeom prst="rect">
            <a:avLst/>
          </a:prstGeom>
        </p:spPr>
        <p:txBody>
          <a:bodyPr lIns="0" rIns="0" tIns="0" bIns="0">
            <a:normAutofit fontScale="97000"/>
          </a:bodyPr>
          <a:p>
            <a:endParaRPr b="0" lang="fr-FR" sz="2600" spc="-1" strike="noStrike">
              <a:solidFill>
                <a:srgbClr val="205aa7"/>
              </a:solidFill>
              <a:latin typeface="Calibri"/>
            </a:endParaRPr>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12" name="PlaceHolder 1"/>
          <p:cNvSpPr>
            <a:spLocks noGrp="1"/>
          </p:cNvSpPr>
          <p:nvPr>
            <p:ph type="title"/>
          </p:nvPr>
        </p:nvSpPr>
        <p:spPr>
          <a:xfrm>
            <a:off x="1619640" y="2835000"/>
            <a:ext cx="5904720" cy="1259640"/>
          </a:xfrm>
          <a:prstGeom prst="rect">
            <a:avLst/>
          </a:prstGeom>
        </p:spPr>
        <p:txBody>
          <a:bodyPr lIns="0" rIns="0" tIns="0" bIns="0" anchor="ctr">
            <a:noAutofit/>
          </a:bodyPr>
          <a:p>
            <a:endParaRPr b="0" lang="fr-FR" sz="1800" spc="-1" strike="noStrike">
              <a:solidFill>
                <a:srgbClr val="000000"/>
              </a:solidFill>
              <a:latin typeface="Calibri"/>
            </a:endParaRPr>
          </a:p>
        </p:txBody>
      </p:sp>
      <p:sp>
        <p:nvSpPr>
          <p:cNvPr id="113" name="PlaceHolder 2"/>
          <p:cNvSpPr>
            <a:spLocks noGrp="1"/>
          </p:cNvSpPr>
          <p:nvPr>
            <p:ph type="body"/>
          </p:nvPr>
        </p:nvSpPr>
        <p:spPr>
          <a:xfrm>
            <a:off x="5004000" y="5661360"/>
            <a:ext cx="3598920" cy="377280"/>
          </a:xfrm>
          <a:prstGeom prst="rect">
            <a:avLst/>
          </a:prstGeom>
        </p:spPr>
        <p:txBody>
          <a:bodyPr lIns="0" rIns="0" tIns="0" bIns="0">
            <a:normAutofit fontScale="97000"/>
          </a:bodyPr>
          <a:p>
            <a:endParaRPr b="0" lang="fr-FR" sz="2600" spc="-1" strike="noStrike">
              <a:solidFill>
                <a:srgbClr val="205aa7"/>
              </a:solidFill>
              <a:latin typeface="Calibri"/>
            </a:endParaRPr>
          </a:p>
        </p:txBody>
      </p:sp>
      <p:sp>
        <p:nvSpPr>
          <p:cNvPr id="114" name="PlaceHolder 3"/>
          <p:cNvSpPr>
            <a:spLocks noGrp="1"/>
          </p:cNvSpPr>
          <p:nvPr>
            <p:ph type="body"/>
          </p:nvPr>
        </p:nvSpPr>
        <p:spPr>
          <a:xfrm>
            <a:off x="5004000" y="6075000"/>
            <a:ext cx="3598920" cy="377280"/>
          </a:xfrm>
          <a:prstGeom prst="rect">
            <a:avLst/>
          </a:prstGeom>
        </p:spPr>
        <p:txBody>
          <a:bodyPr lIns="0" rIns="0" tIns="0" bIns="0">
            <a:normAutofit fontScale="97000"/>
          </a:bodyPr>
          <a:p>
            <a:endParaRPr b="0" lang="fr-FR" sz="2600" spc="-1" strike="noStrike">
              <a:solidFill>
                <a:srgbClr val="205aa7"/>
              </a:solidFill>
              <a:latin typeface="Calibri"/>
            </a:endParaRPr>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15" name="PlaceHolder 1"/>
          <p:cNvSpPr>
            <a:spLocks noGrp="1"/>
          </p:cNvSpPr>
          <p:nvPr>
            <p:ph type="title"/>
          </p:nvPr>
        </p:nvSpPr>
        <p:spPr>
          <a:xfrm>
            <a:off x="1619640" y="2835000"/>
            <a:ext cx="5904720" cy="1259640"/>
          </a:xfrm>
          <a:prstGeom prst="rect">
            <a:avLst/>
          </a:prstGeom>
        </p:spPr>
        <p:txBody>
          <a:bodyPr lIns="0" rIns="0" tIns="0" bIns="0" anchor="ctr">
            <a:noAutofit/>
          </a:bodyPr>
          <a:p>
            <a:endParaRPr b="0" lang="fr-FR" sz="1800" spc="-1" strike="noStrike">
              <a:solidFill>
                <a:srgbClr val="000000"/>
              </a:solidFill>
              <a:latin typeface="Calibri"/>
            </a:endParaRPr>
          </a:p>
        </p:txBody>
      </p:sp>
      <p:sp>
        <p:nvSpPr>
          <p:cNvPr id="116" name="PlaceHolder 2"/>
          <p:cNvSpPr>
            <a:spLocks noGrp="1"/>
          </p:cNvSpPr>
          <p:nvPr>
            <p:ph type="body"/>
          </p:nvPr>
        </p:nvSpPr>
        <p:spPr>
          <a:xfrm>
            <a:off x="5004000" y="5661360"/>
            <a:ext cx="1756080" cy="377280"/>
          </a:xfrm>
          <a:prstGeom prst="rect">
            <a:avLst/>
          </a:prstGeom>
        </p:spPr>
        <p:txBody>
          <a:bodyPr lIns="0" rIns="0" tIns="0" bIns="0">
            <a:normAutofit fontScale="18000"/>
          </a:bodyPr>
          <a:p>
            <a:endParaRPr b="0" lang="fr-FR" sz="2600" spc="-1" strike="noStrike">
              <a:solidFill>
                <a:srgbClr val="205aa7"/>
              </a:solidFill>
              <a:latin typeface="Calibri"/>
            </a:endParaRPr>
          </a:p>
        </p:txBody>
      </p:sp>
      <p:sp>
        <p:nvSpPr>
          <p:cNvPr id="117" name="PlaceHolder 3"/>
          <p:cNvSpPr>
            <a:spLocks noGrp="1"/>
          </p:cNvSpPr>
          <p:nvPr>
            <p:ph type="body"/>
          </p:nvPr>
        </p:nvSpPr>
        <p:spPr>
          <a:xfrm>
            <a:off x="6848280" y="5661360"/>
            <a:ext cx="1756080" cy="377280"/>
          </a:xfrm>
          <a:prstGeom prst="rect">
            <a:avLst/>
          </a:prstGeom>
        </p:spPr>
        <p:txBody>
          <a:bodyPr lIns="0" rIns="0" tIns="0" bIns="0">
            <a:normAutofit fontScale="18000"/>
          </a:bodyPr>
          <a:p>
            <a:endParaRPr b="0" lang="fr-FR" sz="2600" spc="-1" strike="noStrike">
              <a:solidFill>
                <a:srgbClr val="205aa7"/>
              </a:solidFill>
              <a:latin typeface="Calibri"/>
            </a:endParaRPr>
          </a:p>
        </p:txBody>
      </p:sp>
      <p:sp>
        <p:nvSpPr>
          <p:cNvPr id="118" name="PlaceHolder 4"/>
          <p:cNvSpPr>
            <a:spLocks noGrp="1"/>
          </p:cNvSpPr>
          <p:nvPr>
            <p:ph type="body"/>
          </p:nvPr>
        </p:nvSpPr>
        <p:spPr>
          <a:xfrm>
            <a:off x="5004000" y="6075000"/>
            <a:ext cx="1756080" cy="377280"/>
          </a:xfrm>
          <a:prstGeom prst="rect">
            <a:avLst/>
          </a:prstGeom>
        </p:spPr>
        <p:txBody>
          <a:bodyPr lIns="0" rIns="0" tIns="0" bIns="0">
            <a:normAutofit fontScale="18000"/>
          </a:bodyPr>
          <a:p>
            <a:endParaRPr b="0" lang="fr-FR" sz="2600" spc="-1" strike="noStrike">
              <a:solidFill>
                <a:srgbClr val="205aa7"/>
              </a:solidFill>
              <a:latin typeface="Calibri"/>
            </a:endParaRPr>
          </a:p>
        </p:txBody>
      </p:sp>
      <p:sp>
        <p:nvSpPr>
          <p:cNvPr id="119" name="PlaceHolder 5"/>
          <p:cNvSpPr>
            <a:spLocks noGrp="1"/>
          </p:cNvSpPr>
          <p:nvPr>
            <p:ph type="body"/>
          </p:nvPr>
        </p:nvSpPr>
        <p:spPr>
          <a:xfrm>
            <a:off x="6848280" y="6075000"/>
            <a:ext cx="1756080" cy="377280"/>
          </a:xfrm>
          <a:prstGeom prst="rect">
            <a:avLst/>
          </a:prstGeom>
        </p:spPr>
        <p:txBody>
          <a:bodyPr lIns="0" rIns="0" tIns="0" bIns="0">
            <a:normAutofit fontScale="18000"/>
          </a:bodyPr>
          <a:p>
            <a:endParaRPr b="0" lang="fr-FR" sz="2600" spc="-1" strike="noStrike">
              <a:solidFill>
                <a:srgbClr val="205aa7"/>
              </a:solidFill>
              <a:latin typeface="Calibri"/>
            </a:endParaRPr>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20" name="PlaceHolder 1"/>
          <p:cNvSpPr>
            <a:spLocks noGrp="1"/>
          </p:cNvSpPr>
          <p:nvPr>
            <p:ph type="title"/>
          </p:nvPr>
        </p:nvSpPr>
        <p:spPr>
          <a:xfrm>
            <a:off x="1619640" y="2835000"/>
            <a:ext cx="5904720" cy="1259640"/>
          </a:xfrm>
          <a:prstGeom prst="rect">
            <a:avLst/>
          </a:prstGeom>
        </p:spPr>
        <p:txBody>
          <a:bodyPr lIns="0" rIns="0" tIns="0" bIns="0" anchor="ctr">
            <a:noAutofit/>
          </a:bodyPr>
          <a:p>
            <a:endParaRPr b="0" lang="fr-FR" sz="1800" spc="-1" strike="noStrike">
              <a:solidFill>
                <a:srgbClr val="000000"/>
              </a:solidFill>
              <a:latin typeface="Calibri"/>
            </a:endParaRPr>
          </a:p>
        </p:txBody>
      </p:sp>
      <p:sp>
        <p:nvSpPr>
          <p:cNvPr id="121" name="PlaceHolder 2"/>
          <p:cNvSpPr>
            <a:spLocks noGrp="1"/>
          </p:cNvSpPr>
          <p:nvPr>
            <p:ph type="body"/>
          </p:nvPr>
        </p:nvSpPr>
        <p:spPr>
          <a:xfrm>
            <a:off x="5004000" y="5661360"/>
            <a:ext cx="1158480" cy="377280"/>
          </a:xfrm>
          <a:prstGeom prst="rect">
            <a:avLst/>
          </a:prstGeom>
        </p:spPr>
        <p:txBody>
          <a:bodyPr lIns="0" rIns="0" tIns="0" bIns="0">
            <a:normAutofit fontScale="11000"/>
          </a:bodyPr>
          <a:p>
            <a:endParaRPr b="0" lang="fr-FR" sz="2600" spc="-1" strike="noStrike">
              <a:solidFill>
                <a:srgbClr val="205aa7"/>
              </a:solidFill>
              <a:latin typeface="Calibri"/>
            </a:endParaRPr>
          </a:p>
        </p:txBody>
      </p:sp>
      <p:sp>
        <p:nvSpPr>
          <p:cNvPr id="122" name="PlaceHolder 3"/>
          <p:cNvSpPr>
            <a:spLocks noGrp="1"/>
          </p:cNvSpPr>
          <p:nvPr>
            <p:ph type="body"/>
          </p:nvPr>
        </p:nvSpPr>
        <p:spPr>
          <a:xfrm>
            <a:off x="6220800" y="5661360"/>
            <a:ext cx="1158480" cy="377280"/>
          </a:xfrm>
          <a:prstGeom prst="rect">
            <a:avLst/>
          </a:prstGeom>
        </p:spPr>
        <p:txBody>
          <a:bodyPr lIns="0" rIns="0" tIns="0" bIns="0">
            <a:normAutofit fontScale="11000"/>
          </a:bodyPr>
          <a:p>
            <a:endParaRPr b="0" lang="fr-FR" sz="2600" spc="-1" strike="noStrike">
              <a:solidFill>
                <a:srgbClr val="205aa7"/>
              </a:solidFill>
              <a:latin typeface="Calibri"/>
            </a:endParaRPr>
          </a:p>
        </p:txBody>
      </p:sp>
      <p:sp>
        <p:nvSpPr>
          <p:cNvPr id="123" name="PlaceHolder 4"/>
          <p:cNvSpPr>
            <a:spLocks noGrp="1"/>
          </p:cNvSpPr>
          <p:nvPr>
            <p:ph type="body"/>
          </p:nvPr>
        </p:nvSpPr>
        <p:spPr>
          <a:xfrm>
            <a:off x="7437600" y="5661360"/>
            <a:ext cx="1158480" cy="377280"/>
          </a:xfrm>
          <a:prstGeom prst="rect">
            <a:avLst/>
          </a:prstGeom>
        </p:spPr>
        <p:txBody>
          <a:bodyPr lIns="0" rIns="0" tIns="0" bIns="0">
            <a:normAutofit fontScale="11000"/>
          </a:bodyPr>
          <a:p>
            <a:endParaRPr b="0" lang="fr-FR" sz="2600" spc="-1" strike="noStrike">
              <a:solidFill>
                <a:srgbClr val="205aa7"/>
              </a:solidFill>
              <a:latin typeface="Calibri"/>
            </a:endParaRPr>
          </a:p>
        </p:txBody>
      </p:sp>
      <p:sp>
        <p:nvSpPr>
          <p:cNvPr id="124" name="PlaceHolder 5"/>
          <p:cNvSpPr>
            <a:spLocks noGrp="1"/>
          </p:cNvSpPr>
          <p:nvPr>
            <p:ph type="body"/>
          </p:nvPr>
        </p:nvSpPr>
        <p:spPr>
          <a:xfrm>
            <a:off x="5004000" y="6075000"/>
            <a:ext cx="1158480" cy="377280"/>
          </a:xfrm>
          <a:prstGeom prst="rect">
            <a:avLst/>
          </a:prstGeom>
        </p:spPr>
        <p:txBody>
          <a:bodyPr lIns="0" rIns="0" tIns="0" bIns="0">
            <a:normAutofit fontScale="11000"/>
          </a:bodyPr>
          <a:p>
            <a:endParaRPr b="0" lang="fr-FR" sz="2600" spc="-1" strike="noStrike">
              <a:solidFill>
                <a:srgbClr val="205aa7"/>
              </a:solidFill>
              <a:latin typeface="Calibri"/>
            </a:endParaRPr>
          </a:p>
        </p:txBody>
      </p:sp>
      <p:sp>
        <p:nvSpPr>
          <p:cNvPr id="125" name="PlaceHolder 6"/>
          <p:cNvSpPr>
            <a:spLocks noGrp="1"/>
          </p:cNvSpPr>
          <p:nvPr>
            <p:ph type="body"/>
          </p:nvPr>
        </p:nvSpPr>
        <p:spPr>
          <a:xfrm>
            <a:off x="6220800" y="6075000"/>
            <a:ext cx="1158480" cy="377280"/>
          </a:xfrm>
          <a:prstGeom prst="rect">
            <a:avLst/>
          </a:prstGeom>
        </p:spPr>
        <p:txBody>
          <a:bodyPr lIns="0" rIns="0" tIns="0" bIns="0">
            <a:normAutofit fontScale="11000"/>
          </a:bodyPr>
          <a:p>
            <a:endParaRPr b="0" lang="fr-FR" sz="2600" spc="-1" strike="noStrike">
              <a:solidFill>
                <a:srgbClr val="205aa7"/>
              </a:solidFill>
              <a:latin typeface="Calibri"/>
            </a:endParaRPr>
          </a:p>
        </p:txBody>
      </p:sp>
      <p:sp>
        <p:nvSpPr>
          <p:cNvPr id="126" name="PlaceHolder 7"/>
          <p:cNvSpPr>
            <a:spLocks noGrp="1"/>
          </p:cNvSpPr>
          <p:nvPr>
            <p:ph type="body"/>
          </p:nvPr>
        </p:nvSpPr>
        <p:spPr>
          <a:xfrm>
            <a:off x="7437600" y="6075000"/>
            <a:ext cx="1158480" cy="377280"/>
          </a:xfrm>
          <a:prstGeom prst="rect">
            <a:avLst/>
          </a:prstGeom>
        </p:spPr>
        <p:txBody>
          <a:bodyPr lIns="0" rIns="0" tIns="0" bIns="0">
            <a:normAutofit fontScale="11000"/>
          </a:bodyPr>
          <a:p>
            <a:endParaRPr b="0" lang="fr-FR" sz="2600" spc="-1" strike="noStrike">
              <a:solidFill>
                <a:srgbClr val="205aa7"/>
              </a:solidFill>
              <a:latin typeface="Calibri"/>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slideLayout" Target="../slideLayouts/slideLayout1.xml"/><Relationship Id="rId6" Type="http://schemas.openxmlformats.org/officeDocument/2006/relationships/slideLayout" Target="../slideLayouts/slideLayout2.xml"/><Relationship Id="rId7" Type="http://schemas.openxmlformats.org/officeDocument/2006/relationships/slideLayout" Target="../slideLayouts/slideLayout3.xml"/><Relationship Id="rId8" Type="http://schemas.openxmlformats.org/officeDocument/2006/relationships/slideLayout" Target="../slideLayouts/slideLayout4.xml"/><Relationship Id="rId9" Type="http://schemas.openxmlformats.org/officeDocument/2006/relationships/slideLayout" Target="../slideLayouts/slideLayout5.xml"/><Relationship Id="rId10" Type="http://schemas.openxmlformats.org/officeDocument/2006/relationships/slideLayout" Target="../slideLayouts/slideLayout6.xml"/><Relationship Id="rId11" Type="http://schemas.openxmlformats.org/officeDocument/2006/relationships/slideLayout" Target="../slideLayouts/slideLayout7.xml"/><Relationship Id="rId12" Type="http://schemas.openxmlformats.org/officeDocument/2006/relationships/slideLayout" Target="../slideLayouts/slideLayout8.xml"/><Relationship Id="rId13" Type="http://schemas.openxmlformats.org/officeDocument/2006/relationships/slideLayout" Target="../slideLayouts/slideLayout9.xml"/><Relationship Id="rId14" Type="http://schemas.openxmlformats.org/officeDocument/2006/relationships/slideLayout" Target="../slideLayouts/slideLayout10.xml"/><Relationship Id="rId15" Type="http://schemas.openxmlformats.org/officeDocument/2006/relationships/slideLayout" Target="../slideLayouts/slideLayout11.xml"/><Relationship Id="rId16"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slideLayout" Target="../slideLayouts/slideLayout13.xml"/><Relationship Id="rId5" Type="http://schemas.openxmlformats.org/officeDocument/2006/relationships/slideLayout" Target="../slideLayouts/slideLayout14.xml"/><Relationship Id="rId6" Type="http://schemas.openxmlformats.org/officeDocument/2006/relationships/slideLayout" Target="../slideLayouts/slideLayout15.xml"/><Relationship Id="rId7" Type="http://schemas.openxmlformats.org/officeDocument/2006/relationships/slideLayout" Target="../slideLayouts/slideLayout16.xml"/><Relationship Id="rId8" Type="http://schemas.openxmlformats.org/officeDocument/2006/relationships/slideLayout" Target="../slideLayouts/slideLayout17.xml"/><Relationship Id="rId9" Type="http://schemas.openxmlformats.org/officeDocument/2006/relationships/slideLayout" Target="../slideLayouts/slideLayout18.xml"/><Relationship Id="rId10" Type="http://schemas.openxmlformats.org/officeDocument/2006/relationships/slideLayout" Target="../slideLayouts/slideLayout19.xml"/><Relationship Id="rId11" Type="http://schemas.openxmlformats.org/officeDocument/2006/relationships/slideLayout" Target="../slideLayouts/slideLayout20.xml"/><Relationship Id="rId12" Type="http://schemas.openxmlformats.org/officeDocument/2006/relationships/slideLayout" Target="../slideLayouts/slideLayout21.xml"/><Relationship Id="rId13" Type="http://schemas.openxmlformats.org/officeDocument/2006/relationships/slideLayout" Target="../slideLayouts/slideLayout22.xml"/><Relationship Id="rId14" Type="http://schemas.openxmlformats.org/officeDocument/2006/relationships/slideLayout" Target="../slideLayouts/slideLayout23.xml"/><Relationship Id="rId15" Type="http://schemas.openxmlformats.org/officeDocument/2006/relationships/slideLayout" Target="../slideLayouts/slideLayout24.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slideLayout" Target="../slideLayouts/slideLayout25.xml"/><Relationship Id="rId5" Type="http://schemas.openxmlformats.org/officeDocument/2006/relationships/slideLayout" Target="../slideLayouts/slideLayout26.xml"/><Relationship Id="rId6" Type="http://schemas.openxmlformats.org/officeDocument/2006/relationships/slideLayout" Target="../slideLayouts/slideLayout27.xml"/><Relationship Id="rId7" Type="http://schemas.openxmlformats.org/officeDocument/2006/relationships/slideLayout" Target="../slideLayouts/slideLayout28.xml"/><Relationship Id="rId8" Type="http://schemas.openxmlformats.org/officeDocument/2006/relationships/slideLayout" Target="../slideLayouts/slideLayout29.xml"/><Relationship Id="rId9" Type="http://schemas.openxmlformats.org/officeDocument/2006/relationships/slideLayout" Target="../slideLayouts/slideLayout30.xml"/><Relationship Id="rId10" Type="http://schemas.openxmlformats.org/officeDocument/2006/relationships/slideLayout" Target="../slideLayouts/slideLayout31.xml"/><Relationship Id="rId11" Type="http://schemas.openxmlformats.org/officeDocument/2006/relationships/slideLayout" Target="../slideLayouts/slideLayout32.xml"/><Relationship Id="rId12" Type="http://schemas.openxmlformats.org/officeDocument/2006/relationships/slideLayout" Target="../slideLayouts/slideLayout33.xml"/><Relationship Id="rId13" Type="http://schemas.openxmlformats.org/officeDocument/2006/relationships/slideLayout" Target="../slideLayouts/slideLayout34.xml"/><Relationship Id="rId14" Type="http://schemas.openxmlformats.org/officeDocument/2006/relationships/slideLayout" Target="../slideLayouts/slideLayout35.xml"/><Relationship Id="rId15" Type="http://schemas.openxmlformats.org/officeDocument/2006/relationships/slideLayout" Target="../slideLayouts/slideLayout36.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1619640" y="2835000"/>
            <a:ext cx="5904720" cy="1259640"/>
          </a:xfrm>
          <a:prstGeom prst="rect">
            <a:avLst/>
          </a:prstGeom>
        </p:spPr>
        <p:txBody>
          <a:bodyPr anchor="ctr">
            <a:noAutofit/>
          </a:bodyPr>
          <a:p>
            <a:pPr algn="ctr">
              <a:lnSpc>
                <a:spcPct val="100000"/>
              </a:lnSpc>
            </a:pPr>
            <a:r>
              <a:rPr b="1" lang="fr-FR" sz="3000" spc="-1" strike="noStrike" cap="all">
                <a:solidFill>
                  <a:srgbClr val="205aa7"/>
                </a:solidFill>
                <a:latin typeface="Calibri"/>
              </a:rPr>
              <a:t>MODIFIEZ LE STYLE DU TITRE</a:t>
            </a:r>
            <a:endParaRPr b="0" lang="fr-FR" sz="3000" spc="-1" strike="noStrike">
              <a:solidFill>
                <a:srgbClr val="000000"/>
              </a:solidFill>
              <a:latin typeface="Calibri"/>
            </a:endParaRPr>
          </a:p>
        </p:txBody>
      </p:sp>
      <p:sp>
        <p:nvSpPr>
          <p:cNvPr id="1" name="PlaceHolder 2"/>
          <p:cNvSpPr>
            <a:spLocks noGrp="1"/>
          </p:cNvSpPr>
          <p:nvPr>
            <p:ph type="body"/>
          </p:nvPr>
        </p:nvSpPr>
        <p:spPr>
          <a:xfrm>
            <a:off x="5004000" y="5661360"/>
            <a:ext cx="3598920" cy="791640"/>
          </a:xfrm>
          <a:prstGeom prst="rect">
            <a:avLst/>
          </a:prstGeom>
        </p:spPr>
        <p:txBody>
          <a:bodyPr>
            <a:noAutofit/>
          </a:bodyPr>
          <a:p>
            <a:pPr marL="432000" indent="-324000" algn="r">
              <a:lnSpc>
                <a:spcPct val="100000"/>
              </a:lnSpc>
              <a:buClr>
                <a:srgbClr val="000000"/>
              </a:buClr>
              <a:buSzPct val="45000"/>
              <a:buFont typeface="Wingdings" charset="2"/>
              <a:buChar char=""/>
              <a:tabLst>
                <a:tab algn="l" pos="0"/>
              </a:tabLst>
            </a:pPr>
            <a:r>
              <a:rPr b="0" lang="fr-FR" sz="1200" spc="-1" strike="noStrike" cap="all">
                <a:solidFill>
                  <a:srgbClr val="205aa7"/>
                </a:solidFill>
                <a:latin typeface="Calibri"/>
              </a:rPr>
              <a:t>NOM, service</a:t>
            </a:r>
            <a:endParaRPr b="0" lang="fr-FR" sz="1200" spc="-1" strike="noStrike">
              <a:solidFill>
                <a:srgbClr val="205aa7"/>
              </a:solidFill>
              <a:latin typeface="Calibri"/>
            </a:endParaRPr>
          </a:p>
        </p:txBody>
      </p:sp>
      <p:sp>
        <p:nvSpPr>
          <p:cNvPr id="2" name="PlaceHolder 3"/>
          <p:cNvSpPr>
            <a:spLocks noGrp="1"/>
          </p:cNvSpPr>
          <p:nvPr>
            <p:ph type="body"/>
          </p:nvPr>
        </p:nvSpPr>
        <p:spPr>
          <a:xfrm>
            <a:off x="7019280" y="6489360"/>
            <a:ext cx="1583640" cy="259920"/>
          </a:xfrm>
          <a:prstGeom prst="rect">
            <a:avLst/>
          </a:prstGeom>
        </p:spPr>
        <p:txBody>
          <a:bodyPr>
            <a:normAutofit/>
          </a:bodyPr>
          <a:p>
            <a:pPr algn="r">
              <a:lnSpc>
                <a:spcPct val="100000"/>
              </a:lnSpc>
              <a:spcBef>
                <a:spcPts val="181"/>
              </a:spcBef>
              <a:tabLst>
                <a:tab algn="l" pos="0"/>
              </a:tabLst>
            </a:pPr>
            <a:r>
              <a:rPr b="1" lang="fr-FR" sz="900" spc="-1" strike="noStrike" cap="all">
                <a:solidFill>
                  <a:srgbClr val="205aa7"/>
                </a:solidFill>
                <a:latin typeface="Calibri"/>
              </a:rPr>
              <a:t>DATE</a:t>
            </a:r>
            <a:endParaRPr b="0" lang="fr-FR" sz="900" spc="-1" strike="noStrike">
              <a:solidFill>
                <a:srgbClr val="205aa7"/>
              </a:solidFill>
              <a:latin typeface="Calibri"/>
            </a:endParaRPr>
          </a:p>
        </p:txBody>
      </p:sp>
      <p:pic>
        <p:nvPicPr>
          <p:cNvPr id="3" name="Image 4" descr=""/>
          <p:cNvPicPr/>
          <p:nvPr/>
        </p:nvPicPr>
        <p:blipFill>
          <a:blip r:embed="rId2"/>
          <a:stretch/>
        </p:blipFill>
        <p:spPr>
          <a:xfrm>
            <a:off x="3492000" y="252000"/>
            <a:ext cx="2159640" cy="1011240"/>
          </a:xfrm>
          <a:prstGeom prst="rect">
            <a:avLst/>
          </a:prstGeom>
          <a:ln>
            <a:noFill/>
          </a:ln>
        </p:spPr>
      </p:pic>
      <p:pic>
        <p:nvPicPr>
          <p:cNvPr id="4" name="Image 10" descr=""/>
          <p:cNvPicPr/>
          <p:nvPr/>
        </p:nvPicPr>
        <p:blipFill>
          <a:blip r:embed="rId3"/>
          <a:stretch/>
        </p:blipFill>
        <p:spPr>
          <a:xfrm>
            <a:off x="35640" y="1772640"/>
            <a:ext cx="1583640" cy="3482640"/>
          </a:xfrm>
          <a:prstGeom prst="rect">
            <a:avLst/>
          </a:prstGeom>
          <a:ln>
            <a:noFill/>
          </a:ln>
        </p:spPr>
      </p:pic>
      <p:pic>
        <p:nvPicPr>
          <p:cNvPr id="5" name="Image 7" descr=""/>
          <p:cNvPicPr/>
          <p:nvPr/>
        </p:nvPicPr>
        <p:blipFill>
          <a:blip r:embed="rId4"/>
          <a:stretch/>
        </p:blipFill>
        <p:spPr>
          <a:xfrm flipH="1">
            <a:off x="7524720" y="1772640"/>
            <a:ext cx="1583640" cy="3482640"/>
          </a:xfrm>
          <a:prstGeom prst="rect">
            <a:avLst/>
          </a:prstGeom>
          <a:ln>
            <a:noFill/>
          </a:ln>
        </p:spPr>
      </p:pic>
    </p:spTree>
  </p:cSld>
  <p:clrMap bg1="lt1" bg2="lt2" tx1="dk1" tx2="dk2" accent1="accent1" accent2="accent2" accent3="accent3" accent4="accent4" accent5="accent5" accent6="accent6" hlink="hlink" folHlink="folHlink"/>
  <p:sldLayoutIdLst>
    <p:sldLayoutId id="2147483649" r:id="rId5"/>
    <p:sldLayoutId id="2147483650" r:id="rId6"/>
    <p:sldLayoutId id="2147483651" r:id="rId7"/>
    <p:sldLayoutId id="2147483652" r:id="rId8"/>
    <p:sldLayoutId id="2147483653" r:id="rId9"/>
    <p:sldLayoutId id="2147483654" r:id="rId10"/>
    <p:sldLayoutId id="2147483655" r:id="rId11"/>
    <p:sldLayoutId id="2147483656" r:id="rId12"/>
    <p:sldLayoutId id="2147483657" r:id="rId13"/>
    <p:sldLayoutId id="2147483658" r:id="rId14"/>
    <p:sldLayoutId id="2147483659" r:id="rId15"/>
    <p:sldLayoutId id="2147483660" r:id="rId16"/>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2" name="PlaceHolder 1"/>
          <p:cNvSpPr>
            <a:spLocks noGrp="1"/>
          </p:cNvSpPr>
          <p:nvPr>
            <p:ph type="ftr"/>
          </p:nvPr>
        </p:nvSpPr>
        <p:spPr>
          <a:xfrm>
            <a:off x="3124080" y="6480000"/>
            <a:ext cx="4975920" cy="359640"/>
          </a:xfrm>
          <a:prstGeom prst="rect">
            <a:avLst/>
          </a:prstGeom>
        </p:spPr>
        <p:txBody>
          <a:bodyPr>
            <a:noAutofit/>
          </a:bodyPr>
          <a:p>
            <a:endParaRPr b="0" lang="fr-FR" sz="2400" spc="-1" strike="noStrike">
              <a:latin typeface="Times New Roman"/>
            </a:endParaRPr>
          </a:p>
        </p:txBody>
      </p:sp>
      <p:sp>
        <p:nvSpPr>
          <p:cNvPr id="43" name="PlaceHolder 2"/>
          <p:cNvSpPr>
            <a:spLocks noGrp="1"/>
          </p:cNvSpPr>
          <p:nvPr>
            <p:ph type="sldNum"/>
          </p:nvPr>
        </p:nvSpPr>
        <p:spPr>
          <a:xfrm>
            <a:off x="8172360" y="6480000"/>
            <a:ext cx="539640" cy="359640"/>
          </a:xfrm>
          <a:prstGeom prst="rect">
            <a:avLst/>
          </a:prstGeom>
        </p:spPr>
        <p:txBody>
          <a:bodyPr lIns="90000" rIns="90000" tIns="45000" bIns="45000">
            <a:noAutofit/>
          </a:bodyPr>
          <a:p>
            <a:pPr algn="r">
              <a:lnSpc>
                <a:spcPct val="100000"/>
              </a:lnSpc>
            </a:pPr>
            <a:fld id="{6BC6098C-F707-47E2-AF86-516BD6C8FC3B}" type="slidenum">
              <a:rPr b="0" lang="fr-FR" sz="900" spc="-1" strike="noStrike">
                <a:solidFill>
                  <a:srgbClr val="205aa7"/>
                </a:solidFill>
                <a:latin typeface="Calibri"/>
              </a:rPr>
              <a:t>&lt;number&gt;</a:t>
            </a:fld>
            <a:endParaRPr b="0" lang="fr-FR" sz="900" spc="-1" strike="noStrike">
              <a:latin typeface="Times New Roman"/>
            </a:endParaRPr>
          </a:p>
        </p:txBody>
      </p:sp>
      <p:pic>
        <p:nvPicPr>
          <p:cNvPr id="44" name="Image 14" descr=""/>
          <p:cNvPicPr/>
          <p:nvPr/>
        </p:nvPicPr>
        <p:blipFill>
          <a:blip r:embed="rId2"/>
          <a:stretch/>
        </p:blipFill>
        <p:spPr>
          <a:xfrm>
            <a:off x="3492000" y="252000"/>
            <a:ext cx="2159640" cy="1011240"/>
          </a:xfrm>
          <a:prstGeom prst="rect">
            <a:avLst/>
          </a:prstGeom>
          <a:ln>
            <a:noFill/>
          </a:ln>
        </p:spPr>
      </p:pic>
      <p:pic>
        <p:nvPicPr>
          <p:cNvPr id="45" name="Image 7" descr=""/>
          <p:cNvPicPr/>
          <p:nvPr/>
        </p:nvPicPr>
        <p:blipFill>
          <a:blip r:embed="rId3"/>
          <a:stretch/>
        </p:blipFill>
        <p:spPr>
          <a:xfrm>
            <a:off x="35640" y="1772640"/>
            <a:ext cx="1583640" cy="3482640"/>
          </a:xfrm>
          <a:prstGeom prst="rect">
            <a:avLst/>
          </a:prstGeom>
          <a:ln>
            <a:noFill/>
          </a:ln>
        </p:spPr>
      </p:pic>
      <p:sp>
        <p:nvSpPr>
          <p:cNvPr id="46" name="PlaceHolder 3"/>
          <p:cNvSpPr>
            <a:spLocks noGrp="1"/>
          </p:cNvSpPr>
          <p:nvPr>
            <p:ph type="body"/>
          </p:nvPr>
        </p:nvSpPr>
        <p:spPr>
          <a:xfrm>
            <a:off x="1692000" y="1584000"/>
            <a:ext cx="7019640" cy="4499640"/>
          </a:xfrm>
          <a:prstGeom prst="rect">
            <a:avLst/>
          </a:prstGeom>
        </p:spPr>
        <p:txBody>
          <a:bodyPr>
            <a:noAutofit/>
          </a:bodyPr>
          <a:p>
            <a:pPr marL="432000" indent="-324000">
              <a:lnSpc>
                <a:spcPct val="100000"/>
              </a:lnSpc>
              <a:spcBef>
                <a:spcPts val="519"/>
              </a:spcBef>
              <a:buClr>
                <a:srgbClr val="000000"/>
              </a:buClr>
              <a:buSzPct val="45000"/>
              <a:buFont typeface="Wingdings" charset="2"/>
              <a:buChar char=""/>
            </a:pPr>
            <a:r>
              <a:rPr b="0" lang="fr-FR" sz="2600" spc="-1" strike="noStrike">
                <a:solidFill>
                  <a:srgbClr val="205aa7"/>
                </a:solidFill>
                <a:latin typeface="Calibri"/>
              </a:rPr>
              <a:t>Modifier les styles du texte du masque</a:t>
            </a:r>
            <a:endParaRPr b="0" lang="fr-FR" sz="2600" spc="-1" strike="noStrike">
              <a:solidFill>
                <a:srgbClr val="205aa7"/>
              </a:solidFill>
              <a:latin typeface="Calibri"/>
            </a:endParaRPr>
          </a:p>
          <a:p>
            <a:pPr lvl="1" marL="864000" indent="-324000">
              <a:lnSpc>
                <a:spcPct val="100000"/>
              </a:lnSpc>
              <a:spcBef>
                <a:spcPts val="479"/>
              </a:spcBef>
              <a:buClr>
                <a:srgbClr val="000000"/>
              </a:buClr>
              <a:buSzPct val="75000"/>
              <a:buFont typeface="Symbol" charset="2"/>
              <a:buChar char=""/>
            </a:pPr>
            <a:r>
              <a:rPr b="0" lang="fr-FR" sz="2400" spc="-1" strike="noStrike">
                <a:solidFill>
                  <a:srgbClr val="205aa7"/>
                </a:solidFill>
                <a:latin typeface="Calibri"/>
              </a:rPr>
              <a:t>Deuxième niveau</a:t>
            </a:r>
            <a:endParaRPr b="0" lang="fr-FR" sz="2400" spc="-1" strike="noStrike">
              <a:solidFill>
                <a:srgbClr val="595959"/>
              </a:solidFill>
              <a:latin typeface="Calibri"/>
            </a:endParaRPr>
          </a:p>
          <a:p>
            <a:pPr lvl="2" marL="1296000" indent="-288000">
              <a:lnSpc>
                <a:spcPct val="100000"/>
              </a:lnSpc>
              <a:spcBef>
                <a:spcPts val="439"/>
              </a:spcBef>
              <a:buClr>
                <a:srgbClr val="000000"/>
              </a:buClr>
              <a:buSzPct val="45000"/>
              <a:buFont typeface="Wingdings" charset="2"/>
              <a:buChar char=""/>
            </a:pPr>
            <a:r>
              <a:rPr b="0" lang="fr-FR" sz="2200" spc="-1" strike="noStrike">
                <a:solidFill>
                  <a:srgbClr val="595959"/>
                </a:solidFill>
                <a:latin typeface="Calibri"/>
              </a:rPr>
              <a:t>Troisième niveau</a:t>
            </a:r>
            <a:endParaRPr b="0" lang="fr-FR" sz="2200" spc="-1" strike="noStrike">
              <a:solidFill>
                <a:srgbClr val="595959"/>
              </a:solidFill>
              <a:latin typeface="Calibri"/>
            </a:endParaRPr>
          </a:p>
          <a:p>
            <a:pPr lvl="3" marL="1728000" indent="-216000">
              <a:lnSpc>
                <a:spcPct val="100000"/>
              </a:lnSpc>
              <a:spcBef>
                <a:spcPts val="400"/>
              </a:spcBef>
              <a:buClr>
                <a:srgbClr val="000000"/>
              </a:buClr>
              <a:buSzPct val="75000"/>
              <a:buFont typeface="Symbol" charset="2"/>
              <a:buChar char=""/>
            </a:pPr>
            <a:r>
              <a:rPr b="0" lang="fr-FR" sz="2000" spc="-1" strike="noStrike">
                <a:solidFill>
                  <a:srgbClr val="595959"/>
                </a:solidFill>
                <a:latin typeface="Calibri"/>
              </a:rPr>
              <a:t>Quatrième niveau</a:t>
            </a:r>
            <a:endParaRPr b="0" lang="fr-FR" sz="2000" spc="-1" strike="noStrike">
              <a:solidFill>
                <a:srgbClr val="595959"/>
              </a:solidFill>
              <a:latin typeface="Calibri"/>
            </a:endParaRPr>
          </a:p>
          <a:p>
            <a:pPr lvl="4" marL="2160000" indent="-216000">
              <a:lnSpc>
                <a:spcPct val="100000"/>
              </a:lnSpc>
              <a:spcBef>
                <a:spcPts val="360"/>
              </a:spcBef>
              <a:buClr>
                <a:srgbClr val="000000"/>
              </a:buClr>
              <a:buSzPct val="45000"/>
              <a:buFont typeface="Wingdings" charset="2"/>
              <a:buChar char=""/>
            </a:pPr>
            <a:r>
              <a:rPr b="0" lang="fr-FR" sz="1800" spc="-1" strike="noStrike">
                <a:solidFill>
                  <a:srgbClr val="595959"/>
                </a:solidFill>
                <a:latin typeface="Calibri"/>
              </a:rPr>
              <a:t>Cinquième niveau</a:t>
            </a:r>
            <a:endParaRPr b="0" lang="fr-FR" sz="1800" spc="-1" strike="noStrike">
              <a:solidFill>
                <a:srgbClr val="595959"/>
              </a:solidFill>
              <a:latin typeface="Calibri"/>
            </a:endParaRPr>
          </a:p>
        </p:txBody>
      </p:sp>
      <p:sp>
        <p:nvSpPr>
          <p:cNvPr id="47" name="PlaceHolder 4"/>
          <p:cNvSpPr>
            <a:spLocks noGrp="1"/>
          </p:cNvSpPr>
          <p:nvPr>
            <p:ph type="title"/>
          </p:nvPr>
        </p:nvSpPr>
        <p:spPr>
          <a:xfrm>
            <a:off x="457200" y="273600"/>
            <a:ext cx="8229240" cy="1144800"/>
          </a:xfrm>
          <a:prstGeom prst="rect">
            <a:avLst/>
          </a:prstGeom>
        </p:spPr>
        <p:txBody>
          <a:bodyPr lIns="0" rIns="0" tIns="0" bIns="0" anchor="ctr">
            <a:noAutofit/>
          </a:bodyPr>
          <a:p>
            <a:r>
              <a:rPr b="0" lang="fr-FR" sz="1800" spc="-1" strike="noStrike">
                <a:solidFill>
                  <a:srgbClr val="000000"/>
                </a:solidFill>
                <a:latin typeface="Calibri"/>
              </a:rPr>
              <a:t>Click to edit the title text format</a:t>
            </a:r>
            <a:endParaRPr b="0" lang="fr-FR" sz="1800" spc="-1" strike="noStrike">
              <a:solidFill>
                <a:srgbClr val="000000"/>
              </a:solidFill>
              <a:latin typeface="Calibri"/>
            </a:endParaRPr>
          </a:p>
        </p:txBody>
      </p:sp>
    </p:spTree>
  </p:cSld>
  <p:clrMap bg1="lt1" bg2="lt2" tx1="dk1" tx2="dk2" accent1="accent1" accent2="accent2" accent3="accent3" accent4="accent4" accent5="accent5" accent6="accent6" hlink="hlink" folHlink="folHlink"/>
  <p:sldLayoutIdLst>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4" name="CustomShape 1"/>
          <p:cNvSpPr/>
          <p:nvPr/>
        </p:nvSpPr>
        <p:spPr>
          <a:xfrm>
            <a:off x="0" y="0"/>
            <a:ext cx="9143640" cy="1151640"/>
          </a:xfrm>
          <a:prstGeom prst="rect">
            <a:avLst/>
          </a:prstGeom>
          <a:solidFill>
            <a:srgbClr val="00449e"/>
          </a:solidFill>
          <a:ln w="38160">
            <a:noFill/>
          </a:ln>
        </p:spPr>
        <p:style>
          <a:lnRef idx="0"/>
          <a:fillRef idx="0"/>
          <a:effectRef idx="0"/>
          <a:fontRef idx="minor"/>
        </p:style>
      </p:sp>
      <p:sp>
        <p:nvSpPr>
          <p:cNvPr id="85" name="PlaceHolder 2"/>
          <p:cNvSpPr>
            <a:spLocks noGrp="1"/>
          </p:cNvSpPr>
          <p:nvPr>
            <p:ph type="title"/>
          </p:nvPr>
        </p:nvSpPr>
        <p:spPr>
          <a:xfrm>
            <a:off x="468000" y="0"/>
            <a:ext cx="8229240" cy="1142640"/>
          </a:xfrm>
          <a:prstGeom prst="rect">
            <a:avLst/>
          </a:prstGeom>
        </p:spPr>
        <p:txBody>
          <a:bodyPr anchor="ctr">
            <a:noAutofit/>
          </a:bodyPr>
          <a:p>
            <a:pPr>
              <a:lnSpc>
                <a:spcPct val="100000"/>
              </a:lnSpc>
            </a:pPr>
            <a:r>
              <a:rPr b="1" lang="fr-FR" sz="2400" spc="-1" strike="noStrike" cap="all">
                <a:solidFill>
                  <a:srgbClr val="ffffff"/>
                </a:solidFill>
                <a:latin typeface="Calibri"/>
              </a:rPr>
              <a:t>MODIFIEZ LE STYLE DU TITRE</a:t>
            </a:r>
            <a:endParaRPr b="0" lang="fr-FR" sz="2400" spc="-1" strike="noStrike">
              <a:solidFill>
                <a:srgbClr val="000000"/>
              </a:solidFill>
              <a:latin typeface="Calibri"/>
            </a:endParaRPr>
          </a:p>
        </p:txBody>
      </p:sp>
      <p:sp>
        <p:nvSpPr>
          <p:cNvPr id="86" name="PlaceHolder 3"/>
          <p:cNvSpPr>
            <a:spLocks noGrp="1"/>
          </p:cNvSpPr>
          <p:nvPr>
            <p:ph type="ftr"/>
          </p:nvPr>
        </p:nvSpPr>
        <p:spPr>
          <a:xfrm>
            <a:off x="3124080" y="6480000"/>
            <a:ext cx="4975920" cy="359640"/>
          </a:xfrm>
          <a:prstGeom prst="rect">
            <a:avLst/>
          </a:prstGeom>
        </p:spPr>
        <p:txBody>
          <a:bodyPr>
            <a:noAutofit/>
          </a:bodyPr>
          <a:p>
            <a:endParaRPr b="0" lang="fr-FR" sz="2400" spc="-1" strike="noStrike">
              <a:latin typeface="Times New Roman"/>
            </a:endParaRPr>
          </a:p>
        </p:txBody>
      </p:sp>
      <p:sp>
        <p:nvSpPr>
          <p:cNvPr id="87" name="PlaceHolder 4"/>
          <p:cNvSpPr>
            <a:spLocks noGrp="1"/>
          </p:cNvSpPr>
          <p:nvPr>
            <p:ph type="sldNum"/>
          </p:nvPr>
        </p:nvSpPr>
        <p:spPr>
          <a:xfrm>
            <a:off x="8172360" y="6480000"/>
            <a:ext cx="539640" cy="359640"/>
          </a:xfrm>
          <a:prstGeom prst="rect">
            <a:avLst/>
          </a:prstGeom>
        </p:spPr>
        <p:txBody>
          <a:bodyPr lIns="90000" rIns="90000" tIns="45000" bIns="45000">
            <a:noAutofit/>
          </a:bodyPr>
          <a:p>
            <a:pPr algn="r">
              <a:lnSpc>
                <a:spcPct val="100000"/>
              </a:lnSpc>
            </a:pPr>
            <a:fld id="{82B4B9EC-3407-4AE2-8783-789367AB3061}" type="slidenum">
              <a:rPr b="0" lang="fr-FR" sz="900" spc="-1" strike="noStrike">
                <a:solidFill>
                  <a:srgbClr val="205aa7"/>
                </a:solidFill>
                <a:latin typeface="Calibri"/>
              </a:rPr>
              <a:t>&lt;number&gt;</a:t>
            </a:fld>
            <a:endParaRPr b="0" lang="fr-FR" sz="900" spc="-1" strike="noStrike">
              <a:latin typeface="Times New Roman"/>
            </a:endParaRPr>
          </a:p>
        </p:txBody>
      </p:sp>
      <p:pic>
        <p:nvPicPr>
          <p:cNvPr id="88" name="Image 7" descr=""/>
          <p:cNvPicPr/>
          <p:nvPr/>
        </p:nvPicPr>
        <p:blipFill>
          <a:blip r:embed="rId2"/>
          <a:stretch/>
        </p:blipFill>
        <p:spPr>
          <a:xfrm>
            <a:off x="143640" y="6309360"/>
            <a:ext cx="899640" cy="421200"/>
          </a:xfrm>
          <a:prstGeom prst="rect">
            <a:avLst/>
          </a:prstGeom>
          <a:ln>
            <a:noFill/>
          </a:ln>
        </p:spPr>
      </p:pic>
      <p:pic>
        <p:nvPicPr>
          <p:cNvPr id="89" name="Image 5" descr=""/>
          <p:cNvPicPr/>
          <p:nvPr/>
        </p:nvPicPr>
        <p:blipFill>
          <a:blip r:embed="rId3"/>
          <a:stretch/>
        </p:blipFill>
        <p:spPr>
          <a:xfrm>
            <a:off x="72000" y="198000"/>
            <a:ext cx="406440" cy="755640"/>
          </a:xfrm>
          <a:prstGeom prst="rect">
            <a:avLst/>
          </a:prstGeom>
          <a:ln>
            <a:noFill/>
          </a:ln>
        </p:spPr>
      </p:pic>
      <p:sp>
        <p:nvSpPr>
          <p:cNvPr id="90" name="PlaceHolder 5"/>
          <p:cNvSpPr>
            <a:spLocks noGrp="1"/>
          </p:cNvSpPr>
          <p:nvPr>
            <p:ph type="body"/>
          </p:nvPr>
        </p:nvSpPr>
        <p:spPr>
          <a:xfrm>
            <a:off x="468000" y="1440000"/>
            <a:ext cx="8229240" cy="4525560"/>
          </a:xfrm>
          <a:prstGeom prst="rect">
            <a:avLst/>
          </a:prstGeom>
        </p:spPr>
        <p:txBody>
          <a:bodyPr>
            <a:normAutofit/>
          </a:bodyPr>
          <a:p>
            <a:pPr marL="432000" indent="-324000">
              <a:lnSpc>
                <a:spcPct val="100000"/>
              </a:lnSpc>
              <a:spcBef>
                <a:spcPts val="519"/>
              </a:spcBef>
              <a:buClr>
                <a:srgbClr val="000000"/>
              </a:buClr>
              <a:buSzPct val="45000"/>
              <a:buFont typeface="Wingdings" charset="2"/>
              <a:buChar char=""/>
            </a:pPr>
            <a:r>
              <a:rPr b="0" lang="fr-FR" sz="2600" spc="-1" strike="noStrike">
                <a:solidFill>
                  <a:srgbClr val="205aa7"/>
                </a:solidFill>
                <a:latin typeface="Calibri"/>
              </a:rPr>
              <a:t>Modifier les styles du texte du masque</a:t>
            </a:r>
            <a:endParaRPr b="0" lang="fr-FR" sz="2600" spc="-1" strike="noStrike">
              <a:solidFill>
                <a:srgbClr val="205aa7"/>
              </a:solidFill>
              <a:latin typeface="Calibri"/>
            </a:endParaRPr>
          </a:p>
          <a:p>
            <a:pPr lvl="1" marL="864000" indent="-324000">
              <a:lnSpc>
                <a:spcPct val="100000"/>
              </a:lnSpc>
              <a:spcBef>
                <a:spcPts val="479"/>
              </a:spcBef>
              <a:buClr>
                <a:srgbClr val="000000"/>
              </a:buClr>
              <a:buSzPct val="75000"/>
              <a:buFont typeface="Symbol" charset="2"/>
              <a:buChar char=""/>
            </a:pPr>
            <a:r>
              <a:rPr b="0" lang="fr-FR" sz="2400" spc="-1" strike="noStrike">
                <a:solidFill>
                  <a:srgbClr val="205aa7"/>
                </a:solidFill>
                <a:latin typeface="Calibri"/>
              </a:rPr>
              <a:t>Deuxième niveau</a:t>
            </a:r>
            <a:endParaRPr b="0" lang="fr-FR" sz="2400" spc="-1" strike="noStrike">
              <a:solidFill>
                <a:srgbClr val="595959"/>
              </a:solidFill>
              <a:latin typeface="Calibri"/>
            </a:endParaRPr>
          </a:p>
          <a:p>
            <a:pPr lvl="2" marL="1296000" indent="-288000">
              <a:lnSpc>
                <a:spcPct val="100000"/>
              </a:lnSpc>
              <a:spcBef>
                <a:spcPts val="439"/>
              </a:spcBef>
              <a:buClr>
                <a:srgbClr val="000000"/>
              </a:buClr>
              <a:buSzPct val="45000"/>
              <a:buFont typeface="Wingdings" charset="2"/>
              <a:buChar char=""/>
            </a:pPr>
            <a:r>
              <a:rPr b="0" lang="fr-FR" sz="2200" spc="-1" strike="noStrike">
                <a:solidFill>
                  <a:srgbClr val="595959"/>
                </a:solidFill>
                <a:latin typeface="Calibri"/>
              </a:rPr>
              <a:t>Troisième niveau</a:t>
            </a:r>
            <a:endParaRPr b="0" lang="fr-FR" sz="2200" spc="-1" strike="noStrike">
              <a:solidFill>
                <a:srgbClr val="595959"/>
              </a:solidFill>
              <a:latin typeface="Calibri"/>
            </a:endParaRPr>
          </a:p>
          <a:p>
            <a:pPr lvl="3" marL="1728000" indent="-216000">
              <a:lnSpc>
                <a:spcPct val="100000"/>
              </a:lnSpc>
              <a:spcBef>
                <a:spcPts val="400"/>
              </a:spcBef>
              <a:buClr>
                <a:srgbClr val="000000"/>
              </a:buClr>
              <a:buSzPct val="75000"/>
              <a:buFont typeface="Symbol" charset="2"/>
              <a:buChar char=""/>
            </a:pPr>
            <a:r>
              <a:rPr b="0" lang="fr-FR" sz="2000" spc="-1" strike="noStrike">
                <a:solidFill>
                  <a:srgbClr val="595959"/>
                </a:solidFill>
                <a:latin typeface="Calibri"/>
              </a:rPr>
              <a:t>Quatrième niveau</a:t>
            </a:r>
            <a:endParaRPr b="0" lang="fr-FR" sz="2000" spc="-1" strike="noStrike">
              <a:solidFill>
                <a:srgbClr val="595959"/>
              </a:solidFill>
              <a:latin typeface="Calibri"/>
            </a:endParaRPr>
          </a:p>
          <a:p>
            <a:pPr lvl="4" marL="2160000" indent="-216000">
              <a:lnSpc>
                <a:spcPct val="100000"/>
              </a:lnSpc>
              <a:spcBef>
                <a:spcPts val="360"/>
              </a:spcBef>
              <a:buClr>
                <a:srgbClr val="000000"/>
              </a:buClr>
              <a:buSzPct val="45000"/>
              <a:buFont typeface="Wingdings" charset="2"/>
              <a:buChar char=""/>
            </a:pPr>
            <a:r>
              <a:rPr b="0" lang="fr-FR" sz="1800" spc="-1" strike="noStrike">
                <a:solidFill>
                  <a:srgbClr val="595959"/>
                </a:solidFill>
                <a:latin typeface="Calibri"/>
              </a:rPr>
              <a:t>Cinquième niveau</a:t>
            </a:r>
            <a:endParaRPr b="0" lang="fr-FR" sz="1800" spc="-1" strike="noStrike">
              <a:solidFill>
                <a:srgbClr val="595959"/>
              </a:solidFill>
              <a:latin typeface="Calibri"/>
            </a:endParaRPr>
          </a:p>
        </p:txBody>
      </p:sp>
    </p:spTree>
  </p:cSld>
  <p:clrMap bg1="lt1" bg2="lt2" tx1="dk1" tx2="dk2" accent1="accent1" accent2="accent2" accent3="accent3" accent4="accent4" accent5="accent5" accent6="accent6" hlink="hlink" folHlink="folHlink"/>
  <p:sldLayoutIdLst>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 id="2147483683" r:id="rId12"/>
    <p:sldLayoutId id="2147483684" r:id="rId13"/>
    <p:sldLayoutId id="2147483685" r:id="rId14"/>
    <p:sldLayoutId id="2147483686" r:id="rId15"/>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3.xml.rels><?xml version="1.0" encoding="UTF-8"?>
<Relationships xmlns="http://schemas.openxmlformats.org/package/2006/relationships"><Relationship Id="rId1" Type="http://schemas.openxmlformats.org/officeDocument/2006/relationships/image" Target="../media/image8.wmf"/><Relationship Id="rId2" Type="http://schemas.openxmlformats.org/officeDocument/2006/relationships/slideLayout" Target="../slideLayouts/slideLayout25.xml"/>
</Relationships>
</file>

<file path=ppt/slides/_rels/slide4.xml.rels><?xml version="1.0" encoding="UTF-8"?>
<Relationships xmlns="http://schemas.openxmlformats.org/package/2006/relationships"><Relationship Id="rId1" Type="http://schemas.openxmlformats.org/officeDocument/2006/relationships/image" Target="../media/image9.wmf"/><Relationship Id="rId2" Type="http://schemas.openxmlformats.org/officeDocument/2006/relationships/slideLayout" Target="../slideLayouts/slideLayout25.xml"/>
</Relationships>
</file>

<file path=ppt/slides/_rels/slide5.xml.rels><?xml version="1.0" encoding="UTF-8"?>
<Relationships xmlns="http://schemas.openxmlformats.org/package/2006/relationships"><Relationship Id="rId1" Type="http://schemas.openxmlformats.org/officeDocument/2006/relationships/image" Target="../media/image10.wmf"/><Relationship Id="rId2" Type="http://schemas.openxmlformats.org/officeDocument/2006/relationships/slideLayout" Target="../slideLayouts/slideLayout25.xml"/>
</Relationships>
</file>

<file path=ppt/slides/_rels/slide6.xml.rels><?xml version="1.0" encoding="UTF-8"?>
<Relationships xmlns="http://schemas.openxmlformats.org/package/2006/relationships"><Relationship Id="rId1" Type="http://schemas.openxmlformats.org/officeDocument/2006/relationships/image" Target="../media/image11.wmf"/><Relationship Id="rId2" Type="http://schemas.openxmlformats.org/officeDocument/2006/relationships/slideLayout" Target="../slideLayouts/slideLayout25.xml"/>
</Relationships>
</file>

<file path=ppt/slides/_rels/slide7.xml.rels><?xml version="1.0" encoding="UTF-8"?>
<Relationships xmlns="http://schemas.openxmlformats.org/package/2006/relationships"><Relationship Id="rId1" Type="http://schemas.openxmlformats.org/officeDocument/2006/relationships/image" Target="../media/image12.wmf"/><Relationship Id="rId2" Type="http://schemas.openxmlformats.org/officeDocument/2006/relationships/slideLayout" Target="../slideLayouts/slideLayout25.xml"/>
</Relationships>
</file>

<file path=ppt/slides/_rels/slide8.xml.rels><?xml version="1.0" encoding="UTF-8"?>
<Relationships xmlns="http://schemas.openxmlformats.org/package/2006/relationships"><Relationship Id="rId1" Type="http://schemas.openxmlformats.org/officeDocument/2006/relationships/image" Target="../media/image13.wmf"/><Relationship Id="rId2" Type="http://schemas.openxmlformats.org/officeDocument/2006/relationships/slideLayout" Target="../slideLayouts/slideLayout25.xml"/>
</Relationships>
</file>

<file path=ppt/slides/_rels/slide9.xml.rels><?xml version="1.0" encoding="UTF-8"?>
<Relationships xmlns="http://schemas.openxmlformats.org/package/2006/relationships"><Relationship Id="rId1" Type="http://schemas.openxmlformats.org/officeDocument/2006/relationships/image" Target="../media/image14.wmf"/><Relationship Id="rId2" Type="http://schemas.openxmlformats.org/officeDocument/2006/relationships/slideLayout" Target="../slideLayouts/slideLayout25.xml"/>
</Relationships>
</file>

<file path=ppt/slides/_rels/slide10.xml.rels><?xml version="1.0" encoding="UTF-8"?>
<Relationships xmlns="http://schemas.openxmlformats.org/package/2006/relationships"><Relationship Id="rId1" Type="http://schemas.openxmlformats.org/officeDocument/2006/relationships/image" Target="../media/image15.wmf"/><Relationship Id="rId2" Type="http://schemas.openxmlformats.org/officeDocument/2006/relationships/slideLayout" Target="../slideLayouts/slideLayout25.xml"/>
</Relationships>
</file>

<file path=ppt/slides/_rels/slide11.xml.rels><?xml version="1.0" encoding="UTF-8"?>
<Relationships xmlns="http://schemas.openxmlformats.org/package/2006/relationships"><Relationship Id="rId1" Type="http://schemas.openxmlformats.org/officeDocument/2006/relationships/image" Target="../media/image16.wmf"/><Relationship Id="rId2" Type="http://schemas.openxmlformats.org/officeDocument/2006/relationships/slideLayout" Target="../slideLayouts/slideLayout25.xml"/>
</Relationships>
</file>

<file path=ppt/slides/_rels/slide12.xml.rels><?xml version="1.0" encoding="UTF-8"?>
<Relationships xmlns="http://schemas.openxmlformats.org/package/2006/relationships"><Relationship Id="rId1" Type="http://schemas.openxmlformats.org/officeDocument/2006/relationships/image" Target="../media/image17.wmf"/><Relationship Id="rId2" Type="http://schemas.openxmlformats.org/officeDocument/2006/relationships/slideLayout" Target="../slideLayouts/slideLayout25.xml"/>
</Relationships>
</file>

<file path=ppt/slides/_rels/slide13.xml.rels><?xml version="1.0" encoding="UTF-8"?>
<Relationships xmlns="http://schemas.openxmlformats.org/package/2006/relationships"><Relationship Id="rId1" Type="http://schemas.openxmlformats.org/officeDocument/2006/relationships/image" Target="../media/image18.wmf"/><Relationship Id="rId2" Type="http://schemas.openxmlformats.org/officeDocument/2006/relationships/slideLayout" Target="../slideLayouts/slideLayout25.xml"/>
</Relationships>
</file>

<file path=ppt/slides/_rels/slide14.xml.rels><?xml version="1.0" encoding="UTF-8"?>
<Relationships xmlns="http://schemas.openxmlformats.org/package/2006/relationships"><Relationship Id="rId1" Type="http://schemas.openxmlformats.org/officeDocument/2006/relationships/image" Target="../media/image19.wmf"/><Relationship Id="rId2" Type="http://schemas.openxmlformats.org/officeDocument/2006/relationships/slideLayout" Target="../slideLayouts/slideLayout25.xml"/>
</Relationships>
</file>

<file path=ppt/slides/_rels/slide15.xml.rels><?xml version="1.0" encoding="UTF-8"?>
<Relationships xmlns="http://schemas.openxmlformats.org/package/2006/relationships"><Relationship Id="rId1" Type="http://schemas.openxmlformats.org/officeDocument/2006/relationships/image" Target="../media/image20.wmf"/><Relationship Id="rId2" Type="http://schemas.openxmlformats.org/officeDocument/2006/relationships/slideLayout" Target="../slideLayouts/slideLayout25.xml"/>
</Relationships>
</file>

<file path=ppt/slides/_rels/slide16.xml.rels><?xml version="1.0" encoding="UTF-8"?>
<Relationships xmlns="http://schemas.openxmlformats.org/package/2006/relationships"><Relationship Id="rId1" Type="http://schemas.openxmlformats.org/officeDocument/2006/relationships/image" Target="../media/image21.wmf"/><Relationship Id="rId2" Type="http://schemas.openxmlformats.org/officeDocument/2006/relationships/slideLayout" Target="../slideLayouts/slideLayout25.xml"/>
</Relationships>
</file>

<file path=ppt/slides/_rels/slide17.xml.rels><?xml version="1.0" encoding="UTF-8"?>
<Relationships xmlns="http://schemas.openxmlformats.org/package/2006/relationships"><Relationship Id="rId1" Type="http://schemas.openxmlformats.org/officeDocument/2006/relationships/image" Target="../media/image22.wmf"/><Relationship Id="rId2" Type="http://schemas.openxmlformats.org/officeDocument/2006/relationships/slideLayout" Target="../slideLayouts/slideLayout25.xml"/>
</Relationships>
</file>

<file path=ppt/slides/_rels/slide18.xml.rels><?xml version="1.0" encoding="UTF-8"?>
<Relationships xmlns="http://schemas.openxmlformats.org/package/2006/relationships"><Relationship Id="rId1" Type="http://schemas.openxmlformats.org/officeDocument/2006/relationships/image" Target="../media/image23.wmf"/><Relationship Id="rId2" Type="http://schemas.openxmlformats.org/officeDocument/2006/relationships/slideLayout" Target="../slideLayouts/slideLayout25.xml"/>
</Relationships>
</file>

<file path=ppt/slides/_rels/slide19.xml.rels><?xml version="1.0" encoding="UTF-8"?>
<Relationships xmlns="http://schemas.openxmlformats.org/package/2006/relationships"><Relationship Id="rId1" Type="http://schemas.openxmlformats.org/officeDocument/2006/relationships/image" Target="../media/image24.wmf"/><Relationship Id="rId2" Type="http://schemas.openxmlformats.org/officeDocument/2006/relationships/slideLayout" Target="../slideLayouts/slideLayout25.xml"/>
</Relationships>
</file>

<file path=ppt/slides/_rels/slide20.xml.rels><?xml version="1.0" encoding="UTF-8"?>
<Relationships xmlns="http://schemas.openxmlformats.org/package/2006/relationships"><Relationship Id="rId1" Type="http://schemas.openxmlformats.org/officeDocument/2006/relationships/image" Target="../media/image25.wmf"/><Relationship Id="rId2" Type="http://schemas.openxmlformats.org/officeDocument/2006/relationships/slideLayout" Target="../slideLayouts/slideLayout25.xml"/>
</Relationships>
</file>

<file path=ppt/slides/_rels/slide21.xml.rels><?xml version="1.0" encoding="UTF-8"?>
<Relationships xmlns="http://schemas.openxmlformats.org/package/2006/relationships"><Relationship Id="rId1" Type="http://schemas.openxmlformats.org/officeDocument/2006/relationships/image" Target="../media/image26.wmf"/><Relationship Id="rId2" Type="http://schemas.openxmlformats.org/officeDocument/2006/relationships/slideLayout" Target="../slideLayouts/slideLayout25.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23.xml.rels><?xml version="1.0" encoding="UTF-8"?>
<Relationships xmlns="http://schemas.openxmlformats.org/package/2006/relationships"><Relationship Id="rId1" Type="http://schemas.openxmlformats.org/officeDocument/2006/relationships/image" Target="../media/image27.png"/><Relationship Id="rId2" Type="http://schemas.openxmlformats.org/officeDocument/2006/relationships/slideLayout" Target="../slideLayouts/slideLayout25.xml"/><Relationship Id="rId3"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image" Target="../media/image28.png"/><Relationship Id="rId2" Type="http://schemas.openxmlformats.org/officeDocument/2006/relationships/slideLayout" Target="../slideLayouts/slideLayout25.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28.xml.rels><?xml version="1.0" encoding="UTF-8"?>
<Relationships xmlns="http://schemas.openxmlformats.org/package/2006/relationships"><Relationship Id="rId1" Type="http://schemas.openxmlformats.org/officeDocument/2006/relationships/image" Target="../media/image29.png"/><Relationship Id="rId2" Type="http://schemas.openxmlformats.org/officeDocument/2006/relationships/slideLayout" Target="../slideLayouts/slideLayout25.xml"/>
</Relationships>
</file>

<file path=ppt/slides/_rels/slide29.xml.rels><?xml version="1.0" encoding="UTF-8"?>
<Relationships xmlns="http://schemas.openxmlformats.org/package/2006/relationships"><Relationship Id="rId1" Type="http://schemas.openxmlformats.org/officeDocument/2006/relationships/image" Target="../media/image30.png"/><Relationship Id="rId2" Type="http://schemas.openxmlformats.org/officeDocument/2006/relationships/slideLayout" Target="../slideLayouts/slideLayout25.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1.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35.xml.rels><?xml version="1.0" encoding="UTF-8"?>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5.xml"/>
</Relationships>
</file>

<file path=ppt/slides/_rels/slide36.xml.rels><?xml version="1.0" encoding="UTF-8"?>
<Relationships xmlns="http://schemas.openxmlformats.org/package/2006/relationships"><Relationship Id="rId1" Type="http://schemas.openxmlformats.org/officeDocument/2006/relationships/image" Target="../media/image32.png"/><Relationship Id="rId2" Type="http://schemas.openxmlformats.org/officeDocument/2006/relationships/slideLayout" Target="../slideLayouts/slideLayout25.xml"/>
</Relationships>
</file>

<file path=ppt/slides/_rels/slide37.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38.xml.rels><?xml version="1.0" encoding="UTF-8"?>
<Relationships xmlns="http://schemas.openxmlformats.org/package/2006/relationships"><Relationship Id="rId1" Type="http://schemas.openxmlformats.org/officeDocument/2006/relationships/image" Target="../media/image33.wmf"/><Relationship Id="rId2" Type="http://schemas.openxmlformats.org/officeDocument/2006/relationships/image" Target="../media/image34.wmf"/><Relationship Id="rId3" Type="http://schemas.openxmlformats.org/officeDocument/2006/relationships/slideLayout" Target="../slideLayouts/slideLayout25.xml"/>
</Relationships>
</file>

<file path=ppt/slides/_rels/slide39.xml.rels><?xml version="1.0" encoding="UTF-8"?>
<Relationships xmlns="http://schemas.openxmlformats.org/package/2006/relationships"><Relationship Id="rId1" Type="http://schemas.openxmlformats.org/officeDocument/2006/relationships/image" Target="../media/image35.wmf"/><Relationship Id="rId2" Type="http://schemas.openxmlformats.org/officeDocument/2006/relationships/image" Target="../media/image36.wmf"/><Relationship Id="rId3" Type="http://schemas.openxmlformats.org/officeDocument/2006/relationships/slideLayout" Target="../slideLayouts/slideLayout25.xml"/>
</Relationships>
</file>

<file path=ppt/slides/_rels/slide40.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41.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42.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43.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44.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44.xml"/>
</Relationships>
</file>

<file path=ppt/slides/_rels/slide45.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46.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47.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48.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49.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50.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50.xml"/>
</Relationships>
</file>

<file path=ppt/slides/_rels/slide51.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52.xml.rels><?xml version="1.0" encoding="UTF-8"?>
<Relationships xmlns="http://schemas.openxmlformats.org/package/2006/relationships"><Relationship Id="rId1" Type="http://schemas.openxmlformats.org/officeDocument/2006/relationships/image" Target="../media/image37.png"/><Relationship Id="rId2" Type="http://schemas.openxmlformats.org/officeDocument/2006/relationships/slideLayout" Target="../slideLayouts/slideLayout25.xml"/>
</Relationships>
</file>

<file path=ppt/slides/_rels/slide53.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54.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55.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56.xml.rels><?xml version="1.0" encoding="UTF-8"?>
<Relationships xmlns="http://schemas.openxmlformats.org/package/2006/relationships"><Relationship Id="rId1" Type="http://schemas.openxmlformats.org/officeDocument/2006/relationships/image" Target="../media/image38.jpeg"/><Relationship Id="rId2" Type="http://schemas.openxmlformats.org/officeDocument/2006/relationships/hyperlink" Target="https://unsplash.com/photos/5fNmWej4tAA?utm_source=unsplash&amp;utm_medium=referral&amp;utm_content=creditCopyText" TargetMode="External"/><Relationship Id="rId3" Type="http://schemas.openxmlformats.org/officeDocument/2006/relationships/hyperlink" Target="https://unsplash.com/search/photos/homework?utm_source=unsplash&amp;utm_medium=referral&amp;utm_content=creditCopyText" TargetMode="External"/><Relationship Id="rId4" Type="http://schemas.openxmlformats.org/officeDocument/2006/relationships/slideLayout" Target="../slideLayouts/slideLayout25.xml"/><Relationship Id="rId5" Type="http://schemas.openxmlformats.org/officeDocument/2006/relationships/notesSlide" Target="../notesSlides/notesSlide56.xml"/>
</Relationships>
</file>

<file path=ppt/slides/_rels/slide57.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58.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58.xml"/>
</Relationships>
</file>

<file path=ppt/slides/_rels/slide59.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59.xml"/>
</Relationships>
</file>

<file path=ppt/slides/_rels/slide60.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60.xml"/>
</Relationships>
</file>

<file path=ppt/slides/_rels/slide61.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62.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63.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64.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65.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66.xml.rels><?xml version="1.0" encoding="UTF-8"?>
<Relationships xmlns="http://schemas.openxmlformats.org/package/2006/relationships"><Relationship Id="rId1" Type="http://schemas.openxmlformats.org/officeDocument/2006/relationships/image" Target="../media/image39.jpeg"/><Relationship Id="rId2" Type="http://schemas.openxmlformats.org/officeDocument/2006/relationships/hyperlink" Target="https://unsplash.com/photos/5fNmWej4tAA?utm_source=unsplash&amp;utm_medium=referral&amp;utm_content=creditCopyText" TargetMode="External"/><Relationship Id="rId3" Type="http://schemas.openxmlformats.org/officeDocument/2006/relationships/hyperlink" Target="https://unsplash.com/search/photos/homework?utm_source=unsplash&amp;utm_medium=referral&amp;utm_content=creditCopyText" TargetMode="External"/><Relationship Id="rId4" Type="http://schemas.openxmlformats.org/officeDocument/2006/relationships/slideLayout" Target="../slideLayouts/slideLayout25.xml"/><Relationship Id="rId5" Type="http://schemas.openxmlformats.org/officeDocument/2006/relationships/notesSlide" Target="../notesSlides/notesSlide66.xml"/>
</Relationships>
</file>

<file path=ppt/slides/_rels/slide67.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68.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69.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70.xml.rels><?xml version="1.0" encoding="UTF-8"?>
<Relationships xmlns="http://schemas.openxmlformats.org/package/2006/relationships"><Relationship Id="rId1" Type="http://schemas.openxmlformats.org/officeDocument/2006/relationships/image" Target="../media/image40.png"/><Relationship Id="rId2" Type="http://schemas.openxmlformats.org/officeDocument/2006/relationships/slideLayout" Target="../slideLayouts/slideLayout25.xml"/>
</Relationships>
</file>

<file path=ppt/slides/_rels/slide71.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72.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73.xml.rels><?xml version="1.0" encoding="UTF-8"?>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5.xml"/>
</Relationships>
</file>

<file path=ppt/slides/_rels/slide74.xml.rels><?xml version="1.0" encoding="UTF-8"?>
<Relationships xmlns="http://schemas.openxmlformats.org/package/2006/relationships"><Relationship Id="rId1" Type="http://schemas.openxmlformats.org/officeDocument/2006/relationships/image" Target="../media/image42.png"/><Relationship Id="rId2" Type="http://schemas.openxmlformats.org/officeDocument/2006/relationships/slideLayout" Target="../slideLayouts/slideLayout25.xml"/>
</Relationships>
</file>

<file path=ppt/slides/_rels/slide75.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76.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77.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78.xml.rels><?xml version="1.0" encoding="UTF-8"?>
<Relationships xmlns="http://schemas.openxmlformats.org/package/2006/relationships"><Relationship Id="rId1" Type="http://schemas.openxmlformats.org/officeDocument/2006/relationships/image" Target="../media/image43.jpeg"/><Relationship Id="rId2" Type="http://schemas.openxmlformats.org/officeDocument/2006/relationships/hyperlink" Target="https://unsplash.com/photos/5fNmWej4tAA?utm_source=unsplash&amp;utm_medium=referral&amp;utm_content=creditCopyText" TargetMode="External"/><Relationship Id="rId3" Type="http://schemas.openxmlformats.org/officeDocument/2006/relationships/hyperlink" Target="https://unsplash.com/search/photos/homework?utm_source=unsplash&amp;utm_medium=referral&amp;utm_content=creditCopyText" TargetMode="External"/><Relationship Id="rId4" Type="http://schemas.openxmlformats.org/officeDocument/2006/relationships/slideLayout" Target="../slideLayouts/slideLayout25.xml"/><Relationship Id="rId5" Type="http://schemas.openxmlformats.org/officeDocument/2006/relationships/notesSlide" Target="../notesSlides/notesSlide78.xml"/>
</Relationships>
</file>

<file path=ppt/slides/_rels/slide79.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80.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81.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82.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83.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84.xml.rels><?xml version="1.0" encoding="UTF-8"?>
<Relationships xmlns="http://schemas.openxmlformats.org/package/2006/relationships"><Relationship Id="rId1" Type="http://schemas.openxmlformats.org/officeDocument/2006/relationships/image" Target="../media/image44.jpeg"/><Relationship Id="rId2" Type="http://schemas.openxmlformats.org/officeDocument/2006/relationships/hyperlink" Target="https://unsplash.com/photos/5fNmWej4tAA?utm_source=unsplash&amp;utm_medium=referral&amp;utm_content=creditCopyText" TargetMode="External"/><Relationship Id="rId3" Type="http://schemas.openxmlformats.org/officeDocument/2006/relationships/hyperlink" Target="https://unsplash.com/search/photos/homework?utm_source=unsplash&amp;utm_medium=referral&amp;utm_content=creditCopyText" TargetMode="External"/><Relationship Id="rId4" Type="http://schemas.openxmlformats.org/officeDocument/2006/relationships/slideLayout" Target="../slideLayouts/slideLayout25.xml"/><Relationship Id="rId5" Type="http://schemas.openxmlformats.org/officeDocument/2006/relationships/notesSlide" Target="../notesSlides/notesSlide84.xml"/>
</Relationships>
</file>

<file path=ppt/slides/_rels/slide85.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86.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87.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88.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89.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90.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91.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92.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93.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94.xml.rels><?xml version="1.0" encoding="UTF-8"?>
<Relationships xmlns="http://schemas.openxmlformats.org/package/2006/relationships"><Relationship Id="rId1" Type="http://schemas.openxmlformats.org/officeDocument/2006/relationships/image" Target="../media/image45.jpeg"/><Relationship Id="rId2" Type="http://schemas.openxmlformats.org/officeDocument/2006/relationships/hyperlink" Target="https://unsplash.com/photos/5fNmWej4tAA?utm_source=unsplash&amp;utm_medium=referral&amp;utm_content=creditCopyText" TargetMode="External"/><Relationship Id="rId3" Type="http://schemas.openxmlformats.org/officeDocument/2006/relationships/hyperlink" Target="https://unsplash.com/search/photos/homework?utm_source=unsplash&amp;utm_medium=referral&amp;utm_content=creditCopyText" TargetMode="External"/><Relationship Id="rId4" Type="http://schemas.openxmlformats.org/officeDocument/2006/relationships/slideLayout" Target="../slideLayouts/slideLayout25.xml"/><Relationship Id="rId5" Type="http://schemas.openxmlformats.org/officeDocument/2006/relationships/notesSlide" Target="../notesSlides/notesSlide94.xml"/>
</Relationships>
</file>

<file path=ppt/slides/_rels/slide95.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96.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97.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98.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99.xml.rels><?xml version="1.0" encoding="UTF-8"?>
<Relationships xmlns="http://schemas.openxmlformats.org/package/2006/relationships"><Relationship Id="rId1" Type="http://schemas.openxmlformats.org/officeDocument/2006/relationships/image" Target="../media/image46.png"/><Relationship Id="rId2" Type="http://schemas.openxmlformats.org/officeDocument/2006/relationships/slideLayout" Target="../slideLayouts/slideLayout25.xml"/>
</Relationships>
</file>

<file path=ppt/slides/_rels/slide100.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101.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102.xml.rels><?xml version="1.0" encoding="UTF-8"?>
<Relationships xmlns="http://schemas.openxmlformats.org/package/2006/relationships"><Relationship Id="rId1" Type="http://schemas.openxmlformats.org/officeDocument/2006/relationships/image" Target="../media/image47.png"/><Relationship Id="rId2"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3" name="TextShape 1"/>
          <p:cNvSpPr txBox="1"/>
          <p:nvPr/>
        </p:nvSpPr>
        <p:spPr>
          <a:xfrm>
            <a:off x="1619640" y="2835000"/>
            <a:ext cx="5904720" cy="1259640"/>
          </a:xfrm>
          <a:prstGeom prst="rect">
            <a:avLst/>
          </a:prstGeom>
          <a:noFill/>
          <a:ln>
            <a:noFill/>
          </a:ln>
        </p:spPr>
        <p:txBody>
          <a:bodyPr anchor="ctr">
            <a:noAutofit/>
          </a:bodyPr>
          <a:p>
            <a:pPr algn="ctr">
              <a:lnSpc>
                <a:spcPct val="100000"/>
              </a:lnSpc>
            </a:pPr>
            <a:r>
              <a:rPr b="1" lang="fr-FR" sz="3000" spc="-1" strike="noStrike" cap="all">
                <a:solidFill>
                  <a:srgbClr val="205aa7"/>
                </a:solidFill>
                <a:latin typeface="Calibri"/>
              </a:rPr>
              <a:t>Analyse financière</a:t>
            </a:r>
            <a:endParaRPr b="0" lang="fr-FR" sz="3000" spc="-1" strike="noStrike">
              <a:solidFill>
                <a:srgbClr val="000000"/>
              </a:solidFill>
              <a:latin typeface="Calibri"/>
            </a:endParaRPr>
          </a:p>
        </p:txBody>
      </p:sp>
      <p:sp>
        <p:nvSpPr>
          <p:cNvPr id="134" name="TextShape 2"/>
          <p:cNvSpPr txBox="1"/>
          <p:nvPr/>
        </p:nvSpPr>
        <p:spPr>
          <a:xfrm>
            <a:off x="1619640" y="4581000"/>
            <a:ext cx="5904720" cy="575640"/>
          </a:xfrm>
          <a:prstGeom prst="rect">
            <a:avLst/>
          </a:prstGeom>
          <a:noFill/>
          <a:ln>
            <a:noFill/>
          </a:ln>
        </p:spPr>
        <p:txBody>
          <a:bodyPr>
            <a:noAutofit/>
          </a:bodyPr>
          <a:p>
            <a:pPr algn="ctr">
              <a:lnSpc>
                <a:spcPct val="100000"/>
              </a:lnSpc>
              <a:tabLst>
                <a:tab algn="l" pos="0"/>
              </a:tabLst>
            </a:pPr>
            <a:r>
              <a:rPr b="0" lang="fr-FR" sz="1600" spc="-1" strike="noStrike">
                <a:solidFill>
                  <a:srgbClr val="205aa7"/>
                </a:solidFill>
                <a:latin typeface="Calibri"/>
              </a:rPr>
              <a:t>Guillaume Gilles</a:t>
            </a:r>
            <a:endParaRPr b="0" lang="fr-FR" sz="1600" spc="-1" strike="noStrike">
              <a:solidFill>
                <a:srgbClr val="205aa7"/>
              </a:solidFill>
              <a:latin typeface="Calibri"/>
            </a:endParaRPr>
          </a:p>
          <a:p>
            <a:pPr algn="ctr">
              <a:lnSpc>
                <a:spcPct val="100000"/>
              </a:lnSpc>
              <a:tabLst>
                <a:tab algn="l" pos="0"/>
              </a:tabLst>
            </a:pPr>
            <a:r>
              <a:rPr b="0" lang="fr-FR" sz="1600" spc="-1" strike="noStrike">
                <a:solidFill>
                  <a:srgbClr val="205aa7"/>
                </a:solidFill>
                <a:latin typeface="Calibri"/>
              </a:rPr>
              <a:t>Analyste financier</a:t>
            </a:r>
            <a:endParaRPr b="0" lang="fr-FR" sz="1600" spc="-1" strike="noStrike">
              <a:solidFill>
                <a:srgbClr val="205aa7"/>
              </a:solidFill>
              <a:latin typeface="Calibri"/>
            </a:endParaRPr>
          </a:p>
          <a:p>
            <a:pPr algn="r">
              <a:lnSpc>
                <a:spcPct val="100000"/>
              </a:lnSpc>
              <a:tabLst>
                <a:tab algn="l" pos="0"/>
              </a:tabLst>
            </a:pPr>
            <a:endParaRPr b="0" lang="fr-FR" sz="1600" spc="-1" strike="noStrike">
              <a:solidFill>
                <a:srgbClr val="205aa7"/>
              </a:solidFill>
              <a:latin typeface="Calibri"/>
            </a:endParaRPr>
          </a:p>
          <a:p>
            <a:pPr algn="r">
              <a:lnSpc>
                <a:spcPct val="100000"/>
              </a:lnSpc>
              <a:tabLst>
                <a:tab algn="l" pos="0"/>
              </a:tabLst>
            </a:pPr>
            <a:endParaRPr b="0" lang="fr-FR" sz="1600" spc="-1" strike="noStrike">
              <a:solidFill>
                <a:srgbClr val="205aa7"/>
              </a:solidFill>
              <a:latin typeface="Calibri"/>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5" name="TextShape 1"/>
          <p:cNvSpPr txBox="1"/>
          <p:nvPr/>
        </p:nvSpPr>
        <p:spPr>
          <a:xfrm>
            <a:off x="3124080" y="6480000"/>
            <a:ext cx="4975920" cy="359640"/>
          </a:xfrm>
          <a:prstGeom prst="rect">
            <a:avLst/>
          </a:prstGeom>
          <a:noFill/>
          <a:ln>
            <a:noFill/>
          </a:ln>
        </p:spPr>
        <p:txBody>
          <a:bodyPr>
            <a:noAutofit/>
          </a:bodyPr>
          <a:p>
            <a:endParaRPr b="0" lang="fr-FR" sz="2400" spc="-1" strike="noStrike">
              <a:latin typeface="Times New Roman"/>
            </a:endParaRPr>
          </a:p>
        </p:txBody>
      </p:sp>
      <p:sp>
        <p:nvSpPr>
          <p:cNvPr id="136" name="TextShape 2"/>
          <p:cNvSpPr txBox="1"/>
          <p:nvPr/>
        </p:nvSpPr>
        <p:spPr>
          <a:xfrm>
            <a:off x="8172360" y="6480000"/>
            <a:ext cx="539640" cy="359640"/>
          </a:xfrm>
          <a:prstGeom prst="rect">
            <a:avLst/>
          </a:prstGeom>
          <a:noFill/>
          <a:ln>
            <a:noFill/>
          </a:ln>
        </p:spPr>
        <p:txBody>
          <a:bodyPr lIns="90000" rIns="90000" tIns="45000" bIns="45000">
            <a:noAutofit/>
          </a:bodyPr>
          <a:p>
            <a:pPr algn="r">
              <a:lnSpc>
                <a:spcPct val="100000"/>
              </a:lnSpc>
            </a:pPr>
            <a:fld id="{D1F95B31-FDDA-4977-9A53-D0FB45F7E567}" type="slidenum">
              <a:rPr b="0" lang="fr-FR" sz="900" spc="-1" strike="noStrike">
                <a:solidFill>
                  <a:srgbClr val="205aa7"/>
                </a:solidFill>
                <a:latin typeface="Calibri"/>
              </a:rPr>
              <a:t>&lt;number&gt;</a:t>
            </a:fld>
            <a:endParaRPr b="0" lang="fr-FR" sz="900" spc="-1" strike="noStrike">
              <a:latin typeface="Times New Roman"/>
            </a:endParaRPr>
          </a:p>
        </p:txBody>
      </p:sp>
      <p:sp>
        <p:nvSpPr>
          <p:cNvPr id="137" name="TextShape 3"/>
          <p:cNvSpPr txBox="1"/>
          <p:nvPr/>
        </p:nvSpPr>
        <p:spPr>
          <a:xfrm>
            <a:off x="1692000" y="1584000"/>
            <a:ext cx="7019640" cy="4499640"/>
          </a:xfrm>
          <a:prstGeom prst="rect">
            <a:avLst/>
          </a:prstGeom>
          <a:noFill/>
          <a:ln>
            <a:noFill/>
          </a:ln>
        </p:spPr>
        <p:txBody>
          <a:bodyPr anchor="ctr">
            <a:noAutofit/>
          </a:bodyPr>
          <a:p>
            <a:pPr marL="396000" indent="-395640">
              <a:lnSpc>
                <a:spcPct val="100000"/>
              </a:lnSpc>
              <a:spcBef>
                <a:spcPts val="519"/>
              </a:spcBef>
              <a:buClr>
                <a:srgbClr val="205aa7"/>
              </a:buClr>
              <a:buFont typeface="StarSymbol"/>
              <a:buAutoNum type="arabicPeriod"/>
            </a:pPr>
            <a:r>
              <a:rPr b="0" lang="fr-FR" sz="2600" spc="-1" strike="noStrike">
                <a:solidFill>
                  <a:srgbClr val="205aa7"/>
                </a:solidFill>
                <a:latin typeface="Calibri"/>
              </a:rPr>
              <a:t>Découvrir la Banque de France</a:t>
            </a:r>
            <a:endParaRPr b="0" lang="fr-FR" sz="2600" spc="-1" strike="noStrike">
              <a:solidFill>
                <a:srgbClr val="205aa7"/>
              </a:solidFill>
              <a:latin typeface="Calibri"/>
            </a:endParaRPr>
          </a:p>
          <a:p>
            <a:pPr marL="396000" indent="-395640">
              <a:lnSpc>
                <a:spcPct val="100000"/>
              </a:lnSpc>
              <a:spcBef>
                <a:spcPts val="519"/>
              </a:spcBef>
              <a:buClr>
                <a:srgbClr val="cbddf5"/>
              </a:buClr>
              <a:buFont typeface="StarSymbol"/>
              <a:buAutoNum type="arabicPeriod"/>
            </a:pPr>
            <a:r>
              <a:rPr b="0" lang="fr-FR" sz="2600" spc="-1" strike="noStrike">
                <a:solidFill>
                  <a:srgbClr val="cbddf5"/>
                </a:solidFill>
                <a:latin typeface="Calibri"/>
              </a:rPr>
              <a:t>Présentation de la cotation Banque de France</a:t>
            </a:r>
            <a:endParaRPr b="0" lang="fr-FR" sz="2600" spc="-1" strike="noStrike">
              <a:solidFill>
                <a:srgbClr val="205aa7"/>
              </a:solidFill>
              <a:latin typeface="Calibri"/>
            </a:endParaRPr>
          </a:p>
          <a:p>
            <a:pPr marL="396000" indent="-395640">
              <a:lnSpc>
                <a:spcPct val="100000"/>
              </a:lnSpc>
              <a:spcBef>
                <a:spcPts val="519"/>
              </a:spcBef>
              <a:buClr>
                <a:srgbClr val="cbddf5"/>
              </a:buClr>
              <a:buFont typeface="StarSymbol"/>
              <a:buAutoNum type="arabicPeriod"/>
            </a:pPr>
            <a:r>
              <a:rPr b="0" lang="fr-FR" sz="2600" spc="-1" strike="noStrike">
                <a:solidFill>
                  <a:srgbClr val="cbddf5"/>
                </a:solidFill>
                <a:latin typeface="Calibri"/>
              </a:rPr>
              <a:t>L’analyse financière des comptes consolidés</a:t>
            </a:r>
            <a:endParaRPr b="0" lang="fr-FR" sz="2600" spc="-1" strike="noStrike">
              <a:solidFill>
                <a:srgbClr val="205aa7"/>
              </a:solidFill>
              <a:latin typeface="Calibri"/>
            </a:endParaRPr>
          </a:p>
          <a:p>
            <a:pPr>
              <a:lnSpc>
                <a:spcPct val="100000"/>
              </a:lnSpc>
              <a:spcBef>
                <a:spcPts val="519"/>
              </a:spcBef>
            </a:pPr>
            <a:endParaRPr b="0" lang="fr-FR" sz="2600" spc="-1" strike="noStrike">
              <a:solidFill>
                <a:srgbClr val="205aa7"/>
              </a:solidFill>
              <a:latin typeface="Calibri"/>
            </a:endParaRPr>
          </a:p>
          <a:p>
            <a:pPr>
              <a:lnSpc>
                <a:spcPct val="100000"/>
              </a:lnSpc>
              <a:spcBef>
                <a:spcPts val="519"/>
              </a:spcBef>
            </a:pPr>
            <a:endParaRPr b="0" lang="fr-FR" sz="2600" spc="-1" strike="noStrike">
              <a:solidFill>
                <a:srgbClr val="205aa7"/>
              </a:solidFill>
              <a:latin typeface="Calibri"/>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8" name="TextShape 1"/>
          <p:cNvSpPr txBox="1"/>
          <p:nvPr/>
        </p:nvSpPr>
        <p:spPr>
          <a:xfrm>
            <a:off x="468000" y="0"/>
            <a:ext cx="8229240" cy="1142640"/>
          </a:xfrm>
          <a:prstGeom prst="rect">
            <a:avLst/>
          </a:prstGeom>
          <a:noFill/>
          <a:ln>
            <a:noFill/>
          </a:ln>
        </p:spPr>
        <p:txBody>
          <a:bodyPr anchor="ctr">
            <a:noAutofit/>
          </a:bodyPr>
          <a:p>
            <a:pPr>
              <a:lnSpc>
                <a:spcPct val="100000"/>
              </a:lnSpc>
            </a:pPr>
            <a:r>
              <a:rPr b="1" lang="fr-FR" sz="2400" spc="-1" strike="noStrike" cap="all">
                <a:solidFill>
                  <a:srgbClr val="ffffff"/>
                </a:solidFill>
                <a:latin typeface="Calibri"/>
              </a:rPr>
              <a:t>1. Découvrir la Banque de France</a:t>
            </a:r>
            <a:endParaRPr b="0" lang="fr-FR" sz="2400" spc="-1" strike="noStrike">
              <a:solidFill>
                <a:srgbClr val="000000"/>
              </a:solidFill>
              <a:latin typeface="Calibri"/>
            </a:endParaRPr>
          </a:p>
        </p:txBody>
      </p:sp>
      <p:sp>
        <p:nvSpPr>
          <p:cNvPr id="139" name="TextShape 2"/>
          <p:cNvSpPr txBox="1"/>
          <p:nvPr/>
        </p:nvSpPr>
        <p:spPr>
          <a:xfrm>
            <a:off x="3124080" y="6480000"/>
            <a:ext cx="4975920" cy="359640"/>
          </a:xfrm>
          <a:prstGeom prst="rect">
            <a:avLst/>
          </a:prstGeom>
          <a:noFill/>
          <a:ln>
            <a:noFill/>
          </a:ln>
        </p:spPr>
        <p:txBody>
          <a:bodyPr>
            <a:noAutofit/>
          </a:bodyPr>
          <a:p>
            <a:endParaRPr b="0" lang="fr-FR" sz="2400" spc="-1" strike="noStrike">
              <a:latin typeface="Times New Roman"/>
            </a:endParaRPr>
          </a:p>
        </p:txBody>
      </p:sp>
      <p:sp>
        <p:nvSpPr>
          <p:cNvPr id="140" name="TextShape 3"/>
          <p:cNvSpPr txBox="1"/>
          <p:nvPr/>
        </p:nvSpPr>
        <p:spPr>
          <a:xfrm>
            <a:off x="8172360" y="6480000"/>
            <a:ext cx="539640" cy="359640"/>
          </a:xfrm>
          <a:prstGeom prst="rect">
            <a:avLst/>
          </a:prstGeom>
          <a:noFill/>
          <a:ln>
            <a:noFill/>
          </a:ln>
        </p:spPr>
        <p:txBody>
          <a:bodyPr lIns="90000" rIns="90000" tIns="45000" bIns="45000">
            <a:noAutofit/>
          </a:bodyPr>
          <a:p>
            <a:pPr algn="r">
              <a:lnSpc>
                <a:spcPct val="100000"/>
              </a:lnSpc>
            </a:pPr>
            <a:fld id="{B2ECCF83-6284-46E3-8854-354ECCC211AD}" type="slidenum">
              <a:rPr b="0" lang="fr-FR" sz="900" spc="-1" strike="noStrike">
                <a:solidFill>
                  <a:srgbClr val="205aa7"/>
                </a:solidFill>
                <a:latin typeface="Calibri"/>
              </a:rPr>
              <a:t>&lt;number&gt;</a:t>
            </a:fld>
            <a:endParaRPr b="0" lang="fr-FR" sz="900" spc="-1" strike="noStrike">
              <a:latin typeface="Times New Roman"/>
            </a:endParaRPr>
          </a:p>
        </p:txBody>
      </p:sp>
      <p:pic>
        <p:nvPicPr>
          <p:cNvPr id="141" name="Content Placeholder 5" descr=""/>
          <p:cNvPicPr/>
          <p:nvPr/>
        </p:nvPicPr>
        <p:blipFill>
          <a:blip r:embed="rId1"/>
          <a:stretch/>
        </p:blipFill>
        <p:spPr>
          <a:xfrm>
            <a:off x="560160" y="1440000"/>
            <a:ext cx="8045640" cy="4525560"/>
          </a:xfrm>
          <a:prstGeom prst="rect">
            <a:avLst/>
          </a:prstGeom>
          <a:ln>
            <a:noFill/>
          </a:ln>
        </p:spPr>
      </p:pic>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2" name="TextShape 1"/>
          <p:cNvSpPr txBox="1"/>
          <p:nvPr/>
        </p:nvSpPr>
        <p:spPr>
          <a:xfrm>
            <a:off x="468000" y="0"/>
            <a:ext cx="8229240" cy="1142640"/>
          </a:xfrm>
          <a:prstGeom prst="rect">
            <a:avLst/>
          </a:prstGeom>
          <a:noFill/>
          <a:ln>
            <a:noFill/>
          </a:ln>
        </p:spPr>
        <p:txBody>
          <a:bodyPr anchor="ctr">
            <a:noAutofit/>
          </a:bodyPr>
          <a:p>
            <a:pPr>
              <a:lnSpc>
                <a:spcPct val="100000"/>
              </a:lnSpc>
            </a:pPr>
            <a:r>
              <a:rPr b="1" lang="fr-FR" sz="2400" spc="-1" strike="noStrike" cap="all">
                <a:solidFill>
                  <a:srgbClr val="ffffff"/>
                </a:solidFill>
                <a:latin typeface="Calibri"/>
              </a:rPr>
              <a:t>1. Découvrir la Banque de France</a:t>
            </a:r>
            <a:endParaRPr b="0" lang="fr-FR" sz="2400" spc="-1" strike="noStrike">
              <a:solidFill>
                <a:srgbClr val="000000"/>
              </a:solidFill>
              <a:latin typeface="Calibri"/>
            </a:endParaRPr>
          </a:p>
        </p:txBody>
      </p:sp>
      <p:sp>
        <p:nvSpPr>
          <p:cNvPr id="143" name="TextShape 2"/>
          <p:cNvSpPr txBox="1"/>
          <p:nvPr/>
        </p:nvSpPr>
        <p:spPr>
          <a:xfrm>
            <a:off x="3124080" y="6480000"/>
            <a:ext cx="4975920" cy="359640"/>
          </a:xfrm>
          <a:prstGeom prst="rect">
            <a:avLst/>
          </a:prstGeom>
          <a:noFill/>
          <a:ln>
            <a:noFill/>
          </a:ln>
        </p:spPr>
        <p:txBody>
          <a:bodyPr>
            <a:noAutofit/>
          </a:bodyPr>
          <a:p>
            <a:endParaRPr b="0" lang="fr-FR" sz="2400" spc="-1" strike="noStrike">
              <a:latin typeface="Times New Roman"/>
            </a:endParaRPr>
          </a:p>
        </p:txBody>
      </p:sp>
      <p:sp>
        <p:nvSpPr>
          <p:cNvPr id="144" name="TextShape 3"/>
          <p:cNvSpPr txBox="1"/>
          <p:nvPr/>
        </p:nvSpPr>
        <p:spPr>
          <a:xfrm>
            <a:off x="8172360" y="6480000"/>
            <a:ext cx="539640" cy="359640"/>
          </a:xfrm>
          <a:prstGeom prst="rect">
            <a:avLst/>
          </a:prstGeom>
          <a:noFill/>
          <a:ln>
            <a:noFill/>
          </a:ln>
        </p:spPr>
        <p:txBody>
          <a:bodyPr lIns="90000" rIns="90000" tIns="45000" bIns="45000">
            <a:noAutofit/>
          </a:bodyPr>
          <a:p>
            <a:pPr algn="r">
              <a:lnSpc>
                <a:spcPct val="100000"/>
              </a:lnSpc>
            </a:pPr>
            <a:fld id="{DA06DDAC-317F-49A3-B50C-623004524F37}" type="slidenum">
              <a:rPr b="0" lang="fr-FR" sz="900" spc="-1" strike="noStrike">
                <a:solidFill>
                  <a:srgbClr val="205aa7"/>
                </a:solidFill>
                <a:latin typeface="Calibri"/>
              </a:rPr>
              <a:t>&lt;number&gt;</a:t>
            </a:fld>
            <a:endParaRPr b="0" lang="fr-FR" sz="900" spc="-1" strike="noStrike">
              <a:latin typeface="Times New Roman"/>
            </a:endParaRPr>
          </a:p>
        </p:txBody>
      </p:sp>
      <p:pic>
        <p:nvPicPr>
          <p:cNvPr id="145" name="Content Placeholder 6" descr=""/>
          <p:cNvPicPr/>
          <p:nvPr/>
        </p:nvPicPr>
        <p:blipFill>
          <a:blip r:embed="rId1"/>
          <a:stretch/>
        </p:blipFill>
        <p:spPr>
          <a:xfrm>
            <a:off x="560160" y="1440000"/>
            <a:ext cx="8045640" cy="4525560"/>
          </a:xfrm>
          <a:prstGeom prst="rect">
            <a:avLst/>
          </a:prstGeom>
          <a:ln>
            <a:noFill/>
          </a:ln>
        </p:spPr>
      </p:pic>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6" name="TextShape 1"/>
          <p:cNvSpPr txBox="1"/>
          <p:nvPr/>
        </p:nvSpPr>
        <p:spPr>
          <a:xfrm>
            <a:off x="468000" y="0"/>
            <a:ext cx="8229240" cy="1142640"/>
          </a:xfrm>
          <a:prstGeom prst="rect">
            <a:avLst/>
          </a:prstGeom>
          <a:noFill/>
          <a:ln>
            <a:noFill/>
          </a:ln>
        </p:spPr>
        <p:txBody>
          <a:bodyPr anchor="ctr">
            <a:noAutofit/>
          </a:bodyPr>
          <a:p>
            <a:pPr>
              <a:lnSpc>
                <a:spcPct val="100000"/>
              </a:lnSpc>
            </a:pPr>
            <a:r>
              <a:rPr b="1" lang="fr-FR" sz="2400" spc="-1" strike="noStrike" cap="all">
                <a:solidFill>
                  <a:srgbClr val="ffffff"/>
                </a:solidFill>
                <a:latin typeface="Calibri"/>
              </a:rPr>
              <a:t>1. Découvrir la Banque de France</a:t>
            </a:r>
            <a:endParaRPr b="0" lang="fr-FR" sz="2400" spc="-1" strike="noStrike">
              <a:solidFill>
                <a:srgbClr val="000000"/>
              </a:solidFill>
              <a:latin typeface="Calibri"/>
            </a:endParaRPr>
          </a:p>
        </p:txBody>
      </p:sp>
      <p:sp>
        <p:nvSpPr>
          <p:cNvPr id="147" name="TextShape 2"/>
          <p:cNvSpPr txBox="1"/>
          <p:nvPr/>
        </p:nvSpPr>
        <p:spPr>
          <a:xfrm>
            <a:off x="3124080" y="6480000"/>
            <a:ext cx="4975920" cy="359640"/>
          </a:xfrm>
          <a:prstGeom prst="rect">
            <a:avLst/>
          </a:prstGeom>
          <a:noFill/>
          <a:ln>
            <a:noFill/>
          </a:ln>
        </p:spPr>
        <p:txBody>
          <a:bodyPr>
            <a:noAutofit/>
          </a:bodyPr>
          <a:p>
            <a:endParaRPr b="0" lang="fr-FR" sz="2400" spc="-1" strike="noStrike">
              <a:latin typeface="Times New Roman"/>
            </a:endParaRPr>
          </a:p>
        </p:txBody>
      </p:sp>
      <p:sp>
        <p:nvSpPr>
          <p:cNvPr id="148" name="TextShape 3"/>
          <p:cNvSpPr txBox="1"/>
          <p:nvPr/>
        </p:nvSpPr>
        <p:spPr>
          <a:xfrm>
            <a:off x="8172360" y="6480000"/>
            <a:ext cx="539640" cy="359640"/>
          </a:xfrm>
          <a:prstGeom prst="rect">
            <a:avLst/>
          </a:prstGeom>
          <a:noFill/>
          <a:ln>
            <a:noFill/>
          </a:ln>
        </p:spPr>
        <p:txBody>
          <a:bodyPr lIns="90000" rIns="90000" tIns="45000" bIns="45000">
            <a:noAutofit/>
          </a:bodyPr>
          <a:p>
            <a:pPr algn="r">
              <a:lnSpc>
                <a:spcPct val="100000"/>
              </a:lnSpc>
            </a:pPr>
            <a:fld id="{FB77973A-727D-45D8-B673-D85744CB83D7}" type="slidenum">
              <a:rPr b="0" lang="fr-FR" sz="900" spc="-1" strike="noStrike">
                <a:solidFill>
                  <a:srgbClr val="205aa7"/>
                </a:solidFill>
                <a:latin typeface="Calibri"/>
              </a:rPr>
              <a:t>&lt;number&gt;</a:t>
            </a:fld>
            <a:endParaRPr b="0" lang="fr-FR" sz="900" spc="-1" strike="noStrike">
              <a:latin typeface="Times New Roman"/>
            </a:endParaRPr>
          </a:p>
        </p:txBody>
      </p:sp>
      <p:pic>
        <p:nvPicPr>
          <p:cNvPr id="149" name="Content Placeholder 5" descr=""/>
          <p:cNvPicPr/>
          <p:nvPr/>
        </p:nvPicPr>
        <p:blipFill>
          <a:blip r:embed="rId1"/>
          <a:stretch/>
        </p:blipFill>
        <p:spPr>
          <a:xfrm>
            <a:off x="560160" y="1440000"/>
            <a:ext cx="8045640" cy="4525560"/>
          </a:xfrm>
          <a:prstGeom prst="rect">
            <a:avLst/>
          </a:prstGeom>
          <a:ln>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0" name="TextShape 1"/>
          <p:cNvSpPr txBox="1"/>
          <p:nvPr/>
        </p:nvSpPr>
        <p:spPr>
          <a:xfrm>
            <a:off x="468000" y="0"/>
            <a:ext cx="8229240" cy="1142640"/>
          </a:xfrm>
          <a:prstGeom prst="rect">
            <a:avLst/>
          </a:prstGeom>
          <a:noFill/>
          <a:ln>
            <a:noFill/>
          </a:ln>
        </p:spPr>
        <p:txBody>
          <a:bodyPr anchor="ctr">
            <a:noAutofit/>
          </a:bodyPr>
          <a:p>
            <a:pPr>
              <a:lnSpc>
                <a:spcPct val="100000"/>
              </a:lnSpc>
            </a:pPr>
            <a:r>
              <a:rPr b="1" lang="fr-FR" sz="2400" spc="-1" strike="noStrike" cap="all">
                <a:solidFill>
                  <a:srgbClr val="ffffff"/>
                </a:solidFill>
                <a:latin typeface="Calibri"/>
              </a:rPr>
              <a:t>1. Découvrir la Banque de France</a:t>
            </a:r>
            <a:endParaRPr b="0" lang="fr-FR" sz="2400" spc="-1" strike="noStrike">
              <a:solidFill>
                <a:srgbClr val="000000"/>
              </a:solidFill>
              <a:latin typeface="Calibri"/>
            </a:endParaRPr>
          </a:p>
        </p:txBody>
      </p:sp>
      <p:sp>
        <p:nvSpPr>
          <p:cNvPr id="151" name="TextShape 2"/>
          <p:cNvSpPr txBox="1"/>
          <p:nvPr/>
        </p:nvSpPr>
        <p:spPr>
          <a:xfrm>
            <a:off x="3124080" y="6480000"/>
            <a:ext cx="4975920" cy="359640"/>
          </a:xfrm>
          <a:prstGeom prst="rect">
            <a:avLst/>
          </a:prstGeom>
          <a:noFill/>
          <a:ln>
            <a:noFill/>
          </a:ln>
        </p:spPr>
        <p:txBody>
          <a:bodyPr>
            <a:noAutofit/>
          </a:bodyPr>
          <a:p>
            <a:endParaRPr b="0" lang="fr-FR" sz="2400" spc="-1" strike="noStrike">
              <a:latin typeface="Times New Roman"/>
            </a:endParaRPr>
          </a:p>
        </p:txBody>
      </p:sp>
      <p:sp>
        <p:nvSpPr>
          <p:cNvPr id="152" name="TextShape 3"/>
          <p:cNvSpPr txBox="1"/>
          <p:nvPr/>
        </p:nvSpPr>
        <p:spPr>
          <a:xfrm>
            <a:off x="8172360" y="6480000"/>
            <a:ext cx="539640" cy="359640"/>
          </a:xfrm>
          <a:prstGeom prst="rect">
            <a:avLst/>
          </a:prstGeom>
          <a:noFill/>
          <a:ln>
            <a:noFill/>
          </a:ln>
        </p:spPr>
        <p:txBody>
          <a:bodyPr lIns="90000" rIns="90000" tIns="45000" bIns="45000">
            <a:noAutofit/>
          </a:bodyPr>
          <a:p>
            <a:pPr algn="r">
              <a:lnSpc>
                <a:spcPct val="100000"/>
              </a:lnSpc>
            </a:pPr>
            <a:fld id="{A480FF29-C4B6-4270-A992-ACDF35D996AC}" type="slidenum">
              <a:rPr b="0" lang="fr-FR" sz="900" spc="-1" strike="noStrike">
                <a:solidFill>
                  <a:srgbClr val="205aa7"/>
                </a:solidFill>
                <a:latin typeface="Calibri"/>
              </a:rPr>
              <a:t>&lt;number&gt;</a:t>
            </a:fld>
            <a:endParaRPr b="0" lang="fr-FR" sz="900" spc="-1" strike="noStrike">
              <a:latin typeface="Times New Roman"/>
            </a:endParaRPr>
          </a:p>
        </p:txBody>
      </p:sp>
      <p:pic>
        <p:nvPicPr>
          <p:cNvPr id="153" name="Content Placeholder 5" descr=""/>
          <p:cNvPicPr/>
          <p:nvPr/>
        </p:nvPicPr>
        <p:blipFill>
          <a:blip r:embed="rId1"/>
          <a:stretch/>
        </p:blipFill>
        <p:spPr>
          <a:xfrm>
            <a:off x="560160" y="1440000"/>
            <a:ext cx="8045640" cy="4525560"/>
          </a:xfrm>
          <a:prstGeom prst="rect">
            <a:avLst/>
          </a:prstGeom>
          <a:ln>
            <a:noFill/>
          </a:ln>
        </p:spPr>
      </p:pic>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4" name="TextShape 1"/>
          <p:cNvSpPr txBox="1"/>
          <p:nvPr/>
        </p:nvSpPr>
        <p:spPr>
          <a:xfrm>
            <a:off x="468000" y="0"/>
            <a:ext cx="8229240" cy="1142640"/>
          </a:xfrm>
          <a:prstGeom prst="rect">
            <a:avLst/>
          </a:prstGeom>
          <a:noFill/>
          <a:ln>
            <a:noFill/>
          </a:ln>
        </p:spPr>
        <p:txBody>
          <a:bodyPr anchor="ctr">
            <a:noAutofit/>
          </a:bodyPr>
          <a:p>
            <a:pPr>
              <a:lnSpc>
                <a:spcPct val="100000"/>
              </a:lnSpc>
            </a:pPr>
            <a:r>
              <a:rPr b="1" lang="fr-FR" sz="2400" spc="-1" strike="noStrike" cap="all">
                <a:solidFill>
                  <a:srgbClr val="ffffff"/>
                </a:solidFill>
                <a:latin typeface="Calibri"/>
              </a:rPr>
              <a:t>1. Découvrir la Banque de France</a:t>
            </a:r>
            <a:endParaRPr b="0" lang="fr-FR" sz="2400" spc="-1" strike="noStrike">
              <a:solidFill>
                <a:srgbClr val="000000"/>
              </a:solidFill>
              <a:latin typeface="Calibri"/>
            </a:endParaRPr>
          </a:p>
        </p:txBody>
      </p:sp>
      <p:sp>
        <p:nvSpPr>
          <p:cNvPr id="155" name="TextShape 2"/>
          <p:cNvSpPr txBox="1"/>
          <p:nvPr/>
        </p:nvSpPr>
        <p:spPr>
          <a:xfrm>
            <a:off x="3124080" y="6480000"/>
            <a:ext cx="4975920" cy="359640"/>
          </a:xfrm>
          <a:prstGeom prst="rect">
            <a:avLst/>
          </a:prstGeom>
          <a:noFill/>
          <a:ln>
            <a:noFill/>
          </a:ln>
        </p:spPr>
        <p:txBody>
          <a:bodyPr>
            <a:noAutofit/>
          </a:bodyPr>
          <a:p>
            <a:endParaRPr b="0" lang="fr-FR" sz="2400" spc="-1" strike="noStrike">
              <a:latin typeface="Times New Roman"/>
            </a:endParaRPr>
          </a:p>
        </p:txBody>
      </p:sp>
      <p:sp>
        <p:nvSpPr>
          <p:cNvPr id="156" name="TextShape 3"/>
          <p:cNvSpPr txBox="1"/>
          <p:nvPr/>
        </p:nvSpPr>
        <p:spPr>
          <a:xfrm>
            <a:off x="8172360" y="6480000"/>
            <a:ext cx="539640" cy="359640"/>
          </a:xfrm>
          <a:prstGeom prst="rect">
            <a:avLst/>
          </a:prstGeom>
          <a:noFill/>
          <a:ln>
            <a:noFill/>
          </a:ln>
        </p:spPr>
        <p:txBody>
          <a:bodyPr lIns="90000" rIns="90000" tIns="45000" bIns="45000">
            <a:noAutofit/>
          </a:bodyPr>
          <a:p>
            <a:pPr algn="r">
              <a:lnSpc>
                <a:spcPct val="100000"/>
              </a:lnSpc>
            </a:pPr>
            <a:fld id="{0473E513-D11A-4638-BEAD-A524A35B8AE9}" type="slidenum">
              <a:rPr b="0" lang="fr-FR" sz="900" spc="-1" strike="noStrike">
                <a:solidFill>
                  <a:srgbClr val="205aa7"/>
                </a:solidFill>
                <a:latin typeface="Calibri"/>
              </a:rPr>
              <a:t>&lt;number&gt;</a:t>
            </a:fld>
            <a:endParaRPr b="0" lang="fr-FR" sz="900" spc="-1" strike="noStrike">
              <a:latin typeface="Times New Roman"/>
            </a:endParaRPr>
          </a:p>
        </p:txBody>
      </p:sp>
      <p:pic>
        <p:nvPicPr>
          <p:cNvPr id="157" name="Content Placeholder 5" descr=""/>
          <p:cNvPicPr/>
          <p:nvPr/>
        </p:nvPicPr>
        <p:blipFill>
          <a:blip r:embed="rId1"/>
          <a:stretch/>
        </p:blipFill>
        <p:spPr>
          <a:xfrm>
            <a:off x="560160" y="1440000"/>
            <a:ext cx="8045640" cy="4525560"/>
          </a:xfrm>
          <a:prstGeom prst="rect">
            <a:avLst/>
          </a:prstGeom>
          <a:ln>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8" name="TextShape 1"/>
          <p:cNvSpPr txBox="1"/>
          <p:nvPr/>
        </p:nvSpPr>
        <p:spPr>
          <a:xfrm>
            <a:off x="468000" y="0"/>
            <a:ext cx="8229240" cy="1142640"/>
          </a:xfrm>
          <a:prstGeom prst="rect">
            <a:avLst/>
          </a:prstGeom>
          <a:noFill/>
          <a:ln>
            <a:noFill/>
          </a:ln>
        </p:spPr>
        <p:txBody>
          <a:bodyPr anchor="ctr">
            <a:noAutofit/>
          </a:bodyPr>
          <a:p>
            <a:pPr>
              <a:lnSpc>
                <a:spcPct val="100000"/>
              </a:lnSpc>
            </a:pPr>
            <a:r>
              <a:rPr b="1" lang="fr-FR" sz="2400" spc="-1" strike="noStrike" cap="all">
                <a:solidFill>
                  <a:srgbClr val="ffffff"/>
                </a:solidFill>
                <a:latin typeface="Calibri"/>
              </a:rPr>
              <a:t>1. Découvrir la Banque de France</a:t>
            </a:r>
            <a:endParaRPr b="0" lang="fr-FR" sz="2400" spc="-1" strike="noStrike">
              <a:solidFill>
                <a:srgbClr val="000000"/>
              </a:solidFill>
              <a:latin typeface="Calibri"/>
            </a:endParaRPr>
          </a:p>
        </p:txBody>
      </p:sp>
      <p:sp>
        <p:nvSpPr>
          <p:cNvPr id="159" name="TextShape 2"/>
          <p:cNvSpPr txBox="1"/>
          <p:nvPr/>
        </p:nvSpPr>
        <p:spPr>
          <a:xfrm>
            <a:off x="3124080" y="6480000"/>
            <a:ext cx="4975920" cy="359640"/>
          </a:xfrm>
          <a:prstGeom prst="rect">
            <a:avLst/>
          </a:prstGeom>
          <a:noFill/>
          <a:ln>
            <a:noFill/>
          </a:ln>
        </p:spPr>
        <p:txBody>
          <a:bodyPr>
            <a:noAutofit/>
          </a:bodyPr>
          <a:p>
            <a:endParaRPr b="0" lang="fr-FR" sz="2400" spc="-1" strike="noStrike">
              <a:latin typeface="Times New Roman"/>
            </a:endParaRPr>
          </a:p>
        </p:txBody>
      </p:sp>
      <p:sp>
        <p:nvSpPr>
          <p:cNvPr id="160" name="TextShape 3"/>
          <p:cNvSpPr txBox="1"/>
          <p:nvPr/>
        </p:nvSpPr>
        <p:spPr>
          <a:xfrm>
            <a:off x="8172360" y="6480000"/>
            <a:ext cx="539640" cy="359640"/>
          </a:xfrm>
          <a:prstGeom prst="rect">
            <a:avLst/>
          </a:prstGeom>
          <a:noFill/>
          <a:ln>
            <a:noFill/>
          </a:ln>
        </p:spPr>
        <p:txBody>
          <a:bodyPr lIns="90000" rIns="90000" tIns="45000" bIns="45000">
            <a:noAutofit/>
          </a:bodyPr>
          <a:p>
            <a:pPr algn="r">
              <a:lnSpc>
                <a:spcPct val="100000"/>
              </a:lnSpc>
            </a:pPr>
            <a:fld id="{97914723-BFA5-4C87-8C09-34DEB2621BC0}" type="slidenum">
              <a:rPr b="0" lang="fr-FR" sz="900" spc="-1" strike="noStrike">
                <a:solidFill>
                  <a:srgbClr val="205aa7"/>
                </a:solidFill>
                <a:latin typeface="Calibri"/>
              </a:rPr>
              <a:t>&lt;number&gt;</a:t>
            </a:fld>
            <a:endParaRPr b="0" lang="fr-FR" sz="900" spc="-1" strike="noStrike">
              <a:latin typeface="Times New Roman"/>
            </a:endParaRPr>
          </a:p>
        </p:txBody>
      </p:sp>
      <p:pic>
        <p:nvPicPr>
          <p:cNvPr id="161" name="Content Placeholder 6" descr=""/>
          <p:cNvPicPr/>
          <p:nvPr/>
        </p:nvPicPr>
        <p:blipFill>
          <a:blip r:embed="rId1"/>
          <a:stretch/>
        </p:blipFill>
        <p:spPr>
          <a:xfrm>
            <a:off x="560160" y="1440000"/>
            <a:ext cx="8045640" cy="4525560"/>
          </a:xfrm>
          <a:prstGeom prst="rect">
            <a:avLst/>
          </a:prstGeom>
          <a:ln>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2" name="TextShape 1"/>
          <p:cNvSpPr txBox="1"/>
          <p:nvPr/>
        </p:nvSpPr>
        <p:spPr>
          <a:xfrm>
            <a:off x="468000" y="0"/>
            <a:ext cx="8229240" cy="1142640"/>
          </a:xfrm>
          <a:prstGeom prst="rect">
            <a:avLst/>
          </a:prstGeom>
          <a:noFill/>
          <a:ln>
            <a:noFill/>
          </a:ln>
        </p:spPr>
        <p:txBody>
          <a:bodyPr anchor="ctr">
            <a:noAutofit/>
          </a:bodyPr>
          <a:p>
            <a:pPr>
              <a:lnSpc>
                <a:spcPct val="100000"/>
              </a:lnSpc>
            </a:pPr>
            <a:r>
              <a:rPr b="1" lang="fr-FR" sz="2400" spc="-1" strike="noStrike" cap="all">
                <a:solidFill>
                  <a:srgbClr val="ffffff"/>
                </a:solidFill>
                <a:latin typeface="Calibri"/>
              </a:rPr>
              <a:t>1. Découvrir la Banque de France</a:t>
            </a:r>
            <a:endParaRPr b="0" lang="fr-FR" sz="2400" spc="-1" strike="noStrike">
              <a:solidFill>
                <a:srgbClr val="000000"/>
              </a:solidFill>
              <a:latin typeface="Calibri"/>
            </a:endParaRPr>
          </a:p>
        </p:txBody>
      </p:sp>
      <p:sp>
        <p:nvSpPr>
          <p:cNvPr id="163" name="TextShape 2"/>
          <p:cNvSpPr txBox="1"/>
          <p:nvPr/>
        </p:nvSpPr>
        <p:spPr>
          <a:xfrm>
            <a:off x="3124080" y="6480000"/>
            <a:ext cx="4975920" cy="359640"/>
          </a:xfrm>
          <a:prstGeom prst="rect">
            <a:avLst/>
          </a:prstGeom>
          <a:noFill/>
          <a:ln>
            <a:noFill/>
          </a:ln>
        </p:spPr>
        <p:txBody>
          <a:bodyPr>
            <a:noAutofit/>
          </a:bodyPr>
          <a:p>
            <a:endParaRPr b="0" lang="fr-FR" sz="2400" spc="-1" strike="noStrike">
              <a:latin typeface="Times New Roman"/>
            </a:endParaRPr>
          </a:p>
        </p:txBody>
      </p:sp>
      <p:sp>
        <p:nvSpPr>
          <p:cNvPr id="164" name="TextShape 3"/>
          <p:cNvSpPr txBox="1"/>
          <p:nvPr/>
        </p:nvSpPr>
        <p:spPr>
          <a:xfrm>
            <a:off x="8172360" y="6480000"/>
            <a:ext cx="539640" cy="359640"/>
          </a:xfrm>
          <a:prstGeom prst="rect">
            <a:avLst/>
          </a:prstGeom>
          <a:noFill/>
          <a:ln>
            <a:noFill/>
          </a:ln>
        </p:spPr>
        <p:txBody>
          <a:bodyPr lIns="90000" rIns="90000" tIns="45000" bIns="45000">
            <a:noAutofit/>
          </a:bodyPr>
          <a:p>
            <a:pPr algn="r">
              <a:lnSpc>
                <a:spcPct val="100000"/>
              </a:lnSpc>
            </a:pPr>
            <a:fld id="{BB11F3EB-A860-4D00-A2BC-44E24D108A20}" type="slidenum">
              <a:rPr b="0" lang="fr-FR" sz="900" spc="-1" strike="noStrike">
                <a:solidFill>
                  <a:srgbClr val="205aa7"/>
                </a:solidFill>
                <a:latin typeface="Calibri"/>
              </a:rPr>
              <a:t>&lt;number&gt;</a:t>
            </a:fld>
            <a:endParaRPr b="0" lang="fr-FR" sz="900" spc="-1" strike="noStrike">
              <a:latin typeface="Times New Roman"/>
            </a:endParaRPr>
          </a:p>
        </p:txBody>
      </p:sp>
      <p:pic>
        <p:nvPicPr>
          <p:cNvPr id="165" name="Content Placeholder 5" descr=""/>
          <p:cNvPicPr/>
          <p:nvPr/>
        </p:nvPicPr>
        <p:blipFill>
          <a:blip r:embed="rId1"/>
          <a:stretch/>
        </p:blipFill>
        <p:spPr>
          <a:xfrm>
            <a:off x="560160" y="1440000"/>
            <a:ext cx="8045640" cy="4525560"/>
          </a:xfrm>
          <a:prstGeom prst="rect">
            <a:avLst/>
          </a:prstGeom>
          <a:ln>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6" name="TextShape 1"/>
          <p:cNvSpPr txBox="1"/>
          <p:nvPr/>
        </p:nvSpPr>
        <p:spPr>
          <a:xfrm>
            <a:off x="468000" y="0"/>
            <a:ext cx="8229240" cy="1142640"/>
          </a:xfrm>
          <a:prstGeom prst="rect">
            <a:avLst/>
          </a:prstGeom>
          <a:noFill/>
          <a:ln>
            <a:noFill/>
          </a:ln>
        </p:spPr>
        <p:txBody>
          <a:bodyPr anchor="ctr">
            <a:noAutofit/>
          </a:bodyPr>
          <a:p>
            <a:pPr>
              <a:lnSpc>
                <a:spcPct val="100000"/>
              </a:lnSpc>
            </a:pPr>
            <a:r>
              <a:rPr b="1" lang="fr-FR" sz="2400" spc="-1" strike="noStrike" cap="all">
                <a:solidFill>
                  <a:srgbClr val="ffffff"/>
                </a:solidFill>
                <a:latin typeface="Calibri"/>
              </a:rPr>
              <a:t>1. Découvrir la Banque de France</a:t>
            </a:r>
            <a:endParaRPr b="0" lang="fr-FR" sz="2400" spc="-1" strike="noStrike">
              <a:solidFill>
                <a:srgbClr val="000000"/>
              </a:solidFill>
              <a:latin typeface="Calibri"/>
            </a:endParaRPr>
          </a:p>
        </p:txBody>
      </p:sp>
      <p:sp>
        <p:nvSpPr>
          <p:cNvPr id="167" name="TextShape 2"/>
          <p:cNvSpPr txBox="1"/>
          <p:nvPr/>
        </p:nvSpPr>
        <p:spPr>
          <a:xfrm>
            <a:off x="3124080" y="6480000"/>
            <a:ext cx="4975920" cy="359640"/>
          </a:xfrm>
          <a:prstGeom prst="rect">
            <a:avLst/>
          </a:prstGeom>
          <a:noFill/>
          <a:ln>
            <a:noFill/>
          </a:ln>
        </p:spPr>
        <p:txBody>
          <a:bodyPr>
            <a:noAutofit/>
          </a:bodyPr>
          <a:p>
            <a:endParaRPr b="0" lang="fr-FR" sz="2400" spc="-1" strike="noStrike">
              <a:latin typeface="Times New Roman"/>
            </a:endParaRPr>
          </a:p>
        </p:txBody>
      </p:sp>
      <p:sp>
        <p:nvSpPr>
          <p:cNvPr id="168" name="TextShape 3"/>
          <p:cNvSpPr txBox="1"/>
          <p:nvPr/>
        </p:nvSpPr>
        <p:spPr>
          <a:xfrm>
            <a:off x="8172360" y="6480000"/>
            <a:ext cx="539640" cy="359640"/>
          </a:xfrm>
          <a:prstGeom prst="rect">
            <a:avLst/>
          </a:prstGeom>
          <a:noFill/>
          <a:ln>
            <a:noFill/>
          </a:ln>
        </p:spPr>
        <p:txBody>
          <a:bodyPr lIns="90000" rIns="90000" tIns="45000" bIns="45000">
            <a:noAutofit/>
          </a:bodyPr>
          <a:p>
            <a:pPr algn="r">
              <a:lnSpc>
                <a:spcPct val="100000"/>
              </a:lnSpc>
            </a:pPr>
            <a:fld id="{AA2DC141-F5BF-42B6-8A56-8C0D00332EB0}" type="slidenum">
              <a:rPr b="0" lang="fr-FR" sz="900" spc="-1" strike="noStrike">
                <a:solidFill>
                  <a:srgbClr val="205aa7"/>
                </a:solidFill>
                <a:latin typeface="Calibri"/>
              </a:rPr>
              <a:t>&lt;number&gt;</a:t>
            </a:fld>
            <a:endParaRPr b="0" lang="fr-FR" sz="900" spc="-1" strike="noStrike">
              <a:latin typeface="Times New Roman"/>
            </a:endParaRPr>
          </a:p>
        </p:txBody>
      </p:sp>
      <p:pic>
        <p:nvPicPr>
          <p:cNvPr id="169" name="Content Placeholder 5" descr=""/>
          <p:cNvPicPr/>
          <p:nvPr/>
        </p:nvPicPr>
        <p:blipFill>
          <a:blip r:embed="rId1"/>
          <a:stretch/>
        </p:blipFill>
        <p:spPr>
          <a:xfrm>
            <a:off x="560160" y="1440000"/>
            <a:ext cx="8045640" cy="4525560"/>
          </a:xfrm>
          <a:prstGeom prst="rect">
            <a:avLst/>
          </a:prstGeom>
          <a:ln>
            <a:noFill/>
          </a:ln>
        </p:spPr>
      </p:pic>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0" name="TextShape 1"/>
          <p:cNvSpPr txBox="1"/>
          <p:nvPr/>
        </p:nvSpPr>
        <p:spPr>
          <a:xfrm>
            <a:off x="468000" y="0"/>
            <a:ext cx="8229240" cy="1142640"/>
          </a:xfrm>
          <a:prstGeom prst="rect">
            <a:avLst/>
          </a:prstGeom>
          <a:noFill/>
          <a:ln>
            <a:noFill/>
          </a:ln>
        </p:spPr>
        <p:txBody>
          <a:bodyPr anchor="ctr">
            <a:noAutofit/>
          </a:bodyPr>
          <a:p>
            <a:pPr>
              <a:lnSpc>
                <a:spcPct val="100000"/>
              </a:lnSpc>
            </a:pPr>
            <a:r>
              <a:rPr b="1" lang="fr-FR" sz="2400" spc="-1" strike="noStrike" cap="all">
                <a:solidFill>
                  <a:srgbClr val="ffffff"/>
                </a:solidFill>
                <a:latin typeface="Calibri"/>
              </a:rPr>
              <a:t>1. Découvrir la Banque de France</a:t>
            </a:r>
            <a:endParaRPr b="0" lang="fr-FR" sz="2400" spc="-1" strike="noStrike">
              <a:solidFill>
                <a:srgbClr val="000000"/>
              </a:solidFill>
              <a:latin typeface="Calibri"/>
            </a:endParaRPr>
          </a:p>
        </p:txBody>
      </p:sp>
      <p:sp>
        <p:nvSpPr>
          <p:cNvPr id="171" name="TextShape 2"/>
          <p:cNvSpPr txBox="1"/>
          <p:nvPr/>
        </p:nvSpPr>
        <p:spPr>
          <a:xfrm>
            <a:off x="3124080" y="6480000"/>
            <a:ext cx="4975920" cy="359640"/>
          </a:xfrm>
          <a:prstGeom prst="rect">
            <a:avLst/>
          </a:prstGeom>
          <a:noFill/>
          <a:ln>
            <a:noFill/>
          </a:ln>
        </p:spPr>
        <p:txBody>
          <a:bodyPr>
            <a:noAutofit/>
          </a:bodyPr>
          <a:p>
            <a:endParaRPr b="0" lang="fr-FR" sz="2400" spc="-1" strike="noStrike">
              <a:latin typeface="Times New Roman"/>
            </a:endParaRPr>
          </a:p>
        </p:txBody>
      </p:sp>
      <p:sp>
        <p:nvSpPr>
          <p:cNvPr id="172" name="TextShape 3"/>
          <p:cNvSpPr txBox="1"/>
          <p:nvPr/>
        </p:nvSpPr>
        <p:spPr>
          <a:xfrm>
            <a:off x="8172360" y="6480000"/>
            <a:ext cx="539640" cy="359640"/>
          </a:xfrm>
          <a:prstGeom prst="rect">
            <a:avLst/>
          </a:prstGeom>
          <a:noFill/>
          <a:ln>
            <a:noFill/>
          </a:ln>
        </p:spPr>
        <p:txBody>
          <a:bodyPr lIns="90000" rIns="90000" tIns="45000" bIns="45000">
            <a:noAutofit/>
          </a:bodyPr>
          <a:p>
            <a:pPr algn="r">
              <a:lnSpc>
                <a:spcPct val="100000"/>
              </a:lnSpc>
            </a:pPr>
            <a:fld id="{4483188B-1767-486C-A74B-2BB667F1B0A7}" type="slidenum">
              <a:rPr b="0" lang="fr-FR" sz="900" spc="-1" strike="noStrike">
                <a:solidFill>
                  <a:srgbClr val="205aa7"/>
                </a:solidFill>
                <a:latin typeface="Calibri"/>
              </a:rPr>
              <a:t>&lt;number&gt;</a:t>
            </a:fld>
            <a:endParaRPr b="0" lang="fr-FR" sz="900" spc="-1" strike="noStrike">
              <a:latin typeface="Times New Roman"/>
            </a:endParaRPr>
          </a:p>
        </p:txBody>
      </p:sp>
      <p:pic>
        <p:nvPicPr>
          <p:cNvPr id="173" name="Content Placeholder 5" descr=""/>
          <p:cNvPicPr/>
          <p:nvPr/>
        </p:nvPicPr>
        <p:blipFill>
          <a:blip r:embed="rId1"/>
          <a:stretch/>
        </p:blipFill>
        <p:spPr>
          <a:xfrm>
            <a:off x="560160" y="1440000"/>
            <a:ext cx="8045640" cy="4525560"/>
          </a:xfrm>
          <a:prstGeom prst="rect">
            <a:avLst/>
          </a:prstGeom>
          <a:ln>
            <a:noFill/>
          </a:ln>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4" name="TextShape 1"/>
          <p:cNvSpPr txBox="1"/>
          <p:nvPr/>
        </p:nvSpPr>
        <p:spPr>
          <a:xfrm>
            <a:off x="468000" y="0"/>
            <a:ext cx="8229240" cy="1142640"/>
          </a:xfrm>
          <a:prstGeom prst="rect">
            <a:avLst/>
          </a:prstGeom>
          <a:noFill/>
          <a:ln>
            <a:noFill/>
          </a:ln>
        </p:spPr>
        <p:txBody>
          <a:bodyPr anchor="ctr">
            <a:noAutofit/>
          </a:bodyPr>
          <a:p>
            <a:pPr>
              <a:lnSpc>
                <a:spcPct val="100000"/>
              </a:lnSpc>
            </a:pPr>
            <a:r>
              <a:rPr b="1" lang="fr-FR" sz="2400" spc="-1" strike="noStrike" cap="all">
                <a:solidFill>
                  <a:srgbClr val="ffffff"/>
                </a:solidFill>
                <a:latin typeface="Calibri"/>
              </a:rPr>
              <a:t>1. Découvrir la Banque de France</a:t>
            </a:r>
            <a:endParaRPr b="0" lang="fr-FR" sz="2400" spc="-1" strike="noStrike">
              <a:solidFill>
                <a:srgbClr val="000000"/>
              </a:solidFill>
              <a:latin typeface="Calibri"/>
            </a:endParaRPr>
          </a:p>
        </p:txBody>
      </p:sp>
      <p:sp>
        <p:nvSpPr>
          <p:cNvPr id="175" name="TextShape 2"/>
          <p:cNvSpPr txBox="1"/>
          <p:nvPr/>
        </p:nvSpPr>
        <p:spPr>
          <a:xfrm>
            <a:off x="3124080" y="6480000"/>
            <a:ext cx="4975920" cy="359640"/>
          </a:xfrm>
          <a:prstGeom prst="rect">
            <a:avLst/>
          </a:prstGeom>
          <a:noFill/>
          <a:ln>
            <a:noFill/>
          </a:ln>
        </p:spPr>
        <p:txBody>
          <a:bodyPr>
            <a:noAutofit/>
          </a:bodyPr>
          <a:p>
            <a:endParaRPr b="0" lang="fr-FR" sz="2400" spc="-1" strike="noStrike">
              <a:latin typeface="Times New Roman"/>
            </a:endParaRPr>
          </a:p>
        </p:txBody>
      </p:sp>
      <p:sp>
        <p:nvSpPr>
          <p:cNvPr id="176" name="TextShape 3"/>
          <p:cNvSpPr txBox="1"/>
          <p:nvPr/>
        </p:nvSpPr>
        <p:spPr>
          <a:xfrm>
            <a:off x="8172360" y="6480000"/>
            <a:ext cx="539640" cy="359640"/>
          </a:xfrm>
          <a:prstGeom prst="rect">
            <a:avLst/>
          </a:prstGeom>
          <a:noFill/>
          <a:ln>
            <a:noFill/>
          </a:ln>
        </p:spPr>
        <p:txBody>
          <a:bodyPr lIns="90000" rIns="90000" tIns="45000" bIns="45000">
            <a:noAutofit/>
          </a:bodyPr>
          <a:p>
            <a:pPr algn="r">
              <a:lnSpc>
                <a:spcPct val="100000"/>
              </a:lnSpc>
            </a:pPr>
            <a:fld id="{33BB5D61-F82A-4F43-B62C-FFE3D56D8CBD}" type="slidenum">
              <a:rPr b="0" lang="fr-FR" sz="900" spc="-1" strike="noStrike">
                <a:solidFill>
                  <a:srgbClr val="205aa7"/>
                </a:solidFill>
                <a:latin typeface="Calibri"/>
              </a:rPr>
              <a:t>&lt;number&gt;</a:t>
            </a:fld>
            <a:endParaRPr b="0" lang="fr-FR" sz="900" spc="-1" strike="noStrike">
              <a:latin typeface="Times New Roman"/>
            </a:endParaRPr>
          </a:p>
        </p:txBody>
      </p:sp>
      <p:pic>
        <p:nvPicPr>
          <p:cNvPr id="177" name="Content Placeholder 5" descr=""/>
          <p:cNvPicPr/>
          <p:nvPr/>
        </p:nvPicPr>
        <p:blipFill>
          <a:blip r:embed="rId1"/>
          <a:stretch/>
        </p:blipFill>
        <p:spPr>
          <a:xfrm>
            <a:off x="560160" y="1440000"/>
            <a:ext cx="8045640" cy="4525560"/>
          </a:xfrm>
          <a:prstGeom prst="rect">
            <a:avLst/>
          </a:prstGeom>
          <a:ln>
            <a:noFill/>
          </a:ln>
        </p:spPr>
      </p:pic>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8" name="TextShape 1"/>
          <p:cNvSpPr txBox="1"/>
          <p:nvPr/>
        </p:nvSpPr>
        <p:spPr>
          <a:xfrm>
            <a:off x="468000" y="0"/>
            <a:ext cx="8229240" cy="1142640"/>
          </a:xfrm>
          <a:prstGeom prst="rect">
            <a:avLst/>
          </a:prstGeom>
          <a:noFill/>
          <a:ln>
            <a:noFill/>
          </a:ln>
        </p:spPr>
        <p:txBody>
          <a:bodyPr anchor="ctr">
            <a:noAutofit/>
          </a:bodyPr>
          <a:p>
            <a:pPr>
              <a:lnSpc>
                <a:spcPct val="100000"/>
              </a:lnSpc>
            </a:pPr>
            <a:r>
              <a:rPr b="1" lang="fr-FR" sz="2400" spc="-1" strike="noStrike" cap="all">
                <a:solidFill>
                  <a:srgbClr val="ffffff"/>
                </a:solidFill>
                <a:latin typeface="Calibri"/>
              </a:rPr>
              <a:t>1. Découvrir la Banque de France</a:t>
            </a:r>
            <a:endParaRPr b="0" lang="fr-FR" sz="2400" spc="-1" strike="noStrike">
              <a:solidFill>
                <a:srgbClr val="000000"/>
              </a:solidFill>
              <a:latin typeface="Calibri"/>
            </a:endParaRPr>
          </a:p>
        </p:txBody>
      </p:sp>
      <p:sp>
        <p:nvSpPr>
          <p:cNvPr id="179" name="TextShape 2"/>
          <p:cNvSpPr txBox="1"/>
          <p:nvPr/>
        </p:nvSpPr>
        <p:spPr>
          <a:xfrm>
            <a:off x="3124080" y="6480000"/>
            <a:ext cx="4975920" cy="359640"/>
          </a:xfrm>
          <a:prstGeom prst="rect">
            <a:avLst/>
          </a:prstGeom>
          <a:noFill/>
          <a:ln>
            <a:noFill/>
          </a:ln>
        </p:spPr>
        <p:txBody>
          <a:bodyPr>
            <a:noAutofit/>
          </a:bodyPr>
          <a:p>
            <a:endParaRPr b="0" lang="fr-FR" sz="2400" spc="-1" strike="noStrike">
              <a:latin typeface="Times New Roman"/>
            </a:endParaRPr>
          </a:p>
        </p:txBody>
      </p:sp>
      <p:sp>
        <p:nvSpPr>
          <p:cNvPr id="180" name="TextShape 3"/>
          <p:cNvSpPr txBox="1"/>
          <p:nvPr/>
        </p:nvSpPr>
        <p:spPr>
          <a:xfrm>
            <a:off x="8172360" y="6480000"/>
            <a:ext cx="539640" cy="359640"/>
          </a:xfrm>
          <a:prstGeom prst="rect">
            <a:avLst/>
          </a:prstGeom>
          <a:noFill/>
          <a:ln>
            <a:noFill/>
          </a:ln>
        </p:spPr>
        <p:txBody>
          <a:bodyPr lIns="90000" rIns="90000" tIns="45000" bIns="45000">
            <a:noAutofit/>
          </a:bodyPr>
          <a:p>
            <a:pPr algn="r">
              <a:lnSpc>
                <a:spcPct val="100000"/>
              </a:lnSpc>
            </a:pPr>
            <a:fld id="{E5A8AB48-5D11-4C9C-BFCB-FE88D2DD6A36}" type="slidenum">
              <a:rPr b="0" lang="fr-FR" sz="900" spc="-1" strike="noStrike">
                <a:solidFill>
                  <a:srgbClr val="205aa7"/>
                </a:solidFill>
                <a:latin typeface="Calibri"/>
              </a:rPr>
              <a:t>&lt;number&gt;</a:t>
            </a:fld>
            <a:endParaRPr b="0" lang="fr-FR" sz="900" spc="-1" strike="noStrike">
              <a:latin typeface="Times New Roman"/>
            </a:endParaRPr>
          </a:p>
        </p:txBody>
      </p:sp>
      <p:pic>
        <p:nvPicPr>
          <p:cNvPr id="181" name="Content Placeholder 5" descr=""/>
          <p:cNvPicPr/>
          <p:nvPr/>
        </p:nvPicPr>
        <p:blipFill>
          <a:blip r:embed="rId1"/>
          <a:stretch/>
        </p:blipFill>
        <p:spPr>
          <a:xfrm>
            <a:off x="560160" y="1440000"/>
            <a:ext cx="8045640" cy="4525560"/>
          </a:xfrm>
          <a:prstGeom prst="rect">
            <a:avLst/>
          </a:prstGeom>
          <a:ln>
            <a:noFill/>
          </a:ln>
        </p:spPr>
      </p:pic>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2" name="TextShape 1"/>
          <p:cNvSpPr txBox="1"/>
          <p:nvPr/>
        </p:nvSpPr>
        <p:spPr>
          <a:xfrm>
            <a:off x="468000" y="0"/>
            <a:ext cx="8229240" cy="1142640"/>
          </a:xfrm>
          <a:prstGeom prst="rect">
            <a:avLst/>
          </a:prstGeom>
          <a:noFill/>
          <a:ln>
            <a:noFill/>
          </a:ln>
        </p:spPr>
        <p:txBody>
          <a:bodyPr anchor="ctr">
            <a:noAutofit/>
          </a:bodyPr>
          <a:p>
            <a:pPr>
              <a:lnSpc>
                <a:spcPct val="100000"/>
              </a:lnSpc>
            </a:pPr>
            <a:r>
              <a:rPr b="1" lang="fr-FR" sz="2400" spc="-1" strike="noStrike" cap="all">
                <a:solidFill>
                  <a:srgbClr val="ffffff"/>
                </a:solidFill>
                <a:latin typeface="Calibri"/>
              </a:rPr>
              <a:t>1. Découvrir la Banque de France</a:t>
            </a:r>
            <a:endParaRPr b="0" lang="fr-FR" sz="2400" spc="-1" strike="noStrike">
              <a:solidFill>
                <a:srgbClr val="000000"/>
              </a:solidFill>
              <a:latin typeface="Calibri"/>
            </a:endParaRPr>
          </a:p>
        </p:txBody>
      </p:sp>
      <p:sp>
        <p:nvSpPr>
          <p:cNvPr id="183" name="TextShape 2"/>
          <p:cNvSpPr txBox="1"/>
          <p:nvPr/>
        </p:nvSpPr>
        <p:spPr>
          <a:xfrm>
            <a:off x="3124080" y="6480000"/>
            <a:ext cx="4975920" cy="359640"/>
          </a:xfrm>
          <a:prstGeom prst="rect">
            <a:avLst/>
          </a:prstGeom>
          <a:noFill/>
          <a:ln>
            <a:noFill/>
          </a:ln>
        </p:spPr>
        <p:txBody>
          <a:bodyPr>
            <a:noAutofit/>
          </a:bodyPr>
          <a:p>
            <a:endParaRPr b="0" lang="fr-FR" sz="2400" spc="-1" strike="noStrike">
              <a:latin typeface="Times New Roman"/>
            </a:endParaRPr>
          </a:p>
        </p:txBody>
      </p:sp>
      <p:sp>
        <p:nvSpPr>
          <p:cNvPr id="184" name="TextShape 3"/>
          <p:cNvSpPr txBox="1"/>
          <p:nvPr/>
        </p:nvSpPr>
        <p:spPr>
          <a:xfrm>
            <a:off x="8172360" y="6480000"/>
            <a:ext cx="539640" cy="359640"/>
          </a:xfrm>
          <a:prstGeom prst="rect">
            <a:avLst/>
          </a:prstGeom>
          <a:noFill/>
          <a:ln>
            <a:noFill/>
          </a:ln>
        </p:spPr>
        <p:txBody>
          <a:bodyPr lIns="90000" rIns="90000" tIns="45000" bIns="45000">
            <a:noAutofit/>
          </a:bodyPr>
          <a:p>
            <a:pPr algn="r">
              <a:lnSpc>
                <a:spcPct val="100000"/>
              </a:lnSpc>
            </a:pPr>
            <a:fld id="{14BF215D-5842-496B-ADB6-A6C28C835F96}" type="slidenum">
              <a:rPr b="0" lang="fr-FR" sz="900" spc="-1" strike="noStrike">
                <a:solidFill>
                  <a:srgbClr val="205aa7"/>
                </a:solidFill>
                <a:latin typeface="Calibri"/>
              </a:rPr>
              <a:t>&lt;number&gt;</a:t>
            </a:fld>
            <a:endParaRPr b="0" lang="fr-FR" sz="900" spc="-1" strike="noStrike">
              <a:latin typeface="Times New Roman"/>
            </a:endParaRPr>
          </a:p>
        </p:txBody>
      </p:sp>
      <p:pic>
        <p:nvPicPr>
          <p:cNvPr id="185" name="Content Placeholder 5" descr=""/>
          <p:cNvPicPr/>
          <p:nvPr/>
        </p:nvPicPr>
        <p:blipFill>
          <a:blip r:embed="rId1"/>
          <a:stretch/>
        </p:blipFill>
        <p:spPr>
          <a:xfrm>
            <a:off x="560160" y="1440000"/>
            <a:ext cx="8045640" cy="4525560"/>
          </a:xfrm>
          <a:prstGeom prst="rect">
            <a:avLst/>
          </a:prstGeom>
          <a:ln>
            <a:noFill/>
          </a:ln>
        </p:spPr>
      </p:pic>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6" name="TextShape 1"/>
          <p:cNvSpPr txBox="1"/>
          <p:nvPr/>
        </p:nvSpPr>
        <p:spPr>
          <a:xfrm>
            <a:off x="468000" y="0"/>
            <a:ext cx="8229240" cy="1142640"/>
          </a:xfrm>
          <a:prstGeom prst="rect">
            <a:avLst/>
          </a:prstGeom>
          <a:noFill/>
          <a:ln>
            <a:noFill/>
          </a:ln>
        </p:spPr>
        <p:txBody>
          <a:bodyPr anchor="ctr">
            <a:noAutofit/>
          </a:bodyPr>
          <a:p>
            <a:pPr>
              <a:lnSpc>
                <a:spcPct val="100000"/>
              </a:lnSpc>
            </a:pPr>
            <a:r>
              <a:rPr b="1" lang="fr-FR" sz="2400" spc="-1" strike="noStrike" cap="all">
                <a:solidFill>
                  <a:srgbClr val="ffffff"/>
                </a:solidFill>
                <a:latin typeface="Calibri"/>
              </a:rPr>
              <a:t>1. Découvrir la Banque de France</a:t>
            </a:r>
            <a:endParaRPr b="0" lang="fr-FR" sz="2400" spc="-1" strike="noStrike">
              <a:solidFill>
                <a:srgbClr val="000000"/>
              </a:solidFill>
              <a:latin typeface="Calibri"/>
            </a:endParaRPr>
          </a:p>
        </p:txBody>
      </p:sp>
      <p:sp>
        <p:nvSpPr>
          <p:cNvPr id="187" name="TextShape 2"/>
          <p:cNvSpPr txBox="1"/>
          <p:nvPr/>
        </p:nvSpPr>
        <p:spPr>
          <a:xfrm>
            <a:off x="3124080" y="6480000"/>
            <a:ext cx="4975920" cy="359640"/>
          </a:xfrm>
          <a:prstGeom prst="rect">
            <a:avLst/>
          </a:prstGeom>
          <a:noFill/>
          <a:ln>
            <a:noFill/>
          </a:ln>
        </p:spPr>
        <p:txBody>
          <a:bodyPr>
            <a:noAutofit/>
          </a:bodyPr>
          <a:p>
            <a:endParaRPr b="0" lang="fr-FR" sz="2400" spc="-1" strike="noStrike">
              <a:latin typeface="Times New Roman"/>
            </a:endParaRPr>
          </a:p>
        </p:txBody>
      </p:sp>
      <p:sp>
        <p:nvSpPr>
          <p:cNvPr id="188" name="TextShape 3"/>
          <p:cNvSpPr txBox="1"/>
          <p:nvPr/>
        </p:nvSpPr>
        <p:spPr>
          <a:xfrm>
            <a:off x="8172360" y="6480000"/>
            <a:ext cx="539640" cy="359640"/>
          </a:xfrm>
          <a:prstGeom prst="rect">
            <a:avLst/>
          </a:prstGeom>
          <a:noFill/>
          <a:ln>
            <a:noFill/>
          </a:ln>
        </p:spPr>
        <p:txBody>
          <a:bodyPr lIns="90000" rIns="90000" tIns="45000" bIns="45000">
            <a:noAutofit/>
          </a:bodyPr>
          <a:p>
            <a:pPr algn="r">
              <a:lnSpc>
                <a:spcPct val="100000"/>
              </a:lnSpc>
            </a:pPr>
            <a:fld id="{BFCC5CEC-9476-408D-9D56-34A65C374154}" type="slidenum">
              <a:rPr b="0" lang="fr-FR" sz="900" spc="-1" strike="noStrike">
                <a:solidFill>
                  <a:srgbClr val="205aa7"/>
                </a:solidFill>
                <a:latin typeface="Calibri"/>
              </a:rPr>
              <a:t>&lt;number&gt;</a:t>
            </a:fld>
            <a:endParaRPr b="0" lang="fr-FR" sz="900" spc="-1" strike="noStrike">
              <a:latin typeface="Times New Roman"/>
            </a:endParaRPr>
          </a:p>
        </p:txBody>
      </p:sp>
      <p:pic>
        <p:nvPicPr>
          <p:cNvPr id="189" name="Content Placeholder 5" descr=""/>
          <p:cNvPicPr/>
          <p:nvPr/>
        </p:nvPicPr>
        <p:blipFill>
          <a:blip r:embed="rId1"/>
          <a:stretch/>
        </p:blipFill>
        <p:spPr>
          <a:xfrm>
            <a:off x="560160" y="1440000"/>
            <a:ext cx="8045640" cy="4525560"/>
          </a:xfrm>
          <a:prstGeom prst="rect">
            <a:avLst/>
          </a:prstGeom>
          <a:ln>
            <a:noFill/>
          </a:ln>
        </p:spPr>
      </p:pic>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0" name="TextShape 1"/>
          <p:cNvSpPr txBox="1"/>
          <p:nvPr/>
        </p:nvSpPr>
        <p:spPr>
          <a:xfrm>
            <a:off x="468000" y="0"/>
            <a:ext cx="8229240" cy="1142640"/>
          </a:xfrm>
          <a:prstGeom prst="rect">
            <a:avLst/>
          </a:prstGeom>
          <a:noFill/>
          <a:ln>
            <a:noFill/>
          </a:ln>
        </p:spPr>
        <p:txBody>
          <a:bodyPr anchor="ctr">
            <a:noAutofit/>
          </a:bodyPr>
          <a:p>
            <a:pPr>
              <a:lnSpc>
                <a:spcPct val="100000"/>
              </a:lnSpc>
            </a:pPr>
            <a:r>
              <a:rPr b="1" lang="fr-FR" sz="2400" spc="-1" strike="noStrike" cap="all">
                <a:solidFill>
                  <a:srgbClr val="ffffff"/>
                </a:solidFill>
                <a:latin typeface="Calibri"/>
              </a:rPr>
              <a:t>1. Découvrir la Banque de France</a:t>
            </a:r>
            <a:endParaRPr b="0" lang="fr-FR" sz="2400" spc="-1" strike="noStrike">
              <a:solidFill>
                <a:srgbClr val="000000"/>
              </a:solidFill>
              <a:latin typeface="Calibri"/>
            </a:endParaRPr>
          </a:p>
        </p:txBody>
      </p:sp>
      <p:sp>
        <p:nvSpPr>
          <p:cNvPr id="191" name="TextShape 2"/>
          <p:cNvSpPr txBox="1"/>
          <p:nvPr/>
        </p:nvSpPr>
        <p:spPr>
          <a:xfrm>
            <a:off x="3124080" y="6480000"/>
            <a:ext cx="4975920" cy="359640"/>
          </a:xfrm>
          <a:prstGeom prst="rect">
            <a:avLst/>
          </a:prstGeom>
          <a:noFill/>
          <a:ln>
            <a:noFill/>
          </a:ln>
        </p:spPr>
        <p:txBody>
          <a:bodyPr>
            <a:noAutofit/>
          </a:bodyPr>
          <a:p>
            <a:endParaRPr b="0" lang="fr-FR" sz="2400" spc="-1" strike="noStrike">
              <a:latin typeface="Times New Roman"/>
            </a:endParaRPr>
          </a:p>
        </p:txBody>
      </p:sp>
      <p:sp>
        <p:nvSpPr>
          <p:cNvPr id="192" name="TextShape 3"/>
          <p:cNvSpPr txBox="1"/>
          <p:nvPr/>
        </p:nvSpPr>
        <p:spPr>
          <a:xfrm>
            <a:off x="8172360" y="6480000"/>
            <a:ext cx="539640" cy="359640"/>
          </a:xfrm>
          <a:prstGeom prst="rect">
            <a:avLst/>
          </a:prstGeom>
          <a:noFill/>
          <a:ln>
            <a:noFill/>
          </a:ln>
        </p:spPr>
        <p:txBody>
          <a:bodyPr lIns="90000" rIns="90000" tIns="45000" bIns="45000">
            <a:noAutofit/>
          </a:bodyPr>
          <a:p>
            <a:pPr algn="r">
              <a:lnSpc>
                <a:spcPct val="100000"/>
              </a:lnSpc>
            </a:pPr>
            <a:fld id="{052A8A5F-7B5E-43A4-AC7B-53F84B716E7A}" type="slidenum">
              <a:rPr b="0" lang="fr-FR" sz="900" spc="-1" strike="noStrike">
                <a:solidFill>
                  <a:srgbClr val="205aa7"/>
                </a:solidFill>
                <a:latin typeface="Calibri"/>
              </a:rPr>
              <a:t>&lt;number&gt;</a:t>
            </a:fld>
            <a:endParaRPr b="0" lang="fr-FR" sz="900" spc="-1" strike="noStrike">
              <a:latin typeface="Times New Roman"/>
            </a:endParaRPr>
          </a:p>
        </p:txBody>
      </p:sp>
      <p:pic>
        <p:nvPicPr>
          <p:cNvPr id="193" name="Content Placeholder 5" descr=""/>
          <p:cNvPicPr/>
          <p:nvPr/>
        </p:nvPicPr>
        <p:blipFill>
          <a:blip r:embed="rId1"/>
          <a:stretch/>
        </p:blipFill>
        <p:spPr>
          <a:xfrm>
            <a:off x="560160" y="1440000"/>
            <a:ext cx="8045640" cy="4525560"/>
          </a:xfrm>
          <a:prstGeom prst="rect">
            <a:avLst/>
          </a:prstGeom>
          <a:ln>
            <a:noFill/>
          </a:ln>
        </p:spPr>
      </p:pic>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4" name="TextShape 1"/>
          <p:cNvSpPr txBox="1"/>
          <p:nvPr/>
        </p:nvSpPr>
        <p:spPr>
          <a:xfrm>
            <a:off x="468000" y="0"/>
            <a:ext cx="8229240" cy="1142640"/>
          </a:xfrm>
          <a:prstGeom prst="rect">
            <a:avLst/>
          </a:prstGeom>
          <a:noFill/>
          <a:ln>
            <a:noFill/>
          </a:ln>
        </p:spPr>
        <p:txBody>
          <a:bodyPr anchor="ctr">
            <a:noAutofit/>
          </a:bodyPr>
          <a:p>
            <a:pPr>
              <a:lnSpc>
                <a:spcPct val="100000"/>
              </a:lnSpc>
            </a:pPr>
            <a:r>
              <a:rPr b="1" lang="fr-FR" sz="2400" spc="-1" strike="noStrike" cap="all">
                <a:solidFill>
                  <a:srgbClr val="ffffff"/>
                </a:solidFill>
                <a:latin typeface="Calibri"/>
              </a:rPr>
              <a:t>1. Découvrir la Banque de France</a:t>
            </a:r>
            <a:endParaRPr b="0" lang="fr-FR" sz="2400" spc="-1" strike="noStrike">
              <a:solidFill>
                <a:srgbClr val="000000"/>
              </a:solidFill>
              <a:latin typeface="Calibri"/>
            </a:endParaRPr>
          </a:p>
        </p:txBody>
      </p:sp>
      <p:sp>
        <p:nvSpPr>
          <p:cNvPr id="195" name="TextShape 2"/>
          <p:cNvSpPr txBox="1"/>
          <p:nvPr/>
        </p:nvSpPr>
        <p:spPr>
          <a:xfrm>
            <a:off x="3124080" y="6480000"/>
            <a:ext cx="4975920" cy="359640"/>
          </a:xfrm>
          <a:prstGeom prst="rect">
            <a:avLst/>
          </a:prstGeom>
          <a:noFill/>
          <a:ln>
            <a:noFill/>
          </a:ln>
        </p:spPr>
        <p:txBody>
          <a:bodyPr>
            <a:noAutofit/>
          </a:bodyPr>
          <a:p>
            <a:endParaRPr b="0" lang="fr-FR" sz="2400" spc="-1" strike="noStrike">
              <a:latin typeface="Times New Roman"/>
            </a:endParaRPr>
          </a:p>
        </p:txBody>
      </p:sp>
      <p:sp>
        <p:nvSpPr>
          <p:cNvPr id="196" name="TextShape 3"/>
          <p:cNvSpPr txBox="1"/>
          <p:nvPr/>
        </p:nvSpPr>
        <p:spPr>
          <a:xfrm>
            <a:off x="8172360" y="6480000"/>
            <a:ext cx="539640" cy="359640"/>
          </a:xfrm>
          <a:prstGeom prst="rect">
            <a:avLst/>
          </a:prstGeom>
          <a:noFill/>
          <a:ln>
            <a:noFill/>
          </a:ln>
        </p:spPr>
        <p:txBody>
          <a:bodyPr lIns="90000" rIns="90000" tIns="45000" bIns="45000">
            <a:noAutofit/>
          </a:bodyPr>
          <a:p>
            <a:pPr algn="r">
              <a:lnSpc>
                <a:spcPct val="100000"/>
              </a:lnSpc>
            </a:pPr>
            <a:fld id="{B1F03A53-79A8-47B4-93FD-1A231964A80E}" type="slidenum">
              <a:rPr b="0" lang="fr-FR" sz="900" spc="-1" strike="noStrike">
                <a:solidFill>
                  <a:srgbClr val="205aa7"/>
                </a:solidFill>
                <a:latin typeface="Calibri"/>
              </a:rPr>
              <a:t>&lt;number&gt;</a:t>
            </a:fld>
            <a:endParaRPr b="0" lang="fr-FR" sz="900" spc="-1" strike="noStrike">
              <a:latin typeface="Times New Roman"/>
            </a:endParaRPr>
          </a:p>
        </p:txBody>
      </p:sp>
      <p:pic>
        <p:nvPicPr>
          <p:cNvPr id="197" name="Content Placeholder 5" descr=""/>
          <p:cNvPicPr/>
          <p:nvPr/>
        </p:nvPicPr>
        <p:blipFill>
          <a:blip r:embed="rId1"/>
          <a:stretch/>
        </p:blipFill>
        <p:spPr>
          <a:xfrm>
            <a:off x="560160" y="1440000"/>
            <a:ext cx="8045640" cy="4525560"/>
          </a:xfrm>
          <a:prstGeom prst="rect">
            <a:avLst/>
          </a:prstGeom>
          <a:ln>
            <a:noFill/>
          </a:ln>
        </p:spPr>
      </p:pic>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8" name="TextShape 1"/>
          <p:cNvSpPr txBox="1"/>
          <p:nvPr/>
        </p:nvSpPr>
        <p:spPr>
          <a:xfrm>
            <a:off x="468000" y="0"/>
            <a:ext cx="8229240" cy="1142640"/>
          </a:xfrm>
          <a:prstGeom prst="rect">
            <a:avLst/>
          </a:prstGeom>
          <a:noFill/>
          <a:ln>
            <a:noFill/>
          </a:ln>
        </p:spPr>
        <p:txBody>
          <a:bodyPr anchor="ctr">
            <a:noAutofit/>
          </a:bodyPr>
          <a:p>
            <a:pPr>
              <a:lnSpc>
                <a:spcPct val="100000"/>
              </a:lnSpc>
            </a:pPr>
            <a:r>
              <a:rPr b="1" lang="fr-FR" sz="2400" spc="-1" strike="noStrike" cap="all">
                <a:solidFill>
                  <a:srgbClr val="ffffff"/>
                </a:solidFill>
                <a:latin typeface="Calibri"/>
              </a:rPr>
              <a:t>1. Découvrir la Banque de France</a:t>
            </a:r>
            <a:endParaRPr b="0" lang="fr-FR" sz="2400" spc="-1" strike="noStrike">
              <a:solidFill>
                <a:srgbClr val="000000"/>
              </a:solidFill>
              <a:latin typeface="Calibri"/>
            </a:endParaRPr>
          </a:p>
        </p:txBody>
      </p:sp>
      <p:sp>
        <p:nvSpPr>
          <p:cNvPr id="199" name="TextShape 2"/>
          <p:cNvSpPr txBox="1"/>
          <p:nvPr/>
        </p:nvSpPr>
        <p:spPr>
          <a:xfrm>
            <a:off x="3124080" y="6480000"/>
            <a:ext cx="4975920" cy="359640"/>
          </a:xfrm>
          <a:prstGeom prst="rect">
            <a:avLst/>
          </a:prstGeom>
          <a:noFill/>
          <a:ln>
            <a:noFill/>
          </a:ln>
        </p:spPr>
        <p:txBody>
          <a:bodyPr>
            <a:noAutofit/>
          </a:bodyPr>
          <a:p>
            <a:endParaRPr b="0" lang="fr-FR" sz="2400" spc="-1" strike="noStrike">
              <a:latin typeface="Times New Roman"/>
            </a:endParaRPr>
          </a:p>
        </p:txBody>
      </p:sp>
      <p:sp>
        <p:nvSpPr>
          <p:cNvPr id="200" name="TextShape 3"/>
          <p:cNvSpPr txBox="1"/>
          <p:nvPr/>
        </p:nvSpPr>
        <p:spPr>
          <a:xfrm>
            <a:off x="8172360" y="6480000"/>
            <a:ext cx="539640" cy="359640"/>
          </a:xfrm>
          <a:prstGeom prst="rect">
            <a:avLst/>
          </a:prstGeom>
          <a:noFill/>
          <a:ln>
            <a:noFill/>
          </a:ln>
        </p:spPr>
        <p:txBody>
          <a:bodyPr lIns="90000" rIns="90000" tIns="45000" bIns="45000">
            <a:noAutofit/>
          </a:bodyPr>
          <a:p>
            <a:pPr algn="r">
              <a:lnSpc>
                <a:spcPct val="100000"/>
              </a:lnSpc>
            </a:pPr>
            <a:fld id="{5C6A2186-9E4A-4E7A-9F0E-30BA38A7DD4A}" type="slidenum">
              <a:rPr b="0" lang="fr-FR" sz="900" spc="-1" strike="noStrike">
                <a:solidFill>
                  <a:srgbClr val="205aa7"/>
                </a:solidFill>
                <a:latin typeface="Calibri"/>
              </a:rPr>
              <a:t>&lt;number&gt;</a:t>
            </a:fld>
            <a:endParaRPr b="0" lang="fr-FR" sz="900" spc="-1" strike="noStrike">
              <a:latin typeface="Times New Roman"/>
            </a:endParaRPr>
          </a:p>
        </p:txBody>
      </p:sp>
      <p:pic>
        <p:nvPicPr>
          <p:cNvPr id="201" name="Content Placeholder 5" descr=""/>
          <p:cNvPicPr/>
          <p:nvPr/>
        </p:nvPicPr>
        <p:blipFill>
          <a:blip r:embed="rId1"/>
          <a:stretch/>
        </p:blipFill>
        <p:spPr>
          <a:xfrm>
            <a:off x="560160" y="1440000"/>
            <a:ext cx="8045640" cy="4525560"/>
          </a:xfrm>
          <a:prstGeom prst="rect">
            <a:avLst/>
          </a:prstGeom>
          <a:ln>
            <a:noFill/>
          </a:ln>
        </p:spPr>
      </p:pic>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2" name="TextShape 1"/>
          <p:cNvSpPr txBox="1"/>
          <p:nvPr/>
        </p:nvSpPr>
        <p:spPr>
          <a:xfrm>
            <a:off x="468000" y="0"/>
            <a:ext cx="8229240" cy="1142640"/>
          </a:xfrm>
          <a:prstGeom prst="rect">
            <a:avLst/>
          </a:prstGeom>
          <a:noFill/>
          <a:ln>
            <a:noFill/>
          </a:ln>
        </p:spPr>
        <p:txBody>
          <a:bodyPr anchor="ctr">
            <a:noAutofit/>
          </a:bodyPr>
          <a:p>
            <a:pPr>
              <a:lnSpc>
                <a:spcPct val="100000"/>
              </a:lnSpc>
            </a:pPr>
            <a:r>
              <a:rPr b="1" lang="fr-FR" sz="2400" spc="-1" strike="noStrike" cap="all">
                <a:solidFill>
                  <a:srgbClr val="ffffff"/>
                </a:solidFill>
                <a:latin typeface="Calibri"/>
              </a:rPr>
              <a:t>1. Découvrir la Banque de France</a:t>
            </a:r>
            <a:endParaRPr b="0" lang="fr-FR" sz="2400" spc="-1" strike="noStrike">
              <a:solidFill>
                <a:srgbClr val="000000"/>
              </a:solidFill>
              <a:latin typeface="Calibri"/>
            </a:endParaRPr>
          </a:p>
        </p:txBody>
      </p:sp>
      <p:sp>
        <p:nvSpPr>
          <p:cNvPr id="203" name="TextShape 2"/>
          <p:cNvSpPr txBox="1"/>
          <p:nvPr/>
        </p:nvSpPr>
        <p:spPr>
          <a:xfrm>
            <a:off x="3124080" y="6480000"/>
            <a:ext cx="4975920" cy="359640"/>
          </a:xfrm>
          <a:prstGeom prst="rect">
            <a:avLst/>
          </a:prstGeom>
          <a:noFill/>
          <a:ln>
            <a:noFill/>
          </a:ln>
        </p:spPr>
        <p:txBody>
          <a:bodyPr>
            <a:noAutofit/>
          </a:bodyPr>
          <a:p>
            <a:endParaRPr b="0" lang="fr-FR" sz="2400" spc="-1" strike="noStrike">
              <a:latin typeface="Times New Roman"/>
            </a:endParaRPr>
          </a:p>
        </p:txBody>
      </p:sp>
      <p:sp>
        <p:nvSpPr>
          <p:cNvPr id="204" name="TextShape 3"/>
          <p:cNvSpPr txBox="1"/>
          <p:nvPr/>
        </p:nvSpPr>
        <p:spPr>
          <a:xfrm>
            <a:off x="8172360" y="6480000"/>
            <a:ext cx="539640" cy="359640"/>
          </a:xfrm>
          <a:prstGeom prst="rect">
            <a:avLst/>
          </a:prstGeom>
          <a:noFill/>
          <a:ln>
            <a:noFill/>
          </a:ln>
        </p:spPr>
        <p:txBody>
          <a:bodyPr lIns="90000" rIns="90000" tIns="45000" bIns="45000">
            <a:noAutofit/>
          </a:bodyPr>
          <a:p>
            <a:pPr algn="r">
              <a:lnSpc>
                <a:spcPct val="100000"/>
              </a:lnSpc>
            </a:pPr>
            <a:fld id="{4F5FDE09-F88A-419C-A0F9-017829F9A2E0}" type="slidenum">
              <a:rPr b="0" lang="fr-FR" sz="900" spc="-1" strike="noStrike">
                <a:solidFill>
                  <a:srgbClr val="205aa7"/>
                </a:solidFill>
                <a:latin typeface="Calibri"/>
              </a:rPr>
              <a:t>&lt;number&gt;</a:t>
            </a:fld>
            <a:endParaRPr b="0" lang="fr-FR" sz="900" spc="-1" strike="noStrike">
              <a:latin typeface="Times New Roman"/>
            </a:endParaRPr>
          </a:p>
        </p:txBody>
      </p:sp>
      <p:pic>
        <p:nvPicPr>
          <p:cNvPr id="205" name="Content Placeholder 5" descr=""/>
          <p:cNvPicPr/>
          <p:nvPr/>
        </p:nvPicPr>
        <p:blipFill>
          <a:blip r:embed="rId1"/>
          <a:stretch/>
        </p:blipFill>
        <p:spPr>
          <a:xfrm>
            <a:off x="560160" y="1440000"/>
            <a:ext cx="8045640" cy="4525560"/>
          </a:xfrm>
          <a:prstGeom prst="rect">
            <a:avLst/>
          </a:prstGeom>
          <a:ln>
            <a:noFill/>
          </a:ln>
        </p:spPr>
      </p:pic>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6" name="TextShape 1"/>
          <p:cNvSpPr txBox="1"/>
          <p:nvPr/>
        </p:nvSpPr>
        <p:spPr>
          <a:xfrm>
            <a:off x="468000" y="0"/>
            <a:ext cx="8229240" cy="1142640"/>
          </a:xfrm>
          <a:prstGeom prst="rect">
            <a:avLst/>
          </a:prstGeom>
          <a:noFill/>
          <a:ln>
            <a:noFill/>
          </a:ln>
        </p:spPr>
        <p:txBody>
          <a:bodyPr anchor="ctr">
            <a:noAutofit/>
          </a:bodyPr>
          <a:p>
            <a:pPr>
              <a:lnSpc>
                <a:spcPct val="100000"/>
              </a:lnSpc>
            </a:pPr>
            <a:r>
              <a:rPr b="1" lang="fr-FR" sz="2400" spc="-1" strike="noStrike" cap="all">
                <a:solidFill>
                  <a:srgbClr val="ffffff"/>
                </a:solidFill>
                <a:latin typeface="Calibri"/>
              </a:rPr>
              <a:t>1. Découvrir la Banque de France</a:t>
            </a:r>
            <a:endParaRPr b="0" lang="fr-FR" sz="2400" spc="-1" strike="noStrike">
              <a:solidFill>
                <a:srgbClr val="000000"/>
              </a:solidFill>
              <a:latin typeface="Calibri"/>
            </a:endParaRPr>
          </a:p>
        </p:txBody>
      </p:sp>
      <p:sp>
        <p:nvSpPr>
          <p:cNvPr id="207" name="TextShape 2"/>
          <p:cNvSpPr txBox="1"/>
          <p:nvPr/>
        </p:nvSpPr>
        <p:spPr>
          <a:xfrm>
            <a:off x="3124080" y="6480000"/>
            <a:ext cx="4975920" cy="359640"/>
          </a:xfrm>
          <a:prstGeom prst="rect">
            <a:avLst/>
          </a:prstGeom>
          <a:noFill/>
          <a:ln>
            <a:noFill/>
          </a:ln>
        </p:spPr>
        <p:txBody>
          <a:bodyPr>
            <a:noAutofit/>
          </a:bodyPr>
          <a:p>
            <a:endParaRPr b="0" lang="fr-FR" sz="2400" spc="-1" strike="noStrike">
              <a:latin typeface="Times New Roman"/>
            </a:endParaRPr>
          </a:p>
        </p:txBody>
      </p:sp>
      <p:sp>
        <p:nvSpPr>
          <p:cNvPr id="208" name="TextShape 3"/>
          <p:cNvSpPr txBox="1"/>
          <p:nvPr/>
        </p:nvSpPr>
        <p:spPr>
          <a:xfrm>
            <a:off x="8172360" y="6480000"/>
            <a:ext cx="539640" cy="359640"/>
          </a:xfrm>
          <a:prstGeom prst="rect">
            <a:avLst/>
          </a:prstGeom>
          <a:noFill/>
          <a:ln>
            <a:noFill/>
          </a:ln>
        </p:spPr>
        <p:txBody>
          <a:bodyPr lIns="90000" rIns="90000" tIns="45000" bIns="45000">
            <a:noAutofit/>
          </a:bodyPr>
          <a:p>
            <a:pPr algn="r">
              <a:lnSpc>
                <a:spcPct val="100000"/>
              </a:lnSpc>
            </a:pPr>
            <a:fld id="{75622E8A-86D3-4CC0-B8CC-5F666A0C235A}" type="slidenum">
              <a:rPr b="0" lang="fr-FR" sz="900" spc="-1" strike="noStrike">
                <a:solidFill>
                  <a:srgbClr val="205aa7"/>
                </a:solidFill>
                <a:latin typeface="Calibri"/>
              </a:rPr>
              <a:t>&lt;number&gt;</a:t>
            </a:fld>
            <a:endParaRPr b="0" lang="fr-FR" sz="900" spc="-1" strike="noStrike">
              <a:latin typeface="Times New Roman"/>
            </a:endParaRPr>
          </a:p>
        </p:txBody>
      </p:sp>
      <p:pic>
        <p:nvPicPr>
          <p:cNvPr id="209" name="Content Placeholder 5" descr=""/>
          <p:cNvPicPr/>
          <p:nvPr/>
        </p:nvPicPr>
        <p:blipFill>
          <a:blip r:embed="rId1"/>
          <a:stretch/>
        </p:blipFill>
        <p:spPr>
          <a:xfrm>
            <a:off x="560160" y="1440000"/>
            <a:ext cx="8045640" cy="4525560"/>
          </a:xfrm>
          <a:prstGeom prst="rect">
            <a:avLst/>
          </a:prstGeom>
          <a:ln>
            <a:noFill/>
          </a:ln>
        </p:spPr>
      </p:pic>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0" name="TextShape 1"/>
          <p:cNvSpPr txBox="1"/>
          <p:nvPr/>
        </p:nvSpPr>
        <p:spPr>
          <a:xfrm>
            <a:off x="468000" y="0"/>
            <a:ext cx="8229240" cy="1142640"/>
          </a:xfrm>
          <a:prstGeom prst="rect">
            <a:avLst/>
          </a:prstGeom>
          <a:noFill/>
          <a:ln>
            <a:noFill/>
          </a:ln>
        </p:spPr>
        <p:txBody>
          <a:bodyPr anchor="ctr">
            <a:noAutofit/>
          </a:bodyPr>
          <a:p>
            <a:pPr>
              <a:lnSpc>
                <a:spcPct val="100000"/>
              </a:lnSpc>
            </a:pPr>
            <a:r>
              <a:rPr b="1" lang="fr-FR" sz="2400" spc="-1" strike="noStrike" cap="all">
                <a:solidFill>
                  <a:srgbClr val="ffffff"/>
                </a:solidFill>
                <a:latin typeface="Calibri"/>
              </a:rPr>
              <a:t>1. Découvrir la Banque de France</a:t>
            </a:r>
            <a:endParaRPr b="0" lang="fr-FR" sz="2400" spc="-1" strike="noStrike">
              <a:solidFill>
                <a:srgbClr val="000000"/>
              </a:solidFill>
              <a:latin typeface="Calibri"/>
            </a:endParaRPr>
          </a:p>
        </p:txBody>
      </p:sp>
      <p:sp>
        <p:nvSpPr>
          <p:cNvPr id="211" name="TextShape 2"/>
          <p:cNvSpPr txBox="1"/>
          <p:nvPr/>
        </p:nvSpPr>
        <p:spPr>
          <a:xfrm>
            <a:off x="3124080" y="6480000"/>
            <a:ext cx="4975920" cy="359640"/>
          </a:xfrm>
          <a:prstGeom prst="rect">
            <a:avLst/>
          </a:prstGeom>
          <a:noFill/>
          <a:ln>
            <a:noFill/>
          </a:ln>
        </p:spPr>
        <p:txBody>
          <a:bodyPr>
            <a:noAutofit/>
          </a:bodyPr>
          <a:p>
            <a:endParaRPr b="0" lang="fr-FR" sz="2400" spc="-1" strike="noStrike">
              <a:latin typeface="Times New Roman"/>
            </a:endParaRPr>
          </a:p>
        </p:txBody>
      </p:sp>
      <p:sp>
        <p:nvSpPr>
          <p:cNvPr id="212" name="TextShape 3"/>
          <p:cNvSpPr txBox="1"/>
          <p:nvPr/>
        </p:nvSpPr>
        <p:spPr>
          <a:xfrm>
            <a:off x="8172360" y="6480000"/>
            <a:ext cx="539640" cy="359640"/>
          </a:xfrm>
          <a:prstGeom prst="rect">
            <a:avLst/>
          </a:prstGeom>
          <a:noFill/>
          <a:ln>
            <a:noFill/>
          </a:ln>
        </p:spPr>
        <p:txBody>
          <a:bodyPr lIns="90000" rIns="90000" tIns="45000" bIns="45000">
            <a:noAutofit/>
          </a:bodyPr>
          <a:p>
            <a:pPr algn="r">
              <a:lnSpc>
                <a:spcPct val="100000"/>
              </a:lnSpc>
            </a:pPr>
            <a:fld id="{4A09AEEC-7F52-49FF-BA0E-55262689E714}" type="slidenum">
              <a:rPr b="0" lang="fr-FR" sz="900" spc="-1" strike="noStrike">
                <a:solidFill>
                  <a:srgbClr val="205aa7"/>
                </a:solidFill>
                <a:latin typeface="Calibri"/>
              </a:rPr>
              <a:t>&lt;number&gt;</a:t>
            </a:fld>
            <a:endParaRPr b="0" lang="fr-FR" sz="900" spc="-1" strike="noStrike">
              <a:latin typeface="Times New Roman"/>
            </a:endParaRPr>
          </a:p>
        </p:txBody>
      </p:sp>
      <p:pic>
        <p:nvPicPr>
          <p:cNvPr id="213" name="Content Placeholder 5" descr=""/>
          <p:cNvPicPr/>
          <p:nvPr/>
        </p:nvPicPr>
        <p:blipFill>
          <a:blip r:embed="rId1"/>
          <a:stretch/>
        </p:blipFill>
        <p:spPr>
          <a:xfrm>
            <a:off x="560160" y="1440000"/>
            <a:ext cx="8045640" cy="4525560"/>
          </a:xfrm>
          <a:prstGeom prst="rect">
            <a:avLst/>
          </a:prstGeom>
          <a:ln>
            <a:noFill/>
          </a:ln>
        </p:spPr>
      </p:pic>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4" name="TextShape 1"/>
          <p:cNvSpPr txBox="1"/>
          <p:nvPr/>
        </p:nvSpPr>
        <p:spPr>
          <a:xfrm>
            <a:off x="3124080" y="6480000"/>
            <a:ext cx="4975920" cy="359640"/>
          </a:xfrm>
          <a:prstGeom prst="rect">
            <a:avLst/>
          </a:prstGeom>
          <a:noFill/>
          <a:ln>
            <a:noFill/>
          </a:ln>
        </p:spPr>
        <p:txBody>
          <a:bodyPr>
            <a:noAutofit/>
          </a:bodyPr>
          <a:p>
            <a:endParaRPr b="0" lang="fr-FR" sz="2400" spc="-1" strike="noStrike">
              <a:latin typeface="Times New Roman"/>
            </a:endParaRPr>
          </a:p>
        </p:txBody>
      </p:sp>
      <p:sp>
        <p:nvSpPr>
          <p:cNvPr id="215" name="TextShape 2"/>
          <p:cNvSpPr txBox="1"/>
          <p:nvPr/>
        </p:nvSpPr>
        <p:spPr>
          <a:xfrm>
            <a:off x="8172360" y="6480000"/>
            <a:ext cx="539640" cy="359640"/>
          </a:xfrm>
          <a:prstGeom prst="rect">
            <a:avLst/>
          </a:prstGeom>
          <a:noFill/>
          <a:ln>
            <a:noFill/>
          </a:ln>
        </p:spPr>
        <p:txBody>
          <a:bodyPr lIns="90000" rIns="90000" tIns="45000" bIns="45000">
            <a:noAutofit/>
          </a:bodyPr>
          <a:p>
            <a:pPr algn="r">
              <a:lnSpc>
                <a:spcPct val="100000"/>
              </a:lnSpc>
            </a:pPr>
            <a:fld id="{8A0635AB-1318-481F-BEFA-95F0D666BB67}" type="slidenum">
              <a:rPr b="0" lang="fr-FR" sz="900" spc="-1" strike="noStrike">
                <a:solidFill>
                  <a:srgbClr val="205aa7"/>
                </a:solidFill>
                <a:latin typeface="Calibri"/>
              </a:rPr>
              <a:t>&lt;number&gt;</a:t>
            </a:fld>
            <a:endParaRPr b="0" lang="fr-FR" sz="900" spc="-1" strike="noStrike">
              <a:latin typeface="Times New Roman"/>
            </a:endParaRPr>
          </a:p>
        </p:txBody>
      </p:sp>
      <p:sp>
        <p:nvSpPr>
          <p:cNvPr id="216" name="TextShape 3"/>
          <p:cNvSpPr txBox="1"/>
          <p:nvPr/>
        </p:nvSpPr>
        <p:spPr>
          <a:xfrm>
            <a:off x="1692000" y="1584000"/>
            <a:ext cx="7019640" cy="4499640"/>
          </a:xfrm>
          <a:prstGeom prst="rect">
            <a:avLst/>
          </a:prstGeom>
          <a:noFill/>
          <a:ln>
            <a:noFill/>
          </a:ln>
        </p:spPr>
        <p:txBody>
          <a:bodyPr anchor="ctr">
            <a:noAutofit/>
          </a:bodyPr>
          <a:p>
            <a:pPr marL="396000" indent="-395640">
              <a:lnSpc>
                <a:spcPct val="100000"/>
              </a:lnSpc>
              <a:spcBef>
                <a:spcPts val="519"/>
              </a:spcBef>
              <a:buClr>
                <a:srgbClr val="cbddf5"/>
              </a:buClr>
              <a:buFont typeface="StarSymbol"/>
              <a:buAutoNum type="arabicPeriod"/>
            </a:pPr>
            <a:r>
              <a:rPr b="0" lang="fr-FR" sz="2600" spc="-1" strike="noStrike">
                <a:solidFill>
                  <a:srgbClr val="cbddf5"/>
                </a:solidFill>
                <a:latin typeface="Calibri"/>
              </a:rPr>
              <a:t>Découvrir la Banque de France</a:t>
            </a:r>
            <a:endParaRPr b="0" lang="fr-FR" sz="2600" spc="-1" strike="noStrike">
              <a:solidFill>
                <a:srgbClr val="205aa7"/>
              </a:solidFill>
              <a:latin typeface="Calibri"/>
            </a:endParaRPr>
          </a:p>
          <a:p>
            <a:pPr marL="396000" indent="-395640">
              <a:lnSpc>
                <a:spcPct val="100000"/>
              </a:lnSpc>
              <a:spcBef>
                <a:spcPts val="519"/>
              </a:spcBef>
              <a:buClr>
                <a:srgbClr val="205aa7"/>
              </a:buClr>
              <a:buFont typeface="StarSymbol"/>
              <a:buAutoNum type="arabicPeriod"/>
            </a:pPr>
            <a:r>
              <a:rPr b="0" lang="fr-FR" sz="2600" spc="-1" strike="noStrike">
                <a:solidFill>
                  <a:srgbClr val="205aa7"/>
                </a:solidFill>
                <a:latin typeface="Calibri"/>
              </a:rPr>
              <a:t>Présentation de la cotation Banque de France</a:t>
            </a:r>
            <a:endParaRPr b="0" lang="fr-FR" sz="2600" spc="-1" strike="noStrike">
              <a:solidFill>
                <a:srgbClr val="205aa7"/>
              </a:solidFill>
              <a:latin typeface="Calibri"/>
            </a:endParaRPr>
          </a:p>
          <a:p>
            <a:pPr marL="396000" indent="-395640">
              <a:lnSpc>
                <a:spcPct val="100000"/>
              </a:lnSpc>
              <a:spcBef>
                <a:spcPts val="519"/>
              </a:spcBef>
              <a:buClr>
                <a:srgbClr val="cbddf5"/>
              </a:buClr>
              <a:buFont typeface="StarSymbol"/>
              <a:buAutoNum type="arabicPeriod"/>
            </a:pPr>
            <a:r>
              <a:rPr b="0" lang="fr-FR" sz="2600" spc="-1" strike="noStrike">
                <a:solidFill>
                  <a:srgbClr val="cbddf5"/>
                </a:solidFill>
                <a:latin typeface="Calibri"/>
              </a:rPr>
              <a:t>L’analyse financière des comptes consolidés</a:t>
            </a:r>
            <a:endParaRPr b="0" lang="fr-FR" sz="2600" spc="-1" strike="noStrike">
              <a:solidFill>
                <a:srgbClr val="205aa7"/>
              </a:solidFill>
              <a:latin typeface="Calibri"/>
            </a:endParaRPr>
          </a:p>
          <a:p>
            <a:pPr>
              <a:lnSpc>
                <a:spcPct val="100000"/>
              </a:lnSpc>
              <a:spcBef>
                <a:spcPts val="519"/>
              </a:spcBef>
            </a:pPr>
            <a:endParaRPr b="0" lang="fr-FR" sz="2600" spc="-1" strike="noStrike">
              <a:solidFill>
                <a:srgbClr val="205aa7"/>
              </a:solidFill>
              <a:latin typeface="Calibri"/>
            </a:endParaRPr>
          </a:p>
          <a:p>
            <a:pPr>
              <a:lnSpc>
                <a:spcPct val="100000"/>
              </a:lnSpc>
              <a:spcBef>
                <a:spcPts val="519"/>
              </a:spcBef>
            </a:pPr>
            <a:endParaRPr b="0" lang="fr-FR" sz="2600" spc="-1" strike="noStrike">
              <a:solidFill>
                <a:srgbClr val="205aa7"/>
              </a:solidFill>
              <a:latin typeface="Calibri"/>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7" name="TextShape 1"/>
          <p:cNvSpPr txBox="1"/>
          <p:nvPr/>
        </p:nvSpPr>
        <p:spPr>
          <a:xfrm>
            <a:off x="468000" y="0"/>
            <a:ext cx="8229240" cy="1142640"/>
          </a:xfrm>
          <a:prstGeom prst="rect">
            <a:avLst/>
          </a:prstGeom>
          <a:noFill/>
          <a:ln>
            <a:noFill/>
          </a:ln>
        </p:spPr>
        <p:txBody>
          <a:bodyPr anchor="ctr">
            <a:noAutofit/>
          </a:bodyPr>
          <a:p>
            <a:pPr>
              <a:lnSpc>
                <a:spcPct val="100000"/>
              </a:lnSpc>
            </a:pPr>
            <a:r>
              <a:rPr b="1" lang="en-US" sz="2400" spc="-1" strike="noStrike" cap="all">
                <a:solidFill>
                  <a:srgbClr val="ffffff"/>
                </a:solidFill>
                <a:latin typeface="Calibri"/>
              </a:rPr>
              <a:t>2</a:t>
            </a:r>
            <a:r>
              <a:rPr b="1" lang="fr-FR" sz="2400" spc="-1" strike="noStrike" cap="all">
                <a:solidFill>
                  <a:srgbClr val="ffffff"/>
                </a:solidFill>
                <a:latin typeface="Calibri"/>
              </a:rPr>
              <a:t>. Présentation de La cotation banque de France</a:t>
            </a:r>
            <a:endParaRPr b="0" lang="fr-FR" sz="2400" spc="-1" strike="noStrike">
              <a:solidFill>
                <a:srgbClr val="000000"/>
              </a:solidFill>
              <a:latin typeface="Calibri"/>
            </a:endParaRPr>
          </a:p>
        </p:txBody>
      </p:sp>
      <p:sp>
        <p:nvSpPr>
          <p:cNvPr id="218" name="TextShape 2"/>
          <p:cNvSpPr txBox="1"/>
          <p:nvPr/>
        </p:nvSpPr>
        <p:spPr>
          <a:xfrm>
            <a:off x="3124080" y="6480000"/>
            <a:ext cx="4975920" cy="359640"/>
          </a:xfrm>
          <a:prstGeom prst="rect">
            <a:avLst/>
          </a:prstGeom>
          <a:noFill/>
          <a:ln>
            <a:noFill/>
          </a:ln>
        </p:spPr>
        <p:txBody>
          <a:bodyPr>
            <a:noAutofit/>
          </a:bodyPr>
          <a:p>
            <a:endParaRPr b="0" lang="fr-FR" sz="2400" spc="-1" strike="noStrike">
              <a:latin typeface="Times New Roman"/>
            </a:endParaRPr>
          </a:p>
        </p:txBody>
      </p:sp>
      <p:sp>
        <p:nvSpPr>
          <p:cNvPr id="219" name="TextShape 3"/>
          <p:cNvSpPr txBox="1"/>
          <p:nvPr/>
        </p:nvSpPr>
        <p:spPr>
          <a:xfrm>
            <a:off x="8172360" y="6480000"/>
            <a:ext cx="539640" cy="359640"/>
          </a:xfrm>
          <a:prstGeom prst="rect">
            <a:avLst/>
          </a:prstGeom>
          <a:noFill/>
          <a:ln>
            <a:noFill/>
          </a:ln>
        </p:spPr>
        <p:txBody>
          <a:bodyPr lIns="90000" rIns="90000" tIns="45000" bIns="45000">
            <a:noAutofit/>
          </a:bodyPr>
          <a:p>
            <a:pPr algn="r">
              <a:lnSpc>
                <a:spcPct val="100000"/>
              </a:lnSpc>
            </a:pPr>
            <a:fld id="{01565E48-7A00-4AD7-A0D0-CB1732351827}" type="slidenum">
              <a:rPr b="0" lang="fr-FR" sz="900" spc="-1" strike="noStrike">
                <a:solidFill>
                  <a:srgbClr val="205aa7"/>
                </a:solidFill>
                <a:latin typeface="Calibri"/>
              </a:rPr>
              <a:t>&lt;number&gt;</a:t>
            </a:fld>
            <a:endParaRPr b="0" lang="fr-FR" sz="900" spc="-1" strike="noStrike">
              <a:latin typeface="Times New Roman"/>
            </a:endParaRPr>
          </a:p>
        </p:txBody>
      </p:sp>
      <p:pic>
        <p:nvPicPr>
          <p:cNvPr id="220" name="Content Placeholder 5" descr=""/>
          <p:cNvPicPr/>
          <p:nvPr/>
        </p:nvPicPr>
        <p:blipFill>
          <a:blip r:embed="rId1"/>
          <a:stretch/>
        </p:blipFill>
        <p:spPr>
          <a:xfrm>
            <a:off x="468360" y="1856520"/>
            <a:ext cx="8229240" cy="3692520"/>
          </a:xfrm>
          <a:prstGeom prst="rect">
            <a:avLst/>
          </a:prstGeom>
          <a:ln>
            <a:noFill/>
          </a:ln>
        </p:spPr>
      </p:pic>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1" name="TextShape 1"/>
          <p:cNvSpPr txBox="1"/>
          <p:nvPr/>
        </p:nvSpPr>
        <p:spPr>
          <a:xfrm>
            <a:off x="468000" y="0"/>
            <a:ext cx="8229240" cy="1142640"/>
          </a:xfrm>
          <a:prstGeom prst="rect">
            <a:avLst/>
          </a:prstGeom>
          <a:noFill/>
          <a:ln>
            <a:noFill/>
          </a:ln>
        </p:spPr>
        <p:txBody>
          <a:bodyPr anchor="ctr">
            <a:noAutofit/>
          </a:bodyPr>
          <a:p>
            <a:pPr>
              <a:lnSpc>
                <a:spcPct val="100000"/>
              </a:lnSpc>
            </a:pPr>
            <a:r>
              <a:rPr b="1" lang="en-US" sz="2400" spc="-1" strike="noStrike" cap="all">
                <a:solidFill>
                  <a:srgbClr val="ffffff"/>
                </a:solidFill>
                <a:latin typeface="Calibri"/>
              </a:rPr>
              <a:t>2</a:t>
            </a:r>
            <a:r>
              <a:rPr b="1" lang="fr-FR" sz="2400" spc="-1" strike="noStrike" cap="all">
                <a:solidFill>
                  <a:srgbClr val="ffffff"/>
                </a:solidFill>
                <a:latin typeface="Calibri"/>
              </a:rPr>
              <a:t>. Présentation de La cotation banque de France</a:t>
            </a:r>
            <a:endParaRPr b="0" lang="fr-FR" sz="2400" spc="-1" strike="noStrike">
              <a:solidFill>
                <a:srgbClr val="000000"/>
              </a:solidFill>
              <a:latin typeface="Calibri"/>
            </a:endParaRPr>
          </a:p>
        </p:txBody>
      </p:sp>
      <p:sp>
        <p:nvSpPr>
          <p:cNvPr id="222" name="TextShape 2"/>
          <p:cNvSpPr txBox="1"/>
          <p:nvPr/>
        </p:nvSpPr>
        <p:spPr>
          <a:xfrm>
            <a:off x="3124080" y="6480000"/>
            <a:ext cx="4975920" cy="359640"/>
          </a:xfrm>
          <a:prstGeom prst="rect">
            <a:avLst/>
          </a:prstGeom>
          <a:noFill/>
          <a:ln>
            <a:noFill/>
          </a:ln>
        </p:spPr>
        <p:txBody>
          <a:bodyPr>
            <a:noAutofit/>
          </a:bodyPr>
          <a:p>
            <a:endParaRPr b="0" lang="fr-FR" sz="2400" spc="-1" strike="noStrike">
              <a:latin typeface="Times New Roman"/>
            </a:endParaRPr>
          </a:p>
        </p:txBody>
      </p:sp>
      <p:sp>
        <p:nvSpPr>
          <p:cNvPr id="223" name="TextShape 3"/>
          <p:cNvSpPr txBox="1"/>
          <p:nvPr/>
        </p:nvSpPr>
        <p:spPr>
          <a:xfrm>
            <a:off x="8172360" y="6480000"/>
            <a:ext cx="539640" cy="359640"/>
          </a:xfrm>
          <a:prstGeom prst="rect">
            <a:avLst/>
          </a:prstGeom>
          <a:noFill/>
          <a:ln>
            <a:noFill/>
          </a:ln>
        </p:spPr>
        <p:txBody>
          <a:bodyPr lIns="90000" rIns="90000" tIns="45000" bIns="45000">
            <a:noAutofit/>
          </a:bodyPr>
          <a:p>
            <a:pPr algn="r">
              <a:lnSpc>
                <a:spcPct val="100000"/>
              </a:lnSpc>
            </a:pPr>
            <a:fld id="{82A574D7-FE2B-4340-9977-9A0234396682}" type="slidenum">
              <a:rPr b="0" lang="fr-FR" sz="900" spc="-1" strike="noStrike">
                <a:solidFill>
                  <a:srgbClr val="205aa7"/>
                </a:solidFill>
                <a:latin typeface="Calibri"/>
              </a:rPr>
              <a:t>&lt;number&gt;</a:t>
            </a:fld>
            <a:endParaRPr b="0" lang="fr-FR" sz="900" spc="-1" strike="noStrike">
              <a:latin typeface="Times New Roman"/>
            </a:endParaRPr>
          </a:p>
        </p:txBody>
      </p:sp>
      <p:pic>
        <p:nvPicPr>
          <p:cNvPr id="224" name="Content Placeholder 5" descr=""/>
          <p:cNvPicPr/>
          <p:nvPr/>
        </p:nvPicPr>
        <p:blipFill>
          <a:blip r:embed="rId1"/>
          <a:stretch/>
        </p:blipFill>
        <p:spPr>
          <a:xfrm>
            <a:off x="468360" y="1856520"/>
            <a:ext cx="8229240" cy="3692520"/>
          </a:xfrm>
          <a:prstGeom prst="rect">
            <a:avLst/>
          </a:prstGeom>
          <a:ln>
            <a:noFill/>
          </a:ln>
        </p:spPr>
      </p:pic>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5" name="TextShape 1"/>
          <p:cNvSpPr txBox="1"/>
          <p:nvPr/>
        </p:nvSpPr>
        <p:spPr>
          <a:xfrm>
            <a:off x="468000" y="0"/>
            <a:ext cx="8229240" cy="1142640"/>
          </a:xfrm>
          <a:prstGeom prst="rect">
            <a:avLst/>
          </a:prstGeom>
          <a:noFill/>
          <a:ln>
            <a:noFill/>
          </a:ln>
        </p:spPr>
        <p:txBody>
          <a:bodyPr anchor="ctr">
            <a:noAutofit/>
          </a:bodyPr>
          <a:p>
            <a:pPr>
              <a:lnSpc>
                <a:spcPct val="100000"/>
              </a:lnSpc>
            </a:pPr>
            <a:r>
              <a:rPr b="1" lang="en-US" sz="2400" spc="-1" strike="noStrike" cap="all">
                <a:solidFill>
                  <a:srgbClr val="ffffff"/>
                </a:solidFill>
                <a:latin typeface="Calibri"/>
              </a:rPr>
              <a:t>2</a:t>
            </a:r>
            <a:r>
              <a:rPr b="1" lang="fr-FR" sz="2400" spc="-1" strike="noStrike" cap="all">
                <a:solidFill>
                  <a:srgbClr val="ffffff"/>
                </a:solidFill>
                <a:latin typeface="Calibri"/>
              </a:rPr>
              <a:t>. Présentation de La cotation banque de France</a:t>
            </a:r>
            <a:endParaRPr b="0" lang="fr-FR" sz="2400" spc="-1" strike="noStrike">
              <a:solidFill>
                <a:srgbClr val="000000"/>
              </a:solidFill>
              <a:latin typeface="Calibri"/>
            </a:endParaRPr>
          </a:p>
        </p:txBody>
      </p:sp>
      <p:sp>
        <p:nvSpPr>
          <p:cNvPr id="226" name="TextShape 2"/>
          <p:cNvSpPr txBox="1"/>
          <p:nvPr/>
        </p:nvSpPr>
        <p:spPr>
          <a:xfrm>
            <a:off x="3124080" y="6480000"/>
            <a:ext cx="4975920" cy="359640"/>
          </a:xfrm>
          <a:prstGeom prst="rect">
            <a:avLst/>
          </a:prstGeom>
          <a:noFill/>
          <a:ln>
            <a:noFill/>
          </a:ln>
        </p:spPr>
        <p:txBody>
          <a:bodyPr>
            <a:noAutofit/>
          </a:bodyPr>
          <a:p>
            <a:endParaRPr b="0" lang="fr-FR" sz="2400" spc="-1" strike="noStrike">
              <a:latin typeface="Times New Roman"/>
            </a:endParaRPr>
          </a:p>
        </p:txBody>
      </p:sp>
      <p:sp>
        <p:nvSpPr>
          <p:cNvPr id="227" name="TextShape 3"/>
          <p:cNvSpPr txBox="1"/>
          <p:nvPr/>
        </p:nvSpPr>
        <p:spPr>
          <a:xfrm>
            <a:off x="8172360" y="6480000"/>
            <a:ext cx="539640" cy="359640"/>
          </a:xfrm>
          <a:prstGeom prst="rect">
            <a:avLst/>
          </a:prstGeom>
          <a:noFill/>
          <a:ln>
            <a:noFill/>
          </a:ln>
        </p:spPr>
        <p:txBody>
          <a:bodyPr lIns="90000" rIns="90000" tIns="45000" bIns="45000">
            <a:noAutofit/>
          </a:bodyPr>
          <a:p>
            <a:pPr algn="r">
              <a:lnSpc>
                <a:spcPct val="100000"/>
              </a:lnSpc>
            </a:pPr>
            <a:fld id="{994CDD16-4068-4F1E-90E0-235C2F9F3D6E}" type="slidenum">
              <a:rPr b="0" lang="fr-FR" sz="900" spc="-1" strike="noStrike">
                <a:solidFill>
                  <a:srgbClr val="205aa7"/>
                </a:solidFill>
                <a:latin typeface="Calibri"/>
              </a:rPr>
              <a:t>&lt;number&gt;</a:t>
            </a:fld>
            <a:endParaRPr b="0" lang="fr-FR" sz="900" spc="-1" strike="noStrike">
              <a:latin typeface="Times New Roman"/>
            </a:endParaRPr>
          </a:p>
        </p:txBody>
      </p:sp>
      <p:sp>
        <p:nvSpPr>
          <p:cNvPr id="228" name="TextShape 4"/>
          <p:cNvSpPr txBox="1"/>
          <p:nvPr/>
        </p:nvSpPr>
        <p:spPr>
          <a:xfrm>
            <a:off x="468000" y="1440000"/>
            <a:ext cx="8229240" cy="4525560"/>
          </a:xfrm>
          <a:prstGeom prst="rect">
            <a:avLst/>
          </a:prstGeom>
          <a:noFill/>
          <a:ln>
            <a:noFill/>
          </a:ln>
        </p:spPr>
        <p:txBody>
          <a:bodyPr>
            <a:noAutofit/>
          </a:bodyPr>
          <a:p>
            <a:pPr algn="ctr">
              <a:lnSpc>
                <a:spcPct val="100000"/>
              </a:lnSpc>
              <a:spcBef>
                <a:spcPts val="400"/>
              </a:spcBef>
              <a:tabLst>
                <a:tab algn="l" pos="0"/>
              </a:tabLst>
            </a:pPr>
            <a:r>
              <a:rPr b="1" lang="fr-FR" sz="2000" spc="-1" strike="noStrike">
                <a:solidFill>
                  <a:srgbClr val="205aa7"/>
                </a:solidFill>
                <a:latin typeface="Calibri"/>
              </a:rPr>
              <a:t>Cotation ou notation ?</a:t>
            </a:r>
            <a:endParaRPr b="0" lang="fr-FR" sz="2000" spc="-1" strike="noStrike">
              <a:solidFill>
                <a:srgbClr val="205aa7"/>
              </a:solidFill>
              <a:latin typeface="Calibri"/>
            </a:endParaRPr>
          </a:p>
          <a:p>
            <a:pPr algn="just">
              <a:lnSpc>
                <a:spcPct val="100000"/>
              </a:lnSpc>
              <a:spcBef>
                <a:spcPts val="201"/>
              </a:spcBef>
              <a:tabLst>
                <a:tab algn="l" pos="0"/>
              </a:tabLst>
            </a:pPr>
            <a:endParaRPr b="0" lang="fr-FR" sz="2000" spc="-1" strike="noStrike">
              <a:solidFill>
                <a:srgbClr val="205aa7"/>
              </a:solidFill>
              <a:latin typeface="Calibri"/>
            </a:endParaRPr>
          </a:p>
          <a:p>
            <a:pPr marL="252000" indent="-251640" algn="just">
              <a:lnSpc>
                <a:spcPct val="100000"/>
              </a:lnSpc>
              <a:spcBef>
                <a:spcPts val="400"/>
              </a:spcBef>
              <a:buClr>
                <a:srgbClr val="205aa7"/>
              </a:buClr>
              <a:buFont typeface="Wingdings" charset="2"/>
              <a:buChar char=""/>
              <a:tabLst>
                <a:tab algn="l" pos="0"/>
              </a:tabLst>
            </a:pPr>
            <a:r>
              <a:rPr b="0" lang="fr-FR" sz="2000" spc="-1" strike="noStrike">
                <a:solidFill>
                  <a:srgbClr val="205aa7"/>
                </a:solidFill>
                <a:latin typeface="Calibri"/>
              </a:rPr>
              <a:t>La cotation a le même objet que la notation d’une agence à savoir évaluer le risque encouru par un prêteur qui avance des fonds.</a:t>
            </a:r>
            <a:endParaRPr b="0" lang="fr-FR" sz="2000" spc="-1" strike="noStrike">
              <a:solidFill>
                <a:srgbClr val="205aa7"/>
              </a:solidFill>
              <a:latin typeface="Calibri"/>
            </a:endParaRPr>
          </a:p>
          <a:p>
            <a:pPr marL="252000" indent="-251640" algn="just">
              <a:lnSpc>
                <a:spcPct val="100000"/>
              </a:lnSpc>
              <a:spcBef>
                <a:spcPts val="400"/>
              </a:spcBef>
              <a:buClr>
                <a:srgbClr val="205aa7"/>
              </a:buClr>
              <a:buFont typeface="Wingdings" charset="2"/>
              <a:buChar char=""/>
              <a:tabLst>
                <a:tab algn="l" pos="0"/>
              </a:tabLst>
            </a:pPr>
            <a:r>
              <a:rPr b="0" lang="fr-FR" sz="2000" spc="-1" strike="noStrike">
                <a:solidFill>
                  <a:srgbClr val="205aa7"/>
                </a:solidFill>
                <a:latin typeface="Calibri"/>
              </a:rPr>
              <a:t>le modèle économique de la cotation est très différent :</a:t>
            </a:r>
            <a:endParaRPr b="0" lang="fr-FR" sz="2000" spc="-1" strike="noStrike">
              <a:solidFill>
                <a:srgbClr val="205aa7"/>
              </a:solidFill>
              <a:latin typeface="Calibri"/>
            </a:endParaRPr>
          </a:p>
          <a:p>
            <a:pPr lvl="1" marL="743040" indent="-285480" algn="just">
              <a:lnSpc>
                <a:spcPct val="100000"/>
              </a:lnSpc>
              <a:spcBef>
                <a:spcPts val="360"/>
              </a:spcBef>
              <a:buClr>
                <a:srgbClr val="205aa7"/>
              </a:buClr>
              <a:buFont typeface="Arial"/>
              <a:buChar char="–"/>
              <a:tabLst>
                <a:tab algn="l" pos="0"/>
              </a:tabLst>
            </a:pPr>
            <a:r>
              <a:rPr b="0" lang="fr-FR" sz="1800" spc="-1" strike="noStrike">
                <a:solidFill>
                  <a:srgbClr val="205aa7"/>
                </a:solidFill>
                <a:latin typeface="Calibri"/>
              </a:rPr>
              <a:t>l’activité de cotation ne concerne pas les produits financiers mais exclusivement l’appréciation du risque de crédit des entreprises non financières et résidentes. Les États et les collectivités territoriales ne reçoivent pas de cotation Banque de France ;</a:t>
            </a:r>
            <a:endParaRPr b="0" lang="fr-FR" sz="1800" spc="-1" strike="noStrike">
              <a:solidFill>
                <a:srgbClr val="595959"/>
              </a:solidFill>
              <a:latin typeface="Calibri"/>
            </a:endParaRPr>
          </a:p>
          <a:p>
            <a:pPr lvl="1" marL="743040" indent="-285480" algn="just">
              <a:lnSpc>
                <a:spcPct val="100000"/>
              </a:lnSpc>
              <a:spcBef>
                <a:spcPts val="360"/>
              </a:spcBef>
              <a:buClr>
                <a:srgbClr val="205aa7"/>
              </a:buClr>
              <a:buFont typeface="Arial"/>
              <a:buChar char="–"/>
              <a:tabLst>
                <a:tab algn="l" pos="0"/>
              </a:tabLst>
            </a:pPr>
            <a:r>
              <a:rPr b="0" lang="fr-FR" sz="1800" spc="-1" strike="noStrike">
                <a:solidFill>
                  <a:srgbClr val="205aa7"/>
                </a:solidFill>
                <a:latin typeface="Calibri"/>
              </a:rPr>
              <a:t>la cotation n’est pas publique, le Code monétaire et financier définit strictement les destinataires potentiels de la cotation (Institutions financières essentiellement) ;</a:t>
            </a:r>
            <a:endParaRPr b="0" lang="fr-FR" sz="1800" spc="-1" strike="noStrike">
              <a:solidFill>
                <a:srgbClr val="595959"/>
              </a:solidFill>
              <a:latin typeface="Calibri"/>
            </a:endParaRPr>
          </a:p>
          <a:p>
            <a:pPr lvl="1" marL="743040" indent="-285480" algn="just">
              <a:lnSpc>
                <a:spcPct val="100000"/>
              </a:lnSpc>
              <a:spcBef>
                <a:spcPts val="360"/>
              </a:spcBef>
              <a:buClr>
                <a:srgbClr val="205aa7"/>
              </a:buClr>
              <a:buFont typeface="Arial"/>
              <a:buChar char="–"/>
              <a:tabLst>
                <a:tab algn="l" pos="0"/>
              </a:tabLst>
            </a:pPr>
            <a:r>
              <a:rPr b="0" lang="fr-FR" sz="1800" spc="-1" strike="noStrike">
                <a:solidFill>
                  <a:srgbClr val="205aa7"/>
                </a:solidFill>
                <a:latin typeface="Calibri"/>
              </a:rPr>
              <a:t>la Banque de France ne perçoit aucune rémunération des entreprises analysées en contrepartie de la cote qu’elle leur attribue. La prestation de cotation est facturée aux seules institutions financières qui l’utilisent.</a:t>
            </a:r>
            <a:endParaRPr b="0" lang="fr-FR" sz="1800" spc="-1" strike="noStrike">
              <a:solidFill>
                <a:srgbClr val="595959"/>
              </a:solidFill>
              <a:latin typeface="Calibri"/>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9" name="TextShape 1"/>
          <p:cNvSpPr txBox="1"/>
          <p:nvPr/>
        </p:nvSpPr>
        <p:spPr>
          <a:xfrm>
            <a:off x="468000" y="0"/>
            <a:ext cx="8229240" cy="1142640"/>
          </a:xfrm>
          <a:prstGeom prst="rect">
            <a:avLst/>
          </a:prstGeom>
          <a:noFill/>
          <a:ln>
            <a:noFill/>
          </a:ln>
        </p:spPr>
        <p:txBody>
          <a:bodyPr anchor="ctr">
            <a:noAutofit/>
          </a:bodyPr>
          <a:p>
            <a:pPr>
              <a:lnSpc>
                <a:spcPct val="100000"/>
              </a:lnSpc>
            </a:pPr>
            <a:r>
              <a:rPr b="1" lang="en-US" sz="2400" spc="-1" strike="noStrike" cap="all">
                <a:solidFill>
                  <a:srgbClr val="ffffff"/>
                </a:solidFill>
                <a:latin typeface="Calibri"/>
              </a:rPr>
              <a:t>2</a:t>
            </a:r>
            <a:r>
              <a:rPr b="1" lang="fr-FR" sz="2400" spc="-1" strike="noStrike" cap="all">
                <a:solidFill>
                  <a:srgbClr val="ffffff"/>
                </a:solidFill>
                <a:latin typeface="Calibri"/>
              </a:rPr>
              <a:t>. Présentation de La cotation banque de France</a:t>
            </a:r>
            <a:endParaRPr b="0" lang="fr-FR" sz="2400" spc="-1" strike="noStrike">
              <a:solidFill>
                <a:srgbClr val="000000"/>
              </a:solidFill>
              <a:latin typeface="Calibri"/>
            </a:endParaRPr>
          </a:p>
        </p:txBody>
      </p:sp>
      <p:sp>
        <p:nvSpPr>
          <p:cNvPr id="230" name="TextShape 2"/>
          <p:cNvSpPr txBox="1"/>
          <p:nvPr/>
        </p:nvSpPr>
        <p:spPr>
          <a:xfrm>
            <a:off x="3124080" y="6480000"/>
            <a:ext cx="4975920" cy="359640"/>
          </a:xfrm>
          <a:prstGeom prst="rect">
            <a:avLst/>
          </a:prstGeom>
          <a:noFill/>
          <a:ln>
            <a:noFill/>
          </a:ln>
        </p:spPr>
        <p:txBody>
          <a:bodyPr>
            <a:noAutofit/>
          </a:bodyPr>
          <a:p>
            <a:endParaRPr b="0" lang="fr-FR" sz="2400" spc="-1" strike="noStrike">
              <a:latin typeface="Times New Roman"/>
            </a:endParaRPr>
          </a:p>
        </p:txBody>
      </p:sp>
      <p:sp>
        <p:nvSpPr>
          <p:cNvPr id="231" name="TextShape 3"/>
          <p:cNvSpPr txBox="1"/>
          <p:nvPr/>
        </p:nvSpPr>
        <p:spPr>
          <a:xfrm>
            <a:off x="8172360" y="6480000"/>
            <a:ext cx="539640" cy="359640"/>
          </a:xfrm>
          <a:prstGeom prst="rect">
            <a:avLst/>
          </a:prstGeom>
          <a:noFill/>
          <a:ln>
            <a:noFill/>
          </a:ln>
        </p:spPr>
        <p:txBody>
          <a:bodyPr lIns="90000" rIns="90000" tIns="45000" bIns="45000">
            <a:noAutofit/>
          </a:bodyPr>
          <a:p>
            <a:pPr algn="r">
              <a:lnSpc>
                <a:spcPct val="100000"/>
              </a:lnSpc>
            </a:pPr>
            <a:fld id="{100B88CB-BD05-4BDA-8F22-BA770C1411B7}" type="slidenum">
              <a:rPr b="0" lang="fr-FR" sz="900" spc="-1" strike="noStrike">
                <a:solidFill>
                  <a:srgbClr val="205aa7"/>
                </a:solidFill>
                <a:latin typeface="Calibri"/>
              </a:rPr>
              <a:t>&lt;number&gt;</a:t>
            </a:fld>
            <a:endParaRPr b="0" lang="fr-FR" sz="900" spc="-1" strike="noStrike">
              <a:latin typeface="Times New Roman"/>
            </a:endParaRPr>
          </a:p>
        </p:txBody>
      </p:sp>
      <p:sp>
        <p:nvSpPr>
          <p:cNvPr id="232" name="TextShape 4"/>
          <p:cNvSpPr txBox="1"/>
          <p:nvPr/>
        </p:nvSpPr>
        <p:spPr>
          <a:xfrm>
            <a:off x="468000" y="1440000"/>
            <a:ext cx="8229240" cy="4525560"/>
          </a:xfrm>
          <a:prstGeom prst="rect">
            <a:avLst/>
          </a:prstGeom>
          <a:noFill/>
          <a:ln>
            <a:noFill/>
          </a:ln>
        </p:spPr>
        <p:txBody>
          <a:bodyPr>
            <a:normAutofit/>
          </a:bodyPr>
          <a:p>
            <a:pPr marL="252000" indent="-251640" algn="just">
              <a:lnSpc>
                <a:spcPct val="100000"/>
              </a:lnSpc>
              <a:spcBef>
                <a:spcPts val="400"/>
              </a:spcBef>
              <a:buClr>
                <a:srgbClr val="205aa7"/>
              </a:buClr>
              <a:buFont typeface="Wingdings" charset="2"/>
              <a:buChar char=""/>
            </a:pPr>
            <a:r>
              <a:rPr b="0" lang="fr-FR" sz="2000" spc="-1" strike="noStrike">
                <a:solidFill>
                  <a:srgbClr val="205aa7"/>
                </a:solidFill>
                <a:latin typeface="Calibri"/>
              </a:rPr>
              <a:t>La </a:t>
            </a:r>
            <a:r>
              <a:rPr b="1" lang="fr-FR" sz="2000" spc="-1" strike="noStrike">
                <a:solidFill>
                  <a:srgbClr val="205aa7"/>
                </a:solidFill>
                <a:latin typeface="Calibri"/>
              </a:rPr>
              <a:t>cotation </a:t>
            </a:r>
            <a:r>
              <a:rPr b="0" lang="fr-FR" sz="2000" spc="-1" strike="noStrike">
                <a:solidFill>
                  <a:srgbClr val="205aa7"/>
                </a:solidFill>
                <a:latin typeface="Calibri"/>
              </a:rPr>
              <a:t>de la Banque de France est une appréciation sur la capacité d’une entreprise à honorer ses engagements financiers à un horizon de un à trois ans.</a:t>
            </a:r>
            <a:endParaRPr b="0" lang="fr-FR" sz="2000" spc="-1" strike="noStrike">
              <a:solidFill>
                <a:srgbClr val="205aa7"/>
              </a:solidFill>
              <a:latin typeface="Calibri"/>
            </a:endParaRPr>
          </a:p>
          <a:p>
            <a:pPr marL="252000" indent="-251640" algn="just">
              <a:lnSpc>
                <a:spcPct val="100000"/>
              </a:lnSpc>
              <a:spcBef>
                <a:spcPts val="400"/>
              </a:spcBef>
              <a:buClr>
                <a:srgbClr val="205aa7"/>
              </a:buClr>
              <a:buFont typeface="Wingdings" charset="2"/>
              <a:buChar char=""/>
            </a:pPr>
            <a:r>
              <a:rPr b="0" lang="fr-FR" sz="2000" spc="-1" strike="noStrike">
                <a:solidFill>
                  <a:srgbClr val="205aa7"/>
                </a:solidFill>
                <a:latin typeface="Calibri"/>
              </a:rPr>
              <a:t>La cotation est attribuée « à dire d’expert » à plus de 260 000 entreprises (dont près de 5000 groupes étudiés sur la base de leurs comptes consolidés).</a:t>
            </a:r>
            <a:endParaRPr b="0" lang="fr-FR" sz="2000" spc="-1" strike="noStrike">
              <a:solidFill>
                <a:srgbClr val="205aa7"/>
              </a:solidFill>
              <a:latin typeface="Calibri"/>
            </a:endParaRPr>
          </a:p>
          <a:p>
            <a:pPr marL="252000" indent="-251640" algn="just">
              <a:lnSpc>
                <a:spcPct val="100000"/>
              </a:lnSpc>
              <a:spcBef>
                <a:spcPts val="400"/>
              </a:spcBef>
              <a:buClr>
                <a:srgbClr val="205aa7"/>
              </a:buClr>
              <a:buFont typeface="Wingdings" charset="2"/>
              <a:buChar char=""/>
            </a:pPr>
            <a:r>
              <a:rPr b="0" lang="fr-FR" sz="2000" spc="-1" strike="noStrike">
                <a:solidFill>
                  <a:srgbClr val="205aa7"/>
                </a:solidFill>
                <a:latin typeface="Calibri"/>
              </a:rPr>
              <a:t>Cette cotation permet :</a:t>
            </a:r>
            <a:endParaRPr b="0" lang="fr-FR" sz="2000" spc="-1" strike="noStrike">
              <a:solidFill>
                <a:srgbClr val="205aa7"/>
              </a:solidFill>
              <a:latin typeface="Calibri"/>
            </a:endParaRPr>
          </a:p>
          <a:p>
            <a:pPr lvl="1" marL="743040" indent="-285480" algn="just">
              <a:lnSpc>
                <a:spcPct val="100000"/>
              </a:lnSpc>
              <a:spcBef>
                <a:spcPts val="360"/>
              </a:spcBef>
              <a:buClr>
                <a:srgbClr val="205aa7"/>
              </a:buClr>
              <a:buFont typeface="Arial"/>
              <a:buChar char="–"/>
            </a:pPr>
            <a:r>
              <a:rPr b="0" lang="fr-FR" sz="1800" spc="-1" strike="noStrike">
                <a:solidFill>
                  <a:srgbClr val="205aa7"/>
                </a:solidFill>
                <a:latin typeface="Calibri"/>
              </a:rPr>
              <a:t>une </a:t>
            </a:r>
            <a:r>
              <a:rPr b="1" lang="fr-FR" sz="1800" spc="-1" strike="noStrike">
                <a:solidFill>
                  <a:srgbClr val="205aa7"/>
                </a:solidFill>
                <a:latin typeface="Calibri"/>
              </a:rPr>
              <a:t>évaluation du risque de crédit d’une entreprise</a:t>
            </a:r>
            <a:r>
              <a:rPr b="0" lang="fr-FR" sz="1800" spc="-1" strike="noStrike">
                <a:solidFill>
                  <a:srgbClr val="205aa7"/>
                </a:solidFill>
                <a:latin typeface="Calibri"/>
              </a:rPr>
              <a:t> utilisée pour la politique monétaire et la réglementation prudentielle ;</a:t>
            </a:r>
            <a:endParaRPr b="0" lang="fr-FR" sz="1800" spc="-1" strike="noStrike">
              <a:solidFill>
                <a:srgbClr val="595959"/>
              </a:solidFill>
              <a:latin typeface="Calibri"/>
            </a:endParaRPr>
          </a:p>
          <a:p>
            <a:pPr lvl="1" marL="743040" indent="-285480" algn="just">
              <a:lnSpc>
                <a:spcPct val="100000"/>
              </a:lnSpc>
              <a:spcBef>
                <a:spcPts val="360"/>
              </a:spcBef>
              <a:buClr>
                <a:srgbClr val="205aa7"/>
              </a:buClr>
              <a:buFont typeface="Arial"/>
              <a:buChar char="–"/>
            </a:pPr>
            <a:r>
              <a:rPr b="0" lang="fr-FR" sz="1800" spc="-1" strike="noStrike">
                <a:solidFill>
                  <a:srgbClr val="205aa7"/>
                </a:solidFill>
                <a:latin typeface="Calibri"/>
              </a:rPr>
              <a:t>de faciliter le </a:t>
            </a:r>
            <a:r>
              <a:rPr b="1" lang="fr-FR" sz="1800" spc="-1" strike="noStrike">
                <a:solidFill>
                  <a:srgbClr val="205aa7"/>
                </a:solidFill>
                <a:latin typeface="Calibri"/>
              </a:rPr>
              <a:t>dialogue prêteur entreprise</a:t>
            </a:r>
            <a:r>
              <a:rPr b="0" lang="fr-FR" sz="1800" spc="-1" strike="noStrike">
                <a:solidFill>
                  <a:srgbClr val="205aa7"/>
                </a:solidFill>
                <a:latin typeface="Calibri"/>
              </a:rPr>
              <a:t> en mettant à disposition une référence commune et reconnue.</a:t>
            </a:r>
            <a:endParaRPr b="0" lang="fr-FR" sz="1800" spc="-1" strike="noStrike">
              <a:solidFill>
                <a:srgbClr val="595959"/>
              </a:solidFill>
              <a:latin typeface="Calibri"/>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3" name="TextShape 1"/>
          <p:cNvSpPr txBox="1"/>
          <p:nvPr/>
        </p:nvSpPr>
        <p:spPr>
          <a:xfrm>
            <a:off x="468000" y="0"/>
            <a:ext cx="8229240" cy="1142640"/>
          </a:xfrm>
          <a:prstGeom prst="rect">
            <a:avLst/>
          </a:prstGeom>
          <a:noFill/>
          <a:ln>
            <a:noFill/>
          </a:ln>
        </p:spPr>
        <p:txBody>
          <a:bodyPr anchor="ctr">
            <a:noAutofit/>
          </a:bodyPr>
          <a:p>
            <a:pPr>
              <a:lnSpc>
                <a:spcPct val="100000"/>
              </a:lnSpc>
            </a:pPr>
            <a:r>
              <a:rPr b="1" lang="en-US" sz="2400" spc="-1" strike="noStrike" cap="all">
                <a:solidFill>
                  <a:srgbClr val="ffffff"/>
                </a:solidFill>
                <a:latin typeface="Calibri"/>
              </a:rPr>
              <a:t>2</a:t>
            </a:r>
            <a:r>
              <a:rPr b="1" lang="fr-FR" sz="2400" spc="-1" strike="noStrike" cap="all">
                <a:solidFill>
                  <a:srgbClr val="ffffff"/>
                </a:solidFill>
                <a:latin typeface="Calibri"/>
              </a:rPr>
              <a:t>. Présentation de La cotation banque de France</a:t>
            </a:r>
            <a:endParaRPr b="0" lang="fr-FR" sz="2400" spc="-1" strike="noStrike">
              <a:solidFill>
                <a:srgbClr val="000000"/>
              </a:solidFill>
              <a:latin typeface="Calibri"/>
            </a:endParaRPr>
          </a:p>
        </p:txBody>
      </p:sp>
      <p:sp>
        <p:nvSpPr>
          <p:cNvPr id="234" name="TextShape 2"/>
          <p:cNvSpPr txBox="1"/>
          <p:nvPr/>
        </p:nvSpPr>
        <p:spPr>
          <a:xfrm>
            <a:off x="3124080" y="6480000"/>
            <a:ext cx="4975920" cy="359640"/>
          </a:xfrm>
          <a:prstGeom prst="rect">
            <a:avLst/>
          </a:prstGeom>
          <a:noFill/>
          <a:ln>
            <a:noFill/>
          </a:ln>
        </p:spPr>
        <p:txBody>
          <a:bodyPr>
            <a:noAutofit/>
          </a:bodyPr>
          <a:p>
            <a:endParaRPr b="0" lang="fr-FR" sz="2400" spc="-1" strike="noStrike">
              <a:latin typeface="Times New Roman"/>
            </a:endParaRPr>
          </a:p>
        </p:txBody>
      </p:sp>
      <p:sp>
        <p:nvSpPr>
          <p:cNvPr id="235" name="TextShape 3"/>
          <p:cNvSpPr txBox="1"/>
          <p:nvPr/>
        </p:nvSpPr>
        <p:spPr>
          <a:xfrm>
            <a:off x="8172360" y="6480000"/>
            <a:ext cx="539640" cy="359640"/>
          </a:xfrm>
          <a:prstGeom prst="rect">
            <a:avLst/>
          </a:prstGeom>
          <a:noFill/>
          <a:ln>
            <a:noFill/>
          </a:ln>
        </p:spPr>
        <p:txBody>
          <a:bodyPr lIns="90000" rIns="90000" tIns="45000" bIns="45000">
            <a:noAutofit/>
          </a:bodyPr>
          <a:p>
            <a:pPr algn="r">
              <a:lnSpc>
                <a:spcPct val="100000"/>
              </a:lnSpc>
            </a:pPr>
            <a:fld id="{C89F4727-21E0-4334-81B9-A752E7E3EEA0}" type="slidenum">
              <a:rPr b="0" lang="fr-FR" sz="900" spc="-1" strike="noStrike">
                <a:solidFill>
                  <a:srgbClr val="205aa7"/>
                </a:solidFill>
                <a:latin typeface="Calibri"/>
              </a:rPr>
              <a:t>&lt;number&gt;</a:t>
            </a:fld>
            <a:endParaRPr b="0" lang="fr-FR" sz="900" spc="-1" strike="noStrike">
              <a:latin typeface="Times New Roman"/>
            </a:endParaRPr>
          </a:p>
        </p:txBody>
      </p:sp>
      <p:sp>
        <p:nvSpPr>
          <p:cNvPr id="236" name="TextShape 4"/>
          <p:cNvSpPr txBox="1"/>
          <p:nvPr/>
        </p:nvSpPr>
        <p:spPr>
          <a:xfrm>
            <a:off x="468000" y="1440000"/>
            <a:ext cx="8229240" cy="4525560"/>
          </a:xfrm>
          <a:prstGeom prst="rect">
            <a:avLst/>
          </a:prstGeom>
          <a:noFill/>
          <a:ln>
            <a:noFill/>
          </a:ln>
        </p:spPr>
        <p:txBody>
          <a:bodyPr>
            <a:normAutofit/>
          </a:bodyPr>
          <a:p>
            <a:pPr algn="ctr">
              <a:lnSpc>
                <a:spcPct val="100000"/>
              </a:lnSpc>
              <a:spcBef>
                <a:spcPts val="400"/>
              </a:spcBef>
              <a:tabLst>
                <a:tab algn="l" pos="0"/>
              </a:tabLst>
            </a:pPr>
            <a:r>
              <a:rPr b="1" lang="fr-FR" sz="2000" spc="-1" strike="noStrike">
                <a:solidFill>
                  <a:srgbClr val="205aa7"/>
                </a:solidFill>
                <a:latin typeface="Calibri"/>
              </a:rPr>
              <a:t>Que signifie « à dire d’expert » ?</a:t>
            </a:r>
            <a:endParaRPr b="0" lang="fr-FR" sz="2000" spc="-1" strike="noStrike">
              <a:solidFill>
                <a:srgbClr val="205aa7"/>
              </a:solidFill>
              <a:latin typeface="Calibri"/>
            </a:endParaRPr>
          </a:p>
          <a:p>
            <a:pPr algn="just">
              <a:lnSpc>
                <a:spcPct val="100000"/>
              </a:lnSpc>
              <a:spcBef>
                <a:spcPts val="201"/>
              </a:spcBef>
              <a:tabLst>
                <a:tab algn="l" pos="0"/>
              </a:tabLst>
            </a:pPr>
            <a:endParaRPr b="0" lang="fr-FR" sz="2000" spc="-1" strike="noStrike">
              <a:solidFill>
                <a:srgbClr val="205aa7"/>
              </a:solidFill>
              <a:latin typeface="Calibri"/>
            </a:endParaRPr>
          </a:p>
          <a:p>
            <a:pPr marL="252000" indent="-251640" algn="just">
              <a:lnSpc>
                <a:spcPct val="100000"/>
              </a:lnSpc>
              <a:spcBef>
                <a:spcPts val="400"/>
              </a:spcBef>
              <a:buClr>
                <a:srgbClr val="205aa7"/>
              </a:buClr>
              <a:buFont typeface="Wingdings" charset="2"/>
              <a:buChar char=""/>
              <a:tabLst>
                <a:tab algn="l" pos="0"/>
              </a:tabLst>
            </a:pPr>
            <a:r>
              <a:rPr b="0" lang="fr-FR" sz="2000" spc="-1" strike="noStrike">
                <a:solidFill>
                  <a:srgbClr val="205aa7"/>
                </a:solidFill>
                <a:latin typeface="Calibri"/>
              </a:rPr>
              <a:t>C’est-à-dire à partir de l’analyse de la situation d’une entreprise par un analyste en application d’un ensemble de règles méthodologiques, communes à l’ensemble du réseau de la Banque de France.</a:t>
            </a:r>
            <a:endParaRPr b="0" lang="fr-FR" sz="2000" spc="-1" strike="noStrike">
              <a:solidFill>
                <a:srgbClr val="205aa7"/>
              </a:solidFill>
              <a:latin typeface="Calibri"/>
            </a:endParaRPr>
          </a:p>
          <a:p>
            <a:pPr marL="252000" indent="-251640" algn="just">
              <a:lnSpc>
                <a:spcPct val="100000"/>
              </a:lnSpc>
              <a:spcBef>
                <a:spcPts val="400"/>
              </a:spcBef>
              <a:buClr>
                <a:srgbClr val="205aa7"/>
              </a:buClr>
              <a:buFont typeface="Wingdings" charset="2"/>
              <a:buChar char=""/>
              <a:tabLst>
                <a:tab algn="l" pos="0"/>
              </a:tabLst>
            </a:pPr>
            <a:r>
              <a:rPr b="0" lang="fr-FR" sz="2000" spc="-1" strike="noStrike">
                <a:solidFill>
                  <a:srgbClr val="205aa7"/>
                </a:solidFill>
                <a:latin typeface="Calibri"/>
              </a:rPr>
              <a:t>Ce mode d’attribution exclut le recours à des procédés de cotation totalement automatisés et/ou fondés exclusivement sur des données financières.</a:t>
            </a:r>
            <a:endParaRPr b="0" lang="fr-FR" sz="2000" spc="-1" strike="noStrike">
              <a:solidFill>
                <a:srgbClr val="205aa7"/>
              </a:solidFill>
              <a:latin typeface="Calibri"/>
            </a:endParaRPr>
          </a:p>
          <a:p>
            <a:pPr marL="252000" indent="-251640" algn="just">
              <a:lnSpc>
                <a:spcPct val="100000"/>
              </a:lnSpc>
              <a:spcBef>
                <a:spcPts val="400"/>
              </a:spcBef>
              <a:buClr>
                <a:srgbClr val="205aa7"/>
              </a:buClr>
              <a:buFont typeface="Wingdings" charset="2"/>
              <a:buChar char=""/>
              <a:tabLst>
                <a:tab algn="l" pos="0"/>
              </a:tabLst>
            </a:pPr>
            <a:r>
              <a:rPr b="0" lang="fr-FR" sz="2000" spc="-1" strike="noStrike">
                <a:solidFill>
                  <a:srgbClr val="205aa7"/>
                </a:solidFill>
                <a:latin typeface="Calibri"/>
              </a:rPr>
              <a:t>Dans de nombreux cas, un entretien peut intervenir à l’initiative de la Banque de France, soit avant d’attribuer la cotation</a:t>
            </a:r>
            <a:r>
              <a:rPr b="1" lang="fr-FR" sz="2000" spc="-1" strike="noStrike">
                <a:solidFill>
                  <a:srgbClr val="205aa7"/>
                </a:solidFill>
                <a:latin typeface="Calibri"/>
              </a:rPr>
              <a:t> </a:t>
            </a:r>
            <a:r>
              <a:rPr b="0" lang="fr-FR" sz="2000" spc="-1" strike="noStrike">
                <a:solidFill>
                  <a:srgbClr val="205aa7"/>
                </a:solidFill>
                <a:latin typeface="Calibri"/>
              </a:rPr>
              <a:t>pour recueillir des éléments d’explication sur l’évolution de la situation financière</a:t>
            </a:r>
            <a:endParaRPr b="0" lang="fr-FR" sz="2000" spc="-1" strike="noStrike">
              <a:solidFill>
                <a:srgbClr val="205aa7"/>
              </a:solidFill>
              <a:latin typeface="Calibri"/>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7" name="TextShape 1"/>
          <p:cNvSpPr txBox="1"/>
          <p:nvPr/>
        </p:nvSpPr>
        <p:spPr>
          <a:xfrm>
            <a:off x="468000" y="0"/>
            <a:ext cx="8229240" cy="1142640"/>
          </a:xfrm>
          <a:prstGeom prst="rect">
            <a:avLst/>
          </a:prstGeom>
          <a:noFill/>
          <a:ln>
            <a:noFill/>
          </a:ln>
        </p:spPr>
        <p:txBody>
          <a:bodyPr anchor="ctr">
            <a:noAutofit/>
          </a:bodyPr>
          <a:p>
            <a:pPr>
              <a:lnSpc>
                <a:spcPct val="100000"/>
              </a:lnSpc>
            </a:pPr>
            <a:r>
              <a:rPr b="1" lang="en-US" sz="2400" spc="-1" strike="noStrike" cap="all">
                <a:solidFill>
                  <a:srgbClr val="ffffff"/>
                </a:solidFill>
                <a:latin typeface="Calibri"/>
              </a:rPr>
              <a:t>2</a:t>
            </a:r>
            <a:r>
              <a:rPr b="1" lang="fr-FR" sz="2400" spc="-1" strike="noStrike" cap="all">
                <a:solidFill>
                  <a:srgbClr val="ffffff"/>
                </a:solidFill>
                <a:latin typeface="Calibri"/>
              </a:rPr>
              <a:t>. Présentation de La cotation banque de France</a:t>
            </a:r>
            <a:endParaRPr b="0" lang="fr-FR" sz="2400" spc="-1" strike="noStrike">
              <a:solidFill>
                <a:srgbClr val="000000"/>
              </a:solidFill>
              <a:latin typeface="Calibri"/>
            </a:endParaRPr>
          </a:p>
        </p:txBody>
      </p:sp>
      <p:sp>
        <p:nvSpPr>
          <p:cNvPr id="238" name="TextShape 2"/>
          <p:cNvSpPr txBox="1"/>
          <p:nvPr/>
        </p:nvSpPr>
        <p:spPr>
          <a:xfrm>
            <a:off x="3124080" y="6480000"/>
            <a:ext cx="4975920" cy="359640"/>
          </a:xfrm>
          <a:prstGeom prst="rect">
            <a:avLst/>
          </a:prstGeom>
          <a:noFill/>
          <a:ln>
            <a:noFill/>
          </a:ln>
        </p:spPr>
        <p:txBody>
          <a:bodyPr>
            <a:noAutofit/>
          </a:bodyPr>
          <a:p>
            <a:endParaRPr b="0" lang="fr-FR" sz="2400" spc="-1" strike="noStrike">
              <a:latin typeface="Times New Roman"/>
            </a:endParaRPr>
          </a:p>
        </p:txBody>
      </p:sp>
      <p:sp>
        <p:nvSpPr>
          <p:cNvPr id="239" name="TextShape 3"/>
          <p:cNvSpPr txBox="1"/>
          <p:nvPr/>
        </p:nvSpPr>
        <p:spPr>
          <a:xfrm>
            <a:off x="8172360" y="6480000"/>
            <a:ext cx="539640" cy="359640"/>
          </a:xfrm>
          <a:prstGeom prst="rect">
            <a:avLst/>
          </a:prstGeom>
          <a:noFill/>
          <a:ln>
            <a:noFill/>
          </a:ln>
        </p:spPr>
        <p:txBody>
          <a:bodyPr lIns="90000" rIns="90000" tIns="45000" bIns="45000">
            <a:noAutofit/>
          </a:bodyPr>
          <a:p>
            <a:pPr algn="r">
              <a:lnSpc>
                <a:spcPct val="100000"/>
              </a:lnSpc>
            </a:pPr>
            <a:fld id="{23CCD837-6C57-49FB-A01C-38666372C2E1}" type="slidenum">
              <a:rPr b="0" lang="fr-FR" sz="900" spc="-1" strike="noStrike">
                <a:solidFill>
                  <a:srgbClr val="205aa7"/>
                </a:solidFill>
                <a:latin typeface="Calibri"/>
              </a:rPr>
              <a:t>&lt;number&gt;</a:t>
            </a:fld>
            <a:endParaRPr b="0" lang="fr-FR" sz="900" spc="-1" strike="noStrike">
              <a:latin typeface="Times New Roman"/>
            </a:endParaRPr>
          </a:p>
        </p:txBody>
      </p:sp>
      <p:pic>
        <p:nvPicPr>
          <p:cNvPr id="240" name="Content Placeholder 5" descr=""/>
          <p:cNvPicPr/>
          <p:nvPr/>
        </p:nvPicPr>
        <p:blipFill>
          <a:blip r:embed="rId1"/>
          <a:stretch/>
        </p:blipFill>
        <p:spPr>
          <a:xfrm>
            <a:off x="1790640" y="1440000"/>
            <a:ext cx="5584680" cy="4525560"/>
          </a:xfrm>
          <a:prstGeom prst="rect">
            <a:avLst/>
          </a:prstGeom>
          <a:ln>
            <a:noFill/>
          </a:ln>
        </p:spPr>
      </p:pic>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1" name="TextShape 1"/>
          <p:cNvSpPr txBox="1"/>
          <p:nvPr/>
        </p:nvSpPr>
        <p:spPr>
          <a:xfrm>
            <a:off x="468000" y="0"/>
            <a:ext cx="8229240" cy="1142640"/>
          </a:xfrm>
          <a:prstGeom prst="rect">
            <a:avLst/>
          </a:prstGeom>
          <a:noFill/>
          <a:ln>
            <a:noFill/>
          </a:ln>
        </p:spPr>
        <p:txBody>
          <a:bodyPr anchor="ctr">
            <a:noAutofit/>
          </a:bodyPr>
          <a:p>
            <a:pPr>
              <a:lnSpc>
                <a:spcPct val="100000"/>
              </a:lnSpc>
            </a:pPr>
            <a:r>
              <a:rPr b="1" lang="en-US" sz="2400" spc="-1" strike="noStrike" cap="all">
                <a:solidFill>
                  <a:srgbClr val="ffffff"/>
                </a:solidFill>
                <a:latin typeface="Calibri"/>
              </a:rPr>
              <a:t>2</a:t>
            </a:r>
            <a:r>
              <a:rPr b="1" lang="fr-FR" sz="2400" spc="-1" strike="noStrike" cap="all">
                <a:solidFill>
                  <a:srgbClr val="ffffff"/>
                </a:solidFill>
                <a:latin typeface="Calibri"/>
              </a:rPr>
              <a:t>. Présentation de La cotation banque de France</a:t>
            </a:r>
            <a:endParaRPr b="0" lang="fr-FR" sz="2400" spc="-1" strike="noStrike">
              <a:solidFill>
                <a:srgbClr val="000000"/>
              </a:solidFill>
              <a:latin typeface="Calibri"/>
            </a:endParaRPr>
          </a:p>
        </p:txBody>
      </p:sp>
      <p:sp>
        <p:nvSpPr>
          <p:cNvPr id="242" name="TextShape 2"/>
          <p:cNvSpPr txBox="1"/>
          <p:nvPr/>
        </p:nvSpPr>
        <p:spPr>
          <a:xfrm>
            <a:off x="3124080" y="6480000"/>
            <a:ext cx="4975920" cy="359640"/>
          </a:xfrm>
          <a:prstGeom prst="rect">
            <a:avLst/>
          </a:prstGeom>
          <a:noFill/>
          <a:ln>
            <a:noFill/>
          </a:ln>
        </p:spPr>
        <p:txBody>
          <a:bodyPr>
            <a:noAutofit/>
          </a:bodyPr>
          <a:p>
            <a:endParaRPr b="0" lang="fr-FR" sz="2400" spc="-1" strike="noStrike">
              <a:latin typeface="Times New Roman"/>
            </a:endParaRPr>
          </a:p>
        </p:txBody>
      </p:sp>
      <p:sp>
        <p:nvSpPr>
          <p:cNvPr id="243" name="TextShape 3"/>
          <p:cNvSpPr txBox="1"/>
          <p:nvPr/>
        </p:nvSpPr>
        <p:spPr>
          <a:xfrm>
            <a:off x="8172360" y="6480000"/>
            <a:ext cx="539640" cy="359640"/>
          </a:xfrm>
          <a:prstGeom prst="rect">
            <a:avLst/>
          </a:prstGeom>
          <a:noFill/>
          <a:ln>
            <a:noFill/>
          </a:ln>
        </p:spPr>
        <p:txBody>
          <a:bodyPr lIns="90000" rIns="90000" tIns="45000" bIns="45000">
            <a:noAutofit/>
          </a:bodyPr>
          <a:p>
            <a:pPr algn="r">
              <a:lnSpc>
                <a:spcPct val="100000"/>
              </a:lnSpc>
            </a:pPr>
            <a:fld id="{DDD51BDE-C569-46E2-ACE8-24EF059CDE19}" type="slidenum">
              <a:rPr b="0" lang="fr-FR" sz="900" spc="-1" strike="noStrike">
                <a:solidFill>
                  <a:srgbClr val="205aa7"/>
                </a:solidFill>
                <a:latin typeface="Calibri"/>
              </a:rPr>
              <a:t>&lt;number&gt;</a:t>
            </a:fld>
            <a:endParaRPr b="0" lang="fr-FR" sz="900" spc="-1" strike="noStrike">
              <a:latin typeface="Times New Roman"/>
            </a:endParaRPr>
          </a:p>
        </p:txBody>
      </p:sp>
      <p:pic>
        <p:nvPicPr>
          <p:cNvPr id="244" name="Content Placeholder 5" descr=""/>
          <p:cNvPicPr/>
          <p:nvPr/>
        </p:nvPicPr>
        <p:blipFill>
          <a:blip r:embed="rId1"/>
          <a:stretch/>
        </p:blipFill>
        <p:spPr>
          <a:xfrm>
            <a:off x="1178640" y="1440000"/>
            <a:ext cx="6808680" cy="4525560"/>
          </a:xfrm>
          <a:prstGeom prst="rect">
            <a:avLst/>
          </a:prstGeom>
          <a:ln>
            <a:noFill/>
          </a:ln>
        </p:spPr>
      </p:pic>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5" name="TextShape 1"/>
          <p:cNvSpPr txBox="1"/>
          <p:nvPr/>
        </p:nvSpPr>
        <p:spPr>
          <a:xfrm>
            <a:off x="468000" y="0"/>
            <a:ext cx="8229240" cy="1142640"/>
          </a:xfrm>
          <a:prstGeom prst="rect">
            <a:avLst/>
          </a:prstGeom>
          <a:noFill/>
          <a:ln>
            <a:noFill/>
          </a:ln>
        </p:spPr>
        <p:txBody>
          <a:bodyPr anchor="ctr">
            <a:noAutofit/>
          </a:bodyPr>
          <a:p>
            <a:pPr>
              <a:lnSpc>
                <a:spcPct val="100000"/>
              </a:lnSpc>
            </a:pPr>
            <a:r>
              <a:rPr b="1" lang="en-US" sz="2400" spc="-1" strike="noStrike" cap="all">
                <a:solidFill>
                  <a:srgbClr val="ffffff"/>
                </a:solidFill>
                <a:latin typeface="Calibri"/>
              </a:rPr>
              <a:t>2</a:t>
            </a:r>
            <a:r>
              <a:rPr b="1" lang="fr-FR" sz="2400" spc="-1" strike="noStrike" cap="all">
                <a:solidFill>
                  <a:srgbClr val="ffffff"/>
                </a:solidFill>
                <a:latin typeface="Calibri"/>
              </a:rPr>
              <a:t>. Présentation de La cotation banque de France</a:t>
            </a:r>
            <a:endParaRPr b="0" lang="fr-FR" sz="2400" spc="-1" strike="noStrike">
              <a:solidFill>
                <a:srgbClr val="000000"/>
              </a:solidFill>
              <a:latin typeface="Calibri"/>
            </a:endParaRPr>
          </a:p>
        </p:txBody>
      </p:sp>
      <p:sp>
        <p:nvSpPr>
          <p:cNvPr id="246" name="TextShape 2"/>
          <p:cNvSpPr txBox="1"/>
          <p:nvPr/>
        </p:nvSpPr>
        <p:spPr>
          <a:xfrm>
            <a:off x="3124080" y="6480000"/>
            <a:ext cx="4975920" cy="359640"/>
          </a:xfrm>
          <a:prstGeom prst="rect">
            <a:avLst/>
          </a:prstGeom>
          <a:noFill/>
          <a:ln>
            <a:noFill/>
          </a:ln>
        </p:spPr>
        <p:txBody>
          <a:bodyPr>
            <a:noAutofit/>
          </a:bodyPr>
          <a:p>
            <a:endParaRPr b="0" lang="fr-FR" sz="2400" spc="-1" strike="noStrike">
              <a:latin typeface="Times New Roman"/>
            </a:endParaRPr>
          </a:p>
        </p:txBody>
      </p:sp>
      <p:sp>
        <p:nvSpPr>
          <p:cNvPr id="247" name="TextShape 3"/>
          <p:cNvSpPr txBox="1"/>
          <p:nvPr/>
        </p:nvSpPr>
        <p:spPr>
          <a:xfrm>
            <a:off x="8172360" y="6480000"/>
            <a:ext cx="539640" cy="359640"/>
          </a:xfrm>
          <a:prstGeom prst="rect">
            <a:avLst/>
          </a:prstGeom>
          <a:noFill/>
          <a:ln>
            <a:noFill/>
          </a:ln>
        </p:spPr>
        <p:txBody>
          <a:bodyPr lIns="90000" rIns="90000" tIns="45000" bIns="45000">
            <a:noAutofit/>
          </a:bodyPr>
          <a:p>
            <a:pPr algn="r">
              <a:lnSpc>
                <a:spcPct val="100000"/>
              </a:lnSpc>
            </a:pPr>
            <a:fld id="{B28D2982-E9BA-4F05-AAED-43FE08568AE4}" type="slidenum">
              <a:rPr b="0" lang="fr-FR" sz="900" spc="-1" strike="noStrike">
                <a:solidFill>
                  <a:srgbClr val="205aa7"/>
                </a:solidFill>
                <a:latin typeface="Calibri"/>
              </a:rPr>
              <a:t>&lt;number&gt;</a:t>
            </a:fld>
            <a:endParaRPr b="0" lang="fr-FR" sz="900" spc="-1" strike="noStrike">
              <a:latin typeface="Times New Roman"/>
            </a:endParaRPr>
          </a:p>
        </p:txBody>
      </p:sp>
      <p:sp>
        <p:nvSpPr>
          <p:cNvPr id="248" name="TextShape 4"/>
          <p:cNvSpPr txBox="1"/>
          <p:nvPr/>
        </p:nvSpPr>
        <p:spPr>
          <a:xfrm>
            <a:off x="468000" y="1440000"/>
            <a:ext cx="8229240" cy="4525560"/>
          </a:xfrm>
          <a:prstGeom prst="rect">
            <a:avLst/>
          </a:prstGeom>
          <a:noFill/>
          <a:ln>
            <a:noFill/>
          </a:ln>
        </p:spPr>
        <p:txBody>
          <a:bodyPr>
            <a:normAutofit/>
          </a:bodyPr>
          <a:p>
            <a:pPr algn="ctr">
              <a:lnSpc>
                <a:spcPct val="100000"/>
              </a:lnSpc>
              <a:spcBef>
                <a:spcPts val="400"/>
              </a:spcBef>
              <a:tabLst>
                <a:tab algn="l" pos="0"/>
              </a:tabLst>
            </a:pPr>
            <a:r>
              <a:rPr b="1" lang="fr-FR" sz="2000" spc="-1" strike="noStrike">
                <a:solidFill>
                  <a:srgbClr val="205aa7"/>
                </a:solidFill>
                <a:latin typeface="Calibri"/>
              </a:rPr>
              <a:t>La cotation Banque de France repose sur des fondements juridiques</a:t>
            </a:r>
            <a:endParaRPr b="0" lang="fr-FR" sz="2000" spc="-1" strike="noStrike">
              <a:solidFill>
                <a:srgbClr val="205aa7"/>
              </a:solidFill>
              <a:latin typeface="Calibri"/>
            </a:endParaRPr>
          </a:p>
          <a:p>
            <a:pPr algn="just">
              <a:lnSpc>
                <a:spcPct val="100000"/>
              </a:lnSpc>
              <a:spcBef>
                <a:spcPts val="201"/>
              </a:spcBef>
              <a:tabLst>
                <a:tab algn="l" pos="0"/>
              </a:tabLst>
            </a:pPr>
            <a:endParaRPr b="0" lang="fr-FR" sz="2000" spc="-1" strike="noStrike">
              <a:solidFill>
                <a:srgbClr val="205aa7"/>
              </a:solidFill>
              <a:latin typeface="Calibri"/>
            </a:endParaRPr>
          </a:p>
          <a:p>
            <a:pPr marL="252000" indent="-251640" algn="just">
              <a:lnSpc>
                <a:spcPct val="100000"/>
              </a:lnSpc>
              <a:spcBef>
                <a:spcPts val="400"/>
              </a:spcBef>
              <a:buClr>
                <a:srgbClr val="205aa7"/>
              </a:buClr>
              <a:buFont typeface="Wingdings" charset="2"/>
              <a:buChar char=""/>
              <a:tabLst>
                <a:tab algn="l" pos="0"/>
              </a:tabLst>
            </a:pPr>
            <a:r>
              <a:rPr b="0" lang="fr-FR" sz="2000" spc="-1" strike="noStrike">
                <a:solidFill>
                  <a:srgbClr val="205aa7"/>
                </a:solidFill>
                <a:latin typeface="Calibri"/>
              </a:rPr>
              <a:t>d’ordre national issus de l’article L.141-6 du code monétaire et financier ;</a:t>
            </a:r>
            <a:endParaRPr b="0" lang="fr-FR" sz="2000" spc="-1" strike="noStrike">
              <a:solidFill>
                <a:srgbClr val="205aa7"/>
              </a:solidFill>
              <a:latin typeface="Calibri"/>
            </a:endParaRPr>
          </a:p>
          <a:p>
            <a:pPr marL="252000" indent="-251640" algn="just">
              <a:lnSpc>
                <a:spcPct val="100000"/>
              </a:lnSpc>
              <a:spcBef>
                <a:spcPts val="400"/>
              </a:spcBef>
              <a:buClr>
                <a:srgbClr val="205aa7"/>
              </a:buClr>
              <a:buFont typeface="Wingdings" charset="2"/>
              <a:buChar char=""/>
              <a:tabLst>
                <a:tab algn="l" pos="0"/>
              </a:tabLst>
            </a:pPr>
            <a:r>
              <a:rPr b="0" lang="fr-FR" sz="2000" spc="-1" strike="noStrike">
                <a:solidFill>
                  <a:srgbClr val="205aa7"/>
                </a:solidFill>
                <a:latin typeface="Calibri"/>
              </a:rPr>
              <a:t>d’ordre international issus :</a:t>
            </a:r>
            <a:endParaRPr b="0" lang="fr-FR" sz="2000" spc="-1" strike="noStrike">
              <a:solidFill>
                <a:srgbClr val="205aa7"/>
              </a:solidFill>
              <a:latin typeface="Calibri"/>
            </a:endParaRPr>
          </a:p>
          <a:p>
            <a:pPr lvl="1" marL="743040" indent="-285480" algn="just">
              <a:lnSpc>
                <a:spcPct val="100000"/>
              </a:lnSpc>
              <a:spcBef>
                <a:spcPts val="360"/>
              </a:spcBef>
              <a:buClr>
                <a:srgbClr val="205aa7"/>
              </a:buClr>
              <a:buFont typeface="Arial"/>
              <a:buChar char="–"/>
              <a:tabLst>
                <a:tab algn="l" pos="0"/>
              </a:tabLst>
            </a:pPr>
            <a:r>
              <a:rPr b="0" lang="fr-FR" sz="1800" spc="-1" strike="noStrike">
                <a:solidFill>
                  <a:srgbClr val="205aa7"/>
                </a:solidFill>
                <a:latin typeface="Calibri"/>
              </a:rPr>
              <a:t>de la reconnaissance de la Banque de France en tant qu’OEEC (Organisme Externe d’Évaluation du Crédit),</a:t>
            </a:r>
            <a:endParaRPr b="0" lang="fr-FR" sz="1800" spc="-1" strike="noStrike">
              <a:solidFill>
                <a:srgbClr val="595959"/>
              </a:solidFill>
              <a:latin typeface="Calibri"/>
            </a:endParaRPr>
          </a:p>
          <a:p>
            <a:pPr lvl="1" marL="743040" indent="-285480" algn="just">
              <a:lnSpc>
                <a:spcPct val="100000"/>
              </a:lnSpc>
              <a:spcBef>
                <a:spcPts val="360"/>
              </a:spcBef>
              <a:buClr>
                <a:srgbClr val="205aa7"/>
              </a:buClr>
              <a:buFont typeface="Arial"/>
              <a:buChar char="–"/>
              <a:tabLst>
                <a:tab algn="l" pos="0"/>
              </a:tabLst>
            </a:pPr>
            <a:r>
              <a:rPr b="0" lang="fr-FR" sz="1800" spc="-1" strike="noStrike">
                <a:solidFill>
                  <a:srgbClr val="205aa7"/>
                </a:solidFill>
                <a:latin typeface="Calibri"/>
              </a:rPr>
              <a:t>du statut « d'ICAS » (In-house Credit Assessment System) qui atteste que la Banque Centrale Européenne a validé son système d'évaluation du risque de crédit</a:t>
            </a:r>
            <a:endParaRPr b="0" lang="fr-FR" sz="1800" spc="-1" strike="noStrike">
              <a:solidFill>
                <a:srgbClr val="595959"/>
              </a:solidFill>
              <a:latin typeface="Calibri"/>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9" name="TextShape 1"/>
          <p:cNvSpPr txBox="1"/>
          <p:nvPr/>
        </p:nvSpPr>
        <p:spPr>
          <a:xfrm>
            <a:off x="468000" y="0"/>
            <a:ext cx="8229240" cy="1142640"/>
          </a:xfrm>
          <a:prstGeom prst="rect">
            <a:avLst/>
          </a:prstGeom>
          <a:noFill/>
          <a:ln>
            <a:noFill/>
          </a:ln>
        </p:spPr>
        <p:txBody>
          <a:bodyPr anchor="ctr">
            <a:noAutofit/>
          </a:bodyPr>
          <a:p>
            <a:pPr>
              <a:lnSpc>
                <a:spcPct val="100000"/>
              </a:lnSpc>
            </a:pPr>
            <a:r>
              <a:rPr b="1" lang="en-US" sz="2400" spc="-1" strike="noStrike" cap="all">
                <a:solidFill>
                  <a:srgbClr val="ffffff"/>
                </a:solidFill>
                <a:latin typeface="Calibri"/>
              </a:rPr>
              <a:t>2</a:t>
            </a:r>
            <a:r>
              <a:rPr b="1" lang="fr-FR" sz="2400" spc="-1" strike="noStrike" cap="all">
                <a:solidFill>
                  <a:srgbClr val="ffffff"/>
                </a:solidFill>
                <a:latin typeface="Calibri"/>
              </a:rPr>
              <a:t>. Présentation de La cotation banque de France</a:t>
            </a:r>
            <a:endParaRPr b="0" lang="fr-FR" sz="2400" spc="-1" strike="noStrike">
              <a:solidFill>
                <a:srgbClr val="000000"/>
              </a:solidFill>
              <a:latin typeface="Calibri"/>
            </a:endParaRPr>
          </a:p>
        </p:txBody>
      </p:sp>
      <p:sp>
        <p:nvSpPr>
          <p:cNvPr id="250" name="TextShape 2"/>
          <p:cNvSpPr txBox="1"/>
          <p:nvPr/>
        </p:nvSpPr>
        <p:spPr>
          <a:xfrm>
            <a:off x="3124080" y="6480000"/>
            <a:ext cx="4975920" cy="359640"/>
          </a:xfrm>
          <a:prstGeom prst="rect">
            <a:avLst/>
          </a:prstGeom>
          <a:noFill/>
          <a:ln>
            <a:noFill/>
          </a:ln>
        </p:spPr>
        <p:txBody>
          <a:bodyPr>
            <a:noAutofit/>
          </a:bodyPr>
          <a:p>
            <a:endParaRPr b="0" lang="fr-FR" sz="2400" spc="-1" strike="noStrike">
              <a:latin typeface="Times New Roman"/>
            </a:endParaRPr>
          </a:p>
        </p:txBody>
      </p:sp>
      <p:sp>
        <p:nvSpPr>
          <p:cNvPr id="251" name="TextShape 3"/>
          <p:cNvSpPr txBox="1"/>
          <p:nvPr/>
        </p:nvSpPr>
        <p:spPr>
          <a:xfrm>
            <a:off x="8172360" y="6480000"/>
            <a:ext cx="539640" cy="359640"/>
          </a:xfrm>
          <a:prstGeom prst="rect">
            <a:avLst/>
          </a:prstGeom>
          <a:noFill/>
          <a:ln>
            <a:noFill/>
          </a:ln>
        </p:spPr>
        <p:txBody>
          <a:bodyPr lIns="90000" rIns="90000" tIns="45000" bIns="45000">
            <a:noAutofit/>
          </a:bodyPr>
          <a:p>
            <a:pPr algn="r">
              <a:lnSpc>
                <a:spcPct val="100000"/>
              </a:lnSpc>
            </a:pPr>
            <a:fld id="{4F7CE5FF-E263-4EF3-A5BE-E37DD6816FD1}" type="slidenum">
              <a:rPr b="0" lang="fr-FR" sz="900" spc="-1" strike="noStrike">
                <a:solidFill>
                  <a:srgbClr val="205aa7"/>
                </a:solidFill>
                <a:latin typeface="Calibri"/>
              </a:rPr>
              <a:t>&lt;number&gt;</a:t>
            </a:fld>
            <a:endParaRPr b="0" lang="fr-FR" sz="900" spc="-1" strike="noStrike">
              <a:latin typeface="Times New Roman"/>
            </a:endParaRPr>
          </a:p>
        </p:txBody>
      </p:sp>
      <p:sp>
        <p:nvSpPr>
          <p:cNvPr id="252" name="TextShape 4"/>
          <p:cNvSpPr txBox="1"/>
          <p:nvPr/>
        </p:nvSpPr>
        <p:spPr>
          <a:xfrm>
            <a:off x="468000" y="1440000"/>
            <a:ext cx="8229240" cy="4525560"/>
          </a:xfrm>
          <a:prstGeom prst="rect">
            <a:avLst/>
          </a:prstGeom>
          <a:noFill/>
          <a:ln>
            <a:noFill/>
          </a:ln>
        </p:spPr>
        <p:txBody>
          <a:bodyPr>
            <a:noAutofit/>
          </a:bodyPr>
          <a:p>
            <a:pPr algn="ctr">
              <a:lnSpc>
                <a:spcPct val="100000"/>
              </a:lnSpc>
              <a:spcBef>
                <a:spcPts val="400"/>
              </a:spcBef>
              <a:tabLst>
                <a:tab algn="l" pos="0"/>
              </a:tabLst>
            </a:pPr>
            <a:r>
              <a:rPr b="1" lang="fr-FR" sz="2000" spc="-1" strike="noStrike">
                <a:solidFill>
                  <a:srgbClr val="205aa7"/>
                </a:solidFill>
                <a:latin typeface="Calibri"/>
              </a:rPr>
              <a:t>La Banque de France est un Organisme Externe d’Évaluation du Crédit (OEEC)</a:t>
            </a:r>
            <a:endParaRPr b="0" lang="fr-FR" sz="2000" spc="-1" strike="noStrike">
              <a:solidFill>
                <a:srgbClr val="205aa7"/>
              </a:solidFill>
              <a:latin typeface="Calibri"/>
            </a:endParaRPr>
          </a:p>
          <a:p>
            <a:pPr algn="just">
              <a:lnSpc>
                <a:spcPct val="100000"/>
              </a:lnSpc>
              <a:spcBef>
                <a:spcPts val="201"/>
              </a:spcBef>
              <a:tabLst>
                <a:tab algn="l" pos="0"/>
              </a:tabLst>
            </a:pPr>
            <a:endParaRPr b="0" lang="fr-FR" sz="2000" spc="-1" strike="noStrike">
              <a:solidFill>
                <a:srgbClr val="205aa7"/>
              </a:solidFill>
              <a:latin typeface="Calibri"/>
            </a:endParaRPr>
          </a:p>
          <a:p>
            <a:pPr marL="252000" indent="-251640" algn="just">
              <a:lnSpc>
                <a:spcPct val="100000"/>
              </a:lnSpc>
              <a:spcBef>
                <a:spcPts val="400"/>
              </a:spcBef>
              <a:buClr>
                <a:srgbClr val="205aa7"/>
              </a:buClr>
              <a:buFont typeface="Wingdings" charset="2"/>
              <a:buChar char=""/>
              <a:tabLst>
                <a:tab algn="l" pos="0"/>
              </a:tabLst>
            </a:pPr>
            <a:r>
              <a:rPr b="0" lang="fr-FR" sz="2000" spc="-1" strike="noStrike">
                <a:solidFill>
                  <a:srgbClr val="205aa7"/>
                </a:solidFill>
                <a:latin typeface="Calibri"/>
              </a:rPr>
              <a:t>Reconnue par la Commission Bancaire (devenue ACPR) depuis le 19 juin 2007</a:t>
            </a:r>
            <a:endParaRPr b="0" lang="fr-FR" sz="2000" spc="-1" strike="noStrike">
              <a:solidFill>
                <a:srgbClr val="205aa7"/>
              </a:solidFill>
              <a:latin typeface="Calibri"/>
            </a:endParaRPr>
          </a:p>
          <a:p>
            <a:pPr marL="252000" indent="-251640" algn="just">
              <a:lnSpc>
                <a:spcPct val="100000"/>
              </a:lnSpc>
              <a:spcBef>
                <a:spcPts val="400"/>
              </a:spcBef>
              <a:buClr>
                <a:srgbClr val="205aa7"/>
              </a:buClr>
              <a:buFont typeface="Wingdings" charset="2"/>
              <a:buChar char=""/>
              <a:tabLst>
                <a:tab algn="l" pos="0"/>
              </a:tabLst>
            </a:pPr>
            <a:r>
              <a:rPr b="0" lang="fr-FR" sz="2000" spc="-1" strike="noStrike">
                <a:solidFill>
                  <a:srgbClr val="205aa7"/>
                </a:solidFill>
                <a:latin typeface="Calibri"/>
              </a:rPr>
              <a:t>Ce qui permet aux établissements de crédit de s’appuyer sur son expertise pour calculer leurs besoins en fonds propres réglementaires.</a:t>
            </a:r>
            <a:endParaRPr b="0" lang="fr-FR" sz="2000" spc="-1" strike="noStrike">
              <a:solidFill>
                <a:srgbClr val="205aa7"/>
              </a:solidFill>
              <a:latin typeface="Calibri"/>
            </a:endParaRPr>
          </a:p>
          <a:p>
            <a:pPr marL="252000" indent="-251640" algn="just">
              <a:lnSpc>
                <a:spcPct val="100000"/>
              </a:lnSpc>
              <a:spcBef>
                <a:spcPts val="400"/>
              </a:spcBef>
              <a:buClr>
                <a:srgbClr val="205aa7"/>
              </a:buClr>
              <a:buFont typeface="Wingdings" charset="2"/>
              <a:buChar char=""/>
              <a:tabLst>
                <a:tab algn="l" pos="0"/>
              </a:tabLst>
            </a:pPr>
            <a:r>
              <a:rPr b="0" lang="fr-FR" sz="2000" spc="-1" strike="noStrike">
                <a:solidFill>
                  <a:srgbClr val="205aa7"/>
                </a:solidFill>
                <a:latin typeface="Calibri"/>
              </a:rPr>
              <a:t>Ce qui impose de respecter des critères de performance, sous la forme d’une vérification annuelle des taux de défauts cibles et les critères suivants :</a:t>
            </a:r>
            <a:endParaRPr b="0" lang="fr-FR" sz="2000" spc="-1" strike="noStrike">
              <a:solidFill>
                <a:srgbClr val="205aa7"/>
              </a:solidFill>
              <a:latin typeface="Calibri"/>
            </a:endParaRPr>
          </a:p>
          <a:p>
            <a:pPr lvl="1" marL="743040" indent="-285480" algn="just">
              <a:lnSpc>
                <a:spcPct val="100000"/>
              </a:lnSpc>
              <a:spcBef>
                <a:spcPts val="360"/>
              </a:spcBef>
              <a:buClr>
                <a:srgbClr val="205aa7"/>
              </a:buClr>
              <a:buFont typeface="Arial"/>
              <a:buChar char="–"/>
              <a:tabLst>
                <a:tab algn="l" pos="0"/>
              </a:tabLst>
            </a:pPr>
            <a:r>
              <a:rPr b="0" lang="fr-FR" sz="1800" spc="-1" strike="noStrike">
                <a:solidFill>
                  <a:srgbClr val="205aa7"/>
                </a:solidFill>
                <a:latin typeface="Calibri"/>
              </a:rPr>
              <a:t>l’objectivité de la méthode de notation et des résultats</a:t>
            </a:r>
            <a:endParaRPr b="0" lang="fr-FR" sz="1800" spc="-1" strike="noStrike">
              <a:solidFill>
                <a:srgbClr val="595959"/>
              </a:solidFill>
              <a:latin typeface="Calibri"/>
            </a:endParaRPr>
          </a:p>
          <a:p>
            <a:pPr lvl="1" marL="743040" indent="-285480" algn="just">
              <a:lnSpc>
                <a:spcPct val="100000"/>
              </a:lnSpc>
              <a:spcBef>
                <a:spcPts val="360"/>
              </a:spcBef>
              <a:buClr>
                <a:srgbClr val="205aa7"/>
              </a:buClr>
              <a:buFont typeface="Arial"/>
              <a:buChar char="–"/>
              <a:tabLst>
                <a:tab algn="l" pos="0"/>
              </a:tabLst>
            </a:pPr>
            <a:r>
              <a:rPr b="0" lang="fr-FR" sz="1800" spc="-1" strike="noStrike">
                <a:solidFill>
                  <a:srgbClr val="205aa7"/>
                </a:solidFill>
                <a:latin typeface="Calibri"/>
              </a:rPr>
              <a:t>l’indépendance du processus de production de la notation</a:t>
            </a:r>
            <a:endParaRPr b="0" lang="fr-FR" sz="1800" spc="-1" strike="noStrike">
              <a:solidFill>
                <a:srgbClr val="595959"/>
              </a:solidFill>
              <a:latin typeface="Calibri"/>
            </a:endParaRPr>
          </a:p>
          <a:p>
            <a:pPr lvl="1" marL="743040" indent="-285480" algn="just">
              <a:lnSpc>
                <a:spcPct val="100000"/>
              </a:lnSpc>
              <a:spcBef>
                <a:spcPts val="400"/>
              </a:spcBef>
              <a:buClr>
                <a:srgbClr val="205aa7"/>
              </a:buClr>
              <a:buFont typeface="Arial"/>
              <a:buChar char="–"/>
              <a:tabLst>
                <a:tab algn="l" pos="0"/>
              </a:tabLst>
            </a:pPr>
            <a:r>
              <a:rPr b="0" lang="fr-FR" sz="1800" spc="-1" strike="noStrike">
                <a:solidFill>
                  <a:srgbClr val="205aa7"/>
                </a:solidFill>
                <a:latin typeface="Calibri"/>
              </a:rPr>
              <a:t>l’acceptation par le marché, c’est-à-dire que les évaluations de crédit d’un OEEC sont perçues comme crédibles et fiables par leurs utilisateurs.</a:t>
            </a:r>
            <a:r>
              <a:rPr b="0" lang="fr-FR" sz="2000" spc="-1" strike="noStrike">
                <a:solidFill>
                  <a:srgbClr val="205aa7"/>
                </a:solidFill>
                <a:latin typeface="Calibri"/>
              </a:rPr>
              <a:t> </a:t>
            </a:r>
            <a:endParaRPr b="0" lang="fr-FR" sz="2000" spc="-1" strike="noStrike">
              <a:solidFill>
                <a:srgbClr val="595959"/>
              </a:solidFill>
              <a:latin typeface="Calibri"/>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3" name="TextShape 1"/>
          <p:cNvSpPr txBox="1"/>
          <p:nvPr/>
        </p:nvSpPr>
        <p:spPr>
          <a:xfrm>
            <a:off x="468000" y="0"/>
            <a:ext cx="8229240" cy="1142640"/>
          </a:xfrm>
          <a:prstGeom prst="rect">
            <a:avLst/>
          </a:prstGeom>
          <a:noFill/>
          <a:ln>
            <a:noFill/>
          </a:ln>
        </p:spPr>
        <p:txBody>
          <a:bodyPr anchor="ctr">
            <a:noAutofit/>
          </a:bodyPr>
          <a:p>
            <a:pPr>
              <a:lnSpc>
                <a:spcPct val="100000"/>
              </a:lnSpc>
            </a:pPr>
            <a:r>
              <a:rPr b="1" lang="en-US" sz="2400" spc="-1" strike="noStrike" cap="all">
                <a:solidFill>
                  <a:srgbClr val="ffffff"/>
                </a:solidFill>
                <a:latin typeface="Calibri"/>
              </a:rPr>
              <a:t>2</a:t>
            </a:r>
            <a:r>
              <a:rPr b="1" lang="fr-FR" sz="2400" spc="-1" strike="noStrike" cap="all">
                <a:solidFill>
                  <a:srgbClr val="ffffff"/>
                </a:solidFill>
                <a:latin typeface="Calibri"/>
              </a:rPr>
              <a:t>. Présentation de La cotation banque de France</a:t>
            </a:r>
            <a:endParaRPr b="0" lang="fr-FR" sz="2400" spc="-1" strike="noStrike">
              <a:solidFill>
                <a:srgbClr val="000000"/>
              </a:solidFill>
              <a:latin typeface="Calibri"/>
            </a:endParaRPr>
          </a:p>
        </p:txBody>
      </p:sp>
      <p:sp>
        <p:nvSpPr>
          <p:cNvPr id="254" name="TextShape 2"/>
          <p:cNvSpPr txBox="1"/>
          <p:nvPr/>
        </p:nvSpPr>
        <p:spPr>
          <a:xfrm>
            <a:off x="3124080" y="6480000"/>
            <a:ext cx="4975920" cy="359640"/>
          </a:xfrm>
          <a:prstGeom prst="rect">
            <a:avLst/>
          </a:prstGeom>
          <a:noFill/>
          <a:ln>
            <a:noFill/>
          </a:ln>
        </p:spPr>
        <p:txBody>
          <a:bodyPr>
            <a:noAutofit/>
          </a:bodyPr>
          <a:p>
            <a:endParaRPr b="0" lang="fr-FR" sz="2400" spc="-1" strike="noStrike">
              <a:latin typeface="Times New Roman"/>
            </a:endParaRPr>
          </a:p>
        </p:txBody>
      </p:sp>
      <p:sp>
        <p:nvSpPr>
          <p:cNvPr id="255" name="TextShape 3"/>
          <p:cNvSpPr txBox="1"/>
          <p:nvPr/>
        </p:nvSpPr>
        <p:spPr>
          <a:xfrm>
            <a:off x="8172360" y="6480000"/>
            <a:ext cx="539640" cy="359640"/>
          </a:xfrm>
          <a:prstGeom prst="rect">
            <a:avLst/>
          </a:prstGeom>
          <a:noFill/>
          <a:ln>
            <a:noFill/>
          </a:ln>
        </p:spPr>
        <p:txBody>
          <a:bodyPr lIns="90000" rIns="90000" tIns="45000" bIns="45000">
            <a:noAutofit/>
          </a:bodyPr>
          <a:p>
            <a:pPr algn="r">
              <a:lnSpc>
                <a:spcPct val="100000"/>
              </a:lnSpc>
            </a:pPr>
            <a:fld id="{876230C5-BD62-46DA-84CE-21ABB805D8C5}" type="slidenum">
              <a:rPr b="0" lang="fr-FR" sz="900" spc="-1" strike="noStrike">
                <a:solidFill>
                  <a:srgbClr val="205aa7"/>
                </a:solidFill>
                <a:latin typeface="Calibri"/>
              </a:rPr>
              <a:t>&lt;number&gt;</a:t>
            </a:fld>
            <a:endParaRPr b="0" lang="fr-FR" sz="900" spc="-1" strike="noStrike">
              <a:latin typeface="Times New Roman"/>
            </a:endParaRPr>
          </a:p>
        </p:txBody>
      </p:sp>
      <p:sp>
        <p:nvSpPr>
          <p:cNvPr id="256" name="TextShape 4"/>
          <p:cNvSpPr txBox="1"/>
          <p:nvPr/>
        </p:nvSpPr>
        <p:spPr>
          <a:xfrm>
            <a:off x="468000" y="1440000"/>
            <a:ext cx="8229240" cy="4525560"/>
          </a:xfrm>
          <a:prstGeom prst="rect">
            <a:avLst/>
          </a:prstGeom>
          <a:noFill/>
          <a:ln>
            <a:noFill/>
          </a:ln>
        </p:spPr>
        <p:txBody>
          <a:bodyPr>
            <a:normAutofit/>
          </a:bodyPr>
          <a:p>
            <a:pPr algn="ctr">
              <a:lnSpc>
                <a:spcPct val="100000"/>
              </a:lnSpc>
              <a:spcBef>
                <a:spcPts val="400"/>
              </a:spcBef>
              <a:tabLst>
                <a:tab algn="l" pos="0"/>
              </a:tabLst>
            </a:pPr>
            <a:r>
              <a:rPr b="1" lang="fr-FR" sz="2000" spc="-1" strike="noStrike">
                <a:solidFill>
                  <a:srgbClr val="205aa7"/>
                </a:solidFill>
                <a:latin typeface="Calibri"/>
              </a:rPr>
              <a:t>La Banque de France est reconnue In-house Credit Assessment System (ICAS)</a:t>
            </a:r>
            <a:endParaRPr b="0" lang="fr-FR" sz="2000" spc="-1" strike="noStrike">
              <a:solidFill>
                <a:srgbClr val="205aa7"/>
              </a:solidFill>
              <a:latin typeface="Calibri"/>
            </a:endParaRPr>
          </a:p>
          <a:p>
            <a:pPr algn="just">
              <a:lnSpc>
                <a:spcPct val="100000"/>
              </a:lnSpc>
              <a:spcBef>
                <a:spcPts val="201"/>
              </a:spcBef>
              <a:tabLst>
                <a:tab algn="l" pos="0"/>
              </a:tabLst>
            </a:pPr>
            <a:endParaRPr b="0" lang="fr-FR" sz="2000" spc="-1" strike="noStrike">
              <a:solidFill>
                <a:srgbClr val="205aa7"/>
              </a:solidFill>
              <a:latin typeface="Calibri"/>
            </a:endParaRPr>
          </a:p>
          <a:p>
            <a:pPr marL="252000" indent="-251640" algn="just">
              <a:lnSpc>
                <a:spcPct val="100000"/>
              </a:lnSpc>
              <a:spcBef>
                <a:spcPts val="400"/>
              </a:spcBef>
              <a:buClr>
                <a:srgbClr val="205aa7"/>
              </a:buClr>
              <a:buFont typeface="Wingdings" charset="2"/>
              <a:buChar char=""/>
              <a:tabLst>
                <a:tab algn="l" pos="0"/>
              </a:tabLst>
            </a:pPr>
            <a:r>
              <a:rPr b="0" lang="fr-FR" sz="2000" spc="-1" strike="noStrike">
                <a:solidFill>
                  <a:srgbClr val="205aa7"/>
                </a:solidFill>
                <a:latin typeface="Calibri"/>
              </a:rPr>
              <a:t>La cotation des entreprises de la Banque de France est utilisée pour évaluer la qualité de la signature des créances apportées en garantie dans les opérations de refinancement monétaire et pour le refinancement des prêts bancaires dans le cadre de l’ECAF (Eurosystem Credit Assessment Framework).</a:t>
            </a:r>
            <a:endParaRPr b="0" lang="fr-FR" sz="2000" spc="-1" strike="noStrike">
              <a:solidFill>
                <a:srgbClr val="205aa7"/>
              </a:solidFill>
              <a:latin typeface="Calibri"/>
            </a:endParaRPr>
          </a:p>
          <a:p>
            <a:pPr marL="252000" indent="-251640" algn="just">
              <a:lnSpc>
                <a:spcPct val="100000"/>
              </a:lnSpc>
              <a:spcBef>
                <a:spcPts val="400"/>
              </a:spcBef>
              <a:buClr>
                <a:srgbClr val="205aa7"/>
              </a:buClr>
              <a:buFont typeface="Wingdings" charset="2"/>
              <a:buChar char=""/>
              <a:tabLst>
                <a:tab algn="l" pos="0"/>
              </a:tabLst>
            </a:pPr>
            <a:r>
              <a:rPr b="0" lang="fr-FR" sz="2000" spc="-1" strike="noStrike">
                <a:solidFill>
                  <a:srgbClr val="205aa7"/>
                </a:solidFill>
                <a:latin typeface="Calibri"/>
              </a:rPr>
              <a:t>Les autres ICAS sont les systèmes d’évaluation des Banques Centrales d’Allemagne, d’Autriche, d’Espagne, de Belgique, d’Italie, du Portugal, de Slovénie.</a:t>
            </a:r>
            <a:endParaRPr b="0" lang="fr-FR" sz="2000" spc="-1" strike="noStrike">
              <a:solidFill>
                <a:srgbClr val="205aa7"/>
              </a:solidFill>
              <a:latin typeface="Calibri"/>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7" name="TextShape 1"/>
          <p:cNvSpPr txBox="1"/>
          <p:nvPr/>
        </p:nvSpPr>
        <p:spPr>
          <a:xfrm>
            <a:off x="468000" y="0"/>
            <a:ext cx="8229240" cy="1142640"/>
          </a:xfrm>
          <a:prstGeom prst="rect">
            <a:avLst/>
          </a:prstGeom>
          <a:noFill/>
          <a:ln>
            <a:noFill/>
          </a:ln>
        </p:spPr>
        <p:txBody>
          <a:bodyPr anchor="ctr">
            <a:noAutofit/>
          </a:bodyPr>
          <a:p>
            <a:pPr>
              <a:lnSpc>
                <a:spcPct val="100000"/>
              </a:lnSpc>
            </a:pPr>
            <a:r>
              <a:rPr b="1" lang="en-US" sz="2400" spc="-1" strike="noStrike" cap="all">
                <a:solidFill>
                  <a:srgbClr val="ffffff"/>
                </a:solidFill>
                <a:latin typeface="Calibri"/>
              </a:rPr>
              <a:t>2</a:t>
            </a:r>
            <a:r>
              <a:rPr b="1" lang="fr-FR" sz="2400" spc="-1" strike="noStrike" cap="all">
                <a:solidFill>
                  <a:srgbClr val="ffffff"/>
                </a:solidFill>
                <a:latin typeface="Calibri"/>
              </a:rPr>
              <a:t>. Présentation de La cotation banque de France</a:t>
            </a:r>
            <a:endParaRPr b="0" lang="fr-FR" sz="2400" spc="-1" strike="noStrike">
              <a:solidFill>
                <a:srgbClr val="000000"/>
              </a:solidFill>
              <a:latin typeface="Calibri"/>
            </a:endParaRPr>
          </a:p>
        </p:txBody>
      </p:sp>
      <p:sp>
        <p:nvSpPr>
          <p:cNvPr id="258" name="TextShape 2"/>
          <p:cNvSpPr txBox="1"/>
          <p:nvPr/>
        </p:nvSpPr>
        <p:spPr>
          <a:xfrm>
            <a:off x="3124080" y="6480000"/>
            <a:ext cx="4975920" cy="359640"/>
          </a:xfrm>
          <a:prstGeom prst="rect">
            <a:avLst/>
          </a:prstGeom>
          <a:noFill/>
          <a:ln>
            <a:noFill/>
          </a:ln>
        </p:spPr>
        <p:txBody>
          <a:bodyPr>
            <a:noAutofit/>
          </a:bodyPr>
          <a:p>
            <a:endParaRPr b="0" lang="fr-FR" sz="2400" spc="-1" strike="noStrike">
              <a:latin typeface="Times New Roman"/>
            </a:endParaRPr>
          </a:p>
        </p:txBody>
      </p:sp>
      <p:sp>
        <p:nvSpPr>
          <p:cNvPr id="259" name="TextShape 3"/>
          <p:cNvSpPr txBox="1"/>
          <p:nvPr/>
        </p:nvSpPr>
        <p:spPr>
          <a:xfrm>
            <a:off x="8172360" y="6480000"/>
            <a:ext cx="539640" cy="359640"/>
          </a:xfrm>
          <a:prstGeom prst="rect">
            <a:avLst/>
          </a:prstGeom>
          <a:noFill/>
          <a:ln>
            <a:noFill/>
          </a:ln>
        </p:spPr>
        <p:txBody>
          <a:bodyPr lIns="90000" rIns="90000" tIns="45000" bIns="45000">
            <a:noAutofit/>
          </a:bodyPr>
          <a:p>
            <a:pPr algn="r">
              <a:lnSpc>
                <a:spcPct val="100000"/>
              </a:lnSpc>
            </a:pPr>
            <a:fld id="{F35A1C70-3994-432D-88F3-B9BB694389AA}" type="slidenum">
              <a:rPr b="0" lang="fr-FR" sz="900" spc="-1" strike="noStrike">
                <a:solidFill>
                  <a:srgbClr val="205aa7"/>
                </a:solidFill>
                <a:latin typeface="Calibri"/>
              </a:rPr>
              <a:t>&lt;number&gt;</a:t>
            </a:fld>
            <a:endParaRPr b="0" lang="fr-FR" sz="900" spc="-1" strike="noStrike">
              <a:latin typeface="Times New Roman"/>
            </a:endParaRPr>
          </a:p>
        </p:txBody>
      </p:sp>
      <p:sp>
        <p:nvSpPr>
          <p:cNvPr id="260" name="TextShape 4"/>
          <p:cNvSpPr txBox="1"/>
          <p:nvPr/>
        </p:nvSpPr>
        <p:spPr>
          <a:xfrm>
            <a:off x="468000" y="1440000"/>
            <a:ext cx="8229240" cy="4525560"/>
          </a:xfrm>
          <a:prstGeom prst="rect">
            <a:avLst/>
          </a:prstGeom>
          <a:noFill/>
          <a:ln>
            <a:noFill/>
          </a:ln>
        </p:spPr>
        <p:txBody>
          <a:bodyPr>
            <a:noAutofit/>
          </a:bodyPr>
          <a:p>
            <a:pPr algn="ctr">
              <a:lnSpc>
                <a:spcPct val="100000"/>
              </a:lnSpc>
              <a:spcBef>
                <a:spcPts val="400"/>
              </a:spcBef>
              <a:tabLst>
                <a:tab algn="l" pos="0"/>
              </a:tabLst>
            </a:pPr>
            <a:r>
              <a:rPr b="1" lang="fr-FR" sz="2000" spc="-1" strike="noStrike">
                <a:solidFill>
                  <a:srgbClr val="205aa7"/>
                </a:solidFill>
                <a:latin typeface="Calibri"/>
              </a:rPr>
              <a:t>La cotation prend notamment en compte :</a:t>
            </a:r>
            <a:endParaRPr b="0" lang="fr-FR" sz="2000" spc="-1" strike="noStrike">
              <a:solidFill>
                <a:srgbClr val="205aa7"/>
              </a:solidFill>
              <a:latin typeface="Calibri"/>
            </a:endParaRPr>
          </a:p>
          <a:p>
            <a:pPr algn="just">
              <a:lnSpc>
                <a:spcPct val="100000"/>
              </a:lnSpc>
              <a:spcBef>
                <a:spcPts val="201"/>
              </a:spcBef>
              <a:tabLst>
                <a:tab algn="l" pos="0"/>
              </a:tabLst>
            </a:pPr>
            <a:endParaRPr b="0" lang="fr-FR" sz="2000" spc="-1" strike="noStrike">
              <a:solidFill>
                <a:srgbClr val="205aa7"/>
              </a:solidFill>
              <a:latin typeface="Calibri"/>
            </a:endParaRPr>
          </a:p>
          <a:p>
            <a:pPr marL="252000" indent="-251640" algn="just">
              <a:lnSpc>
                <a:spcPct val="100000"/>
              </a:lnSpc>
              <a:spcBef>
                <a:spcPts val="400"/>
              </a:spcBef>
              <a:buClr>
                <a:srgbClr val="205aa7"/>
              </a:buClr>
              <a:buFont typeface="Wingdings" charset="2"/>
              <a:buChar char=""/>
              <a:tabLst>
                <a:tab algn="l" pos="0"/>
              </a:tabLst>
            </a:pPr>
            <a:r>
              <a:rPr b="0" lang="fr-FR" sz="2000" spc="-1" strike="noStrike">
                <a:solidFill>
                  <a:srgbClr val="205aa7"/>
                </a:solidFill>
                <a:latin typeface="Calibri"/>
              </a:rPr>
              <a:t>l’analyse des documents comptables sociaux et consolidés;</a:t>
            </a:r>
            <a:endParaRPr b="0" lang="fr-FR" sz="2000" spc="-1" strike="noStrike">
              <a:solidFill>
                <a:srgbClr val="205aa7"/>
              </a:solidFill>
              <a:latin typeface="Calibri"/>
            </a:endParaRPr>
          </a:p>
          <a:p>
            <a:pPr marL="252000" indent="-251640" algn="just">
              <a:lnSpc>
                <a:spcPct val="100000"/>
              </a:lnSpc>
              <a:spcBef>
                <a:spcPts val="400"/>
              </a:spcBef>
              <a:buClr>
                <a:srgbClr val="205aa7"/>
              </a:buClr>
              <a:buFont typeface="Wingdings" charset="2"/>
              <a:buChar char=""/>
              <a:tabLst>
                <a:tab algn="l" pos="0"/>
              </a:tabLst>
            </a:pPr>
            <a:r>
              <a:rPr b="0" lang="fr-FR" sz="2000" spc="-1" strike="noStrike">
                <a:solidFill>
                  <a:srgbClr val="205aa7"/>
                </a:solidFill>
                <a:latin typeface="Calibri"/>
              </a:rPr>
              <a:t>l’examen des engagements financiers et d’éventuels incidents de paiement.</a:t>
            </a:r>
            <a:endParaRPr b="0" lang="fr-FR" sz="2000" spc="-1" strike="noStrike">
              <a:solidFill>
                <a:srgbClr val="205aa7"/>
              </a:solidFill>
              <a:latin typeface="Calibri"/>
            </a:endParaRPr>
          </a:p>
          <a:p>
            <a:pPr marL="252000" indent="-251640" algn="just">
              <a:lnSpc>
                <a:spcPct val="100000"/>
              </a:lnSpc>
              <a:spcBef>
                <a:spcPts val="400"/>
              </a:spcBef>
              <a:buClr>
                <a:srgbClr val="205aa7"/>
              </a:buClr>
              <a:buFont typeface="Wingdings" charset="2"/>
              <a:buChar char=""/>
              <a:tabLst>
                <a:tab algn="l" pos="0"/>
              </a:tabLst>
            </a:pPr>
            <a:r>
              <a:rPr b="0" lang="fr-FR" sz="2000" spc="-1" strike="noStrike">
                <a:solidFill>
                  <a:srgbClr val="205aa7"/>
                </a:solidFill>
                <a:latin typeface="Calibri"/>
              </a:rPr>
              <a:t>l’environnement de l’entreprise : secteur d’activité, liens économiques et financiers avec d’autres entités, le cas échéant les événements judiciaires ou autres événements concernant l’entreprise et ses dirigeants, communiqués par les greffes de tribunaux de commerce ou les publications légales.</a:t>
            </a:r>
            <a:endParaRPr b="0" lang="fr-FR" sz="2000" spc="-1" strike="noStrike">
              <a:solidFill>
                <a:srgbClr val="205aa7"/>
              </a:solidFill>
              <a:latin typeface="Calibri"/>
            </a:endParaRPr>
          </a:p>
          <a:p>
            <a:pPr marL="252000" indent="-251640" algn="just">
              <a:lnSpc>
                <a:spcPct val="100000"/>
              </a:lnSpc>
              <a:spcBef>
                <a:spcPts val="400"/>
              </a:spcBef>
              <a:buClr>
                <a:srgbClr val="205aa7"/>
              </a:buClr>
              <a:buFont typeface="Wingdings" charset="2"/>
              <a:buChar char=""/>
              <a:tabLst>
                <a:tab algn="l" pos="0"/>
              </a:tabLst>
            </a:pPr>
            <a:r>
              <a:rPr b="0" lang="fr-FR" sz="2000" spc="-1" strike="noStrike">
                <a:solidFill>
                  <a:srgbClr val="205aa7"/>
                </a:solidFill>
                <a:latin typeface="Calibri"/>
              </a:rPr>
              <a:t>Des éléments «qualitatifs», tels que, l’évolution du marché sur lequel elle opère, son positionnement sur ce marché, les relations avec ses clients et fournisseurs, la solidité de l’actionnariat, la stratégie de l’équipe dirigeante, les perspectives et projets à moyen terme, la flexibilité financière de l’entreprise, la transparence de la communication...</a:t>
            </a:r>
            <a:endParaRPr b="0" lang="fr-FR" sz="2000" spc="-1" strike="noStrike">
              <a:solidFill>
                <a:srgbClr val="205aa7"/>
              </a:solidFill>
              <a:latin typeface="Calibri"/>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1" name="TextShape 1"/>
          <p:cNvSpPr txBox="1"/>
          <p:nvPr/>
        </p:nvSpPr>
        <p:spPr>
          <a:xfrm>
            <a:off x="468000" y="0"/>
            <a:ext cx="8229240" cy="1142640"/>
          </a:xfrm>
          <a:prstGeom prst="rect">
            <a:avLst/>
          </a:prstGeom>
          <a:noFill/>
          <a:ln>
            <a:noFill/>
          </a:ln>
        </p:spPr>
        <p:txBody>
          <a:bodyPr anchor="ctr">
            <a:noAutofit/>
          </a:bodyPr>
          <a:p>
            <a:pPr>
              <a:lnSpc>
                <a:spcPct val="100000"/>
              </a:lnSpc>
            </a:pPr>
            <a:r>
              <a:rPr b="1" lang="en-US" sz="2400" spc="-1" strike="noStrike" cap="all">
                <a:solidFill>
                  <a:srgbClr val="ffffff"/>
                </a:solidFill>
                <a:latin typeface="Calibri"/>
              </a:rPr>
              <a:t>2</a:t>
            </a:r>
            <a:r>
              <a:rPr b="1" lang="fr-FR" sz="2400" spc="-1" strike="noStrike" cap="all">
                <a:solidFill>
                  <a:srgbClr val="ffffff"/>
                </a:solidFill>
                <a:latin typeface="Calibri"/>
              </a:rPr>
              <a:t>. Présentation de La cotation banque de France</a:t>
            </a:r>
            <a:endParaRPr b="0" lang="fr-FR" sz="2400" spc="-1" strike="noStrike">
              <a:solidFill>
                <a:srgbClr val="000000"/>
              </a:solidFill>
              <a:latin typeface="Calibri"/>
            </a:endParaRPr>
          </a:p>
        </p:txBody>
      </p:sp>
      <p:sp>
        <p:nvSpPr>
          <p:cNvPr id="262" name="TextShape 2"/>
          <p:cNvSpPr txBox="1"/>
          <p:nvPr/>
        </p:nvSpPr>
        <p:spPr>
          <a:xfrm>
            <a:off x="3124080" y="6480000"/>
            <a:ext cx="4975920" cy="359640"/>
          </a:xfrm>
          <a:prstGeom prst="rect">
            <a:avLst/>
          </a:prstGeom>
          <a:noFill/>
          <a:ln>
            <a:noFill/>
          </a:ln>
        </p:spPr>
        <p:txBody>
          <a:bodyPr>
            <a:noAutofit/>
          </a:bodyPr>
          <a:p>
            <a:endParaRPr b="0" lang="fr-FR" sz="2400" spc="-1" strike="noStrike">
              <a:latin typeface="Times New Roman"/>
            </a:endParaRPr>
          </a:p>
        </p:txBody>
      </p:sp>
      <p:sp>
        <p:nvSpPr>
          <p:cNvPr id="263" name="TextShape 3"/>
          <p:cNvSpPr txBox="1"/>
          <p:nvPr/>
        </p:nvSpPr>
        <p:spPr>
          <a:xfrm>
            <a:off x="8172360" y="6480000"/>
            <a:ext cx="539640" cy="359640"/>
          </a:xfrm>
          <a:prstGeom prst="rect">
            <a:avLst/>
          </a:prstGeom>
          <a:noFill/>
          <a:ln>
            <a:noFill/>
          </a:ln>
        </p:spPr>
        <p:txBody>
          <a:bodyPr lIns="90000" rIns="90000" tIns="45000" bIns="45000">
            <a:noAutofit/>
          </a:bodyPr>
          <a:p>
            <a:pPr algn="r">
              <a:lnSpc>
                <a:spcPct val="100000"/>
              </a:lnSpc>
            </a:pPr>
            <a:fld id="{D02A544B-8515-45FB-811B-E22025421411}" type="slidenum">
              <a:rPr b="0" lang="fr-FR" sz="900" spc="-1" strike="noStrike">
                <a:solidFill>
                  <a:srgbClr val="205aa7"/>
                </a:solidFill>
                <a:latin typeface="Calibri"/>
              </a:rPr>
              <a:t>&lt;number&gt;</a:t>
            </a:fld>
            <a:endParaRPr b="0" lang="fr-FR" sz="900" spc="-1" strike="noStrike">
              <a:latin typeface="Times New Roman"/>
            </a:endParaRPr>
          </a:p>
        </p:txBody>
      </p:sp>
      <p:sp>
        <p:nvSpPr>
          <p:cNvPr id="264" name="TextShape 4"/>
          <p:cNvSpPr txBox="1"/>
          <p:nvPr/>
        </p:nvSpPr>
        <p:spPr>
          <a:xfrm>
            <a:off x="468000" y="1440000"/>
            <a:ext cx="8229240" cy="4525560"/>
          </a:xfrm>
          <a:prstGeom prst="rect">
            <a:avLst/>
          </a:prstGeom>
          <a:noFill/>
          <a:ln>
            <a:noFill/>
          </a:ln>
        </p:spPr>
        <p:txBody>
          <a:bodyPr>
            <a:noAutofit/>
          </a:bodyPr>
          <a:p>
            <a:pPr algn="ctr">
              <a:lnSpc>
                <a:spcPct val="100000"/>
              </a:lnSpc>
              <a:spcBef>
                <a:spcPts val="400"/>
              </a:spcBef>
              <a:tabLst>
                <a:tab algn="l" pos="0"/>
              </a:tabLst>
            </a:pPr>
            <a:r>
              <a:rPr b="1" lang="fr-FR" sz="2000" spc="-1" strike="noStrike">
                <a:solidFill>
                  <a:srgbClr val="205aa7"/>
                </a:solidFill>
                <a:latin typeface="Calibri"/>
              </a:rPr>
              <a:t>Les sources d’informations pour la cotation :</a:t>
            </a:r>
            <a:endParaRPr b="0" lang="fr-FR" sz="2000" spc="-1" strike="noStrike">
              <a:solidFill>
                <a:srgbClr val="205aa7"/>
              </a:solidFill>
              <a:latin typeface="Calibri"/>
            </a:endParaRPr>
          </a:p>
          <a:p>
            <a:pPr algn="just">
              <a:lnSpc>
                <a:spcPct val="100000"/>
              </a:lnSpc>
              <a:spcBef>
                <a:spcPts val="201"/>
              </a:spcBef>
              <a:tabLst>
                <a:tab algn="l" pos="0"/>
              </a:tabLst>
            </a:pPr>
            <a:endParaRPr b="0" lang="fr-FR" sz="2000" spc="-1" strike="noStrike">
              <a:solidFill>
                <a:srgbClr val="205aa7"/>
              </a:solidFill>
              <a:latin typeface="Calibri"/>
            </a:endParaRPr>
          </a:p>
          <a:p>
            <a:pPr marL="252000" indent="-251640" algn="just">
              <a:lnSpc>
                <a:spcPct val="100000"/>
              </a:lnSpc>
              <a:spcBef>
                <a:spcPts val="400"/>
              </a:spcBef>
              <a:buClr>
                <a:srgbClr val="205aa7"/>
              </a:buClr>
              <a:buFont typeface="Wingdings" charset="2"/>
              <a:buChar char=""/>
              <a:tabLst>
                <a:tab algn="l" pos="0"/>
              </a:tabLst>
            </a:pPr>
            <a:r>
              <a:rPr b="0" lang="fr-FR" sz="2000" spc="-1" strike="noStrike">
                <a:solidFill>
                  <a:srgbClr val="205aa7"/>
                </a:solidFill>
                <a:latin typeface="Calibri"/>
              </a:rPr>
              <a:t>Les entreprises,</a:t>
            </a:r>
            <a:endParaRPr b="0" lang="fr-FR" sz="2000" spc="-1" strike="noStrike">
              <a:solidFill>
                <a:srgbClr val="205aa7"/>
              </a:solidFill>
              <a:latin typeface="Calibri"/>
            </a:endParaRPr>
          </a:p>
          <a:p>
            <a:pPr marL="252000" indent="-251640" algn="just">
              <a:lnSpc>
                <a:spcPct val="100000"/>
              </a:lnSpc>
              <a:spcBef>
                <a:spcPts val="400"/>
              </a:spcBef>
              <a:buClr>
                <a:srgbClr val="205aa7"/>
              </a:buClr>
              <a:buFont typeface="Wingdings" charset="2"/>
              <a:buChar char=""/>
              <a:tabLst>
                <a:tab algn="l" pos="0"/>
              </a:tabLst>
            </a:pPr>
            <a:r>
              <a:rPr b="0" lang="fr-FR" sz="2000" spc="-1" strike="noStrike">
                <a:solidFill>
                  <a:srgbClr val="205aa7"/>
                </a:solidFill>
                <a:latin typeface="Calibri"/>
              </a:rPr>
              <a:t>Les greffes des tribunaux de commerce, </a:t>
            </a:r>
            <a:endParaRPr b="0" lang="fr-FR" sz="2000" spc="-1" strike="noStrike">
              <a:solidFill>
                <a:srgbClr val="205aa7"/>
              </a:solidFill>
              <a:latin typeface="Calibri"/>
            </a:endParaRPr>
          </a:p>
          <a:p>
            <a:pPr marL="252000" indent="-251640" algn="just">
              <a:lnSpc>
                <a:spcPct val="100000"/>
              </a:lnSpc>
              <a:spcBef>
                <a:spcPts val="400"/>
              </a:spcBef>
              <a:buClr>
                <a:srgbClr val="205aa7"/>
              </a:buClr>
              <a:buFont typeface="Wingdings" charset="2"/>
              <a:buChar char=""/>
              <a:tabLst>
                <a:tab algn="l" pos="0"/>
              </a:tabLst>
            </a:pPr>
            <a:r>
              <a:rPr b="0" lang="fr-FR" sz="2000" spc="-1" strike="noStrike">
                <a:solidFill>
                  <a:srgbClr val="205aa7"/>
                </a:solidFill>
                <a:latin typeface="Calibri"/>
              </a:rPr>
              <a:t>Les banques,</a:t>
            </a:r>
            <a:endParaRPr b="0" lang="fr-FR" sz="2000" spc="-1" strike="noStrike">
              <a:solidFill>
                <a:srgbClr val="205aa7"/>
              </a:solidFill>
              <a:latin typeface="Calibri"/>
            </a:endParaRPr>
          </a:p>
          <a:p>
            <a:pPr marL="252000" indent="-251640" algn="just">
              <a:lnSpc>
                <a:spcPct val="100000"/>
              </a:lnSpc>
              <a:spcBef>
                <a:spcPts val="400"/>
              </a:spcBef>
              <a:buClr>
                <a:srgbClr val="205aa7"/>
              </a:buClr>
              <a:buFont typeface="Wingdings" charset="2"/>
              <a:buChar char=""/>
              <a:tabLst>
                <a:tab algn="l" pos="0"/>
              </a:tabLst>
            </a:pPr>
            <a:r>
              <a:rPr b="0" lang="fr-FR" sz="2000" spc="-1" strike="noStrike">
                <a:solidFill>
                  <a:srgbClr val="205aa7"/>
                </a:solidFill>
                <a:latin typeface="Calibri"/>
              </a:rPr>
              <a:t>Les acteurs du financement des entreprises,</a:t>
            </a:r>
            <a:endParaRPr b="0" lang="fr-FR" sz="2000" spc="-1" strike="noStrike">
              <a:solidFill>
                <a:srgbClr val="205aa7"/>
              </a:solidFill>
              <a:latin typeface="Calibri"/>
            </a:endParaRPr>
          </a:p>
          <a:p>
            <a:pPr marL="252000" indent="-251640" algn="just">
              <a:lnSpc>
                <a:spcPct val="100000"/>
              </a:lnSpc>
              <a:spcBef>
                <a:spcPts val="400"/>
              </a:spcBef>
              <a:buClr>
                <a:srgbClr val="205aa7"/>
              </a:buClr>
              <a:buFont typeface="Wingdings" charset="2"/>
              <a:buChar char=""/>
              <a:tabLst>
                <a:tab algn="l" pos="0"/>
              </a:tabLst>
            </a:pPr>
            <a:r>
              <a:rPr b="0" lang="fr-FR" sz="2000" spc="-1" strike="noStrike">
                <a:solidFill>
                  <a:srgbClr val="205aa7"/>
                </a:solidFill>
                <a:latin typeface="Calibri"/>
              </a:rPr>
              <a:t>L’Insee.</a:t>
            </a:r>
            <a:endParaRPr b="0" lang="fr-FR" sz="2000" spc="-1" strike="noStrike">
              <a:solidFill>
                <a:srgbClr val="205aa7"/>
              </a:solidFill>
              <a:latin typeface="Calibri"/>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5" name="TextShape 1"/>
          <p:cNvSpPr txBox="1"/>
          <p:nvPr/>
        </p:nvSpPr>
        <p:spPr>
          <a:xfrm>
            <a:off x="468000" y="0"/>
            <a:ext cx="8229240" cy="1142640"/>
          </a:xfrm>
          <a:prstGeom prst="rect">
            <a:avLst/>
          </a:prstGeom>
          <a:noFill/>
          <a:ln>
            <a:noFill/>
          </a:ln>
        </p:spPr>
        <p:txBody>
          <a:bodyPr anchor="ctr">
            <a:noAutofit/>
          </a:bodyPr>
          <a:p>
            <a:pPr>
              <a:lnSpc>
                <a:spcPct val="100000"/>
              </a:lnSpc>
            </a:pPr>
            <a:r>
              <a:rPr b="1" lang="en-US" sz="2400" spc="-1" strike="noStrike" cap="all">
                <a:solidFill>
                  <a:srgbClr val="ffffff"/>
                </a:solidFill>
                <a:latin typeface="Calibri"/>
              </a:rPr>
              <a:t>2</a:t>
            </a:r>
            <a:r>
              <a:rPr b="1" lang="fr-FR" sz="2400" spc="-1" strike="noStrike" cap="all">
                <a:solidFill>
                  <a:srgbClr val="ffffff"/>
                </a:solidFill>
                <a:latin typeface="Calibri"/>
              </a:rPr>
              <a:t>. Présentation de La cotation banque de France</a:t>
            </a:r>
            <a:endParaRPr b="0" lang="fr-FR" sz="2400" spc="-1" strike="noStrike">
              <a:solidFill>
                <a:srgbClr val="000000"/>
              </a:solidFill>
              <a:latin typeface="Calibri"/>
            </a:endParaRPr>
          </a:p>
        </p:txBody>
      </p:sp>
      <p:sp>
        <p:nvSpPr>
          <p:cNvPr id="266" name="TextShape 2"/>
          <p:cNvSpPr txBox="1"/>
          <p:nvPr/>
        </p:nvSpPr>
        <p:spPr>
          <a:xfrm>
            <a:off x="3124080" y="6480000"/>
            <a:ext cx="4975920" cy="359640"/>
          </a:xfrm>
          <a:prstGeom prst="rect">
            <a:avLst/>
          </a:prstGeom>
          <a:noFill/>
          <a:ln>
            <a:noFill/>
          </a:ln>
        </p:spPr>
        <p:txBody>
          <a:bodyPr>
            <a:noAutofit/>
          </a:bodyPr>
          <a:p>
            <a:endParaRPr b="0" lang="fr-FR" sz="2400" spc="-1" strike="noStrike">
              <a:latin typeface="Times New Roman"/>
            </a:endParaRPr>
          </a:p>
        </p:txBody>
      </p:sp>
      <p:sp>
        <p:nvSpPr>
          <p:cNvPr id="267" name="TextShape 3"/>
          <p:cNvSpPr txBox="1"/>
          <p:nvPr/>
        </p:nvSpPr>
        <p:spPr>
          <a:xfrm>
            <a:off x="8172360" y="6480000"/>
            <a:ext cx="539640" cy="359640"/>
          </a:xfrm>
          <a:prstGeom prst="rect">
            <a:avLst/>
          </a:prstGeom>
          <a:noFill/>
          <a:ln>
            <a:noFill/>
          </a:ln>
        </p:spPr>
        <p:txBody>
          <a:bodyPr lIns="90000" rIns="90000" tIns="45000" bIns="45000">
            <a:noAutofit/>
          </a:bodyPr>
          <a:p>
            <a:pPr algn="r">
              <a:lnSpc>
                <a:spcPct val="100000"/>
              </a:lnSpc>
            </a:pPr>
            <a:fld id="{8D4F766B-B3E6-4E5F-82B6-235BD9DD9A88}" type="slidenum">
              <a:rPr b="0" lang="fr-FR" sz="900" spc="-1" strike="noStrike">
                <a:solidFill>
                  <a:srgbClr val="205aa7"/>
                </a:solidFill>
                <a:latin typeface="Calibri"/>
              </a:rPr>
              <a:t>&lt;number&gt;</a:t>
            </a:fld>
            <a:endParaRPr b="0" lang="fr-FR" sz="900" spc="-1" strike="noStrike">
              <a:latin typeface="Times New Roman"/>
            </a:endParaRPr>
          </a:p>
        </p:txBody>
      </p:sp>
      <p:pic>
        <p:nvPicPr>
          <p:cNvPr id="268" name="Content Placeholder 5" descr=""/>
          <p:cNvPicPr/>
          <p:nvPr/>
        </p:nvPicPr>
        <p:blipFill>
          <a:blip r:embed="rId1"/>
          <a:stretch/>
        </p:blipFill>
        <p:spPr>
          <a:xfrm>
            <a:off x="468360" y="1856520"/>
            <a:ext cx="8229240" cy="3692520"/>
          </a:xfrm>
          <a:prstGeom prst="rect">
            <a:avLst/>
          </a:prstGeom>
          <a:ln>
            <a:noFill/>
          </a:ln>
        </p:spPr>
      </p:pic>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9" name="TextShape 1"/>
          <p:cNvSpPr txBox="1"/>
          <p:nvPr/>
        </p:nvSpPr>
        <p:spPr>
          <a:xfrm>
            <a:off x="468000" y="0"/>
            <a:ext cx="8229240" cy="1142640"/>
          </a:xfrm>
          <a:prstGeom prst="rect">
            <a:avLst/>
          </a:prstGeom>
          <a:noFill/>
          <a:ln>
            <a:noFill/>
          </a:ln>
        </p:spPr>
        <p:txBody>
          <a:bodyPr anchor="ctr">
            <a:noAutofit/>
          </a:bodyPr>
          <a:p>
            <a:pPr>
              <a:lnSpc>
                <a:spcPct val="100000"/>
              </a:lnSpc>
            </a:pPr>
            <a:r>
              <a:rPr b="1" lang="en-US" sz="2400" spc="-1" strike="noStrike" cap="all">
                <a:solidFill>
                  <a:srgbClr val="ffffff"/>
                </a:solidFill>
                <a:latin typeface="Calibri"/>
              </a:rPr>
              <a:t>2</a:t>
            </a:r>
            <a:r>
              <a:rPr b="1" lang="fr-FR" sz="2400" spc="-1" strike="noStrike" cap="all">
                <a:solidFill>
                  <a:srgbClr val="ffffff"/>
                </a:solidFill>
                <a:latin typeface="Calibri"/>
              </a:rPr>
              <a:t>. Présentation de La cotation banque de France</a:t>
            </a:r>
            <a:endParaRPr b="0" lang="fr-FR" sz="2400" spc="-1" strike="noStrike">
              <a:solidFill>
                <a:srgbClr val="000000"/>
              </a:solidFill>
              <a:latin typeface="Calibri"/>
            </a:endParaRPr>
          </a:p>
        </p:txBody>
      </p:sp>
      <p:sp>
        <p:nvSpPr>
          <p:cNvPr id="270" name="TextShape 2"/>
          <p:cNvSpPr txBox="1"/>
          <p:nvPr/>
        </p:nvSpPr>
        <p:spPr>
          <a:xfrm>
            <a:off x="3124080" y="6480000"/>
            <a:ext cx="4975920" cy="359640"/>
          </a:xfrm>
          <a:prstGeom prst="rect">
            <a:avLst/>
          </a:prstGeom>
          <a:noFill/>
          <a:ln>
            <a:noFill/>
          </a:ln>
        </p:spPr>
        <p:txBody>
          <a:bodyPr>
            <a:noAutofit/>
          </a:bodyPr>
          <a:p>
            <a:endParaRPr b="0" lang="fr-FR" sz="2400" spc="-1" strike="noStrike">
              <a:latin typeface="Times New Roman"/>
            </a:endParaRPr>
          </a:p>
        </p:txBody>
      </p:sp>
      <p:sp>
        <p:nvSpPr>
          <p:cNvPr id="271" name="TextShape 3"/>
          <p:cNvSpPr txBox="1"/>
          <p:nvPr/>
        </p:nvSpPr>
        <p:spPr>
          <a:xfrm>
            <a:off x="8172360" y="6480000"/>
            <a:ext cx="539640" cy="359640"/>
          </a:xfrm>
          <a:prstGeom prst="rect">
            <a:avLst/>
          </a:prstGeom>
          <a:noFill/>
          <a:ln>
            <a:noFill/>
          </a:ln>
        </p:spPr>
        <p:txBody>
          <a:bodyPr lIns="90000" rIns="90000" tIns="45000" bIns="45000">
            <a:noAutofit/>
          </a:bodyPr>
          <a:p>
            <a:pPr algn="r">
              <a:lnSpc>
                <a:spcPct val="100000"/>
              </a:lnSpc>
            </a:pPr>
            <a:fld id="{297A4BCA-1F8C-44DD-95C3-01977F569B12}" type="slidenum">
              <a:rPr b="0" lang="fr-FR" sz="900" spc="-1" strike="noStrike">
                <a:solidFill>
                  <a:srgbClr val="205aa7"/>
                </a:solidFill>
                <a:latin typeface="Calibri"/>
              </a:rPr>
              <a:t>&lt;number&gt;</a:t>
            </a:fld>
            <a:endParaRPr b="0" lang="fr-FR" sz="900" spc="-1" strike="noStrike">
              <a:latin typeface="Times New Roman"/>
            </a:endParaRPr>
          </a:p>
        </p:txBody>
      </p:sp>
      <p:sp>
        <p:nvSpPr>
          <p:cNvPr id="272" name="TextShape 4"/>
          <p:cNvSpPr txBox="1"/>
          <p:nvPr/>
        </p:nvSpPr>
        <p:spPr>
          <a:xfrm>
            <a:off x="468000" y="1440000"/>
            <a:ext cx="8229240" cy="4525560"/>
          </a:xfrm>
          <a:prstGeom prst="rect">
            <a:avLst/>
          </a:prstGeom>
          <a:noFill/>
          <a:ln>
            <a:noFill/>
          </a:ln>
        </p:spPr>
        <p:txBody>
          <a:bodyPr>
            <a:noAutofit/>
          </a:bodyPr>
          <a:p>
            <a:endParaRPr b="0" lang="fr-FR" sz="2600" spc="-1" strike="noStrike">
              <a:solidFill>
                <a:srgbClr val="205aa7"/>
              </a:solidFill>
              <a:latin typeface="Calibri"/>
            </a:endParaRPr>
          </a:p>
        </p:txBody>
      </p:sp>
      <p:pic>
        <p:nvPicPr>
          <p:cNvPr id="273" name="Image 7" descr=""/>
          <p:cNvPicPr/>
          <p:nvPr/>
        </p:nvPicPr>
        <p:blipFill>
          <a:blip r:embed="rId1"/>
          <a:stretch/>
        </p:blipFill>
        <p:spPr>
          <a:xfrm>
            <a:off x="468000" y="1440000"/>
            <a:ext cx="8229240" cy="4526640"/>
          </a:xfrm>
          <a:prstGeom prst="rect">
            <a:avLst/>
          </a:prstGeom>
          <a:ln>
            <a:noFill/>
          </a:ln>
        </p:spPr>
      </p:pic>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4" name="TextShape 1"/>
          <p:cNvSpPr txBox="1"/>
          <p:nvPr/>
        </p:nvSpPr>
        <p:spPr>
          <a:xfrm>
            <a:off x="468000" y="0"/>
            <a:ext cx="8229240" cy="1142640"/>
          </a:xfrm>
          <a:prstGeom prst="rect">
            <a:avLst/>
          </a:prstGeom>
          <a:noFill/>
          <a:ln>
            <a:noFill/>
          </a:ln>
        </p:spPr>
        <p:txBody>
          <a:bodyPr anchor="ctr">
            <a:noAutofit/>
          </a:bodyPr>
          <a:p>
            <a:pPr>
              <a:lnSpc>
                <a:spcPct val="100000"/>
              </a:lnSpc>
            </a:pPr>
            <a:r>
              <a:rPr b="1" lang="en-US" sz="2400" spc="-1" strike="noStrike" cap="all">
                <a:solidFill>
                  <a:srgbClr val="ffffff"/>
                </a:solidFill>
                <a:latin typeface="Calibri"/>
              </a:rPr>
              <a:t>2</a:t>
            </a:r>
            <a:r>
              <a:rPr b="1" lang="fr-FR" sz="2400" spc="-1" strike="noStrike" cap="all">
                <a:solidFill>
                  <a:srgbClr val="ffffff"/>
                </a:solidFill>
                <a:latin typeface="Calibri"/>
              </a:rPr>
              <a:t>. Présentation de La cotation banque de France</a:t>
            </a:r>
            <a:endParaRPr b="0" lang="fr-FR" sz="2400" spc="-1" strike="noStrike">
              <a:solidFill>
                <a:srgbClr val="000000"/>
              </a:solidFill>
              <a:latin typeface="Calibri"/>
            </a:endParaRPr>
          </a:p>
        </p:txBody>
      </p:sp>
      <p:sp>
        <p:nvSpPr>
          <p:cNvPr id="275" name="TextShape 2"/>
          <p:cNvSpPr txBox="1"/>
          <p:nvPr/>
        </p:nvSpPr>
        <p:spPr>
          <a:xfrm>
            <a:off x="3124080" y="6480000"/>
            <a:ext cx="4975920" cy="359640"/>
          </a:xfrm>
          <a:prstGeom prst="rect">
            <a:avLst/>
          </a:prstGeom>
          <a:noFill/>
          <a:ln>
            <a:noFill/>
          </a:ln>
        </p:spPr>
        <p:txBody>
          <a:bodyPr>
            <a:noAutofit/>
          </a:bodyPr>
          <a:p>
            <a:endParaRPr b="0" lang="fr-FR" sz="2400" spc="-1" strike="noStrike">
              <a:latin typeface="Times New Roman"/>
            </a:endParaRPr>
          </a:p>
        </p:txBody>
      </p:sp>
      <p:sp>
        <p:nvSpPr>
          <p:cNvPr id="276" name="TextShape 3"/>
          <p:cNvSpPr txBox="1"/>
          <p:nvPr/>
        </p:nvSpPr>
        <p:spPr>
          <a:xfrm>
            <a:off x="8172360" y="6480000"/>
            <a:ext cx="539640" cy="359640"/>
          </a:xfrm>
          <a:prstGeom prst="rect">
            <a:avLst/>
          </a:prstGeom>
          <a:noFill/>
          <a:ln>
            <a:noFill/>
          </a:ln>
        </p:spPr>
        <p:txBody>
          <a:bodyPr lIns="90000" rIns="90000" tIns="45000" bIns="45000">
            <a:noAutofit/>
          </a:bodyPr>
          <a:p>
            <a:pPr algn="r">
              <a:lnSpc>
                <a:spcPct val="100000"/>
              </a:lnSpc>
            </a:pPr>
            <a:fld id="{D0A0E31B-1AD8-4870-992C-6BE5CEBEA38E}" type="slidenum">
              <a:rPr b="0" lang="fr-FR" sz="900" spc="-1" strike="noStrike">
                <a:solidFill>
                  <a:srgbClr val="205aa7"/>
                </a:solidFill>
                <a:latin typeface="Calibri"/>
              </a:rPr>
              <a:t>&lt;number&gt;</a:t>
            </a:fld>
            <a:endParaRPr b="0" lang="fr-FR" sz="900" spc="-1" strike="noStrike">
              <a:latin typeface="Times New Roman"/>
            </a:endParaRPr>
          </a:p>
        </p:txBody>
      </p:sp>
      <p:sp>
        <p:nvSpPr>
          <p:cNvPr id="277" name="TextShape 4"/>
          <p:cNvSpPr txBox="1"/>
          <p:nvPr/>
        </p:nvSpPr>
        <p:spPr>
          <a:xfrm>
            <a:off x="468000" y="1440000"/>
            <a:ext cx="8229240" cy="4525560"/>
          </a:xfrm>
          <a:prstGeom prst="rect">
            <a:avLst/>
          </a:prstGeom>
          <a:noFill/>
          <a:ln>
            <a:noFill/>
          </a:ln>
        </p:spPr>
        <p:txBody>
          <a:bodyPr>
            <a:normAutofit fontScale="97000"/>
          </a:bodyPr>
          <a:p>
            <a:pPr algn="ctr">
              <a:lnSpc>
                <a:spcPct val="100000"/>
              </a:lnSpc>
              <a:spcBef>
                <a:spcPts val="400"/>
              </a:spcBef>
              <a:tabLst>
                <a:tab algn="l" pos="0"/>
              </a:tabLst>
            </a:pPr>
            <a:r>
              <a:rPr b="1" lang="fr-FR" sz="2000" spc="-1" strike="noStrike">
                <a:solidFill>
                  <a:srgbClr val="205aa7"/>
                </a:solidFill>
                <a:latin typeface="Calibri"/>
              </a:rPr>
              <a:t>L’indicateur dirigeant :</a:t>
            </a:r>
            <a:endParaRPr b="0" lang="fr-FR" sz="2000" spc="-1" strike="noStrike">
              <a:solidFill>
                <a:srgbClr val="205aa7"/>
              </a:solidFill>
              <a:latin typeface="Calibri"/>
            </a:endParaRPr>
          </a:p>
          <a:p>
            <a:pPr algn="just">
              <a:lnSpc>
                <a:spcPct val="100000"/>
              </a:lnSpc>
              <a:spcBef>
                <a:spcPts val="201"/>
              </a:spcBef>
              <a:tabLst>
                <a:tab algn="l" pos="0"/>
              </a:tabLst>
            </a:pPr>
            <a:endParaRPr b="0" lang="fr-FR" sz="2000" spc="-1" strike="noStrike">
              <a:solidFill>
                <a:srgbClr val="205aa7"/>
              </a:solidFill>
              <a:latin typeface="Calibri"/>
            </a:endParaRPr>
          </a:p>
          <a:p>
            <a:pPr marL="252000" indent="-251640" algn="just">
              <a:lnSpc>
                <a:spcPct val="100000"/>
              </a:lnSpc>
              <a:spcBef>
                <a:spcPts val="400"/>
              </a:spcBef>
              <a:buClr>
                <a:srgbClr val="205aa7"/>
              </a:buClr>
              <a:buFont typeface="Wingdings" charset="2"/>
              <a:buChar char=""/>
              <a:tabLst>
                <a:tab algn="l" pos="0"/>
              </a:tabLst>
            </a:pPr>
            <a:r>
              <a:rPr b="0" lang="fr-FR" sz="2000" spc="-1" strike="noStrike">
                <a:solidFill>
                  <a:srgbClr val="205aa7"/>
                </a:solidFill>
                <a:latin typeface="Calibri"/>
              </a:rPr>
              <a:t>L’indicateur dirigeant de la Banque de France est attribué aux personnes physiques qui exercent, ou ont exercé, une fonction de dirigeant d’entreprise : soit au titre de représentant légal d’une personne morale, soit en qualité d’entrepreneur individuel ou en tant qu’associé d’une personne morale.</a:t>
            </a:r>
            <a:endParaRPr b="0" lang="fr-FR" sz="2000" spc="-1" strike="noStrike">
              <a:solidFill>
                <a:srgbClr val="205aa7"/>
              </a:solidFill>
              <a:latin typeface="Calibri"/>
            </a:endParaRPr>
          </a:p>
          <a:p>
            <a:pPr marL="252000" indent="-251640" algn="just">
              <a:lnSpc>
                <a:spcPct val="100000"/>
              </a:lnSpc>
              <a:spcBef>
                <a:spcPts val="400"/>
              </a:spcBef>
              <a:buClr>
                <a:srgbClr val="205aa7"/>
              </a:buClr>
              <a:buFont typeface="Wingdings" charset="2"/>
              <a:buChar char=""/>
              <a:tabLst>
                <a:tab algn="l" pos="0"/>
              </a:tabLst>
            </a:pPr>
            <a:r>
              <a:rPr b="0" lang="fr-FR" sz="2000" spc="-1" strike="noStrike">
                <a:solidFill>
                  <a:srgbClr val="205aa7"/>
                </a:solidFill>
                <a:latin typeface="Calibri"/>
              </a:rPr>
              <a:t>L’indicateur dirigeant est constitué uniquement à partir de données publiques librement accessibles auprès des greffes des tribunaux de commerce.</a:t>
            </a:r>
            <a:endParaRPr b="0" lang="fr-FR" sz="2000" spc="-1" strike="noStrike">
              <a:solidFill>
                <a:srgbClr val="205aa7"/>
              </a:solidFill>
              <a:latin typeface="Calibri"/>
            </a:endParaRPr>
          </a:p>
          <a:p>
            <a:pPr marL="252000" indent="-251640" algn="just">
              <a:lnSpc>
                <a:spcPct val="100000"/>
              </a:lnSpc>
              <a:spcBef>
                <a:spcPts val="400"/>
              </a:spcBef>
              <a:buClr>
                <a:srgbClr val="205aa7"/>
              </a:buClr>
              <a:buFont typeface="Wingdings" charset="2"/>
              <a:buChar char=""/>
              <a:tabLst>
                <a:tab algn="l" pos="0"/>
              </a:tabLst>
            </a:pPr>
            <a:r>
              <a:rPr b="0" lang="fr-FR" sz="2000" spc="-1" strike="noStrike">
                <a:solidFill>
                  <a:srgbClr val="205aa7"/>
                </a:solidFill>
                <a:latin typeface="Calibri"/>
              </a:rPr>
              <a:t>L’indicateur dirigeant appelle l’attention des adhérents FIBEN sur des informations recueillies auprès de sources officielles. Il est dénué de tout jugement de valeur sur les capacités de gestionnaire du dirigeant.</a:t>
            </a:r>
            <a:endParaRPr b="0" lang="fr-FR" sz="2000" spc="-1" strike="noStrike">
              <a:solidFill>
                <a:srgbClr val="205aa7"/>
              </a:solidFill>
              <a:latin typeface="Calibri"/>
            </a:endParaRPr>
          </a:p>
          <a:p>
            <a:pPr algn="just">
              <a:lnSpc>
                <a:spcPct val="100000"/>
              </a:lnSpc>
              <a:spcBef>
                <a:spcPts val="400"/>
              </a:spcBef>
              <a:tabLst>
                <a:tab algn="l" pos="0"/>
              </a:tabLst>
            </a:pPr>
            <a:endParaRPr b="0" lang="fr-FR" sz="2000" spc="-1" strike="noStrike">
              <a:solidFill>
                <a:srgbClr val="205aa7"/>
              </a:solidFill>
              <a:latin typeface="Calibri"/>
            </a:endParaRPr>
          </a:p>
          <a:p>
            <a:pPr algn="just">
              <a:lnSpc>
                <a:spcPct val="100000"/>
              </a:lnSpc>
              <a:spcBef>
                <a:spcPts val="400"/>
              </a:spcBef>
              <a:tabLst>
                <a:tab algn="l" pos="0"/>
              </a:tabLst>
            </a:pPr>
            <a:endParaRPr b="0" lang="fr-FR" sz="2000" spc="-1" strike="noStrike">
              <a:solidFill>
                <a:srgbClr val="205aa7"/>
              </a:solidFill>
              <a:latin typeface="Calibri"/>
            </a:endParaRPr>
          </a:p>
          <a:p>
            <a:pPr algn="just">
              <a:lnSpc>
                <a:spcPct val="100000"/>
              </a:lnSpc>
              <a:spcBef>
                <a:spcPts val="400"/>
              </a:spcBef>
              <a:tabLst>
                <a:tab algn="l" pos="0"/>
              </a:tabLst>
            </a:pPr>
            <a:endParaRPr b="0" lang="fr-FR" sz="2000" spc="-1" strike="noStrike">
              <a:solidFill>
                <a:srgbClr val="205aa7"/>
              </a:solidFill>
              <a:latin typeface="Calibri"/>
            </a:endParaRPr>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8" name="TextShape 1"/>
          <p:cNvSpPr txBox="1"/>
          <p:nvPr/>
        </p:nvSpPr>
        <p:spPr>
          <a:xfrm>
            <a:off x="468000" y="0"/>
            <a:ext cx="8229240" cy="1142640"/>
          </a:xfrm>
          <a:prstGeom prst="rect">
            <a:avLst/>
          </a:prstGeom>
          <a:noFill/>
          <a:ln>
            <a:noFill/>
          </a:ln>
        </p:spPr>
        <p:txBody>
          <a:bodyPr anchor="ctr">
            <a:noAutofit/>
          </a:bodyPr>
          <a:p>
            <a:pPr>
              <a:lnSpc>
                <a:spcPct val="100000"/>
              </a:lnSpc>
            </a:pPr>
            <a:r>
              <a:rPr b="1" lang="en-US" sz="2400" spc="-1" strike="noStrike" cap="all">
                <a:solidFill>
                  <a:srgbClr val="ffffff"/>
                </a:solidFill>
                <a:latin typeface="Calibri"/>
              </a:rPr>
              <a:t>2</a:t>
            </a:r>
            <a:r>
              <a:rPr b="1" lang="fr-FR" sz="2400" spc="-1" strike="noStrike" cap="all">
                <a:solidFill>
                  <a:srgbClr val="ffffff"/>
                </a:solidFill>
                <a:latin typeface="Calibri"/>
              </a:rPr>
              <a:t>. Présentation de La cotation banque de France</a:t>
            </a:r>
            <a:endParaRPr b="0" lang="fr-FR" sz="2400" spc="-1" strike="noStrike">
              <a:solidFill>
                <a:srgbClr val="000000"/>
              </a:solidFill>
              <a:latin typeface="Calibri"/>
            </a:endParaRPr>
          </a:p>
        </p:txBody>
      </p:sp>
      <p:sp>
        <p:nvSpPr>
          <p:cNvPr id="279" name="TextShape 2"/>
          <p:cNvSpPr txBox="1"/>
          <p:nvPr/>
        </p:nvSpPr>
        <p:spPr>
          <a:xfrm>
            <a:off x="3124080" y="6480000"/>
            <a:ext cx="4975920" cy="359640"/>
          </a:xfrm>
          <a:prstGeom prst="rect">
            <a:avLst/>
          </a:prstGeom>
          <a:noFill/>
          <a:ln>
            <a:noFill/>
          </a:ln>
        </p:spPr>
        <p:txBody>
          <a:bodyPr>
            <a:noAutofit/>
          </a:bodyPr>
          <a:p>
            <a:endParaRPr b="0" lang="fr-FR" sz="2400" spc="-1" strike="noStrike">
              <a:latin typeface="Times New Roman"/>
            </a:endParaRPr>
          </a:p>
        </p:txBody>
      </p:sp>
      <p:sp>
        <p:nvSpPr>
          <p:cNvPr id="280" name="TextShape 3"/>
          <p:cNvSpPr txBox="1"/>
          <p:nvPr/>
        </p:nvSpPr>
        <p:spPr>
          <a:xfrm>
            <a:off x="8172360" y="6480000"/>
            <a:ext cx="539640" cy="359640"/>
          </a:xfrm>
          <a:prstGeom prst="rect">
            <a:avLst/>
          </a:prstGeom>
          <a:noFill/>
          <a:ln>
            <a:noFill/>
          </a:ln>
        </p:spPr>
        <p:txBody>
          <a:bodyPr lIns="90000" rIns="90000" tIns="45000" bIns="45000">
            <a:noAutofit/>
          </a:bodyPr>
          <a:p>
            <a:pPr algn="r">
              <a:lnSpc>
                <a:spcPct val="100000"/>
              </a:lnSpc>
            </a:pPr>
            <a:fld id="{EE8CA8F6-3285-4621-85EF-992FFB3724F0}" type="slidenum">
              <a:rPr b="0" lang="fr-FR" sz="900" spc="-1" strike="noStrike">
                <a:solidFill>
                  <a:srgbClr val="205aa7"/>
                </a:solidFill>
                <a:latin typeface="Calibri"/>
              </a:rPr>
              <a:t>&lt;number&gt;</a:t>
            </a:fld>
            <a:endParaRPr b="0" lang="fr-FR" sz="900" spc="-1" strike="noStrike">
              <a:latin typeface="Times New Roman"/>
            </a:endParaRPr>
          </a:p>
        </p:txBody>
      </p:sp>
      <p:sp>
        <p:nvSpPr>
          <p:cNvPr id="281" name="TextShape 4"/>
          <p:cNvSpPr txBox="1"/>
          <p:nvPr/>
        </p:nvSpPr>
        <p:spPr>
          <a:xfrm>
            <a:off x="468000" y="1440000"/>
            <a:ext cx="8229240" cy="4525560"/>
          </a:xfrm>
          <a:prstGeom prst="rect">
            <a:avLst/>
          </a:prstGeom>
          <a:noFill/>
          <a:ln>
            <a:noFill/>
          </a:ln>
        </p:spPr>
        <p:txBody>
          <a:bodyPr>
            <a:normAutofit/>
          </a:bodyPr>
          <a:p>
            <a:pPr algn="ctr">
              <a:lnSpc>
                <a:spcPct val="100000"/>
              </a:lnSpc>
              <a:spcBef>
                <a:spcPts val="400"/>
              </a:spcBef>
              <a:tabLst>
                <a:tab algn="l" pos="0"/>
              </a:tabLst>
            </a:pPr>
            <a:r>
              <a:rPr b="1" lang="fr-FR" sz="2000" spc="-1" strike="noStrike">
                <a:solidFill>
                  <a:srgbClr val="205aa7"/>
                </a:solidFill>
                <a:latin typeface="Calibri"/>
              </a:rPr>
              <a:t>L’indicateur dirigeant : deux valeurs possible</a:t>
            </a:r>
            <a:endParaRPr b="0" lang="fr-FR" sz="2000" spc="-1" strike="noStrike">
              <a:solidFill>
                <a:srgbClr val="205aa7"/>
              </a:solidFill>
              <a:latin typeface="Calibri"/>
            </a:endParaRPr>
          </a:p>
          <a:p>
            <a:pPr algn="just">
              <a:lnSpc>
                <a:spcPct val="100000"/>
              </a:lnSpc>
              <a:spcBef>
                <a:spcPts val="201"/>
              </a:spcBef>
              <a:tabLst>
                <a:tab algn="l" pos="0"/>
              </a:tabLst>
            </a:pPr>
            <a:endParaRPr b="0" lang="fr-FR" sz="2000" spc="-1" strike="noStrike">
              <a:solidFill>
                <a:srgbClr val="205aa7"/>
              </a:solidFill>
              <a:latin typeface="Calibri"/>
            </a:endParaRPr>
          </a:p>
          <a:p>
            <a:pPr algn="just">
              <a:lnSpc>
                <a:spcPct val="100000"/>
              </a:lnSpc>
              <a:spcBef>
                <a:spcPts val="400"/>
              </a:spcBef>
              <a:tabLst>
                <a:tab algn="l" pos="0"/>
              </a:tabLst>
            </a:pPr>
            <a:endParaRPr b="0" lang="fr-FR" sz="2000" spc="-1" strike="noStrike">
              <a:solidFill>
                <a:srgbClr val="205aa7"/>
              </a:solidFill>
              <a:latin typeface="Calibri"/>
            </a:endParaRPr>
          </a:p>
          <a:p>
            <a:pPr algn="just">
              <a:lnSpc>
                <a:spcPct val="100000"/>
              </a:lnSpc>
              <a:spcBef>
                <a:spcPts val="400"/>
              </a:spcBef>
              <a:tabLst>
                <a:tab algn="l" pos="0"/>
              </a:tabLst>
            </a:pPr>
            <a:endParaRPr b="0" lang="fr-FR" sz="2000" spc="-1" strike="noStrike">
              <a:solidFill>
                <a:srgbClr val="205aa7"/>
              </a:solidFill>
              <a:latin typeface="Calibri"/>
            </a:endParaRPr>
          </a:p>
          <a:p>
            <a:pPr algn="just">
              <a:lnSpc>
                <a:spcPct val="100000"/>
              </a:lnSpc>
              <a:spcBef>
                <a:spcPts val="400"/>
              </a:spcBef>
              <a:tabLst>
                <a:tab algn="l" pos="0"/>
              </a:tabLst>
            </a:pPr>
            <a:endParaRPr b="0" lang="fr-FR" sz="2000" spc="-1" strike="noStrike">
              <a:solidFill>
                <a:srgbClr val="205aa7"/>
              </a:solidFill>
              <a:latin typeface="Calibri"/>
            </a:endParaRPr>
          </a:p>
        </p:txBody>
      </p:sp>
      <p:pic>
        <p:nvPicPr>
          <p:cNvPr id="282" name="Image 4" descr=""/>
          <p:cNvPicPr/>
          <p:nvPr/>
        </p:nvPicPr>
        <p:blipFill>
          <a:blip r:embed="rId1"/>
          <a:stretch/>
        </p:blipFill>
        <p:spPr>
          <a:xfrm>
            <a:off x="1979640" y="2113200"/>
            <a:ext cx="1854000" cy="748800"/>
          </a:xfrm>
          <a:prstGeom prst="rect">
            <a:avLst/>
          </a:prstGeom>
          <a:ln>
            <a:noFill/>
          </a:ln>
        </p:spPr>
      </p:pic>
      <p:pic>
        <p:nvPicPr>
          <p:cNvPr id="283" name="Image 5" descr=""/>
          <p:cNvPicPr/>
          <p:nvPr/>
        </p:nvPicPr>
        <p:blipFill>
          <a:blip r:embed="rId2"/>
          <a:stretch/>
        </p:blipFill>
        <p:spPr>
          <a:xfrm>
            <a:off x="5345640" y="2113200"/>
            <a:ext cx="2209320" cy="748800"/>
          </a:xfrm>
          <a:prstGeom prst="rect">
            <a:avLst/>
          </a:prstGeom>
          <a:ln>
            <a:noFill/>
          </a:ln>
        </p:spPr>
      </p:pic>
      <p:sp>
        <p:nvSpPr>
          <p:cNvPr id="284" name="CustomShape 5"/>
          <p:cNvSpPr/>
          <p:nvPr/>
        </p:nvSpPr>
        <p:spPr>
          <a:xfrm>
            <a:off x="4637520" y="2862360"/>
            <a:ext cx="4059720" cy="3748680"/>
          </a:xfrm>
          <a:prstGeom prst="rect">
            <a:avLst/>
          </a:prstGeom>
          <a:noFill/>
          <a:ln>
            <a:noFill/>
          </a:ln>
        </p:spPr>
        <p:style>
          <a:lnRef idx="0"/>
          <a:fillRef idx="0"/>
          <a:effectRef idx="0"/>
          <a:fontRef idx="minor"/>
        </p:style>
        <p:txBody>
          <a:bodyPr lIns="90000" rIns="90000" tIns="45000" bIns="45000">
            <a:spAutoFit/>
          </a:bodyPr>
          <a:p>
            <a:pPr algn="just">
              <a:lnSpc>
                <a:spcPct val="100000"/>
              </a:lnSpc>
            </a:pPr>
            <a:r>
              <a:rPr b="0" lang="fr-FR" sz="2000" spc="-1" strike="noStrike">
                <a:solidFill>
                  <a:srgbClr val="205aa7"/>
                </a:solidFill>
                <a:latin typeface="Calibri"/>
              </a:rPr>
              <a:t>La personne physique exerce ou a exercé une fonction de représentant légal et/ou d’entrepreneur individuel dans trois entreprises au moins qui ont fait chacune l’objet d’un jugement de liquidation judiciaire datant de moins de 5 ans, sauf si ces entreprises font l’objet d’un jugement commun ou d’une extension de jugement.</a:t>
            </a:r>
            <a:endParaRPr b="0" lang="fr-FR" sz="2000" spc="-1" strike="noStrike">
              <a:latin typeface="Arial"/>
            </a:endParaRPr>
          </a:p>
        </p:txBody>
      </p:sp>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5" name="TextShape 1"/>
          <p:cNvSpPr txBox="1"/>
          <p:nvPr/>
        </p:nvSpPr>
        <p:spPr>
          <a:xfrm>
            <a:off x="468000" y="0"/>
            <a:ext cx="8229240" cy="1142640"/>
          </a:xfrm>
          <a:prstGeom prst="rect">
            <a:avLst/>
          </a:prstGeom>
          <a:noFill/>
          <a:ln>
            <a:noFill/>
          </a:ln>
        </p:spPr>
        <p:txBody>
          <a:bodyPr anchor="ctr">
            <a:noAutofit/>
          </a:bodyPr>
          <a:p>
            <a:pPr>
              <a:lnSpc>
                <a:spcPct val="100000"/>
              </a:lnSpc>
            </a:pPr>
            <a:r>
              <a:rPr b="1" lang="en-US" sz="2400" spc="-1" strike="noStrike" cap="all">
                <a:solidFill>
                  <a:srgbClr val="ffffff"/>
                </a:solidFill>
                <a:latin typeface="Calibri"/>
              </a:rPr>
              <a:t>2</a:t>
            </a:r>
            <a:r>
              <a:rPr b="1" lang="fr-FR" sz="2400" spc="-1" strike="noStrike" cap="all">
                <a:solidFill>
                  <a:srgbClr val="ffffff"/>
                </a:solidFill>
                <a:latin typeface="Calibri"/>
              </a:rPr>
              <a:t>. Présentation de La cotation banque de France</a:t>
            </a:r>
            <a:endParaRPr b="0" lang="fr-FR" sz="2400" spc="-1" strike="noStrike">
              <a:solidFill>
                <a:srgbClr val="000000"/>
              </a:solidFill>
              <a:latin typeface="Calibri"/>
            </a:endParaRPr>
          </a:p>
        </p:txBody>
      </p:sp>
      <p:sp>
        <p:nvSpPr>
          <p:cNvPr id="286" name="TextShape 2"/>
          <p:cNvSpPr txBox="1"/>
          <p:nvPr/>
        </p:nvSpPr>
        <p:spPr>
          <a:xfrm>
            <a:off x="3124080" y="6480000"/>
            <a:ext cx="4975920" cy="359640"/>
          </a:xfrm>
          <a:prstGeom prst="rect">
            <a:avLst/>
          </a:prstGeom>
          <a:noFill/>
          <a:ln>
            <a:noFill/>
          </a:ln>
        </p:spPr>
        <p:txBody>
          <a:bodyPr>
            <a:noAutofit/>
          </a:bodyPr>
          <a:p>
            <a:endParaRPr b="0" lang="fr-FR" sz="2400" spc="-1" strike="noStrike">
              <a:latin typeface="Times New Roman"/>
            </a:endParaRPr>
          </a:p>
        </p:txBody>
      </p:sp>
      <p:sp>
        <p:nvSpPr>
          <p:cNvPr id="287" name="TextShape 3"/>
          <p:cNvSpPr txBox="1"/>
          <p:nvPr/>
        </p:nvSpPr>
        <p:spPr>
          <a:xfrm>
            <a:off x="8172360" y="6480000"/>
            <a:ext cx="539640" cy="359640"/>
          </a:xfrm>
          <a:prstGeom prst="rect">
            <a:avLst/>
          </a:prstGeom>
          <a:noFill/>
          <a:ln>
            <a:noFill/>
          </a:ln>
        </p:spPr>
        <p:txBody>
          <a:bodyPr lIns="90000" rIns="90000" tIns="45000" bIns="45000">
            <a:noAutofit/>
          </a:bodyPr>
          <a:p>
            <a:pPr algn="r">
              <a:lnSpc>
                <a:spcPct val="100000"/>
              </a:lnSpc>
            </a:pPr>
            <a:fld id="{C9CDC69A-19A4-4DD8-913C-CD9F1B67065E}" type="slidenum">
              <a:rPr b="0" lang="fr-FR" sz="900" spc="-1" strike="noStrike">
                <a:solidFill>
                  <a:srgbClr val="205aa7"/>
                </a:solidFill>
                <a:latin typeface="Calibri"/>
              </a:rPr>
              <a:t>&lt;number&gt;</a:t>
            </a:fld>
            <a:endParaRPr b="0" lang="fr-FR" sz="900" spc="-1" strike="noStrike">
              <a:latin typeface="Times New Roman"/>
            </a:endParaRPr>
          </a:p>
        </p:txBody>
      </p:sp>
      <p:sp>
        <p:nvSpPr>
          <p:cNvPr id="288" name="TextShape 4"/>
          <p:cNvSpPr txBox="1"/>
          <p:nvPr/>
        </p:nvSpPr>
        <p:spPr>
          <a:xfrm>
            <a:off x="468000" y="1440000"/>
            <a:ext cx="8229240" cy="4525560"/>
          </a:xfrm>
          <a:prstGeom prst="rect">
            <a:avLst/>
          </a:prstGeom>
          <a:noFill/>
          <a:ln>
            <a:noFill/>
          </a:ln>
        </p:spPr>
        <p:txBody>
          <a:bodyPr>
            <a:normAutofit/>
          </a:bodyPr>
          <a:p>
            <a:pPr algn="ctr">
              <a:lnSpc>
                <a:spcPct val="100000"/>
              </a:lnSpc>
              <a:spcBef>
                <a:spcPts val="400"/>
              </a:spcBef>
              <a:tabLst>
                <a:tab algn="l" pos="0"/>
              </a:tabLst>
            </a:pPr>
            <a:r>
              <a:rPr b="1" lang="fr-FR" sz="2000" spc="-1" strike="noStrike">
                <a:solidFill>
                  <a:srgbClr val="205aa7"/>
                </a:solidFill>
                <a:latin typeface="Calibri"/>
              </a:rPr>
              <a:t>L’indicateur dirigeant : deux valeurs possible</a:t>
            </a:r>
            <a:endParaRPr b="0" lang="fr-FR" sz="2000" spc="-1" strike="noStrike">
              <a:solidFill>
                <a:srgbClr val="205aa7"/>
              </a:solidFill>
              <a:latin typeface="Calibri"/>
            </a:endParaRPr>
          </a:p>
          <a:p>
            <a:pPr algn="just">
              <a:lnSpc>
                <a:spcPct val="100000"/>
              </a:lnSpc>
              <a:spcBef>
                <a:spcPts val="201"/>
              </a:spcBef>
              <a:tabLst>
                <a:tab algn="l" pos="0"/>
              </a:tabLst>
            </a:pPr>
            <a:endParaRPr b="0" lang="fr-FR" sz="2000" spc="-1" strike="noStrike">
              <a:solidFill>
                <a:srgbClr val="205aa7"/>
              </a:solidFill>
              <a:latin typeface="Calibri"/>
            </a:endParaRPr>
          </a:p>
          <a:p>
            <a:pPr algn="just">
              <a:lnSpc>
                <a:spcPct val="100000"/>
              </a:lnSpc>
              <a:spcBef>
                <a:spcPts val="400"/>
              </a:spcBef>
              <a:tabLst>
                <a:tab algn="l" pos="0"/>
              </a:tabLst>
            </a:pPr>
            <a:endParaRPr b="0" lang="fr-FR" sz="2000" spc="-1" strike="noStrike">
              <a:solidFill>
                <a:srgbClr val="205aa7"/>
              </a:solidFill>
              <a:latin typeface="Calibri"/>
            </a:endParaRPr>
          </a:p>
          <a:p>
            <a:pPr algn="just">
              <a:lnSpc>
                <a:spcPct val="100000"/>
              </a:lnSpc>
              <a:spcBef>
                <a:spcPts val="400"/>
              </a:spcBef>
              <a:tabLst>
                <a:tab algn="l" pos="0"/>
              </a:tabLst>
            </a:pPr>
            <a:endParaRPr b="0" lang="fr-FR" sz="2000" spc="-1" strike="noStrike">
              <a:solidFill>
                <a:srgbClr val="205aa7"/>
              </a:solidFill>
              <a:latin typeface="Calibri"/>
            </a:endParaRPr>
          </a:p>
          <a:p>
            <a:pPr algn="just">
              <a:lnSpc>
                <a:spcPct val="100000"/>
              </a:lnSpc>
              <a:spcBef>
                <a:spcPts val="400"/>
              </a:spcBef>
              <a:tabLst>
                <a:tab algn="l" pos="0"/>
              </a:tabLst>
            </a:pPr>
            <a:endParaRPr b="0" lang="fr-FR" sz="2000" spc="-1" strike="noStrike">
              <a:solidFill>
                <a:srgbClr val="205aa7"/>
              </a:solidFill>
              <a:latin typeface="Calibri"/>
            </a:endParaRPr>
          </a:p>
        </p:txBody>
      </p:sp>
      <p:pic>
        <p:nvPicPr>
          <p:cNvPr id="289" name="Image 4" descr=""/>
          <p:cNvPicPr/>
          <p:nvPr/>
        </p:nvPicPr>
        <p:blipFill>
          <a:blip r:embed="rId1"/>
          <a:stretch/>
        </p:blipFill>
        <p:spPr>
          <a:xfrm>
            <a:off x="1979640" y="2113200"/>
            <a:ext cx="1854000" cy="748800"/>
          </a:xfrm>
          <a:prstGeom prst="rect">
            <a:avLst/>
          </a:prstGeom>
          <a:ln>
            <a:noFill/>
          </a:ln>
        </p:spPr>
      </p:pic>
      <p:pic>
        <p:nvPicPr>
          <p:cNvPr id="290" name="Image 5" descr=""/>
          <p:cNvPicPr/>
          <p:nvPr/>
        </p:nvPicPr>
        <p:blipFill>
          <a:blip r:embed="rId2"/>
          <a:stretch/>
        </p:blipFill>
        <p:spPr>
          <a:xfrm>
            <a:off x="5345640" y="2113200"/>
            <a:ext cx="2209320" cy="748800"/>
          </a:xfrm>
          <a:prstGeom prst="rect">
            <a:avLst/>
          </a:prstGeom>
          <a:ln>
            <a:noFill/>
          </a:ln>
        </p:spPr>
      </p:pic>
      <p:sp>
        <p:nvSpPr>
          <p:cNvPr id="291" name="CustomShape 5"/>
          <p:cNvSpPr/>
          <p:nvPr/>
        </p:nvSpPr>
        <p:spPr>
          <a:xfrm>
            <a:off x="4637520" y="2862360"/>
            <a:ext cx="4059720" cy="398628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fr-FR" sz="2000" spc="-1" strike="noStrike">
                <a:solidFill>
                  <a:srgbClr val="205aa7"/>
                </a:solidFill>
                <a:latin typeface="Calibri"/>
              </a:rPr>
              <a:t>La personne physique fait l’objet, à titre personnel, d’une des décision judiciaires suivantes :</a:t>
            </a:r>
            <a:endParaRPr b="0" lang="fr-FR" sz="2000" spc="-1" strike="noStrike">
              <a:latin typeface="Arial"/>
            </a:endParaRPr>
          </a:p>
          <a:p>
            <a:pPr marL="285840" indent="-285480">
              <a:lnSpc>
                <a:spcPct val="100000"/>
              </a:lnSpc>
              <a:buClr>
                <a:srgbClr val="205aa7"/>
              </a:buClr>
              <a:buFont typeface="Wingdings" charset="2"/>
              <a:buChar char=""/>
            </a:pPr>
            <a:r>
              <a:rPr b="0" lang="fr-FR" sz="1600" spc="-1" strike="noStrike">
                <a:solidFill>
                  <a:srgbClr val="205aa7"/>
                </a:solidFill>
                <a:latin typeface="Calibri"/>
              </a:rPr>
              <a:t>Faillite personnelle.</a:t>
            </a:r>
            <a:endParaRPr b="0" lang="fr-FR" sz="1600" spc="-1" strike="noStrike">
              <a:latin typeface="Arial"/>
            </a:endParaRPr>
          </a:p>
          <a:p>
            <a:pPr marL="285840" indent="-285480">
              <a:lnSpc>
                <a:spcPct val="100000"/>
              </a:lnSpc>
              <a:buClr>
                <a:srgbClr val="205aa7"/>
              </a:buClr>
              <a:buFont typeface="Wingdings" charset="2"/>
              <a:buChar char=""/>
            </a:pPr>
            <a:r>
              <a:rPr b="0" lang="fr-FR" sz="1600" spc="-1" strike="noStrike">
                <a:solidFill>
                  <a:srgbClr val="205aa7"/>
                </a:solidFill>
                <a:latin typeface="Calibri"/>
              </a:rPr>
              <a:t>Interdiction de diriger, gérer, administrer ou contrôler.</a:t>
            </a:r>
            <a:endParaRPr b="0" lang="fr-FR" sz="1600" spc="-1" strike="noStrike">
              <a:latin typeface="Arial"/>
            </a:endParaRPr>
          </a:p>
          <a:p>
            <a:pPr marL="285840" indent="-285480">
              <a:lnSpc>
                <a:spcPct val="100000"/>
              </a:lnSpc>
              <a:buClr>
                <a:srgbClr val="205aa7"/>
              </a:buClr>
              <a:buFont typeface="Wingdings" charset="2"/>
              <a:buChar char=""/>
            </a:pPr>
            <a:r>
              <a:rPr b="0" lang="fr-FR" sz="1600" spc="-1" strike="noStrike">
                <a:solidFill>
                  <a:srgbClr val="205aa7"/>
                </a:solidFill>
                <a:latin typeface="Calibri"/>
              </a:rPr>
              <a:t>Jugement de redressement judiciaire.</a:t>
            </a:r>
            <a:br/>
            <a:r>
              <a:rPr b="0" lang="fr-FR" sz="1600" spc="-1" strike="noStrike">
                <a:solidFill>
                  <a:srgbClr val="205aa7"/>
                </a:solidFill>
                <a:latin typeface="Calibri"/>
              </a:rPr>
              <a:t>(durée d’attribution : maximum 2 ans si jugement sans suite) </a:t>
            </a:r>
            <a:endParaRPr b="0" lang="fr-FR" sz="1600" spc="-1" strike="noStrike">
              <a:latin typeface="Arial"/>
            </a:endParaRPr>
          </a:p>
          <a:p>
            <a:pPr marL="285840" indent="-285480">
              <a:lnSpc>
                <a:spcPct val="100000"/>
              </a:lnSpc>
              <a:buClr>
                <a:srgbClr val="205aa7"/>
              </a:buClr>
              <a:buFont typeface="Wingdings" charset="2"/>
              <a:buChar char=""/>
            </a:pPr>
            <a:r>
              <a:rPr b="0" lang="fr-FR" sz="1600" spc="-1" strike="noStrike">
                <a:solidFill>
                  <a:srgbClr val="205aa7"/>
                </a:solidFill>
                <a:latin typeface="Calibri"/>
              </a:rPr>
              <a:t>Jugement de liquidation judiciaire. (durée d’attribution : maximum 5 ans à compter de la date du jugement)</a:t>
            </a:r>
            <a:r>
              <a:rPr b="0" lang="fr-FR" sz="1600" spc="-1" strike="noStrike">
                <a:solidFill>
                  <a:srgbClr val="000000"/>
                </a:solidFill>
                <a:latin typeface="Calibri"/>
              </a:rPr>
              <a:t> </a:t>
            </a:r>
            <a:endParaRPr b="0" lang="fr-FR" sz="1600" spc="-1" strike="noStrike">
              <a:latin typeface="Arial"/>
            </a:endParaRPr>
          </a:p>
        </p:txBody>
      </p:sp>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2" name="TextShape 1"/>
          <p:cNvSpPr txBox="1"/>
          <p:nvPr/>
        </p:nvSpPr>
        <p:spPr>
          <a:xfrm>
            <a:off x="3124080" y="6480000"/>
            <a:ext cx="4975920" cy="359640"/>
          </a:xfrm>
          <a:prstGeom prst="rect">
            <a:avLst/>
          </a:prstGeom>
          <a:noFill/>
          <a:ln>
            <a:noFill/>
          </a:ln>
        </p:spPr>
        <p:txBody>
          <a:bodyPr>
            <a:noAutofit/>
          </a:bodyPr>
          <a:p>
            <a:endParaRPr b="0" lang="fr-FR" sz="2400" spc="-1" strike="noStrike">
              <a:latin typeface="Times New Roman"/>
            </a:endParaRPr>
          </a:p>
        </p:txBody>
      </p:sp>
      <p:sp>
        <p:nvSpPr>
          <p:cNvPr id="293" name="TextShape 2"/>
          <p:cNvSpPr txBox="1"/>
          <p:nvPr/>
        </p:nvSpPr>
        <p:spPr>
          <a:xfrm>
            <a:off x="8172360" y="6480000"/>
            <a:ext cx="539640" cy="359640"/>
          </a:xfrm>
          <a:prstGeom prst="rect">
            <a:avLst/>
          </a:prstGeom>
          <a:noFill/>
          <a:ln>
            <a:noFill/>
          </a:ln>
        </p:spPr>
        <p:txBody>
          <a:bodyPr lIns="90000" rIns="90000" tIns="45000" bIns="45000">
            <a:noAutofit/>
          </a:bodyPr>
          <a:p>
            <a:pPr algn="r">
              <a:lnSpc>
                <a:spcPct val="100000"/>
              </a:lnSpc>
            </a:pPr>
            <a:fld id="{398F8ACC-E00C-4DBB-B064-F21883B92111}" type="slidenum">
              <a:rPr b="0" lang="fr-FR" sz="900" spc="-1" strike="noStrike">
                <a:solidFill>
                  <a:srgbClr val="205aa7"/>
                </a:solidFill>
                <a:latin typeface="Calibri"/>
              </a:rPr>
              <a:t>&lt;number&gt;</a:t>
            </a:fld>
            <a:endParaRPr b="0" lang="fr-FR" sz="900" spc="-1" strike="noStrike">
              <a:latin typeface="Times New Roman"/>
            </a:endParaRPr>
          </a:p>
        </p:txBody>
      </p:sp>
      <p:sp>
        <p:nvSpPr>
          <p:cNvPr id="294" name="TextShape 3"/>
          <p:cNvSpPr txBox="1"/>
          <p:nvPr/>
        </p:nvSpPr>
        <p:spPr>
          <a:xfrm>
            <a:off x="1692000" y="1584000"/>
            <a:ext cx="7019640" cy="4499640"/>
          </a:xfrm>
          <a:prstGeom prst="rect">
            <a:avLst/>
          </a:prstGeom>
          <a:noFill/>
          <a:ln>
            <a:noFill/>
          </a:ln>
        </p:spPr>
        <p:txBody>
          <a:bodyPr anchor="ctr">
            <a:noAutofit/>
          </a:bodyPr>
          <a:p>
            <a:pPr marL="396000" indent="-395640">
              <a:lnSpc>
                <a:spcPct val="100000"/>
              </a:lnSpc>
              <a:spcBef>
                <a:spcPts val="519"/>
              </a:spcBef>
              <a:buClr>
                <a:srgbClr val="cbddf5"/>
              </a:buClr>
              <a:buFont typeface="StarSymbol"/>
              <a:buAutoNum type="arabicPeriod"/>
            </a:pPr>
            <a:r>
              <a:rPr b="0" lang="fr-FR" sz="2600" spc="-1" strike="noStrike">
                <a:solidFill>
                  <a:srgbClr val="cbddf5"/>
                </a:solidFill>
                <a:latin typeface="Calibri"/>
              </a:rPr>
              <a:t>Découvrir la Banque de France</a:t>
            </a:r>
            <a:endParaRPr b="0" lang="fr-FR" sz="2600" spc="-1" strike="noStrike">
              <a:solidFill>
                <a:srgbClr val="205aa7"/>
              </a:solidFill>
              <a:latin typeface="Calibri"/>
            </a:endParaRPr>
          </a:p>
          <a:p>
            <a:pPr marL="396000" indent="-395640">
              <a:lnSpc>
                <a:spcPct val="100000"/>
              </a:lnSpc>
              <a:spcBef>
                <a:spcPts val="519"/>
              </a:spcBef>
              <a:buClr>
                <a:srgbClr val="cbddf5"/>
              </a:buClr>
              <a:buFont typeface="StarSymbol"/>
              <a:buAutoNum type="arabicPeriod"/>
            </a:pPr>
            <a:r>
              <a:rPr b="0" lang="fr-FR" sz="2600" spc="-1" strike="noStrike">
                <a:solidFill>
                  <a:srgbClr val="cbddf5"/>
                </a:solidFill>
                <a:latin typeface="Calibri"/>
              </a:rPr>
              <a:t>Présentation de la cotation Banque de France</a:t>
            </a:r>
            <a:endParaRPr b="0" lang="fr-FR" sz="2600" spc="-1" strike="noStrike">
              <a:solidFill>
                <a:srgbClr val="205aa7"/>
              </a:solidFill>
              <a:latin typeface="Calibri"/>
            </a:endParaRPr>
          </a:p>
          <a:p>
            <a:pPr marL="396000" indent="-395640">
              <a:lnSpc>
                <a:spcPct val="100000"/>
              </a:lnSpc>
              <a:spcBef>
                <a:spcPts val="519"/>
              </a:spcBef>
              <a:buClr>
                <a:srgbClr val="205aa7"/>
              </a:buClr>
              <a:buFont typeface="StarSymbol"/>
              <a:buAutoNum type="arabicPeriod"/>
            </a:pPr>
            <a:r>
              <a:rPr b="0" lang="fr-FR" sz="2600" spc="-1" strike="noStrike">
                <a:solidFill>
                  <a:srgbClr val="205aa7"/>
                </a:solidFill>
                <a:latin typeface="Calibri"/>
              </a:rPr>
              <a:t>L’analyse financière des comptes consolidés</a:t>
            </a:r>
            <a:endParaRPr b="0" lang="fr-FR" sz="2600" spc="-1" strike="noStrike">
              <a:solidFill>
                <a:srgbClr val="205aa7"/>
              </a:solidFill>
              <a:latin typeface="Calibri"/>
            </a:endParaRPr>
          </a:p>
          <a:p>
            <a:pPr>
              <a:lnSpc>
                <a:spcPct val="100000"/>
              </a:lnSpc>
              <a:spcBef>
                <a:spcPts val="519"/>
              </a:spcBef>
            </a:pPr>
            <a:endParaRPr b="0" lang="fr-FR" sz="2600" spc="-1" strike="noStrike">
              <a:solidFill>
                <a:srgbClr val="205aa7"/>
              </a:solidFill>
              <a:latin typeface="Calibri"/>
            </a:endParaRPr>
          </a:p>
          <a:p>
            <a:pPr>
              <a:lnSpc>
                <a:spcPct val="100000"/>
              </a:lnSpc>
              <a:spcBef>
                <a:spcPts val="519"/>
              </a:spcBef>
            </a:pPr>
            <a:endParaRPr b="0" lang="fr-FR" sz="2600" spc="-1" strike="noStrike">
              <a:solidFill>
                <a:srgbClr val="205aa7"/>
              </a:solidFill>
              <a:latin typeface="Calibri"/>
            </a:endParaRPr>
          </a:p>
        </p:txBody>
      </p:sp>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5" name="TextShape 1"/>
          <p:cNvSpPr txBox="1"/>
          <p:nvPr/>
        </p:nvSpPr>
        <p:spPr>
          <a:xfrm>
            <a:off x="468000" y="0"/>
            <a:ext cx="8229240" cy="1142640"/>
          </a:xfrm>
          <a:prstGeom prst="rect">
            <a:avLst/>
          </a:prstGeom>
          <a:noFill/>
          <a:ln>
            <a:noFill/>
          </a:ln>
        </p:spPr>
        <p:txBody>
          <a:bodyPr anchor="ctr">
            <a:noAutofit/>
          </a:bodyPr>
          <a:p>
            <a:pPr>
              <a:lnSpc>
                <a:spcPct val="100000"/>
              </a:lnSpc>
            </a:pPr>
            <a:r>
              <a:rPr b="1" lang="fr-FR" sz="2400" spc="-1" strike="noStrike" cap="all">
                <a:solidFill>
                  <a:srgbClr val="ffffff"/>
                </a:solidFill>
                <a:latin typeface="Calibri"/>
              </a:rPr>
              <a:t>3. L’analyse financière des comptes consolidés</a:t>
            </a:r>
            <a:endParaRPr b="0" lang="fr-FR" sz="2400" spc="-1" strike="noStrike">
              <a:solidFill>
                <a:srgbClr val="000000"/>
              </a:solidFill>
              <a:latin typeface="Calibri"/>
            </a:endParaRPr>
          </a:p>
        </p:txBody>
      </p:sp>
      <p:sp>
        <p:nvSpPr>
          <p:cNvPr id="296" name="TextShape 2"/>
          <p:cNvSpPr txBox="1"/>
          <p:nvPr/>
        </p:nvSpPr>
        <p:spPr>
          <a:xfrm>
            <a:off x="3124080" y="6480000"/>
            <a:ext cx="4975920" cy="359640"/>
          </a:xfrm>
          <a:prstGeom prst="rect">
            <a:avLst/>
          </a:prstGeom>
          <a:noFill/>
          <a:ln>
            <a:noFill/>
          </a:ln>
        </p:spPr>
        <p:txBody>
          <a:bodyPr>
            <a:noAutofit/>
          </a:bodyPr>
          <a:p>
            <a:endParaRPr b="0" lang="fr-FR" sz="2400" spc="-1" strike="noStrike">
              <a:latin typeface="Times New Roman"/>
            </a:endParaRPr>
          </a:p>
        </p:txBody>
      </p:sp>
      <p:sp>
        <p:nvSpPr>
          <p:cNvPr id="297" name="TextShape 3"/>
          <p:cNvSpPr txBox="1"/>
          <p:nvPr/>
        </p:nvSpPr>
        <p:spPr>
          <a:xfrm>
            <a:off x="8172360" y="6480000"/>
            <a:ext cx="539640" cy="359640"/>
          </a:xfrm>
          <a:prstGeom prst="rect">
            <a:avLst/>
          </a:prstGeom>
          <a:noFill/>
          <a:ln>
            <a:noFill/>
          </a:ln>
        </p:spPr>
        <p:txBody>
          <a:bodyPr lIns="90000" rIns="90000" tIns="45000" bIns="45000">
            <a:noAutofit/>
          </a:bodyPr>
          <a:p>
            <a:pPr algn="r">
              <a:lnSpc>
                <a:spcPct val="100000"/>
              </a:lnSpc>
            </a:pPr>
            <a:fld id="{EB6B1391-B5D4-44DF-8D07-B18316884485}" type="slidenum">
              <a:rPr b="0" lang="fr-FR" sz="900" spc="-1" strike="noStrike">
                <a:solidFill>
                  <a:srgbClr val="205aa7"/>
                </a:solidFill>
                <a:latin typeface="Calibri"/>
              </a:rPr>
              <a:t>&lt;number&gt;</a:t>
            </a:fld>
            <a:endParaRPr b="0" lang="fr-FR" sz="900" spc="-1" strike="noStrike">
              <a:latin typeface="Times New Roman"/>
            </a:endParaRPr>
          </a:p>
        </p:txBody>
      </p:sp>
      <p:sp>
        <p:nvSpPr>
          <p:cNvPr id="298" name="TextShape 4"/>
          <p:cNvSpPr txBox="1"/>
          <p:nvPr/>
        </p:nvSpPr>
        <p:spPr>
          <a:xfrm>
            <a:off x="468000" y="1440000"/>
            <a:ext cx="8229240" cy="4525560"/>
          </a:xfrm>
          <a:prstGeom prst="rect">
            <a:avLst/>
          </a:prstGeom>
          <a:noFill/>
          <a:ln>
            <a:noFill/>
          </a:ln>
        </p:spPr>
        <p:txBody>
          <a:bodyPr>
            <a:normAutofit/>
          </a:bodyPr>
          <a:p>
            <a:pPr algn="ctr">
              <a:lnSpc>
                <a:spcPct val="100000"/>
              </a:lnSpc>
              <a:spcBef>
                <a:spcPts val="400"/>
              </a:spcBef>
              <a:tabLst>
                <a:tab algn="l" pos="0"/>
              </a:tabLst>
            </a:pPr>
            <a:r>
              <a:rPr b="1" lang="fr-FR" sz="2000" spc="-1" strike="noStrike">
                <a:solidFill>
                  <a:srgbClr val="205aa7"/>
                </a:solidFill>
                <a:latin typeface="Calibri"/>
              </a:rPr>
              <a:t>Préambule</a:t>
            </a:r>
            <a:endParaRPr b="0" lang="fr-FR" sz="2000" spc="-1" strike="noStrike">
              <a:solidFill>
                <a:srgbClr val="205aa7"/>
              </a:solidFill>
              <a:latin typeface="Calibri"/>
            </a:endParaRPr>
          </a:p>
          <a:p>
            <a:pPr algn="ctr">
              <a:lnSpc>
                <a:spcPct val="100000"/>
              </a:lnSpc>
              <a:spcBef>
                <a:spcPts val="360"/>
              </a:spcBef>
              <a:tabLst>
                <a:tab algn="l" pos="0"/>
              </a:tabLst>
            </a:pPr>
            <a:endParaRPr b="0" lang="fr-FR" sz="2000" spc="-1" strike="noStrike">
              <a:solidFill>
                <a:srgbClr val="205aa7"/>
              </a:solidFill>
              <a:latin typeface="Calibri"/>
            </a:endParaRPr>
          </a:p>
          <a:p>
            <a:pPr marL="252000" indent="-251640" algn="just">
              <a:lnSpc>
                <a:spcPct val="100000"/>
              </a:lnSpc>
              <a:spcBef>
                <a:spcPts val="400"/>
              </a:spcBef>
              <a:buClr>
                <a:srgbClr val="205aa7"/>
              </a:buClr>
              <a:buFont typeface="Wingdings" charset="2"/>
              <a:buChar char=""/>
              <a:tabLst>
                <a:tab algn="l" pos="0"/>
              </a:tabLst>
            </a:pPr>
            <a:r>
              <a:rPr b="0" lang="fr-FR" sz="2000" spc="-1" strike="noStrike">
                <a:solidFill>
                  <a:srgbClr val="205aa7"/>
                </a:solidFill>
                <a:latin typeface="Calibri"/>
              </a:rPr>
              <a:t>Du fait des particularités propres aux comptes consolidés, leur analyse est centralisée au sein d’un Pôle Groupes au niveau de chaque succursale régionale.</a:t>
            </a:r>
            <a:endParaRPr b="0" lang="fr-FR" sz="2000" spc="-1" strike="noStrike">
              <a:solidFill>
                <a:srgbClr val="205aa7"/>
              </a:solidFill>
              <a:latin typeface="Calibri"/>
            </a:endParaRPr>
          </a:p>
          <a:p>
            <a:pPr marL="252000" indent="-251640" algn="just">
              <a:lnSpc>
                <a:spcPct val="100000"/>
              </a:lnSpc>
              <a:spcBef>
                <a:spcPts val="400"/>
              </a:spcBef>
              <a:buClr>
                <a:srgbClr val="205aa7"/>
              </a:buClr>
              <a:buFont typeface="Wingdings" charset="2"/>
              <a:buChar char=""/>
              <a:tabLst>
                <a:tab algn="l" pos="0"/>
              </a:tabLst>
            </a:pPr>
            <a:r>
              <a:rPr b="0" lang="fr-FR" sz="2000" spc="-1" strike="noStrike">
                <a:solidFill>
                  <a:srgbClr val="205aa7"/>
                </a:solidFill>
                <a:latin typeface="Calibri"/>
              </a:rPr>
              <a:t>La cotation des groupes qui établissent des comptes consolidés est réalisée par des analystes dédiés à cette activité.</a:t>
            </a:r>
            <a:endParaRPr b="0" lang="fr-FR" sz="2000" spc="-1" strike="noStrike">
              <a:solidFill>
                <a:srgbClr val="205aa7"/>
              </a:solidFill>
              <a:latin typeface="Calibri"/>
            </a:endParaRPr>
          </a:p>
          <a:p>
            <a:pPr marL="252000" indent="-251640" algn="just">
              <a:lnSpc>
                <a:spcPct val="100000"/>
              </a:lnSpc>
              <a:spcBef>
                <a:spcPts val="400"/>
              </a:spcBef>
              <a:buClr>
                <a:srgbClr val="205aa7"/>
              </a:buClr>
              <a:buFont typeface="Wingdings" charset="2"/>
              <a:buChar char=""/>
              <a:tabLst>
                <a:tab algn="l" pos="0"/>
              </a:tabLst>
            </a:pPr>
            <a:r>
              <a:rPr b="0" lang="fr-FR" sz="2000" spc="-1" strike="noStrike">
                <a:solidFill>
                  <a:srgbClr val="205aa7"/>
                </a:solidFill>
                <a:latin typeface="Calibri"/>
              </a:rPr>
              <a:t>Elle se base sur une méthodologique spécifique qui intègre les modalités de cotation des têtes de groupe et des filiales.</a:t>
            </a:r>
            <a:endParaRPr b="0" lang="fr-FR" sz="2000" spc="-1" strike="noStrike">
              <a:solidFill>
                <a:srgbClr val="205aa7"/>
              </a:solidFill>
              <a:latin typeface="Calibri"/>
            </a:endParaRPr>
          </a:p>
        </p:txBody>
      </p:sp>
    </p:spTree>
  </p:cSld>
  <mc:AlternateContent>
    <mc:Choice Requires="p14">
      <p:transition spd="slow" p14:dur="2000"/>
    </mc:Choice>
    <mc:Fallback>
      <p:transition spd="slow"/>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9" name="TextShape 1"/>
          <p:cNvSpPr txBox="1"/>
          <p:nvPr/>
        </p:nvSpPr>
        <p:spPr>
          <a:xfrm>
            <a:off x="468000" y="0"/>
            <a:ext cx="8229240" cy="1142640"/>
          </a:xfrm>
          <a:prstGeom prst="rect">
            <a:avLst/>
          </a:prstGeom>
          <a:noFill/>
          <a:ln>
            <a:noFill/>
          </a:ln>
        </p:spPr>
        <p:txBody>
          <a:bodyPr anchor="ctr">
            <a:noAutofit/>
          </a:bodyPr>
          <a:p>
            <a:pPr>
              <a:lnSpc>
                <a:spcPct val="100000"/>
              </a:lnSpc>
            </a:pPr>
            <a:r>
              <a:rPr b="1" lang="fr-FR" sz="2400" spc="-1" strike="noStrike" cap="all">
                <a:solidFill>
                  <a:srgbClr val="ffffff"/>
                </a:solidFill>
                <a:latin typeface="Calibri"/>
              </a:rPr>
              <a:t>3. L’analyse financière des comptes consolidés</a:t>
            </a:r>
            <a:endParaRPr b="0" lang="fr-FR" sz="2400" spc="-1" strike="noStrike">
              <a:solidFill>
                <a:srgbClr val="000000"/>
              </a:solidFill>
              <a:latin typeface="Calibri"/>
            </a:endParaRPr>
          </a:p>
        </p:txBody>
      </p:sp>
      <p:sp>
        <p:nvSpPr>
          <p:cNvPr id="300" name="TextShape 2"/>
          <p:cNvSpPr txBox="1"/>
          <p:nvPr/>
        </p:nvSpPr>
        <p:spPr>
          <a:xfrm>
            <a:off x="3124080" y="6480000"/>
            <a:ext cx="4975920" cy="359640"/>
          </a:xfrm>
          <a:prstGeom prst="rect">
            <a:avLst/>
          </a:prstGeom>
          <a:noFill/>
          <a:ln>
            <a:noFill/>
          </a:ln>
        </p:spPr>
        <p:txBody>
          <a:bodyPr>
            <a:noAutofit/>
          </a:bodyPr>
          <a:p>
            <a:endParaRPr b="0" lang="fr-FR" sz="2400" spc="-1" strike="noStrike">
              <a:latin typeface="Times New Roman"/>
            </a:endParaRPr>
          </a:p>
        </p:txBody>
      </p:sp>
      <p:sp>
        <p:nvSpPr>
          <p:cNvPr id="301" name="TextShape 3"/>
          <p:cNvSpPr txBox="1"/>
          <p:nvPr/>
        </p:nvSpPr>
        <p:spPr>
          <a:xfrm>
            <a:off x="8172360" y="6480000"/>
            <a:ext cx="539640" cy="359640"/>
          </a:xfrm>
          <a:prstGeom prst="rect">
            <a:avLst/>
          </a:prstGeom>
          <a:noFill/>
          <a:ln>
            <a:noFill/>
          </a:ln>
        </p:spPr>
        <p:txBody>
          <a:bodyPr lIns="90000" rIns="90000" tIns="45000" bIns="45000">
            <a:noAutofit/>
          </a:bodyPr>
          <a:p>
            <a:pPr algn="r">
              <a:lnSpc>
                <a:spcPct val="100000"/>
              </a:lnSpc>
            </a:pPr>
            <a:fld id="{43AE9494-BC09-46ED-86F5-63AEBBAE0844}" type="slidenum">
              <a:rPr b="0" lang="fr-FR" sz="900" spc="-1" strike="noStrike">
                <a:solidFill>
                  <a:srgbClr val="205aa7"/>
                </a:solidFill>
                <a:latin typeface="Calibri"/>
              </a:rPr>
              <a:t>&lt;number&gt;</a:t>
            </a:fld>
            <a:endParaRPr b="0" lang="fr-FR" sz="900" spc="-1" strike="noStrike">
              <a:latin typeface="Times New Roman"/>
            </a:endParaRPr>
          </a:p>
        </p:txBody>
      </p:sp>
      <p:sp>
        <p:nvSpPr>
          <p:cNvPr id="302" name="TextShape 4"/>
          <p:cNvSpPr txBox="1"/>
          <p:nvPr/>
        </p:nvSpPr>
        <p:spPr>
          <a:xfrm>
            <a:off x="468000" y="1440000"/>
            <a:ext cx="8229240" cy="4525560"/>
          </a:xfrm>
          <a:prstGeom prst="rect">
            <a:avLst/>
          </a:prstGeom>
          <a:noFill/>
          <a:ln>
            <a:noFill/>
          </a:ln>
        </p:spPr>
        <p:txBody>
          <a:bodyPr>
            <a:noAutofit/>
          </a:bodyPr>
          <a:p>
            <a:pPr algn="ctr">
              <a:lnSpc>
                <a:spcPct val="100000"/>
              </a:lnSpc>
              <a:spcBef>
                <a:spcPts val="400"/>
              </a:spcBef>
              <a:tabLst>
                <a:tab algn="l" pos="0"/>
              </a:tabLst>
            </a:pPr>
            <a:r>
              <a:rPr b="1" lang="fr-FR" sz="2000" spc="-1" strike="noStrike">
                <a:solidFill>
                  <a:srgbClr val="205aa7"/>
                </a:solidFill>
                <a:latin typeface="Calibri"/>
              </a:rPr>
              <a:t>Notion de groupe</a:t>
            </a:r>
            <a:endParaRPr b="0" lang="fr-FR" sz="2000" spc="-1" strike="noStrike">
              <a:solidFill>
                <a:srgbClr val="205aa7"/>
              </a:solidFill>
              <a:latin typeface="Calibri"/>
            </a:endParaRPr>
          </a:p>
          <a:p>
            <a:pPr algn="ctr">
              <a:lnSpc>
                <a:spcPct val="100000"/>
              </a:lnSpc>
              <a:spcBef>
                <a:spcPts val="201"/>
              </a:spcBef>
              <a:tabLst>
                <a:tab algn="l" pos="0"/>
              </a:tabLst>
            </a:pPr>
            <a:endParaRPr b="0" lang="fr-FR" sz="2000" spc="-1" strike="noStrike">
              <a:solidFill>
                <a:srgbClr val="205aa7"/>
              </a:solidFill>
              <a:latin typeface="Calibri"/>
            </a:endParaRPr>
          </a:p>
          <a:p>
            <a:pPr marL="252000" indent="-251640" algn="just">
              <a:lnSpc>
                <a:spcPct val="100000"/>
              </a:lnSpc>
              <a:spcBef>
                <a:spcPts val="400"/>
              </a:spcBef>
              <a:buClr>
                <a:srgbClr val="205aa7"/>
              </a:buClr>
              <a:buFont typeface="Wingdings" charset="2"/>
              <a:buChar char=""/>
              <a:tabLst>
                <a:tab algn="l" pos="0"/>
              </a:tabLst>
            </a:pPr>
            <a:r>
              <a:rPr b="0" lang="fr-FR" sz="2000" spc="-1" strike="noStrike">
                <a:solidFill>
                  <a:srgbClr val="205aa7"/>
                </a:solidFill>
                <a:latin typeface="Calibri"/>
              </a:rPr>
              <a:t>Le groupe est une notion économique : il peut se définir comme un ensemble de sociétés liées par des intérêts communs et une unité de décision.</a:t>
            </a:r>
            <a:endParaRPr b="0" lang="fr-FR" sz="2000" spc="-1" strike="noStrike">
              <a:solidFill>
                <a:srgbClr val="205aa7"/>
              </a:solidFill>
              <a:latin typeface="Calibri"/>
            </a:endParaRPr>
          </a:p>
          <a:p>
            <a:pPr marL="252000" indent="-251640" algn="just">
              <a:lnSpc>
                <a:spcPct val="100000"/>
              </a:lnSpc>
              <a:spcBef>
                <a:spcPts val="400"/>
              </a:spcBef>
              <a:buClr>
                <a:srgbClr val="205aa7"/>
              </a:buClr>
              <a:buFont typeface="Wingdings" charset="2"/>
              <a:buChar char=""/>
              <a:tabLst>
                <a:tab algn="l" pos="0"/>
              </a:tabLst>
            </a:pPr>
            <a:r>
              <a:rPr b="0" lang="fr-FR" sz="2000" spc="-1" strike="noStrike">
                <a:solidFill>
                  <a:srgbClr val="205aa7"/>
                </a:solidFill>
                <a:latin typeface="Calibri"/>
              </a:rPr>
              <a:t>Il n’est pas reconnu juridiquement comme une personne morale.</a:t>
            </a:r>
            <a:endParaRPr b="0" lang="fr-FR" sz="2000" spc="-1" strike="noStrike">
              <a:solidFill>
                <a:srgbClr val="205aa7"/>
              </a:solidFill>
              <a:latin typeface="Calibri"/>
            </a:endParaRPr>
          </a:p>
          <a:p>
            <a:pPr lvl="1" marL="743040" indent="-285480" algn="just">
              <a:lnSpc>
                <a:spcPct val="100000"/>
              </a:lnSpc>
              <a:spcBef>
                <a:spcPts val="360"/>
              </a:spcBef>
              <a:buClr>
                <a:srgbClr val="205aa7"/>
              </a:buClr>
              <a:buFont typeface="Arial"/>
              <a:buChar char="–"/>
              <a:tabLst>
                <a:tab algn="l" pos="0"/>
              </a:tabLst>
            </a:pPr>
            <a:r>
              <a:rPr b="0" lang="fr-FR" sz="1800" spc="-1" strike="noStrike">
                <a:solidFill>
                  <a:srgbClr val="205aa7"/>
                </a:solidFill>
                <a:latin typeface="Calibri"/>
              </a:rPr>
              <a:t>En droit commercial, il n’y a pas de responsabilité juridique au niveau du groupe : chaque entité est responsable isolément.</a:t>
            </a:r>
            <a:endParaRPr b="0" lang="fr-FR" sz="1800" spc="-1" strike="noStrike">
              <a:solidFill>
                <a:srgbClr val="595959"/>
              </a:solidFill>
              <a:latin typeface="Calibri"/>
            </a:endParaRPr>
          </a:p>
          <a:p>
            <a:pPr lvl="1" marL="743040" indent="-285480" algn="just">
              <a:lnSpc>
                <a:spcPct val="100000"/>
              </a:lnSpc>
              <a:spcBef>
                <a:spcPts val="360"/>
              </a:spcBef>
              <a:buClr>
                <a:srgbClr val="205aa7"/>
              </a:buClr>
              <a:buFont typeface="Arial"/>
              <a:buChar char="–"/>
              <a:tabLst>
                <a:tab algn="l" pos="0"/>
              </a:tabLst>
            </a:pPr>
            <a:r>
              <a:rPr b="0" lang="fr-FR" sz="1800" spc="-1" strike="noStrike">
                <a:solidFill>
                  <a:srgbClr val="205aa7"/>
                </a:solidFill>
                <a:latin typeface="Calibri"/>
              </a:rPr>
              <a:t>Les engagements bancaires sont pris au niveau des entités et non au niveau du groupe.</a:t>
            </a:r>
            <a:endParaRPr b="0" lang="fr-FR" sz="1800" spc="-1" strike="noStrike">
              <a:solidFill>
                <a:srgbClr val="595959"/>
              </a:solidFill>
              <a:latin typeface="Calibri"/>
            </a:endParaRPr>
          </a:p>
          <a:p>
            <a:pPr marL="252000" indent="-251640" algn="just">
              <a:lnSpc>
                <a:spcPct val="100000"/>
              </a:lnSpc>
              <a:spcBef>
                <a:spcPts val="400"/>
              </a:spcBef>
              <a:buClr>
                <a:srgbClr val="205aa7"/>
              </a:buClr>
              <a:buFont typeface="Wingdings" charset="2"/>
              <a:buChar char=""/>
              <a:tabLst>
                <a:tab algn="l" pos="0"/>
              </a:tabLst>
            </a:pPr>
            <a:r>
              <a:rPr b="0" lang="fr-FR" sz="2000" spc="-1" strike="noStrike">
                <a:solidFill>
                  <a:srgbClr val="205aa7"/>
                </a:solidFill>
                <a:latin typeface="Calibri"/>
              </a:rPr>
              <a:t>Il n’est pas assujetti à l’impôt.</a:t>
            </a:r>
            <a:endParaRPr b="0" lang="fr-FR" sz="2000" spc="-1" strike="noStrike">
              <a:solidFill>
                <a:srgbClr val="205aa7"/>
              </a:solidFill>
              <a:latin typeface="Calibri"/>
            </a:endParaRPr>
          </a:p>
          <a:p>
            <a:pPr lvl="1" marL="743040" indent="-285480" algn="just">
              <a:lnSpc>
                <a:spcPct val="100000"/>
              </a:lnSpc>
              <a:spcBef>
                <a:spcPts val="360"/>
              </a:spcBef>
              <a:buClr>
                <a:srgbClr val="205aa7"/>
              </a:buClr>
              <a:buFont typeface="Arial"/>
              <a:buChar char="–"/>
              <a:tabLst>
                <a:tab algn="l" pos="0"/>
              </a:tabLst>
            </a:pPr>
            <a:r>
              <a:rPr b="0" lang="fr-FR" sz="1800" spc="-1" strike="noStrike">
                <a:solidFill>
                  <a:srgbClr val="205aa7"/>
                </a:solidFill>
                <a:latin typeface="Calibri"/>
              </a:rPr>
              <a:t>Régime « mère-fille »</a:t>
            </a:r>
            <a:endParaRPr b="0" lang="fr-FR" sz="1800" spc="-1" strike="noStrike">
              <a:solidFill>
                <a:srgbClr val="595959"/>
              </a:solidFill>
              <a:latin typeface="Calibri"/>
            </a:endParaRPr>
          </a:p>
          <a:p>
            <a:pPr lvl="1" marL="743040" indent="-285480" algn="just">
              <a:lnSpc>
                <a:spcPct val="100000"/>
              </a:lnSpc>
              <a:spcBef>
                <a:spcPts val="360"/>
              </a:spcBef>
              <a:buClr>
                <a:srgbClr val="205aa7"/>
              </a:buClr>
              <a:buFont typeface="Arial"/>
              <a:buChar char="–"/>
              <a:tabLst>
                <a:tab algn="l" pos="0"/>
              </a:tabLst>
            </a:pPr>
            <a:r>
              <a:rPr b="0" lang="fr-FR" sz="1800" spc="-1" strike="noStrike">
                <a:solidFill>
                  <a:srgbClr val="205aa7"/>
                </a:solidFill>
                <a:latin typeface="Calibri"/>
              </a:rPr>
              <a:t>Intégration fiscale</a:t>
            </a:r>
            <a:endParaRPr b="0" lang="fr-FR" sz="1800" spc="-1" strike="noStrike">
              <a:solidFill>
                <a:srgbClr val="595959"/>
              </a:solidFill>
              <a:latin typeface="Calibri"/>
            </a:endParaRPr>
          </a:p>
        </p:txBody>
      </p:sp>
    </p:spTree>
  </p:cSld>
  <mc:AlternateContent>
    <mc:Choice Requires="p14">
      <p:transition spd="slow" p14:dur="2000"/>
    </mc:Choice>
    <mc:Fallback>
      <p:transition spd="slow"/>
    </mc:Fallback>
  </mc:AlternateContent>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3" name="TextShape 1"/>
          <p:cNvSpPr txBox="1"/>
          <p:nvPr/>
        </p:nvSpPr>
        <p:spPr>
          <a:xfrm>
            <a:off x="468000" y="0"/>
            <a:ext cx="8229240" cy="1142640"/>
          </a:xfrm>
          <a:prstGeom prst="rect">
            <a:avLst/>
          </a:prstGeom>
          <a:noFill/>
          <a:ln>
            <a:noFill/>
          </a:ln>
        </p:spPr>
        <p:txBody>
          <a:bodyPr anchor="ctr">
            <a:noAutofit/>
          </a:bodyPr>
          <a:p>
            <a:pPr>
              <a:lnSpc>
                <a:spcPct val="100000"/>
              </a:lnSpc>
            </a:pPr>
            <a:r>
              <a:rPr b="1" lang="fr-FR" sz="2400" spc="-1" strike="noStrike" cap="all">
                <a:solidFill>
                  <a:srgbClr val="ffffff"/>
                </a:solidFill>
                <a:latin typeface="Calibri"/>
              </a:rPr>
              <a:t>3. L’analyse financière des comptes consolidés</a:t>
            </a:r>
            <a:endParaRPr b="0" lang="fr-FR" sz="2400" spc="-1" strike="noStrike">
              <a:solidFill>
                <a:srgbClr val="000000"/>
              </a:solidFill>
              <a:latin typeface="Calibri"/>
            </a:endParaRPr>
          </a:p>
        </p:txBody>
      </p:sp>
      <p:sp>
        <p:nvSpPr>
          <p:cNvPr id="304" name="TextShape 2"/>
          <p:cNvSpPr txBox="1"/>
          <p:nvPr/>
        </p:nvSpPr>
        <p:spPr>
          <a:xfrm>
            <a:off x="3124080" y="6480000"/>
            <a:ext cx="4975920" cy="359640"/>
          </a:xfrm>
          <a:prstGeom prst="rect">
            <a:avLst/>
          </a:prstGeom>
          <a:noFill/>
          <a:ln>
            <a:noFill/>
          </a:ln>
        </p:spPr>
        <p:txBody>
          <a:bodyPr>
            <a:noAutofit/>
          </a:bodyPr>
          <a:p>
            <a:endParaRPr b="0" lang="fr-FR" sz="2400" spc="-1" strike="noStrike">
              <a:latin typeface="Times New Roman"/>
            </a:endParaRPr>
          </a:p>
        </p:txBody>
      </p:sp>
      <p:sp>
        <p:nvSpPr>
          <p:cNvPr id="305" name="TextShape 3"/>
          <p:cNvSpPr txBox="1"/>
          <p:nvPr/>
        </p:nvSpPr>
        <p:spPr>
          <a:xfrm>
            <a:off x="8172360" y="6480000"/>
            <a:ext cx="539640" cy="359640"/>
          </a:xfrm>
          <a:prstGeom prst="rect">
            <a:avLst/>
          </a:prstGeom>
          <a:noFill/>
          <a:ln>
            <a:noFill/>
          </a:ln>
        </p:spPr>
        <p:txBody>
          <a:bodyPr lIns="90000" rIns="90000" tIns="45000" bIns="45000">
            <a:noAutofit/>
          </a:bodyPr>
          <a:p>
            <a:pPr algn="r">
              <a:lnSpc>
                <a:spcPct val="100000"/>
              </a:lnSpc>
            </a:pPr>
            <a:fld id="{873AB1F8-9D78-4D1B-A470-0EA105C0E200}" type="slidenum">
              <a:rPr b="0" lang="fr-FR" sz="900" spc="-1" strike="noStrike">
                <a:solidFill>
                  <a:srgbClr val="205aa7"/>
                </a:solidFill>
                <a:latin typeface="Calibri"/>
              </a:rPr>
              <a:t>&lt;number&gt;</a:t>
            </a:fld>
            <a:endParaRPr b="0" lang="fr-FR" sz="900" spc="-1" strike="noStrike">
              <a:latin typeface="Times New Roman"/>
            </a:endParaRPr>
          </a:p>
        </p:txBody>
      </p:sp>
      <p:sp>
        <p:nvSpPr>
          <p:cNvPr id="306" name="TextShape 4"/>
          <p:cNvSpPr txBox="1"/>
          <p:nvPr/>
        </p:nvSpPr>
        <p:spPr>
          <a:xfrm>
            <a:off x="468000" y="1440000"/>
            <a:ext cx="8229240" cy="4525560"/>
          </a:xfrm>
          <a:prstGeom prst="rect">
            <a:avLst/>
          </a:prstGeom>
          <a:noFill/>
          <a:ln>
            <a:noFill/>
          </a:ln>
        </p:spPr>
        <p:txBody>
          <a:bodyPr>
            <a:normAutofit/>
          </a:bodyPr>
          <a:p>
            <a:pPr algn="ctr">
              <a:lnSpc>
                <a:spcPct val="100000"/>
              </a:lnSpc>
              <a:spcBef>
                <a:spcPts val="400"/>
              </a:spcBef>
              <a:tabLst>
                <a:tab algn="l" pos="0"/>
              </a:tabLst>
            </a:pPr>
            <a:r>
              <a:rPr b="1" lang="fr-FR" sz="2000" spc="-1" strike="noStrike">
                <a:solidFill>
                  <a:srgbClr val="205aa7"/>
                </a:solidFill>
                <a:latin typeface="Calibri"/>
              </a:rPr>
              <a:t>Enjeux de l’analyse</a:t>
            </a:r>
            <a:endParaRPr b="0" lang="fr-FR" sz="2000" spc="-1" strike="noStrike">
              <a:solidFill>
                <a:srgbClr val="205aa7"/>
              </a:solidFill>
              <a:latin typeface="Calibri"/>
            </a:endParaRPr>
          </a:p>
          <a:p>
            <a:pPr algn="ctr">
              <a:lnSpc>
                <a:spcPct val="100000"/>
              </a:lnSpc>
              <a:spcBef>
                <a:spcPts val="201"/>
              </a:spcBef>
              <a:tabLst>
                <a:tab algn="l" pos="0"/>
              </a:tabLst>
            </a:pPr>
            <a:endParaRPr b="0" lang="fr-FR" sz="2000" spc="-1" strike="noStrike">
              <a:solidFill>
                <a:srgbClr val="205aa7"/>
              </a:solidFill>
              <a:latin typeface="Calibri"/>
            </a:endParaRPr>
          </a:p>
          <a:p>
            <a:pPr marL="252000" indent="-251640" algn="just">
              <a:lnSpc>
                <a:spcPct val="100000"/>
              </a:lnSpc>
              <a:spcBef>
                <a:spcPts val="400"/>
              </a:spcBef>
              <a:buClr>
                <a:srgbClr val="205aa7"/>
              </a:buClr>
              <a:buFont typeface="Wingdings" charset="2"/>
              <a:buChar char=""/>
              <a:tabLst>
                <a:tab algn="l" pos="0"/>
              </a:tabLst>
            </a:pPr>
            <a:r>
              <a:rPr b="0" lang="fr-FR" sz="2000" spc="-1" strike="noStrike">
                <a:solidFill>
                  <a:srgbClr val="205aa7"/>
                </a:solidFill>
                <a:latin typeface="Calibri"/>
              </a:rPr>
              <a:t>La nécessité de prendre en compte l’environnement proche lors de la cotation d’une entité sociale résulte de la multiplication et de la complexification des montages financiers y compris pour les entités de faible taille afin de répondre à des objectifs fiscaux (LBO, SCI…) et/ou patrimoniaux.</a:t>
            </a:r>
            <a:endParaRPr b="0" lang="fr-FR" sz="2000" spc="-1" strike="noStrike">
              <a:solidFill>
                <a:srgbClr val="205aa7"/>
              </a:solidFill>
              <a:latin typeface="Calibri"/>
            </a:endParaRPr>
          </a:p>
          <a:p>
            <a:pPr marL="252000" indent="-251640" algn="just">
              <a:lnSpc>
                <a:spcPct val="100000"/>
              </a:lnSpc>
              <a:spcBef>
                <a:spcPts val="400"/>
              </a:spcBef>
              <a:buClr>
                <a:srgbClr val="205aa7"/>
              </a:buClr>
              <a:buFont typeface="Wingdings" charset="2"/>
              <a:buChar char=""/>
              <a:tabLst>
                <a:tab algn="l" pos="0"/>
              </a:tabLst>
            </a:pPr>
            <a:r>
              <a:rPr b="0" lang="fr-FR" sz="2000" spc="-1" strike="noStrike">
                <a:solidFill>
                  <a:srgbClr val="205aa7"/>
                </a:solidFill>
                <a:latin typeface="Calibri"/>
              </a:rPr>
              <a:t>L’approche groupe est nécessaire pour appréhender :</a:t>
            </a:r>
            <a:endParaRPr b="0" lang="fr-FR" sz="2000" spc="-1" strike="noStrike">
              <a:solidFill>
                <a:srgbClr val="205aa7"/>
              </a:solidFill>
              <a:latin typeface="Calibri"/>
            </a:endParaRPr>
          </a:p>
          <a:p>
            <a:pPr lvl="1" marL="743040" indent="-285480" algn="just">
              <a:lnSpc>
                <a:spcPct val="100000"/>
              </a:lnSpc>
              <a:spcBef>
                <a:spcPts val="360"/>
              </a:spcBef>
              <a:buClr>
                <a:srgbClr val="205aa7"/>
              </a:buClr>
              <a:buFont typeface="Arial"/>
              <a:buChar char="–"/>
              <a:tabLst>
                <a:tab algn="l" pos="0"/>
              </a:tabLst>
            </a:pPr>
            <a:r>
              <a:rPr b="0" lang="fr-FR" sz="1800" spc="-1" strike="noStrike">
                <a:solidFill>
                  <a:srgbClr val="205aa7"/>
                </a:solidFill>
                <a:latin typeface="Calibri"/>
              </a:rPr>
              <a:t>La vision globale d’un regroupement d’entités,</a:t>
            </a:r>
            <a:endParaRPr b="0" lang="fr-FR" sz="1800" spc="-1" strike="noStrike">
              <a:solidFill>
                <a:srgbClr val="595959"/>
              </a:solidFill>
              <a:latin typeface="Calibri"/>
            </a:endParaRPr>
          </a:p>
          <a:p>
            <a:pPr lvl="1" marL="743040" indent="-285480" algn="just">
              <a:lnSpc>
                <a:spcPct val="100000"/>
              </a:lnSpc>
              <a:spcBef>
                <a:spcPts val="360"/>
              </a:spcBef>
              <a:buClr>
                <a:srgbClr val="205aa7"/>
              </a:buClr>
              <a:buFont typeface="Arial"/>
              <a:buChar char="–"/>
              <a:tabLst>
                <a:tab algn="l" pos="0"/>
              </a:tabLst>
            </a:pPr>
            <a:r>
              <a:rPr b="0" lang="fr-FR" sz="1800" spc="-1" strike="noStrike">
                <a:solidFill>
                  <a:srgbClr val="205aa7"/>
                </a:solidFill>
                <a:latin typeface="Calibri"/>
              </a:rPr>
              <a:t>Les opérations intragroupe,</a:t>
            </a:r>
            <a:endParaRPr b="0" lang="fr-FR" sz="1800" spc="-1" strike="noStrike">
              <a:solidFill>
                <a:srgbClr val="595959"/>
              </a:solidFill>
              <a:latin typeface="Calibri"/>
            </a:endParaRPr>
          </a:p>
          <a:p>
            <a:pPr lvl="1" marL="743040" indent="-285480" algn="just">
              <a:lnSpc>
                <a:spcPct val="100000"/>
              </a:lnSpc>
              <a:spcBef>
                <a:spcPts val="360"/>
              </a:spcBef>
              <a:buClr>
                <a:srgbClr val="205aa7"/>
              </a:buClr>
              <a:buFont typeface="Arial"/>
              <a:buChar char="–"/>
              <a:tabLst>
                <a:tab algn="l" pos="0"/>
              </a:tabLst>
            </a:pPr>
            <a:r>
              <a:rPr b="0" lang="fr-FR" sz="1800" spc="-1" strike="noStrike">
                <a:solidFill>
                  <a:srgbClr val="205aa7"/>
                </a:solidFill>
                <a:latin typeface="Calibri"/>
              </a:rPr>
              <a:t>L’intérêt commun.</a:t>
            </a:r>
            <a:endParaRPr b="0" lang="fr-FR" sz="1800" spc="-1" strike="noStrike">
              <a:solidFill>
                <a:srgbClr val="595959"/>
              </a:solidFill>
              <a:latin typeface="Calibri"/>
            </a:endParaRPr>
          </a:p>
        </p:txBody>
      </p:sp>
    </p:spTree>
  </p:cSld>
  <mc:AlternateContent>
    <mc:Choice Requires="p14">
      <p:transition spd="slow" p14:dur="2000"/>
    </mc:Choice>
    <mc:Fallback>
      <p:transition spd="slow"/>
    </mc:Fallback>
  </mc:AlternateContent>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7" name="TextShape 1"/>
          <p:cNvSpPr txBox="1"/>
          <p:nvPr/>
        </p:nvSpPr>
        <p:spPr>
          <a:xfrm>
            <a:off x="468000" y="0"/>
            <a:ext cx="8229240" cy="1142640"/>
          </a:xfrm>
          <a:prstGeom prst="rect">
            <a:avLst/>
          </a:prstGeom>
          <a:noFill/>
          <a:ln>
            <a:noFill/>
          </a:ln>
        </p:spPr>
        <p:txBody>
          <a:bodyPr anchor="ctr">
            <a:noAutofit/>
          </a:bodyPr>
          <a:p>
            <a:pPr>
              <a:lnSpc>
                <a:spcPct val="100000"/>
              </a:lnSpc>
            </a:pPr>
            <a:r>
              <a:rPr b="1" lang="fr-FR" sz="2400" spc="-1" strike="noStrike" cap="all">
                <a:solidFill>
                  <a:srgbClr val="ffffff"/>
                </a:solidFill>
                <a:latin typeface="Calibri"/>
              </a:rPr>
              <a:t>3. L’analyse financière des comptes consolidés</a:t>
            </a:r>
            <a:endParaRPr b="0" lang="fr-FR" sz="2400" spc="-1" strike="noStrike">
              <a:solidFill>
                <a:srgbClr val="000000"/>
              </a:solidFill>
              <a:latin typeface="Calibri"/>
            </a:endParaRPr>
          </a:p>
        </p:txBody>
      </p:sp>
      <p:sp>
        <p:nvSpPr>
          <p:cNvPr id="308" name="TextShape 2"/>
          <p:cNvSpPr txBox="1"/>
          <p:nvPr/>
        </p:nvSpPr>
        <p:spPr>
          <a:xfrm>
            <a:off x="3124080" y="6480000"/>
            <a:ext cx="4975920" cy="359640"/>
          </a:xfrm>
          <a:prstGeom prst="rect">
            <a:avLst/>
          </a:prstGeom>
          <a:noFill/>
          <a:ln>
            <a:noFill/>
          </a:ln>
        </p:spPr>
        <p:txBody>
          <a:bodyPr>
            <a:noAutofit/>
          </a:bodyPr>
          <a:p>
            <a:endParaRPr b="0" lang="fr-FR" sz="2400" spc="-1" strike="noStrike">
              <a:latin typeface="Times New Roman"/>
            </a:endParaRPr>
          </a:p>
        </p:txBody>
      </p:sp>
      <p:sp>
        <p:nvSpPr>
          <p:cNvPr id="309" name="TextShape 3"/>
          <p:cNvSpPr txBox="1"/>
          <p:nvPr/>
        </p:nvSpPr>
        <p:spPr>
          <a:xfrm>
            <a:off x="8172360" y="6480000"/>
            <a:ext cx="539640" cy="359640"/>
          </a:xfrm>
          <a:prstGeom prst="rect">
            <a:avLst/>
          </a:prstGeom>
          <a:noFill/>
          <a:ln>
            <a:noFill/>
          </a:ln>
        </p:spPr>
        <p:txBody>
          <a:bodyPr lIns="90000" rIns="90000" tIns="45000" bIns="45000">
            <a:noAutofit/>
          </a:bodyPr>
          <a:p>
            <a:pPr algn="r">
              <a:lnSpc>
                <a:spcPct val="100000"/>
              </a:lnSpc>
            </a:pPr>
            <a:fld id="{28A9A851-DF20-46FA-AD21-D03AC63F6B40}" type="slidenum">
              <a:rPr b="0" lang="fr-FR" sz="900" spc="-1" strike="noStrike">
                <a:solidFill>
                  <a:srgbClr val="205aa7"/>
                </a:solidFill>
                <a:latin typeface="Calibri"/>
              </a:rPr>
              <a:t>&lt;number&gt;</a:t>
            </a:fld>
            <a:endParaRPr b="0" lang="fr-FR" sz="900" spc="-1" strike="noStrike">
              <a:latin typeface="Times New Roman"/>
            </a:endParaRPr>
          </a:p>
        </p:txBody>
      </p:sp>
      <p:sp>
        <p:nvSpPr>
          <p:cNvPr id="310" name="TextShape 4"/>
          <p:cNvSpPr txBox="1"/>
          <p:nvPr/>
        </p:nvSpPr>
        <p:spPr>
          <a:xfrm>
            <a:off x="468000" y="1440000"/>
            <a:ext cx="8229240" cy="4525560"/>
          </a:xfrm>
          <a:prstGeom prst="rect">
            <a:avLst/>
          </a:prstGeom>
          <a:noFill/>
          <a:ln>
            <a:noFill/>
          </a:ln>
        </p:spPr>
        <p:txBody>
          <a:bodyPr>
            <a:normAutofit/>
          </a:bodyPr>
          <a:p>
            <a:pPr algn="ctr">
              <a:lnSpc>
                <a:spcPct val="100000"/>
              </a:lnSpc>
              <a:spcBef>
                <a:spcPts val="400"/>
              </a:spcBef>
              <a:tabLst>
                <a:tab algn="l" pos="0"/>
              </a:tabLst>
            </a:pPr>
            <a:r>
              <a:rPr b="1" lang="fr-FR" sz="2000" spc="-1" strike="noStrike">
                <a:solidFill>
                  <a:srgbClr val="205aa7"/>
                </a:solidFill>
                <a:latin typeface="Calibri"/>
              </a:rPr>
              <a:t>Critères de consolidation obligatoire</a:t>
            </a:r>
            <a:endParaRPr b="0" lang="fr-FR" sz="2000" spc="-1" strike="noStrike">
              <a:solidFill>
                <a:srgbClr val="205aa7"/>
              </a:solidFill>
              <a:latin typeface="Calibri"/>
            </a:endParaRPr>
          </a:p>
          <a:p>
            <a:pPr algn="ctr">
              <a:lnSpc>
                <a:spcPct val="100000"/>
              </a:lnSpc>
              <a:spcBef>
                <a:spcPts val="201"/>
              </a:spcBef>
              <a:tabLst>
                <a:tab algn="l" pos="0"/>
              </a:tabLst>
            </a:pPr>
            <a:endParaRPr b="0" lang="fr-FR" sz="2000" spc="-1" strike="noStrike">
              <a:solidFill>
                <a:srgbClr val="205aa7"/>
              </a:solidFill>
              <a:latin typeface="Calibri"/>
            </a:endParaRPr>
          </a:p>
          <a:p>
            <a:pPr marL="252000" indent="-251640" algn="just">
              <a:lnSpc>
                <a:spcPct val="100000"/>
              </a:lnSpc>
              <a:spcBef>
                <a:spcPts val="400"/>
              </a:spcBef>
              <a:buClr>
                <a:srgbClr val="205aa7"/>
              </a:buClr>
              <a:buFont typeface="Wingdings" charset="2"/>
              <a:buChar char=""/>
              <a:tabLst>
                <a:tab algn="l" pos="0"/>
              </a:tabLst>
            </a:pPr>
            <a:r>
              <a:rPr b="0" lang="fr-FR" sz="2000" spc="-1" strike="noStrike">
                <a:solidFill>
                  <a:srgbClr val="205aa7"/>
                </a:solidFill>
                <a:latin typeface="Calibri"/>
              </a:rPr>
              <a:t>Émission de titres sur les marchés financiers (appel public à l’épargne).</a:t>
            </a:r>
            <a:endParaRPr b="0" lang="fr-FR" sz="2000" spc="-1" strike="noStrike">
              <a:solidFill>
                <a:srgbClr val="205aa7"/>
              </a:solidFill>
              <a:latin typeface="Calibri"/>
            </a:endParaRPr>
          </a:p>
          <a:p>
            <a:pPr marL="252000" indent="-251640" algn="just">
              <a:lnSpc>
                <a:spcPct val="100000"/>
              </a:lnSpc>
              <a:spcBef>
                <a:spcPts val="400"/>
              </a:spcBef>
              <a:buClr>
                <a:srgbClr val="205aa7"/>
              </a:buClr>
              <a:buFont typeface="Wingdings" charset="2"/>
              <a:buChar char=""/>
              <a:tabLst>
                <a:tab algn="l" pos="0"/>
              </a:tabLst>
            </a:pPr>
            <a:r>
              <a:rPr b="0" lang="fr-FR" sz="2000" spc="-1" strike="noStrike">
                <a:solidFill>
                  <a:srgbClr val="205aa7"/>
                </a:solidFill>
                <a:latin typeface="Calibri"/>
              </a:rPr>
              <a:t>Dépassement de 2 des 3 seuils suivants (apprécié sur deux exercices consécutifs) :</a:t>
            </a:r>
            <a:endParaRPr b="0" lang="fr-FR" sz="2000" spc="-1" strike="noStrike">
              <a:solidFill>
                <a:srgbClr val="205aa7"/>
              </a:solidFill>
              <a:latin typeface="Calibri"/>
            </a:endParaRPr>
          </a:p>
          <a:p>
            <a:pPr lvl="1" marL="743040" indent="-285480" algn="just">
              <a:lnSpc>
                <a:spcPct val="100000"/>
              </a:lnSpc>
              <a:spcBef>
                <a:spcPts val="360"/>
              </a:spcBef>
              <a:buClr>
                <a:srgbClr val="205aa7"/>
              </a:buClr>
              <a:buFont typeface="Arial"/>
              <a:buChar char="–"/>
              <a:tabLst>
                <a:tab algn="l" pos="0"/>
              </a:tabLst>
            </a:pPr>
            <a:r>
              <a:rPr b="0" lang="fr-FR" sz="1800" spc="-1" strike="noStrike">
                <a:solidFill>
                  <a:srgbClr val="205aa7"/>
                </a:solidFill>
                <a:latin typeface="Calibri"/>
              </a:rPr>
              <a:t>Total bilan</a:t>
            </a:r>
            <a:r>
              <a:rPr b="0" lang="fr-FR" sz="1800" spc="-1" strike="noStrike">
                <a:solidFill>
                  <a:srgbClr val="205aa7"/>
                </a:solidFill>
                <a:latin typeface="Calibri"/>
              </a:rPr>
              <a:t>	</a:t>
            </a:r>
            <a:r>
              <a:rPr b="0" lang="fr-FR" sz="1800" spc="-1" strike="noStrike">
                <a:solidFill>
                  <a:srgbClr val="205aa7"/>
                </a:solidFill>
                <a:latin typeface="Calibri"/>
              </a:rPr>
              <a:t>	</a:t>
            </a:r>
            <a:r>
              <a:rPr b="0" lang="fr-FR" sz="1800" spc="-1" strike="noStrike">
                <a:solidFill>
                  <a:srgbClr val="205aa7"/>
                </a:solidFill>
                <a:latin typeface="Calibri"/>
              </a:rPr>
              <a:t>&gt; 24 M€</a:t>
            </a:r>
            <a:endParaRPr b="0" lang="fr-FR" sz="1800" spc="-1" strike="noStrike">
              <a:solidFill>
                <a:srgbClr val="595959"/>
              </a:solidFill>
              <a:latin typeface="Calibri"/>
            </a:endParaRPr>
          </a:p>
          <a:p>
            <a:pPr lvl="1" marL="743040" indent="-285480" algn="just">
              <a:lnSpc>
                <a:spcPct val="100000"/>
              </a:lnSpc>
              <a:spcBef>
                <a:spcPts val="360"/>
              </a:spcBef>
              <a:buClr>
                <a:srgbClr val="205aa7"/>
              </a:buClr>
              <a:buFont typeface="Arial"/>
              <a:buChar char="–"/>
              <a:tabLst>
                <a:tab algn="l" pos="0"/>
              </a:tabLst>
            </a:pPr>
            <a:r>
              <a:rPr b="0" lang="fr-FR" sz="1800" spc="-1" strike="noStrike">
                <a:solidFill>
                  <a:srgbClr val="205aa7"/>
                </a:solidFill>
                <a:latin typeface="Calibri"/>
              </a:rPr>
              <a:t>Chiffre d’affaires</a:t>
            </a:r>
            <a:r>
              <a:rPr b="0" lang="fr-FR" sz="1800" spc="-1" strike="noStrike">
                <a:solidFill>
                  <a:srgbClr val="205aa7"/>
                </a:solidFill>
                <a:latin typeface="Calibri"/>
              </a:rPr>
              <a:t>	</a:t>
            </a:r>
            <a:r>
              <a:rPr b="0" lang="fr-FR" sz="1800" spc="-1" strike="noStrike">
                <a:solidFill>
                  <a:srgbClr val="205aa7"/>
                </a:solidFill>
                <a:latin typeface="Calibri"/>
              </a:rPr>
              <a:t>&gt; 48 M€</a:t>
            </a:r>
            <a:endParaRPr b="0" lang="fr-FR" sz="1800" spc="-1" strike="noStrike">
              <a:solidFill>
                <a:srgbClr val="595959"/>
              </a:solidFill>
              <a:latin typeface="Calibri"/>
            </a:endParaRPr>
          </a:p>
          <a:p>
            <a:pPr lvl="1" marL="743040" indent="-285480" algn="just">
              <a:lnSpc>
                <a:spcPct val="100000"/>
              </a:lnSpc>
              <a:spcBef>
                <a:spcPts val="360"/>
              </a:spcBef>
              <a:buClr>
                <a:srgbClr val="205aa7"/>
              </a:buClr>
              <a:buFont typeface="Arial"/>
              <a:buChar char="–"/>
              <a:tabLst>
                <a:tab algn="l" pos="0"/>
              </a:tabLst>
            </a:pPr>
            <a:r>
              <a:rPr b="0" lang="fr-FR" sz="1800" spc="-1" strike="noStrike">
                <a:solidFill>
                  <a:srgbClr val="205aa7"/>
                </a:solidFill>
                <a:latin typeface="Calibri"/>
              </a:rPr>
              <a:t>Effectifs</a:t>
            </a:r>
            <a:r>
              <a:rPr b="0" lang="fr-FR" sz="1800" spc="-1" strike="noStrike">
                <a:solidFill>
                  <a:srgbClr val="205aa7"/>
                </a:solidFill>
                <a:latin typeface="Calibri"/>
              </a:rPr>
              <a:t>	</a:t>
            </a:r>
            <a:r>
              <a:rPr b="0" lang="fr-FR" sz="1800" spc="-1" strike="noStrike">
                <a:solidFill>
                  <a:srgbClr val="205aa7"/>
                </a:solidFill>
                <a:latin typeface="Calibri"/>
              </a:rPr>
              <a:t>	</a:t>
            </a:r>
            <a:r>
              <a:rPr b="0" lang="fr-FR" sz="1800" spc="-1" strike="noStrike">
                <a:solidFill>
                  <a:srgbClr val="205aa7"/>
                </a:solidFill>
                <a:latin typeface="Calibri"/>
              </a:rPr>
              <a:t>&gt; 250 personnes</a:t>
            </a:r>
            <a:endParaRPr b="0" lang="fr-FR" sz="1800" spc="-1" strike="noStrike">
              <a:solidFill>
                <a:srgbClr val="595959"/>
              </a:solidFill>
              <a:latin typeface="Calibri"/>
            </a:endParaRPr>
          </a:p>
        </p:txBody>
      </p:sp>
    </p:spTree>
  </p:cSld>
  <mc:AlternateContent>
    <mc:Choice Requires="p14">
      <p:transition spd="slow" p14:dur="2000"/>
    </mc:Choice>
    <mc:Fallback>
      <p:transition spd="slow"/>
    </mc:Fallback>
  </mc:AlternateContent>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1" name="TextShape 1"/>
          <p:cNvSpPr txBox="1"/>
          <p:nvPr/>
        </p:nvSpPr>
        <p:spPr>
          <a:xfrm>
            <a:off x="468000" y="0"/>
            <a:ext cx="8229240" cy="1142640"/>
          </a:xfrm>
          <a:prstGeom prst="rect">
            <a:avLst/>
          </a:prstGeom>
          <a:noFill/>
          <a:ln>
            <a:noFill/>
          </a:ln>
        </p:spPr>
        <p:txBody>
          <a:bodyPr anchor="ctr">
            <a:noAutofit/>
          </a:bodyPr>
          <a:p>
            <a:pPr>
              <a:lnSpc>
                <a:spcPct val="100000"/>
              </a:lnSpc>
            </a:pPr>
            <a:r>
              <a:rPr b="1" lang="fr-FR" sz="2400" spc="-1" strike="noStrike" cap="all">
                <a:solidFill>
                  <a:srgbClr val="ffffff"/>
                </a:solidFill>
                <a:latin typeface="Calibri"/>
              </a:rPr>
              <a:t>3. L’analyse financière des comptes consolidés</a:t>
            </a:r>
            <a:endParaRPr b="0" lang="fr-FR" sz="2400" spc="-1" strike="noStrike">
              <a:solidFill>
                <a:srgbClr val="000000"/>
              </a:solidFill>
              <a:latin typeface="Calibri"/>
            </a:endParaRPr>
          </a:p>
        </p:txBody>
      </p:sp>
      <p:sp>
        <p:nvSpPr>
          <p:cNvPr id="312" name="TextShape 2"/>
          <p:cNvSpPr txBox="1"/>
          <p:nvPr/>
        </p:nvSpPr>
        <p:spPr>
          <a:xfrm>
            <a:off x="3124080" y="6480000"/>
            <a:ext cx="4975920" cy="359640"/>
          </a:xfrm>
          <a:prstGeom prst="rect">
            <a:avLst/>
          </a:prstGeom>
          <a:noFill/>
          <a:ln>
            <a:noFill/>
          </a:ln>
        </p:spPr>
        <p:txBody>
          <a:bodyPr>
            <a:noAutofit/>
          </a:bodyPr>
          <a:p>
            <a:endParaRPr b="0" lang="fr-FR" sz="2400" spc="-1" strike="noStrike">
              <a:latin typeface="Times New Roman"/>
            </a:endParaRPr>
          </a:p>
        </p:txBody>
      </p:sp>
      <p:sp>
        <p:nvSpPr>
          <p:cNvPr id="313" name="TextShape 3"/>
          <p:cNvSpPr txBox="1"/>
          <p:nvPr/>
        </p:nvSpPr>
        <p:spPr>
          <a:xfrm>
            <a:off x="8172360" y="6480000"/>
            <a:ext cx="539640" cy="359640"/>
          </a:xfrm>
          <a:prstGeom prst="rect">
            <a:avLst/>
          </a:prstGeom>
          <a:noFill/>
          <a:ln>
            <a:noFill/>
          </a:ln>
        </p:spPr>
        <p:txBody>
          <a:bodyPr lIns="90000" rIns="90000" tIns="45000" bIns="45000">
            <a:noAutofit/>
          </a:bodyPr>
          <a:p>
            <a:pPr algn="r">
              <a:lnSpc>
                <a:spcPct val="100000"/>
              </a:lnSpc>
            </a:pPr>
            <a:fld id="{7CAAC04E-C622-419C-AD19-1FBED1F34A42}" type="slidenum">
              <a:rPr b="0" lang="fr-FR" sz="900" spc="-1" strike="noStrike">
                <a:solidFill>
                  <a:srgbClr val="205aa7"/>
                </a:solidFill>
                <a:latin typeface="Calibri"/>
              </a:rPr>
              <a:t>&lt;number&gt;</a:t>
            </a:fld>
            <a:endParaRPr b="0" lang="fr-FR" sz="900" spc="-1" strike="noStrike">
              <a:latin typeface="Times New Roman"/>
            </a:endParaRPr>
          </a:p>
        </p:txBody>
      </p:sp>
      <p:sp>
        <p:nvSpPr>
          <p:cNvPr id="314" name="TextShape 4"/>
          <p:cNvSpPr txBox="1"/>
          <p:nvPr/>
        </p:nvSpPr>
        <p:spPr>
          <a:xfrm>
            <a:off x="468000" y="1440000"/>
            <a:ext cx="8229240" cy="4525560"/>
          </a:xfrm>
          <a:prstGeom prst="rect">
            <a:avLst/>
          </a:prstGeom>
          <a:noFill/>
          <a:ln>
            <a:noFill/>
          </a:ln>
        </p:spPr>
        <p:txBody>
          <a:bodyPr>
            <a:normAutofit/>
          </a:bodyPr>
          <a:p>
            <a:pPr algn="ctr">
              <a:lnSpc>
                <a:spcPct val="100000"/>
              </a:lnSpc>
              <a:spcBef>
                <a:spcPts val="400"/>
              </a:spcBef>
              <a:tabLst>
                <a:tab algn="l" pos="0"/>
              </a:tabLst>
            </a:pPr>
            <a:r>
              <a:rPr b="1" lang="fr-FR" sz="2000" spc="-1" strike="noStrike">
                <a:solidFill>
                  <a:srgbClr val="205aa7"/>
                </a:solidFill>
                <a:latin typeface="Calibri"/>
              </a:rPr>
              <a:t>Particularités des comptes consolidés</a:t>
            </a:r>
            <a:endParaRPr b="0" lang="fr-FR" sz="2000" spc="-1" strike="noStrike">
              <a:solidFill>
                <a:srgbClr val="205aa7"/>
              </a:solidFill>
              <a:latin typeface="Calibri"/>
            </a:endParaRPr>
          </a:p>
          <a:p>
            <a:pPr algn="ctr">
              <a:lnSpc>
                <a:spcPct val="100000"/>
              </a:lnSpc>
              <a:spcBef>
                <a:spcPts val="201"/>
              </a:spcBef>
              <a:tabLst>
                <a:tab algn="l" pos="0"/>
              </a:tabLst>
            </a:pPr>
            <a:endParaRPr b="0" lang="fr-FR" sz="2000" spc="-1" strike="noStrike">
              <a:solidFill>
                <a:srgbClr val="205aa7"/>
              </a:solidFill>
              <a:latin typeface="Calibri"/>
            </a:endParaRPr>
          </a:p>
          <a:p>
            <a:pPr marL="252000" indent="-251640" algn="just">
              <a:lnSpc>
                <a:spcPct val="100000"/>
              </a:lnSpc>
              <a:spcBef>
                <a:spcPts val="400"/>
              </a:spcBef>
              <a:buClr>
                <a:srgbClr val="205aa7"/>
              </a:buClr>
              <a:buFont typeface="Wingdings" charset="2"/>
              <a:buChar char=""/>
              <a:tabLst>
                <a:tab algn="l" pos="0"/>
              </a:tabLst>
            </a:pPr>
            <a:r>
              <a:rPr b="0" lang="fr-FR" sz="2000" spc="-1" strike="noStrike">
                <a:solidFill>
                  <a:srgbClr val="205aa7"/>
                </a:solidFill>
                <a:latin typeface="Calibri"/>
              </a:rPr>
              <a:t>Absence de document standard : présentation et nature d’informations très diverses</a:t>
            </a:r>
            <a:endParaRPr b="0" lang="fr-FR" sz="2000" spc="-1" strike="noStrike">
              <a:solidFill>
                <a:srgbClr val="205aa7"/>
              </a:solidFill>
              <a:latin typeface="Calibri"/>
            </a:endParaRPr>
          </a:p>
          <a:p>
            <a:pPr marL="252000" indent="-251640" algn="just">
              <a:lnSpc>
                <a:spcPct val="100000"/>
              </a:lnSpc>
              <a:spcBef>
                <a:spcPts val="400"/>
              </a:spcBef>
              <a:buClr>
                <a:srgbClr val="205aa7"/>
              </a:buClr>
              <a:buFont typeface="Wingdings" charset="2"/>
              <a:buChar char=""/>
              <a:tabLst>
                <a:tab algn="l" pos="0"/>
              </a:tabLst>
            </a:pPr>
            <a:r>
              <a:rPr b="0" lang="fr-FR" sz="2000" spc="-1" strike="noStrike">
                <a:solidFill>
                  <a:srgbClr val="205aa7"/>
                </a:solidFill>
                <a:latin typeface="Calibri"/>
              </a:rPr>
              <a:t>Coexistence de 2 référentiels de normes : présentation et nature d’informations très diverses</a:t>
            </a:r>
            <a:endParaRPr b="0" lang="fr-FR" sz="2000" spc="-1" strike="noStrike">
              <a:solidFill>
                <a:srgbClr val="205aa7"/>
              </a:solidFill>
              <a:latin typeface="Calibri"/>
            </a:endParaRPr>
          </a:p>
          <a:p>
            <a:pPr marL="252000" indent="-251640" algn="just">
              <a:lnSpc>
                <a:spcPct val="100000"/>
              </a:lnSpc>
              <a:spcBef>
                <a:spcPts val="400"/>
              </a:spcBef>
              <a:buClr>
                <a:srgbClr val="205aa7"/>
              </a:buClr>
              <a:buFont typeface="Wingdings" charset="2"/>
              <a:buChar char=""/>
              <a:tabLst>
                <a:tab algn="l" pos="0"/>
              </a:tabLst>
            </a:pPr>
            <a:r>
              <a:rPr b="0" lang="fr-FR" sz="2000" spc="-1" strike="noStrike">
                <a:solidFill>
                  <a:srgbClr val="205aa7"/>
                </a:solidFill>
                <a:latin typeface="Calibri"/>
              </a:rPr>
              <a:t>Marges de manœuvre : options permises par les règlements comptables</a:t>
            </a:r>
            <a:endParaRPr b="0" lang="fr-FR" sz="2000" spc="-1" strike="noStrike">
              <a:solidFill>
                <a:srgbClr val="205aa7"/>
              </a:solidFill>
              <a:latin typeface="Calibri"/>
            </a:endParaRPr>
          </a:p>
          <a:p>
            <a:pPr marL="252000" indent="-251640" algn="just">
              <a:lnSpc>
                <a:spcPct val="100000"/>
              </a:lnSpc>
              <a:spcBef>
                <a:spcPts val="400"/>
              </a:spcBef>
              <a:buClr>
                <a:srgbClr val="205aa7"/>
              </a:buClr>
              <a:buFont typeface="Wingdings" charset="2"/>
              <a:buChar char=""/>
              <a:tabLst>
                <a:tab algn="l" pos="0"/>
              </a:tabLst>
            </a:pPr>
            <a:r>
              <a:rPr b="0" lang="fr-FR" sz="2000" spc="-1" strike="noStrike">
                <a:solidFill>
                  <a:srgbClr val="205aa7"/>
                </a:solidFill>
                <a:latin typeface="Calibri"/>
              </a:rPr>
              <a:t>Déperdition d’informations : présentation très synthétique d’activités souvent très diverses</a:t>
            </a:r>
            <a:endParaRPr b="0" lang="fr-FR" sz="2000" spc="-1" strike="noStrike">
              <a:solidFill>
                <a:srgbClr val="205aa7"/>
              </a:solidFill>
              <a:latin typeface="Calibri"/>
            </a:endParaRPr>
          </a:p>
          <a:p>
            <a:pPr marL="252000" indent="-251640" algn="just">
              <a:lnSpc>
                <a:spcPct val="100000"/>
              </a:lnSpc>
              <a:spcBef>
                <a:spcPts val="400"/>
              </a:spcBef>
              <a:buClr>
                <a:srgbClr val="205aa7"/>
              </a:buClr>
              <a:buFont typeface="Wingdings" charset="2"/>
              <a:buChar char=""/>
              <a:tabLst>
                <a:tab algn="l" pos="0"/>
              </a:tabLst>
            </a:pPr>
            <a:r>
              <a:rPr b="0" lang="fr-FR" sz="2000" spc="-1" strike="noStrike">
                <a:solidFill>
                  <a:srgbClr val="205aa7"/>
                </a:solidFill>
                <a:latin typeface="Calibri"/>
              </a:rPr>
              <a:t>Comparaison inter-exercices difficile : Variations de périmètre, documents pro-forma, tableau de trésorerie</a:t>
            </a:r>
            <a:endParaRPr b="0" lang="fr-FR" sz="2000" spc="-1" strike="noStrike">
              <a:solidFill>
                <a:srgbClr val="205aa7"/>
              </a:solidFill>
              <a:latin typeface="Calibri"/>
            </a:endParaRPr>
          </a:p>
        </p:txBody>
      </p:sp>
    </p:spTree>
  </p:cSld>
  <mc:AlternateContent>
    <mc:Choice Requires="p14">
      <p:transition spd="slow" p14:dur="2000"/>
    </mc:Choice>
    <mc:Fallback>
      <p:transition spd="slow"/>
    </mc:Fallback>
  </mc:AlternateContent>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5" name="TextShape 1"/>
          <p:cNvSpPr txBox="1"/>
          <p:nvPr/>
        </p:nvSpPr>
        <p:spPr>
          <a:xfrm>
            <a:off x="468000" y="0"/>
            <a:ext cx="8229240" cy="1142640"/>
          </a:xfrm>
          <a:prstGeom prst="rect">
            <a:avLst/>
          </a:prstGeom>
          <a:noFill/>
          <a:ln>
            <a:noFill/>
          </a:ln>
        </p:spPr>
        <p:txBody>
          <a:bodyPr anchor="ctr">
            <a:noAutofit/>
          </a:bodyPr>
          <a:p>
            <a:pPr>
              <a:lnSpc>
                <a:spcPct val="100000"/>
              </a:lnSpc>
            </a:pPr>
            <a:r>
              <a:rPr b="1" lang="fr-FR" sz="2400" spc="-1" strike="noStrike" cap="all">
                <a:solidFill>
                  <a:srgbClr val="ffffff"/>
                </a:solidFill>
                <a:latin typeface="Calibri"/>
              </a:rPr>
              <a:t>3. L’analyse financière des comptes consolidés</a:t>
            </a:r>
            <a:endParaRPr b="0" lang="fr-FR" sz="2400" spc="-1" strike="noStrike">
              <a:solidFill>
                <a:srgbClr val="000000"/>
              </a:solidFill>
              <a:latin typeface="Calibri"/>
            </a:endParaRPr>
          </a:p>
        </p:txBody>
      </p:sp>
      <p:sp>
        <p:nvSpPr>
          <p:cNvPr id="316" name="TextShape 2"/>
          <p:cNvSpPr txBox="1"/>
          <p:nvPr/>
        </p:nvSpPr>
        <p:spPr>
          <a:xfrm>
            <a:off x="3124080" y="6480000"/>
            <a:ext cx="4975920" cy="359640"/>
          </a:xfrm>
          <a:prstGeom prst="rect">
            <a:avLst/>
          </a:prstGeom>
          <a:noFill/>
          <a:ln>
            <a:noFill/>
          </a:ln>
        </p:spPr>
        <p:txBody>
          <a:bodyPr>
            <a:noAutofit/>
          </a:bodyPr>
          <a:p>
            <a:endParaRPr b="0" lang="fr-FR" sz="2400" spc="-1" strike="noStrike">
              <a:latin typeface="Times New Roman"/>
            </a:endParaRPr>
          </a:p>
        </p:txBody>
      </p:sp>
      <p:sp>
        <p:nvSpPr>
          <p:cNvPr id="317" name="TextShape 3"/>
          <p:cNvSpPr txBox="1"/>
          <p:nvPr/>
        </p:nvSpPr>
        <p:spPr>
          <a:xfrm>
            <a:off x="8172360" y="6480000"/>
            <a:ext cx="539640" cy="359640"/>
          </a:xfrm>
          <a:prstGeom prst="rect">
            <a:avLst/>
          </a:prstGeom>
          <a:noFill/>
          <a:ln>
            <a:noFill/>
          </a:ln>
        </p:spPr>
        <p:txBody>
          <a:bodyPr lIns="90000" rIns="90000" tIns="45000" bIns="45000">
            <a:noAutofit/>
          </a:bodyPr>
          <a:p>
            <a:pPr algn="r">
              <a:lnSpc>
                <a:spcPct val="100000"/>
              </a:lnSpc>
            </a:pPr>
            <a:fld id="{0BC57E85-0DF9-43C9-A3E1-FF5BAB314C11}" type="slidenum">
              <a:rPr b="0" lang="fr-FR" sz="900" spc="-1" strike="noStrike">
                <a:solidFill>
                  <a:srgbClr val="205aa7"/>
                </a:solidFill>
                <a:latin typeface="Calibri"/>
              </a:rPr>
              <a:t>&lt;number&gt;</a:t>
            </a:fld>
            <a:endParaRPr b="0" lang="fr-FR" sz="900" spc="-1" strike="noStrike">
              <a:latin typeface="Times New Roman"/>
            </a:endParaRPr>
          </a:p>
        </p:txBody>
      </p:sp>
      <p:sp>
        <p:nvSpPr>
          <p:cNvPr id="318" name="TextShape 4"/>
          <p:cNvSpPr txBox="1"/>
          <p:nvPr/>
        </p:nvSpPr>
        <p:spPr>
          <a:xfrm>
            <a:off x="468000" y="1440000"/>
            <a:ext cx="8229240" cy="4525560"/>
          </a:xfrm>
          <a:prstGeom prst="rect">
            <a:avLst/>
          </a:prstGeom>
          <a:noFill/>
          <a:ln>
            <a:noFill/>
          </a:ln>
        </p:spPr>
        <p:txBody>
          <a:bodyPr>
            <a:noAutofit/>
          </a:bodyPr>
          <a:p>
            <a:pPr algn="ctr">
              <a:lnSpc>
                <a:spcPct val="100000"/>
              </a:lnSpc>
              <a:spcBef>
                <a:spcPts val="400"/>
              </a:spcBef>
              <a:tabLst>
                <a:tab algn="l" pos="0"/>
              </a:tabLst>
            </a:pPr>
            <a:r>
              <a:rPr b="1" lang="fr-FR" sz="2000" spc="-1" strike="noStrike">
                <a:solidFill>
                  <a:srgbClr val="205aa7"/>
                </a:solidFill>
                <a:latin typeface="Calibri"/>
              </a:rPr>
              <a:t>La documentation financière</a:t>
            </a:r>
            <a:endParaRPr b="0" lang="fr-FR" sz="2000" spc="-1" strike="noStrike">
              <a:solidFill>
                <a:srgbClr val="205aa7"/>
              </a:solidFill>
              <a:latin typeface="Calibri"/>
            </a:endParaRPr>
          </a:p>
          <a:p>
            <a:pPr algn="ctr">
              <a:lnSpc>
                <a:spcPct val="100000"/>
              </a:lnSpc>
              <a:spcBef>
                <a:spcPts val="201"/>
              </a:spcBef>
              <a:tabLst>
                <a:tab algn="l" pos="0"/>
              </a:tabLst>
            </a:pPr>
            <a:endParaRPr b="0" lang="fr-FR" sz="2000" spc="-1" strike="noStrike">
              <a:solidFill>
                <a:srgbClr val="205aa7"/>
              </a:solidFill>
              <a:latin typeface="Calibri"/>
            </a:endParaRPr>
          </a:p>
          <a:p>
            <a:pPr marL="252000" indent="-251640" algn="just">
              <a:lnSpc>
                <a:spcPct val="100000"/>
              </a:lnSpc>
              <a:spcBef>
                <a:spcPts val="400"/>
              </a:spcBef>
              <a:buClr>
                <a:srgbClr val="205aa7"/>
              </a:buClr>
              <a:buFont typeface="Wingdings" charset="2"/>
              <a:buChar char=""/>
              <a:tabLst>
                <a:tab algn="l" pos="0"/>
              </a:tabLst>
            </a:pPr>
            <a:r>
              <a:rPr b="0" lang="fr-FR" sz="2000" spc="-1" strike="noStrike">
                <a:solidFill>
                  <a:srgbClr val="205aa7"/>
                </a:solidFill>
                <a:latin typeface="Calibri"/>
              </a:rPr>
              <a:t>Les informations réglementaires</a:t>
            </a:r>
            <a:endParaRPr b="0" lang="fr-FR" sz="2000" spc="-1" strike="noStrike">
              <a:solidFill>
                <a:srgbClr val="205aa7"/>
              </a:solidFill>
              <a:latin typeface="Calibri"/>
            </a:endParaRPr>
          </a:p>
          <a:p>
            <a:pPr lvl="1" marL="743040" indent="-285480" algn="just">
              <a:lnSpc>
                <a:spcPct val="100000"/>
              </a:lnSpc>
              <a:spcBef>
                <a:spcPts val="360"/>
              </a:spcBef>
              <a:buClr>
                <a:srgbClr val="205aa7"/>
              </a:buClr>
              <a:buFont typeface="Arial"/>
              <a:buChar char="–"/>
              <a:tabLst>
                <a:tab algn="l" pos="0"/>
              </a:tabLst>
            </a:pPr>
            <a:r>
              <a:rPr b="0" lang="fr-FR" sz="1800" spc="-1" strike="noStrike">
                <a:solidFill>
                  <a:srgbClr val="205aa7"/>
                </a:solidFill>
                <a:latin typeface="Calibri"/>
              </a:rPr>
              <a:t>La réglementation comptable : normes françaises (CRC 99-02) et normes internationales (IFRS)</a:t>
            </a:r>
            <a:endParaRPr b="0" lang="fr-FR" sz="1800" spc="-1" strike="noStrike">
              <a:solidFill>
                <a:srgbClr val="595959"/>
              </a:solidFill>
              <a:latin typeface="Calibri"/>
            </a:endParaRPr>
          </a:p>
          <a:p>
            <a:pPr lvl="1" marL="743040" indent="-285480" algn="just">
              <a:lnSpc>
                <a:spcPct val="100000"/>
              </a:lnSpc>
              <a:spcBef>
                <a:spcPts val="360"/>
              </a:spcBef>
              <a:buClr>
                <a:srgbClr val="205aa7"/>
              </a:buClr>
              <a:buFont typeface="Arial"/>
              <a:buChar char="–"/>
              <a:tabLst>
                <a:tab algn="l" pos="0"/>
              </a:tabLst>
            </a:pPr>
            <a:r>
              <a:rPr b="0" lang="fr-FR" sz="1800" spc="-1" strike="noStrike">
                <a:solidFill>
                  <a:srgbClr val="205aa7"/>
                </a:solidFill>
                <a:latin typeface="Calibri"/>
              </a:rPr>
              <a:t>La réglementation Banque de France : référentiel de cotation, notes et circulaires internes</a:t>
            </a:r>
            <a:endParaRPr b="0" lang="fr-FR" sz="1800" spc="-1" strike="noStrike">
              <a:solidFill>
                <a:srgbClr val="595959"/>
              </a:solidFill>
              <a:latin typeface="Calibri"/>
            </a:endParaRPr>
          </a:p>
          <a:p>
            <a:pPr marL="252000" indent="-251640" algn="just">
              <a:lnSpc>
                <a:spcPct val="100000"/>
              </a:lnSpc>
              <a:spcBef>
                <a:spcPts val="400"/>
              </a:spcBef>
              <a:buClr>
                <a:srgbClr val="205aa7"/>
              </a:buClr>
              <a:buFont typeface="Wingdings" charset="2"/>
              <a:buChar char=""/>
              <a:tabLst>
                <a:tab algn="l" pos="0"/>
              </a:tabLst>
            </a:pPr>
            <a:r>
              <a:rPr b="0" lang="fr-FR" sz="2000" spc="-1" strike="noStrike">
                <a:solidFill>
                  <a:srgbClr val="205aa7"/>
                </a:solidFill>
                <a:latin typeface="Calibri"/>
              </a:rPr>
              <a:t>Les informations collectées auprès du groupe</a:t>
            </a:r>
            <a:endParaRPr b="0" lang="fr-FR" sz="2000" spc="-1" strike="noStrike">
              <a:solidFill>
                <a:srgbClr val="205aa7"/>
              </a:solidFill>
              <a:latin typeface="Calibri"/>
            </a:endParaRPr>
          </a:p>
          <a:p>
            <a:pPr lvl="1" marL="743040" indent="-285480" algn="just">
              <a:lnSpc>
                <a:spcPct val="100000"/>
              </a:lnSpc>
              <a:spcBef>
                <a:spcPts val="360"/>
              </a:spcBef>
              <a:buClr>
                <a:srgbClr val="205aa7"/>
              </a:buClr>
              <a:buFont typeface="Arial"/>
              <a:buChar char="–"/>
              <a:tabLst>
                <a:tab algn="l" pos="0"/>
              </a:tabLst>
            </a:pPr>
            <a:r>
              <a:rPr b="0" lang="fr-FR" sz="1800" spc="-1" strike="noStrike">
                <a:solidFill>
                  <a:srgbClr val="205aa7"/>
                </a:solidFill>
                <a:latin typeface="Calibri"/>
              </a:rPr>
              <a:t>Les comptes consolidés :</a:t>
            </a:r>
            <a:endParaRPr b="0" lang="fr-FR" sz="1800" spc="-1" strike="noStrike">
              <a:solidFill>
                <a:srgbClr val="595959"/>
              </a:solidFill>
              <a:latin typeface="Calibri"/>
            </a:endParaRPr>
          </a:p>
          <a:p>
            <a:pPr lvl="2" marL="1143000" indent="-228240" algn="just">
              <a:lnSpc>
                <a:spcPct val="100000"/>
              </a:lnSpc>
              <a:spcBef>
                <a:spcPts val="360"/>
              </a:spcBef>
              <a:buClr>
                <a:srgbClr val="205aa7"/>
              </a:buClr>
              <a:buFont typeface="Arial"/>
              <a:buChar char="•"/>
              <a:tabLst>
                <a:tab algn="l" pos="0"/>
              </a:tabLst>
            </a:pPr>
            <a:r>
              <a:rPr b="0" lang="fr-FR" sz="1800" spc="-1" strike="noStrike">
                <a:solidFill>
                  <a:srgbClr val="205aa7"/>
                </a:solidFill>
                <a:latin typeface="Calibri"/>
              </a:rPr>
              <a:t>états financiers : bilan, compte de résultat et tableau de </a:t>
            </a:r>
            <a:r>
              <a:rPr b="0" lang="fr-FR" sz="1800" spc="-1" strike="noStrike">
                <a:solidFill>
                  <a:srgbClr val="205aa7"/>
                </a:solidFill>
                <a:latin typeface="Calibri"/>
              </a:rPr>
              <a:t>	</a:t>
            </a:r>
            <a:r>
              <a:rPr b="0" lang="fr-FR" sz="1800" spc="-1" strike="noStrike">
                <a:solidFill>
                  <a:srgbClr val="205aa7"/>
                </a:solidFill>
                <a:latin typeface="Calibri"/>
              </a:rPr>
              <a:t>flux,</a:t>
            </a:r>
            <a:endParaRPr b="0" lang="fr-FR" sz="1800" spc="-1" strike="noStrike">
              <a:solidFill>
                <a:srgbClr val="595959"/>
              </a:solidFill>
              <a:latin typeface="Calibri"/>
            </a:endParaRPr>
          </a:p>
          <a:p>
            <a:pPr lvl="2" marL="1143000" indent="-228240" algn="just">
              <a:lnSpc>
                <a:spcPct val="100000"/>
              </a:lnSpc>
              <a:spcBef>
                <a:spcPts val="360"/>
              </a:spcBef>
              <a:buClr>
                <a:srgbClr val="205aa7"/>
              </a:buClr>
              <a:buFont typeface="Arial"/>
              <a:buChar char="•"/>
              <a:tabLst>
                <a:tab algn="l" pos="0"/>
              </a:tabLst>
            </a:pPr>
            <a:r>
              <a:rPr b="0" lang="fr-FR" sz="1800" spc="-1" strike="noStrike">
                <a:solidFill>
                  <a:srgbClr val="205aa7"/>
                </a:solidFill>
                <a:latin typeface="Calibri"/>
              </a:rPr>
              <a:t>annexes : périmètre de consolidation, méthodes comptables,</a:t>
            </a:r>
            <a:endParaRPr b="0" lang="fr-FR" sz="1800" spc="-1" strike="noStrike">
              <a:solidFill>
                <a:srgbClr val="595959"/>
              </a:solidFill>
              <a:latin typeface="Calibri"/>
            </a:endParaRPr>
          </a:p>
          <a:p>
            <a:pPr lvl="2" marL="1143000" indent="-228240" algn="just">
              <a:lnSpc>
                <a:spcPct val="100000"/>
              </a:lnSpc>
              <a:spcBef>
                <a:spcPts val="360"/>
              </a:spcBef>
              <a:buClr>
                <a:srgbClr val="205aa7"/>
              </a:buClr>
              <a:buFont typeface="Arial"/>
              <a:buChar char="•"/>
              <a:tabLst>
                <a:tab algn="l" pos="0"/>
              </a:tabLst>
            </a:pPr>
            <a:r>
              <a:rPr b="0" lang="fr-FR" sz="1800" spc="-1" strike="noStrike">
                <a:solidFill>
                  <a:srgbClr val="205aa7"/>
                </a:solidFill>
                <a:latin typeface="Calibri"/>
              </a:rPr>
              <a:t>rapport des commissaires aux comptes</a:t>
            </a:r>
            <a:r>
              <a:rPr b="0" lang="fr-FR" sz="1800" spc="-1" strike="noStrike">
                <a:solidFill>
                  <a:srgbClr val="595959"/>
                </a:solidFill>
                <a:latin typeface="Calibri"/>
              </a:rPr>
              <a:t>.</a:t>
            </a:r>
            <a:endParaRPr b="0" lang="fr-FR" sz="1800" spc="-1" strike="noStrike">
              <a:solidFill>
                <a:srgbClr val="595959"/>
              </a:solidFill>
              <a:latin typeface="Calibri"/>
            </a:endParaRPr>
          </a:p>
          <a:p>
            <a:pPr lvl="1" marL="743040" indent="-285480" algn="just">
              <a:lnSpc>
                <a:spcPct val="100000"/>
              </a:lnSpc>
              <a:spcBef>
                <a:spcPts val="360"/>
              </a:spcBef>
              <a:buClr>
                <a:srgbClr val="205aa7"/>
              </a:buClr>
              <a:buFont typeface="Arial"/>
              <a:buChar char="–"/>
              <a:tabLst>
                <a:tab algn="l" pos="0"/>
              </a:tabLst>
            </a:pPr>
            <a:r>
              <a:rPr b="0" lang="fr-FR" sz="1800" spc="-1" strike="noStrike">
                <a:solidFill>
                  <a:srgbClr val="205aa7"/>
                </a:solidFill>
                <a:latin typeface="Calibri"/>
              </a:rPr>
              <a:t>Le rapport annuel de gestion</a:t>
            </a:r>
            <a:endParaRPr b="0" lang="fr-FR" sz="1800" spc="-1" strike="noStrike">
              <a:solidFill>
                <a:srgbClr val="595959"/>
              </a:solidFill>
              <a:latin typeface="Calibri"/>
            </a:endParaRPr>
          </a:p>
          <a:p>
            <a:pPr lvl="1" marL="743040" indent="-285480" algn="just">
              <a:lnSpc>
                <a:spcPct val="100000"/>
              </a:lnSpc>
              <a:spcBef>
                <a:spcPts val="360"/>
              </a:spcBef>
              <a:buClr>
                <a:srgbClr val="205aa7"/>
              </a:buClr>
              <a:buFont typeface="Arial"/>
              <a:buChar char="–"/>
              <a:tabLst>
                <a:tab algn="l" pos="0"/>
              </a:tabLst>
            </a:pPr>
            <a:r>
              <a:rPr b="0" lang="fr-FR" sz="1800" spc="-1" strike="noStrike">
                <a:solidFill>
                  <a:srgbClr val="205aa7"/>
                </a:solidFill>
                <a:latin typeface="Calibri"/>
              </a:rPr>
              <a:t>L’organigramme</a:t>
            </a:r>
            <a:endParaRPr b="0" lang="fr-FR" sz="1800" spc="-1" strike="noStrike">
              <a:solidFill>
                <a:srgbClr val="595959"/>
              </a:solidFill>
              <a:latin typeface="Calibri"/>
            </a:endParaRPr>
          </a:p>
        </p:txBody>
      </p:sp>
    </p:spTree>
  </p:cSld>
  <mc:AlternateContent>
    <mc:Choice Requires="p14">
      <p:transition spd="slow" p14:dur="2000"/>
    </mc:Choice>
    <mc:Fallback>
      <p:transition spd="slow"/>
    </mc:Fallback>
  </mc:AlternateContent>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9" name="TextShape 1"/>
          <p:cNvSpPr txBox="1"/>
          <p:nvPr/>
        </p:nvSpPr>
        <p:spPr>
          <a:xfrm>
            <a:off x="468000" y="0"/>
            <a:ext cx="8229240" cy="1142640"/>
          </a:xfrm>
          <a:prstGeom prst="rect">
            <a:avLst/>
          </a:prstGeom>
          <a:noFill/>
          <a:ln>
            <a:noFill/>
          </a:ln>
        </p:spPr>
        <p:txBody>
          <a:bodyPr anchor="ctr">
            <a:noAutofit/>
          </a:bodyPr>
          <a:p>
            <a:pPr>
              <a:lnSpc>
                <a:spcPct val="100000"/>
              </a:lnSpc>
            </a:pPr>
            <a:r>
              <a:rPr b="1" lang="fr-FR" sz="2400" spc="-1" strike="noStrike" cap="all">
                <a:solidFill>
                  <a:srgbClr val="ffffff"/>
                </a:solidFill>
                <a:latin typeface="Calibri"/>
              </a:rPr>
              <a:t>3. L’analyse financière des comptes consolidés</a:t>
            </a:r>
            <a:endParaRPr b="0" lang="fr-FR" sz="2400" spc="-1" strike="noStrike">
              <a:solidFill>
                <a:srgbClr val="000000"/>
              </a:solidFill>
              <a:latin typeface="Calibri"/>
            </a:endParaRPr>
          </a:p>
        </p:txBody>
      </p:sp>
      <p:sp>
        <p:nvSpPr>
          <p:cNvPr id="320" name="TextShape 2"/>
          <p:cNvSpPr txBox="1"/>
          <p:nvPr/>
        </p:nvSpPr>
        <p:spPr>
          <a:xfrm>
            <a:off x="3124080" y="6480000"/>
            <a:ext cx="4975920" cy="359640"/>
          </a:xfrm>
          <a:prstGeom prst="rect">
            <a:avLst/>
          </a:prstGeom>
          <a:noFill/>
          <a:ln>
            <a:noFill/>
          </a:ln>
        </p:spPr>
        <p:txBody>
          <a:bodyPr>
            <a:noAutofit/>
          </a:bodyPr>
          <a:p>
            <a:endParaRPr b="0" lang="fr-FR" sz="2400" spc="-1" strike="noStrike">
              <a:latin typeface="Times New Roman"/>
            </a:endParaRPr>
          </a:p>
        </p:txBody>
      </p:sp>
      <p:sp>
        <p:nvSpPr>
          <p:cNvPr id="321" name="TextShape 3"/>
          <p:cNvSpPr txBox="1"/>
          <p:nvPr/>
        </p:nvSpPr>
        <p:spPr>
          <a:xfrm>
            <a:off x="8172360" y="6480000"/>
            <a:ext cx="539640" cy="359640"/>
          </a:xfrm>
          <a:prstGeom prst="rect">
            <a:avLst/>
          </a:prstGeom>
          <a:noFill/>
          <a:ln>
            <a:noFill/>
          </a:ln>
        </p:spPr>
        <p:txBody>
          <a:bodyPr lIns="90000" rIns="90000" tIns="45000" bIns="45000">
            <a:noAutofit/>
          </a:bodyPr>
          <a:p>
            <a:pPr algn="r">
              <a:lnSpc>
                <a:spcPct val="100000"/>
              </a:lnSpc>
            </a:pPr>
            <a:fld id="{4774709A-D46D-4540-9319-9B6C436B046E}" type="slidenum">
              <a:rPr b="0" lang="fr-FR" sz="900" spc="-1" strike="noStrike">
                <a:solidFill>
                  <a:srgbClr val="205aa7"/>
                </a:solidFill>
                <a:latin typeface="Calibri"/>
              </a:rPr>
              <a:t>&lt;number&gt;</a:t>
            </a:fld>
            <a:endParaRPr b="0" lang="fr-FR" sz="900" spc="-1" strike="noStrike">
              <a:latin typeface="Times New Roman"/>
            </a:endParaRPr>
          </a:p>
        </p:txBody>
      </p:sp>
      <p:sp>
        <p:nvSpPr>
          <p:cNvPr id="322" name="TextShape 4"/>
          <p:cNvSpPr txBox="1"/>
          <p:nvPr/>
        </p:nvSpPr>
        <p:spPr>
          <a:xfrm>
            <a:off x="468000" y="1440000"/>
            <a:ext cx="8229240" cy="4525560"/>
          </a:xfrm>
          <a:prstGeom prst="rect">
            <a:avLst/>
          </a:prstGeom>
          <a:noFill/>
          <a:ln>
            <a:noFill/>
          </a:ln>
        </p:spPr>
        <p:txBody>
          <a:bodyPr>
            <a:normAutofit/>
          </a:bodyPr>
          <a:p>
            <a:pPr marL="114480" algn="ctr">
              <a:lnSpc>
                <a:spcPct val="100000"/>
              </a:lnSpc>
              <a:spcBef>
                <a:spcPts val="400"/>
              </a:spcBef>
              <a:tabLst>
                <a:tab algn="l" pos="0"/>
              </a:tabLst>
            </a:pPr>
            <a:r>
              <a:rPr b="1" lang="fr-FR" sz="2000" spc="-1" strike="noStrike">
                <a:solidFill>
                  <a:srgbClr val="205aa7"/>
                </a:solidFill>
                <a:latin typeface="Calibri"/>
              </a:rPr>
              <a:t>L’entretien de cotation permet :</a:t>
            </a:r>
            <a:endParaRPr b="0" lang="fr-FR" sz="2000" spc="-1" strike="noStrike">
              <a:solidFill>
                <a:srgbClr val="205aa7"/>
              </a:solidFill>
              <a:latin typeface="Calibri"/>
            </a:endParaRPr>
          </a:p>
          <a:p>
            <a:pPr marL="114480" algn="just">
              <a:lnSpc>
                <a:spcPct val="100000"/>
              </a:lnSpc>
              <a:spcBef>
                <a:spcPts val="201"/>
              </a:spcBef>
              <a:tabLst>
                <a:tab algn="l" pos="0"/>
              </a:tabLst>
            </a:pPr>
            <a:endParaRPr b="0" lang="fr-FR" sz="2000" spc="-1" strike="noStrike">
              <a:solidFill>
                <a:srgbClr val="205aa7"/>
              </a:solidFill>
              <a:latin typeface="Calibri"/>
            </a:endParaRPr>
          </a:p>
          <a:p>
            <a:pPr marL="571680" indent="-456840" algn="just">
              <a:lnSpc>
                <a:spcPct val="100000"/>
              </a:lnSpc>
              <a:spcBef>
                <a:spcPts val="400"/>
              </a:spcBef>
              <a:buClr>
                <a:srgbClr val="205aa7"/>
              </a:buClr>
              <a:buFont typeface="Wingdings" charset="2"/>
              <a:buChar char=""/>
              <a:tabLst>
                <a:tab algn="l" pos="0"/>
              </a:tabLst>
            </a:pPr>
            <a:r>
              <a:rPr b="0" lang="fr-FR" sz="2000" spc="-1" strike="noStrike">
                <a:solidFill>
                  <a:srgbClr val="205aa7"/>
                </a:solidFill>
                <a:latin typeface="Calibri"/>
              </a:rPr>
              <a:t>D’appréhender les points (peu ou pas détaillés dans les comptes et le rapport annuel) nécessaires à l’analyse : stratégie, environnement, organisation, gestion des risques financiers, analyse prospective et faits marquants post-clôture…</a:t>
            </a:r>
            <a:endParaRPr b="0" lang="fr-FR" sz="2000" spc="-1" strike="noStrike">
              <a:solidFill>
                <a:srgbClr val="205aa7"/>
              </a:solidFill>
              <a:latin typeface="Calibri"/>
            </a:endParaRPr>
          </a:p>
          <a:p>
            <a:pPr marL="571680" indent="-456840" algn="just">
              <a:lnSpc>
                <a:spcPct val="100000"/>
              </a:lnSpc>
              <a:spcBef>
                <a:spcPts val="400"/>
              </a:spcBef>
              <a:buClr>
                <a:srgbClr val="205aa7"/>
              </a:buClr>
              <a:buFont typeface="Wingdings" charset="2"/>
              <a:buChar char=""/>
              <a:tabLst>
                <a:tab algn="l" pos="0"/>
              </a:tabLst>
            </a:pPr>
            <a:r>
              <a:rPr b="0" lang="fr-FR" sz="2000" spc="-1" strike="noStrike">
                <a:solidFill>
                  <a:srgbClr val="205aa7"/>
                </a:solidFill>
                <a:latin typeface="Calibri"/>
              </a:rPr>
              <a:t>De lever les doutes sur les points sensibles : risque de liquidité, soutien aux filiales, évolution chiffrée marquante, perspectives, covenants…</a:t>
            </a:r>
            <a:endParaRPr b="0" lang="fr-FR" sz="2000" spc="-1" strike="noStrike">
              <a:solidFill>
                <a:srgbClr val="205aa7"/>
              </a:solidFill>
              <a:latin typeface="Calibri"/>
            </a:endParaRPr>
          </a:p>
          <a:p>
            <a:pPr marL="571680" indent="-456840" algn="just">
              <a:lnSpc>
                <a:spcPct val="100000"/>
              </a:lnSpc>
              <a:spcBef>
                <a:spcPts val="400"/>
              </a:spcBef>
              <a:buClr>
                <a:srgbClr val="205aa7"/>
              </a:buClr>
              <a:buFont typeface="Wingdings" charset="2"/>
              <a:buChar char=""/>
              <a:tabLst>
                <a:tab algn="l" pos="0"/>
              </a:tabLst>
            </a:pPr>
            <a:r>
              <a:rPr b="0" lang="fr-FR" sz="2000" spc="-1" strike="noStrike">
                <a:solidFill>
                  <a:srgbClr val="205aa7"/>
                </a:solidFill>
                <a:latin typeface="Calibri"/>
              </a:rPr>
              <a:t>De favoriser la compréhension générale du groupe, une meilleure transparence des informations et la fraîcheur de la cotation.</a:t>
            </a:r>
            <a:endParaRPr b="0" lang="fr-FR" sz="2000" spc="-1" strike="noStrike">
              <a:solidFill>
                <a:srgbClr val="205aa7"/>
              </a:solidFill>
              <a:latin typeface="Calibri"/>
            </a:endParaRPr>
          </a:p>
          <a:p>
            <a:pPr>
              <a:lnSpc>
                <a:spcPct val="100000"/>
              </a:lnSpc>
              <a:spcBef>
                <a:spcPts val="400"/>
              </a:spcBef>
              <a:tabLst>
                <a:tab algn="l" pos="0"/>
              </a:tabLst>
            </a:pPr>
            <a:endParaRPr b="0" lang="fr-FR" sz="2000" spc="-1" strike="noStrike">
              <a:solidFill>
                <a:srgbClr val="205aa7"/>
              </a:solidFill>
              <a:latin typeface="Calibri"/>
            </a:endParaRPr>
          </a:p>
        </p:txBody>
      </p:sp>
    </p:spTree>
  </p:cSld>
  <mc:AlternateContent>
    <mc:Choice Requires="p14">
      <p:transition spd="slow" p14:dur="2000"/>
    </mc:Choice>
    <mc:Fallback>
      <p:transition spd="slow"/>
    </mc:Fallback>
  </mc:AlternateContent>
</p:sld>
</file>

<file path=ppt/slides/slide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3" name="TextShape 1"/>
          <p:cNvSpPr txBox="1"/>
          <p:nvPr/>
        </p:nvSpPr>
        <p:spPr>
          <a:xfrm>
            <a:off x="468000" y="0"/>
            <a:ext cx="8229240" cy="1142640"/>
          </a:xfrm>
          <a:prstGeom prst="rect">
            <a:avLst/>
          </a:prstGeom>
          <a:noFill/>
          <a:ln>
            <a:noFill/>
          </a:ln>
        </p:spPr>
        <p:txBody>
          <a:bodyPr anchor="ctr">
            <a:noAutofit/>
          </a:bodyPr>
          <a:p>
            <a:pPr>
              <a:lnSpc>
                <a:spcPct val="100000"/>
              </a:lnSpc>
            </a:pPr>
            <a:r>
              <a:rPr b="1" lang="fr-FR" sz="2400" spc="-1" strike="noStrike" cap="all">
                <a:solidFill>
                  <a:srgbClr val="ffffff"/>
                </a:solidFill>
                <a:latin typeface="Calibri"/>
              </a:rPr>
              <a:t>3. L’analyse financière des comptes consolidés</a:t>
            </a:r>
            <a:endParaRPr b="0" lang="fr-FR" sz="2400" spc="-1" strike="noStrike">
              <a:solidFill>
                <a:srgbClr val="000000"/>
              </a:solidFill>
              <a:latin typeface="Calibri"/>
            </a:endParaRPr>
          </a:p>
        </p:txBody>
      </p:sp>
      <p:sp>
        <p:nvSpPr>
          <p:cNvPr id="324" name="TextShape 2"/>
          <p:cNvSpPr txBox="1"/>
          <p:nvPr/>
        </p:nvSpPr>
        <p:spPr>
          <a:xfrm>
            <a:off x="3124080" y="6480000"/>
            <a:ext cx="4975920" cy="359640"/>
          </a:xfrm>
          <a:prstGeom prst="rect">
            <a:avLst/>
          </a:prstGeom>
          <a:noFill/>
          <a:ln>
            <a:noFill/>
          </a:ln>
        </p:spPr>
        <p:txBody>
          <a:bodyPr>
            <a:noAutofit/>
          </a:bodyPr>
          <a:p>
            <a:endParaRPr b="0" lang="fr-FR" sz="2400" spc="-1" strike="noStrike">
              <a:latin typeface="Times New Roman"/>
            </a:endParaRPr>
          </a:p>
        </p:txBody>
      </p:sp>
      <p:sp>
        <p:nvSpPr>
          <p:cNvPr id="325" name="TextShape 3"/>
          <p:cNvSpPr txBox="1"/>
          <p:nvPr/>
        </p:nvSpPr>
        <p:spPr>
          <a:xfrm>
            <a:off x="8172360" y="6480000"/>
            <a:ext cx="539640" cy="359640"/>
          </a:xfrm>
          <a:prstGeom prst="rect">
            <a:avLst/>
          </a:prstGeom>
          <a:noFill/>
          <a:ln>
            <a:noFill/>
          </a:ln>
        </p:spPr>
        <p:txBody>
          <a:bodyPr lIns="90000" rIns="90000" tIns="45000" bIns="45000">
            <a:noAutofit/>
          </a:bodyPr>
          <a:p>
            <a:pPr algn="r">
              <a:lnSpc>
                <a:spcPct val="100000"/>
              </a:lnSpc>
            </a:pPr>
            <a:fld id="{3F1777DF-5F31-4AAC-88B0-C37C58784694}" type="slidenum">
              <a:rPr b="0" lang="fr-FR" sz="900" spc="-1" strike="noStrike">
                <a:solidFill>
                  <a:srgbClr val="205aa7"/>
                </a:solidFill>
                <a:latin typeface="Calibri"/>
              </a:rPr>
              <a:t>&lt;number&gt;</a:t>
            </a:fld>
            <a:endParaRPr b="0" lang="fr-FR" sz="900" spc="-1" strike="noStrike">
              <a:latin typeface="Times New Roman"/>
            </a:endParaRPr>
          </a:p>
        </p:txBody>
      </p:sp>
      <p:sp>
        <p:nvSpPr>
          <p:cNvPr id="326" name="TextShape 4"/>
          <p:cNvSpPr txBox="1"/>
          <p:nvPr/>
        </p:nvSpPr>
        <p:spPr>
          <a:xfrm>
            <a:off x="468000" y="1440000"/>
            <a:ext cx="8229240" cy="4525560"/>
          </a:xfrm>
          <a:prstGeom prst="rect">
            <a:avLst/>
          </a:prstGeom>
          <a:noFill/>
          <a:ln>
            <a:noFill/>
          </a:ln>
        </p:spPr>
        <p:txBody>
          <a:bodyPr>
            <a:normAutofit/>
          </a:bodyPr>
          <a:p>
            <a:pPr marL="114480" algn="ctr">
              <a:lnSpc>
                <a:spcPct val="100000"/>
              </a:lnSpc>
              <a:spcBef>
                <a:spcPts val="479"/>
              </a:spcBef>
              <a:tabLst>
                <a:tab algn="l" pos="0"/>
              </a:tabLst>
            </a:pPr>
            <a:r>
              <a:rPr b="1" lang="fr-FR" sz="2400" spc="-1" strike="noStrike">
                <a:solidFill>
                  <a:srgbClr val="205aa7"/>
                </a:solidFill>
                <a:latin typeface="Calibri"/>
              </a:rPr>
              <a:t>Les principales étapes de l’analyse :</a:t>
            </a:r>
            <a:endParaRPr b="0" lang="fr-FR" sz="2400" spc="-1" strike="noStrike">
              <a:solidFill>
                <a:srgbClr val="205aa7"/>
              </a:solidFill>
              <a:latin typeface="Calibri"/>
            </a:endParaRPr>
          </a:p>
          <a:p>
            <a:pPr marL="114480" algn="just">
              <a:lnSpc>
                <a:spcPct val="100000"/>
              </a:lnSpc>
              <a:spcBef>
                <a:spcPts val="479"/>
              </a:spcBef>
              <a:tabLst>
                <a:tab algn="l" pos="0"/>
              </a:tabLst>
            </a:pPr>
            <a:endParaRPr b="0" lang="fr-FR" sz="2400" spc="-1" strike="noStrike">
              <a:solidFill>
                <a:srgbClr val="205aa7"/>
              </a:solidFill>
              <a:latin typeface="Calibri"/>
            </a:endParaRPr>
          </a:p>
          <a:p>
            <a:pPr marL="571680" indent="-456840" algn="just">
              <a:lnSpc>
                <a:spcPct val="100000"/>
              </a:lnSpc>
              <a:spcBef>
                <a:spcPts val="479"/>
              </a:spcBef>
              <a:buClr>
                <a:srgbClr val="205aa7"/>
              </a:buClr>
              <a:buFont typeface="StarSymbol"/>
              <a:buAutoNum type="arabicPeriod"/>
              <a:tabLst>
                <a:tab algn="l" pos="0"/>
              </a:tabLst>
            </a:pPr>
            <a:r>
              <a:rPr b="0" lang="fr-FR" sz="2400" spc="-1" strike="noStrike">
                <a:solidFill>
                  <a:srgbClr val="205aa7"/>
                </a:solidFill>
                <a:latin typeface="Calibri"/>
              </a:rPr>
              <a:t>Analyse de l’environnement, de la stratégie et de l’organisation.</a:t>
            </a:r>
            <a:endParaRPr b="0" lang="fr-FR" sz="2400" spc="-1" strike="noStrike">
              <a:solidFill>
                <a:srgbClr val="205aa7"/>
              </a:solidFill>
              <a:latin typeface="Calibri"/>
            </a:endParaRPr>
          </a:p>
          <a:p>
            <a:pPr marL="571680" indent="-456840" algn="just">
              <a:lnSpc>
                <a:spcPct val="100000"/>
              </a:lnSpc>
              <a:spcBef>
                <a:spcPts val="479"/>
              </a:spcBef>
              <a:buClr>
                <a:srgbClr val="cbddf5"/>
              </a:buClr>
              <a:buFont typeface="StarSymbol"/>
              <a:buAutoNum type="arabicPeriod"/>
              <a:tabLst>
                <a:tab algn="l" pos="0"/>
              </a:tabLst>
            </a:pPr>
            <a:r>
              <a:rPr b="0" lang="fr-FR" sz="2400" spc="-1" strike="noStrike">
                <a:solidFill>
                  <a:srgbClr val="cbddf5"/>
                </a:solidFill>
                <a:latin typeface="Calibri"/>
              </a:rPr>
              <a:t>Examen critique de la qualité de l’information et étude préalable à l’analyse des comptes.</a:t>
            </a:r>
            <a:endParaRPr b="0" lang="fr-FR" sz="2400" spc="-1" strike="noStrike">
              <a:solidFill>
                <a:srgbClr val="205aa7"/>
              </a:solidFill>
              <a:latin typeface="Calibri"/>
            </a:endParaRPr>
          </a:p>
          <a:p>
            <a:pPr marL="571680" indent="-456840" algn="just">
              <a:lnSpc>
                <a:spcPct val="100000"/>
              </a:lnSpc>
              <a:spcBef>
                <a:spcPts val="479"/>
              </a:spcBef>
              <a:buClr>
                <a:srgbClr val="cbddf5"/>
              </a:buClr>
              <a:buFont typeface="StarSymbol"/>
              <a:buAutoNum type="arabicPeriod"/>
              <a:tabLst>
                <a:tab algn="l" pos="0"/>
              </a:tabLst>
            </a:pPr>
            <a:r>
              <a:rPr b="0" lang="fr-FR" sz="2400" spc="-1" strike="noStrike">
                <a:solidFill>
                  <a:srgbClr val="cbddf5"/>
                </a:solidFill>
                <a:latin typeface="Calibri"/>
              </a:rPr>
              <a:t>Analyse des performances.</a:t>
            </a:r>
            <a:endParaRPr b="0" lang="fr-FR" sz="2400" spc="-1" strike="noStrike">
              <a:solidFill>
                <a:srgbClr val="205aa7"/>
              </a:solidFill>
              <a:latin typeface="Calibri"/>
            </a:endParaRPr>
          </a:p>
          <a:p>
            <a:pPr marL="571680" indent="-456840" algn="just">
              <a:lnSpc>
                <a:spcPct val="100000"/>
              </a:lnSpc>
              <a:spcBef>
                <a:spcPts val="479"/>
              </a:spcBef>
              <a:buClr>
                <a:srgbClr val="cbddf5"/>
              </a:buClr>
              <a:buFont typeface="StarSymbol"/>
              <a:buAutoNum type="arabicPeriod"/>
              <a:tabLst>
                <a:tab algn="l" pos="0"/>
              </a:tabLst>
            </a:pPr>
            <a:r>
              <a:rPr b="0" lang="fr-FR" sz="2400" spc="-1" strike="noStrike">
                <a:solidFill>
                  <a:srgbClr val="cbddf5"/>
                </a:solidFill>
                <a:latin typeface="Calibri"/>
              </a:rPr>
              <a:t>Examen de la structure financière (solvabilité et autonomie financière).</a:t>
            </a:r>
            <a:endParaRPr b="0" lang="fr-FR" sz="2400" spc="-1" strike="noStrike">
              <a:solidFill>
                <a:srgbClr val="205aa7"/>
              </a:solidFill>
              <a:latin typeface="Calibri"/>
            </a:endParaRPr>
          </a:p>
          <a:p>
            <a:pPr marL="571680" indent="-456840" algn="just">
              <a:lnSpc>
                <a:spcPct val="100000"/>
              </a:lnSpc>
              <a:spcBef>
                <a:spcPts val="479"/>
              </a:spcBef>
              <a:buClr>
                <a:srgbClr val="cbddf5"/>
              </a:buClr>
              <a:buFont typeface="StarSymbol"/>
              <a:buAutoNum type="arabicPeriod"/>
              <a:tabLst>
                <a:tab algn="l" pos="0"/>
              </a:tabLst>
            </a:pPr>
            <a:r>
              <a:rPr b="0" lang="fr-FR" sz="2400" spc="-1" strike="noStrike">
                <a:solidFill>
                  <a:srgbClr val="cbddf5"/>
                </a:solidFill>
                <a:latin typeface="Calibri"/>
              </a:rPr>
              <a:t>Analyse de la liquidité.</a:t>
            </a:r>
            <a:endParaRPr b="0" lang="fr-FR" sz="2400" spc="-1" strike="noStrike">
              <a:solidFill>
                <a:srgbClr val="205aa7"/>
              </a:solidFill>
              <a:latin typeface="Calibri"/>
            </a:endParaRPr>
          </a:p>
          <a:p>
            <a:pPr marL="571680" indent="-456840" algn="just">
              <a:lnSpc>
                <a:spcPct val="100000"/>
              </a:lnSpc>
              <a:spcBef>
                <a:spcPts val="479"/>
              </a:spcBef>
              <a:buClr>
                <a:srgbClr val="cbddf5"/>
              </a:buClr>
              <a:buFont typeface="StarSymbol"/>
              <a:buAutoNum type="arabicPeriod"/>
              <a:tabLst>
                <a:tab algn="l" pos="0"/>
              </a:tabLst>
            </a:pPr>
            <a:r>
              <a:rPr b="0" lang="fr-FR" sz="2400" spc="-1" strike="noStrike">
                <a:solidFill>
                  <a:srgbClr val="cbddf5"/>
                </a:solidFill>
                <a:latin typeface="Calibri"/>
              </a:rPr>
              <a:t>Décision de cotation</a:t>
            </a:r>
            <a:endParaRPr b="0" lang="fr-FR" sz="2400" spc="-1" strike="noStrike">
              <a:solidFill>
                <a:srgbClr val="205aa7"/>
              </a:solidFill>
              <a:latin typeface="Calibri"/>
            </a:endParaRPr>
          </a:p>
        </p:txBody>
      </p:sp>
    </p:spTree>
  </p:cSld>
  <mc:AlternateContent>
    <mc:Choice Requires="p14">
      <p:transition spd="slow" p14:dur="2000"/>
    </mc:Choice>
    <mc:Fallback>
      <p:transition spd="slow"/>
    </mc:Fallback>
  </mc:AlternateContent>
</p:sld>
</file>

<file path=ppt/slides/slide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7" name="TextShape 1"/>
          <p:cNvSpPr txBox="1"/>
          <p:nvPr/>
        </p:nvSpPr>
        <p:spPr>
          <a:xfrm>
            <a:off x="468000" y="0"/>
            <a:ext cx="8229240" cy="1142640"/>
          </a:xfrm>
          <a:prstGeom prst="rect">
            <a:avLst/>
          </a:prstGeom>
          <a:noFill/>
          <a:ln>
            <a:noFill/>
          </a:ln>
        </p:spPr>
        <p:txBody>
          <a:bodyPr anchor="ctr">
            <a:noAutofit/>
          </a:bodyPr>
          <a:p>
            <a:pPr>
              <a:lnSpc>
                <a:spcPct val="100000"/>
              </a:lnSpc>
            </a:pPr>
            <a:r>
              <a:rPr b="1" lang="fr-FR" sz="2400" spc="-1" strike="noStrike" cap="all">
                <a:solidFill>
                  <a:srgbClr val="ffffff"/>
                </a:solidFill>
                <a:latin typeface="Calibri"/>
              </a:rPr>
              <a:t>3. L’analyse financière des comptes consolidés</a:t>
            </a:r>
            <a:endParaRPr b="0" lang="fr-FR" sz="2400" spc="-1" strike="noStrike">
              <a:solidFill>
                <a:srgbClr val="000000"/>
              </a:solidFill>
              <a:latin typeface="Calibri"/>
            </a:endParaRPr>
          </a:p>
        </p:txBody>
      </p:sp>
      <p:sp>
        <p:nvSpPr>
          <p:cNvPr id="328" name="TextShape 2"/>
          <p:cNvSpPr txBox="1"/>
          <p:nvPr/>
        </p:nvSpPr>
        <p:spPr>
          <a:xfrm>
            <a:off x="3124080" y="6480000"/>
            <a:ext cx="4975920" cy="359640"/>
          </a:xfrm>
          <a:prstGeom prst="rect">
            <a:avLst/>
          </a:prstGeom>
          <a:noFill/>
          <a:ln>
            <a:noFill/>
          </a:ln>
        </p:spPr>
        <p:txBody>
          <a:bodyPr>
            <a:noAutofit/>
          </a:bodyPr>
          <a:p>
            <a:endParaRPr b="0" lang="fr-FR" sz="2400" spc="-1" strike="noStrike">
              <a:latin typeface="Times New Roman"/>
            </a:endParaRPr>
          </a:p>
        </p:txBody>
      </p:sp>
      <p:sp>
        <p:nvSpPr>
          <p:cNvPr id="329" name="TextShape 3"/>
          <p:cNvSpPr txBox="1"/>
          <p:nvPr/>
        </p:nvSpPr>
        <p:spPr>
          <a:xfrm>
            <a:off x="8172360" y="6480000"/>
            <a:ext cx="539640" cy="359640"/>
          </a:xfrm>
          <a:prstGeom prst="rect">
            <a:avLst/>
          </a:prstGeom>
          <a:noFill/>
          <a:ln>
            <a:noFill/>
          </a:ln>
        </p:spPr>
        <p:txBody>
          <a:bodyPr lIns="90000" rIns="90000" tIns="45000" bIns="45000">
            <a:noAutofit/>
          </a:bodyPr>
          <a:p>
            <a:pPr algn="r">
              <a:lnSpc>
                <a:spcPct val="100000"/>
              </a:lnSpc>
            </a:pPr>
            <a:fld id="{0578B25C-3239-4DA1-9A1B-B51CCBF30FD4}" type="slidenum">
              <a:rPr b="0" lang="fr-FR" sz="900" spc="-1" strike="noStrike">
                <a:solidFill>
                  <a:srgbClr val="205aa7"/>
                </a:solidFill>
                <a:latin typeface="Calibri"/>
              </a:rPr>
              <a:t>&lt;number&gt;</a:t>
            </a:fld>
            <a:endParaRPr b="0" lang="fr-FR" sz="900" spc="-1" strike="noStrike">
              <a:latin typeface="Times New Roman"/>
            </a:endParaRPr>
          </a:p>
        </p:txBody>
      </p:sp>
      <p:sp>
        <p:nvSpPr>
          <p:cNvPr id="330" name="TextShape 4"/>
          <p:cNvSpPr txBox="1"/>
          <p:nvPr/>
        </p:nvSpPr>
        <p:spPr>
          <a:xfrm>
            <a:off x="468000" y="1440000"/>
            <a:ext cx="8229240" cy="4525560"/>
          </a:xfrm>
          <a:prstGeom prst="rect">
            <a:avLst/>
          </a:prstGeom>
          <a:noFill/>
          <a:ln>
            <a:noFill/>
          </a:ln>
        </p:spPr>
        <p:txBody>
          <a:bodyPr>
            <a:noAutofit/>
          </a:bodyPr>
          <a:p>
            <a:pPr marL="114480" algn="ctr">
              <a:lnSpc>
                <a:spcPct val="100000"/>
              </a:lnSpc>
              <a:spcBef>
                <a:spcPts val="400"/>
              </a:spcBef>
              <a:tabLst>
                <a:tab algn="l" pos="0"/>
              </a:tabLst>
            </a:pPr>
            <a:r>
              <a:rPr b="1" lang="fr-FR" sz="2000" spc="-1" strike="noStrike">
                <a:solidFill>
                  <a:srgbClr val="205aa7"/>
                </a:solidFill>
                <a:latin typeface="Calibri"/>
              </a:rPr>
              <a:t>Étape 1 – environnement, stratégie et organisation</a:t>
            </a:r>
            <a:endParaRPr b="0" lang="fr-FR" sz="2000" spc="-1" strike="noStrike">
              <a:solidFill>
                <a:srgbClr val="205aa7"/>
              </a:solidFill>
              <a:latin typeface="Calibri"/>
            </a:endParaRPr>
          </a:p>
          <a:p>
            <a:pPr marL="114480" algn="ctr">
              <a:lnSpc>
                <a:spcPct val="100000"/>
              </a:lnSpc>
              <a:spcBef>
                <a:spcPts val="201"/>
              </a:spcBef>
              <a:tabLst>
                <a:tab algn="l" pos="0"/>
              </a:tabLst>
            </a:pPr>
            <a:endParaRPr b="0" lang="fr-FR" sz="2000" spc="-1" strike="noStrike">
              <a:solidFill>
                <a:srgbClr val="205aa7"/>
              </a:solidFill>
              <a:latin typeface="Calibri"/>
            </a:endParaRPr>
          </a:p>
          <a:p>
            <a:pPr marL="114480" algn="ctr">
              <a:lnSpc>
                <a:spcPct val="100000"/>
              </a:lnSpc>
              <a:spcBef>
                <a:spcPts val="400"/>
              </a:spcBef>
              <a:tabLst>
                <a:tab algn="l" pos="0"/>
              </a:tabLst>
            </a:pPr>
            <a:r>
              <a:rPr b="0" lang="fr-FR" sz="2000" spc="-1" strike="noStrike" u="sng">
                <a:solidFill>
                  <a:srgbClr val="205aa7"/>
                </a:solidFill>
                <a:uFillTx/>
                <a:latin typeface="Calibri"/>
              </a:rPr>
              <a:t>Objectifs de cette étape</a:t>
            </a:r>
            <a:endParaRPr b="0" lang="fr-FR" sz="2000" spc="-1" strike="noStrike">
              <a:solidFill>
                <a:srgbClr val="205aa7"/>
              </a:solidFill>
              <a:latin typeface="Calibri"/>
            </a:endParaRPr>
          </a:p>
          <a:p>
            <a:pPr marL="571680" indent="-456840" algn="just">
              <a:lnSpc>
                <a:spcPct val="100000"/>
              </a:lnSpc>
              <a:spcBef>
                <a:spcPts val="400"/>
              </a:spcBef>
              <a:buClr>
                <a:srgbClr val="205aa7"/>
              </a:buClr>
              <a:buFont typeface="Wingdings" charset="2"/>
              <a:buChar char=""/>
              <a:tabLst>
                <a:tab algn="l" pos="0"/>
              </a:tabLst>
            </a:pPr>
            <a:r>
              <a:rPr b="0" lang="fr-FR" sz="2000" spc="-1" strike="noStrike">
                <a:solidFill>
                  <a:srgbClr val="205aa7"/>
                </a:solidFill>
                <a:latin typeface="Calibri"/>
              </a:rPr>
              <a:t>Comprendre et d’apprécier l’environnement dans lequel le groupe évolue et l’organisation adoptée par le groupe.</a:t>
            </a:r>
            <a:endParaRPr b="0" lang="fr-FR" sz="2000" spc="-1" strike="noStrike">
              <a:solidFill>
                <a:srgbClr val="205aa7"/>
              </a:solidFill>
              <a:latin typeface="Calibri"/>
            </a:endParaRPr>
          </a:p>
          <a:p>
            <a:pPr marL="571680" indent="-456840" algn="just">
              <a:lnSpc>
                <a:spcPct val="100000"/>
              </a:lnSpc>
              <a:spcBef>
                <a:spcPts val="400"/>
              </a:spcBef>
              <a:buClr>
                <a:srgbClr val="205aa7"/>
              </a:buClr>
              <a:buFont typeface="Wingdings" charset="2"/>
              <a:buChar char=""/>
              <a:tabLst>
                <a:tab algn="l" pos="0"/>
              </a:tabLst>
            </a:pPr>
            <a:r>
              <a:rPr b="0" lang="fr-FR" sz="2000" spc="-1" strike="noStrike">
                <a:solidFill>
                  <a:srgbClr val="205aa7"/>
                </a:solidFill>
                <a:latin typeface="Calibri"/>
              </a:rPr>
              <a:t>Dresser un panorama des opportunités et des menaces du marché et souligner les avantages comparatifs et/ou les faiblesses du groupe comparativement à ses marchés et à ses concurrents (matrice SWOT).</a:t>
            </a:r>
            <a:endParaRPr b="0" lang="fr-FR" sz="2000" spc="-1" strike="noStrike">
              <a:solidFill>
                <a:srgbClr val="205aa7"/>
              </a:solidFill>
              <a:latin typeface="Calibri"/>
            </a:endParaRPr>
          </a:p>
          <a:p>
            <a:pPr marL="571680" indent="-456840" algn="just">
              <a:lnSpc>
                <a:spcPct val="100000"/>
              </a:lnSpc>
              <a:spcBef>
                <a:spcPts val="400"/>
              </a:spcBef>
              <a:buClr>
                <a:srgbClr val="205aa7"/>
              </a:buClr>
              <a:buFont typeface="Wingdings" charset="2"/>
              <a:buChar char=""/>
              <a:tabLst>
                <a:tab algn="l" pos="0"/>
              </a:tabLst>
            </a:pPr>
            <a:r>
              <a:rPr b="0" lang="fr-FR" sz="2000" spc="-1" strike="noStrike">
                <a:solidFill>
                  <a:srgbClr val="205aa7"/>
                </a:solidFill>
                <a:latin typeface="Calibri"/>
              </a:rPr>
              <a:t>Appréhender la stratégie du groupe et apprécier sa cohérence en regard des actions menées.</a:t>
            </a:r>
            <a:endParaRPr b="0" lang="fr-FR" sz="2000" spc="-1" strike="noStrike">
              <a:solidFill>
                <a:srgbClr val="205aa7"/>
              </a:solidFill>
              <a:latin typeface="Calibri"/>
            </a:endParaRPr>
          </a:p>
          <a:p>
            <a:pPr marL="571680" indent="-456840" algn="just">
              <a:lnSpc>
                <a:spcPct val="100000"/>
              </a:lnSpc>
              <a:spcBef>
                <a:spcPts val="400"/>
              </a:spcBef>
              <a:buClr>
                <a:srgbClr val="205aa7"/>
              </a:buClr>
              <a:buFont typeface="Wingdings" charset="2"/>
              <a:buChar char=""/>
              <a:tabLst>
                <a:tab algn="l" pos="0"/>
              </a:tabLst>
            </a:pPr>
            <a:r>
              <a:rPr b="0" lang="fr-FR" sz="2000" spc="-1" strike="noStrike">
                <a:solidFill>
                  <a:srgbClr val="205aa7"/>
                </a:solidFill>
                <a:latin typeface="Calibri"/>
              </a:rPr>
              <a:t>Identifier les risques éventuels liés à l’organisation du groupe.</a:t>
            </a:r>
            <a:endParaRPr b="0" lang="fr-FR" sz="2000" spc="-1" strike="noStrike">
              <a:solidFill>
                <a:srgbClr val="205aa7"/>
              </a:solidFill>
              <a:latin typeface="Calibri"/>
            </a:endParaRPr>
          </a:p>
          <a:p>
            <a:pPr marL="571680" indent="-456840" algn="just">
              <a:lnSpc>
                <a:spcPct val="100000"/>
              </a:lnSpc>
              <a:spcBef>
                <a:spcPts val="400"/>
              </a:spcBef>
              <a:buClr>
                <a:srgbClr val="205aa7"/>
              </a:buClr>
              <a:buFont typeface="Wingdings" charset="2"/>
              <a:buChar char=""/>
              <a:tabLst>
                <a:tab algn="l" pos="0"/>
              </a:tabLst>
            </a:pPr>
            <a:r>
              <a:rPr b="0" lang="fr-FR" sz="2000" spc="-1" strike="noStrike">
                <a:solidFill>
                  <a:srgbClr val="205aa7"/>
                </a:solidFill>
                <a:latin typeface="Calibri"/>
              </a:rPr>
              <a:t>Déterminer l’agrégat d’endettement financier retenu (brut ou net) et le degré d’intégration des filiales.</a:t>
            </a:r>
            <a:endParaRPr b="0" lang="fr-FR" sz="2000" spc="-1" strike="noStrike">
              <a:solidFill>
                <a:srgbClr val="205aa7"/>
              </a:solidFill>
              <a:latin typeface="Calibri"/>
            </a:endParaRPr>
          </a:p>
        </p:txBody>
      </p:sp>
    </p:spTree>
  </p:cSld>
  <mc:AlternateContent>
    <mc:Choice Requires="p14">
      <p:transition spd="slow" p14:dur="2000"/>
    </mc:Choice>
    <mc:Fallback>
      <p:transition spd="slow"/>
    </mc:Fallback>
  </mc:AlternateContent>
</p:sld>
</file>

<file path=ppt/slides/slide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1" name="TextShape 1"/>
          <p:cNvSpPr txBox="1"/>
          <p:nvPr/>
        </p:nvSpPr>
        <p:spPr>
          <a:xfrm>
            <a:off x="468000" y="0"/>
            <a:ext cx="8229240" cy="1142640"/>
          </a:xfrm>
          <a:prstGeom prst="rect">
            <a:avLst/>
          </a:prstGeom>
          <a:noFill/>
          <a:ln>
            <a:noFill/>
          </a:ln>
        </p:spPr>
        <p:txBody>
          <a:bodyPr anchor="ctr">
            <a:noAutofit/>
          </a:bodyPr>
          <a:p>
            <a:pPr>
              <a:lnSpc>
                <a:spcPct val="100000"/>
              </a:lnSpc>
            </a:pPr>
            <a:r>
              <a:rPr b="1" lang="fr-FR" sz="2400" spc="-1" strike="noStrike" cap="all">
                <a:solidFill>
                  <a:srgbClr val="ffffff"/>
                </a:solidFill>
                <a:latin typeface="Calibri"/>
              </a:rPr>
              <a:t>3. L’analyse financière des comptes consolidés</a:t>
            </a:r>
            <a:endParaRPr b="0" lang="fr-FR" sz="2400" spc="-1" strike="noStrike">
              <a:solidFill>
                <a:srgbClr val="000000"/>
              </a:solidFill>
              <a:latin typeface="Calibri"/>
            </a:endParaRPr>
          </a:p>
        </p:txBody>
      </p:sp>
      <p:sp>
        <p:nvSpPr>
          <p:cNvPr id="332" name="TextShape 2"/>
          <p:cNvSpPr txBox="1"/>
          <p:nvPr/>
        </p:nvSpPr>
        <p:spPr>
          <a:xfrm>
            <a:off x="3124080" y="6480000"/>
            <a:ext cx="4975920" cy="359640"/>
          </a:xfrm>
          <a:prstGeom prst="rect">
            <a:avLst/>
          </a:prstGeom>
          <a:noFill/>
          <a:ln>
            <a:noFill/>
          </a:ln>
        </p:spPr>
        <p:txBody>
          <a:bodyPr>
            <a:noAutofit/>
          </a:bodyPr>
          <a:p>
            <a:endParaRPr b="0" lang="fr-FR" sz="2400" spc="-1" strike="noStrike">
              <a:latin typeface="Times New Roman"/>
            </a:endParaRPr>
          </a:p>
        </p:txBody>
      </p:sp>
      <p:sp>
        <p:nvSpPr>
          <p:cNvPr id="333" name="TextShape 3"/>
          <p:cNvSpPr txBox="1"/>
          <p:nvPr/>
        </p:nvSpPr>
        <p:spPr>
          <a:xfrm>
            <a:off x="8172360" y="6480000"/>
            <a:ext cx="539640" cy="359640"/>
          </a:xfrm>
          <a:prstGeom prst="rect">
            <a:avLst/>
          </a:prstGeom>
          <a:noFill/>
          <a:ln>
            <a:noFill/>
          </a:ln>
        </p:spPr>
        <p:txBody>
          <a:bodyPr lIns="90000" rIns="90000" tIns="45000" bIns="45000">
            <a:noAutofit/>
          </a:bodyPr>
          <a:p>
            <a:pPr algn="r">
              <a:lnSpc>
                <a:spcPct val="100000"/>
              </a:lnSpc>
            </a:pPr>
            <a:fld id="{106DE437-416C-4595-A030-C41442A9AB5E}" type="slidenum">
              <a:rPr b="0" lang="fr-FR" sz="900" spc="-1" strike="noStrike">
                <a:solidFill>
                  <a:srgbClr val="205aa7"/>
                </a:solidFill>
                <a:latin typeface="Calibri"/>
              </a:rPr>
              <a:t>&lt;number&gt;</a:t>
            </a:fld>
            <a:endParaRPr b="0" lang="fr-FR" sz="900" spc="-1" strike="noStrike">
              <a:latin typeface="Times New Roman"/>
            </a:endParaRPr>
          </a:p>
        </p:txBody>
      </p:sp>
      <p:grpSp>
        <p:nvGrpSpPr>
          <p:cNvPr id="334" name="Group 4"/>
          <p:cNvGrpSpPr/>
          <p:nvPr/>
        </p:nvGrpSpPr>
        <p:grpSpPr>
          <a:xfrm>
            <a:off x="468360" y="1440000"/>
            <a:ext cx="8229240" cy="4005000"/>
            <a:chOff x="468360" y="1440000"/>
            <a:chExt cx="8229240" cy="4005000"/>
          </a:xfrm>
        </p:grpSpPr>
        <p:sp>
          <p:nvSpPr>
            <p:cNvPr id="335" name="CustomShape 5"/>
            <p:cNvSpPr/>
            <p:nvPr/>
          </p:nvSpPr>
          <p:spPr>
            <a:xfrm>
              <a:off x="468360" y="1440000"/>
              <a:ext cx="8229240" cy="4005000"/>
            </a:xfrm>
            <a:prstGeom prst="rect">
              <a:avLst/>
            </a:prstGeom>
            <a:noFill/>
            <a:ln>
              <a:noFill/>
            </a:ln>
          </p:spPr>
          <p:style>
            <a:lnRef idx="0"/>
            <a:fillRef idx="0"/>
            <a:effectRef idx="0"/>
            <a:fontRef idx="minor"/>
          </p:style>
        </p:sp>
        <p:sp>
          <p:nvSpPr>
            <p:cNvPr id="336" name="CustomShape 6"/>
            <p:cNvSpPr/>
            <p:nvPr/>
          </p:nvSpPr>
          <p:spPr>
            <a:xfrm>
              <a:off x="2580480" y="1440000"/>
              <a:ext cx="4005000" cy="4005000"/>
            </a:xfrm>
            <a:prstGeom prst="quadArrow">
              <a:avLst>
                <a:gd name="adj1" fmla="val 2000"/>
                <a:gd name="adj2" fmla="val 4000"/>
                <a:gd name="adj3" fmla="val 5000"/>
              </a:avLst>
            </a:prstGeom>
            <a:solidFill>
              <a:srgbClr val="ccd1e1"/>
            </a:solidFill>
            <a:ln>
              <a:noFill/>
            </a:ln>
          </p:spPr>
          <p:style>
            <a:lnRef idx="0"/>
            <a:fillRef idx="0"/>
            <a:effectRef idx="0"/>
            <a:fontRef idx="minor"/>
          </p:style>
        </p:sp>
        <p:sp>
          <p:nvSpPr>
            <p:cNvPr id="337" name="CustomShape 7"/>
            <p:cNvSpPr/>
            <p:nvPr/>
          </p:nvSpPr>
          <p:spPr>
            <a:xfrm>
              <a:off x="2840760" y="1700280"/>
              <a:ext cx="1601640" cy="1601640"/>
            </a:xfrm>
            <a:prstGeom prst="roundRect">
              <a:avLst>
                <a:gd name="adj" fmla="val 16667"/>
              </a:avLst>
            </a:prstGeom>
            <a:solidFill>
              <a:srgbClr val="800080"/>
            </a:solidFill>
            <a:ln w="38160">
              <a:solidFill>
                <a:srgbClr val="5e005e"/>
              </a:solidFill>
              <a:round/>
            </a:ln>
          </p:spPr>
          <p:style>
            <a:lnRef idx="0"/>
            <a:fillRef idx="0"/>
            <a:effectRef idx="0"/>
            <a:fontRef idx="minor"/>
          </p:style>
          <p:txBody>
            <a:bodyPr lIns="119880" rIns="41760" tIns="119880" bIns="120240" anchor="ctr">
              <a:noAutofit/>
            </a:bodyPr>
            <a:p>
              <a:pPr algn="ctr">
                <a:lnSpc>
                  <a:spcPct val="90000"/>
                </a:lnSpc>
                <a:spcAft>
                  <a:spcPts val="386"/>
                </a:spcAft>
                <a:tabLst>
                  <a:tab algn="l" pos="0"/>
                </a:tabLst>
              </a:pPr>
              <a:r>
                <a:rPr b="1" lang="fr-FR" sz="1100" spc="-1" strike="noStrike">
                  <a:solidFill>
                    <a:srgbClr val="ffffff"/>
                  </a:solidFill>
                  <a:latin typeface="Calibri"/>
                </a:rPr>
                <a:t>STRENGTHS</a:t>
              </a:r>
              <a:endParaRPr b="0" lang="fr-FR" sz="1100" spc="-1" strike="noStrike">
                <a:latin typeface="Arial"/>
              </a:endParaRPr>
            </a:p>
            <a:p>
              <a:pPr algn="ctr">
                <a:lnSpc>
                  <a:spcPct val="90000"/>
                </a:lnSpc>
                <a:spcAft>
                  <a:spcPts val="386"/>
                </a:spcAft>
                <a:tabLst>
                  <a:tab algn="l" pos="0"/>
                </a:tabLst>
              </a:pPr>
              <a:r>
                <a:rPr b="0" lang="fr-FR" sz="1100" spc="-1" strike="noStrike">
                  <a:solidFill>
                    <a:srgbClr val="ffffff"/>
                  </a:solidFill>
                  <a:latin typeface="Calibri"/>
                </a:rPr>
                <a:t>Diversification du portefeuille activités/zones géographiques,</a:t>
              </a:r>
              <a:endParaRPr b="0" lang="fr-FR" sz="1100" spc="-1" strike="noStrike">
                <a:latin typeface="Arial"/>
              </a:endParaRPr>
            </a:p>
            <a:p>
              <a:pPr algn="ctr">
                <a:lnSpc>
                  <a:spcPct val="90000"/>
                </a:lnSpc>
                <a:spcAft>
                  <a:spcPts val="386"/>
                </a:spcAft>
                <a:tabLst>
                  <a:tab algn="l" pos="0"/>
                </a:tabLst>
              </a:pPr>
              <a:r>
                <a:rPr b="0" lang="fr-FR" sz="1100" spc="-1" strike="noStrike">
                  <a:solidFill>
                    <a:srgbClr val="ffffff"/>
                  </a:solidFill>
                  <a:latin typeface="Calibri"/>
                </a:rPr>
                <a:t>Produit de niche,</a:t>
              </a:r>
              <a:endParaRPr b="0" lang="fr-FR" sz="1100" spc="-1" strike="noStrike">
                <a:latin typeface="Arial"/>
              </a:endParaRPr>
            </a:p>
            <a:p>
              <a:pPr algn="ctr">
                <a:lnSpc>
                  <a:spcPct val="90000"/>
                </a:lnSpc>
                <a:spcAft>
                  <a:spcPts val="386"/>
                </a:spcAft>
                <a:tabLst>
                  <a:tab algn="l" pos="0"/>
                </a:tabLst>
              </a:pPr>
              <a:r>
                <a:rPr b="0" lang="fr-FR" sz="1100" spc="-1" strike="noStrike">
                  <a:solidFill>
                    <a:srgbClr val="ffffff"/>
                  </a:solidFill>
                  <a:latin typeface="Calibri"/>
                </a:rPr>
                <a:t>Brevets, Partenariats…</a:t>
              </a:r>
              <a:endParaRPr b="0" lang="fr-FR" sz="1100" spc="-1" strike="noStrike">
                <a:latin typeface="Arial"/>
              </a:endParaRPr>
            </a:p>
          </p:txBody>
        </p:sp>
        <p:sp>
          <p:nvSpPr>
            <p:cNvPr id="338" name="CustomShape 8"/>
            <p:cNvSpPr/>
            <p:nvPr/>
          </p:nvSpPr>
          <p:spPr>
            <a:xfrm>
              <a:off x="4723200" y="1700280"/>
              <a:ext cx="1601640" cy="1601640"/>
            </a:xfrm>
            <a:prstGeom prst="roundRect">
              <a:avLst>
                <a:gd name="adj" fmla="val 16667"/>
              </a:avLst>
            </a:prstGeom>
            <a:solidFill>
              <a:srgbClr val="d60093"/>
            </a:solidFill>
            <a:ln w="38160">
              <a:solidFill>
                <a:srgbClr val="9e006c"/>
              </a:solidFill>
              <a:round/>
            </a:ln>
          </p:spPr>
          <p:style>
            <a:lnRef idx="0"/>
            <a:fillRef idx="0"/>
            <a:effectRef idx="0"/>
            <a:fontRef idx="minor"/>
          </p:style>
          <p:txBody>
            <a:bodyPr lIns="119880" rIns="41760" tIns="119880" bIns="120240" anchor="ctr">
              <a:noAutofit/>
            </a:bodyPr>
            <a:p>
              <a:pPr algn="ctr">
                <a:lnSpc>
                  <a:spcPct val="90000"/>
                </a:lnSpc>
                <a:spcAft>
                  <a:spcPts val="386"/>
                </a:spcAft>
                <a:tabLst>
                  <a:tab algn="l" pos="0"/>
                </a:tabLst>
              </a:pPr>
              <a:r>
                <a:rPr b="1" lang="fr-FR" sz="1100" spc="-1" strike="noStrike">
                  <a:solidFill>
                    <a:srgbClr val="ffffff"/>
                  </a:solidFill>
                  <a:latin typeface="Calibri"/>
                </a:rPr>
                <a:t>WEAKNESSES</a:t>
              </a:r>
              <a:endParaRPr b="0" lang="fr-FR" sz="1100" spc="-1" strike="noStrike">
                <a:latin typeface="Arial"/>
              </a:endParaRPr>
            </a:p>
            <a:p>
              <a:pPr algn="ctr">
                <a:lnSpc>
                  <a:spcPct val="90000"/>
                </a:lnSpc>
                <a:spcAft>
                  <a:spcPts val="386"/>
                </a:spcAft>
                <a:tabLst>
                  <a:tab algn="l" pos="0"/>
                </a:tabLst>
              </a:pPr>
              <a:r>
                <a:rPr b="0" lang="fr-FR" sz="1100" spc="-1" strike="noStrike">
                  <a:solidFill>
                    <a:srgbClr val="ffffff"/>
                  </a:solidFill>
                  <a:latin typeface="Calibri"/>
                </a:rPr>
                <a:t>Portefeuille clients ou fournisseurs peu diversifié…</a:t>
              </a:r>
              <a:endParaRPr b="0" lang="fr-FR" sz="1100" spc="-1" strike="noStrike">
                <a:latin typeface="Arial"/>
              </a:endParaRPr>
            </a:p>
          </p:txBody>
        </p:sp>
        <p:sp>
          <p:nvSpPr>
            <p:cNvPr id="339" name="CustomShape 9"/>
            <p:cNvSpPr/>
            <p:nvPr/>
          </p:nvSpPr>
          <p:spPr>
            <a:xfrm>
              <a:off x="2840760" y="3582720"/>
              <a:ext cx="1601640" cy="1601640"/>
            </a:xfrm>
            <a:prstGeom prst="roundRect">
              <a:avLst>
                <a:gd name="adj" fmla="val 16667"/>
              </a:avLst>
            </a:prstGeom>
            <a:solidFill>
              <a:srgbClr val="205aa7"/>
            </a:solidFill>
            <a:ln w="38160">
              <a:solidFill>
                <a:srgbClr val="17427b"/>
              </a:solidFill>
              <a:round/>
            </a:ln>
          </p:spPr>
          <p:style>
            <a:lnRef idx="0"/>
            <a:fillRef idx="0"/>
            <a:effectRef idx="0"/>
            <a:fontRef idx="minor"/>
          </p:style>
          <p:txBody>
            <a:bodyPr lIns="119880" rIns="41760" tIns="119880" bIns="120240" anchor="ctr">
              <a:noAutofit/>
            </a:bodyPr>
            <a:p>
              <a:pPr algn="ctr">
                <a:lnSpc>
                  <a:spcPct val="90000"/>
                </a:lnSpc>
                <a:spcAft>
                  <a:spcPts val="386"/>
                </a:spcAft>
                <a:tabLst>
                  <a:tab algn="l" pos="0"/>
                </a:tabLst>
              </a:pPr>
              <a:r>
                <a:rPr b="1" lang="fr-FR" sz="1100" spc="-1" strike="noStrike">
                  <a:solidFill>
                    <a:srgbClr val="ffffff"/>
                  </a:solidFill>
                  <a:latin typeface="Calibri"/>
                </a:rPr>
                <a:t>OPPORTUNITUES</a:t>
              </a:r>
              <a:endParaRPr b="0" lang="fr-FR" sz="1100" spc="-1" strike="noStrike">
                <a:latin typeface="Arial"/>
              </a:endParaRPr>
            </a:p>
            <a:p>
              <a:pPr algn="ctr">
                <a:lnSpc>
                  <a:spcPct val="90000"/>
                </a:lnSpc>
                <a:spcAft>
                  <a:spcPts val="386"/>
                </a:spcAft>
                <a:tabLst>
                  <a:tab algn="l" pos="0"/>
                </a:tabLst>
              </a:pPr>
              <a:r>
                <a:rPr b="0" lang="fr-FR" sz="1100" spc="-1" strike="noStrike">
                  <a:solidFill>
                    <a:srgbClr val="ffffff"/>
                  </a:solidFill>
                  <a:latin typeface="Calibri"/>
                </a:rPr>
                <a:t>Secteur en croissance,</a:t>
              </a:r>
              <a:endParaRPr b="0" lang="fr-FR" sz="1100" spc="-1" strike="noStrike">
                <a:latin typeface="Arial"/>
              </a:endParaRPr>
            </a:p>
            <a:p>
              <a:pPr algn="ctr">
                <a:lnSpc>
                  <a:spcPct val="90000"/>
                </a:lnSpc>
                <a:spcAft>
                  <a:spcPts val="386"/>
                </a:spcAft>
                <a:tabLst>
                  <a:tab algn="l" pos="0"/>
                </a:tabLst>
              </a:pPr>
              <a:r>
                <a:rPr b="0" lang="fr-FR" sz="1100" spc="-1" strike="noStrike">
                  <a:solidFill>
                    <a:srgbClr val="ffffff"/>
                  </a:solidFill>
                  <a:latin typeface="Calibri"/>
                </a:rPr>
                <a:t>Barrières à l’entrée…</a:t>
              </a:r>
              <a:endParaRPr b="0" lang="fr-FR" sz="1100" spc="-1" strike="noStrike">
                <a:latin typeface="Arial"/>
              </a:endParaRPr>
            </a:p>
          </p:txBody>
        </p:sp>
        <p:sp>
          <p:nvSpPr>
            <p:cNvPr id="340" name="CustomShape 10"/>
            <p:cNvSpPr/>
            <p:nvPr/>
          </p:nvSpPr>
          <p:spPr>
            <a:xfrm>
              <a:off x="4723200" y="3582720"/>
              <a:ext cx="1601640" cy="1601640"/>
            </a:xfrm>
            <a:prstGeom prst="roundRect">
              <a:avLst>
                <a:gd name="adj" fmla="val 16667"/>
              </a:avLst>
            </a:prstGeom>
            <a:solidFill>
              <a:srgbClr val="005bd3"/>
            </a:solidFill>
            <a:ln w="38160">
              <a:solidFill>
                <a:srgbClr val="00439c"/>
              </a:solidFill>
              <a:round/>
            </a:ln>
          </p:spPr>
          <p:style>
            <a:lnRef idx="0"/>
            <a:fillRef idx="0"/>
            <a:effectRef idx="0"/>
            <a:fontRef idx="minor"/>
          </p:style>
          <p:txBody>
            <a:bodyPr lIns="119880" rIns="41760" tIns="119880" bIns="120240" anchor="ctr">
              <a:noAutofit/>
            </a:bodyPr>
            <a:p>
              <a:pPr algn="ctr">
                <a:lnSpc>
                  <a:spcPct val="90000"/>
                </a:lnSpc>
                <a:spcAft>
                  <a:spcPts val="386"/>
                </a:spcAft>
                <a:tabLst>
                  <a:tab algn="l" pos="0"/>
                </a:tabLst>
              </a:pPr>
              <a:r>
                <a:rPr b="1" lang="fr-FR" sz="1100" spc="-1" strike="noStrike">
                  <a:solidFill>
                    <a:srgbClr val="ffffff"/>
                  </a:solidFill>
                  <a:latin typeface="Calibri"/>
                </a:rPr>
                <a:t>THREATS</a:t>
              </a:r>
              <a:endParaRPr b="0" lang="fr-FR" sz="1100" spc="-1" strike="noStrike">
                <a:latin typeface="Arial"/>
              </a:endParaRPr>
            </a:p>
            <a:p>
              <a:pPr algn="ctr">
                <a:lnSpc>
                  <a:spcPct val="90000"/>
                </a:lnSpc>
                <a:spcAft>
                  <a:spcPts val="386"/>
                </a:spcAft>
                <a:tabLst>
                  <a:tab algn="l" pos="0"/>
                </a:tabLst>
              </a:pPr>
              <a:r>
                <a:rPr b="0" lang="fr-FR" sz="1100" spc="-1" strike="noStrike">
                  <a:solidFill>
                    <a:srgbClr val="ffffff"/>
                  </a:solidFill>
                  <a:latin typeface="Calibri"/>
                </a:rPr>
                <a:t>Secteur en récession,</a:t>
              </a:r>
              <a:endParaRPr b="0" lang="fr-FR" sz="1100" spc="-1" strike="noStrike">
                <a:latin typeface="Arial"/>
              </a:endParaRPr>
            </a:p>
            <a:p>
              <a:pPr algn="ctr">
                <a:lnSpc>
                  <a:spcPct val="90000"/>
                </a:lnSpc>
                <a:spcAft>
                  <a:spcPts val="386"/>
                </a:spcAft>
                <a:tabLst>
                  <a:tab algn="l" pos="0"/>
                </a:tabLst>
              </a:pPr>
              <a:r>
                <a:rPr b="0" lang="fr-FR" sz="1100" spc="-1" strike="noStrike">
                  <a:solidFill>
                    <a:srgbClr val="ffffff"/>
                  </a:solidFill>
                  <a:latin typeface="Calibri"/>
                </a:rPr>
                <a:t>Très forte intensité concurrentielle et/ou capitalistique,</a:t>
              </a:r>
              <a:endParaRPr b="0" lang="fr-FR" sz="1100" spc="-1" strike="noStrike">
                <a:latin typeface="Arial"/>
              </a:endParaRPr>
            </a:p>
            <a:p>
              <a:pPr algn="ctr">
                <a:lnSpc>
                  <a:spcPct val="90000"/>
                </a:lnSpc>
                <a:spcAft>
                  <a:spcPts val="386"/>
                </a:spcAft>
                <a:tabLst>
                  <a:tab algn="l" pos="0"/>
                </a:tabLst>
              </a:pPr>
              <a:r>
                <a:rPr b="0" lang="fr-FR" sz="1100" spc="-1" strike="noStrike">
                  <a:solidFill>
                    <a:srgbClr val="ffffff"/>
                  </a:solidFill>
                  <a:latin typeface="Calibri"/>
                </a:rPr>
                <a:t>Volatilité des cours…</a:t>
              </a:r>
              <a:endParaRPr b="0" lang="fr-FR" sz="1100" spc="-1" strike="noStrike">
                <a:latin typeface="Arial"/>
              </a:endParaRPr>
            </a:p>
          </p:txBody>
        </p:sp>
      </p:grpSp>
      <p:sp>
        <p:nvSpPr>
          <p:cNvPr id="341" name="CustomShape 11"/>
          <p:cNvSpPr/>
          <p:nvPr/>
        </p:nvSpPr>
        <p:spPr>
          <a:xfrm>
            <a:off x="827640" y="5517360"/>
            <a:ext cx="7869600" cy="700200"/>
          </a:xfrm>
          <a:prstGeom prst="rect">
            <a:avLst/>
          </a:prstGeom>
          <a:noFill/>
          <a:ln>
            <a:noFill/>
          </a:ln>
        </p:spPr>
        <p:style>
          <a:lnRef idx="0"/>
          <a:fillRef idx="0"/>
          <a:effectRef idx="0"/>
          <a:fontRef idx="minor"/>
        </p:style>
        <p:txBody>
          <a:bodyPr lIns="90000" rIns="90000" tIns="45000" bIns="45000">
            <a:spAutoFit/>
          </a:bodyPr>
          <a:p>
            <a:pPr marL="114480" algn="ctr">
              <a:lnSpc>
                <a:spcPct val="100000"/>
              </a:lnSpc>
              <a:tabLst>
                <a:tab algn="l" pos="0"/>
              </a:tabLst>
            </a:pPr>
            <a:r>
              <a:rPr b="1" lang="fr-FR" sz="2000" spc="-1" strike="noStrike">
                <a:solidFill>
                  <a:srgbClr val="205aa7"/>
                </a:solidFill>
                <a:latin typeface="Wingdings"/>
              </a:rPr>
              <a:t></a:t>
            </a:r>
            <a:r>
              <a:rPr b="1" lang="fr-FR" sz="2000" spc="-1" strike="noStrike">
                <a:solidFill>
                  <a:srgbClr val="205aa7"/>
                </a:solidFill>
                <a:latin typeface="Calibri"/>
              </a:rPr>
              <a:t> </a:t>
            </a:r>
            <a:r>
              <a:rPr b="1" lang="fr-FR" sz="2000" spc="-1" strike="noStrike">
                <a:solidFill>
                  <a:srgbClr val="205aa7"/>
                </a:solidFill>
                <a:latin typeface="Calibri"/>
              </a:rPr>
              <a:t>Caractériser les enjeux auxquels le groupe est confronté et la stratégie adoptée pour y faire face.</a:t>
            </a:r>
            <a:endParaRPr b="0" lang="fr-FR" sz="2000" spc="-1" strike="noStrike">
              <a:latin typeface="Arial"/>
            </a:endParaRPr>
          </a:p>
        </p:txBody>
      </p:sp>
    </p:spTree>
  </p:cSld>
  <mc:AlternateContent>
    <mc:Choice Requires="p14">
      <p:transition spd="slow" p14:dur="2000"/>
    </mc:Choice>
    <mc:Fallback>
      <p:transition spd="slow"/>
    </mc:Fallback>
  </mc:AlternateContent>
</p:sld>
</file>

<file path=ppt/slides/slide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2" name="TextShape 1"/>
          <p:cNvSpPr txBox="1"/>
          <p:nvPr/>
        </p:nvSpPr>
        <p:spPr>
          <a:xfrm>
            <a:off x="468000" y="0"/>
            <a:ext cx="8229240" cy="1142640"/>
          </a:xfrm>
          <a:prstGeom prst="rect">
            <a:avLst/>
          </a:prstGeom>
          <a:noFill/>
          <a:ln>
            <a:noFill/>
          </a:ln>
        </p:spPr>
        <p:txBody>
          <a:bodyPr anchor="ctr">
            <a:noAutofit/>
          </a:bodyPr>
          <a:p>
            <a:pPr>
              <a:lnSpc>
                <a:spcPct val="100000"/>
              </a:lnSpc>
            </a:pPr>
            <a:r>
              <a:rPr b="1" lang="fr-FR" sz="2400" spc="-1" strike="noStrike" cap="all">
                <a:solidFill>
                  <a:srgbClr val="ffffff"/>
                </a:solidFill>
                <a:latin typeface="Calibri"/>
              </a:rPr>
              <a:t>3. L’analyse financière des comptes consolidés</a:t>
            </a:r>
            <a:endParaRPr b="0" lang="fr-FR" sz="2400" spc="-1" strike="noStrike">
              <a:solidFill>
                <a:srgbClr val="000000"/>
              </a:solidFill>
              <a:latin typeface="Calibri"/>
            </a:endParaRPr>
          </a:p>
        </p:txBody>
      </p:sp>
      <p:sp>
        <p:nvSpPr>
          <p:cNvPr id="343" name="TextShape 2"/>
          <p:cNvSpPr txBox="1"/>
          <p:nvPr/>
        </p:nvSpPr>
        <p:spPr>
          <a:xfrm>
            <a:off x="3124080" y="6480000"/>
            <a:ext cx="4975920" cy="359640"/>
          </a:xfrm>
          <a:prstGeom prst="rect">
            <a:avLst/>
          </a:prstGeom>
          <a:noFill/>
          <a:ln>
            <a:noFill/>
          </a:ln>
        </p:spPr>
        <p:txBody>
          <a:bodyPr>
            <a:noAutofit/>
          </a:bodyPr>
          <a:p>
            <a:endParaRPr b="0" lang="fr-FR" sz="2400" spc="-1" strike="noStrike">
              <a:latin typeface="Times New Roman"/>
            </a:endParaRPr>
          </a:p>
        </p:txBody>
      </p:sp>
      <p:sp>
        <p:nvSpPr>
          <p:cNvPr id="344" name="TextShape 3"/>
          <p:cNvSpPr txBox="1"/>
          <p:nvPr/>
        </p:nvSpPr>
        <p:spPr>
          <a:xfrm>
            <a:off x="8172360" y="6480000"/>
            <a:ext cx="539640" cy="359640"/>
          </a:xfrm>
          <a:prstGeom prst="rect">
            <a:avLst/>
          </a:prstGeom>
          <a:noFill/>
          <a:ln>
            <a:noFill/>
          </a:ln>
        </p:spPr>
        <p:txBody>
          <a:bodyPr lIns="90000" rIns="90000" tIns="45000" bIns="45000">
            <a:noAutofit/>
          </a:bodyPr>
          <a:p>
            <a:pPr algn="r">
              <a:lnSpc>
                <a:spcPct val="100000"/>
              </a:lnSpc>
            </a:pPr>
            <a:fld id="{AE26020D-A46C-44E4-BEFB-ECBEE2AEFA05}" type="slidenum">
              <a:rPr b="0" lang="fr-FR" sz="900" spc="-1" strike="noStrike">
                <a:solidFill>
                  <a:srgbClr val="205aa7"/>
                </a:solidFill>
                <a:latin typeface="Calibri"/>
              </a:rPr>
              <a:t>&lt;number&gt;</a:t>
            </a:fld>
            <a:endParaRPr b="0" lang="fr-FR" sz="900" spc="-1" strike="noStrike">
              <a:latin typeface="Times New Roman"/>
            </a:endParaRPr>
          </a:p>
        </p:txBody>
      </p:sp>
      <p:sp>
        <p:nvSpPr>
          <p:cNvPr id="345" name="TextShape 4"/>
          <p:cNvSpPr txBox="1"/>
          <p:nvPr/>
        </p:nvSpPr>
        <p:spPr>
          <a:xfrm>
            <a:off x="468000" y="1440000"/>
            <a:ext cx="8229240" cy="4525560"/>
          </a:xfrm>
          <a:prstGeom prst="rect">
            <a:avLst/>
          </a:prstGeom>
          <a:noFill/>
          <a:ln>
            <a:noFill/>
          </a:ln>
        </p:spPr>
        <p:txBody>
          <a:bodyPr>
            <a:noAutofit/>
          </a:bodyPr>
          <a:p>
            <a:pPr algn="ctr">
              <a:lnSpc>
                <a:spcPct val="100000"/>
              </a:lnSpc>
              <a:spcBef>
                <a:spcPts val="400"/>
              </a:spcBef>
              <a:tabLst>
                <a:tab algn="l" pos="0"/>
              </a:tabLst>
            </a:pPr>
            <a:r>
              <a:rPr b="1" lang="fr-FR" sz="2000" spc="-1" strike="noStrike">
                <a:solidFill>
                  <a:srgbClr val="205aa7"/>
                </a:solidFill>
                <a:latin typeface="Calibri"/>
              </a:rPr>
              <a:t>Étape 1 – environnement, stratégie et organisation</a:t>
            </a:r>
            <a:endParaRPr b="0" lang="fr-FR" sz="2000" spc="-1" strike="noStrike">
              <a:solidFill>
                <a:srgbClr val="205aa7"/>
              </a:solidFill>
              <a:latin typeface="Calibri"/>
            </a:endParaRPr>
          </a:p>
          <a:p>
            <a:pPr algn="ctr">
              <a:lnSpc>
                <a:spcPct val="100000"/>
              </a:lnSpc>
              <a:spcBef>
                <a:spcPts val="201"/>
              </a:spcBef>
              <a:tabLst>
                <a:tab algn="l" pos="0"/>
              </a:tabLst>
            </a:pPr>
            <a:endParaRPr b="0" lang="fr-FR" sz="2000" spc="-1" strike="noStrike">
              <a:solidFill>
                <a:srgbClr val="205aa7"/>
              </a:solidFill>
              <a:latin typeface="Calibri"/>
            </a:endParaRPr>
          </a:p>
          <a:p>
            <a:pPr algn="ctr">
              <a:lnSpc>
                <a:spcPct val="100000"/>
              </a:lnSpc>
              <a:spcBef>
                <a:spcPts val="400"/>
              </a:spcBef>
              <a:tabLst>
                <a:tab algn="l" pos="0"/>
              </a:tabLst>
            </a:pPr>
            <a:r>
              <a:rPr b="0" lang="fr-FR" sz="2000" spc="-1" strike="noStrike" u="sng">
                <a:solidFill>
                  <a:srgbClr val="205aa7"/>
                </a:solidFill>
                <a:uFillTx/>
                <a:latin typeface="Calibri"/>
              </a:rPr>
              <a:t>L’analyse de l’organisation juridique</a:t>
            </a:r>
            <a:endParaRPr b="0" lang="fr-FR" sz="2000" spc="-1" strike="noStrike">
              <a:solidFill>
                <a:srgbClr val="205aa7"/>
              </a:solidFill>
              <a:latin typeface="Calibri"/>
            </a:endParaRPr>
          </a:p>
          <a:p>
            <a:pPr marL="252000" indent="-251640">
              <a:lnSpc>
                <a:spcPct val="100000"/>
              </a:lnSpc>
              <a:spcBef>
                <a:spcPts val="400"/>
              </a:spcBef>
              <a:buClr>
                <a:srgbClr val="205aa7"/>
              </a:buClr>
              <a:buFont typeface="Wingdings" charset="2"/>
              <a:buChar char=""/>
              <a:tabLst>
                <a:tab algn="l" pos="0"/>
              </a:tabLst>
            </a:pPr>
            <a:r>
              <a:rPr b="0" lang="fr-FR" sz="2000" spc="-1" strike="noStrike">
                <a:solidFill>
                  <a:srgbClr val="205aa7"/>
                </a:solidFill>
                <a:latin typeface="Calibri"/>
              </a:rPr>
              <a:t>Type d’organigramme</a:t>
            </a:r>
            <a:endParaRPr b="0" lang="fr-FR" sz="2000" spc="-1" strike="noStrike">
              <a:solidFill>
                <a:srgbClr val="205aa7"/>
              </a:solidFill>
              <a:latin typeface="Calibri"/>
            </a:endParaRPr>
          </a:p>
          <a:p>
            <a:pPr marL="252000" indent="-251640">
              <a:lnSpc>
                <a:spcPct val="100000"/>
              </a:lnSpc>
              <a:spcBef>
                <a:spcPts val="400"/>
              </a:spcBef>
              <a:buClr>
                <a:srgbClr val="205aa7"/>
              </a:buClr>
              <a:buFont typeface="Wingdings" charset="2"/>
              <a:buChar char=""/>
              <a:tabLst>
                <a:tab algn="l" pos="0"/>
              </a:tabLst>
            </a:pPr>
            <a:r>
              <a:rPr b="0" lang="fr-FR" sz="2000" spc="-1" strike="noStrike">
                <a:solidFill>
                  <a:srgbClr val="205aa7"/>
                </a:solidFill>
                <a:latin typeface="Calibri"/>
              </a:rPr>
              <a:t>Périmètre (consolidation de toutes les entités, présence de filiales dans des paradis fiscaux, freins à la circulation de la trésorerie…)</a:t>
            </a:r>
            <a:endParaRPr b="0" lang="fr-FR" sz="2000" spc="-1" strike="noStrike">
              <a:solidFill>
                <a:srgbClr val="205aa7"/>
              </a:solidFill>
              <a:latin typeface="Calibri"/>
            </a:endParaRPr>
          </a:p>
          <a:p>
            <a:pPr marL="252000" indent="-251640">
              <a:lnSpc>
                <a:spcPct val="100000"/>
              </a:lnSpc>
              <a:spcBef>
                <a:spcPts val="400"/>
              </a:spcBef>
              <a:buClr>
                <a:srgbClr val="205aa7"/>
              </a:buClr>
              <a:buFont typeface="Wingdings" charset="2"/>
              <a:buChar char=""/>
              <a:tabLst>
                <a:tab algn="l" pos="0"/>
              </a:tabLst>
            </a:pPr>
            <a:r>
              <a:rPr b="0" lang="fr-FR" sz="2000" spc="-1" strike="noStrike">
                <a:solidFill>
                  <a:srgbClr val="205aa7"/>
                </a:solidFill>
                <a:latin typeface="Calibri"/>
              </a:rPr>
              <a:t>Catégorie juridique des filiales (SNC, GIE…)</a:t>
            </a:r>
            <a:endParaRPr b="0" lang="fr-FR" sz="2000" spc="-1" strike="noStrike">
              <a:solidFill>
                <a:srgbClr val="205aa7"/>
              </a:solidFill>
              <a:latin typeface="Calibri"/>
            </a:endParaRPr>
          </a:p>
          <a:p>
            <a:pPr marL="252000" indent="-251640">
              <a:lnSpc>
                <a:spcPct val="100000"/>
              </a:lnSpc>
              <a:spcBef>
                <a:spcPts val="400"/>
              </a:spcBef>
              <a:buClr>
                <a:srgbClr val="205aa7"/>
              </a:buClr>
              <a:buFont typeface="Wingdings" charset="2"/>
              <a:buChar char=""/>
              <a:tabLst>
                <a:tab algn="l" pos="0"/>
              </a:tabLst>
            </a:pPr>
            <a:r>
              <a:rPr b="0" lang="fr-FR" sz="2000" spc="-1" strike="noStrike">
                <a:solidFill>
                  <a:srgbClr val="205aa7"/>
                </a:solidFill>
                <a:latin typeface="Calibri"/>
              </a:rPr>
              <a:t>Structure et typologie de l’actionnariat (poids des minoritaires  risque de retrait, qualité des associés, stratégie commune, existence d’un pacte, cotation en bourse…)</a:t>
            </a:r>
            <a:endParaRPr b="0" lang="fr-FR" sz="2000" spc="-1" strike="noStrike">
              <a:solidFill>
                <a:srgbClr val="205aa7"/>
              </a:solidFill>
              <a:latin typeface="Calibri"/>
            </a:endParaRPr>
          </a:p>
          <a:p>
            <a:pPr marL="252000" indent="-251640">
              <a:lnSpc>
                <a:spcPct val="100000"/>
              </a:lnSpc>
              <a:spcBef>
                <a:spcPts val="400"/>
              </a:spcBef>
              <a:buClr>
                <a:srgbClr val="205aa7"/>
              </a:buClr>
              <a:buFont typeface="Wingdings" charset="2"/>
              <a:buChar char=""/>
              <a:tabLst>
                <a:tab algn="l" pos="0"/>
              </a:tabLst>
            </a:pPr>
            <a:r>
              <a:rPr b="0" lang="fr-FR" sz="2000" spc="-1" strike="noStrike">
                <a:solidFill>
                  <a:srgbClr val="205aa7"/>
                </a:solidFill>
                <a:latin typeface="Calibri"/>
              </a:rPr>
              <a:t>Équipe dirigeante (stabilité, expérience…)</a:t>
            </a:r>
            <a:endParaRPr b="0" lang="fr-FR" sz="2000" spc="-1" strike="noStrike">
              <a:solidFill>
                <a:srgbClr val="205aa7"/>
              </a:solidFill>
              <a:latin typeface="Calibri"/>
            </a:endParaRPr>
          </a:p>
          <a:p>
            <a:pPr marL="252000" indent="-251640">
              <a:lnSpc>
                <a:spcPct val="100000"/>
              </a:lnSpc>
              <a:spcBef>
                <a:spcPts val="400"/>
              </a:spcBef>
              <a:buClr>
                <a:srgbClr val="205aa7"/>
              </a:buClr>
              <a:buFont typeface="Wingdings" charset="2"/>
              <a:buChar char=""/>
              <a:tabLst>
                <a:tab algn="l" pos="0"/>
              </a:tabLst>
            </a:pPr>
            <a:r>
              <a:rPr b="0" lang="fr-FR" sz="2000" spc="-1" strike="noStrike">
                <a:solidFill>
                  <a:srgbClr val="205aa7"/>
                </a:solidFill>
                <a:latin typeface="Calibri"/>
              </a:rPr>
              <a:t>Homme-clé (age, succession…)</a:t>
            </a:r>
            <a:endParaRPr b="0" lang="fr-FR" sz="2000" spc="-1" strike="noStrike">
              <a:solidFill>
                <a:srgbClr val="205aa7"/>
              </a:solidFill>
              <a:latin typeface="Calibri"/>
            </a:endParaRPr>
          </a:p>
          <a:p>
            <a:pPr>
              <a:lnSpc>
                <a:spcPct val="100000"/>
              </a:lnSpc>
              <a:spcBef>
                <a:spcPts val="201"/>
              </a:spcBef>
              <a:tabLst>
                <a:tab algn="l" pos="0"/>
              </a:tabLst>
            </a:pPr>
            <a:endParaRPr b="0" lang="fr-FR" sz="2000" spc="-1" strike="noStrike">
              <a:solidFill>
                <a:srgbClr val="205aa7"/>
              </a:solidFill>
              <a:latin typeface="Calibri"/>
            </a:endParaRPr>
          </a:p>
          <a:p>
            <a:pPr algn="ctr">
              <a:lnSpc>
                <a:spcPct val="100000"/>
              </a:lnSpc>
              <a:spcBef>
                <a:spcPts val="400"/>
              </a:spcBef>
              <a:tabLst>
                <a:tab algn="l" pos="0"/>
              </a:tabLst>
            </a:pPr>
            <a:r>
              <a:rPr b="1" lang="fr-FR" sz="2000" spc="-1" strike="noStrike">
                <a:solidFill>
                  <a:srgbClr val="205aa7"/>
                </a:solidFill>
                <a:latin typeface="Wingdings"/>
              </a:rPr>
              <a:t></a:t>
            </a:r>
            <a:r>
              <a:rPr b="1" lang="fr-FR" sz="2000" spc="-1" strike="noStrike">
                <a:solidFill>
                  <a:srgbClr val="205aa7"/>
                </a:solidFill>
                <a:latin typeface="Calibri"/>
              </a:rPr>
              <a:t> </a:t>
            </a:r>
            <a:r>
              <a:rPr b="1" lang="fr-FR" sz="2000" spc="-1" strike="noStrike">
                <a:solidFill>
                  <a:srgbClr val="205aa7"/>
                </a:solidFill>
                <a:latin typeface="Calibri"/>
              </a:rPr>
              <a:t>Évaluer le degré d’intégration juridique des filiales</a:t>
            </a:r>
            <a:endParaRPr b="0" lang="fr-FR" sz="2000" spc="-1" strike="noStrike">
              <a:solidFill>
                <a:srgbClr val="205aa7"/>
              </a:solidFill>
              <a:latin typeface="Calibri"/>
            </a:endParaRPr>
          </a:p>
        </p:txBody>
      </p:sp>
    </p:spTree>
  </p:cSld>
  <mc:AlternateContent>
    <mc:Choice Requires="p14">
      <p:transition spd="slow" p14:dur="2000"/>
    </mc:Choice>
    <mc:Fallback>
      <p:transition spd="slow"/>
    </mc:Fallback>
  </mc:AlternateContent>
</p:sld>
</file>

<file path=ppt/slides/slide5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6" name="TextShape 1"/>
          <p:cNvSpPr txBox="1"/>
          <p:nvPr/>
        </p:nvSpPr>
        <p:spPr>
          <a:xfrm>
            <a:off x="468000" y="0"/>
            <a:ext cx="8229240" cy="1142640"/>
          </a:xfrm>
          <a:prstGeom prst="rect">
            <a:avLst/>
          </a:prstGeom>
          <a:noFill/>
          <a:ln>
            <a:noFill/>
          </a:ln>
        </p:spPr>
        <p:txBody>
          <a:bodyPr anchor="ctr">
            <a:noAutofit/>
          </a:bodyPr>
          <a:p>
            <a:pPr>
              <a:lnSpc>
                <a:spcPct val="100000"/>
              </a:lnSpc>
            </a:pPr>
            <a:r>
              <a:rPr b="1" lang="fr-FR" sz="2400" spc="-1" strike="noStrike" cap="all">
                <a:solidFill>
                  <a:srgbClr val="ffffff"/>
                </a:solidFill>
                <a:latin typeface="Calibri"/>
              </a:rPr>
              <a:t>3. L’analyse financière des comptes consolidés</a:t>
            </a:r>
            <a:endParaRPr b="0" lang="fr-FR" sz="2400" spc="-1" strike="noStrike">
              <a:solidFill>
                <a:srgbClr val="000000"/>
              </a:solidFill>
              <a:latin typeface="Calibri"/>
            </a:endParaRPr>
          </a:p>
        </p:txBody>
      </p:sp>
      <p:sp>
        <p:nvSpPr>
          <p:cNvPr id="347" name="TextShape 2"/>
          <p:cNvSpPr txBox="1"/>
          <p:nvPr/>
        </p:nvSpPr>
        <p:spPr>
          <a:xfrm>
            <a:off x="3124080" y="6480000"/>
            <a:ext cx="4975920" cy="359640"/>
          </a:xfrm>
          <a:prstGeom prst="rect">
            <a:avLst/>
          </a:prstGeom>
          <a:noFill/>
          <a:ln>
            <a:noFill/>
          </a:ln>
        </p:spPr>
        <p:txBody>
          <a:bodyPr>
            <a:noAutofit/>
          </a:bodyPr>
          <a:p>
            <a:endParaRPr b="0" lang="fr-FR" sz="2400" spc="-1" strike="noStrike">
              <a:latin typeface="Times New Roman"/>
            </a:endParaRPr>
          </a:p>
        </p:txBody>
      </p:sp>
      <p:sp>
        <p:nvSpPr>
          <p:cNvPr id="348" name="TextShape 3"/>
          <p:cNvSpPr txBox="1"/>
          <p:nvPr/>
        </p:nvSpPr>
        <p:spPr>
          <a:xfrm>
            <a:off x="8172360" y="6480000"/>
            <a:ext cx="539640" cy="359640"/>
          </a:xfrm>
          <a:prstGeom prst="rect">
            <a:avLst/>
          </a:prstGeom>
          <a:noFill/>
          <a:ln>
            <a:noFill/>
          </a:ln>
        </p:spPr>
        <p:txBody>
          <a:bodyPr lIns="90000" rIns="90000" tIns="45000" bIns="45000">
            <a:noAutofit/>
          </a:bodyPr>
          <a:p>
            <a:pPr algn="r">
              <a:lnSpc>
                <a:spcPct val="100000"/>
              </a:lnSpc>
            </a:pPr>
            <a:fld id="{D6C406F2-CD65-4753-8CDF-4401B3CBE4A0}" type="slidenum">
              <a:rPr b="0" lang="fr-FR" sz="900" spc="-1" strike="noStrike">
                <a:solidFill>
                  <a:srgbClr val="205aa7"/>
                </a:solidFill>
                <a:latin typeface="Calibri"/>
              </a:rPr>
              <a:t>&lt;number&gt;</a:t>
            </a:fld>
            <a:endParaRPr b="0" lang="fr-FR" sz="900" spc="-1" strike="noStrike">
              <a:latin typeface="Times New Roman"/>
            </a:endParaRPr>
          </a:p>
        </p:txBody>
      </p:sp>
      <p:sp>
        <p:nvSpPr>
          <p:cNvPr id="349" name="TextShape 4"/>
          <p:cNvSpPr txBox="1"/>
          <p:nvPr/>
        </p:nvSpPr>
        <p:spPr>
          <a:xfrm>
            <a:off x="468000" y="1440000"/>
            <a:ext cx="8229240" cy="4525560"/>
          </a:xfrm>
          <a:prstGeom prst="rect">
            <a:avLst/>
          </a:prstGeom>
          <a:noFill/>
          <a:ln>
            <a:noFill/>
          </a:ln>
        </p:spPr>
        <p:txBody>
          <a:bodyPr>
            <a:normAutofit/>
          </a:bodyPr>
          <a:p>
            <a:pPr algn="ctr">
              <a:lnSpc>
                <a:spcPct val="100000"/>
              </a:lnSpc>
              <a:spcBef>
                <a:spcPts val="400"/>
              </a:spcBef>
              <a:tabLst>
                <a:tab algn="l" pos="0"/>
              </a:tabLst>
            </a:pPr>
            <a:r>
              <a:rPr b="1" lang="fr-FR" sz="2000" spc="-1" strike="noStrike">
                <a:solidFill>
                  <a:srgbClr val="205aa7"/>
                </a:solidFill>
                <a:latin typeface="Calibri"/>
              </a:rPr>
              <a:t>Étape 1 – environnement, stratégie et organisation</a:t>
            </a:r>
            <a:endParaRPr b="0" lang="fr-FR" sz="2000" spc="-1" strike="noStrike">
              <a:solidFill>
                <a:srgbClr val="205aa7"/>
              </a:solidFill>
              <a:latin typeface="Calibri"/>
            </a:endParaRPr>
          </a:p>
          <a:p>
            <a:pPr algn="ctr">
              <a:lnSpc>
                <a:spcPct val="100000"/>
              </a:lnSpc>
              <a:spcBef>
                <a:spcPts val="201"/>
              </a:spcBef>
              <a:tabLst>
                <a:tab algn="l" pos="0"/>
              </a:tabLst>
            </a:pPr>
            <a:endParaRPr b="0" lang="fr-FR" sz="2000" spc="-1" strike="noStrike">
              <a:solidFill>
                <a:srgbClr val="205aa7"/>
              </a:solidFill>
              <a:latin typeface="Calibri"/>
            </a:endParaRPr>
          </a:p>
          <a:p>
            <a:pPr algn="ctr">
              <a:lnSpc>
                <a:spcPct val="100000"/>
              </a:lnSpc>
              <a:spcBef>
                <a:spcPts val="400"/>
              </a:spcBef>
              <a:tabLst>
                <a:tab algn="l" pos="0"/>
              </a:tabLst>
            </a:pPr>
            <a:r>
              <a:rPr b="0" lang="fr-FR" sz="2000" spc="-1" strike="noStrike" u="sng">
                <a:solidFill>
                  <a:srgbClr val="205aa7"/>
                </a:solidFill>
                <a:uFillTx/>
                <a:latin typeface="Calibri"/>
              </a:rPr>
              <a:t>L’analyse de l’organisation juridique :</a:t>
            </a:r>
            <a:endParaRPr b="0" lang="fr-FR" sz="2000" spc="-1" strike="noStrike">
              <a:solidFill>
                <a:srgbClr val="205aa7"/>
              </a:solidFill>
              <a:latin typeface="Calibri"/>
            </a:endParaRPr>
          </a:p>
          <a:p>
            <a:pPr>
              <a:lnSpc>
                <a:spcPct val="100000"/>
              </a:lnSpc>
              <a:spcBef>
                <a:spcPts val="519"/>
              </a:spcBef>
              <a:tabLst>
                <a:tab algn="l" pos="0"/>
              </a:tabLst>
            </a:pPr>
            <a:endParaRPr b="0" lang="fr-FR" sz="2000" spc="-1" strike="noStrike">
              <a:solidFill>
                <a:srgbClr val="205aa7"/>
              </a:solidFill>
              <a:latin typeface="Calibri"/>
            </a:endParaRPr>
          </a:p>
          <a:p>
            <a:pPr>
              <a:lnSpc>
                <a:spcPct val="100000"/>
              </a:lnSpc>
              <a:spcBef>
                <a:spcPts val="519"/>
              </a:spcBef>
              <a:tabLst>
                <a:tab algn="l" pos="0"/>
              </a:tabLst>
            </a:pPr>
            <a:endParaRPr b="0" lang="fr-FR" sz="2000" spc="-1" strike="noStrike">
              <a:solidFill>
                <a:srgbClr val="205aa7"/>
              </a:solidFill>
              <a:latin typeface="Calibri"/>
            </a:endParaRPr>
          </a:p>
          <a:p>
            <a:pPr>
              <a:lnSpc>
                <a:spcPct val="100000"/>
              </a:lnSpc>
              <a:spcBef>
                <a:spcPts val="519"/>
              </a:spcBef>
              <a:tabLst>
                <a:tab algn="l" pos="0"/>
              </a:tabLst>
            </a:pPr>
            <a:endParaRPr b="0" lang="fr-FR" sz="2000" spc="-1" strike="noStrike">
              <a:solidFill>
                <a:srgbClr val="205aa7"/>
              </a:solidFill>
              <a:latin typeface="Calibri"/>
            </a:endParaRPr>
          </a:p>
        </p:txBody>
      </p:sp>
      <p:pic>
        <p:nvPicPr>
          <p:cNvPr id="350" name="Picture 2" descr=""/>
          <p:cNvPicPr/>
          <p:nvPr/>
        </p:nvPicPr>
        <p:blipFill>
          <a:blip r:embed="rId1"/>
          <a:stretch/>
        </p:blipFill>
        <p:spPr>
          <a:xfrm>
            <a:off x="1691640" y="2434680"/>
            <a:ext cx="5772960" cy="3530880"/>
          </a:xfrm>
          <a:prstGeom prst="rect">
            <a:avLst/>
          </a:prstGeom>
          <a:ln>
            <a:noFill/>
          </a:ln>
        </p:spPr>
      </p:pic>
    </p:spTree>
  </p:cSld>
  <mc:AlternateContent>
    <mc:Choice Requires="p14">
      <p:transition spd="slow" p14:dur="2000"/>
    </mc:Choice>
    <mc:Fallback>
      <p:transition spd="slow"/>
    </mc:Fallback>
  </mc:AlternateContent>
</p:sld>
</file>

<file path=ppt/slides/slide5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1" name="TextShape 1"/>
          <p:cNvSpPr txBox="1"/>
          <p:nvPr/>
        </p:nvSpPr>
        <p:spPr>
          <a:xfrm>
            <a:off x="468000" y="0"/>
            <a:ext cx="8229240" cy="1142640"/>
          </a:xfrm>
          <a:prstGeom prst="rect">
            <a:avLst/>
          </a:prstGeom>
          <a:noFill/>
          <a:ln>
            <a:noFill/>
          </a:ln>
        </p:spPr>
        <p:txBody>
          <a:bodyPr anchor="ctr">
            <a:noAutofit/>
          </a:bodyPr>
          <a:p>
            <a:pPr>
              <a:lnSpc>
                <a:spcPct val="100000"/>
              </a:lnSpc>
            </a:pPr>
            <a:r>
              <a:rPr b="1" lang="fr-FR" sz="2400" spc="-1" strike="noStrike" cap="all">
                <a:solidFill>
                  <a:srgbClr val="ffffff"/>
                </a:solidFill>
                <a:latin typeface="Calibri"/>
              </a:rPr>
              <a:t>3. L’analyse financière des comptes consolidés</a:t>
            </a:r>
            <a:endParaRPr b="0" lang="fr-FR" sz="2400" spc="-1" strike="noStrike">
              <a:solidFill>
                <a:srgbClr val="000000"/>
              </a:solidFill>
              <a:latin typeface="Calibri"/>
            </a:endParaRPr>
          </a:p>
        </p:txBody>
      </p:sp>
      <p:sp>
        <p:nvSpPr>
          <p:cNvPr id="352" name="TextShape 2"/>
          <p:cNvSpPr txBox="1"/>
          <p:nvPr/>
        </p:nvSpPr>
        <p:spPr>
          <a:xfrm>
            <a:off x="3124080" y="6480000"/>
            <a:ext cx="4975920" cy="359640"/>
          </a:xfrm>
          <a:prstGeom prst="rect">
            <a:avLst/>
          </a:prstGeom>
          <a:noFill/>
          <a:ln>
            <a:noFill/>
          </a:ln>
        </p:spPr>
        <p:txBody>
          <a:bodyPr>
            <a:noAutofit/>
          </a:bodyPr>
          <a:p>
            <a:endParaRPr b="0" lang="fr-FR" sz="2400" spc="-1" strike="noStrike">
              <a:latin typeface="Times New Roman"/>
            </a:endParaRPr>
          </a:p>
        </p:txBody>
      </p:sp>
      <p:sp>
        <p:nvSpPr>
          <p:cNvPr id="353" name="TextShape 3"/>
          <p:cNvSpPr txBox="1"/>
          <p:nvPr/>
        </p:nvSpPr>
        <p:spPr>
          <a:xfrm>
            <a:off x="8172360" y="6480000"/>
            <a:ext cx="539640" cy="359640"/>
          </a:xfrm>
          <a:prstGeom prst="rect">
            <a:avLst/>
          </a:prstGeom>
          <a:noFill/>
          <a:ln>
            <a:noFill/>
          </a:ln>
        </p:spPr>
        <p:txBody>
          <a:bodyPr lIns="90000" rIns="90000" tIns="45000" bIns="45000">
            <a:noAutofit/>
          </a:bodyPr>
          <a:p>
            <a:pPr algn="r">
              <a:lnSpc>
                <a:spcPct val="100000"/>
              </a:lnSpc>
            </a:pPr>
            <a:fld id="{3463129C-6CB8-4E73-9506-D37F40EE1921}" type="slidenum">
              <a:rPr b="0" lang="fr-FR" sz="900" spc="-1" strike="noStrike">
                <a:solidFill>
                  <a:srgbClr val="205aa7"/>
                </a:solidFill>
                <a:latin typeface="Calibri"/>
              </a:rPr>
              <a:t>&lt;number&gt;</a:t>
            </a:fld>
            <a:endParaRPr b="0" lang="fr-FR" sz="900" spc="-1" strike="noStrike">
              <a:latin typeface="Times New Roman"/>
            </a:endParaRPr>
          </a:p>
        </p:txBody>
      </p:sp>
      <p:sp>
        <p:nvSpPr>
          <p:cNvPr id="354" name="TextShape 4"/>
          <p:cNvSpPr txBox="1"/>
          <p:nvPr/>
        </p:nvSpPr>
        <p:spPr>
          <a:xfrm>
            <a:off x="468000" y="1440000"/>
            <a:ext cx="8229240" cy="4525560"/>
          </a:xfrm>
          <a:prstGeom prst="rect">
            <a:avLst/>
          </a:prstGeom>
          <a:noFill/>
          <a:ln>
            <a:noFill/>
          </a:ln>
        </p:spPr>
        <p:txBody>
          <a:bodyPr>
            <a:noAutofit/>
          </a:bodyPr>
          <a:p>
            <a:pPr algn="ctr">
              <a:lnSpc>
                <a:spcPct val="100000"/>
              </a:lnSpc>
              <a:spcBef>
                <a:spcPts val="400"/>
              </a:spcBef>
              <a:tabLst>
                <a:tab algn="l" pos="0"/>
              </a:tabLst>
            </a:pPr>
            <a:r>
              <a:rPr b="1" lang="fr-FR" sz="2000" spc="-1" strike="noStrike">
                <a:solidFill>
                  <a:srgbClr val="205aa7"/>
                </a:solidFill>
                <a:latin typeface="Calibri"/>
              </a:rPr>
              <a:t>Étape 1 – environnement, stratégie et organisation</a:t>
            </a:r>
            <a:endParaRPr b="0" lang="fr-FR" sz="2000" spc="-1" strike="noStrike">
              <a:solidFill>
                <a:srgbClr val="205aa7"/>
              </a:solidFill>
              <a:latin typeface="Calibri"/>
            </a:endParaRPr>
          </a:p>
          <a:p>
            <a:pPr>
              <a:lnSpc>
                <a:spcPct val="100000"/>
              </a:lnSpc>
              <a:spcBef>
                <a:spcPts val="201"/>
              </a:spcBef>
              <a:tabLst>
                <a:tab algn="l" pos="0"/>
              </a:tabLst>
            </a:pPr>
            <a:endParaRPr b="0" lang="fr-FR" sz="2000" spc="-1" strike="noStrike">
              <a:solidFill>
                <a:srgbClr val="205aa7"/>
              </a:solidFill>
              <a:latin typeface="Calibri"/>
            </a:endParaRPr>
          </a:p>
          <a:p>
            <a:pPr algn="ctr">
              <a:lnSpc>
                <a:spcPct val="100000"/>
              </a:lnSpc>
              <a:spcBef>
                <a:spcPts val="400"/>
              </a:spcBef>
              <a:tabLst>
                <a:tab algn="l" pos="0"/>
              </a:tabLst>
            </a:pPr>
            <a:r>
              <a:rPr b="0" lang="fr-FR" sz="2000" spc="-1" strike="noStrike" u="sng">
                <a:solidFill>
                  <a:srgbClr val="205aa7"/>
                </a:solidFill>
                <a:uFillTx/>
                <a:latin typeface="Calibri"/>
              </a:rPr>
              <a:t>L’analyse de l’organisation économique :</a:t>
            </a:r>
            <a:endParaRPr b="0" lang="fr-FR" sz="2000" spc="-1" strike="noStrike">
              <a:solidFill>
                <a:srgbClr val="205aa7"/>
              </a:solidFill>
              <a:latin typeface="Calibri"/>
            </a:endParaRPr>
          </a:p>
          <a:p>
            <a:pPr marL="571680" indent="-456840" algn="just">
              <a:lnSpc>
                <a:spcPct val="100000"/>
              </a:lnSpc>
              <a:spcBef>
                <a:spcPts val="400"/>
              </a:spcBef>
              <a:buClr>
                <a:srgbClr val="205aa7"/>
              </a:buClr>
              <a:buFont typeface="Wingdings" charset="2"/>
              <a:buChar char=""/>
              <a:tabLst>
                <a:tab algn="l" pos="0"/>
              </a:tabLst>
            </a:pPr>
            <a:r>
              <a:rPr b="0" lang="fr-FR" sz="2000" spc="-1" strike="noStrike">
                <a:solidFill>
                  <a:srgbClr val="205aa7"/>
                </a:solidFill>
                <a:latin typeface="Calibri"/>
              </a:rPr>
              <a:t>Identifier les principales branches d’activité et les principaux objectifs assignés aux filiales.</a:t>
            </a:r>
            <a:endParaRPr b="0" lang="fr-FR" sz="2000" spc="-1" strike="noStrike">
              <a:solidFill>
                <a:srgbClr val="205aa7"/>
              </a:solidFill>
              <a:latin typeface="Calibri"/>
            </a:endParaRPr>
          </a:p>
          <a:p>
            <a:pPr marL="571680" indent="-456840" algn="just">
              <a:lnSpc>
                <a:spcPct val="100000"/>
              </a:lnSpc>
              <a:spcBef>
                <a:spcPts val="400"/>
              </a:spcBef>
              <a:buClr>
                <a:srgbClr val="205aa7"/>
              </a:buClr>
              <a:buFont typeface="Wingdings" charset="2"/>
              <a:buChar char=""/>
              <a:tabLst>
                <a:tab algn="l" pos="0"/>
              </a:tabLst>
            </a:pPr>
            <a:r>
              <a:rPr b="0" lang="fr-FR" sz="2000" spc="-1" strike="noStrike">
                <a:solidFill>
                  <a:srgbClr val="205aa7"/>
                </a:solidFill>
                <a:latin typeface="Calibri"/>
              </a:rPr>
              <a:t>Déterminer le caractère stratégique ou non des branches d’activité ou filiales.</a:t>
            </a:r>
            <a:endParaRPr b="0" lang="fr-FR" sz="2000" spc="-1" strike="noStrike">
              <a:solidFill>
                <a:srgbClr val="205aa7"/>
              </a:solidFill>
              <a:latin typeface="Calibri"/>
            </a:endParaRPr>
          </a:p>
          <a:p>
            <a:pPr marL="571680" indent="-456840" algn="just">
              <a:lnSpc>
                <a:spcPct val="100000"/>
              </a:lnSpc>
              <a:spcBef>
                <a:spcPts val="400"/>
              </a:spcBef>
              <a:buClr>
                <a:srgbClr val="205aa7"/>
              </a:buClr>
              <a:buFont typeface="Wingdings" charset="2"/>
              <a:buChar char=""/>
              <a:tabLst>
                <a:tab algn="l" pos="0"/>
              </a:tabLst>
            </a:pPr>
            <a:r>
              <a:rPr b="0" lang="fr-FR" sz="2000" spc="-1" strike="noStrike">
                <a:solidFill>
                  <a:srgbClr val="205aa7"/>
                </a:solidFill>
                <a:latin typeface="Calibri"/>
              </a:rPr>
              <a:t>Préciser la logique d’organisation (fonctionnelle, par division, mixte…), ainsi que les choix de gestion industrielle et commerciale retenus par le groupe (intégration verticale ou horizontale, centralisation ou non de la fonction logistique/distribution…);</a:t>
            </a:r>
            <a:endParaRPr b="0" lang="fr-FR" sz="2000" spc="-1" strike="noStrike">
              <a:solidFill>
                <a:srgbClr val="205aa7"/>
              </a:solidFill>
              <a:latin typeface="Calibri"/>
            </a:endParaRPr>
          </a:p>
          <a:p>
            <a:pPr marL="571680" indent="-456840" algn="just">
              <a:lnSpc>
                <a:spcPct val="100000"/>
              </a:lnSpc>
              <a:spcBef>
                <a:spcPts val="400"/>
              </a:spcBef>
              <a:buClr>
                <a:srgbClr val="205aa7"/>
              </a:buClr>
              <a:buFont typeface="Wingdings" charset="2"/>
              <a:buChar char=""/>
              <a:tabLst>
                <a:tab algn="l" pos="0"/>
              </a:tabLst>
            </a:pPr>
            <a:r>
              <a:rPr b="0" lang="fr-FR" sz="2000" spc="-1" strike="noStrike">
                <a:solidFill>
                  <a:srgbClr val="205aa7"/>
                </a:solidFill>
                <a:latin typeface="Calibri"/>
              </a:rPr>
              <a:t>Qualifier les relations entre les différentes sociétés du groupe.</a:t>
            </a:r>
            <a:endParaRPr b="0" lang="fr-FR" sz="2000" spc="-1" strike="noStrike">
              <a:solidFill>
                <a:srgbClr val="205aa7"/>
              </a:solidFill>
              <a:latin typeface="Calibri"/>
            </a:endParaRPr>
          </a:p>
          <a:p>
            <a:pPr marL="114480" algn="just">
              <a:lnSpc>
                <a:spcPct val="100000"/>
              </a:lnSpc>
              <a:spcBef>
                <a:spcPts val="201"/>
              </a:spcBef>
              <a:tabLst>
                <a:tab algn="l" pos="0"/>
              </a:tabLst>
            </a:pPr>
            <a:endParaRPr b="0" lang="fr-FR" sz="2000" spc="-1" strike="noStrike">
              <a:solidFill>
                <a:srgbClr val="205aa7"/>
              </a:solidFill>
              <a:latin typeface="Calibri"/>
            </a:endParaRPr>
          </a:p>
          <a:p>
            <a:pPr marL="114480" algn="ctr">
              <a:lnSpc>
                <a:spcPct val="100000"/>
              </a:lnSpc>
              <a:spcBef>
                <a:spcPts val="400"/>
              </a:spcBef>
              <a:tabLst>
                <a:tab algn="l" pos="0"/>
              </a:tabLst>
            </a:pPr>
            <a:r>
              <a:rPr b="1" lang="fr-FR" sz="2000" spc="-1" strike="noStrike">
                <a:solidFill>
                  <a:srgbClr val="205aa7"/>
                </a:solidFill>
                <a:latin typeface="Wingdings"/>
              </a:rPr>
              <a:t></a:t>
            </a:r>
            <a:r>
              <a:rPr b="1" lang="fr-FR" sz="2000" spc="-1" strike="noStrike">
                <a:solidFill>
                  <a:srgbClr val="205aa7"/>
                </a:solidFill>
                <a:latin typeface="Calibri"/>
              </a:rPr>
              <a:t> </a:t>
            </a:r>
            <a:r>
              <a:rPr b="1" lang="fr-FR" sz="2000" spc="-1" strike="noStrike">
                <a:solidFill>
                  <a:srgbClr val="205aa7"/>
                </a:solidFill>
                <a:latin typeface="Calibri"/>
              </a:rPr>
              <a:t>Évaluer le degré d’intégration économique des filiales</a:t>
            </a:r>
            <a:endParaRPr b="0" lang="fr-FR" sz="2000" spc="-1" strike="noStrike">
              <a:solidFill>
                <a:srgbClr val="205aa7"/>
              </a:solidFill>
              <a:latin typeface="Calibri"/>
            </a:endParaRPr>
          </a:p>
        </p:txBody>
      </p:sp>
    </p:spTree>
  </p:cSld>
  <mc:AlternateContent>
    <mc:Choice Requires="p14">
      <p:transition spd="slow" p14:dur="2000"/>
    </mc:Choice>
    <mc:Fallback>
      <p:transition spd="slow"/>
    </mc:Fallback>
  </mc:AlternateContent>
</p:sld>
</file>

<file path=ppt/slides/slide5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5" name="TextShape 1"/>
          <p:cNvSpPr txBox="1"/>
          <p:nvPr/>
        </p:nvSpPr>
        <p:spPr>
          <a:xfrm>
            <a:off x="468000" y="0"/>
            <a:ext cx="8229240" cy="1142640"/>
          </a:xfrm>
          <a:prstGeom prst="rect">
            <a:avLst/>
          </a:prstGeom>
          <a:noFill/>
          <a:ln>
            <a:noFill/>
          </a:ln>
        </p:spPr>
        <p:txBody>
          <a:bodyPr anchor="ctr">
            <a:noAutofit/>
          </a:bodyPr>
          <a:p>
            <a:pPr>
              <a:lnSpc>
                <a:spcPct val="100000"/>
              </a:lnSpc>
            </a:pPr>
            <a:r>
              <a:rPr b="1" lang="fr-FR" sz="2400" spc="-1" strike="noStrike" cap="all">
                <a:solidFill>
                  <a:srgbClr val="ffffff"/>
                </a:solidFill>
                <a:latin typeface="Calibri"/>
              </a:rPr>
              <a:t>3. L’analyse financière des comptes consolidés</a:t>
            </a:r>
            <a:endParaRPr b="0" lang="fr-FR" sz="2400" spc="-1" strike="noStrike">
              <a:solidFill>
                <a:srgbClr val="000000"/>
              </a:solidFill>
              <a:latin typeface="Calibri"/>
            </a:endParaRPr>
          </a:p>
        </p:txBody>
      </p:sp>
      <p:sp>
        <p:nvSpPr>
          <p:cNvPr id="356" name="TextShape 2"/>
          <p:cNvSpPr txBox="1"/>
          <p:nvPr/>
        </p:nvSpPr>
        <p:spPr>
          <a:xfrm>
            <a:off x="3124080" y="6480000"/>
            <a:ext cx="4975920" cy="359640"/>
          </a:xfrm>
          <a:prstGeom prst="rect">
            <a:avLst/>
          </a:prstGeom>
          <a:noFill/>
          <a:ln>
            <a:noFill/>
          </a:ln>
        </p:spPr>
        <p:txBody>
          <a:bodyPr>
            <a:noAutofit/>
          </a:bodyPr>
          <a:p>
            <a:endParaRPr b="0" lang="fr-FR" sz="2400" spc="-1" strike="noStrike">
              <a:latin typeface="Times New Roman"/>
            </a:endParaRPr>
          </a:p>
        </p:txBody>
      </p:sp>
      <p:sp>
        <p:nvSpPr>
          <p:cNvPr id="357" name="TextShape 3"/>
          <p:cNvSpPr txBox="1"/>
          <p:nvPr/>
        </p:nvSpPr>
        <p:spPr>
          <a:xfrm>
            <a:off x="8172360" y="6480000"/>
            <a:ext cx="539640" cy="359640"/>
          </a:xfrm>
          <a:prstGeom prst="rect">
            <a:avLst/>
          </a:prstGeom>
          <a:noFill/>
          <a:ln>
            <a:noFill/>
          </a:ln>
        </p:spPr>
        <p:txBody>
          <a:bodyPr lIns="90000" rIns="90000" tIns="45000" bIns="45000">
            <a:noAutofit/>
          </a:bodyPr>
          <a:p>
            <a:pPr algn="r">
              <a:lnSpc>
                <a:spcPct val="100000"/>
              </a:lnSpc>
            </a:pPr>
            <a:fld id="{D343CBD9-B8FE-4F05-A8B1-D8E6E69D7556}" type="slidenum">
              <a:rPr b="0" lang="fr-FR" sz="900" spc="-1" strike="noStrike">
                <a:solidFill>
                  <a:srgbClr val="205aa7"/>
                </a:solidFill>
                <a:latin typeface="Calibri"/>
              </a:rPr>
              <a:t>&lt;number&gt;</a:t>
            </a:fld>
            <a:endParaRPr b="0" lang="fr-FR" sz="900" spc="-1" strike="noStrike">
              <a:latin typeface="Times New Roman"/>
            </a:endParaRPr>
          </a:p>
        </p:txBody>
      </p:sp>
      <p:sp>
        <p:nvSpPr>
          <p:cNvPr id="358" name="TextShape 4"/>
          <p:cNvSpPr txBox="1"/>
          <p:nvPr/>
        </p:nvSpPr>
        <p:spPr>
          <a:xfrm>
            <a:off x="468000" y="1440000"/>
            <a:ext cx="8229240" cy="4525560"/>
          </a:xfrm>
          <a:prstGeom prst="rect">
            <a:avLst/>
          </a:prstGeom>
          <a:noFill/>
          <a:ln>
            <a:noFill/>
          </a:ln>
        </p:spPr>
        <p:txBody>
          <a:bodyPr>
            <a:normAutofit fontScale="73000"/>
          </a:bodyPr>
          <a:p>
            <a:pPr algn="ctr">
              <a:lnSpc>
                <a:spcPct val="100000"/>
              </a:lnSpc>
              <a:spcBef>
                <a:spcPts val="439"/>
              </a:spcBef>
              <a:tabLst>
                <a:tab algn="l" pos="0"/>
              </a:tabLst>
            </a:pPr>
            <a:r>
              <a:rPr b="1" lang="fr-FR" sz="2200" spc="-1" strike="noStrike">
                <a:solidFill>
                  <a:srgbClr val="205aa7"/>
                </a:solidFill>
                <a:latin typeface="Calibri"/>
              </a:rPr>
              <a:t>Étape 1 – environnement, stratégie et organisation</a:t>
            </a:r>
            <a:endParaRPr b="0" lang="fr-FR" sz="2200" spc="-1" strike="noStrike">
              <a:solidFill>
                <a:srgbClr val="205aa7"/>
              </a:solidFill>
              <a:latin typeface="Calibri"/>
            </a:endParaRPr>
          </a:p>
          <a:p>
            <a:pPr algn="ctr">
              <a:lnSpc>
                <a:spcPct val="100000"/>
              </a:lnSpc>
              <a:spcBef>
                <a:spcPts val="221"/>
              </a:spcBef>
              <a:tabLst>
                <a:tab algn="l" pos="0"/>
              </a:tabLst>
            </a:pPr>
            <a:endParaRPr b="0" lang="fr-FR" sz="2200" spc="-1" strike="noStrike">
              <a:solidFill>
                <a:srgbClr val="205aa7"/>
              </a:solidFill>
              <a:latin typeface="Calibri"/>
            </a:endParaRPr>
          </a:p>
          <a:p>
            <a:pPr algn="ctr">
              <a:lnSpc>
                <a:spcPct val="100000"/>
              </a:lnSpc>
              <a:spcBef>
                <a:spcPts val="439"/>
              </a:spcBef>
              <a:tabLst>
                <a:tab algn="l" pos="0"/>
              </a:tabLst>
            </a:pPr>
            <a:r>
              <a:rPr b="0" lang="fr-FR" sz="2200" spc="-1" strike="noStrike" u="sng">
                <a:solidFill>
                  <a:srgbClr val="205aa7"/>
                </a:solidFill>
                <a:uFillTx/>
                <a:latin typeface="Calibri"/>
              </a:rPr>
              <a:t>L’analyse de l’organisation financière</a:t>
            </a:r>
            <a:endParaRPr b="0" lang="fr-FR" sz="2200" spc="-1" strike="noStrike">
              <a:solidFill>
                <a:srgbClr val="205aa7"/>
              </a:solidFill>
              <a:latin typeface="Calibri"/>
            </a:endParaRPr>
          </a:p>
          <a:p>
            <a:pPr marL="571680" indent="-456840" algn="just">
              <a:lnSpc>
                <a:spcPct val="100000"/>
              </a:lnSpc>
              <a:spcBef>
                <a:spcPts val="439"/>
              </a:spcBef>
              <a:buClr>
                <a:srgbClr val="205aa7"/>
              </a:buClr>
              <a:buFont typeface="Wingdings" charset="2"/>
              <a:buChar char=""/>
              <a:tabLst>
                <a:tab algn="l" pos="0"/>
              </a:tabLst>
            </a:pPr>
            <a:r>
              <a:rPr b="0" lang="fr-FR" sz="2200" spc="-1" strike="noStrike">
                <a:solidFill>
                  <a:srgbClr val="205aa7"/>
                </a:solidFill>
                <a:latin typeface="Calibri"/>
              </a:rPr>
              <a:t>Localiser la dette et la trésorerie</a:t>
            </a:r>
            <a:endParaRPr b="0" lang="fr-FR" sz="2200" spc="-1" strike="noStrike">
              <a:solidFill>
                <a:srgbClr val="205aa7"/>
              </a:solidFill>
              <a:latin typeface="Calibri"/>
            </a:endParaRPr>
          </a:p>
          <a:p>
            <a:pPr marL="571680" indent="-456840" algn="just">
              <a:lnSpc>
                <a:spcPct val="100000"/>
              </a:lnSpc>
              <a:spcBef>
                <a:spcPts val="439"/>
              </a:spcBef>
              <a:buClr>
                <a:srgbClr val="205aa7"/>
              </a:buClr>
              <a:buFont typeface="Wingdings" charset="2"/>
              <a:buChar char=""/>
              <a:tabLst>
                <a:tab algn="l" pos="0"/>
              </a:tabLst>
            </a:pPr>
            <a:r>
              <a:rPr b="0" lang="fr-FR" sz="2200" spc="-1" strike="noStrike">
                <a:solidFill>
                  <a:srgbClr val="205aa7"/>
                </a:solidFill>
                <a:latin typeface="Calibri"/>
              </a:rPr>
              <a:t>Déterminer les centres de profits et de pertes</a:t>
            </a:r>
            <a:endParaRPr b="0" lang="fr-FR" sz="2200" spc="-1" strike="noStrike">
              <a:solidFill>
                <a:srgbClr val="205aa7"/>
              </a:solidFill>
              <a:latin typeface="Calibri"/>
            </a:endParaRPr>
          </a:p>
          <a:p>
            <a:pPr marL="571680" indent="-456840" algn="just">
              <a:lnSpc>
                <a:spcPct val="100000"/>
              </a:lnSpc>
              <a:spcBef>
                <a:spcPts val="439"/>
              </a:spcBef>
              <a:buClr>
                <a:srgbClr val="205aa7"/>
              </a:buClr>
              <a:buFont typeface="Wingdings" charset="2"/>
              <a:buChar char=""/>
              <a:tabLst>
                <a:tab algn="l" pos="0"/>
              </a:tabLst>
            </a:pPr>
            <a:r>
              <a:rPr b="0" lang="fr-FR" sz="2200" spc="-1" strike="noStrike">
                <a:solidFill>
                  <a:srgbClr val="205aa7"/>
                </a:solidFill>
                <a:latin typeface="Calibri"/>
              </a:rPr>
              <a:t>Préciser la logique d’organisation (délais de paiement intragroupe, existence éventuelle de sociétés pivots en matière de gestion de trésorerie, degré de centralisation des relations bancaires…)</a:t>
            </a:r>
            <a:endParaRPr b="0" lang="fr-FR" sz="2200" spc="-1" strike="noStrike">
              <a:solidFill>
                <a:srgbClr val="205aa7"/>
              </a:solidFill>
              <a:latin typeface="Calibri"/>
            </a:endParaRPr>
          </a:p>
          <a:p>
            <a:pPr marL="571680" indent="-456840" algn="just">
              <a:lnSpc>
                <a:spcPct val="100000"/>
              </a:lnSpc>
              <a:spcBef>
                <a:spcPts val="439"/>
              </a:spcBef>
              <a:buClr>
                <a:srgbClr val="205aa7"/>
              </a:buClr>
              <a:buFont typeface="Wingdings" charset="2"/>
              <a:buChar char=""/>
              <a:tabLst>
                <a:tab algn="l" pos="0"/>
              </a:tabLst>
            </a:pPr>
            <a:r>
              <a:rPr b="0" lang="fr-FR" sz="2200" spc="-1" strike="noStrike">
                <a:solidFill>
                  <a:srgbClr val="205aa7"/>
                </a:solidFill>
                <a:latin typeface="Calibri"/>
              </a:rPr>
              <a:t>Porter une appréciation sur la circulation des flux entre les différentes entités du groupe (existence ou non de freins potentiels ou avérés)</a:t>
            </a:r>
            <a:endParaRPr b="0" lang="fr-FR" sz="2200" spc="-1" strike="noStrike">
              <a:solidFill>
                <a:srgbClr val="205aa7"/>
              </a:solidFill>
              <a:latin typeface="Calibri"/>
            </a:endParaRPr>
          </a:p>
          <a:p>
            <a:pPr marL="114480" algn="just">
              <a:lnSpc>
                <a:spcPct val="100000"/>
              </a:lnSpc>
              <a:spcBef>
                <a:spcPts val="439"/>
              </a:spcBef>
              <a:tabLst>
                <a:tab algn="l" pos="0"/>
              </a:tabLst>
            </a:pPr>
            <a:endParaRPr b="0" lang="fr-FR" sz="2200" spc="-1" strike="noStrike">
              <a:solidFill>
                <a:srgbClr val="205aa7"/>
              </a:solidFill>
              <a:latin typeface="Calibri"/>
            </a:endParaRPr>
          </a:p>
          <a:p>
            <a:pPr marL="114480" algn="ctr">
              <a:lnSpc>
                <a:spcPct val="100000"/>
              </a:lnSpc>
              <a:spcBef>
                <a:spcPts val="439"/>
              </a:spcBef>
              <a:tabLst>
                <a:tab algn="l" pos="0"/>
              </a:tabLst>
            </a:pPr>
            <a:r>
              <a:rPr b="1" lang="fr-FR" sz="2200" spc="-1" strike="noStrike">
                <a:solidFill>
                  <a:srgbClr val="205aa7"/>
                </a:solidFill>
                <a:latin typeface="Wingdings"/>
              </a:rPr>
              <a:t></a:t>
            </a:r>
            <a:r>
              <a:rPr b="1" lang="fr-FR" sz="2200" spc="-1" strike="noStrike">
                <a:solidFill>
                  <a:srgbClr val="205aa7"/>
                </a:solidFill>
                <a:latin typeface="Calibri"/>
              </a:rPr>
              <a:t> </a:t>
            </a:r>
            <a:r>
              <a:rPr b="1" lang="fr-FR" sz="2200" spc="-1" strike="noStrike">
                <a:solidFill>
                  <a:srgbClr val="205aa7"/>
                </a:solidFill>
                <a:latin typeface="Calibri"/>
              </a:rPr>
              <a:t>Évaluer le degré d’intégration financière des filiales</a:t>
            </a:r>
            <a:endParaRPr b="0" lang="fr-FR" sz="2200" spc="-1" strike="noStrike">
              <a:solidFill>
                <a:srgbClr val="205aa7"/>
              </a:solidFill>
              <a:latin typeface="Calibri"/>
            </a:endParaRPr>
          </a:p>
        </p:txBody>
      </p:sp>
    </p:spTree>
  </p:cSld>
  <mc:AlternateContent>
    <mc:Choice Requires="p14">
      <p:transition spd="slow" p14:dur="2000"/>
    </mc:Choice>
    <mc:Fallback>
      <p:transition spd="slow"/>
    </mc:Fallback>
  </mc:AlternateContent>
</p:sld>
</file>

<file path=ppt/slides/slide5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9" name="TextShape 1"/>
          <p:cNvSpPr txBox="1"/>
          <p:nvPr/>
        </p:nvSpPr>
        <p:spPr>
          <a:xfrm>
            <a:off x="468000" y="0"/>
            <a:ext cx="8229240" cy="1142640"/>
          </a:xfrm>
          <a:prstGeom prst="rect">
            <a:avLst/>
          </a:prstGeom>
          <a:noFill/>
          <a:ln>
            <a:noFill/>
          </a:ln>
        </p:spPr>
        <p:txBody>
          <a:bodyPr anchor="ctr">
            <a:noAutofit/>
          </a:bodyPr>
          <a:p>
            <a:pPr>
              <a:lnSpc>
                <a:spcPct val="100000"/>
              </a:lnSpc>
            </a:pPr>
            <a:r>
              <a:rPr b="1" lang="fr-FR" sz="2400" spc="-1" strike="noStrike" cap="all">
                <a:solidFill>
                  <a:srgbClr val="ffffff"/>
                </a:solidFill>
                <a:latin typeface="Calibri"/>
              </a:rPr>
              <a:t>3. L’analyse financière des comptes consolidés</a:t>
            </a:r>
            <a:endParaRPr b="0" lang="fr-FR" sz="2400" spc="-1" strike="noStrike">
              <a:solidFill>
                <a:srgbClr val="000000"/>
              </a:solidFill>
              <a:latin typeface="Calibri"/>
            </a:endParaRPr>
          </a:p>
        </p:txBody>
      </p:sp>
      <p:sp>
        <p:nvSpPr>
          <p:cNvPr id="360" name="TextShape 2"/>
          <p:cNvSpPr txBox="1"/>
          <p:nvPr/>
        </p:nvSpPr>
        <p:spPr>
          <a:xfrm>
            <a:off x="3124080" y="6480000"/>
            <a:ext cx="4975920" cy="359640"/>
          </a:xfrm>
          <a:prstGeom prst="rect">
            <a:avLst/>
          </a:prstGeom>
          <a:noFill/>
          <a:ln>
            <a:noFill/>
          </a:ln>
        </p:spPr>
        <p:txBody>
          <a:bodyPr>
            <a:noAutofit/>
          </a:bodyPr>
          <a:p>
            <a:endParaRPr b="0" lang="fr-FR" sz="2400" spc="-1" strike="noStrike">
              <a:latin typeface="Times New Roman"/>
            </a:endParaRPr>
          </a:p>
        </p:txBody>
      </p:sp>
      <p:sp>
        <p:nvSpPr>
          <p:cNvPr id="361" name="TextShape 3"/>
          <p:cNvSpPr txBox="1"/>
          <p:nvPr/>
        </p:nvSpPr>
        <p:spPr>
          <a:xfrm>
            <a:off x="8172360" y="6480000"/>
            <a:ext cx="539640" cy="359640"/>
          </a:xfrm>
          <a:prstGeom prst="rect">
            <a:avLst/>
          </a:prstGeom>
          <a:noFill/>
          <a:ln>
            <a:noFill/>
          </a:ln>
        </p:spPr>
        <p:txBody>
          <a:bodyPr lIns="90000" rIns="90000" tIns="45000" bIns="45000">
            <a:noAutofit/>
          </a:bodyPr>
          <a:p>
            <a:pPr algn="r">
              <a:lnSpc>
                <a:spcPct val="100000"/>
              </a:lnSpc>
            </a:pPr>
            <a:fld id="{C87FDB4C-1BF9-4BC0-85A7-414C185E4C09}" type="slidenum">
              <a:rPr b="0" lang="fr-FR" sz="900" spc="-1" strike="noStrike">
                <a:solidFill>
                  <a:srgbClr val="205aa7"/>
                </a:solidFill>
                <a:latin typeface="Calibri"/>
              </a:rPr>
              <a:t>&lt;number&gt;</a:t>
            </a:fld>
            <a:endParaRPr b="0" lang="fr-FR" sz="900" spc="-1" strike="noStrike">
              <a:latin typeface="Times New Roman"/>
            </a:endParaRPr>
          </a:p>
        </p:txBody>
      </p:sp>
      <p:sp>
        <p:nvSpPr>
          <p:cNvPr id="362" name="TextShape 4"/>
          <p:cNvSpPr txBox="1"/>
          <p:nvPr/>
        </p:nvSpPr>
        <p:spPr>
          <a:xfrm>
            <a:off x="468000" y="1440000"/>
            <a:ext cx="8229240" cy="4525560"/>
          </a:xfrm>
          <a:prstGeom prst="rect">
            <a:avLst/>
          </a:prstGeom>
          <a:noFill/>
          <a:ln>
            <a:noFill/>
          </a:ln>
        </p:spPr>
        <p:txBody>
          <a:bodyPr>
            <a:normAutofit/>
          </a:bodyPr>
          <a:p>
            <a:pPr algn="ctr">
              <a:lnSpc>
                <a:spcPct val="100000"/>
              </a:lnSpc>
              <a:spcBef>
                <a:spcPts val="400"/>
              </a:spcBef>
              <a:tabLst>
                <a:tab algn="l" pos="0"/>
              </a:tabLst>
            </a:pPr>
            <a:r>
              <a:rPr b="1" lang="fr-FR" sz="2000" spc="-1" strike="noStrike">
                <a:solidFill>
                  <a:srgbClr val="205aa7"/>
                </a:solidFill>
                <a:latin typeface="Calibri"/>
              </a:rPr>
              <a:t>Étape 1 – environnement, stratégie et organisation</a:t>
            </a:r>
            <a:endParaRPr b="0" lang="fr-FR" sz="2000" spc="-1" strike="noStrike">
              <a:solidFill>
                <a:srgbClr val="205aa7"/>
              </a:solidFill>
              <a:latin typeface="Calibri"/>
            </a:endParaRPr>
          </a:p>
          <a:p>
            <a:pPr algn="ctr">
              <a:lnSpc>
                <a:spcPct val="100000"/>
              </a:lnSpc>
              <a:spcBef>
                <a:spcPts val="201"/>
              </a:spcBef>
              <a:tabLst>
                <a:tab algn="l" pos="0"/>
              </a:tabLst>
            </a:pPr>
            <a:endParaRPr b="0" lang="fr-FR" sz="2000" spc="-1" strike="noStrike">
              <a:solidFill>
                <a:srgbClr val="205aa7"/>
              </a:solidFill>
              <a:latin typeface="Calibri"/>
            </a:endParaRPr>
          </a:p>
          <a:p>
            <a:pPr algn="ctr">
              <a:lnSpc>
                <a:spcPct val="100000"/>
              </a:lnSpc>
              <a:spcBef>
                <a:spcPts val="400"/>
              </a:spcBef>
              <a:tabLst>
                <a:tab algn="l" pos="0"/>
              </a:tabLst>
            </a:pPr>
            <a:r>
              <a:rPr b="0" lang="fr-FR" sz="2000" spc="-1" strike="noStrike" u="sng">
                <a:solidFill>
                  <a:srgbClr val="205aa7"/>
                </a:solidFill>
                <a:uFillTx/>
                <a:latin typeface="Calibri"/>
              </a:rPr>
              <a:t>Faits marquants intervenus au cours de l’exercice et post-clôture</a:t>
            </a:r>
            <a:endParaRPr b="0" lang="fr-FR" sz="2000" spc="-1" strike="noStrike">
              <a:solidFill>
                <a:srgbClr val="205aa7"/>
              </a:solidFill>
              <a:latin typeface="Calibri"/>
            </a:endParaRPr>
          </a:p>
          <a:p>
            <a:pPr marL="252000" indent="-251640" algn="just">
              <a:lnSpc>
                <a:spcPct val="100000"/>
              </a:lnSpc>
              <a:spcBef>
                <a:spcPts val="400"/>
              </a:spcBef>
              <a:buClr>
                <a:srgbClr val="205aa7"/>
              </a:buClr>
              <a:buFont typeface="Wingdings" charset="2"/>
              <a:buChar char=""/>
              <a:tabLst>
                <a:tab algn="l" pos="0"/>
              </a:tabLst>
            </a:pPr>
            <a:r>
              <a:rPr b="0" lang="fr-FR" sz="2000" spc="-1" strike="noStrike">
                <a:solidFill>
                  <a:srgbClr val="205aa7"/>
                </a:solidFill>
                <a:latin typeface="Calibri"/>
              </a:rPr>
              <a:t>Les principaux évènements survenus ou cours de l’exercice ou post-clôture doivent être identifiés car ils sont susceptibles d’avoir une incidence importante sur le groupe comme par exemples  les variation de périmètre significative, évolution de l’actionnariat, changement dans la gouvernance, opération de refinancement…</a:t>
            </a:r>
            <a:endParaRPr b="0" lang="fr-FR" sz="2000" spc="-1" strike="noStrike">
              <a:solidFill>
                <a:srgbClr val="205aa7"/>
              </a:solidFill>
              <a:latin typeface="Calibri"/>
            </a:endParaRPr>
          </a:p>
          <a:p>
            <a:pPr marL="252000" indent="-251640" algn="just">
              <a:lnSpc>
                <a:spcPct val="100000"/>
              </a:lnSpc>
              <a:spcBef>
                <a:spcPts val="400"/>
              </a:spcBef>
              <a:buClr>
                <a:srgbClr val="205aa7"/>
              </a:buClr>
              <a:buFont typeface="Wingdings" charset="2"/>
              <a:buChar char=""/>
              <a:tabLst>
                <a:tab algn="l" pos="0"/>
              </a:tabLst>
            </a:pPr>
            <a:r>
              <a:rPr b="0" lang="fr-FR" sz="2000" spc="-1" strike="noStrike">
                <a:solidFill>
                  <a:srgbClr val="205aa7"/>
                </a:solidFill>
                <a:latin typeface="Calibri"/>
              </a:rPr>
              <a:t>Ces éléments sont à chiffrer le plus précisément possible et à mettre en perspective avec la stratégie du groupe.</a:t>
            </a:r>
            <a:endParaRPr b="0" lang="fr-FR" sz="2000" spc="-1" strike="noStrike">
              <a:solidFill>
                <a:srgbClr val="205aa7"/>
              </a:solidFill>
              <a:latin typeface="Calibri"/>
            </a:endParaRPr>
          </a:p>
        </p:txBody>
      </p:sp>
    </p:spTree>
  </p:cSld>
  <mc:AlternateContent>
    <mc:Choice Requires="p14">
      <p:transition spd="slow" p14:dur="2000"/>
    </mc:Choice>
    <mc:Fallback>
      <p:transition spd="slow"/>
    </mc:Fallback>
  </mc:AlternateContent>
</p:sld>
</file>

<file path=ppt/slides/slide5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3" name="TextShape 1"/>
          <p:cNvSpPr txBox="1"/>
          <p:nvPr/>
        </p:nvSpPr>
        <p:spPr>
          <a:xfrm>
            <a:off x="468000" y="0"/>
            <a:ext cx="8229240" cy="1142640"/>
          </a:xfrm>
          <a:prstGeom prst="rect">
            <a:avLst/>
          </a:prstGeom>
          <a:noFill/>
          <a:ln>
            <a:noFill/>
          </a:ln>
        </p:spPr>
        <p:txBody>
          <a:bodyPr anchor="ctr">
            <a:noAutofit/>
          </a:bodyPr>
          <a:p>
            <a:pPr>
              <a:lnSpc>
                <a:spcPct val="100000"/>
              </a:lnSpc>
            </a:pPr>
            <a:r>
              <a:rPr b="1" lang="fr-FR" sz="2400" spc="-1" strike="noStrike" cap="all">
                <a:solidFill>
                  <a:srgbClr val="ffffff"/>
                </a:solidFill>
                <a:latin typeface="Calibri"/>
              </a:rPr>
              <a:t>3. L’analyse financière des comptes consolidés</a:t>
            </a:r>
            <a:endParaRPr b="0" lang="fr-FR" sz="2400" spc="-1" strike="noStrike">
              <a:solidFill>
                <a:srgbClr val="000000"/>
              </a:solidFill>
              <a:latin typeface="Calibri"/>
            </a:endParaRPr>
          </a:p>
        </p:txBody>
      </p:sp>
      <p:sp>
        <p:nvSpPr>
          <p:cNvPr id="364" name="TextShape 2"/>
          <p:cNvSpPr txBox="1"/>
          <p:nvPr/>
        </p:nvSpPr>
        <p:spPr>
          <a:xfrm>
            <a:off x="3124080" y="6480000"/>
            <a:ext cx="4975920" cy="359640"/>
          </a:xfrm>
          <a:prstGeom prst="rect">
            <a:avLst/>
          </a:prstGeom>
          <a:noFill/>
          <a:ln>
            <a:noFill/>
          </a:ln>
        </p:spPr>
        <p:txBody>
          <a:bodyPr>
            <a:noAutofit/>
          </a:bodyPr>
          <a:p>
            <a:endParaRPr b="0" lang="fr-FR" sz="2400" spc="-1" strike="noStrike">
              <a:latin typeface="Times New Roman"/>
            </a:endParaRPr>
          </a:p>
        </p:txBody>
      </p:sp>
      <p:sp>
        <p:nvSpPr>
          <p:cNvPr id="365" name="TextShape 3"/>
          <p:cNvSpPr txBox="1"/>
          <p:nvPr/>
        </p:nvSpPr>
        <p:spPr>
          <a:xfrm>
            <a:off x="8172360" y="6480000"/>
            <a:ext cx="539640" cy="359640"/>
          </a:xfrm>
          <a:prstGeom prst="rect">
            <a:avLst/>
          </a:prstGeom>
          <a:noFill/>
          <a:ln>
            <a:noFill/>
          </a:ln>
        </p:spPr>
        <p:txBody>
          <a:bodyPr lIns="90000" rIns="90000" tIns="45000" bIns="45000">
            <a:noAutofit/>
          </a:bodyPr>
          <a:p>
            <a:pPr algn="r">
              <a:lnSpc>
                <a:spcPct val="100000"/>
              </a:lnSpc>
            </a:pPr>
            <a:fld id="{474FDEE4-2AB1-4D28-9D09-E9F2281A0B5C}" type="slidenum">
              <a:rPr b="0" lang="fr-FR" sz="900" spc="-1" strike="noStrike">
                <a:solidFill>
                  <a:srgbClr val="205aa7"/>
                </a:solidFill>
                <a:latin typeface="Calibri"/>
              </a:rPr>
              <a:t>&lt;number&gt;</a:t>
            </a:fld>
            <a:endParaRPr b="0" lang="fr-FR" sz="900" spc="-1" strike="noStrike">
              <a:latin typeface="Times New Roman"/>
            </a:endParaRPr>
          </a:p>
        </p:txBody>
      </p:sp>
      <p:sp>
        <p:nvSpPr>
          <p:cNvPr id="366" name="TextShape 4"/>
          <p:cNvSpPr txBox="1"/>
          <p:nvPr/>
        </p:nvSpPr>
        <p:spPr>
          <a:xfrm>
            <a:off x="468000" y="1440000"/>
            <a:ext cx="8229240" cy="4525560"/>
          </a:xfrm>
          <a:prstGeom prst="rect">
            <a:avLst/>
          </a:prstGeom>
          <a:noFill/>
          <a:ln>
            <a:noFill/>
          </a:ln>
        </p:spPr>
        <p:txBody>
          <a:bodyPr>
            <a:normAutofit/>
          </a:bodyPr>
          <a:p>
            <a:pPr algn="ctr">
              <a:lnSpc>
                <a:spcPct val="100000"/>
              </a:lnSpc>
              <a:spcBef>
                <a:spcPts val="479"/>
              </a:spcBef>
              <a:tabLst>
                <a:tab algn="l" pos="0"/>
              </a:tabLst>
            </a:pPr>
            <a:r>
              <a:rPr b="1" lang="fr-FR" sz="2400" spc="-1" strike="noStrike">
                <a:solidFill>
                  <a:srgbClr val="205aa7"/>
                </a:solidFill>
                <a:latin typeface="Calibri"/>
              </a:rPr>
              <a:t>Étape 1 – environnement, stratégie et organisation</a:t>
            </a:r>
            <a:endParaRPr b="0" lang="fr-FR" sz="2400" spc="-1" strike="noStrike">
              <a:solidFill>
                <a:srgbClr val="205aa7"/>
              </a:solidFill>
              <a:latin typeface="Calibri"/>
            </a:endParaRPr>
          </a:p>
          <a:p>
            <a:pPr>
              <a:lnSpc>
                <a:spcPct val="100000"/>
              </a:lnSpc>
              <a:spcBef>
                <a:spcPts val="519"/>
              </a:spcBef>
              <a:tabLst>
                <a:tab algn="l" pos="0"/>
              </a:tabLst>
            </a:pPr>
            <a:endParaRPr b="0" lang="fr-FR" sz="2400" spc="-1" strike="noStrike">
              <a:solidFill>
                <a:srgbClr val="205aa7"/>
              </a:solidFill>
              <a:latin typeface="Calibri"/>
            </a:endParaRPr>
          </a:p>
          <a:p>
            <a:pPr>
              <a:lnSpc>
                <a:spcPct val="100000"/>
              </a:lnSpc>
              <a:spcBef>
                <a:spcPts val="519"/>
              </a:spcBef>
              <a:tabLst>
                <a:tab algn="l" pos="0"/>
              </a:tabLst>
            </a:pPr>
            <a:endParaRPr b="0" lang="fr-FR" sz="2400" spc="-1" strike="noStrike">
              <a:solidFill>
                <a:srgbClr val="205aa7"/>
              </a:solidFill>
              <a:latin typeface="Calibri"/>
            </a:endParaRPr>
          </a:p>
          <a:p>
            <a:pPr>
              <a:lnSpc>
                <a:spcPct val="100000"/>
              </a:lnSpc>
              <a:spcBef>
                <a:spcPts val="519"/>
              </a:spcBef>
              <a:tabLst>
                <a:tab algn="l" pos="0"/>
              </a:tabLst>
            </a:pPr>
            <a:endParaRPr b="0" lang="fr-FR" sz="2400" spc="-1" strike="noStrike">
              <a:solidFill>
                <a:srgbClr val="205aa7"/>
              </a:solidFill>
              <a:latin typeface="Calibri"/>
            </a:endParaRPr>
          </a:p>
        </p:txBody>
      </p:sp>
      <p:pic>
        <p:nvPicPr>
          <p:cNvPr id="367" name="Image 6" descr=""/>
          <p:cNvPicPr/>
          <p:nvPr/>
        </p:nvPicPr>
        <p:blipFill>
          <a:blip r:embed="rId1"/>
          <a:stretch/>
        </p:blipFill>
        <p:spPr>
          <a:xfrm>
            <a:off x="1331640" y="1888920"/>
            <a:ext cx="6108480" cy="4076640"/>
          </a:xfrm>
          <a:prstGeom prst="rect">
            <a:avLst/>
          </a:prstGeom>
          <a:ln>
            <a:noFill/>
          </a:ln>
        </p:spPr>
      </p:pic>
      <p:sp>
        <p:nvSpPr>
          <p:cNvPr id="368" name="CustomShape 5"/>
          <p:cNvSpPr/>
          <p:nvPr/>
        </p:nvSpPr>
        <p:spPr>
          <a:xfrm>
            <a:off x="5775840" y="5944320"/>
            <a:ext cx="1950480" cy="212040"/>
          </a:xfrm>
          <a:prstGeom prst="rect">
            <a:avLst/>
          </a:prstGeom>
          <a:noFill/>
          <a:ln>
            <a:noFill/>
          </a:ln>
        </p:spPr>
        <p:style>
          <a:lnRef idx="0"/>
          <a:fillRef idx="0"/>
          <a:effectRef idx="0"/>
          <a:fontRef idx="minor"/>
        </p:style>
        <p:txBody>
          <a:bodyPr wrap="none" lIns="90000" rIns="90000" tIns="45000" bIns="45000">
            <a:spAutoFit/>
          </a:bodyPr>
          <a:p>
            <a:pPr>
              <a:lnSpc>
                <a:spcPct val="100000"/>
              </a:lnSpc>
            </a:pPr>
            <a:r>
              <a:rPr b="0" i="1" lang="fr-FR" sz="800" spc="-1" strike="noStrike">
                <a:solidFill>
                  <a:srgbClr val="666666"/>
                </a:solidFill>
                <a:latin typeface="Calibri"/>
              </a:rPr>
              <a:t>Photo by </a:t>
            </a:r>
            <a:r>
              <a:rPr b="0" i="1" lang="fr-FR" sz="800" spc="-1" strike="noStrike" u="sng">
                <a:solidFill>
                  <a:srgbClr val="a0006e"/>
                </a:solidFill>
                <a:uFillTx/>
                <a:latin typeface="Calibri"/>
                <a:hlinkClick r:id="rId2"/>
              </a:rPr>
              <a:t>Helloquence</a:t>
            </a:r>
            <a:r>
              <a:rPr b="0" i="1" lang="fr-FR" sz="800" spc="-1" strike="noStrike">
                <a:solidFill>
                  <a:srgbClr val="666666"/>
                </a:solidFill>
                <a:latin typeface="Calibri"/>
              </a:rPr>
              <a:t> on </a:t>
            </a:r>
            <a:r>
              <a:rPr b="0" i="1" lang="fr-FR" sz="800" spc="-1" strike="noStrike" u="sng">
                <a:solidFill>
                  <a:srgbClr val="a0006e"/>
                </a:solidFill>
                <a:uFillTx/>
                <a:latin typeface="Calibri"/>
                <a:hlinkClick r:id="rId3"/>
              </a:rPr>
              <a:t>Unsplash</a:t>
            </a:r>
            <a:endParaRPr b="0" lang="fr-FR" sz="800" spc="-1" strike="noStrike">
              <a:latin typeface="Arial"/>
            </a:endParaRPr>
          </a:p>
        </p:txBody>
      </p:sp>
    </p:spTree>
  </p:cSld>
  <mc:AlternateContent>
    <mc:Choice Requires="p14">
      <p:transition spd="slow" p14:dur="2000"/>
    </mc:Choice>
    <mc:Fallback>
      <p:transition spd="slow"/>
    </mc:Fallback>
  </mc:AlternateContent>
</p:sld>
</file>

<file path=ppt/slides/slide5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9" name="TextShape 1"/>
          <p:cNvSpPr txBox="1"/>
          <p:nvPr/>
        </p:nvSpPr>
        <p:spPr>
          <a:xfrm>
            <a:off x="468000" y="0"/>
            <a:ext cx="8229240" cy="1142640"/>
          </a:xfrm>
          <a:prstGeom prst="rect">
            <a:avLst/>
          </a:prstGeom>
          <a:noFill/>
          <a:ln>
            <a:noFill/>
          </a:ln>
        </p:spPr>
        <p:txBody>
          <a:bodyPr anchor="ctr">
            <a:noAutofit/>
          </a:bodyPr>
          <a:p>
            <a:pPr>
              <a:lnSpc>
                <a:spcPct val="100000"/>
              </a:lnSpc>
            </a:pPr>
            <a:r>
              <a:rPr b="1" lang="fr-FR" sz="2400" spc="-1" strike="noStrike" cap="all">
                <a:solidFill>
                  <a:srgbClr val="ffffff"/>
                </a:solidFill>
                <a:latin typeface="Calibri"/>
              </a:rPr>
              <a:t>3. L’analyse financière des comptes consolidés</a:t>
            </a:r>
            <a:endParaRPr b="0" lang="fr-FR" sz="2400" spc="-1" strike="noStrike">
              <a:solidFill>
                <a:srgbClr val="000000"/>
              </a:solidFill>
              <a:latin typeface="Calibri"/>
            </a:endParaRPr>
          </a:p>
        </p:txBody>
      </p:sp>
      <p:sp>
        <p:nvSpPr>
          <p:cNvPr id="370" name="TextShape 2"/>
          <p:cNvSpPr txBox="1"/>
          <p:nvPr/>
        </p:nvSpPr>
        <p:spPr>
          <a:xfrm>
            <a:off x="3124080" y="6480000"/>
            <a:ext cx="4975920" cy="359640"/>
          </a:xfrm>
          <a:prstGeom prst="rect">
            <a:avLst/>
          </a:prstGeom>
          <a:noFill/>
          <a:ln>
            <a:noFill/>
          </a:ln>
        </p:spPr>
        <p:txBody>
          <a:bodyPr>
            <a:noAutofit/>
          </a:bodyPr>
          <a:p>
            <a:endParaRPr b="0" lang="fr-FR" sz="2400" spc="-1" strike="noStrike">
              <a:latin typeface="Times New Roman"/>
            </a:endParaRPr>
          </a:p>
        </p:txBody>
      </p:sp>
      <p:sp>
        <p:nvSpPr>
          <p:cNvPr id="371" name="TextShape 3"/>
          <p:cNvSpPr txBox="1"/>
          <p:nvPr/>
        </p:nvSpPr>
        <p:spPr>
          <a:xfrm>
            <a:off x="8172360" y="6480000"/>
            <a:ext cx="539640" cy="359640"/>
          </a:xfrm>
          <a:prstGeom prst="rect">
            <a:avLst/>
          </a:prstGeom>
          <a:noFill/>
          <a:ln>
            <a:noFill/>
          </a:ln>
        </p:spPr>
        <p:txBody>
          <a:bodyPr lIns="90000" rIns="90000" tIns="45000" bIns="45000">
            <a:noAutofit/>
          </a:bodyPr>
          <a:p>
            <a:pPr algn="r">
              <a:lnSpc>
                <a:spcPct val="100000"/>
              </a:lnSpc>
            </a:pPr>
            <a:fld id="{18951BAB-C1F0-4FD2-9E5F-8B7C0D3E3244}" type="slidenum">
              <a:rPr b="0" lang="fr-FR" sz="900" spc="-1" strike="noStrike">
                <a:solidFill>
                  <a:srgbClr val="205aa7"/>
                </a:solidFill>
                <a:latin typeface="Calibri"/>
              </a:rPr>
              <a:t>&lt;number&gt;</a:t>
            </a:fld>
            <a:endParaRPr b="0" lang="fr-FR" sz="900" spc="-1" strike="noStrike">
              <a:latin typeface="Times New Roman"/>
            </a:endParaRPr>
          </a:p>
        </p:txBody>
      </p:sp>
      <p:sp>
        <p:nvSpPr>
          <p:cNvPr id="372" name="TextShape 4"/>
          <p:cNvSpPr txBox="1"/>
          <p:nvPr/>
        </p:nvSpPr>
        <p:spPr>
          <a:xfrm>
            <a:off x="468000" y="1440000"/>
            <a:ext cx="8229240" cy="4525560"/>
          </a:xfrm>
          <a:prstGeom prst="rect">
            <a:avLst/>
          </a:prstGeom>
          <a:noFill/>
          <a:ln>
            <a:noFill/>
          </a:ln>
        </p:spPr>
        <p:txBody>
          <a:bodyPr>
            <a:normAutofit/>
          </a:bodyPr>
          <a:p>
            <a:pPr marL="114480" algn="ctr">
              <a:lnSpc>
                <a:spcPct val="100000"/>
              </a:lnSpc>
              <a:spcBef>
                <a:spcPts val="479"/>
              </a:spcBef>
              <a:tabLst>
                <a:tab algn="l" pos="0"/>
              </a:tabLst>
            </a:pPr>
            <a:r>
              <a:rPr b="1" lang="fr-FR" sz="2400" spc="-1" strike="noStrike">
                <a:solidFill>
                  <a:srgbClr val="205aa7"/>
                </a:solidFill>
                <a:latin typeface="Calibri"/>
              </a:rPr>
              <a:t>Les principales étapes de l’analyse :</a:t>
            </a:r>
            <a:endParaRPr b="0" lang="fr-FR" sz="2400" spc="-1" strike="noStrike">
              <a:solidFill>
                <a:srgbClr val="205aa7"/>
              </a:solidFill>
              <a:latin typeface="Calibri"/>
            </a:endParaRPr>
          </a:p>
          <a:p>
            <a:pPr marL="114480" algn="just">
              <a:lnSpc>
                <a:spcPct val="100000"/>
              </a:lnSpc>
              <a:spcBef>
                <a:spcPts val="479"/>
              </a:spcBef>
              <a:tabLst>
                <a:tab algn="l" pos="0"/>
              </a:tabLst>
            </a:pPr>
            <a:endParaRPr b="0" lang="fr-FR" sz="2400" spc="-1" strike="noStrike">
              <a:solidFill>
                <a:srgbClr val="205aa7"/>
              </a:solidFill>
              <a:latin typeface="Calibri"/>
            </a:endParaRPr>
          </a:p>
          <a:p>
            <a:pPr marL="571680" indent="-456840" algn="just">
              <a:lnSpc>
                <a:spcPct val="100000"/>
              </a:lnSpc>
              <a:spcBef>
                <a:spcPts val="479"/>
              </a:spcBef>
              <a:buClr>
                <a:srgbClr val="cbddf5"/>
              </a:buClr>
              <a:buFont typeface="StarSymbol"/>
              <a:buAutoNum type="arabicPeriod"/>
              <a:tabLst>
                <a:tab algn="l" pos="0"/>
              </a:tabLst>
            </a:pPr>
            <a:r>
              <a:rPr b="0" lang="fr-FR" sz="2400" spc="-1" strike="noStrike">
                <a:solidFill>
                  <a:srgbClr val="cbddf5"/>
                </a:solidFill>
                <a:latin typeface="Calibri"/>
              </a:rPr>
              <a:t>Analyse de l’environnement, de la stratégie et de l’organisation.</a:t>
            </a:r>
            <a:endParaRPr b="0" lang="fr-FR" sz="2400" spc="-1" strike="noStrike">
              <a:solidFill>
                <a:srgbClr val="205aa7"/>
              </a:solidFill>
              <a:latin typeface="Calibri"/>
            </a:endParaRPr>
          </a:p>
          <a:p>
            <a:pPr marL="571680" indent="-456840" algn="just">
              <a:lnSpc>
                <a:spcPct val="100000"/>
              </a:lnSpc>
              <a:spcBef>
                <a:spcPts val="479"/>
              </a:spcBef>
              <a:buClr>
                <a:srgbClr val="205aa7"/>
              </a:buClr>
              <a:buFont typeface="StarSymbol"/>
              <a:buAutoNum type="arabicPeriod"/>
              <a:tabLst>
                <a:tab algn="l" pos="0"/>
              </a:tabLst>
            </a:pPr>
            <a:r>
              <a:rPr b="0" lang="fr-FR" sz="2400" spc="-1" strike="noStrike">
                <a:solidFill>
                  <a:srgbClr val="205aa7"/>
                </a:solidFill>
                <a:latin typeface="Calibri"/>
              </a:rPr>
              <a:t>Examen critique de la qualité de l’information et étude préalable à l’analyse des comptes.</a:t>
            </a:r>
            <a:endParaRPr b="0" lang="fr-FR" sz="2400" spc="-1" strike="noStrike">
              <a:solidFill>
                <a:srgbClr val="205aa7"/>
              </a:solidFill>
              <a:latin typeface="Calibri"/>
            </a:endParaRPr>
          </a:p>
          <a:p>
            <a:pPr marL="571680" indent="-456840" algn="just">
              <a:lnSpc>
                <a:spcPct val="100000"/>
              </a:lnSpc>
              <a:spcBef>
                <a:spcPts val="479"/>
              </a:spcBef>
              <a:buClr>
                <a:srgbClr val="cbddf5"/>
              </a:buClr>
              <a:buFont typeface="StarSymbol"/>
              <a:buAutoNum type="arabicPeriod"/>
              <a:tabLst>
                <a:tab algn="l" pos="0"/>
              </a:tabLst>
            </a:pPr>
            <a:r>
              <a:rPr b="0" lang="fr-FR" sz="2400" spc="-1" strike="noStrike">
                <a:solidFill>
                  <a:srgbClr val="cbddf5"/>
                </a:solidFill>
                <a:latin typeface="Calibri"/>
              </a:rPr>
              <a:t>Analyse des performances.</a:t>
            </a:r>
            <a:endParaRPr b="0" lang="fr-FR" sz="2400" spc="-1" strike="noStrike">
              <a:solidFill>
                <a:srgbClr val="205aa7"/>
              </a:solidFill>
              <a:latin typeface="Calibri"/>
            </a:endParaRPr>
          </a:p>
          <a:p>
            <a:pPr marL="571680" indent="-456840" algn="just">
              <a:lnSpc>
                <a:spcPct val="100000"/>
              </a:lnSpc>
              <a:spcBef>
                <a:spcPts val="479"/>
              </a:spcBef>
              <a:buClr>
                <a:srgbClr val="cbddf5"/>
              </a:buClr>
              <a:buFont typeface="StarSymbol"/>
              <a:buAutoNum type="arabicPeriod"/>
              <a:tabLst>
                <a:tab algn="l" pos="0"/>
              </a:tabLst>
            </a:pPr>
            <a:r>
              <a:rPr b="0" lang="fr-FR" sz="2400" spc="-1" strike="noStrike">
                <a:solidFill>
                  <a:srgbClr val="cbddf5"/>
                </a:solidFill>
                <a:latin typeface="Calibri"/>
              </a:rPr>
              <a:t>Examen de la structure financière (solvabilité et autonomie financière).</a:t>
            </a:r>
            <a:endParaRPr b="0" lang="fr-FR" sz="2400" spc="-1" strike="noStrike">
              <a:solidFill>
                <a:srgbClr val="205aa7"/>
              </a:solidFill>
              <a:latin typeface="Calibri"/>
            </a:endParaRPr>
          </a:p>
          <a:p>
            <a:pPr marL="571680" indent="-456840" algn="just">
              <a:lnSpc>
                <a:spcPct val="100000"/>
              </a:lnSpc>
              <a:spcBef>
                <a:spcPts val="479"/>
              </a:spcBef>
              <a:buClr>
                <a:srgbClr val="cbddf5"/>
              </a:buClr>
              <a:buFont typeface="StarSymbol"/>
              <a:buAutoNum type="arabicPeriod"/>
              <a:tabLst>
                <a:tab algn="l" pos="0"/>
              </a:tabLst>
            </a:pPr>
            <a:r>
              <a:rPr b="0" lang="fr-FR" sz="2400" spc="-1" strike="noStrike">
                <a:solidFill>
                  <a:srgbClr val="cbddf5"/>
                </a:solidFill>
                <a:latin typeface="Calibri"/>
              </a:rPr>
              <a:t>Analyse de la liquidité.</a:t>
            </a:r>
            <a:endParaRPr b="0" lang="fr-FR" sz="2400" spc="-1" strike="noStrike">
              <a:solidFill>
                <a:srgbClr val="205aa7"/>
              </a:solidFill>
              <a:latin typeface="Calibri"/>
            </a:endParaRPr>
          </a:p>
          <a:p>
            <a:pPr marL="571680" indent="-456840" algn="just">
              <a:lnSpc>
                <a:spcPct val="100000"/>
              </a:lnSpc>
              <a:spcBef>
                <a:spcPts val="479"/>
              </a:spcBef>
              <a:buClr>
                <a:srgbClr val="cbddf5"/>
              </a:buClr>
              <a:buFont typeface="StarSymbol"/>
              <a:buAutoNum type="arabicPeriod"/>
              <a:tabLst>
                <a:tab algn="l" pos="0"/>
              </a:tabLst>
            </a:pPr>
            <a:r>
              <a:rPr b="0" lang="fr-FR" sz="2400" spc="-1" strike="noStrike">
                <a:solidFill>
                  <a:srgbClr val="cbddf5"/>
                </a:solidFill>
                <a:latin typeface="Calibri"/>
              </a:rPr>
              <a:t>Décision de cotation</a:t>
            </a:r>
            <a:endParaRPr b="0" lang="fr-FR" sz="2400" spc="-1" strike="noStrike">
              <a:solidFill>
                <a:srgbClr val="205aa7"/>
              </a:solidFill>
              <a:latin typeface="Calibri"/>
            </a:endParaRPr>
          </a:p>
        </p:txBody>
      </p:sp>
    </p:spTree>
  </p:cSld>
  <mc:AlternateContent>
    <mc:Choice Requires="p14">
      <p:transition spd="slow" p14:dur="2000"/>
    </mc:Choice>
    <mc:Fallback>
      <p:transition spd="slow"/>
    </mc:Fallback>
  </mc:AlternateContent>
</p:sld>
</file>

<file path=ppt/slides/slide5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3" name="TextShape 1"/>
          <p:cNvSpPr txBox="1"/>
          <p:nvPr/>
        </p:nvSpPr>
        <p:spPr>
          <a:xfrm>
            <a:off x="468000" y="0"/>
            <a:ext cx="8229240" cy="1142640"/>
          </a:xfrm>
          <a:prstGeom prst="rect">
            <a:avLst/>
          </a:prstGeom>
          <a:noFill/>
          <a:ln>
            <a:noFill/>
          </a:ln>
        </p:spPr>
        <p:txBody>
          <a:bodyPr anchor="ctr">
            <a:noAutofit/>
          </a:bodyPr>
          <a:p>
            <a:pPr>
              <a:lnSpc>
                <a:spcPct val="100000"/>
              </a:lnSpc>
            </a:pPr>
            <a:r>
              <a:rPr b="1" lang="fr-FR" sz="2400" spc="-1" strike="noStrike" cap="all">
                <a:solidFill>
                  <a:srgbClr val="ffffff"/>
                </a:solidFill>
                <a:latin typeface="Calibri"/>
              </a:rPr>
              <a:t>3. L’analyse financière des comptes consolidés</a:t>
            </a:r>
            <a:endParaRPr b="0" lang="fr-FR" sz="2400" spc="-1" strike="noStrike">
              <a:solidFill>
                <a:srgbClr val="000000"/>
              </a:solidFill>
              <a:latin typeface="Calibri"/>
            </a:endParaRPr>
          </a:p>
        </p:txBody>
      </p:sp>
      <p:sp>
        <p:nvSpPr>
          <p:cNvPr id="374" name="TextShape 2"/>
          <p:cNvSpPr txBox="1"/>
          <p:nvPr/>
        </p:nvSpPr>
        <p:spPr>
          <a:xfrm>
            <a:off x="3124080" y="6480000"/>
            <a:ext cx="4975920" cy="359640"/>
          </a:xfrm>
          <a:prstGeom prst="rect">
            <a:avLst/>
          </a:prstGeom>
          <a:noFill/>
          <a:ln>
            <a:noFill/>
          </a:ln>
        </p:spPr>
        <p:txBody>
          <a:bodyPr>
            <a:noAutofit/>
          </a:bodyPr>
          <a:p>
            <a:endParaRPr b="0" lang="fr-FR" sz="2400" spc="-1" strike="noStrike">
              <a:latin typeface="Times New Roman"/>
            </a:endParaRPr>
          </a:p>
        </p:txBody>
      </p:sp>
      <p:sp>
        <p:nvSpPr>
          <p:cNvPr id="375" name="TextShape 3"/>
          <p:cNvSpPr txBox="1"/>
          <p:nvPr/>
        </p:nvSpPr>
        <p:spPr>
          <a:xfrm>
            <a:off x="8172360" y="6480000"/>
            <a:ext cx="539640" cy="359640"/>
          </a:xfrm>
          <a:prstGeom prst="rect">
            <a:avLst/>
          </a:prstGeom>
          <a:noFill/>
          <a:ln>
            <a:noFill/>
          </a:ln>
        </p:spPr>
        <p:txBody>
          <a:bodyPr lIns="90000" rIns="90000" tIns="45000" bIns="45000">
            <a:noAutofit/>
          </a:bodyPr>
          <a:p>
            <a:pPr algn="r">
              <a:lnSpc>
                <a:spcPct val="100000"/>
              </a:lnSpc>
            </a:pPr>
            <a:fld id="{BDEC2F25-E0E8-4042-9492-4C7B956D0739}" type="slidenum">
              <a:rPr b="0" lang="fr-FR" sz="900" spc="-1" strike="noStrike">
                <a:solidFill>
                  <a:srgbClr val="205aa7"/>
                </a:solidFill>
                <a:latin typeface="Calibri"/>
              </a:rPr>
              <a:t>&lt;number&gt;</a:t>
            </a:fld>
            <a:endParaRPr b="0" lang="fr-FR" sz="900" spc="-1" strike="noStrike">
              <a:latin typeface="Times New Roman"/>
            </a:endParaRPr>
          </a:p>
        </p:txBody>
      </p:sp>
      <p:sp>
        <p:nvSpPr>
          <p:cNvPr id="376" name="TextShape 4"/>
          <p:cNvSpPr txBox="1"/>
          <p:nvPr/>
        </p:nvSpPr>
        <p:spPr>
          <a:xfrm>
            <a:off x="468000" y="1440000"/>
            <a:ext cx="8229240" cy="4525560"/>
          </a:xfrm>
          <a:prstGeom prst="rect">
            <a:avLst/>
          </a:prstGeom>
          <a:noFill/>
          <a:ln>
            <a:noFill/>
          </a:ln>
        </p:spPr>
        <p:txBody>
          <a:bodyPr>
            <a:normAutofit/>
          </a:bodyPr>
          <a:p>
            <a:pPr algn="ctr">
              <a:lnSpc>
                <a:spcPct val="100000"/>
              </a:lnSpc>
              <a:spcBef>
                <a:spcPts val="400"/>
              </a:spcBef>
              <a:tabLst>
                <a:tab algn="l" pos="0"/>
              </a:tabLst>
            </a:pPr>
            <a:r>
              <a:rPr b="1" lang="fr-FR" sz="2000" spc="-1" strike="noStrike">
                <a:solidFill>
                  <a:srgbClr val="205aa7"/>
                </a:solidFill>
                <a:latin typeface="Calibri"/>
              </a:rPr>
              <a:t>Étape 2 – Examen critique de l’information</a:t>
            </a:r>
            <a:endParaRPr b="0" lang="fr-FR" sz="2000" spc="-1" strike="noStrike">
              <a:solidFill>
                <a:srgbClr val="205aa7"/>
              </a:solidFill>
              <a:latin typeface="Calibri"/>
            </a:endParaRPr>
          </a:p>
          <a:p>
            <a:pPr algn="ctr">
              <a:lnSpc>
                <a:spcPct val="100000"/>
              </a:lnSpc>
              <a:spcBef>
                <a:spcPts val="201"/>
              </a:spcBef>
              <a:tabLst>
                <a:tab algn="l" pos="0"/>
              </a:tabLst>
            </a:pPr>
            <a:endParaRPr b="0" lang="fr-FR" sz="2000" spc="-1" strike="noStrike">
              <a:solidFill>
                <a:srgbClr val="205aa7"/>
              </a:solidFill>
              <a:latin typeface="Calibri"/>
            </a:endParaRPr>
          </a:p>
          <a:p>
            <a:pPr marL="114480" algn="ctr">
              <a:lnSpc>
                <a:spcPct val="100000"/>
              </a:lnSpc>
              <a:spcBef>
                <a:spcPts val="400"/>
              </a:spcBef>
              <a:tabLst>
                <a:tab algn="l" pos="0"/>
              </a:tabLst>
            </a:pPr>
            <a:r>
              <a:rPr b="0" lang="fr-FR" sz="2000" spc="-1" strike="noStrike" u="sng">
                <a:solidFill>
                  <a:srgbClr val="205aa7"/>
                </a:solidFill>
                <a:uFillTx/>
                <a:latin typeface="Calibri"/>
              </a:rPr>
              <a:t>Objectifs de cette étape</a:t>
            </a:r>
            <a:endParaRPr b="0" lang="fr-FR" sz="2000" spc="-1" strike="noStrike">
              <a:solidFill>
                <a:srgbClr val="205aa7"/>
              </a:solidFill>
              <a:latin typeface="Calibri"/>
            </a:endParaRPr>
          </a:p>
          <a:p>
            <a:pPr marL="571680" indent="-456840" algn="just">
              <a:lnSpc>
                <a:spcPct val="100000"/>
              </a:lnSpc>
              <a:spcBef>
                <a:spcPts val="400"/>
              </a:spcBef>
              <a:buClr>
                <a:srgbClr val="205aa7"/>
              </a:buClr>
              <a:buFont typeface="Wingdings" charset="2"/>
              <a:buChar char=""/>
              <a:tabLst>
                <a:tab algn="l" pos="0"/>
              </a:tabLst>
            </a:pPr>
            <a:r>
              <a:rPr b="0" lang="fr-FR" sz="2000" spc="-1" strike="noStrike" u="sng">
                <a:solidFill>
                  <a:srgbClr val="205aa7"/>
                </a:solidFill>
                <a:uFillTx/>
                <a:latin typeface="Calibri"/>
              </a:rPr>
              <a:t>A</a:t>
            </a:r>
            <a:r>
              <a:rPr b="0" lang="fr-FR" sz="2000" spc="-1" strike="noStrike">
                <a:solidFill>
                  <a:srgbClr val="205aa7"/>
                </a:solidFill>
                <a:latin typeface="Calibri"/>
              </a:rPr>
              <a:t>pprécier la qualité de l’information transmise par le groupe et tirer les conséquences d ’une faible qualité de l’information transmise sur la cotation.</a:t>
            </a:r>
            <a:endParaRPr b="0" lang="fr-FR" sz="2000" spc="-1" strike="noStrike">
              <a:solidFill>
                <a:srgbClr val="205aa7"/>
              </a:solidFill>
              <a:latin typeface="Calibri"/>
            </a:endParaRPr>
          </a:p>
          <a:p>
            <a:pPr marL="571680" indent="-456840" algn="just">
              <a:lnSpc>
                <a:spcPct val="100000"/>
              </a:lnSpc>
              <a:spcBef>
                <a:spcPts val="400"/>
              </a:spcBef>
              <a:buClr>
                <a:srgbClr val="205aa7"/>
              </a:buClr>
              <a:buFont typeface="Wingdings" charset="2"/>
              <a:buChar char=""/>
              <a:tabLst>
                <a:tab algn="l" pos="0"/>
              </a:tabLst>
            </a:pPr>
            <a:r>
              <a:rPr b="0" lang="fr-FR" sz="2000" spc="-1" strike="noStrike">
                <a:solidFill>
                  <a:srgbClr val="205aa7"/>
                </a:solidFill>
                <a:latin typeface="Calibri"/>
              </a:rPr>
              <a:t>Porter un regard critique sur les choix effectués par le groupe en matière de qualité de l’information, de définition du périmètre de consolidation et de pratiques comptables.</a:t>
            </a:r>
            <a:endParaRPr b="0" lang="fr-FR" sz="2000" spc="-1" strike="noStrike">
              <a:solidFill>
                <a:srgbClr val="205aa7"/>
              </a:solidFill>
              <a:latin typeface="Calibri"/>
            </a:endParaRPr>
          </a:p>
          <a:p>
            <a:pPr marL="571680" indent="-456840" algn="just">
              <a:lnSpc>
                <a:spcPct val="100000"/>
              </a:lnSpc>
              <a:spcBef>
                <a:spcPts val="400"/>
              </a:spcBef>
              <a:buClr>
                <a:srgbClr val="205aa7"/>
              </a:buClr>
              <a:buFont typeface="Wingdings" charset="2"/>
              <a:buChar char=""/>
              <a:tabLst>
                <a:tab algn="l" pos="0"/>
              </a:tabLst>
            </a:pPr>
            <a:r>
              <a:rPr b="0" lang="fr-FR" sz="2000" spc="-1" strike="noStrike">
                <a:solidFill>
                  <a:srgbClr val="205aa7"/>
                </a:solidFill>
                <a:latin typeface="Calibri"/>
              </a:rPr>
              <a:t>Mesurer l’impact des variations de périmètre ou des changements comptables.</a:t>
            </a:r>
            <a:endParaRPr b="0" lang="fr-FR" sz="2000" spc="-1" strike="noStrike">
              <a:solidFill>
                <a:srgbClr val="205aa7"/>
              </a:solidFill>
              <a:latin typeface="Calibri"/>
            </a:endParaRPr>
          </a:p>
          <a:p>
            <a:pPr>
              <a:lnSpc>
                <a:spcPct val="100000"/>
              </a:lnSpc>
              <a:spcBef>
                <a:spcPts val="519"/>
              </a:spcBef>
              <a:tabLst>
                <a:tab algn="l" pos="0"/>
              </a:tabLst>
            </a:pPr>
            <a:endParaRPr b="0" lang="fr-FR" sz="2000" spc="-1" strike="noStrike">
              <a:solidFill>
                <a:srgbClr val="205aa7"/>
              </a:solidFill>
              <a:latin typeface="Calibri"/>
            </a:endParaRPr>
          </a:p>
          <a:p>
            <a:pPr>
              <a:lnSpc>
                <a:spcPct val="100000"/>
              </a:lnSpc>
              <a:spcBef>
                <a:spcPts val="519"/>
              </a:spcBef>
              <a:tabLst>
                <a:tab algn="l" pos="0"/>
              </a:tabLst>
            </a:pPr>
            <a:endParaRPr b="0" lang="fr-FR" sz="2000" spc="-1" strike="noStrike">
              <a:solidFill>
                <a:srgbClr val="205aa7"/>
              </a:solidFill>
              <a:latin typeface="Calibri"/>
            </a:endParaRPr>
          </a:p>
          <a:p>
            <a:pPr>
              <a:lnSpc>
                <a:spcPct val="100000"/>
              </a:lnSpc>
              <a:spcBef>
                <a:spcPts val="519"/>
              </a:spcBef>
              <a:tabLst>
                <a:tab algn="l" pos="0"/>
              </a:tabLst>
            </a:pPr>
            <a:endParaRPr b="0" lang="fr-FR" sz="2000" spc="-1" strike="noStrike">
              <a:solidFill>
                <a:srgbClr val="205aa7"/>
              </a:solidFill>
              <a:latin typeface="Calibri"/>
            </a:endParaRPr>
          </a:p>
        </p:txBody>
      </p:sp>
    </p:spTree>
  </p:cSld>
  <mc:AlternateContent>
    <mc:Choice Requires="p14">
      <p:transition spd="slow" p14:dur="2000"/>
    </mc:Choice>
    <mc:Fallback>
      <p:transition spd="slow"/>
    </mc:Fallback>
  </mc:AlternateContent>
</p:sld>
</file>

<file path=ppt/slides/slide5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7" name="TextShape 1"/>
          <p:cNvSpPr txBox="1"/>
          <p:nvPr/>
        </p:nvSpPr>
        <p:spPr>
          <a:xfrm>
            <a:off x="468000" y="0"/>
            <a:ext cx="8229240" cy="1142640"/>
          </a:xfrm>
          <a:prstGeom prst="rect">
            <a:avLst/>
          </a:prstGeom>
          <a:noFill/>
          <a:ln>
            <a:noFill/>
          </a:ln>
        </p:spPr>
        <p:txBody>
          <a:bodyPr anchor="ctr">
            <a:noAutofit/>
          </a:bodyPr>
          <a:p>
            <a:pPr>
              <a:lnSpc>
                <a:spcPct val="100000"/>
              </a:lnSpc>
            </a:pPr>
            <a:r>
              <a:rPr b="1" lang="fr-FR" sz="2400" spc="-1" strike="noStrike" cap="all">
                <a:solidFill>
                  <a:srgbClr val="ffffff"/>
                </a:solidFill>
                <a:latin typeface="Calibri"/>
              </a:rPr>
              <a:t>3. L’analyse financière des comptes consolidés</a:t>
            </a:r>
            <a:endParaRPr b="0" lang="fr-FR" sz="2400" spc="-1" strike="noStrike">
              <a:solidFill>
                <a:srgbClr val="000000"/>
              </a:solidFill>
              <a:latin typeface="Calibri"/>
            </a:endParaRPr>
          </a:p>
        </p:txBody>
      </p:sp>
      <p:sp>
        <p:nvSpPr>
          <p:cNvPr id="378" name="TextShape 2"/>
          <p:cNvSpPr txBox="1"/>
          <p:nvPr/>
        </p:nvSpPr>
        <p:spPr>
          <a:xfrm>
            <a:off x="3124080" y="6480000"/>
            <a:ext cx="4975920" cy="359640"/>
          </a:xfrm>
          <a:prstGeom prst="rect">
            <a:avLst/>
          </a:prstGeom>
          <a:noFill/>
          <a:ln>
            <a:noFill/>
          </a:ln>
        </p:spPr>
        <p:txBody>
          <a:bodyPr>
            <a:noAutofit/>
          </a:bodyPr>
          <a:p>
            <a:endParaRPr b="0" lang="fr-FR" sz="2400" spc="-1" strike="noStrike">
              <a:latin typeface="Times New Roman"/>
            </a:endParaRPr>
          </a:p>
        </p:txBody>
      </p:sp>
      <p:sp>
        <p:nvSpPr>
          <p:cNvPr id="379" name="TextShape 3"/>
          <p:cNvSpPr txBox="1"/>
          <p:nvPr/>
        </p:nvSpPr>
        <p:spPr>
          <a:xfrm>
            <a:off x="8172360" y="6480000"/>
            <a:ext cx="539640" cy="359640"/>
          </a:xfrm>
          <a:prstGeom prst="rect">
            <a:avLst/>
          </a:prstGeom>
          <a:noFill/>
          <a:ln>
            <a:noFill/>
          </a:ln>
        </p:spPr>
        <p:txBody>
          <a:bodyPr lIns="90000" rIns="90000" tIns="45000" bIns="45000">
            <a:noAutofit/>
          </a:bodyPr>
          <a:p>
            <a:pPr algn="r">
              <a:lnSpc>
                <a:spcPct val="100000"/>
              </a:lnSpc>
            </a:pPr>
            <a:fld id="{9705E112-E15B-43A8-9D78-87D30CD076E0}" type="slidenum">
              <a:rPr b="0" lang="fr-FR" sz="900" spc="-1" strike="noStrike">
                <a:solidFill>
                  <a:srgbClr val="205aa7"/>
                </a:solidFill>
                <a:latin typeface="Calibri"/>
              </a:rPr>
              <a:t>&lt;number&gt;</a:t>
            </a:fld>
            <a:endParaRPr b="0" lang="fr-FR" sz="900" spc="-1" strike="noStrike">
              <a:latin typeface="Times New Roman"/>
            </a:endParaRPr>
          </a:p>
        </p:txBody>
      </p:sp>
      <p:sp>
        <p:nvSpPr>
          <p:cNvPr id="380" name="TextShape 4"/>
          <p:cNvSpPr txBox="1"/>
          <p:nvPr/>
        </p:nvSpPr>
        <p:spPr>
          <a:xfrm>
            <a:off x="468000" y="1440000"/>
            <a:ext cx="8229240" cy="4525560"/>
          </a:xfrm>
          <a:prstGeom prst="rect">
            <a:avLst/>
          </a:prstGeom>
          <a:noFill/>
          <a:ln>
            <a:noFill/>
          </a:ln>
        </p:spPr>
        <p:txBody>
          <a:bodyPr>
            <a:noAutofit/>
          </a:bodyPr>
          <a:p>
            <a:pPr algn="ctr">
              <a:lnSpc>
                <a:spcPct val="100000"/>
              </a:lnSpc>
              <a:spcBef>
                <a:spcPts val="400"/>
              </a:spcBef>
              <a:tabLst>
                <a:tab algn="l" pos="0"/>
              </a:tabLst>
            </a:pPr>
            <a:r>
              <a:rPr b="1" lang="fr-FR" sz="2000" spc="-1" strike="noStrike">
                <a:solidFill>
                  <a:srgbClr val="205aa7"/>
                </a:solidFill>
                <a:latin typeface="Calibri"/>
              </a:rPr>
              <a:t>Étape 2 – Examen critique de l’information</a:t>
            </a:r>
            <a:endParaRPr b="0" lang="fr-FR" sz="2000" spc="-1" strike="noStrike">
              <a:solidFill>
                <a:srgbClr val="205aa7"/>
              </a:solidFill>
              <a:latin typeface="Calibri"/>
            </a:endParaRPr>
          </a:p>
          <a:p>
            <a:pPr algn="just">
              <a:lnSpc>
                <a:spcPct val="100000"/>
              </a:lnSpc>
              <a:spcBef>
                <a:spcPts val="201"/>
              </a:spcBef>
              <a:tabLst>
                <a:tab algn="l" pos="0"/>
              </a:tabLst>
            </a:pPr>
            <a:endParaRPr b="0" lang="fr-FR" sz="2000" spc="-1" strike="noStrike">
              <a:solidFill>
                <a:srgbClr val="205aa7"/>
              </a:solidFill>
              <a:latin typeface="Calibri"/>
            </a:endParaRPr>
          </a:p>
          <a:p>
            <a:pPr algn="ctr">
              <a:lnSpc>
                <a:spcPct val="100000"/>
              </a:lnSpc>
              <a:spcBef>
                <a:spcPts val="400"/>
              </a:spcBef>
              <a:tabLst>
                <a:tab algn="l" pos="0"/>
              </a:tabLst>
            </a:pPr>
            <a:r>
              <a:rPr b="0" lang="fr-FR" sz="2000" spc="-1" strike="noStrike" u="sng">
                <a:solidFill>
                  <a:srgbClr val="205aa7"/>
                </a:solidFill>
                <a:uFillTx/>
                <a:latin typeface="Calibri"/>
              </a:rPr>
              <a:t>Qualité de l’information et degré de transparence</a:t>
            </a:r>
            <a:endParaRPr b="0" lang="fr-FR" sz="2000" spc="-1" strike="noStrike">
              <a:solidFill>
                <a:srgbClr val="205aa7"/>
              </a:solidFill>
              <a:latin typeface="Calibri"/>
            </a:endParaRPr>
          </a:p>
          <a:p>
            <a:pPr marL="252000" indent="-251640" algn="just">
              <a:lnSpc>
                <a:spcPct val="100000"/>
              </a:lnSpc>
              <a:spcBef>
                <a:spcPts val="400"/>
              </a:spcBef>
              <a:buClr>
                <a:srgbClr val="205aa7"/>
              </a:buClr>
              <a:buFont typeface="Wingdings" charset="2"/>
              <a:buChar char=""/>
              <a:tabLst>
                <a:tab algn="l" pos="0"/>
              </a:tabLst>
            </a:pPr>
            <a:r>
              <a:rPr b="0" lang="fr-FR" sz="2000" spc="-1" strike="noStrike">
                <a:solidFill>
                  <a:srgbClr val="205aa7"/>
                </a:solidFill>
                <a:latin typeface="Calibri"/>
              </a:rPr>
              <a:t>S’assurer que le périmètre de consolidation est exhaustif :</a:t>
            </a:r>
            <a:endParaRPr b="0" lang="fr-FR" sz="2000" spc="-1" strike="noStrike">
              <a:solidFill>
                <a:srgbClr val="205aa7"/>
              </a:solidFill>
              <a:latin typeface="Calibri"/>
            </a:endParaRPr>
          </a:p>
          <a:p>
            <a:pPr lvl="1" marL="743040" indent="-285480" algn="just">
              <a:lnSpc>
                <a:spcPct val="100000"/>
              </a:lnSpc>
              <a:spcBef>
                <a:spcPts val="360"/>
              </a:spcBef>
              <a:buClr>
                <a:srgbClr val="205aa7"/>
              </a:buClr>
              <a:buFont typeface="Arial"/>
              <a:buChar char="–"/>
              <a:tabLst>
                <a:tab algn="l" pos="0"/>
              </a:tabLst>
            </a:pPr>
            <a:r>
              <a:rPr b="0" lang="fr-FR" sz="1800" spc="-1" strike="noStrike">
                <a:solidFill>
                  <a:srgbClr val="205aa7"/>
                </a:solidFill>
                <a:latin typeface="Calibri"/>
              </a:rPr>
              <a:t>Décomposition du poste « titres de participation »</a:t>
            </a:r>
            <a:endParaRPr b="0" lang="fr-FR" sz="1800" spc="-1" strike="noStrike">
              <a:solidFill>
                <a:srgbClr val="595959"/>
              </a:solidFill>
              <a:latin typeface="Calibri"/>
            </a:endParaRPr>
          </a:p>
          <a:p>
            <a:pPr lvl="1" marL="743040" indent="-285480" algn="just">
              <a:lnSpc>
                <a:spcPct val="100000"/>
              </a:lnSpc>
              <a:spcBef>
                <a:spcPts val="360"/>
              </a:spcBef>
              <a:buClr>
                <a:srgbClr val="205aa7"/>
              </a:buClr>
              <a:buFont typeface="Arial"/>
              <a:buChar char="–"/>
              <a:tabLst>
                <a:tab algn="l" pos="0"/>
              </a:tabLst>
            </a:pPr>
            <a:r>
              <a:rPr b="0" lang="fr-FR" sz="1800" spc="-1" strike="noStrike">
                <a:solidFill>
                  <a:srgbClr val="205aa7"/>
                </a:solidFill>
                <a:latin typeface="Calibri"/>
              </a:rPr>
              <a:t>Recoupement avec les liens financiers et les fonctions de direction</a:t>
            </a:r>
            <a:endParaRPr b="0" lang="fr-FR" sz="1800" spc="-1" strike="noStrike">
              <a:solidFill>
                <a:srgbClr val="595959"/>
              </a:solidFill>
              <a:latin typeface="Calibri"/>
            </a:endParaRPr>
          </a:p>
          <a:p>
            <a:pPr lvl="1" marL="743040" indent="-285480" algn="just">
              <a:lnSpc>
                <a:spcPct val="100000"/>
              </a:lnSpc>
              <a:spcBef>
                <a:spcPts val="360"/>
              </a:spcBef>
              <a:buClr>
                <a:srgbClr val="205aa7"/>
              </a:buClr>
              <a:buFont typeface="Arial"/>
              <a:buChar char="–"/>
              <a:tabLst>
                <a:tab algn="l" pos="0"/>
              </a:tabLst>
            </a:pPr>
            <a:r>
              <a:rPr b="0" lang="fr-FR" sz="1800" spc="-1" strike="noStrike">
                <a:solidFill>
                  <a:srgbClr val="205aa7"/>
                </a:solidFill>
                <a:latin typeface="Calibri"/>
              </a:rPr>
              <a:t>Consultation de l’annexe sur le périmètre de consolidation</a:t>
            </a:r>
            <a:endParaRPr b="0" lang="fr-FR" sz="1800" spc="-1" strike="noStrike">
              <a:solidFill>
                <a:srgbClr val="595959"/>
              </a:solidFill>
              <a:latin typeface="Calibri"/>
            </a:endParaRPr>
          </a:p>
          <a:p>
            <a:pPr marL="252000" indent="-251640" algn="just">
              <a:lnSpc>
                <a:spcPct val="100000"/>
              </a:lnSpc>
              <a:spcBef>
                <a:spcPts val="400"/>
              </a:spcBef>
              <a:buClr>
                <a:srgbClr val="205aa7"/>
              </a:buClr>
              <a:buFont typeface="Wingdings" charset="2"/>
              <a:buChar char=""/>
              <a:tabLst>
                <a:tab algn="l" pos="0"/>
              </a:tabLst>
            </a:pPr>
            <a:r>
              <a:rPr b="0" lang="fr-FR" sz="2000" spc="-1" strike="noStrike">
                <a:solidFill>
                  <a:srgbClr val="205aa7"/>
                </a:solidFill>
                <a:latin typeface="Calibri"/>
              </a:rPr>
              <a:t>Valider le choix des méthodes de consolidation :</a:t>
            </a:r>
            <a:endParaRPr b="0" lang="fr-FR" sz="2000" spc="-1" strike="noStrike">
              <a:solidFill>
                <a:srgbClr val="205aa7"/>
              </a:solidFill>
              <a:latin typeface="Calibri"/>
            </a:endParaRPr>
          </a:p>
          <a:p>
            <a:pPr lvl="1" marL="743040" indent="-285480" algn="just">
              <a:lnSpc>
                <a:spcPct val="100000"/>
              </a:lnSpc>
              <a:spcBef>
                <a:spcPts val="360"/>
              </a:spcBef>
              <a:buClr>
                <a:srgbClr val="205aa7"/>
              </a:buClr>
              <a:buFont typeface="Arial"/>
              <a:buChar char="–"/>
              <a:tabLst>
                <a:tab algn="l" pos="0"/>
              </a:tabLst>
            </a:pPr>
            <a:r>
              <a:rPr b="0" lang="fr-FR" sz="1800" spc="-1" strike="noStrike">
                <a:solidFill>
                  <a:srgbClr val="205aa7"/>
                </a:solidFill>
                <a:latin typeface="Calibri"/>
              </a:rPr>
              <a:t>Cohérence entre la méthode de consolidation et la réalité du contrôle exercé et du risque encouru = méthodes opportunistes à déceler</a:t>
            </a:r>
            <a:endParaRPr b="0" lang="fr-FR" sz="1800" spc="-1" strike="noStrike">
              <a:solidFill>
                <a:srgbClr val="595959"/>
              </a:solidFill>
              <a:latin typeface="Calibri"/>
            </a:endParaRPr>
          </a:p>
          <a:p>
            <a:pPr lvl="1" marL="743040" indent="-285480" algn="just">
              <a:lnSpc>
                <a:spcPct val="100000"/>
              </a:lnSpc>
              <a:spcBef>
                <a:spcPts val="360"/>
              </a:spcBef>
              <a:buClr>
                <a:srgbClr val="205aa7"/>
              </a:buClr>
              <a:buFont typeface="Arial"/>
              <a:buChar char="–"/>
              <a:tabLst>
                <a:tab algn="l" pos="0"/>
              </a:tabLst>
            </a:pPr>
            <a:r>
              <a:rPr b="0" lang="fr-FR" sz="1800" spc="-1" strike="noStrike">
                <a:solidFill>
                  <a:srgbClr val="205aa7"/>
                </a:solidFill>
                <a:latin typeface="Calibri"/>
              </a:rPr>
              <a:t>Contrôle des postes « participations non consolidées » et « titres mis en équivalence » = exclusions à tort du périmètre à détecter</a:t>
            </a:r>
            <a:endParaRPr b="0" lang="fr-FR" sz="1800" spc="-1" strike="noStrike">
              <a:solidFill>
                <a:srgbClr val="595959"/>
              </a:solidFill>
              <a:latin typeface="Calibri"/>
            </a:endParaRPr>
          </a:p>
          <a:p>
            <a:pPr marL="252000" indent="-251640" algn="just">
              <a:lnSpc>
                <a:spcPct val="100000"/>
              </a:lnSpc>
              <a:spcBef>
                <a:spcPts val="400"/>
              </a:spcBef>
              <a:buClr>
                <a:srgbClr val="205aa7"/>
              </a:buClr>
              <a:buFont typeface="Wingdings" charset="2"/>
              <a:buChar char=""/>
              <a:tabLst>
                <a:tab algn="l" pos="0"/>
              </a:tabLst>
            </a:pPr>
            <a:r>
              <a:rPr b="0" lang="fr-FR" sz="2000" spc="-1" strike="noStrike">
                <a:solidFill>
                  <a:srgbClr val="205aa7"/>
                </a:solidFill>
                <a:latin typeface="Calibri"/>
              </a:rPr>
              <a:t>Certification des commissaires aux comptes</a:t>
            </a:r>
            <a:endParaRPr b="0" lang="fr-FR" sz="2000" spc="-1" strike="noStrike">
              <a:solidFill>
                <a:srgbClr val="205aa7"/>
              </a:solidFill>
              <a:latin typeface="Calibri"/>
            </a:endParaRPr>
          </a:p>
          <a:p>
            <a:pPr>
              <a:lnSpc>
                <a:spcPct val="100000"/>
              </a:lnSpc>
              <a:spcBef>
                <a:spcPts val="400"/>
              </a:spcBef>
              <a:tabLst>
                <a:tab algn="l" pos="0"/>
              </a:tabLst>
            </a:pPr>
            <a:endParaRPr b="0" lang="fr-FR" sz="2000" spc="-1" strike="noStrike">
              <a:solidFill>
                <a:srgbClr val="205aa7"/>
              </a:solidFill>
              <a:latin typeface="Calibri"/>
            </a:endParaRPr>
          </a:p>
          <a:p>
            <a:pPr>
              <a:lnSpc>
                <a:spcPct val="100000"/>
              </a:lnSpc>
              <a:spcBef>
                <a:spcPts val="400"/>
              </a:spcBef>
              <a:tabLst>
                <a:tab algn="l" pos="0"/>
              </a:tabLst>
            </a:pPr>
            <a:endParaRPr b="0" lang="fr-FR" sz="2000" spc="-1" strike="noStrike">
              <a:solidFill>
                <a:srgbClr val="205aa7"/>
              </a:solidFill>
              <a:latin typeface="Calibri"/>
            </a:endParaRPr>
          </a:p>
          <a:p>
            <a:pPr>
              <a:lnSpc>
                <a:spcPct val="100000"/>
              </a:lnSpc>
              <a:spcBef>
                <a:spcPts val="400"/>
              </a:spcBef>
              <a:tabLst>
                <a:tab algn="l" pos="0"/>
              </a:tabLst>
            </a:pPr>
            <a:endParaRPr b="0" lang="fr-FR" sz="2000" spc="-1" strike="noStrike">
              <a:solidFill>
                <a:srgbClr val="205aa7"/>
              </a:solidFill>
              <a:latin typeface="Calibri"/>
            </a:endParaRPr>
          </a:p>
        </p:txBody>
      </p:sp>
    </p:spTree>
  </p:cSld>
  <mc:AlternateContent>
    <mc:Choice Requires="p14">
      <p:transition spd="slow" p14:dur="2000"/>
    </mc:Choice>
    <mc:Fallback>
      <p:transition spd="slow"/>
    </mc:Fallback>
  </mc:AlternateContent>
</p:sld>
</file>

<file path=ppt/slides/slide6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1" name="TextShape 1"/>
          <p:cNvSpPr txBox="1"/>
          <p:nvPr/>
        </p:nvSpPr>
        <p:spPr>
          <a:xfrm>
            <a:off x="468000" y="0"/>
            <a:ext cx="8229240" cy="1142640"/>
          </a:xfrm>
          <a:prstGeom prst="rect">
            <a:avLst/>
          </a:prstGeom>
          <a:noFill/>
          <a:ln>
            <a:noFill/>
          </a:ln>
        </p:spPr>
        <p:txBody>
          <a:bodyPr anchor="ctr">
            <a:noAutofit/>
          </a:bodyPr>
          <a:p>
            <a:pPr>
              <a:lnSpc>
                <a:spcPct val="100000"/>
              </a:lnSpc>
            </a:pPr>
            <a:r>
              <a:rPr b="1" lang="fr-FR" sz="2400" spc="-1" strike="noStrike" cap="all">
                <a:solidFill>
                  <a:srgbClr val="ffffff"/>
                </a:solidFill>
                <a:latin typeface="Calibri"/>
              </a:rPr>
              <a:t>3. L’analyse financière des comptes consolidés</a:t>
            </a:r>
            <a:endParaRPr b="0" lang="fr-FR" sz="2400" spc="-1" strike="noStrike">
              <a:solidFill>
                <a:srgbClr val="000000"/>
              </a:solidFill>
              <a:latin typeface="Calibri"/>
            </a:endParaRPr>
          </a:p>
        </p:txBody>
      </p:sp>
      <p:sp>
        <p:nvSpPr>
          <p:cNvPr id="382" name="TextShape 2"/>
          <p:cNvSpPr txBox="1"/>
          <p:nvPr/>
        </p:nvSpPr>
        <p:spPr>
          <a:xfrm>
            <a:off x="3124080" y="6480000"/>
            <a:ext cx="4975920" cy="359640"/>
          </a:xfrm>
          <a:prstGeom prst="rect">
            <a:avLst/>
          </a:prstGeom>
          <a:noFill/>
          <a:ln>
            <a:noFill/>
          </a:ln>
        </p:spPr>
        <p:txBody>
          <a:bodyPr>
            <a:noAutofit/>
          </a:bodyPr>
          <a:p>
            <a:endParaRPr b="0" lang="fr-FR" sz="2400" spc="-1" strike="noStrike">
              <a:latin typeface="Times New Roman"/>
            </a:endParaRPr>
          </a:p>
        </p:txBody>
      </p:sp>
      <p:sp>
        <p:nvSpPr>
          <p:cNvPr id="383" name="TextShape 3"/>
          <p:cNvSpPr txBox="1"/>
          <p:nvPr/>
        </p:nvSpPr>
        <p:spPr>
          <a:xfrm>
            <a:off x="8172360" y="6480000"/>
            <a:ext cx="539640" cy="359640"/>
          </a:xfrm>
          <a:prstGeom prst="rect">
            <a:avLst/>
          </a:prstGeom>
          <a:noFill/>
          <a:ln>
            <a:noFill/>
          </a:ln>
        </p:spPr>
        <p:txBody>
          <a:bodyPr lIns="90000" rIns="90000" tIns="45000" bIns="45000">
            <a:noAutofit/>
          </a:bodyPr>
          <a:p>
            <a:pPr algn="r">
              <a:lnSpc>
                <a:spcPct val="100000"/>
              </a:lnSpc>
            </a:pPr>
            <a:fld id="{20EAAA0F-793C-4F1B-9108-40BFA12500B0}" type="slidenum">
              <a:rPr b="0" lang="fr-FR" sz="900" spc="-1" strike="noStrike">
                <a:solidFill>
                  <a:srgbClr val="205aa7"/>
                </a:solidFill>
                <a:latin typeface="Calibri"/>
              </a:rPr>
              <a:t>&lt;number&gt;</a:t>
            </a:fld>
            <a:endParaRPr b="0" lang="fr-FR" sz="900" spc="-1" strike="noStrike">
              <a:latin typeface="Times New Roman"/>
            </a:endParaRPr>
          </a:p>
        </p:txBody>
      </p:sp>
      <p:sp>
        <p:nvSpPr>
          <p:cNvPr id="384" name="TextShape 4"/>
          <p:cNvSpPr txBox="1"/>
          <p:nvPr/>
        </p:nvSpPr>
        <p:spPr>
          <a:xfrm>
            <a:off x="468000" y="1440000"/>
            <a:ext cx="8229240" cy="4525560"/>
          </a:xfrm>
          <a:prstGeom prst="rect">
            <a:avLst/>
          </a:prstGeom>
          <a:noFill/>
          <a:ln>
            <a:noFill/>
          </a:ln>
        </p:spPr>
        <p:txBody>
          <a:bodyPr>
            <a:noAutofit/>
          </a:bodyPr>
          <a:p>
            <a:pPr algn="ctr">
              <a:lnSpc>
                <a:spcPct val="100000"/>
              </a:lnSpc>
              <a:spcBef>
                <a:spcPts val="400"/>
              </a:spcBef>
              <a:tabLst>
                <a:tab algn="l" pos="0"/>
              </a:tabLst>
            </a:pPr>
            <a:r>
              <a:rPr b="1" lang="fr-FR" sz="2000" spc="-1" strike="noStrike">
                <a:solidFill>
                  <a:srgbClr val="205aa7"/>
                </a:solidFill>
                <a:latin typeface="Calibri"/>
              </a:rPr>
              <a:t>Étape 2 – Examen critique de l’information</a:t>
            </a:r>
            <a:endParaRPr b="0" lang="fr-FR" sz="2000" spc="-1" strike="noStrike">
              <a:solidFill>
                <a:srgbClr val="205aa7"/>
              </a:solidFill>
              <a:latin typeface="Calibri"/>
            </a:endParaRPr>
          </a:p>
          <a:p>
            <a:pPr>
              <a:lnSpc>
                <a:spcPct val="100000"/>
              </a:lnSpc>
              <a:spcBef>
                <a:spcPts val="519"/>
              </a:spcBef>
              <a:tabLst>
                <a:tab algn="l" pos="0"/>
              </a:tabLst>
            </a:pPr>
            <a:endParaRPr b="0" lang="fr-FR" sz="2000" spc="-1" strike="noStrike">
              <a:solidFill>
                <a:srgbClr val="205aa7"/>
              </a:solidFill>
              <a:latin typeface="Calibri"/>
            </a:endParaRPr>
          </a:p>
          <a:p>
            <a:pPr>
              <a:lnSpc>
                <a:spcPct val="100000"/>
              </a:lnSpc>
              <a:spcBef>
                <a:spcPts val="519"/>
              </a:spcBef>
              <a:tabLst>
                <a:tab algn="l" pos="0"/>
              </a:tabLst>
            </a:pPr>
            <a:endParaRPr b="0" lang="fr-FR" sz="2000" spc="-1" strike="noStrike">
              <a:solidFill>
                <a:srgbClr val="205aa7"/>
              </a:solidFill>
              <a:latin typeface="Calibri"/>
            </a:endParaRPr>
          </a:p>
          <a:p>
            <a:pPr>
              <a:lnSpc>
                <a:spcPct val="100000"/>
              </a:lnSpc>
              <a:spcBef>
                <a:spcPts val="519"/>
              </a:spcBef>
              <a:tabLst>
                <a:tab algn="l" pos="0"/>
              </a:tabLst>
            </a:pPr>
            <a:endParaRPr b="0" lang="fr-FR" sz="2000" spc="-1" strike="noStrike">
              <a:solidFill>
                <a:srgbClr val="205aa7"/>
              </a:solidFill>
              <a:latin typeface="Calibri"/>
            </a:endParaRPr>
          </a:p>
        </p:txBody>
      </p:sp>
      <p:graphicFrame>
        <p:nvGraphicFramePr>
          <p:cNvPr id="385" name="Table 5"/>
          <p:cNvGraphicFramePr/>
          <p:nvPr/>
        </p:nvGraphicFramePr>
        <p:xfrm>
          <a:off x="468000" y="1845000"/>
          <a:ext cx="8228880" cy="4903200"/>
        </p:xfrm>
        <a:graphic>
          <a:graphicData uri="http://schemas.openxmlformats.org/drawingml/2006/table">
            <a:tbl>
              <a:tblPr/>
              <a:tblGrid>
                <a:gridCol w="1511640"/>
                <a:gridCol w="2448000"/>
                <a:gridCol w="4269600"/>
              </a:tblGrid>
              <a:tr h="417960">
                <a:tc>
                  <a:txBody>
                    <a:bodyPr>
                      <a:noAutofit/>
                    </a:bodyPr>
                    <a:p>
                      <a:pPr>
                        <a:lnSpc>
                          <a:spcPct val="100000"/>
                        </a:lnSpc>
                      </a:pPr>
                      <a:r>
                        <a:rPr b="1" lang="fr-FR" sz="1100" spc="-1" strike="noStrike">
                          <a:solidFill>
                            <a:srgbClr val="ffffff"/>
                          </a:solidFill>
                          <a:latin typeface="Calibri"/>
                        </a:rPr>
                        <a:t>Degré de contrôle</a:t>
                      </a:r>
                      <a:endParaRPr b="0" lang="fr-FR" sz="1100" spc="-1" strike="noStrike">
                        <a:latin typeface="Arial"/>
                      </a:endParaRPr>
                    </a:p>
                  </a:txBody>
                  <a:tcPr marL="91440" marR="91440">
                    <a:lnL w="12240">
                      <a:solidFill>
                        <a:srgbClr val="ffffff"/>
                      </a:solidFill>
                    </a:lnL>
                    <a:lnR w="12240">
                      <a:solidFill>
                        <a:srgbClr val="ffffff"/>
                      </a:solidFill>
                    </a:lnR>
                    <a:lnT w="12240">
                      <a:solidFill>
                        <a:srgbClr val="ffffff"/>
                      </a:solidFill>
                    </a:lnT>
                    <a:lnB w="38160">
                      <a:solidFill>
                        <a:srgbClr val="ffffff"/>
                      </a:solidFill>
                    </a:lnB>
                    <a:solidFill>
                      <a:srgbClr val="205aa7"/>
                    </a:solidFill>
                  </a:tcPr>
                </a:tc>
                <a:tc>
                  <a:txBody>
                    <a:bodyPr>
                      <a:noAutofit/>
                    </a:bodyPr>
                    <a:p>
                      <a:pPr>
                        <a:lnSpc>
                          <a:spcPct val="100000"/>
                        </a:lnSpc>
                      </a:pPr>
                      <a:r>
                        <a:rPr b="1" lang="fr-FR" sz="1100" spc="-1" strike="noStrike">
                          <a:solidFill>
                            <a:srgbClr val="ffffff"/>
                          </a:solidFill>
                          <a:latin typeface="Calibri"/>
                        </a:rPr>
                        <a:t>Mode de consolidation</a:t>
                      </a:r>
                      <a:endParaRPr b="0" lang="fr-FR" sz="1100" spc="-1" strike="noStrike">
                        <a:latin typeface="Arial"/>
                      </a:endParaRPr>
                    </a:p>
                  </a:txBody>
                  <a:tcPr marL="91440" marR="91440">
                    <a:lnL w="12240">
                      <a:solidFill>
                        <a:srgbClr val="ffffff"/>
                      </a:solidFill>
                    </a:lnL>
                    <a:lnR w="12240">
                      <a:solidFill>
                        <a:srgbClr val="ffffff"/>
                      </a:solidFill>
                    </a:lnR>
                    <a:lnT w="12240">
                      <a:solidFill>
                        <a:srgbClr val="ffffff"/>
                      </a:solidFill>
                    </a:lnT>
                    <a:lnB w="38160">
                      <a:solidFill>
                        <a:srgbClr val="ffffff"/>
                      </a:solidFill>
                    </a:lnB>
                    <a:solidFill>
                      <a:srgbClr val="205aa7"/>
                    </a:solidFill>
                  </a:tcPr>
                </a:tc>
                <a:tc>
                  <a:txBody>
                    <a:bodyPr>
                      <a:noAutofit/>
                    </a:bodyPr>
                    <a:p>
                      <a:pPr>
                        <a:lnSpc>
                          <a:spcPct val="100000"/>
                        </a:lnSpc>
                      </a:pPr>
                      <a:r>
                        <a:rPr b="1" lang="fr-FR" sz="1100" spc="-1" strike="noStrike">
                          <a:solidFill>
                            <a:srgbClr val="ffffff"/>
                          </a:solidFill>
                          <a:latin typeface="Calibri"/>
                        </a:rPr>
                        <a:t>Implications sur les comptes</a:t>
                      </a:r>
                      <a:endParaRPr b="0" lang="fr-FR" sz="1100" spc="-1" strike="noStrike">
                        <a:latin typeface="Arial"/>
                      </a:endParaRPr>
                    </a:p>
                  </a:txBody>
                  <a:tcPr marL="91440" marR="91440">
                    <a:lnL w="12240">
                      <a:solidFill>
                        <a:srgbClr val="ffffff"/>
                      </a:solidFill>
                    </a:lnL>
                    <a:lnR w="12240">
                      <a:solidFill>
                        <a:srgbClr val="ffffff"/>
                      </a:solidFill>
                    </a:lnR>
                    <a:lnT w="12240">
                      <a:solidFill>
                        <a:srgbClr val="ffffff"/>
                      </a:solidFill>
                    </a:lnT>
                    <a:lnB w="38160">
                      <a:solidFill>
                        <a:srgbClr val="ffffff"/>
                      </a:solidFill>
                    </a:lnB>
                    <a:solidFill>
                      <a:srgbClr val="205aa7"/>
                    </a:solidFill>
                  </a:tcPr>
                </a:tc>
              </a:tr>
              <a:tr h="1215000">
                <a:tc>
                  <a:txBody>
                    <a:bodyPr>
                      <a:noAutofit/>
                    </a:bodyPr>
                    <a:p>
                      <a:pPr algn="just">
                        <a:lnSpc>
                          <a:spcPct val="100000"/>
                        </a:lnSpc>
                      </a:pPr>
                      <a:r>
                        <a:rPr b="0" lang="fr-FR" sz="1100" spc="-1" strike="noStrike">
                          <a:solidFill>
                            <a:srgbClr val="000000"/>
                          </a:solidFill>
                          <a:latin typeface="Calibri"/>
                        </a:rPr>
                        <a:t>Contrôle exclusif</a:t>
                      </a:r>
                      <a:endParaRPr b="0" lang="fr-FR" sz="1100" spc="-1" strike="noStrike">
                        <a:latin typeface="Arial"/>
                      </a:endParaRPr>
                    </a:p>
                  </a:txBody>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ccd1e1"/>
                    </a:solidFill>
                  </a:tcPr>
                </a:tc>
                <a:tc>
                  <a:txBody>
                    <a:bodyPr>
                      <a:noAutofit/>
                    </a:bodyPr>
                    <a:p>
                      <a:pPr algn="just">
                        <a:lnSpc>
                          <a:spcPct val="100000"/>
                        </a:lnSpc>
                      </a:pPr>
                      <a:r>
                        <a:rPr b="0" lang="fr-FR" sz="1100" spc="-1" strike="noStrike">
                          <a:solidFill>
                            <a:srgbClr val="000000"/>
                          </a:solidFill>
                          <a:latin typeface="Calibri"/>
                        </a:rPr>
                        <a:t>Intégration globale</a:t>
                      </a:r>
                      <a:endParaRPr b="0" lang="fr-FR" sz="1100" spc="-1" strike="noStrike">
                        <a:latin typeface="Arial"/>
                      </a:endParaRPr>
                    </a:p>
                  </a:txBody>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ccd1e1"/>
                    </a:solidFill>
                  </a:tcPr>
                </a:tc>
                <a:tc>
                  <a:txBody>
                    <a:bodyPr>
                      <a:noAutofit/>
                    </a:bodyPr>
                    <a:p>
                      <a:pPr algn="just">
                        <a:lnSpc>
                          <a:spcPct val="115000"/>
                        </a:lnSpc>
                      </a:pPr>
                      <a:r>
                        <a:rPr b="0" lang="fr-FR" sz="1100" spc="-1" strike="noStrike">
                          <a:solidFill>
                            <a:srgbClr val="000000"/>
                          </a:solidFill>
                          <a:latin typeface="Calibri"/>
                        </a:rPr>
                        <a:t>Agrégation des actifs et des passifs et des comptes de résultat, après neutralisation des opérations intragroupe, du holding « tête de groupe » et de l’entité contrôlée. Valorisation dans les capitaux propres et le résultat net de la quote-part revenant aux minoritaires</a:t>
                      </a:r>
                      <a:endParaRPr b="0" lang="fr-FR" sz="1100" spc="-1" strike="noStrike">
                        <a:latin typeface="Arial"/>
                      </a:endParaRPr>
                    </a:p>
                    <a:p>
                      <a:pPr algn="just">
                        <a:lnSpc>
                          <a:spcPct val="115000"/>
                        </a:lnSpc>
                      </a:pPr>
                      <a:r>
                        <a:rPr b="1" lang="fr-FR" sz="1100" spc="-1" strike="noStrike">
                          <a:solidFill>
                            <a:srgbClr val="000000"/>
                          </a:solidFill>
                          <a:latin typeface="Wingdings"/>
                        </a:rPr>
                        <a:t></a:t>
                      </a:r>
                      <a:r>
                        <a:rPr b="1" lang="fr-FR" sz="1100" spc="-1" strike="noStrike">
                          <a:solidFill>
                            <a:srgbClr val="000000"/>
                          </a:solidFill>
                          <a:latin typeface="Calibri"/>
                        </a:rPr>
                        <a:t> </a:t>
                      </a:r>
                      <a:r>
                        <a:rPr b="1" lang="fr-FR" sz="1100" spc="-1" strike="noStrike">
                          <a:solidFill>
                            <a:srgbClr val="000000"/>
                          </a:solidFill>
                          <a:latin typeface="Calibri"/>
                        </a:rPr>
                        <a:t>Tous les risques sont intégrés</a:t>
                      </a:r>
                      <a:endParaRPr b="0" lang="fr-FR" sz="1100" spc="-1" strike="noStrike">
                        <a:latin typeface="Arial"/>
                      </a:endParaRPr>
                    </a:p>
                  </a:txBody>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ccd1e1"/>
                    </a:solidFill>
                  </a:tcPr>
                </a:tc>
              </a:tr>
              <a:tr h="840600">
                <a:tc>
                  <a:txBody>
                    <a:bodyPr>
                      <a:noAutofit/>
                    </a:bodyPr>
                    <a:p>
                      <a:pPr algn="just">
                        <a:lnSpc>
                          <a:spcPct val="100000"/>
                        </a:lnSpc>
                      </a:pPr>
                      <a:r>
                        <a:rPr b="0" lang="fr-FR" sz="1100" spc="-1" strike="noStrike">
                          <a:solidFill>
                            <a:srgbClr val="000000"/>
                          </a:solidFill>
                          <a:latin typeface="Calibri"/>
                        </a:rPr>
                        <a:t>Contrôle conjoint</a:t>
                      </a:r>
                      <a:endParaRPr b="0" lang="fr-FR" sz="1100" spc="-1" strike="noStrike">
                        <a:latin typeface="Arial"/>
                      </a:endParaRPr>
                    </a:p>
                  </a:txBody>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e7e9f0"/>
                    </a:solidFill>
                  </a:tcPr>
                </a:tc>
                <a:tc>
                  <a:txBody>
                    <a:bodyPr>
                      <a:noAutofit/>
                    </a:bodyPr>
                    <a:p>
                      <a:pPr algn="just">
                        <a:lnSpc>
                          <a:spcPct val="100000"/>
                        </a:lnSpc>
                        <a:tabLst>
                          <a:tab algn="l" pos="0"/>
                        </a:tabLst>
                      </a:pPr>
                      <a:r>
                        <a:rPr b="0" lang="fr-FR" sz="1100" spc="-1" strike="noStrike">
                          <a:solidFill>
                            <a:srgbClr val="000000"/>
                          </a:solidFill>
                          <a:latin typeface="Calibri"/>
                        </a:rPr>
                        <a:t>Intégration proportionnelle (normes françaises uniquement)</a:t>
                      </a:r>
                      <a:endParaRPr b="0" lang="fr-FR" sz="1100" spc="-1" strike="noStrike">
                        <a:latin typeface="Arial"/>
                      </a:endParaRPr>
                    </a:p>
                    <a:p>
                      <a:pPr algn="just">
                        <a:lnSpc>
                          <a:spcPct val="100000"/>
                        </a:lnSpc>
                        <a:tabLst>
                          <a:tab algn="l" pos="0"/>
                        </a:tabLst>
                      </a:pPr>
                      <a:endParaRPr b="0" lang="fr-FR" sz="1100" spc="-1" strike="noStrike">
                        <a:latin typeface="Arial"/>
                      </a:endParaRPr>
                    </a:p>
                  </a:txBody>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e7e9f0"/>
                    </a:solidFill>
                  </a:tcPr>
                </a:tc>
                <a:tc>
                  <a:txBody>
                    <a:bodyPr>
                      <a:noAutofit/>
                    </a:bodyPr>
                    <a:p>
                      <a:pPr algn="just">
                        <a:lnSpc>
                          <a:spcPct val="115000"/>
                        </a:lnSpc>
                      </a:pPr>
                      <a:r>
                        <a:rPr b="0" lang="fr-FR" sz="1100" spc="-1" strike="noStrike">
                          <a:solidFill>
                            <a:srgbClr val="000000"/>
                          </a:solidFill>
                          <a:latin typeface="Calibri"/>
                        </a:rPr>
                        <a:t>Intégration de la quote-part dans les actifs et les passifs et les produits et les charges de l’entité dont le contrôle est partagé</a:t>
                      </a:r>
                      <a:endParaRPr b="0" lang="fr-FR" sz="1100" spc="-1" strike="noStrike">
                        <a:latin typeface="Arial"/>
                      </a:endParaRPr>
                    </a:p>
                    <a:p>
                      <a:pPr algn="just">
                        <a:lnSpc>
                          <a:spcPct val="115000"/>
                        </a:lnSpc>
                      </a:pPr>
                      <a:r>
                        <a:rPr b="1" lang="fr-FR" sz="1100" spc="-1" strike="noStrike">
                          <a:solidFill>
                            <a:srgbClr val="000000"/>
                          </a:solidFill>
                          <a:latin typeface="Wingdings"/>
                        </a:rPr>
                        <a:t></a:t>
                      </a:r>
                      <a:r>
                        <a:rPr b="1" lang="fr-FR" sz="1100" spc="-1" strike="noStrike">
                          <a:solidFill>
                            <a:srgbClr val="000000"/>
                          </a:solidFill>
                          <a:latin typeface="Calibri"/>
                        </a:rPr>
                        <a:t> </a:t>
                      </a:r>
                      <a:r>
                        <a:rPr b="1" lang="fr-FR" sz="1100" spc="-1" strike="noStrike">
                          <a:solidFill>
                            <a:srgbClr val="000000"/>
                          </a:solidFill>
                          <a:latin typeface="Calibri"/>
                        </a:rPr>
                        <a:t>Les risques sont intégrés partiellement</a:t>
                      </a:r>
                      <a:endParaRPr b="0" lang="fr-FR" sz="1100" spc="-1" strike="noStrike">
                        <a:latin typeface="Arial"/>
                      </a:endParaRPr>
                    </a:p>
                  </a:txBody>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e7e9f0"/>
                    </a:solidFill>
                  </a:tcPr>
                </a:tc>
              </a:tr>
              <a:tr h="1215000">
                <a:tc>
                  <a:txBody>
                    <a:bodyPr>
                      <a:noAutofit/>
                    </a:bodyPr>
                    <a:p>
                      <a:pPr algn="just">
                        <a:lnSpc>
                          <a:spcPct val="100000"/>
                        </a:lnSpc>
                      </a:pPr>
                      <a:r>
                        <a:rPr b="0" lang="fr-FR" sz="1100" spc="-1" strike="noStrike">
                          <a:solidFill>
                            <a:srgbClr val="000000"/>
                          </a:solidFill>
                          <a:latin typeface="Calibri"/>
                        </a:rPr>
                        <a:t>Influence notable</a:t>
                      </a:r>
                      <a:endParaRPr b="0" lang="fr-FR" sz="1100" spc="-1" strike="noStrike">
                        <a:latin typeface="Arial"/>
                      </a:endParaRPr>
                    </a:p>
                  </a:txBody>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ccd1e1"/>
                    </a:solidFill>
                  </a:tcPr>
                </a:tc>
                <a:tc>
                  <a:txBody>
                    <a:bodyPr>
                      <a:noAutofit/>
                    </a:bodyPr>
                    <a:p>
                      <a:pPr algn="just">
                        <a:lnSpc>
                          <a:spcPct val="100000"/>
                        </a:lnSpc>
                        <a:tabLst>
                          <a:tab algn="l" pos="0"/>
                        </a:tabLst>
                      </a:pPr>
                      <a:r>
                        <a:rPr b="0" lang="fr-FR" sz="1100" spc="-1" strike="noStrike">
                          <a:solidFill>
                            <a:srgbClr val="000000"/>
                          </a:solidFill>
                          <a:latin typeface="Calibri"/>
                        </a:rPr>
                        <a:t>Mise en équivalence</a:t>
                      </a:r>
                      <a:endParaRPr b="0" lang="fr-FR" sz="1100" spc="-1" strike="noStrike">
                        <a:latin typeface="Arial"/>
                      </a:endParaRPr>
                    </a:p>
                    <a:p>
                      <a:pPr algn="just">
                        <a:lnSpc>
                          <a:spcPct val="100000"/>
                        </a:lnSpc>
                        <a:tabLst>
                          <a:tab algn="l" pos="0"/>
                        </a:tabLst>
                      </a:pPr>
                      <a:endParaRPr b="0" lang="fr-FR" sz="1100" spc="-1" strike="noStrike">
                        <a:latin typeface="Arial"/>
                      </a:endParaRPr>
                    </a:p>
                  </a:txBody>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ccd1e1"/>
                    </a:solidFill>
                  </a:tcPr>
                </a:tc>
                <a:tc>
                  <a:txBody>
                    <a:bodyPr>
                      <a:noAutofit/>
                    </a:bodyPr>
                    <a:p>
                      <a:pPr algn="just">
                        <a:lnSpc>
                          <a:spcPct val="115000"/>
                        </a:lnSpc>
                      </a:pPr>
                      <a:r>
                        <a:rPr b="0" lang="fr-FR" sz="1100" spc="-1" strike="noStrike">
                          <a:solidFill>
                            <a:srgbClr val="000000"/>
                          </a:solidFill>
                          <a:latin typeface="Calibri"/>
                        </a:rPr>
                        <a:t>Réévaluation de la participation, classée dans les titres « mis en équivalence » à hauteur de la quote-part détenue dans les capitaux propres de la société sous influence et intégration au compte de résultat de la quote-part de résultat net dans cette société.</a:t>
                      </a:r>
                      <a:endParaRPr b="0" lang="fr-FR" sz="1100" spc="-1" strike="noStrike">
                        <a:latin typeface="Arial"/>
                      </a:endParaRPr>
                    </a:p>
                    <a:p>
                      <a:pPr algn="just">
                        <a:lnSpc>
                          <a:spcPct val="115000"/>
                        </a:lnSpc>
                      </a:pPr>
                      <a:r>
                        <a:rPr b="1" lang="fr-FR" sz="1100" spc="-1" strike="noStrike">
                          <a:solidFill>
                            <a:srgbClr val="000000"/>
                          </a:solidFill>
                          <a:latin typeface="Wingdings"/>
                        </a:rPr>
                        <a:t></a:t>
                      </a:r>
                      <a:r>
                        <a:rPr b="1" lang="fr-FR" sz="1100" spc="-1" strike="noStrike">
                          <a:solidFill>
                            <a:srgbClr val="000000"/>
                          </a:solidFill>
                          <a:latin typeface="Calibri"/>
                        </a:rPr>
                        <a:t> </a:t>
                      </a:r>
                      <a:r>
                        <a:rPr b="1" lang="fr-FR" sz="1100" spc="-1" strike="noStrike">
                          <a:solidFill>
                            <a:srgbClr val="000000"/>
                          </a:solidFill>
                          <a:latin typeface="Calibri"/>
                        </a:rPr>
                        <a:t>Aucun risque intégré</a:t>
                      </a:r>
                      <a:endParaRPr b="0" lang="fr-FR" sz="1100" spc="-1" strike="noStrike">
                        <a:latin typeface="Arial"/>
                      </a:endParaRPr>
                    </a:p>
                  </a:txBody>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ccd1e1"/>
                    </a:solidFill>
                  </a:tcPr>
                </a:tc>
              </a:tr>
              <a:tr h="1215000">
                <a:tc>
                  <a:txBody>
                    <a:bodyPr>
                      <a:noAutofit/>
                    </a:bodyPr>
                    <a:p>
                      <a:pPr algn="just">
                        <a:lnSpc>
                          <a:spcPct val="100000"/>
                        </a:lnSpc>
                        <a:tabLst>
                          <a:tab algn="l" pos="0"/>
                        </a:tabLst>
                      </a:pPr>
                      <a:r>
                        <a:rPr b="0" lang="fr-FR" sz="1100" spc="-1" strike="noStrike">
                          <a:solidFill>
                            <a:srgbClr val="000000"/>
                          </a:solidFill>
                          <a:latin typeface="Calibri"/>
                        </a:rPr>
                        <a:t>Absence de contrôle ou d’influence</a:t>
                      </a:r>
                      <a:endParaRPr b="0" lang="fr-FR" sz="1100" spc="-1" strike="noStrike">
                        <a:latin typeface="Arial"/>
                      </a:endParaRPr>
                    </a:p>
                  </a:txBody>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e7e9f0"/>
                    </a:solidFill>
                  </a:tcPr>
                </a:tc>
                <a:tc>
                  <a:txBody>
                    <a:bodyPr>
                      <a:noAutofit/>
                    </a:bodyPr>
                    <a:p>
                      <a:pPr algn="just">
                        <a:lnSpc>
                          <a:spcPct val="100000"/>
                        </a:lnSpc>
                        <a:tabLst>
                          <a:tab algn="l" pos="0"/>
                        </a:tabLst>
                      </a:pPr>
                      <a:r>
                        <a:rPr b="0" lang="fr-FR" sz="1100" spc="-1" strike="noStrike">
                          <a:solidFill>
                            <a:srgbClr val="000000"/>
                          </a:solidFill>
                          <a:latin typeface="Calibri"/>
                        </a:rPr>
                        <a:t>Participation matérialisée au sein des titres immobilisés (participation stratégique) ou des VMP (participation financière)</a:t>
                      </a:r>
                      <a:endParaRPr b="0" lang="fr-FR" sz="1100" spc="-1" strike="noStrike">
                        <a:latin typeface="Arial"/>
                      </a:endParaRPr>
                    </a:p>
                    <a:p>
                      <a:pPr algn="just">
                        <a:lnSpc>
                          <a:spcPct val="100000"/>
                        </a:lnSpc>
                        <a:tabLst>
                          <a:tab algn="l" pos="0"/>
                        </a:tabLst>
                      </a:pPr>
                      <a:endParaRPr b="0" lang="fr-FR" sz="1100" spc="-1" strike="noStrike">
                        <a:latin typeface="Arial"/>
                      </a:endParaRPr>
                    </a:p>
                  </a:txBody>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e7e9f0"/>
                    </a:solidFill>
                  </a:tcPr>
                </a:tc>
                <a:tc>
                  <a:txBody>
                    <a:bodyPr>
                      <a:noAutofit/>
                    </a:bodyPr>
                    <a:p>
                      <a:pPr algn="just">
                        <a:lnSpc>
                          <a:spcPct val="115000"/>
                        </a:lnSpc>
                      </a:pPr>
                      <a:r>
                        <a:rPr b="0" lang="fr-FR" sz="1100" spc="-1" strike="noStrike">
                          <a:solidFill>
                            <a:srgbClr val="000000"/>
                          </a:solidFill>
                          <a:latin typeface="Calibri"/>
                        </a:rPr>
                        <a:t>Valorisation de l’actif détenu au sein des titres immobilisés ou des actifs financiers à court terme (valeurs mobilières de placement).Enregistrement des dividendes dans les produits financiers au compte de résultat.</a:t>
                      </a:r>
                      <a:endParaRPr b="0" lang="fr-FR" sz="1100" spc="-1" strike="noStrike">
                        <a:latin typeface="Arial"/>
                      </a:endParaRPr>
                    </a:p>
                    <a:p>
                      <a:pPr algn="just">
                        <a:lnSpc>
                          <a:spcPct val="115000"/>
                        </a:lnSpc>
                      </a:pPr>
                      <a:r>
                        <a:rPr b="1" lang="fr-FR" sz="1100" spc="-1" strike="noStrike">
                          <a:solidFill>
                            <a:srgbClr val="000000"/>
                          </a:solidFill>
                          <a:latin typeface="Wingdings"/>
                        </a:rPr>
                        <a:t></a:t>
                      </a:r>
                      <a:r>
                        <a:rPr b="1" lang="fr-FR" sz="1100" spc="-1" strike="noStrike">
                          <a:solidFill>
                            <a:srgbClr val="000000"/>
                          </a:solidFill>
                          <a:latin typeface="Calibri"/>
                        </a:rPr>
                        <a:t> </a:t>
                      </a:r>
                      <a:r>
                        <a:rPr b="1" lang="fr-FR" sz="1100" spc="-1" strike="noStrike">
                          <a:solidFill>
                            <a:srgbClr val="000000"/>
                          </a:solidFill>
                          <a:latin typeface="Calibri"/>
                        </a:rPr>
                        <a:t>Aucun risque intégré</a:t>
                      </a:r>
                      <a:endParaRPr b="0" lang="fr-FR" sz="1100" spc="-1" strike="noStrike">
                        <a:latin typeface="Arial"/>
                      </a:endParaRPr>
                    </a:p>
                  </a:txBody>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e7e9f0"/>
                    </a:solidFill>
                  </a:tcPr>
                </a:tc>
              </a:tr>
            </a:tbl>
          </a:graphicData>
        </a:graphic>
      </p:graphicFrame>
    </p:spTree>
  </p:cSld>
  <mc:AlternateContent>
    <mc:Choice Requires="p14">
      <p:transition spd="slow" p14:dur="2000"/>
    </mc:Choice>
    <mc:Fallback>
      <p:transition spd="slow"/>
    </mc:Fallback>
  </mc:AlternateContent>
</p:sld>
</file>

<file path=ppt/slides/slide6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6" name="TextShape 1"/>
          <p:cNvSpPr txBox="1"/>
          <p:nvPr/>
        </p:nvSpPr>
        <p:spPr>
          <a:xfrm>
            <a:off x="468000" y="0"/>
            <a:ext cx="8229240" cy="1142640"/>
          </a:xfrm>
          <a:prstGeom prst="rect">
            <a:avLst/>
          </a:prstGeom>
          <a:noFill/>
          <a:ln>
            <a:noFill/>
          </a:ln>
        </p:spPr>
        <p:txBody>
          <a:bodyPr anchor="ctr">
            <a:noAutofit/>
          </a:bodyPr>
          <a:p>
            <a:pPr>
              <a:lnSpc>
                <a:spcPct val="100000"/>
              </a:lnSpc>
            </a:pPr>
            <a:r>
              <a:rPr b="1" lang="fr-FR" sz="2400" spc="-1" strike="noStrike" cap="all">
                <a:solidFill>
                  <a:srgbClr val="ffffff"/>
                </a:solidFill>
                <a:latin typeface="Calibri"/>
              </a:rPr>
              <a:t>3. L’analyse financière des comptes consolidés</a:t>
            </a:r>
            <a:endParaRPr b="0" lang="fr-FR" sz="2400" spc="-1" strike="noStrike">
              <a:solidFill>
                <a:srgbClr val="000000"/>
              </a:solidFill>
              <a:latin typeface="Calibri"/>
            </a:endParaRPr>
          </a:p>
        </p:txBody>
      </p:sp>
      <p:sp>
        <p:nvSpPr>
          <p:cNvPr id="387" name="TextShape 2"/>
          <p:cNvSpPr txBox="1"/>
          <p:nvPr/>
        </p:nvSpPr>
        <p:spPr>
          <a:xfrm>
            <a:off x="3124080" y="6480000"/>
            <a:ext cx="4975920" cy="359640"/>
          </a:xfrm>
          <a:prstGeom prst="rect">
            <a:avLst/>
          </a:prstGeom>
          <a:noFill/>
          <a:ln>
            <a:noFill/>
          </a:ln>
        </p:spPr>
        <p:txBody>
          <a:bodyPr>
            <a:noAutofit/>
          </a:bodyPr>
          <a:p>
            <a:endParaRPr b="0" lang="fr-FR" sz="2400" spc="-1" strike="noStrike">
              <a:latin typeface="Times New Roman"/>
            </a:endParaRPr>
          </a:p>
        </p:txBody>
      </p:sp>
      <p:sp>
        <p:nvSpPr>
          <p:cNvPr id="388" name="TextShape 3"/>
          <p:cNvSpPr txBox="1"/>
          <p:nvPr/>
        </p:nvSpPr>
        <p:spPr>
          <a:xfrm>
            <a:off x="8172360" y="6480000"/>
            <a:ext cx="539640" cy="359640"/>
          </a:xfrm>
          <a:prstGeom prst="rect">
            <a:avLst/>
          </a:prstGeom>
          <a:noFill/>
          <a:ln>
            <a:noFill/>
          </a:ln>
        </p:spPr>
        <p:txBody>
          <a:bodyPr lIns="90000" rIns="90000" tIns="45000" bIns="45000">
            <a:noAutofit/>
          </a:bodyPr>
          <a:p>
            <a:pPr algn="r">
              <a:lnSpc>
                <a:spcPct val="100000"/>
              </a:lnSpc>
            </a:pPr>
            <a:fld id="{28BFBBF2-A1B7-4DBA-8702-A3DC80A874D3}" type="slidenum">
              <a:rPr b="0" lang="fr-FR" sz="900" spc="-1" strike="noStrike">
                <a:solidFill>
                  <a:srgbClr val="205aa7"/>
                </a:solidFill>
                <a:latin typeface="Calibri"/>
              </a:rPr>
              <a:t>&lt;number&gt;</a:t>
            </a:fld>
            <a:endParaRPr b="0" lang="fr-FR" sz="900" spc="-1" strike="noStrike">
              <a:latin typeface="Times New Roman"/>
            </a:endParaRPr>
          </a:p>
        </p:txBody>
      </p:sp>
      <p:sp>
        <p:nvSpPr>
          <p:cNvPr id="389" name="TextShape 4"/>
          <p:cNvSpPr txBox="1"/>
          <p:nvPr/>
        </p:nvSpPr>
        <p:spPr>
          <a:xfrm>
            <a:off x="468000" y="1440000"/>
            <a:ext cx="8229240" cy="4525560"/>
          </a:xfrm>
          <a:prstGeom prst="rect">
            <a:avLst/>
          </a:prstGeom>
          <a:noFill/>
          <a:ln>
            <a:noFill/>
          </a:ln>
        </p:spPr>
        <p:txBody>
          <a:bodyPr>
            <a:normAutofit/>
          </a:bodyPr>
          <a:p>
            <a:pPr algn="ctr">
              <a:lnSpc>
                <a:spcPct val="100000"/>
              </a:lnSpc>
              <a:spcBef>
                <a:spcPts val="400"/>
              </a:spcBef>
              <a:tabLst>
                <a:tab algn="l" pos="0"/>
              </a:tabLst>
            </a:pPr>
            <a:r>
              <a:rPr b="1" lang="fr-FR" sz="2000" spc="-1" strike="noStrike">
                <a:solidFill>
                  <a:srgbClr val="205aa7"/>
                </a:solidFill>
                <a:latin typeface="Calibri"/>
              </a:rPr>
              <a:t>Étape 2 – Examen critique de l’information</a:t>
            </a:r>
            <a:endParaRPr b="0" lang="fr-FR" sz="2000" spc="-1" strike="noStrike">
              <a:solidFill>
                <a:srgbClr val="205aa7"/>
              </a:solidFill>
              <a:latin typeface="Calibri"/>
            </a:endParaRPr>
          </a:p>
          <a:p>
            <a:pPr algn="ctr">
              <a:lnSpc>
                <a:spcPct val="100000"/>
              </a:lnSpc>
              <a:spcBef>
                <a:spcPts val="201"/>
              </a:spcBef>
              <a:tabLst>
                <a:tab algn="l" pos="0"/>
              </a:tabLst>
            </a:pPr>
            <a:endParaRPr b="0" lang="fr-FR" sz="2000" spc="-1" strike="noStrike">
              <a:solidFill>
                <a:srgbClr val="205aa7"/>
              </a:solidFill>
              <a:latin typeface="Calibri"/>
            </a:endParaRPr>
          </a:p>
          <a:p>
            <a:pPr algn="ctr">
              <a:lnSpc>
                <a:spcPct val="100000"/>
              </a:lnSpc>
              <a:spcBef>
                <a:spcPts val="400"/>
              </a:spcBef>
              <a:tabLst>
                <a:tab algn="l" pos="0"/>
              </a:tabLst>
            </a:pPr>
            <a:r>
              <a:rPr b="0" lang="fr-FR" sz="2000" spc="-1" strike="noStrike" u="sng">
                <a:solidFill>
                  <a:srgbClr val="205aa7"/>
                </a:solidFill>
                <a:uFillTx/>
                <a:latin typeface="Calibri"/>
              </a:rPr>
              <a:t>Focus sur les sociétés civiles immobilières (SCI)</a:t>
            </a:r>
            <a:endParaRPr b="0" lang="fr-FR" sz="2000" spc="-1" strike="noStrike">
              <a:solidFill>
                <a:srgbClr val="205aa7"/>
              </a:solidFill>
              <a:latin typeface="Calibri"/>
            </a:endParaRPr>
          </a:p>
          <a:p>
            <a:pPr marL="252000" indent="-251640" algn="just">
              <a:lnSpc>
                <a:spcPct val="100000"/>
              </a:lnSpc>
              <a:spcBef>
                <a:spcPts val="400"/>
              </a:spcBef>
              <a:buClr>
                <a:srgbClr val="205aa7"/>
              </a:buClr>
              <a:buFont typeface="Wingdings" charset="2"/>
              <a:buChar char=""/>
              <a:tabLst>
                <a:tab algn="l" pos="0"/>
              </a:tabLst>
            </a:pPr>
            <a:r>
              <a:rPr b="0" lang="fr-FR" sz="2000" spc="-1" strike="noStrike">
                <a:solidFill>
                  <a:srgbClr val="205aa7"/>
                </a:solidFill>
                <a:latin typeface="Calibri"/>
              </a:rPr>
              <a:t>Quelle(s) SCI non détenue(s) financièrement sont à intégrer dans le périmètre ?</a:t>
            </a:r>
            <a:endParaRPr b="0" lang="fr-FR" sz="2000" spc="-1" strike="noStrike">
              <a:solidFill>
                <a:srgbClr val="205aa7"/>
              </a:solidFill>
              <a:latin typeface="Calibri"/>
            </a:endParaRPr>
          </a:p>
          <a:p>
            <a:pPr marL="252000" indent="-251640" algn="just">
              <a:lnSpc>
                <a:spcPct val="100000"/>
              </a:lnSpc>
              <a:spcBef>
                <a:spcPts val="400"/>
              </a:spcBef>
              <a:buClr>
                <a:srgbClr val="205aa7"/>
              </a:buClr>
              <a:buFont typeface="Wingdings" charset="2"/>
              <a:buChar char=""/>
              <a:tabLst>
                <a:tab algn="l" pos="0"/>
              </a:tabLst>
            </a:pPr>
            <a:r>
              <a:rPr b="0" lang="fr-FR" sz="2000" spc="-1" strike="noStrike">
                <a:solidFill>
                  <a:srgbClr val="205aa7"/>
                </a:solidFill>
                <a:latin typeface="Calibri"/>
              </a:rPr>
              <a:t>Les SCI doivent cumuler les 3 conditions suivantes :</a:t>
            </a:r>
            <a:endParaRPr b="0" lang="fr-FR" sz="2000" spc="-1" strike="noStrike">
              <a:solidFill>
                <a:srgbClr val="205aa7"/>
              </a:solidFill>
              <a:latin typeface="Calibri"/>
            </a:endParaRPr>
          </a:p>
          <a:p>
            <a:pPr lvl="1" marL="743040" indent="-285480" algn="just">
              <a:lnSpc>
                <a:spcPct val="100000"/>
              </a:lnSpc>
              <a:spcBef>
                <a:spcPts val="360"/>
              </a:spcBef>
              <a:buClr>
                <a:srgbClr val="205aa7"/>
              </a:buClr>
              <a:buFont typeface="Arial"/>
              <a:buChar char="–"/>
              <a:tabLst>
                <a:tab algn="l" pos="0"/>
              </a:tabLst>
            </a:pPr>
            <a:r>
              <a:rPr b="0" lang="fr-FR" sz="1800" spc="-1" strike="noStrike">
                <a:solidFill>
                  <a:srgbClr val="205aa7"/>
                </a:solidFill>
                <a:latin typeface="Calibri"/>
              </a:rPr>
              <a:t>être liées au démembrement du patrimoine professionnel d’une ou plusieurs entités du groupe</a:t>
            </a:r>
            <a:endParaRPr b="0" lang="fr-FR" sz="1800" spc="-1" strike="noStrike">
              <a:solidFill>
                <a:srgbClr val="595959"/>
              </a:solidFill>
              <a:latin typeface="Calibri"/>
            </a:endParaRPr>
          </a:p>
          <a:p>
            <a:pPr lvl="1" marL="743040" indent="-285480" algn="just">
              <a:lnSpc>
                <a:spcPct val="100000"/>
              </a:lnSpc>
              <a:spcBef>
                <a:spcPts val="360"/>
              </a:spcBef>
              <a:buClr>
                <a:srgbClr val="205aa7"/>
              </a:buClr>
              <a:buFont typeface="Arial"/>
              <a:buChar char="–"/>
              <a:tabLst>
                <a:tab algn="l" pos="0"/>
              </a:tabLst>
            </a:pPr>
            <a:r>
              <a:rPr b="0" lang="fr-FR" sz="1800" spc="-1" strike="noStrike">
                <a:solidFill>
                  <a:srgbClr val="205aa7"/>
                </a:solidFill>
                <a:latin typeface="Calibri"/>
              </a:rPr>
              <a:t>détenir des actifs professionnels dévolus principalement à l’activité d’une ou plusieurs entités du groupe</a:t>
            </a:r>
            <a:endParaRPr b="0" lang="fr-FR" sz="1800" spc="-1" strike="noStrike">
              <a:solidFill>
                <a:srgbClr val="595959"/>
              </a:solidFill>
              <a:latin typeface="Calibri"/>
            </a:endParaRPr>
          </a:p>
          <a:p>
            <a:pPr lvl="1" marL="743040" indent="-285480" algn="just">
              <a:lnSpc>
                <a:spcPct val="100000"/>
              </a:lnSpc>
              <a:spcBef>
                <a:spcPts val="360"/>
              </a:spcBef>
              <a:buClr>
                <a:srgbClr val="205aa7"/>
              </a:buClr>
              <a:buFont typeface="Arial"/>
              <a:buChar char="–"/>
              <a:tabLst>
                <a:tab algn="l" pos="0"/>
              </a:tabLst>
            </a:pPr>
            <a:r>
              <a:rPr b="0" lang="fr-FR" sz="1800" spc="-1" strike="noStrike">
                <a:solidFill>
                  <a:srgbClr val="205aa7"/>
                </a:solidFill>
                <a:latin typeface="Calibri"/>
              </a:rPr>
              <a:t>être sous le contrôle d’une ou plusieurs entités du groupe : notion d’unité économique.</a:t>
            </a:r>
            <a:endParaRPr b="0" lang="fr-FR" sz="1800" spc="-1" strike="noStrike">
              <a:solidFill>
                <a:srgbClr val="595959"/>
              </a:solidFill>
              <a:latin typeface="Calibri"/>
            </a:endParaRPr>
          </a:p>
          <a:p>
            <a:pPr>
              <a:lnSpc>
                <a:spcPct val="100000"/>
              </a:lnSpc>
              <a:spcBef>
                <a:spcPts val="519"/>
              </a:spcBef>
              <a:tabLst>
                <a:tab algn="l" pos="0"/>
              </a:tabLst>
            </a:pPr>
            <a:endParaRPr b="0" lang="fr-FR" sz="1800" spc="-1" strike="noStrike">
              <a:solidFill>
                <a:srgbClr val="205aa7"/>
              </a:solidFill>
              <a:latin typeface="Calibri"/>
            </a:endParaRPr>
          </a:p>
          <a:p>
            <a:pPr>
              <a:lnSpc>
                <a:spcPct val="100000"/>
              </a:lnSpc>
              <a:spcBef>
                <a:spcPts val="519"/>
              </a:spcBef>
              <a:tabLst>
                <a:tab algn="l" pos="0"/>
              </a:tabLst>
            </a:pPr>
            <a:endParaRPr b="0" lang="fr-FR" sz="1800" spc="-1" strike="noStrike">
              <a:solidFill>
                <a:srgbClr val="205aa7"/>
              </a:solidFill>
              <a:latin typeface="Calibri"/>
            </a:endParaRPr>
          </a:p>
          <a:p>
            <a:pPr>
              <a:lnSpc>
                <a:spcPct val="100000"/>
              </a:lnSpc>
              <a:spcBef>
                <a:spcPts val="519"/>
              </a:spcBef>
              <a:tabLst>
                <a:tab algn="l" pos="0"/>
              </a:tabLst>
            </a:pPr>
            <a:endParaRPr b="0" lang="fr-FR" sz="1800" spc="-1" strike="noStrike">
              <a:solidFill>
                <a:srgbClr val="205aa7"/>
              </a:solidFill>
              <a:latin typeface="Calibri"/>
            </a:endParaRPr>
          </a:p>
        </p:txBody>
      </p:sp>
    </p:spTree>
  </p:cSld>
  <mc:AlternateContent>
    <mc:Choice Requires="p14">
      <p:transition spd="slow" p14:dur="2000"/>
    </mc:Choice>
    <mc:Fallback>
      <p:transition spd="slow"/>
    </mc:Fallback>
  </mc:AlternateContent>
</p:sld>
</file>

<file path=ppt/slides/slide6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0" name="TextShape 1"/>
          <p:cNvSpPr txBox="1"/>
          <p:nvPr/>
        </p:nvSpPr>
        <p:spPr>
          <a:xfrm>
            <a:off x="468000" y="0"/>
            <a:ext cx="8229240" cy="1142640"/>
          </a:xfrm>
          <a:prstGeom prst="rect">
            <a:avLst/>
          </a:prstGeom>
          <a:noFill/>
          <a:ln>
            <a:noFill/>
          </a:ln>
        </p:spPr>
        <p:txBody>
          <a:bodyPr anchor="ctr">
            <a:noAutofit/>
          </a:bodyPr>
          <a:p>
            <a:pPr>
              <a:lnSpc>
                <a:spcPct val="100000"/>
              </a:lnSpc>
            </a:pPr>
            <a:r>
              <a:rPr b="1" lang="fr-FR" sz="2400" spc="-1" strike="noStrike" cap="all">
                <a:solidFill>
                  <a:srgbClr val="ffffff"/>
                </a:solidFill>
                <a:latin typeface="Calibri"/>
              </a:rPr>
              <a:t>3. L’analyse financière des comptes consolidés</a:t>
            </a:r>
            <a:endParaRPr b="0" lang="fr-FR" sz="2400" spc="-1" strike="noStrike">
              <a:solidFill>
                <a:srgbClr val="000000"/>
              </a:solidFill>
              <a:latin typeface="Calibri"/>
            </a:endParaRPr>
          </a:p>
        </p:txBody>
      </p:sp>
      <p:sp>
        <p:nvSpPr>
          <p:cNvPr id="391" name="TextShape 2"/>
          <p:cNvSpPr txBox="1"/>
          <p:nvPr/>
        </p:nvSpPr>
        <p:spPr>
          <a:xfrm>
            <a:off x="3124080" y="6480000"/>
            <a:ext cx="4975920" cy="359640"/>
          </a:xfrm>
          <a:prstGeom prst="rect">
            <a:avLst/>
          </a:prstGeom>
          <a:noFill/>
          <a:ln>
            <a:noFill/>
          </a:ln>
        </p:spPr>
        <p:txBody>
          <a:bodyPr>
            <a:noAutofit/>
          </a:bodyPr>
          <a:p>
            <a:endParaRPr b="0" lang="fr-FR" sz="2400" spc="-1" strike="noStrike">
              <a:latin typeface="Times New Roman"/>
            </a:endParaRPr>
          </a:p>
        </p:txBody>
      </p:sp>
      <p:sp>
        <p:nvSpPr>
          <p:cNvPr id="392" name="TextShape 3"/>
          <p:cNvSpPr txBox="1"/>
          <p:nvPr/>
        </p:nvSpPr>
        <p:spPr>
          <a:xfrm>
            <a:off x="8172360" y="6480000"/>
            <a:ext cx="539640" cy="359640"/>
          </a:xfrm>
          <a:prstGeom prst="rect">
            <a:avLst/>
          </a:prstGeom>
          <a:noFill/>
          <a:ln>
            <a:noFill/>
          </a:ln>
        </p:spPr>
        <p:txBody>
          <a:bodyPr lIns="90000" rIns="90000" tIns="45000" bIns="45000">
            <a:noAutofit/>
          </a:bodyPr>
          <a:p>
            <a:pPr algn="r">
              <a:lnSpc>
                <a:spcPct val="100000"/>
              </a:lnSpc>
            </a:pPr>
            <a:fld id="{5B52AA0F-49CB-46A3-B8E0-CA1F5312EE10}" type="slidenum">
              <a:rPr b="0" lang="fr-FR" sz="900" spc="-1" strike="noStrike">
                <a:solidFill>
                  <a:srgbClr val="205aa7"/>
                </a:solidFill>
                <a:latin typeface="Calibri"/>
              </a:rPr>
              <a:t>&lt;number&gt;</a:t>
            </a:fld>
            <a:endParaRPr b="0" lang="fr-FR" sz="900" spc="-1" strike="noStrike">
              <a:latin typeface="Times New Roman"/>
            </a:endParaRPr>
          </a:p>
        </p:txBody>
      </p:sp>
      <p:sp>
        <p:nvSpPr>
          <p:cNvPr id="393" name="TextShape 4"/>
          <p:cNvSpPr txBox="1"/>
          <p:nvPr/>
        </p:nvSpPr>
        <p:spPr>
          <a:xfrm>
            <a:off x="468000" y="1440000"/>
            <a:ext cx="8229240" cy="4525560"/>
          </a:xfrm>
          <a:prstGeom prst="rect">
            <a:avLst/>
          </a:prstGeom>
          <a:noFill/>
          <a:ln>
            <a:noFill/>
          </a:ln>
        </p:spPr>
        <p:txBody>
          <a:bodyPr>
            <a:normAutofit/>
          </a:bodyPr>
          <a:p>
            <a:pPr marL="114480" algn="ctr">
              <a:lnSpc>
                <a:spcPct val="100000"/>
              </a:lnSpc>
              <a:spcBef>
                <a:spcPts val="479"/>
              </a:spcBef>
              <a:tabLst>
                <a:tab algn="l" pos="0"/>
              </a:tabLst>
            </a:pPr>
            <a:r>
              <a:rPr b="1" lang="fr-FR" sz="2400" spc="-1" strike="noStrike">
                <a:solidFill>
                  <a:srgbClr val="205aa7"/>
                </a:solidFill>
                <a:latin typeface="Calibri"/>
              </a:rPr>
              <a:t>Les principales étapes de l’analyse :</a:t>
            </a:r>
            <a:endParaRPr b="0" lang="fr-FR" sz="2400" spc="-1" strike="noStrike">
              <a:solidFill>
                <a:srgbClr val="205aa7"/>
              </a:solidFill>
              <a:latin typeface="Calibri"/>
            </a:endParaRPr>
          </a:p>
          <a:p>
            <a:pPr marL="114480" algn="just">
              <a:lnSpc>
                <a:spcPct val="100000"/>
              </a:lnSpc>
              <a:spcBef>
                <a:spcPts val="479"/>
              </a:spcBef>
              <a:tabLst>
                <a:tab algn="l" pos="0"/>
              </a:tabLst>
            </a:pPr>
            <a:endParaRPr b="0" lang="fr-FR" sz="2400" spc="-1" strike="noStrike">
              <a:solidFill>
                <a:srgbClr val="205aa7"/>
              </a:solidFill>
              <a:latin typeface="Calibri"/>
            </a:endParaRPr>
          </a:p>
          <a:p>
            <a:pPr marL="571680" indent="-456840" algn="just">
              <a:lnSpc>
                <a:spcPct val="100000"/>
              </a:lnSpc>
              <a:spcBef>
                <a:spcPts val="479"/>
              </a:spcBef>
              <a:buClr>
                <a:srgbClr val="cbddf5"/>
              </a:buClr>
              <a:buFont typeface="StarSymbol"/>
              <a:buAutoNum type="arabicPeriod"/>
              <a:tabLst>
                <a:tab algn="l" pos="0"/>
              </a:tabLst>
            </a:pPr>
            <a:r>
              <a:rPr b="0" lang="fr-FR" sz="2400" spc="-1" strike="noStrike">
                <a:solidFill>
                  <a:srgbClr val="cbddf5"/>
                </a:solidFill>
                <a:latin typeface="Calibri"/>
              </a:rPr>
              <a:t>Analyse de l’environnement, de la stratégie et de l’organisation.</a:t>
            </a:r>
            <a:endParaRPr b="0" lang="fr-FR" sz="2400" spc="-1" strike="noStrike">
              <a:solidFill>
                <a:srgbClr val="205aa7"/>
              </a:solidFill>
              <a:latin typeface="Calibri"/>
            </a:endParaRPr>
          </a:p>
          <a:p>
            <a:pPr marL="571680" indent="-456840" algn="just">
              <a:lnSpc>
                <a:spcPct val="100000"/>
              </a:lnSpc>
              <a:spcBef>
                <a:spcPts val="479"/>
              </a:spcBef>
              <a:buClr>
                <a:srgbClr val="cbddf5"/>
              </a:buClr>
              <a:buFont typeface="StarSymbol"/>
              <a:buAutoNum type="arabicPeriod"/>
              <a:tabLst>
                <a:tab algn="l" pos="0"/>
              </a:tabLst>
            </a:pPr>
            <a:r>
              <a:rPr b="0" lang="fr-FR" sz="2400" spc="-1" strike="noStrike">
                <a:solidFill>
                  <a:srgbClr val="cbddf5"/>
                </a:solidFill>
                <a:latin typeface="Calibri"/>
              </a:rPr>
              <a:t>Examen critique de la qualité de l’information et étude préalable à l’analyse des comptes.</a:t>
            </a:r>
            <a:endParaRPr b="0" lang="fr-FR" sz="2400" spc="-1" strike="noStrike">
              <a:solidFill>
                <a:srgbClr val="205aa7"/>
              </a:solidFill>
              <a:latin typeface="Calibri"/>
            </a:endParaRPr>
          </a:p>
          <a:p>
            <a:pPr marL="571680" indent="-456840" algn="just">
              <a:lnSpc>
                <a:spcPct val="100000"/>
              </a:lnSpc>
              <a:spcBef>
                <a:spcPts val="479"/>
              </a:spcBef>
              <a:buClr>
                <a:srgbClr val="205aa7"/>
              </a:buClr>
              <a:buFont typeface="StarSymbol"/>
              <a:buAutoNum type="arabicPeriod"/>
              <a:tabLst>
                <a:tab algn="l" pos="0"/>
              </a:tabLst>
            </a:pPr>
            <a:r>
              <a:rPr b="0" lang="fr-FR" sz="2400" spc="-1" strike="noStrike">
                <a:solidFill>
                  <a:srgbClr val="205aa7"/>
                </a:solidFill>
                <a:latin typeface="Calibri"/>
              </a:rPr>
              <a:t>Analyse des performances.</a:t>
            </a:r>
            <a:endParaRPr b="0" lang="fr-FR" sz="2400" spc="-1" strike="noStrike">
              <a:solidFill>
                <a:srgbClr val="205aa7"/>
              </a:solidFill>
              <a:latin typeface="Calibri"/>
            </a:endParaRPr>
          </a:p>
          <a:p>
            <a:pPr marL="571680" indent="-456840" algn="just">
              <a:lnSpc>
                <a:spcPct val="100000"/>
              </a:lnSpc>
              <a:spcBef>
                <a:spcPts val="479"/>
              </a:spcBef>
              <a:buClr>
                <a:srgbClr val="cbddf5"/>
              </a:buClr>
              <a:buFont typeface="StarSymbol"/>
              <a:buAutoNum type="arabicPeriod"/>
              <a:tabLst>
                <a:tab algn="l" pos="0"/>
              </a:tabLst>
            </a:pPr>
            <a:r>
              <a:rPr b="0" lang="fr-FR" sz="2400" spc="-1" strike="noStrike">
                <a:solidFill>
                  <a:srgbClr val="cbddf5"/>
                </a:solidFill>
                <a:latin typeface="Calibri"/>
              </a:rPr>
              <a:t>Examen de la structure financière (solvabilité et autonomie financière).</a:t>
            </a:r>
            <a:endParaRPr b="0" lang="fr-FR" sz="2400" spc="-1" strike="noStrike">
              <a:solidFill>
                <a:srgbClr val="205aa7"/>
              </a:solidFill>
              <a:latin typeface="Calibri"/>
            </a:endParaRPr>
          </a:p>
          <a:p>
            <a:pPr marL="571680" indent="-456840" algn="just">
              <a:lnSpc>
                <a:spcPct val="100000"/>
              </a:lnSpc>
              <a:spcBef>
                <a:spcPts val="479"/>
              </a:spcBef>
              <a:buClr>
                <a:srgbClr val="cbddf5"/>
              </a:buClr>
              <a:buFont typeface="StarSymbol"/>
              <a:buAutoNum type="arabicPeriod"/>
              <a:tabLst>
                <a:tab algn="l" pos="0"/>
              </a:tabLst>
            </a:pPr>
            <a:r>
              <a:rPr b="0" lang="fr-FR" sz="2400" spc="-1" strike="noStrike">
                <a:solidFill>
                  <a:srgbClr val="cbddf5"/>
                </a:solidFill>
                <a:latin typeface="Calibri"/>
              </a:rPr>
              <a:t>Analyse de la liquidité.</a:t>
            </a:r>
            <a:endParaRPr b="0" lang="fr-FR" sz="2400" spc="-1" strike="noStrike">
              <a:solidFill>
                <a:srgbClr val="205aa7"/>
              </a:solidFill>
              <a:latin typeface="Calibri"/>
            </a:endParaRPr>
          </a:p>
          <a:p>
            <a:pPr marL="571680" indent="-456840" algn="just">
              <a:lnSpc>
                <a:spcPct val="100000"/>
              </a:lnSpc>
              <a:spcBef>
                <a:spcPts val="479"/>
              </a:spcBef>
              <a:buClr>
                <a:srgbClr val="cbddf5"/>
              </a:buClr>
              <a:buFont typeface="StarSymbol"/>
              <a:buAutoNum type="arabicPeriod"/>
              <a:tabLst>
                <a:tab algn="l" pos="0"/>
              </a:tabLst>
            </a:pPr>
            <a:r>
              <a:rPr b="0" lang="fr-FR" sz="2400" spc="-1" strike="noStrike">
                <a:solidFill>
                  <a:srgbClr val="cbddf5"/>
                </a:solidFill>
                <a:latin typeface="Calibri"/>
              </a:rPr>
              <a:t>Décision de cotation</a:t>
            </a:r>
            <a:endParaRPr b="0" lang="fr-FR" sz="2400" spc="-1" strike="noStrike">
              <a:solidFill>
                <a:srgbClr val="205aa7"/>
              </a:solidFill>
              <a:latin typeface="Calibri"/>
            </a:endParaRPr>
          </a:p>
        </p:txBody>
      </p:sp>
    </p:spTree>
  </p:cSld>
  <mc:AlternateContent>
    <mc:Choice Requires="p14">
      <p:transition spd="slow" p14:dur="2000"/>
    </mc:Choice>
    <mc:Fallback>
      <p:transition spd="slow"/>
    </mc:Fallback>
  </mc:AlternateContent>
</p:sld>
</file>

<file path=ppt/slides/slide6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4" name="TextShape 1"/>
          <p:cNvSpPr txBox="1"/>
          <p:nvPr/>
        </p:nvSpPr>
        <p:spPr>
          <a:xfrm>
            <a:off x="468000" y="0"/>
            <a:ext cx="8229240" cy="1142640"/>
          </a:xfrm>
          <a:prstGeom prst="rect">
            <a:avLst/>
          </a:prstGeom>
          <a:noFill/>
          <a:ln>
            <a:noFill/>
          </a:ln>
        </p:spPr>
        <p:txBody>
          <a:bodyPr anchor="ctr">
            <a:noAutofit/>
          </a:bodyPr>
          <a:p>
            <a:pPr>
              <a:lnSpc>
                <a:spcPct val="100000"/>
              </a:lnSpc>
            </a:pPr>
            <a:r>
              <a:rPr b="1" lang="fr-FR" sz="2400" spc="-1" strike="noStrike" cap="all">
                <a:solidFill>
                  <a:srgbClr val="ffffff"/>
                </a:solidFill>
                <a:latin typeface="Calibri"/>
              </a:rPr>
              <a:t>3. L’analyse financière des comptes consolidés</a:t>
            </a:r>
            <a:endParaRPr b="0" lang="fr-FR" sz="2400" spc="-1" strike="noStrike">
              <a:solidFill>
                <a:srgbClr val="000000"/>
              </a:solidFill>
              <a:latin typeface="Calibri"/>
            </a:endParaRPr>
          </a:p>
        </p:txBody>
      </p:sp>
      <p:sp>
        <p:nvSpPr>
          <p:cNvPr id="395" name="TextShape 2"/>
          <p:cNvSpPr txBox="1"/>
          <p:nvPr/>
        </p:nvSpPr>
        <p:spPr>
          <a:xfrm>
            <a:off x="3124080" y="6480000"/>
            <a:ext cx="4975920" cy="359640"/>
          </a:xfrm>
          <a:prstGeom prst="rect">
            <a:avLst/>
          </a:prstGeom>
          <a:noFill/>
          <a:ln>
            <a:noFill/>
          </a:ln>
        </p:spPr>
        <p:txBody>
          <a:bodyPr>
            <a:noAutofit/>
          </a:bodyPr>
          <a:p>
            <a:endParaRPr b="0" lang="fr-FR" sz="2400" spc="-1" strike="noStrike">
              <a:latin typeface="Times New Roman"/>
            </a:endParaRPr>
          </a:p>
        </p:txBody>
      </p:sp>
      <p:sp>
        <p:nvSpPr>
          <p:cNvPr id="396" name="TextShape 3"/>
          <p:cNvSpPr txBox="1"/>
          <p:nvPr/>
        </p:nvSpPr>
        <p:spPr>
          <a:xfrm>
            <a:off x="8172360" y="6480000"/>
            <a:ext cx="539640" cy="359640"/>
          </a:xfrm>
          <a:prstGeom prst="rect">
            <a:avLst/>
          </a:prstGeom>
          <a:noFill/>
          <a:ln>
            <a:noFill/>
          </a:ln>
        </p:spPr>
        <p:txBody>
          <a:bodyPr lIns="90000" rIns="90000" tIns="45000" bIns="45000">
            <a:noAutofit/>
          </a:bodyPr>
          <a:p>
            <a:pPr algn="r">
              <a:lnSpc>
                <a:spcPct val="100000"/>
              </a:lnSpc>
            </a:pPr>
            <a:fld id="{31F30EF3-88D1-4F11-828F-8B62CE76D0C6}" type="slidenum">
              <a:rPr b="0" lang="fr-FR" sz="900" spc="-1" strike="noStrike">
                <a:solidFill>
                  <a:srgbClr val="205aa7"/>
                </a:solidFill>
                <a:latin typeface="Calibri"/>
              </a:rPr>
              <a:t>&lt;number&gt;</a:t>
            </a:fld>
            <a:endParaRPr b="0" lang="fr-FR" sz="900" spc="-1" strike="noStrike">
              <a:latin typeface="Times New Roman"/>
            </a:endParaRPr>
          </a:p>
        </p:txBody>
      </p:sp>
      <p:sp>
        <p:nvSpPr>
          <p:cNvPr id="397" name="TextShape 4"/>
          <p:cNvSpPr txBox="1"/>
          <p:nvPr/>
        </p:nvSpPr>
        <p:spPr>
          <a:xfrm>
            <a:off x="468000" y="1440000"/>
            <a:ext cx="8229240" cy="4525560"/>
          </a:xfrm>
          <a:prstGeom prst="rect">
            <a:avLst/>
          </a:prstGeom>
          <a:noFill/>
          <a:ln>
            <a:noFill/>
          </a:ln>
        </p:spPr>
        <p:txBody>
          <a:bodyPr>
            <a:normAutofit/>
          </a:bodyPr>
          <a:p>
            <a:pPr algn="ctr">
              <a:lnSpc>
                <a:spcPct val="100000"/>
              </a:lnSpc>
              <a:spcBef>
                <a:spcPts val="400"/>
              </a:spcBef>
              <a:tabLst>
                <a:tab algn="l" pos="0"/>
              </a:tabLst>
            </a:pPr>
            <a:r>
              <a:rPr b="1" lang="fr-FR" sz="2000" spc="-1" strike="noStrike">
                <a:solidFill>
                  <a:srgbClr val="205aa7"/>
                </a:solidFill>
                <a:latin typeface="Calibri"/>
              </a:rPr>
              <a:t>Étape 3 – Analyse des performances</a:t>
            </a:r>
            <a:endParaRPr b="0" lang="fr-FR" sz="2000" spc="-1" strike="noStrike">
              <a:solidFill>
                <a:srgbClr val="205aa7"/>
              </a:solidFill>
              <a:latin typeface="Calibri"/>
            </a:endParaRPr>
          </a:p>
          <a:p>
            <a:pPr algn="ctr">
              <a:lnSpc>
                <a:spcPct val="100000"/>
              </a:lnSpc>
              <a:spcBef>
                <a:spcPts val="201"/>
              </a:spcBef>
              <a:tabLst>
                <a:tab algn="l" pos="0"/>
              </a:tabLst>
            </a:pPr>
            <a:endParaRPr b="0" lang="fr-FR" sz="2000" spc="-1" strike="noStrike">
              <a:solidFill>
                <a:srgbClr val="205aa7"/>
              </a:solidFill>
              <a:latin typeface="Calibri"/>
            </a:endParaRPr>
          </a:p>
          <a:p>
            <a:pPr marL="114480" algn="ctr">
              <a:lnSpc>
                <a:spcPct val="100000"/>
              </a:lnSpc>
              <a:spcBef>
                <a:spcPts val="400"/>
              </a:spcBef>
              <a:tabLst>
                <a:tab algn="l" pos="0"/>
              </a:tabLst>
            </a:pPr>
            <a:r>
              <a:rPr b="0" lang="fr-FR" sz="2000" spc="-1" strike="noStrike" u="sng">
                <a:solidFill>
                  <a:srgbClr val="205aa7"/>
                </a:solidFill>
                <a:uFillTx/>
                <a:latin typeface="Calibri"/>
              </a:rPr>
              <a:t>Objectifs de cette étape</a:t>
            </a:r>
            <a:endParaRPr b="0" lang="fr-FR" sz="2000" spc="-1" strike="noStrike">
              <a:solidFill>
                <a:srgbClr val="205aa7"/>
              </a:solidFill>
              <a:latin typeface="Calibri"/>
            </a:endParaRPr>
          </a:p>
          <a:p>
            <a:pPr marL="571680" indent="-456840" algn="just">
              <a:lnSpc>
                <a:spcPct val="100000"/>
              </a:lnSpc>
              <a:spcBef>
                <a:spcPts val="400"/>
              </a:spcBef>
              <a:buClr>
                <a:srgbClr val="205aa7"/>
              </a:buClr>
              <a:buFont typeface="Wingdings" charset="2"/>
              <a:buChar char=""/>
              <a:tabLst>
                <a:tab algn="l" pos="0"/>
              </a:tabLst>
            </a:pPr>
            <a:r>
              <a:rPr b="0" lang="fr-FR" sz="2000" spc="-1" strike="noStrike">
                <a:solidFill>
                  <a:srgbClr val="205aa7"/>
                </a:solidFill>
                <a:latin typeface="Calibri"/>
              </a:rPr>
              <a:t>Évaluer la rentabilité récurrente du groupe en ajustant les composantes du résultat : notion de résultat net récurrent (analyse statique des performances).</a:t>
            </a:r>
            <a:endParaRPr b="0" lang="fr-FR" sz="2000" spc="-1" strike="noStrike">
              <a:solidFill>
                <a:srgbClr val="205aa7"/>
              </a:solidFill>
              <a:latin typeface="Calibri"/>
            </a:endParaRPr>
          </a:p>
          <a:p>
            <a:pPr marL="571680" indent="-456840" algn="just">
              <a:lnSpc>
                <a:spcPct val="100000"/>
              </a:lnSpc>
              <a:spcBef>
                <a:spcPts val="400"/>
              </a:spcBef>
              <a:buClr>
                <a:srgbClr val="205aa7"/>
              </a:buClr>
              <a:buFont typeface="Wingdings" charset="2"/>
              <a:buChar char=""/>
              <a:tabLst>
                <a:tab algn="l" pos="0"/>
              </a:tabLst>
            </a:pPr>
            <a:r>
              <a:rPr b="0" lang="fr-FR" sz="2000" spc="-1" strike="noStrike">
                <a:solidFill>
                  <a:srgbClr val="205aa7"/>
                </a:solidFill>
                <a:latin typeface="Calibri"/>
              </a:rPr>
              <a:t>Examiner les tendances de fond ou structurelles pour anticiper son évolution (analyse dynamique des performances)</a:t>
            </a:r>
            <a:endParaRPr b="0" lang="fr-FR" sz="2000" spc="-1" strike="noStrike">
              <a:solidFill>
                <a:srgbClr val="205aa7"/>
              </a:solidFill>
              <a:latin typeface="Calibri"/>
            </a:endParaRPr>
          </a:p>
        </p:txBody>
      </p:sp>
    </p:spTree>
  </p:cSld>
  <mc:AlternateContent>
    <mc:Choice Requires="p14">
      <p:transition spd="slow" p14:dur="2000"/>
    </mc:Choice>
    <mc:Fallback>
      <p:transition spd="slow"/>
    </mc:Fallback>
  </mc:AlternateContent>
</p:sld>
</file>

<file path=ppt/slides/slide6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8" name="TextShape 1"/>
          <p:cNvSpPr txBox="1"/>
          <p:nvPr/>
        </p:nvSpPr>
        <p:spPr>
          <a:xfrm>
            <a:off x="468000" y="0"/>
            <a:ext cx="8229240" cy="1142640"/>
          </a:xfrm>
          <a:prstGeom prst="rect">
            <a:avLst/>
          </a:prstGeom>
          <a:noFill/>
          <a:ln>
            <a:noFill/>
          </a:ln>
        </p:spPr>
        <p:txBody>
          <a:bodyPr anchor="ctr">
            <a:noAutofit/>
          </a:bodyPr>
          <a:p>
            <a:pPr>
              <a:lnSpc>
                <a:spcPct val="100000"/>
              </a:lnSpc>
            </a:pPr>
            <a:r>
              <a:rPr b="1" lang="fr-FR" sz="2400" spc="-1" strike="noStrike" cap="all">
                <a:solidFill>
                  <a:srgbClr val="ffffff"/>
                </a:solidFill>
                <a:latin typeface="Calibri"/>
              </a:rPr>
              <a:t>3. L’analyse financière des comptes consolidés</a:t>
            </a:r>
            <a:endParaRPr b="0" lang="fr-FR" sz="2400" spc="-1" strike="noStrike">
              <a:solidFill>
                <a:srgbClr val="000000"/>
              </a:solidFill>
              <a:latin typeface="Calibri"/>
            </a:endParaRPr>
          </a:p>
        </p:txBody>
      </p:sp>
      <p:sp>
        <p:nvSpPr>
          <p:cNvPr id="399" name="TextShape 2"/>
          <p:cNvSpPr txBox="1"/>
          <p:nvPr/>
        </p:nvSpPr>
        <p:spPr>
          <a:xfrm>
            <a:off x="3124080" y="6480000"/>
            <a:ext cx="4975920" cy="359640"/>
          </a:xfrm>
          <a:prstGeom prst="rect">
            <a:avLst/>
          </a:prstGeom>
          <a:noFill/>
          <a:ln>
            <a:noFill/>
          </a:ln>
        </p:spPr>
        <p:txBody>
          <a:bodyPr>
            <a:noAutofit/>
          </a:bodyPr>
          <a:p>
            <a:endParaRPr b="0" lang="fr-FR" sz="2400" spc="-1" strike="noStrike">
              <a:latin typeface="Times New Roman"/>
            </a:endParaRPr>
          </a:p>
        </p:txBody>
      </p:sp>
      <p:sp>
        <p:nvSpPr>
          <p:cNvPr id="400" name="TextShape 3"/>
          <p:cNvSpPr txBox="1"/>
          <p:nvPr/>
        </p:nvSpPr>
        <p:spPr>
          <a:xfrm>
            <a:off x="8172360" y="6480000"/>
            <a:ext cx="539640" cy="359640"/>
          </a:xfrm>
          <a:prstGeom prst="rect">
            <a:avLst/>
          </a:prstGeom>
          <a:noFill/>
          <a:ln>
            <a:noFill/>
          </a:ln>
        </p:spPr>
        <p:txBody>
          <a:bodyPr lIns="90000" rIns="90000" tIns="45000" bIns="45000">
            <a:noAutofit/>
          </a:bodyPr>
          <a:p>
            <a:pPr algn="r">
              <a:lnSpc>
                <a:spcPct val="100000"/>
              </a:lnSpc>
            </a:pPr>
            <a:fld id="{4B060616-B016-4736-9C01-1983A7B8F9C3}" type="slidenum">
              <a:rPr b="0" lang="fr-FR" sz="900" spc="-1" strike="noStrike">
                <a:solidFill>
                  <a:srgbClr val="205aa7"/>
                </a:solidFill>
                <a:latin typeface="Calibri"/>
              </a:rPr>
              <a:t>&lt;number&gt;</a:t>
            </a:fld>
            <a:endParaRPr b="0" lang="fr-FR" sz="900" spc="-1" strike="noStrike">
              <a:latin typeface="Times New Roman"/>
            </a:endParaRPr>
          </a:p>
        </p:txBody>
      </p:sp>
      <p:sp>
        <p:nvSpPr>
          <p:cNvPr id="401" name="TextShape 4"/>
          <p:cNvSpPr txBox="1"/>
          <p:nvPr/>
        </p:nvSpPr>
        <p:spPr>
          <a:xfrm>
            <a:off x="468000" y="1484640"/>
            <a:ext cx="8229240" cy="4525560"/>
          </a:xfrm>
          <a:prstGeom prst="rect">
            <a:avLst/>
          </a:prstGeom>
          <a:noFill/>
          <a:ln>
            <a:noFill/>
          </a:ln>
        </p:spPr>
        <p:txBody>
          <a:bodyPr>
            <a:normAutofit fontScale="35000"/>
          </a:bodyPr>
          <a:p>
            <a:pPr algn="ctr">
              <a:lnSpc>
                <a:spcPct val="100000"/>
              </a:lnSpc>
              <a:spcBef>
                <a:spcPts val="519"/>
              </a:spcBef>
              <a:tabLst>
                <a:tab algn="l" pos="0"/>
              </a:tabLst>
            </a:pPr>
            <a:r>
              <a:rPr b="1" lang="fr-FR" sz="2600" spc="-1" strike="noStrike">
                <a:solidFill>
                  <a:srgbClr val="205aa7"/>
                </a:solidFill>
                <a:latin typeface="Calibri"/>
              </a:rPr>
              <a:t>Étape 3 – Analyse des performances</a:t>
            </a:r>
            <a:endParaRPr b="0" lang="fr-FR" sz="2600" spc="-1" strike="noStrike">
              <a:solidFill>
                <a:srgbClr val="205aa7"/>
              </a:solidFill>
              <a:latin typeface="Calibri"/>
            </a:endParaRPr>
          </a:p>
          <a:p>
            <a:pPr algn="ctr">
              <a:lnSpc>
                <a:spcPct val="100000"/>
              </a:lnSpc>
              <a:spcBef>
                <a:spcPts val="261"/>
              </a:spcBef>
              <a:tabLst>
                <a:tab algn="l" pos="0"/>
              </a:tabLst>
            </a:pPr>
            <a:endParaRPr b="0" lang="fr-FR" sz="2600" spc="-1" strike="noStrike">
              <a:solidFill>
                <a:srgbClr val="205aa7"/>
              </a:solidFill>
              <a:latin typeface="Calibri"/>
            </a:endParaRPr>
          </a:p>
          <a:p>
            <a:pPr algn="ctr">
              <a:lnSpc>
                <a:spcPct val="100000"/>
              </a:lnSpc>
              <a:spcBef>
                <a:spcPts val="519"/>
              </a:spcBef>
              <a:tabLst>
                <a:tab algn="l" pos="0"/>
              </a:tabLst>
            </a:pPr>
            <a:r>
              <a:rPr b="0" lang="fr-FR" sz="2600" spc="-1" strike="noStrike" u="sng">
                <a:solidFill>
                  <a:srgbClr val="205aa7"/>
                </a:solidFill>
                <a:uFillTx/>
                <a:latin typeface="Calibri"/>
              </a:rPr>
              <a:t>L’indicateur clés de la performance</a:t>
            </a:r>
            <a:endParaRPr b="0" lang="fr-FR" sz="2600" spc="-1" strike="noStrike">
              <a:solidFill>
                <a:srgbClr val="205aa7"/>
              </a:solidFill>
              <a:latin typeface="Calibri"/>
            </a:endParaRPr>
          </a:p>
          <a:p>
            <a:pPr marL="252000" indent="-251640" algn="just">
              <a:lnSpc>
                <a:spcPct val="100000"/>
              </a:lnSpc>
              <a:spcBef>
                <a:spcPts val="519"/>
              </a:spcBef>
              <a:buClr>
                <a:srgbClr val="205aa7"/>
              </a:buClr>
              <a:buFont typeface="Wingdings" charset="2"/>
              <a:buChar char=""/>
              <a:tabLst>
                <a:tab algn="l" pos="0"/>
              </a:tabLst>
            </a:pPr>
            <a:r>
              <a:rPr b="0" lang="fr-FR" sz="2600" spc="-1" strike="noStrike">
                <a:solidFill>
                  <a:srgbClr val="205aa7"/>
                </a:solidFill>
                <a:latin typeface="Calibri"/>
              </a:rPr>
              <a:t>Conserver que les </a:t>
            </a:r>
            <a:r>
              <a:rPr b="1" lang="fr-FR" sz="2600" spc="-1" strike="noStrike">
                <a:solidFill>
                  <a:srgbClr val="205aa7"/>
                </a:solidFill>
                <a:latin typeface="Calibri"/>
              </a:rPr>
              <a:t>produits</a:t>
            </a:r>
            <a:r>
              <a:rPr b="0" lang="fr-FR" sz="2600" spc="-1" strike="noStrike">
                <a:solidFill>
                  <a:srgbClr val="205aa7"/>
                </a:solidFill>
                <a:latin typeface="Calibri"/>
              </a:rPr>
              <a:t> </a:t>
            </a:r>
            <a:r>
              <a:rPr b="1" lang="fr-FR" sz="2600" spc="-1" strike="noStrike">
                <a:solidFill>
                  <a:srgbClr val="205aa7"/>
                </a:solidFill>
                <a:latin typeface="Calibri"/>
              </a:rPr>
              <a:t>et</a:t>
            </a:r>
            <a:r>
              <a:rPr b="0" lang="fr-FR" sz="2600" spc="-1" strike="noStrike">
                <a:solidFill>
                  <a:srgbClr val="205aa7"/>
                </a:solidFill>
                <a:latin typeface="Calibri"/>
              </a:rPr>
              <a:t> </a:t>
            </a:r>
            <a:r>
              <a:rPr b="1" lang="fr-FR" sz="2600" spc="-1" strike="noStrike">
                <a:solidFill>
                  <a:srgbClr val="205aa7"/>
                </a:solidFill>
                <a:latin typeface="Calibri"/>
              </a:rPr>
              <a:t>les</a:t>
            </a:r>
            <a:r>
              <a:rPr b="0" lang="fr-FR" sz="2600" spc="-1" strike="noStrike">
                <a:solidFill>
                  <a:srgbClr val="205aa7"/>
                </a:solidFill>
                <a:latin typeface="Calibri"/>
              </a:rPr>
              <a:t> </a:t>
            </a:r>
            <a:r>
              <a:rPr b="1" lang="fr-FR" sz="2600" spc="-1" strike="noStrike">
                <a:solidFill>
                  <a:srgbClr val="205aa7"/>
                </a:solidFill>
                <a:latin typeface="Calibri"/>
              </a:rPr>
              <a:t>charges « récurrents »</a:t>
            </a:r>
            <a:r>
              <a:rPr b="0" lang="fr-FR" sz="2600" spc="-1" strike="noStrike">
                <a:solidFill>
                  <a:srgbClr val="205aa7"/>
                </a:solidFill>
                <a:latin typeface="Calibri"/>
              </a:rPr>
              <a:t>. Des éléments du résultat exceptionnel peuvent avoir un caractère de récurrence (plus-values de cession, charges de restructuration…). À l’inverse, des éléments figurant en exploitation ou dans le résultat financier peuvent être non récurrents (dotation aux provisions, dépréciation de titres…).</a:t>
            </a:r>
            <a:endParaRPr b="0" lang="fr-FR" sz="2600" spc="-1" strike="noStrike">
              <a:solidFill>
                <a:srgbClr val="205aa7"/>
              </a:solidFill>
              <a:latin typeface="Calibri"/>
            </a:endParaRPr>
          </a:p>
          <a:p>
            <a:pPr marL="252000" indent="-251640" algn="just">
              <a:lnSpc>
                <a:spcPct val="100000"/>
              </a:lnSpc>
              <a:spcBef>
                <a:spcPts val="519"/>
              </a:spcBef>
              <a:buClr>
                <a:srgbClr val="205aa7"/>
              </a:buClr>
              <a:buFont typeface="Wingdings" charset="2"/>
              <a:buChar char=""/>
              <a:tabLst>
                <a:tab algn="l" pos="0"/>
              </a:tabLst>
            </a:pPr>
            <a:r>
              <a:rPr b="0" lang="fr-FR" sz="2600" spc="-1" strike="noStrike">
                <a:solidFill>
                  <a:srgbClr val="205aa7"/>
                </a:solidFill>
                <a:latin typeface="Calibri"/>
              </a:rPr>
              <a:t>La dotation aux amortissements (ou la reprise) des écarts d’acquisition et tout élément à caractère exceptionnel sont systématiquement écartés.</a:t>
            </a:r>
            <a:endParaRPr b="0" lang="fr-FR" sz="2600" spc="-1" strike="noStrike">
              <a:solidFill>
                <a:srgbClr val="205aa7"/>
              </a:solidFill>
              <a:latin typeface="Calibri"/>
            </a:endParaRPr>
          </a:p>
          <a:p>
            <a:pPr marL="252000" indent="-251640" algn="just">
              <a:lnSpc>
                <a:spcPct val="100000"/>
              </a:lnSpc>
              <a:spcBef>
                <a:spcPts val="519"/>
              </a:spcBef>
              <a:buClr>
                <a:srgbClr val="205aa7"/>
              </a:buClr>
              <a:buFont typeface="Wingdings" charset="2"/>
              <a:buChar char=""/>
              <a:tabLst>
                <a:tab algn="l" pos="0"/>
              </a:tabLst>
            </a:pPr>
            <a:r>
              <a:rPr b="0" lang="fr-FR" sz="2600" spc="-1" strike="noStrike">
                <a:solidFill>
                  <a:srgbClr val="205aa7"/>
                </a:solidFill>
                <a:latin typeface="Calibri"/>
              </a:rPr>
              <a:t>L’impôt effectif applicable au groupe est pris en compte.</a:t>
            </a:r>
            <a:endParaRPr b="0" lang="fr-FR" sz="2600" spc="-1" strike="noStrike">
              <a:solidFill>
                <a:srgbClr val="205aa7"/>
              </a:solidFill>
              <a:latin typeface="Calibri"/>
            </a:endParaRPr>
          </a:p>
          <a:p>
            <a:pPr algn="just">
              <a:lnSpc>
                <a:spcPct val="100000"/>
              </a:lnSpc>
              <a:spcBef>
                <a:spcPts val="519"/>
              </a:spcBef>
              <a:tabLst>
                <a:tab algn="l" pos="0"/>
              </a:tabLst>
            </a:pPr>
            <a:endParaRPr b="0" lang="fr-FR" sz="2600" spc="-1" strike="noStrike">
              <a:solidFill>
                <a:srgbClr val="205aa7"/>
              </a:solidFill>
              <a:latin typeface="Calibri"/>
            </a:endParaRPr>
          </a:p>
          <a:p>
            <a:pPr marL="114480" algn="ctr">
              <a:lnSpc>
                <a:spcPct val="100000"/>
              </a:lnSpc>
              <a:spcBef>
                <a:spcPts val="519"/>
              </a:spcBef>
              <a:tabLst>
                <a:tab algn="l" pos="0"/>
              </a:tabLst>
            </a:pPr>
            <a:r>
              <a:rPr b="1" lang="fr-FR" sz="2600" spc="-1" strike="noStrike">
                <a:solidFill>
                  <a:srgbClr val="205aa7"/>
                </a:solidFill>
                <a:latin typeface="Wingdings"/>
              </a:rPr>
              <a:t></a:t>
            </a:r>
            <a:r>
              <a:rPr b="1" lang="fr-FR" sz="2600" spc="-1" strike="noStrike">
                <a:solidFill>
                  <a:srgbClr val="205aa7"/>
                </a:solidFill>
                <a:latin typeface="Calibri"/>
              </a:rPr>
              <a:t> </a:t>
            </a:r>
            <a:r>
              <a:rPr b="1" lang="fr-FR" sz="2600" spc="-1" strike="noStrike">
                <a:solidFill>
                  <a:srgbClr val="205aa7"/>
                </a:solidFill>
                <a:latin typeface="Calibri"/>
              </a:rPr>
              <a:t>Approximation du calcul : RNR = RCAI net de la charge d’impôt</a:t>
            </a:r>
            <a:endParaRPr b="0" lang="fr-FR" sz="2600" spc="-1" strike="noStrike">
              <a:solidFill>
                <a:srgbClr val="205aa7"/>
              </a:solidFill>
              <a:latin typeface="Calibri"/>
            </a:endParaRPr>
          </a:p>
          <a:p>
            <a:pPr marL="114480" algn="ctr">
              <a:lnSpc>
                <a:spcPct val="100000"/>
              </a:lnSpc>
              <a:spcBef>
                <a:spcPts val="519"/>
              </a:spcBef>
              <a:tabLst>
                <a:tab algn="l" pos="0"/>
              </a:tabLst>
            </a:pPr>
            <a:r>
              <a:rPr b="1" lang="fr-FR" sz="2600" spc="-1" strike="noStrike">
                <a:solidFill>
                  <a:srgbClr val="205aa7"/>
                </a:solidFill>
                <a:latin typeface="Calibri"/>
              </a:rPr>
              <a:t>(3/4 * RCAI)</a:t>
            </a:r>
            <a:endParaRPr b="0" lang="fr-FR" sz="2600" spc="-1" strike="noStrike">
              <a:solidFill>
                <a:srgbClr val="205aa7"/>
              </a:solidFill>
              <a:latin typeface="Calibri"/>
            </a:endParaRPr>
          </a:p>
          <a:p>
            <a:pPr>
              <a:lnSpc>
                <a:spcPct val="100000"/>
              </a:lnSpc>
              <a:spcBef>
                <a:spcPts val="519"/>
              </a:spcBef>
              <a:tabLst>
                <a:tab algn="l" pos="0"/>
              </a:tabLst>
            </a:pPr>
            <a:endParaRPr b="0" lang="fr-FR" sz="2600" spc="-1" strike="noStrike">
              <a:solidFill>
                <a:srgbClr val="205aa7"/>
              </a:solidFill>
              <a:latin typeface="Calibri"/>
            </a:endParaRPr>
          </a:p>
          <a:p>
            <a:pPr>
              <a:lnSpc>
                <a:spcPct val="100000"/>
              </a:lnSpc>
              <a:spcBef>
                <a:spcPts val="519"/>
              </a:spcBef>
              <a:tabLst>
                <a:tab algn="l" pos="0"/>
              </a:tabLst>
            </a:pPr>
            <a:endParaRPr b="0" lang="fr-FR" sz="2600" spc="-1" strike="noStrike">
              <a:solidFill>
                <a:srgbClr val="205aa7"/>
              </a:solidFill>
              <a:latin typeface="Calibri"/>
            </a:endParaRPr>
          </a:p>
          <a:p>
            <a:pPr>
              <a:lnSpc>
                <a:spcPct val="100000"/>
              </a:lnSpc>
              <a:spcBef>
                <a:spcPts val="519"/>
              </a:spcBef>
              <a:tabLst>
                <a:tab algn="l" pos="0"/>
              </a:tabLst>
            </a:pPr>
            <a:endParaRPr b="0" lang="fr-FR" sz="2600" spc="-1" strike="noStrike">
              <a:solidFill>
                <a:srgbClr val="205aa7"/>
              </a:solidFill>
              <a:latin typeface="Calibri"/>
            </a:endParaRPr>
          </a:p>
        </p:txBody>
      </p:sp>
    </p:spTree>
  </p:cSld>
  <mc:AlternateContent>
    <mc:Choice Requires="p14">
      <p:transition spd="slow" p14:dur="2000"/>
    </mc:Choice>
    <mc:Fallback>
      <p:transition spd="slow"/>
    </mc:Fallback>
  </mc:AlternateContent>
</p:sld>
</file>

<file path=ppt/slides/slide6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2" name="TextShape 1"/>
          <p:cNvSpPr txBox="1"/>
          <p:nvPr/>
        </p:nvSpPr>
        <p:spPr>
          <a:xfrm>
            <a:off x="468000" y="0"/>
            <a:ext cx="8229240" cy="1142640"/>
          </a:xfrm>
          <a:prstGeom prst="rect">
            <a:avLst/>
          </a:prstGeom>
          <a:noFill/>
          <a:ln>
            <a:noFill/>
          </a:ln>
        </p:spPr>
        <p:txBody>
          <a:bodyPr anchor="ctr">
            <a:noAutofit/>
          </a:bodyPr>
          <a:p>
            <a:pPr>
              <a:lnSpc>
                <a:spcPct val="100000"/>
              </a:lnSpc>
            </a:pPr>
            <a:r>
              <a:rPr b="1" lang="fr-FR" sz="2400" spc="-1" strike="noStrike" cap="all">
                <a:solidFill>
                  <a:srgbClr val="ffffff"/>
                </a:solidFill>
                <a:latin typeface="Calibri"/>
              </a:rPr>
              <a:t>3. L’analyse financière des comptes consolidés</a:t>
            </a:r>
            <a:endParaRPr b="0" lang="fr-FR" sz="2400" spc="-1" strike="noStrike">
              <a:solidFill>
                <a:srgbClr val="000000"/>
              </a:solidFill>
              <a:latin typeface="Calibri"/>
            </a:endParaRPr>
          </a:p>
        </p:txBody>
      </p:sp>
      <p:sp>
        <p:nvSpPr>
          <p:cNvPr id="403" name="TextShape 2"/>
          <p:cNvSpPr txBox="1"/>
          <p:nvPr/>
        </p:nvSpPr>
        <p:spPr>
          <a:xfrm>
            <a:off x="3124080" y="6480000"/>
            <a:ext cx="4975920" cy="359640"/>
          </a:xfrm>
          <a:prstGeom prst="rect">
            <a:avLst/>
          </a:prstGeom>
          <a:noFill/>
          <a:ln>
            <a:noFill/>
          </a:ln>
        </p:spPr>
        <p:txBody>
          <a:bodyPr>
            <a:noAutofit/>
          </a:bodyPr>
          <a:p>
            <a:endParaRPr b="0" lang="fr-FR" sz="2400" spc="-1" strike="noStrike">
              <a:latin typeface="Times New Roman"/>
            </a:endParaRPr>
          </a:p>
        </p:txBody>
      </p:sp>
      <p:sp>
        <p:nvSpPr>
          <p:cNvPr id="404" name="TextShape 3"/>
          <p:cNvSpPr txBox="1"/>
          <p:nvPr/>
        </p:nvSpPr>
        <p:spPr>
          <a:xfrm>
            <a:off x="8172360" y="6480000"/>
            <a:ext cx="539640" cy="359640"/>
          </a:xfrm>
          <a:prstGeom prst="rect">
            <a:avLst/>
          </a:prstGeom>
          <a:noFill/>
          <a:ln>
            <a:noFill/>
          </a:ln>
        </p:spPr>
        <p:txBody>
          <a:bodyPr lIns="90000" rIns="90000" tIns="45000" bIns="45000">
            <a:noAutofit/>
          </a:bodyPr>
          <a:p>
            <a:pPr algn="r">
              <a:lnSpc>
                <a:spcPct val="100000"/>
              </a:lnSpc>
            </a:pPr>
            <a:fld id="{7736871A-2D3E-4617-BA3F-8BCCBB97E71B}" type="slidenum">
              <a:rPr b="0" lang="fr-FR" sz="900" spc="-1" strike="noStrike">
                <a:solidFill>
                  <a:srgbClr val="205aa7"/>
                </a:solidFill>
                <a:latin typeface="Calibri"/>
              </a:rPr>
              <a:t>&lt;number&gt;</a:t>
            </a:fld>
            <a:endParaRPr b="0" lang="fr-FR" sz="900" spc="-1" strike="noStrike">
              <a:latin typeface="Times New Roman"/>
            </a:endParaRPr>
          </a:p>
        </p:txBody>
      </p:sp>
      <p:sp>
        <p:nvSpPr>
          <p:cNvPr id="405" name="TextShape 4"/>
          <p:cNvSpPr txBox="1"/>
          <p:nvPr/>
        </p:nvSpPr>
        <p:spPr>
          <a:xfrm>
            <a:off x="468000" y="1440000"/>
            <a:ext cx="8229240" cy="4525560"/>
          </a:xfrm>
          <a:prstGeom prst="rect">
            <a:avLst/>
          </a:prstGeom>
          <a:noFill/>
          <a:ln>
            <a:noFill/>
          </a:ln>
        </p:spPr>
        <p:txBody>
          <a:bodyPr>
            <a:normAutofit/>
          </a:bodyPr>
          <a:p>
            <a:pPr algn="ctr">
              <a:lnSpc>
                <a:spcPct val="100000"/>
              </a:lnSpc>
              <a:spcBef>
                <a:spcPts val="400"/>
              </a:spcBef>
              <a:tabLst>
                <a:tab algn="l" pos="0"/>
              </a:tabLst>
            </a:pPr>
            <a:r>
              <a:rPr b="1" lang="fr-FR" sz="2000" spc="-1" strike="noStrike">
                <a:solidFill>
                  <a:srgbClr val="205aa7"/>
                </a:solidFill>
                <a:latin typeface="Calibri"/>
              </a:rPr>
              <a:t>Étape 3 – Analyse des performances</a:t>
            </a:r>
            <a:endParaRPr b="0" lang="fr-FR" sz="2000" spc="-1" strike="noStrike">
              <a:solidFill>
                <a:srgbClr val="205aa7"/>
              </a:solidFill>
              <a:latin typeface="Calibri"/>
            </a:endParaRPr>
          </a:p>
          <a:p>
            <a:pPr algn="ctr">
              <a:lnSpc>
                <a:spcPct val="100000"/>
              </a:lnSpc>
              <a:spcBef>
                <a:spcPts val="221"/>
              </a:spcBef>
              <a:tabLst>
                <a:tab algn="l" pos="0"/>
              </a:tabLst>
            </a:pPr>
            <a:endParaRPr b="0" lang="fr-FR" sz="2000" spc="-1" strike="noStrike">
              <a:solidFill>
                <a:srgbClr val="205aa7"/>
              </a:solidFill>
              <a:latin typeface="Calibri"/>
            </a:endParaRPr>
          </a:p>
          <a:p>
            <a:pPr algn="ctr">
              <a:lnSpc>
                <a:spcPct val="100000"/>
              </a:lnSpc>
              <a:spcBef>
                <a:spcPts val="400"/>
              </a:spcBef>
              <a:tabLst>
                <a:tab algn="l" pos="0"/>
              </a:tabLst>
            </a:pPr>
            <a:r>
              <a:rPr b="0" lang="fr-FR" sz="2000" spc="-1" strike="noStrike" u="sng">
                <a:solidFill>
                  <a:srgbClr val="205aa7"/>
                </a:solidFill>
                <a:uFillTx/>
                <a:latin typeface="Calibri"/>
              </a:rPr>
              <a:t>Examen des tendances</a:t>
            </a:r>
            <a:endParaRPr b="0" lang="fr-FR" sz="2000" spc="-1" strike="noStrike">
              <a:solidFill>
                <a:srgbClr val="205aa7"/>
              </a:solidFill>
              <a:latin typeface="Calibri"/>
            </a:endParaRPr>
          </a:p>
          <a:p>
            <a:pPr marL="252000" indent="-251640" algn="just">
              <a:lnSpc>
                <a:spcPct val="100000"/>
              </a:lnSpc>
              <a:spcBef>
                <a:spcPts val="400"/>
              </a:spcBef>
              <a:buClr>
                <a:srgbClr val="205aa7"/>
              </a:buClr>
              <a:buFont typeface="Wingdings" charset="2"/>
              <a:buChar char=""/>
              <a:tabLst>
                <a:tab algn="l" pos="0"/>
              </a:tabLst>
            </a:pPr>
            <a:r>
              <a:rPr b="0" lang="fr-FR" sz="2000" spc="-1" strike="noStrike">
                <a:solidFill>
                  <a:srgbClr val="205aa7"/>
                </a:solidFill>
                <a:latin typeface="Calibri"/>
              </a:rPr>
              <a:t>Examen du profil du groupe :</a:t>
            </a:r>
            <a:endParaRPr b="0" lang="fr-FR" sz="2000" spc="-1" strike="noStrike">
              <a:solidFill>
                <a:srgbClr val="205aa7"/>
              </a:solidFill>
              <a:latin typeface="Calibri"/>
            </a:endParaRPr>
          </a:p>
          <a:p>
            <a:pPr lvl="1" marL="743040" indent="-285480" algn="just">
              <a:lnSpc>
                <a:spcPct val="100000"/>
              </a:lnSpc>
              <a:spcBef>
                <a:spcPts val="360"/>
              </a:spcBef>
              <a:buClr>
                <a:srgbClr val="205aa7"/>
              </a:buClr>
              <a:buFont typeface="Arial"/>
              <a:buChar char="–"/>
              <a:tabLst>
                <a:tab algn="l" pos="0"/>
              </a:tabLst>
            </a:pPr>
            <a:r>
              <a:rPr b="0" lang="fr-FR" sz="1800" spc="-1" strike="noStrike">
                <a:solidFill>
                  <a:srgbClr val="205aa7"/>
                </a:solidFill>
                <a:latin typeface="Calibri"/>
              </a:rPr>
              <a:t>Groupe à forte croissance = gestion des BFR ?</a:t>
            </a:r>
            <a:endParaRPr b="0" lang="fr-FR" sz="1800" spc="-1" strike="noStrike">
              <a:solidFill>
                <a:srgbClr val="595959"/>
              </a:solidFill>
              <a:latin typeface="Calibri"/>
            </a:endParaRPr>
          </a:p>
          <a:p>
            <a:pPr lvl="1" marL="743040" indent="-285480" algn="just">
              <a:lnSpc>
                <a:spcPct val="100000"/>
              </a:lnSpc>
              <a:spcBef>
                <a:spcPts val="360"/>
              </a:spcBef>
              <a:buClr>
                <a:srgbClr val="205aa7"/>
              </a:buClr>
              <a:buFont typeface="Arial"/>
              <a:buChar char="–"/>
              <a:tabLst>
                <a:tab algn="l" pos="0"/>
              </a:tabLst>
            </a:pPr>
            <a:r>
              <a:rPr b="0" lang="fr-FR" sz="1800" spc="-1" strike="noStrike">
                <a:solidFill>
                  <a:srgbClr val="205aa7"/>
                </a:solidFill>
                <a:latin typeface="Calibri"/>
              </a:rPr>
              <a:t>Groupe opérant sur un marché mature = maîtrise des coûts ?</a:t>
            </a:r>
            <a:endParaRPr b="0" lang="fr-FR" sz="1800" spc="-1" strike="noStrike">
              <a:solidFill>
                <a:srgbClr val="595959"/>
              </a:solidFill>
              <a:latin typeface="Calibri"/>
            </a:endParaRPr>
          </a:p>
          <a:p>
            <a:pPr lvl="1" marL="743040" indent="-285480" algn="just">
              <a:lnSpc>
                <a:spcPct val="100000"/>
              </a:lnSpc>
              <a:spcBef>
                <a:spcPts val="360"/>
              </a:spcBef>
              <a:buClr>
                <a:srgbClr val="205aa7"/>
              </a:buClr>
              <a:buFont typeface="Arial"/>
              <a:buChar char="–"/>
              <a:tabLst>
                <a:tab algn="l" pos="0"/>
              </a:tabLst>
            </a:pPr>
            <a:r>
              <a:rPr b="0" lang="fr-FR" sz="1800" spc="-1" strike="noStrike">
                <a:solidFill>
                  <a:srgbClr val="205aa7"/>
                </a:solidFill>
                <a:latin typeface="Calibri"/>
              </a:rPr>
              <a:t>Groupe en perte de vitesse = capacité d’adaptation ? </a:t>
            </a:r>
            <a:endParaRPr b="0" lang="fr-FR" sz="1800" spc="-1" strike="noStrike">
              <a:solidFill>
                <a:srgbClr val="595959"/>
              </a:solidFill>
              <a:latin typeface="Calibri"/>
            </a:endParaRPr>
          </a:p>
          <a:p>
            <a:pPr lvl="1" marL="743040" indent="-285480" algn="just">
              <a:lnSpc>
                <a:spcPct val="100000"/>
              </a:lnSpc>
              <a:spcBef>
                <a:spcPts val="360"/>
              </a:spcBef>
              <a:buClr>
                <a:srgbClr val="205aa7"/>
              </a:buClr>
              <a:buFont typeface="Arial"/>
              <a:buChar char="–"/>
              <a:tabLst>
                <a:tab algn="l" pos="0"/>
              </a:tabLst>
            </a:pPr>
            <a:r>
              <a:rPr b="0" lang="fr-FR" sz="1800" spc="-1" strike="noStrike">
                <a:solidFill>
                  <a:srgbClr val="205aa7"/>
                </a:solidFill>
                <a:latin typeface="Calibri"/>
              </a:rPr>
              <a:t>Analyse au regard du point mort (couverture des charges fixes), décisions prises (restructuration en cours)…</a:t>
            </a:r>
            <a:endParaRPr b="0" lang="fr-FR" sz="1800" spc="-1" strike="noStrike">
              <a:solidFill>
                <a:srgbClr val="595959"/>
              </a:solidFill>
              <a:latin typeface="Calibri"/>
            </a:endParaRPr>
          </a:p>
          <a:p>
            <a:pPr marL="252000" indent="-251640" algn="just">
              <a:lnSpc>
                <a:spcPct val="100000"/>
              </a:lnSpc>
              <a:spcBef>
                <a:spcPts val="400"/>
              </a:spcBef>
              <a:buClr>
                <a:srgbClr val="205aa7"/>
              </a:buClr>
              <a:buFont typeface="Wingdings" charset="2"/>
              <a:buChar char=""/>
              <a:tabLst>
                <a:tab algn="l" pos="0"/>
              </a:tabLst>
            </a:pPr>
            <a:r>
              <a:rPr b="0" lang="fr-FR" sz="2000" spc="-1" strike="noStrike">
                <a:solidFill>
                  <a:srgbClr val="205aa7"/>
                </a:solidFill>
                <a:latin typeface="Calibri"/>
              </a:rPr>
              <a:t>Examen de l’origine de la variation de l’activité (analyse de l’impact de la variation du périmètre, du taux de change et de la croissance organique)</a:t>
            </a:r>
            <a:endParaRPr b="0" lang="fr-FR" sz="2000" spc="-1" strike="noStrike">
              <a:solidFill>
                <a:srgbClr val="205aa7"/>
              </a:solidFill>
              <a:latin typeface="Calibri"/>
            </a:endParaRPr>
          </a:p>
          <a:p>
            <a:pPr marL="252000" indent="-251640" algn="just">
              <a:lnSpc>
                <a:spcPct val="100000"/>
              </a:lnSpc>
              <a:spcBef>
                <a:spcPts val="400"/>
              </a:spcBef>
              <a:buClr>
                <a:srgbClr val="205aa7"/>
              </a:buClr>
              <a:buFont typeface="Wingdings" charset="2"/>
              <a:buChar char=""/>
              <a:tabLst>
                <a:tab algn="l" pos="0"/>
              </a:tabLst>
            </a:pPr>
            <a:r>
              <a:rPr b="0" lang="fr-FR" sz="2000" spc="-1" strike="noStrike">
                <a:solidFill>
                  <a:srgbClr val="205aa7"/>
                </a:solidFill>
                <a:latin typeface="Calibri"/>
              </a:rPr>
              <a:t>Comparaison avec les principaux concurrents</a:t>
            </a:r>
            <a:endParaRPr b="0" lang="fr-FR" sz="2000" spc="-1" strike="noStrike">
              <a:solidFill>
                <a:srgbClr val="205aa7"/>
              </a:solidFill>
              <a:latin typeface="Calibri"/>
            </a:endParaRPr>
          </a:p>
          <a:p>
            <a:pPr>
              <a:lnSpc>
                <a:spcPct val="100000"/>
              </a:lnSpc>
              <a:spcBef>
                <a:spcPts val="519"/>
              </a:spcBef>
              <a:tabLst>
                <a:tab algn="l" pos="0"/>
              </a:tabLst>
            </a:pPr>
            <a:endParaRPr b="0" lang="fr-FR" sz="2000" spc="-1" strike="noStrike">
              <a:solidFill>
                <a:srgbClr val="205aa7"/>
              </a:solidFill>
              <a:latin typeface="Calibri"/>
            </a:endParaRPr>
          </a:p>
        </p:txBody>
      </p:sp>
    </p:spTree>
  </p:cSld>
  <mc:AlternateContent>
    <mc:Choice Requires="p14">
      <p:transition spd="slow" p14:dur="2000"/>
    </mc:Choice>
    <mc:Fallback>
      <p:transition spd="slow"/>
    </mc:Fallback>
  </mc:AlternateContent>
</p:sld>
</file>

<file path=ppt/slides/slide6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6" name="TextShape 1"/>
          <p:cNvSpPr txBox="1"/>
          <p:nvPr/>
        </p:nvSpPr>
        <p:spPr>
          <a:xfrm>
            <a:off x="468000" y="0"/>
            <a:ext cx="8229240" cy="1142640"/>
          </a:xfrm>
          <a:prstGeom prst="rect">
            <a:avLst/>
          </a:prstGeom>
          <a:noFill/>
          <a:ln>
            <a:noFill/>
          </a:ln>
        </p:spPr>
        <p:txBody>
          <a:bodyPr anchor="ctr">
            <a:noAutofit/>
          </a:bodyPr>
          <a:p>
            <a:pPr>
              <a:lnSpc>
                <a:spcPct val="100000"/>
              </a:lnSpc>
            </a:pPr>
            <a:r>
              <a:rPr b="1" lang="fr-FR" sz="2400" spc="-1" strike="noStrike" cap="all">
                <a:solidFill>
                  <a:srgbClr val="ffffff"/>
                </a:solidFill>
                <a:latin typeface="Calibri"/>
              </a:rPr>
              <a:t>3. L’analyse financière des comptes consolidés</a:t>
            </a:r>
            <a:endParaRPr b="0" lang="fr-FR" sz="2400" spc="-1" strike="noStrike">
              <a:solidFill>
                <a:srgbClr val="000000"/>
              </a:solidFill>
              <a:latin typeface="Calibri"/>
            </a:endParaRPr>
          </a:p>
        </p:txBody>
      </p:sp>
      <p:sp>
        <p:nvSpPr>
          <p:cNvPr id="407" name="TextShape 2"/>
          <p:cNvSpPr txBox="1"/>
          <p:nvPr/>
        </p:nvSpPr>
        <p:spPr>
          <a:xfrm>
            <a:off x="3124080" y="6480000"/>
            <a:ext cx="4975920" cy="359640"/>
          </a:xfrm>
          <a:prstGeom prst="rect">
            <a:avLst/>
          </a:prstGeom>
          <a:noFill/>
          <a:ln>
            <a:noFill/>
          </a:ln>
        </p:spPr>
        <p:txBody>
          <a:bodyPr>
            <a:noAutofit/>
          </a:bodyPr>
          <a:p>
            <a:endParaRPr b="0" lang="fr-FR" sz="2400" spc="-1" strike="noStrike">
              <a:latin typeface="Times New Roman"/>
            </a:endParaRPr>
          </a:p>
        </p:txBody>
      </p:sp>
      <p:sp>
        <p:nvSpPr>
          <p:cNvPr id="408" name="TextShape 3"/>
          <p:cNvSpPr txBox="1"/>
          <p:nvPr/>
        </p:nvSpPr>
        <p:spPr>
          <a:xfrm>
            <a:off x="8172360" y="6480000"/>
            <a:ext cx="539640" cy="359640"/>
          </a:xfrm>
          <a:prstGeom prst="rect">
            <a:avLst/>
          </a:prstGeom>
          <a:noFill/>
          <a:ln>
            <a:noFill/>
          </a:ln>
        </p:spPr>
        <p:txBody>
          <a:bodyPr lIns="90000" rIns="90000" tIns="45000" bIns="45000">
            <a:noAutofit/>
          </a:bodyPr>
          <a:p>
            <a:pPr algn="r">
              <a:lnSpc>
                <a:spcPct val="100000"/>
              </a:lnSpc>
            </a:pPr>
            <a:fld id="{8C898D6F-B47F-45D1-8EA9-A3F858F89824}" type="slidenum">
              <a:rPr b="0" lang="fr-FR" sz="900" spc="-1" strike="noStrike">
                <a:solidFill>
                  <a:srgbClr val="205aa7"/>
                </a:solidFill>
                <a:latin typeface="Calibri"/>
              </a:rPr>
              <a:t>&lt;number&gt;</a:t>
            </a:fld>
            <a:endParaRPr b="0" lang="fr-FR" sz="900" spc="-1" strike="noStrike">
              <a:latin typeface="Times New Roman"/>
            </a:endParaRPr>
          </a:p>
        </p:txBody>
      </p:sp>
      <p:sp>
        <p:nvSpPr>
          <p:cNvPr id="409" name="TextShape 4"/>
          <p:cNvSpPr txBox="1"/>
          <p:nvPr/>
        </p:nvSpPr>
        <p:spPr>
          <a:xfrm>
            <a:off x="468000" y="1440000"/>
            <a:ext cx="8229240" cy="4525560"/>
          </a:xfrm>
          <a:prstGeom prst="rect">
            <a:avLst/>
          </a:prstGeom>
          <a:noFill/>
          <a:ln>
            <a:noFill/>
          </a:ln>
        </p:spPr>
        <p:txBody>
          <a:bodyPr>
            <a:normAutofit/>
          </a:bodyPr>
          <a:p>
            <a:pPr algn="ctr">
              <a:lnSpc>
                <a:spcPct val="100000"/>
              </a:lnSpc>
              <a:spcBef>
                <a:spcPts val="479"/>
              </a:spcBef>
              <a:tabLst>
                <a:tab algn="l" pos="0"/>
              </a:tabLst>
            </a:pPr>
            <a:r>
              <a:rPr b="1" lang="fr-FR" sz="2400" spc="-1" strike="noStrike">
                <a:solidFill>
                  <a:srgbClr val="205aa7"/>
                </a:solidFill>
                <a:latin typeface="Calibri"/>
              </a:rPr>
              <a:t>Étape 3 – Analyse des performances</a:t>
            </a:r>
            <a:endParaRPr b="0" lang="fr-FR" sz="2400" spc="-1" strike="noStrike">
              <a:solidFill>
                <a:srgbClr val="205aa7"/>
              </a:solidFill>
              <a:latin typeface="Calibri"/>
            </a:endParaRPr>
          </a:p>
          <a:p>
            <a:pPr>
              <a:lnSpc>
                <a:spcPct val="100000"/>
              </a:lnSpc>
              <a:spcBef>
                <a:spcPts val="519"/>
              </a:spcBef>
              <a:tabLst>
                <a:tab algn="l" pos="0"/>
              </a:tabLst>
            </a:pPr>
            <a:endParaRPr b="0" lang="fr-FR" sz="2400" spc="-1" strike="noStrike">
              <a:solidFill>
                <a:srgbClr val="205aa7"/>
              </a:solidFill>
              <a:latin typeface="Calibri"/>
            </a:endParaRPr>
          </a:p>
          <a:p>
            <a:pPr>
              <a:lnSpc>
                <a:spcPct val="100000"/>
              </a:lnSpc>
              <a:spcBef>
                <a:spcPts val="519"/>
              </a:spcBef>
              <a:tabLst>
                <a:tab algn="l" pos="0"/>
              </a:tabLst>
            </a:pPr>
            <a:endParaRPr b="0" lang="fr-FR" sz="2400" spc="-1" strike="noStrike">
              <a:solidFill>
                <a:srgbClr val="205aa7"/>
              </a:solidFill>
              <a:latin typeface="Calibri"/>
            </a:endParaRPr>
          </a:p>
        </p:txBody>
      </p:sp>
      <p:pic>
        <p:nvPicPr>
          <p:cNvPr id="410" name="Image 6" descr=""/>
          <p:cNvPicPr/>
          <p:nvPr/>
        </p:nvPicPr>
        <p:blipFill>
          <a:blip r:embed="rId1"/>
          <a:stretch/>
        </p:blipFill>
        <p:spPr>
          <a:xfrm>
            <a:off x="1331640" y="1888920"/>
            <a:ext cx="6108480" cy="4076640"/>
          </a:xfrm>
          <a:prstGeom prst="rect">
            <a:avLst/>
          </a:prstGeom>
          <a:ln>
            <a:noFill/>
          </a:ln>
        </p:spPr>
      </p:pic>
      <p:sp>
        <p:nvSpPr>
          <p:cNvPr id="411" name="CustomShape 5"/>
          <p:cNvSpPr/>
          <p:nvPr/>
        </p:nvSpPr>
        <p:spPr>
          <a:xfrm>
            <a:off x="5775840" y="5944320"/>
            <a:ext cx="1950480" cy="212040"/>
          </a:xfrm>
          <a:prstGeom prst="rect">
            <a:avLst/>
          </a:prstGeom>
          <a:noFill/>
          <a:ln>
            <a:noFill/>
          </a:ln>
        </p:spPr>
        <p:style>
          <a:lnRef idx="0"/>
          <a:fillRef idx="0"/>
          <a:effectRef idx="0"/>
          <a:fontRef idx="minor"/>
        </p:style>
        <p:txBody>
          <a:bodyPr wrap="none" lIns="90000" rIns="90000" tIns="45000" bIns="45000">
            <a:spAutoFit/>
          </a:bodyPr>
          <a:p>
            <a:pPr>
              <a:lnSpc>
                <a:spcPct val="100000"/>
              </a:lnSpc>
            </a:pPr>
            <a:r>
              <a:rPr b="0" i="1" lang="fr-FR" sz="800" spc="-1" strike="noStrike">
                <a:solidFill>
                  <a:srgbClr val="666666"/>
                </a:solidFill>
                <a:latin typeface="Calibri"/>
              </a:rPr>
              <a:t>Photo by </a:t>
            </a:r>
            <a:r>
              <a:rPr b="0" i="1" lang="fr-FR" sz="800" spc="-1" strike="noStrike" u="sng">
                <a:solidFill>
                  <a:srgbClr val="a0006e"/>
                </a:solidFill>
                <a:uFillTx/>
                <a:latin typeface="Calibri"/>
                <a:hlinkClick r:id="rId2"/>
              </a:rPr>
              <a:t>Helloquence</a:t>
            </a:r>
            <a:r>
              <a:rPr b="0" i="1" lang="fr-FR" sz="800" spc="-1" strike="noStrike">
                <a:solidFill>
                  <a:srgbClr val="666666"/>
                </a:solidFill>
                <a:latin typeface="Calibri"/>
              </a:rPr>
              <a:t> on </a:t>
            </a:r>
            <a:r>
              <a:rPr b="0" i="1" lang="fr-FR" sz="800" spc="-1" strike="noStrike" u="sng">
                <a:solidFill>
                  <a:srgbClr val="a0006e"/>
                </a:solidFill>
                <a:uFillTx/>
                <a:latin typeface="Calibri"/>
                <a:hlinkClick r:id="rId3"/>
              </a:rPr>
              <a:t>Unsplash</a:t>
            </a:r>
            <a:endParaRPr b="0" lang="fr-FR" sz="800" spc="-1" strike="noStrike">
              <a:latin typeface="Arial"/>
            </a:endParaRPr>
          </a:p>
        </p:txBody>
      </p:sp>
    </p:spTree>
  </p:cSld>
  <mc:AlternateContent>
    <mc:Choice Requires="p14">
      <p:transition spd="slow" p14:dur="2000"/>
    </mc:Choice>
    <mc:Fallback>
      <p:transition spd="slow"/>
    </mc:Fallback>
  </mc:AlternateContent>
</p:sld>
</file>

<file path=ppt/slides/slide6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2" name="TextShape 1"/>
          <p:cNvSpPr txBox="1"/>
          <p:nvPr/>
        </p:nvSpPr>
        <p:spPr>
          <a:xfrm>
            <a:off x="468000" y="0"/>
            <a:ext cx="8229240" cy="1142640"/>
          </a:xfrm>
          <a:prstGeom prst="rect">
            <a:avLst/>
          </a:prstGeom>
          <a:noFill/>
          <a:ln>
            <a:noFill/>
          </a:ln>
        </p:spPr>
        <p:txBody>
          <a:bodyPr anchor="ctr">
            <a:noAutofit/>
          </a:bodyPr>
          <a:p>
            <a:pPr>
              <a:lnSpc>
                <a:spcPct val="100000"/>
              </a:lnSpc>
            </a:pPr>
            <a:r>
              <a:rPr b="1" lang="fr-FR" sz="2400" spc="-1" strike="noStrike" cap="all">
                <a:solidFill>
                  <a:srgbClr val="ffffff"/>
                </a:solidFill>
                <a:latin typeface="Calibri"/>
              </a:rPr>
              <a:t>3. L’analyse financière des comptes consolidés</a:t>
            </a:r>
            <a:endParaRPr b="0" lang="fr-FR" sz="2400" spc="-1" strike="noStrike">
              <a:solidFill>
                <a:srgbClr val="000000"/>
              </a:solidFill>
              <a:latin typeface="Calibri"/>
            </a:endParaRPr>
          </a:p>
        </p:txBody>
      </p:sp>
      <p:sp>
        <p:nvSpPr>
          <p:cNvPr id="413" name="TextShape 2"/>
          <p:cNvSpPr txBox="1"/>
          <p:nvPr/>
        </p:nvSpPr>
        <p:spPr>
          <a:xfrm>
            <a:off x="3124080" y="6480000"/>
            <a:ext cx="4975920" cy="359640"/>
          </a:xfrm>
          <a:prstGeom prst="rect">
            <a:avLst/>
          </a:prstGeom>
          <a:noFill/>
          <a:ln>
            <a:noFill/>
          </a:ln>
        </p:spPr>
        <p:txBody>
          <a:bodyPr>
            <a:noAutofit/>
          </a:bodyPr>
          <a:p>
            <a:endParaRPr b="0" lang="fr-FR" sz="2400" spc="-1" strike="noStrike">
              <a:latin typeface="Times New Roman"/>
            </a:endParaRPr>
          </a:p>
        </p:txBody>
      </p:sp>
      <p:sp>
        <p:nvSpPr>
          <p:cNvPr id="414" name="TextShape 3"/>
          <p:cNvSpPr txBox="1"/>
          <p:nvPr/>
        </p:nvSpPr>
        <p:spPr>
          <a:xfrm>
            <a:off x="8172360" y="6480000"/>
            <a:ext cx="539640" cy="359640"/>
          </a:xfrm>
          <a:prstGeom prst="rect">
            <a:avLst/>
          </a:prstGeom>
          <a:noFill/>
          <a:ln>
            <a:noFill/>
          </a:ln>
        </p:spPr>
        <p:txBody>
          <a:bodyPr lIns="90000" rIns="90000" tIns="45000" bIns="45000">
            <a:noAutofit/>
          </a:bodyPr>
          <a:p>
            <a:pPr algn="r">
              <a:lnSpc>
                <a:spcPct val="100000"/>
              </a:lnSpc>
            </a:pPr>
            <a:fld id="{4E44D8B5-DE28-4B43-B8C5-54A379804948}" type="slidenum">
              <a:rPr b="0" lang="fr-FR" sz="900" spc="-1" strike="noStrike">
                <a:solidFill>
                  <a:srgbClr val="205aa7"/>
                </a:solidFill>
                <a:latin typeface="Calibri"/>
              </a:rPr>
              <a:t>&lt;number&gt;</a:t>
            </a:fld>
            <a:endParaRPr b="0" lang="fr-FR" sz="900" spc="-1" strike="noStrike">
              <a:latin typeface="Times New Roman"/>
            </a:endParaRPr>
          </a:p>
        </p:txBody>
      </p:sp>
      <p:sp>
        <p:nvSpPr>
          <p:cNvPr id="415" name="TextShape 4"/>
          <p:cNvSpPr txBox="1"/>
          <p:nvPr/>
        </p:nvSpPr>
        <p:spPr>
          <a:xfrm>
            <a:off x="468000" y="1440000"/>
            <a:ext cx="8229240" cy="4525560"/>
          </a:xfrm>
          <a:prstGeom prst="rect">
            <a:avLst/>
          </a:prstGeom>
          <a:noFill/>
          <a:ln>
            <a:noFill/>
          </a:ln>
        </p:spPr>
        <p:txBody>
          <a:bodyPr>
            <a:normAutofit/>
          </a:bodyPr>
          <a:p>
            <a:pPr marL="114480" algn="ctr">
              <a:lnSpc>
                <a:spcPct val="100000"/>
              </a:lnSpc>
              <a:spcBef>
                <a:spcPts val="479"/>
              </a:spcBef>
              <a:tabLst>
                <a:tab algn="l" pos="0"/>
              </a:tabLst>
            </a:pPr>
            <a:r>
              <a:rPr b="1" lang="fr-FR" sz="2400" spc="-1" strike="noStrike">
                <a:solidFill>
                  <a:srgbClr val="205aa7"/>
                </a:solidFill>
                <a:latin typeface="Calibri"/>
              </a:rPr>
              <a:t>Les principales étapes de l’analyse :</a:t>
            </a:r>
            <a:endParaRPr b="0" lang="fr-FR" sz="2400" spc="-1" strike="noStrike">
              <a:solidFill>
                <a:srgbClr val="205aa7"/>
              </a:solidFill>
              <a:latin typeface="Calibri"/>
            </a:endParaRPr>
          </a:p>
          <a:p>
            <a:pPr marL="114480" algn="just">
              <a:lnSpc>
                <a:spcPct val="100000"/>
              </a:lnSpc>
              <a:spcBef>
                <a:spcPts val="479"/>
              </a:spcBef>
              <a:tabLst>
                <a:tab algn="l" pos="0"/>
              </a:tabLst>
            </a:pPr>
            <a:endParaRPr b="0" lang="fr-FR" sz="2400" spc="-1" strike="noStrike">
              <a:solidFill>
                <a:srgbClr val="205aa7"/>
              </a:solidFill>
              <a:latin typeface="Calibri"/>
            </a:endParaRPr>
          </a:p>
          <a:p>
            <a:pPr marL="571680" indent="-456840" algn="just">
              <a:lnSpc>
                <a:spcPct val="100000"/>
              </a:lnSpc>
              <a:spcBef>
                <a:spcPts val="479"/>
              </a:spcBef>
              <a:buClr>
                <a:srgbClr val="cbddf5"/>
              </a:buClr>
              <a:buFont typeface="StarSymbol"/>
              <a:buAutoNum type="arabicPeriod"/>
              <a:tabLst>
                <a:tab algn="l" pos="0"/>
              </a:tabLst>
            </a:pPr>
            <a:r>
              <a:rPr b="0" lang="fr-FR" sz="2400" spc="-1" strike="noStrike">
                <a:solidFill>
                  <a:srgbClr val="cbddf5"/>
                </a:solidFill>
                <a:latin typeface="Calibri"/>
              </a:rPr>
              <a:t>Analyse de l’environnement, de la stratégie et de l’organisation.</a:t>
            </a:r>
            <a:endParaRPr b="0" lang="fr-FR" sz="2400" spc="-1" strike="noStrike">
              <a:solidFill>
                <a:srgbClr val="205aa7"/>
              </a:solidFill>
              <a:latin typeface="Calibri"/>
            </a:endParaRPr>
          </a:p>
          <a:p>
            <a:pPr marL="571680" indent="-456840" algn="just">
              <a:lnSpc>
                <a:spcPct val="100000"/>
              </a:lnSpc>
              <a:spcBef>
                <a:spcPts val="479"/>
              </a:spcBef>
              <a:buClr>
                <a:srgbClr val="cbddf5"/>
              </a:buClr>
              <a:buFont typeface="StarSymbol"/>
              <a:buAutoNum type="arabicPeriod"/>
              <a:tabLst>
                <a:tab algn="l" pos="0"/>
              </a:tabLst>
            </a:pPr>
            <a:r>
              <a:rPr b="0" lang="fr-FR" sz="2400" spc="-1" strike="noStrike">
                <a:solidFill>
                  <a:srgbClr val="cbddf5"/>
                </a:solidFill>
                <a:latin typeface="Calibri"/>
              </a:rPr>
              <a:t>Examen critique de la qualité de l’information et étude préalable à l’analyse des comptes.</a:t>
            </a:r>
            <a:endParaRPr b="0" lang="fr-FR" sz="2400" spc="-1" strike="noStrike">
              <a:solidFill>
                <a:srgbClr val="205aa7"/>
              </a:solidFill>
              <a:latin typeface="Calibri"/>
            </a:endParaRPr>
          </a:p>
          <a:p>
            <a:pPr marL="571680" indent="-456840" algn="just">
              <a:lnSpc>
                <a:spcPct val="100000"/>
              </a:lnSpc>
              <a:spcBef>
                <a:spcPts val="479"/>
              </a:spcBef>
              <a:buClr>
                <a:srgbClr val="cbddf5"/>
              </a:buClr>
              <a:buFont typeface="StarSymbol"/>
              <a:buAutoNum type="arabicPeriod"/>
              <a:tabLst>
                <a:tab algn="l" pos="0"/>
              </a:tabLst>
            </a:pPr>
            <a:r>
              <a:rPr b="0" lang="fr-FR" sz="2400" spc="-1" strike="noStrike">
                <a:solidFill>
                  <a:srgbClr val="cbddf5"/>
                </a:solidFill>
                <a:latin typeface="Calibri"/>
              </a:rPr>
              <a:t>Analyse des performances.</a:t>
            </a:r>
            <a:endParaRPr b="0" lang="fr-FR" sz="2400" spc="-1" strike="noStrike">
              <a:solidFill>
                <a:srgbClr val="205aa7"/>
              </a:solidFill>
              <a:latin typeface="Calibri"/>
            </a:endParaRPr>
          </a:p>
          <a:p>
            <a:pPr marL="571680" indent="-456840" algn="just">
              <a:lnSpc>
                <a:spcPct val="100000"/>
              </a:lnSpc>
              <a:spcBef>
                <a:spcPts val="479"/>
              </a:spcBef>
              <a:buClr>
                <a:srgbClr val="205aa7"/>
              </a:buClr>
              <a:buFont typeface="StarSymbol"/>
              <a:buAutoNum type="arabicPeriod"/>
              <a:tabLst>
                <a:tab algn="l" pos="0"/>
              </a:tabLst>
            </a:pPr>
            <a:r>
              <a:rPr b="0" lang="fr-FR" sz="2400" spc="-1" strike="noStrike">
                <a:solidFill>
                  <a:srgbClr val="205aa7"/>
                </a:solidFill>
                <a:latin typeface="Calibri"/>
              </a:rPr>
              <a:t>Examen de la structure financière (solvabilité et autonomie financière).</a:t>
            </a:r>
            <a:endParaRPr b="0" lang="fr-FR" sz="2400" spc="-1" strike="noStrike">
              <a:solidFill>
                <a:srgbClr val="205aa7"/>
              </a:solidFill>
              <a:latin typeface="Calibri"/>
            </a:endParaRPr>
          </a:p>
          <a:p>
            <a:pPr marL="571680" indent="-456840" algn="just">
              <a:lnSpc>
                <a:spcPct val="100000"/>
              </a:lnSpc>
              <a:spcBef>
                <a:spcPts val="479"/>
              </a:spcBef>
              <a:buClr>
                <a:srgbClr val="cbddf5"/>
              </a:buClr>
              <a:buFont typeface="StarSymbol"/>
              <a:buAutoNum type="arabicPeriod"/>
              <a:tabLst>
                <a:tab algn="l" pos="0"/>
              </a:tabLst>
            </a:pPr>
            <a:r>
              <a:rPr b="0" lang="fr-FR" sz="2400" spc="-1" strike="noStrike">
                <a:solidFill>
                  <a:srgbClr val="cbddf5"/>
                </a:solidFill>
                <a:latin typeface="Calibri"/>
              </a:rPr>
              <a:t>Analyse de la liquidité.</a:t>
            </a:r>
            <a:endParaRPr b="0" lang="fr-FR" sz="2400" spc="-1" strike="noStrike">
              <a:solidFill>
                <a:srgbClr val="205aa7"/>
              </a:solidFill>
              <a:latin typeface="Calibri"/>
            </a:endParaRPr>
          </a:p>
          <a:p>
            <a:pPr marL="571680" indent="-456840" algn="just">
              <a:lnSpc>
                <a:spcPct val="100000"/>
              </a:lnSpc>
              <a:spcBef>
                <a:spcPts val="479"/>
              </a:spcBef>
              <a:buClr>
                <a:srgbClr val="cbddf5"/>
              </a:buClr>
              <a:buFont typeface="StarSymbol"/>
              <a:buAutoNum type="arabicPeriod"/>
              <a:tabLst>
                <a:tab algn="l" pos="0"/>
              </a:tabLst>
            </a:pPr>
            <a:r>
              <a:rPr b="0" lang="fr-FR" sz="2400" spc="-1" strike="noStrike">
                <a:solidFill>
                  <a:srgbClr val="cbddf5"/>
                </a:solidFill>
                <a:latin typeface="Calibri"/>
              </a:rPr>
              <a:t>Décision de cotation</a:t>
            </a:r>
            <a:endParaRPr b="0" lang="fr-FR" sz="2400" spc="-1" strike="noStrike">
              <a:solidFill>
                <a:srgbClr val="205aa7"/>
              </a:solidFill>
              <a:latin typeface="Calibri"/>
            </a:endParaRPr>
          </a:p>
        </p:txBody>
      </p:sp>
    </p:spTree>
  </p:cSld>
  <mc:AlternateContent>
    <mc:Choice Requires="p14">
      <p:transition spd="slow" p14:dur="2000"/>
    </mc:Choice>
    <mc:Fallback>
      <p:transition spd="slow"/>
    </mc:Fallback>
  </mc:AlternateContent>
</p:sld>
</file>

<file path=ppt/slides/slide6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6" name="TextShape 1"/>
          <p:cNvSpPr txBox="1"/>
          <p:nvPr/>
        </p:nvSpPr>
        <p:spPr>
          <a:xfrm>
            <a:off x="468000" y="0"/>
            <a:ext cx="8229240" cy="1142640"/>
          </a:xfrm>
          <a:prstGeom prst="rect">
            <a:avLst/>
          </a:prstGeom>
          <a:noFill/>
          <a:ln>
            <a:noFill/>
          </a:ln>
        </p:spPr>
        <p:txBody>
          <a:bodyPr anchor="ctr">
            <a:noAutofit/>
          </a:bodyPr>
          <a:p>
            <a:pPr>
              <a:lnSpc>
                <a:spcPct val="100000"/>
              </a:lnSpc>
            </a:pPr>
            <a:r>
              <a:rPr b="1" lang="fr-FR" sz="2400" spc="-1" strike="noStrike" cap="all">
                <a:solidFill>
                  <a:srgbClr val="ffffff"/>
                </a:solidFill>
                <a:latin typeface="Calibri"/>
              </a:rPr>
              <a:t>3. L’analyse financière des comptes consolidés</a:t>
            </a:r>
            <a:endParaRPr b="0" lang="fr-FR" sz="2400" spc="-1" strike="noStrike">
              <a:solidFill>
                <a:srgbClr val="000000"/>
              </a:solidFill>
              <a:latin typeface="Calibri"/>
            </a:endParaRPr>
          </a:p>
        </p:txBody>
      </p:sp>
      <p:sp>
        <p:nvSpPr>
          <p:cNvPr id="417" name="TextShape 2"/>
          <p:cNvSpPr txBox="1"/>
          <p:nvPr/>
        </p:nvSpPr>
        <p:spPr>
          <a:xfrm>
            <a:off x="3124080" y="6480000"/>
            <a:ext cx="4975920" cy="359640"/>
          </a:xfrm>
          <a:prstGeom prst="rect">
            <a:avLst/>
          </a:prstGeom>
          <a:noFill/>
          <a:ln>
            <a:noFill/>
          </a:ln>
        </p:spPr>
        <p:txBody>
          <a:bodyPr>
            <a:noAutofit/>
          </a:bodyPr>
          <a:p>
            <a:endParaRPr b="0" lang="fr-FR" sz="2400" spc="-1" strike="noStrike">
              <a:latin typeface="Times New Roman"/>
            </a:endParaRPr>
          </a:p>
        </p:txBody>
      </p:sp>
      <p:sp>
        <p:nvSpPr>
          <p:cNvPr id="418" name="TextShape 3"/>
          <p:cNvSpPr txBox="1"/>
          <p:nvPr/>
        </p:nvSpPr>
        <p:spPr>
          <a:xfrm>
            <a:off x="8172360" y="6480000"/>
            <a:ext cx="539640" cy="359640"/>
          </a:xfrm>
          <a:prstGeom prst="rect">
            <a:avLst/>
          </a:prstGeom>
          <a:noFill/>
          <a:ln>
            <a:noFill/>
          </a:ln>
        </p:spPr>
        <p:txBody>
          <a:bodyPr lIns="90000" rIns="90000" tIns="45000" bIns="45000">
            <a:noAutofit/>
          </a:bodyPr>
          <a:p>
            <a:pPr algn="r">
              <a:lnSpc>
                <a:spcPct val="100000"/>
              </a:lnSpc>
            </a:pPr>
            <a:fld id="{7A9E83E6-0B34-4CF1-851E-E1558D76271A}" type="slidenum">
              <a:rPr b="0" lang="fr-FR" sz="900" spc="-1" strike="noStrike">
                <a:solidFill>
                  <a:srgbClr val="205aa7"/>
                </a:solidFill>
                <a:latin typeface="Calibri"/>
              </a:rPr>
              <a:t>&lt;number&gt;</a:t>
            </a:fld>
            <a:endParaRPr b="0" lang="fr-FR" sz="900" spc="-1" strike="noStrike">
              <a:latin typeface="Times New Roman"/>
            </a:endParaRPr>
          </a:p>
        </p:txBody>
      </p:sp>
      <p:sp>
        <p:nvSpPr>
          <p:cNvPr id="419" name="TextShape 4"/>
          <p:cNvSpPr txBox="1"/>
          <p:nvPr/>
        </p:nvSpPr>
        <p:spPr>
          <a:xfrm>
            <a:off x="468000" y="1440000"/>
            <a:ext cx="8229240" cy="4525560"/>
          </a:xfrm>
          <a:prstGeom prst="rect">
            <a:avLst/>
          </a:prstGeom>
          <a:noFill/>
          <a:ln>
            <a:noFill/>
          </a:ln>
        </p:spPr>
        <p:txBody>
          <a:bodyPr>
            <a:normAutofit fontScale="97000"/>
          </a:bodyPr>
          <a:p>
            <a:pPr algn="ctr">
              <a:lnSpc>
                <a:spcPct val="100000"/>
              </a:lnSpc>
              <a:spcBef>
                <a:spcPts val="400"/>
              </a:spcBef>
              <a:tabLst>
                <a:tab algn="l" pos="0"/>
              </a:tabLst>
            </a:pPr>
            <a:r>
              <a:rPr b="1" lang="fr-FR" sz="2000" spc="-1" strike="noStrike">
                <a:solidFill>
                  <a:srgbClr val="205aa7"/>
                </a:solidFill>
                <a:latin typeface="Calibri"/>
              </a:rPr>
              <a:t>Étape 4 – Examen de la structure financière</a:t>
            </a:r>
            <a:endParaRPr b="0" lang="fr-FR" sz="2000" spc="-1" strike="noStrike">
              <a:solidFill>
                <a:srgbClr val="205aa7"/>
              </a:solidFill>
              <a:latin typeface="Calibri"/>
            </a:endParaRPr>
          </a:p>
          <a:p>
            <a:pPr algn="ctr">
              <a:lnSpc>
                <a:spcPct val="100000"/>
              </a:lnSpc>
              <a:spcBef>
                <a:spcPts val="400"/>
              </a:spcBef>
              <a:tabLst>
                <a:tab algn="l" pos="0"/>
              </a:tabLst>
            </a:pPr>
            <a:endParaRPr b="0" lang="fr-FR" sz="2000" spc="-1" strike="noStrike">
              <a:solidFill>
                <a:srgbClr val="205aa7"/>
              </a:solidFill>
              <a:latin typeface="Calibri"/>
            </a:endParaRPr>
          </a:p>
          <a:p>
            <a:pPr marL="114480" algn="ctr">
              <a:lnSpc>
                <a:spcPct val="100000"/>
              </a:lnSpc>
              <a:spcBef>
                <a:spcPts val="400"/>
              </a:spcBef>
              <a:tabLst>
                <a:tab algn="l" pos="0"/>
              </a:tabLst>
            </a:pPr>
            <a:r>
              <a:rPr b="0" lang="fr-FR" sz="2000" spc="-1" strike="noStrike" u="sng">
                <a:solidFill>
                  <a:srgbClr val="205aa7"/>
                </a:solidFill>
                <a:uFillTx/>
                <a:latin typeface="Calibri"/>
              </a:rPr>
              <a:t>Objectifs de cette étape</a:t>
            </a:r>
            <a:endParaRPr b="0" lang="fr-FR" sz="2000" spc="-1" strike="noStrike">
              <a:solidFill>
                <a:srgbClr val="205aa7"/>
              </a:solidFill>
              <a:latin typeface="Calibri"/>
            </a:endParaRPr>
          </a:p>
          <a:p>
            <a:pPr marL="571680" indent="-456840" algn="just">
              <a:lnSpc>
                <a:spcPct val="100000"/>
              </a:lnSpc>
              <a:spcBef>
                <a:spcPts val="400"/>
              </a:spcBef>
              <a:buClr>
                <a:srgbClr val="205aa7"/>
              </a:buClr>
              <a:buFont typeface="Wingdings" charset="2"/>
              <a:buChar char=""/>
              <a:tabLst>
                <a:tab algn="l" pos="0"/>
              </a:tabLst>
            </a:pPr>
            <a:r>
              <a:rPr b="0" lang="fr-FR" sz="2000" spc="-1" strike="noStrike">
                <a:solidFill>
                  <a:srgbClr val="205aa7"/>
                </a:solidFill>
                <a:latin typeface="Calibri"/>
              </a:rPr>
              <a:t>Déterminer le degré de </a:t>
            </a:r>
            <a:r>
              <a:rPr b="1" lang="fr-FR" sz="2000" spc="-1" strike="noStrike">
                <a:solidFill>
                  <a:srgbClr val="205aa7"/>
                </a:solidFill>
                <a:latin typeface="Calibri"/>
              </a:rPr>
              <a:t>solvabilité</a:t>
            </a:r>
            <a:r>
              <a:rPr b="0" lang="fr-FR" sz="2000" spc="-1" strike="noStrike">
                <a:solidFill>
                  <a:srgbClr val="205aa7"/>
                </a:solidFill>
                <a:latin typeface="Calibri"/>
              </a:rPr>
              <a:t> du groupe :</a:t>
            </a:r>
            <a:endParaRPr b="0" lang="fr-FR" sz="2000" spc="-1" strike="noStrike">
              <a:solidFill>
                <a:srgbClr val="205aa7"/>
              </a:solidFill>
              <a:latin typeface="Calibri"/>
            </a:endParaRPr>
          </a:p>
          <a:p>
            <a:pPr lvl="1" marL="1062360" indent="-456840" algn="just">
              <a:lnSpc>
                <a:spcPct val="100000"/>
              </a:lnSpc>
              <a:spcBef>
                <a:spcPts val="360"/>
              </a:spcBef>
              <a:buClr>
                <a:srgbClr val="205aa7"/>
              </a:buClr>
              <a:buFont typeface="Arial"/>
              <a:buChar char="–"/>
              <a:tabLst>
                <a:tab algn="l" pos="0"/>
              </a:tabLst>
            </a:pPr>
            <a:r>
              <a:rPr b="0" lang="fr-FR" sz="1800" spc="-1" strike="noStrike">
                <a:solidFill>
                  <a:srgbClr val="205aa7"/>
                </a:solidFill>
                <a:latin typeface="Calibri"/>
              </a:rPr>
              <a:t>Valeur effective des </a:t>
            </a:r>
            <a:r>
              <a:rPr b="1" lang="fr-FR" sz="1800" spc="-1" strike="noStrike">
                <a:solidFill>
                  <a:srgbClr val="205aa7"/>
                </a:solidFill>
                <a:latin typeface="Calibri"/>
              </a:rPr>
              <a:t>fonds propres </a:t>
            </a:r>
            <a:r>
              <a:rPr b="0" lang="fr-FR" sz="1800" spc="-1" strike="noStrike">
                <a:solidFill>
                  <a:srgbClr val="205aa7"/>
                </a:solidFill>
                <a:latin typeface="Calibri"/>
              </a:rPr>
              <a:t>(risque potentiel de survalorisation en cas d’existence éventuelle de non-valeurs).</a:t>
            </a:r>
            <a:endParaRPr b="0" lang="fr-FR" sz="1800" spc="-1" strike="noStrike">
              <a:solidFill>
                <a:srgbClr val="595959"/>
              </a:solidFill>
              <a:latin typeface="Calibri"/>
            </a:endParaRPr>
          </a:p>
          <a:p>
            <a:pPr lvl="1" marL="1062360" indent="-456840" algn="just">
              <a:lnSpc>
                <a:spcPct val="100000"/>
              </a:lnSpc>
              <a:spcBef>
                <a:spcPts val="360"/>
              </a:spcBef>
              <a:buClr>
                <a:srgbClr val="205aa7"/>
              </a:buClr>
              <a:buFont typeface="Arial"/>
              <a:buChar char="–"/>
              <a:tabLst>
                <a:tab algn="l" pos="0"/>
              </a:tabLst>
            </a:pPr>
            <a:r>
              <a:rPr b="0" lang="fr-FR" sz="1800" spc="-1" strike="noStrike">
                <a:solidFill>
                  <a:srgbClr val="205aa7"/>
                </a:solidFill>
                <a:latin typeface="Calibri"/>
              </a:rPr>
              <a:t>Niveau effectif de l’</a:t>
            </a:r>
            <a:r>
              <a:rPr b="1" lang="fr-FR" sz="1800" spc="-1" strike="noStrike">
                <a:solidFill>
                  <a:srgbClr val="205aa7"/>
                </a:solidFill>
                <a:latin typeface="Calibri"/>
              </a:rPr>
              <a:t>endettement financier</a:t>
            </a:r>
            <a:r>
              <a:rPr b="0" lang="fr-FR" sz="1800" spc="-1" strike="noStrike">
                <a:solidFill>
                  <a:srgbClr val="205aa7"/>
                </a:solidFill>
                <a:latin typeface="Calibri"/>
              </a:rPr>
              <a:t> (classement de certains éléments du passif tels que les titres hybrides </a:t>
            </a:r>
            <a:r>
              <a:rPr b="0" lang="fr-FR" sz="1800" spc="-1" strike="noStrike">
                <a:solidFill>
                  <a:srgbClr val="205aa7"/>
                </a:solidFill>
                <a:latin typeface="Calibri"/>
              </a:rPr>
              <a:t>	</a:t>
            </a:r>
            <a:r>
              <a:rPr b="0" lang="fr-FR" sz="1800" spc="-1" strike="noStrike">
                <a:solidFill>
                  <a:srgbClr val="205aa7"/>
                </a:solidFill>
                <a:latin typeface="Calibri"/>
              </a:rPr>
              <a:t>et les comptes courants d’associés, traitement des </a:t>
            </a:r>
            <a:r>
              <a:rPr b="0" lang="fr-FR" sz="1800" spc="-1" strike="noStrike">
                <a:solidFill>
                  <a:srgbClr val="205aa7"/>
                </a:solidFill>
                <a:latin typeface="Calibri"/>
              </a:rPr>
              <a:t>	</a:t>
            </a:r>
            <a:r>
              <a:rPr b="0" lang="fr-FR" sz="1800" spc="-1" strike="noStrike">
                <a:solidFill>
                  <a:srgbClr val="205aa7"/>
                </a:solidFill>
                <a:latin typeface="Calibri"/>
              </a:rPr>
              <a:t>engagements et des risques hors bilan, choix de l’agrégat d’endettement retenu).</a:t>
            </a:r>
            <a:endParaRPr b="0" lang="fr-FR" sz="1800" spc="-1" strike="noStrike">
              <a:solidFill>
                <a:srgbClr val="595959"/>
              </a:solidFill>
              <a:latin typeface="Calibri"/>
            </a:endParaRPr>
          </a:p>
          <a:p>
            <a:pPr marL="571680" indent="-456840" algn="just">
              <a:lnSpc>
                <a:spcPct val="100000"/>
              </a:lnSpc>
              <a:spcBef>
                <a:spcPts val="400"/>
              </a:spcBef>
              <a:buClr>
                <a:srgbClr val="205aa7"/>
              </a:buClr>
              <a:buFont typeface="Wingdings" charset="2"/>
              <a:buChar char=""/>
              <a:tabLst>
                <a:tab algn="l" pos="0"/>
              </a:tabLst>
            </a:pPr>
            <a:r>
              <a:rPr b="0" lang="fr-FR" sz="2000" spc="-1" strike="noStrike">
                <a:solidFill>
                  <a:srgbClr val="205aa7"/>
                </a:solidFill>
                <a:latin typeface="Calibri"/>
              </a:rPr>
              <a:t>Déterminer le degré d’</a:t>
            </a:r>
            <a:r>
              <a:rPr b="1" lang="fr-FR" sz="2000" spc="-1" strike="noStrike">
                <a:solidFill>
                  <a:srgbClr val="205aa7"/>
                </a:solidFill>
                <a:latin typeface="Calibri"/>
              </a:rPr>
              <a:t>autonomie financière</a:t>
            </a:r>
            <a:r>
              <a:rPr b="0" lang="fr-FR" sz="2000" spc="-1" strike="noStrike">
                <a:solidFill>
                  <a:srgbClr val="205aa7"/>
                </a:solidFill>
                <a:latin typeface="Calibri"/>
              </a:rPr>
              <a:t> : capacité d’autofinancement récurrente et capacité de remboursement</a:t>
            </a:r>
            <a:endParaRPr b="0" lang="fr-FR" sz="2000" spc="-1" strike="noStrike">
              <a:solidFill>
                <a:srgbClr val="205aa7"/>
              </a:solidFill>
              <a:latin typeface="Calibri"/>
            </a:endParaRPr>
          </a:p>
          <a:p>
            <a:pPr>
              <a:lnSpc>
                <a:spcPct val="100000"/>
              </a:lnSpc>
              <a:spcBef>
                <a:spcPts val="519"/>
              </a:spcBef>
              <a:tabLst>
                <a:tab algn="l" pos="0"/>
              </a:tabLst>
            </a:pPr>
            <a:endParaRPr b="0" lang="fr-FR" sz="2000" spc="-1" strike="noStrike">
              <a:solidFill>
                <a:srgbClr val="205aa7"/>
              </a:solidFill>
              <a:latin typeface="Calibri"/>
            </a:endParaRPr>
          </a:p>
        </p:txBody>
      </p:sp>
    </p:spTree>
  </p:cSld>
  <mc:AlternateContent>
    <mc:Choice Requires="p14">
      <p:transition spd="slow" p14:dur="2000"/>
    </mc:Choice>
    <mc:Fallback>
      <p:transition spd="slow"/>
    </mc:Fallback>
  </mc:AlternateContent>
</p:sld>
</file>

<file path=ppt/slides/slide6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0" name="TextShape 1"/>
          <p:cNvSpPr txBox="1"/>
          <p:nvPr/>
        </p:nvSpPr>
        <p:spPr>
          <a:xfrm>
            <a:off x="468000" y="0"/>
            <a:ext cx="8229240" cy="1142640"/>
          </a:xfrm>
          <a:prstGeom prst="rect">
            <a:avLst/>
          </a:prstGeom>
          <a:noFill/>
          <a:ln>
            <a:noFill/>
          </a:ln>
        </p:spPr>
        <p:txBody>
          <a:bodyPr anchor="ctr">
            <a:noAutofit/>
          </a:bodyPr>
          <a:p>
            <a:pPr>
              <a:lnSpc>
                <a:spcPct val="100000"/>
              </a:lnSpc>
            </a:pPr>
            <a:r>
              <a:rPr b="1" lang="fr-FR" sz="2400" spc="-1" strike="noStrike" cap="all">
                <a:solidFill>
                  <a:srgbClr val="ffffff"/>
                </a:solidFill>
                <a:latin typeface="Calibri"/>
              </a:rPr>
              <a:t>3. L’analyse financière des comptes consolidés</a:t>
            </a:r>
            <a:endParaRPr b="0" lang="fr-FR" sz="2400" spc="-1" strike="noStrike">
              <a:solidFill>
                <a:srgbClr val="000000"/>
              </a:solidFill>
              <a:latin typeface="Calibri"/>
            </a:endParaRPr>
          </a:p>
        </p:txBody>
      </p:sp>
      <p:sp>
        <p:nvSpPr>
          <p:cNvPr id="421" name="TextShape 2"/>
          <p:cNvSpPr txBox="1"/>
          <p:nvPr/>
        </p:nvSpPr>
        <p:spPr>
          <a:xfrm>
            <a:off x="3124080" y="6480000"/>
            <a:ext cx="4975920" cy="359640"/>
          </a:xfrm>
          <a:prstGeom prst="rect">
            <a:avLst/>
          </a:prstGeom>
          <a:noFill/>
          <a:ln>
            <a:noFill/>
          </a:ln>
        </p:spPr>
        <p:txBody>
          <a:bodyPr>
            <a:noAutofit/>
          </a:bodyPr>
          <a:p>
            <a:endParaRPr b="0" lang="fr-FR" sz="2400" spc="-1" strike="noStrike">
              <a:latin typeface="Times New Roman"/>
            </a:endParaRPr>
          </a:p>
        </p:txBody>
      </p:sp>
      <p:sp>
        <p:nvSpPr>
          <p:cNvPr id="422" name="TextShape 3"/>
          <p:cNvSpPr txBox="1"/>
          <p:nvPr/>
        </p:nvSpPr>
        <p:spPr>
          <a:xfrm>
            <a:off x="8172360" y="6480000"/>
            <a:ext cx="539640" cy="359640"/>
          </a:xfrm>
          <a:prstGeom prst="rect">
            <a:avLst/>
          </a:prstGeom>
          <a:noFill/>
          <a:ln>
            <a:noFill/>
          </a:ln>
        </p:spPr>
        <p:txBody>
          <a:bodyPr lIns="90000" rIns="90000" tIns="45000" bIns="45000">
            <a:noAutofit/>
          </a:bodyPr>
          <a:p>
            <a:pPr algn="r">
              <a:lnSpc>
                <a:spcPct val="100000"/>
              </a:lnSpc>
            </a:pPr>
            <a:fld id="{390B65DD-7ED6-4579-89BB-F6C192D5BC8C}" type="slidenum">
              <a:rPr b="0" lang="fr-FR" sz="900" spc="-1" strike="noStrike">
                <a:solidFill>
                  <a:srgbClr val="205aa7"/>
                </a:solidFill>
                <a:latin typeface="Calibri"/>
              </a:rPr>
              <a:t>&lt;number&gt;</a:t>
            </a:fld>
            <a:endParaRPr b="0" lang="fr-FR" sz="900" spc="-1" strike="noStrike">
              <a:latin typeface="Times New Roman"/>
            </a:endParaRPr>
          </a:p>
        </p:txBody>
      </p:sp>
      <p:sp>
        <p:nvSpPr>
          <p:cNvPr id="423" name="TextShape 4"/>
          <p:cNvSpPr txBox="1"/>
          <p:nvPr/>
        </p:nvSpPr>
        <p:spPr>
          <a:xfrm>
            <a:off x="468000" y="1440000"/>
            <a:ext cx="8229240" cy="4525560"/>
          </a:xfrm>
          <a:prstGeom prst="rect">
            <a:avLst/>
          </a:prstGeom>
          <a:noFill/>
          <a:ln>
            <a:noFill/>
          </a:ln>
        </p:spPr>
        <p:txBody>
          <a:bodyPr>
            <a:normAutofit/>
          </a:bodyPr>
          <a:p>
            <a:pPr algn="ctr">
              <a:lnSpc>
                <a:spcPct val="100000"/>
              </a:lnSpc>
              <a:spcBef>
                <a:spcPts val="400"/>
              </a:spcBef>
              <a:tabLst>
                <a:tab algn="l" pos="0"/>
              </a:tabLst>
            </a:pPr>
            <a:r>
              <a:rPr b="1" lang="fr-FR" sz="2000" spc="-1" strike="noStrike">
                <a:solidFill>
                  <a:srgbClr val="205aa7"/>
                </a:solidFill>
                <a:latin typeface="Calibri"/>
              </a:rPr>
              <a:t>Étape 4 – Examen de la structure financière</a:t>
            </a:r>
            <a:endParaRPr b="0" lang="fr-FR" sz="2000" spc="-1" strike="noStrike">
              <a:solidFill>
                <a:srgbClr val="205aa7"/>
              </a:solidFill>
              <a:latin typeface="Calibri"/>
            </a:endParaRPr>
          </a:p>
          <a:p>
            <a:pPr algn="just">
              <a:lnSpc>
                <a:spcPct val="100000"/>
              </a:lnSpc>
              <a:spcBef>
                <a:spcPts val="400"/>
              </a:spcBef>
              <a:tabLst>
                <a:tab algn="l" pos="0"/>
              </a:tabLst>
            </a:pPr>
            <a:endParaRPr b="0" lang="fr-FR" sz="2000" spc="-1" strike="noStrike">
              <a:solidFill>
                <a:srgbClr val="205aa7"/>
              </a:solidFill>
              <a:latin typeface="Calibri"/>
            </a:endParaRPr>
          </a:p>
          <a:p>
            <a:pPr marL="252000" indent="-251640" algn="just">
              <a:lnSpc>
                <a:spcPct val="100000"/>
              </a:lnSpc>
              <a:spcBef>
                <a:spcPts val="400"/>
              </a:spcBef>
              <a:buClr>
                <a:srgbClr val="205aa7"/>
              </a:buClr>
              <a:buFont typeface="Wingdings" charset="2"/>
              <a:buChar char=""/>
              <a:tabLst>
                <a:tab algn="l" pos="0"/>
              </a:tabLst>
            </a:pPr>
            <a:r>
              <a:rPr b="0" lang="fr-FR" sz="2000" spc="-1" strike="noStrike">
                <a:solidFill>
                  <a:srgbClr val="205aa7"/>
                </a:solidFill>
                <a:latin typeface="Calibri"/>
              </a:rPr>
              <a:t>Les fonds propres (FP) sont une résultante : Actifs – Dettes.</a:t>
            </a:r>
            <a:endParaRPr b="0" lang="fr-FR" sz="2000" spc="-1" strike="noStrike">
              <a:solidFill>
                <a:srgbClr val="205aa7"/>
              </a:solidFill>
              <a:latin typeface="Calibri"/>
            </a:endParaRPr>
          </a:p>
          <a:p>
            <a:pPr marL="252000" indent="-251640" algn="just">
              <a:lnSpc>
                <a:spcPct val="100000"/>
              </a:lnSpc>
              <a:spcBef>
                <a:spcPts val="400"/>
              </a:spcBef>
              <a:buClr>
                <a:srgbClr val="205aa7"/>
              </a:buClr>
              <a:buFont typeface="Wingdings" charset="2"/>
              <a:buChar char=""/>
              <a:tabLst>
                <a:tab algn="l" pos="0"/>
              </a:tabLst>
            </a:pPr>
            <a:r>
              <a:rPr b="0" lang="fr-FR" sz="2000" spc="-1" strike="noStrike">
                <a:solidFill>
                  <a:srgbClr val="205aa7"/>
                </a:solidFill>
                <a:latin typeface="Calibri"/>
              </a:rPr>
              <a:t>Ils dépendent de la valorisation des postes :</a:t>
            </a:r>
            <a:endParaRPr b="0" lang="fr-FR" sz="2000" spc="-1" strike="noStrike">
              <a:solidFill>
                <a:srgbClr val="205aa7"/>
              </a:solidFill>
              <a:latin typeface="Calibri"/>
            </a:endParaRPr>
          </a:p>
          <a:p>
            <a:pPr lvl="1" marL="743040" indent="-285480" algn="just">
              <a:lnSpc>
                <a:spcPct val="100000"/>
              </a:lnSpc>
              <a:spcBef>
                <a:spcPts val="360"/>
              </a:spcBef>
              <a:buClr>
                <a:srgbClr val="205aa7"/>
              </a:buClr>
              <a:buFont typeface="Arial"/>
              <a:buChar char="–"/>
              <a:tabLst>
                <a:tab algn="l" pos="0"/>
              </a:tabLst>
            </a:pPr>
            <a:r>
              <a:rPr b="0" lang="fr-FR" sz="1800" spc="-1" strike="noStrike">
                <a:solidFill>
                  <a:srgbClr val="205aa7"/>
                </a:solidFill>
                <a:latin typeface="Calibri"/>
              </a:rPr>
              <a:t>« classiques » : immobilisations, stocks, autres créances…</a:t>
            </a:r>
            <a:endParaRPr b="0" lang="fr-FR" sz="1800" spc="-1" strike="noStrike">
              <a:solidFill>
                <a:srgbClr val="595959"/>
              </a:solidFill>
              <a:latin typeface="Calibri"/>
            </a:endParaRPr>
          </a:p>
          <a:p>
            <a:pPr lvl="1" marL="743040" indent="-285480" algn="just">
              <a:lnSpc>
                <a:spcPct val="100000"/>
              </a:lnSpc>
              <a:spcBef>
                <a:spcPts val="360"/>
              </a:spcBef>
              <a:buClr>
                <a:srgbClr val="205aa7"/>
              </a:buClr>
              <a:buFont typeface="Arial"/>
              <a:buChar char="–"/>
              <a:tabLst>
                <a:tab algn="l" pos="0"/>
              </a:tabLst>
            </a:pPr>
            <a:r>
              <a:rPr b="0" lang="fr-FR" sz="1800" spc="-1" strike="noStrike">
                <a:solidFill>
                  <a:srgbClr val="205aa7"/>
                </a:solidFill>
                <a:latin typeface="Calibri"/>
              </a:rPr>
              <a:t>« spécifiques à la consolidation » : écarts d’acquisition, impôts différés, intérêts minoritaires, provisions pour départs en retraite, écarts de conversion.</a:t>
            </a:r>
            <a:endParaRPr b="0" lang="fr-FR" sz="1800" spc="-1" strike="noStrike">
              <a:solidFill>
                <a:srgbClr val="595959"/>
              </a:solidFill>
              <a:latin typeface="Calibri"/>
            </a:endParaRPr>
          </a:p>
          <a:p>
            <a:pPr marL="457200" algn="just">
              <a:lnSpc>
                <a:spcPct val="100000"/>
              </a:lnSpc>
              <a:spcBef>
                <a:spcPts val="360"/>
              </a:spcBef>
              <a:tabLst>
                <a:tab algn="l" pos="0"/>
              </a:tabLst>
            </a:pPr>
            <a:endParaRPr b="0" lang="fr-FR" sz="1800" spc="-1" strike="noStrike">
              <a:solidFill>
                <a:srgbClr val="205aa7"/>
              </a:solidFill>
              <a:latin typeface="Calibri"/>
            </a:endParaRPr>
          </a:p>
          <a:p>
            <a:pPr marL="114480" algn="ctr">
              <a:lnSpc>
                <a:spcPct val="100000"/>
              </a:lnSpc>
              <a:spcBef>
                <a:spcPts val="400"/>
              </a:spcBef>
              <a:tabLst>
                <a:tab algn="l" pos="0"/>
              </a:tabLst>
            </a:pPr>
            <a:r>
              <a:rPr b="0" lang="fr-FR" sz="2000" spc="-1" strike="noStrike">
                <a:solidFill>
                  <a:srgbClr val="205aa7"/>
                </a:solidFill>
                <a:latin typeface="Wingdings"/>
              </a:rPr>
              <a:t></a:t>
            </a:r>
            <a:r>
              <a:rPr b="0" lang="fr-FR" sz="2000" spc="-1" strike="noStrike">
                <a:solidFill>
                  <a:srgbClr val="205aa7"/>
                </a:solidFill>
                <a:latin typeface="Calibri"/>
              </a:rPr>
              <a:t> </a:t>
            </a:r>
            <a:r>
              <a:rPr b="0" lang="fr-FR" sz="2000" spc="-1" strike="noStrike">
                <a:solidFill>
                  <a:srgbClr val="205aa7"/>
                </a:solidFill>
                <a:latin typeface="Calibri"/>
              </a:rPr>
              <a:t>Indicateur d’alerte : </a:t>
            </a:r>
            <a:r>
              <a:rPr b="1" lang="fr-FR" sz="2000" spc="-1" strike="noStrike">
                <a:solidFill>
                  <a:srgbClr val="205aa7"/>
                </a:solidFill>
                <a:latin typeface="Calibri"/>
              </a:rPr>
              <a:t>fonds propres nets réduits (FPNR)</a:t>
            </a:r>
            <a:endParaRPr b="0" lang="fr-FR" sz="2000" spc="-1" strike="noStrike">
              <a:solidFill>
                <a:srgbClr val="205aa7"/>
              </a:solidFill>
              <a:latin typeface="Calibri"/>
            </a:endParaRPr>
          </a:p>
          <a:p>
            <a:pPr marL="114480" algn="ctr">
              <a:lnSpc>
                <a:spcPct val="100000"/>
              </a:lnSpc>
              <a:spcBef>
                <a:spcPts val="400"/>
              </a:spcBef>
              <a:tabLst>
                <a:tab algn="l" pos="0"/>
              </a:tabLst>
            </a:pPr>
            <a:r>
              <a:rPr b="1" lang="fr-FR" sz="2000" spc="-1" strike="noStrike">
                <a:solidFill>
                  <a:srgbClr val="205aa7"/>
                </a:solidFill>
                <a:latin typeface="Calibri"/>
              </a:rPr>
              <a:t>FPNR = FP – écart d’acquisition élargi – impôts différés actif – écarts de conversion positifs</a:t>
            </a:r>
            <a:endParaRPr b="0" lang="fr-FR" sz="2000" spc="-1" strike="noStrike">
              <a:solidFill>
                <a:srgbClr val="205aa7"/>
              </a:solidFill>
              <a:latin typeface="Calibri"/>
            </a:endParaRPr>
          </a:p>
        </p:txBody>
      </p:sp>
    </p:spTree>
  </p:cSld>
  <mc:AlternateContent>
    <mc:Choice Requires="p14">
      <p:transition spd="slow" p14:dur="2000"/>
    </mc:Choice>
    <mc:Fallback>
      <p:transition spd="slow"/>
    </mc:Fallback>
  </mc:AlternateContent>
</p:sld>
</file>

<file path=ppt/slides/slide7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4" name="TextShape 1"/>
          <p:cNvSpPr txBox="1"/>
          <p:nvPr/>
        </p:nvSpPr>
        <p:spPr>
          <a:xfrm>
            <a:off x="468000" y="0"/>
            <a:ext cx="8229240" cy="1142640"/>
          </a:xfrm>
          <a:prstGeom prst="rect">
            <a:avLst/>
          </a:prstGeom>
          <a:noFill/>
          <a:ln>
            <a:noFill/>
          </a:ln>
        </p:spPr>
        <p:txBody>
          <a:bodyPr anchor="ctr">
            <a:noAutofit/>
          </a:bodyPr>
          <a:p>
            <a:pPr>
              <a:lnSpc>
                <a:spcPct val="100000"/>
              </a:lnSpc>
            </a:pPr>
            <a:r>
              <a:rPr b="1" lang="fr-FR" sz="2400" spc="-1" strike="noStrike" cap="all">
                <a:solidFill>
                  <a:srgbClr val="ffffff"/>
                </a:solidFill>
                <a:latin typeface="Calibri"/>
              </a:rPr>
              <a:t>3. L’analyse financière des comptes consolidés</a:t>
            </a:r>
            <a:endParaRPr b="0" lang="fr-FR" sz="2400" spc="-1" strike="noStrike">
              <a:solidFill>
                <a:srgbClr val="000000"/>
              </a:solidFill>
              <a:latin typeface="Calibri"/>
            </a:endParaRPr>
          </a:p>
        </p:txBody>
      </p:sp>
      <p:sp>
        <p:nvSpPr>
          <p:cNvPr id="425" name="TextShape 2"/>
          <p:cNvSpPr txBox="1"/>
          <p:nvPr/>
        </p:nvSpPr>
        <p:spPr>
          <a:xfrm>
            <a:off x="3124080" y="6480000"/>
            <a:ext cx="4975920" cy="359640"/>
          </a:xfrm>
          <a:prstGeom prst="rect">
            <a:avLst/>
          </a:prstGeom>
          <a:noFill/>
          <a:ln>
            <a:noFill/>
          </a:ln>
        </p:spPr>
        <p:txBody>
          <a:bodyPr>
            <a:noAutofit/>
          </a:bodyPr>
          <a:p>
            <a:endParaRPr b="0" lang="fr-FR" sz="2400" spc="-1" strike="noStrike">
              <a:latin typeface="Times New Roman"/>
            </a:endParaRPr>
          </a:p>
        </p:txBody>
      </p:sp>
      <p:sp>
        <p:nvSpPr>
          <p:cNvPr id="426" name="TextShape 3"/>
          <p:cNvSpPr txBox="1"/>
          <p:nvPr/>
        </p:nvSpPr>
        <p:spPr>
          <a:xfrm>
            <a:off x="8172360" y="6480000"/>
            <a:ext cx="539640" cy="359640"/>
          </a:xfrm>
          <a:prstGeom prst="rect">
            <a:avLst/>
          </a:prstGeom>
          <a:noFill/>
          <a:ln>
            <a:noFill/>
          </a:ln>
        </p:spPr>
        <p:txBody>
          <a:bodyPr lIns="90000" rIns="90000" tIns="45000" bIns="45000">
            <a:noAutofit/>
          </a:bodyPr>
          <a:p>
            <a:pPr algn="r">
              <a:lnSpc>
                <a:spcPct val="100000"/>
              </a:lnSpc>
            </a:pPr>
            <a:fld id="{DF594D54-7EE6-48E4-AF27-474B2A6FD93E}" type="slidenum">
              <a:rPr b="0" lang="fr-FR" sz="900" spc="-1" strike="noStrike">
                <a:solidFill>
                  <a:srgbClr val="205aa7"/>
                </a:solidFill>
                <a:latin typeface="Calibri"/>
              </a:rPr>
              <a:t>&lt;number&gt;</a:t>
            </a:fld>
            <a:endParaRPr b="0" lang="fr-FR" sz="900" spc="-1" strike="noStrike">
              <a:latin typeface="Times New Roman"/>
            </a:endParaRPr>
          </a:p>
        </p:txBody>
      </p:sp>
      <p:sp>
        <p:nvSpPr>
          <p:cNvPr id="427" name="TextShape 4"/>
          <p:cNvSpPr txBox="1"/>
          <p:nvPr/>
        </p:nvSpPr>
        <p:spPr>
          <a:xfrm>
            <a:off x="468000" y="1440000"/>
            <a:ext cx="8229240" cy="4525560"/>
          </a:xfrm>
          <a:prstGeom prst="rect">
            <a:avLst/>
          </a:prstGeom>
          <a:noFill/>
          <a:ln>
            <a:noFill/>
          </a:ln>
        </p:spPr>
        <p:txBody>
          <a:bodyPr>
            <a:normAutofit/>
          </a:bodyPr>
          <a:p>
            <a:pPr algn="ctr">
              <a:lnSpc>
                <a:spcPct val="100000"/>
              </a:lnSpc>
              <a:spcBef>
                <a:spcPts val="400"/>
              </a:spcBef>
              <a:tabLst>
                <a:tab algn="l" pos="0"/>
              </a:tabLst>
            </a:pPr>
            <a:r>
              <a:rPr b="1" lang="fr-FR" sz="2000" spc="-1" strike="noStrike">
                <a:solidFill>
                  <a:srgbClr val="205aa7"/>
                </a:solidFill>
                <a:latin typeface="Calibri"/>
              </a:rPr>
              <a:t>Étape 4 – Examen de la structure financière</a:t>
            </a:r>
            <a:endParaRPr b="0" lang="fr-FR" sz="2000" spc="-1" strike="noStrike">
              <a:solidFill>
                <a:srgbClr val="205aa7"/>
              </a:solidFill>
              <a:latin typeface="Calibri"/>
            </a:endParaRPr>
          </a:p>
          <a:p>
            <a:pPr algn="just">
              <a:lnSpc>
                <a:spcPct val="100000"/>
              </a:lnSpc>
              <a:spcBef>
                <a:spcPts val="519"/>
              </a:spcBef>
              <a:tabLst>
                <a:tab algn="l" pos="0"/>
              </a:tabLst>
            </a:pPr>
            <a:endParaRPr b="0" lang="fr-FR" sz="2000" spc="-1" strike="noStrike">
              <a:solidFill>
                <a:srgbClr val="205aa7"/>
              </a:solidFill>
              <a:latin typeface="Calibri"/>
            </a:endParaRPr>
          </a:p>
          <a:p>
            <a:pPr>
              <a:lnSpc>
                <a:spcPct val="100000"/>
              </a:lnSpc>
              <a:spcBef>
                <a:spcPts val="519"/>
              </a:spcBef>
              <a:tabLst>
                <a:tab algn="l" pos="0"/>
              </a:tabLst>
            </a:pPr>
            <a:endParaRPr b="0" lang="fr-FR" sz="2000" spc="-1" strike="noStrike">
              <a:solidFill>
                <a:srgbClr val="205aa7"/>
              </a:solidFill>
              <a:latin typeface="Calibri"/>
            </a:endParaRPr>
          </a:p>
        </p:txBody>
      </p:sp>
      <p:pic>
        <p:nvPicPr>
          <p:cNvPr id="428" name="Picture 2" descr=""/>
          <p:cNvPicPr/>
          <p:nvPr/>
        </p:nvPicPr>
        <p:blipFill>
          <a:blip r:embed="rId1"/>
          <a:stretch/>
        </p:blipFill>
        <p:spPr>
          <a:xfrm>
            <a:off x="1378440" y="1821240"/>
            <a:ext cx="6408360" cy="4441320"/>
          </a:xfrm>
          <a:prstGeom prst="rect">
            <a:avLst/>
          </a:prstGeom>
          <a:ln>
            <a:noFill/>
          </a:ln>
        </p:spPr>
      </p:pic>
    </p:spTree>
  </p:cSld>
  <mc:AlternateContent>
    <mc:Choice Requires="p14">
      <p:transition spd="slow" p14:dur="2000"/>
    </mc:Choice>
    <mc:Fallback>
      <p:transition spd="slow"/>
    </mc:Fallback>
  </mc:AlternateContent>
</p:sld>
</file>

<file path=ppt/slides/slide7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9" name="TextShape 1"/>
          <p:cNvSpPr txBox="1"/>
          <p:nvPr/>
        </p:nvSpPr>
        <p:spPr>
          <a:xfrm>
            <a:off x="468000" y="0"/>
            <a:ext cx="8229240" cy="1142640"/>
          </a:xfrm>
          <a:prstGeom prst="rect">
            <a:avLst/>
          </a:prstGeom>
          <a:noFill/>
          <a:ln>
            <a:noFill/>
          </a:ln>
        </p:spPr>
        <p:txBody>
          <a:bodyPr anchor="ctr">
            <a:noAutofit/>
          </a:bodyPr>
          <a:p>
            <a:pPr>
              <a:lnSpc>
                <a:spcPct val="100000"/>
              </a:lnSpc>
            </a:pPr>
            <a:r>
              <a:rPr b="1" lang="fr-FR" sz="2400" spc="-1" strike="noStrike" cap="all">
                <a:solidFill>
                  <a:srgbClr val="ffffff"/>
                </a:solidFill>
                <a:latin typeface="Calibri"/>
              </a:rPr>
              <a:t>3. L’analyse financière des comptes consolidés</a:t>
            </a:r>
            <a:endParaRPr b="0" lang="fr-FR" sz="2400" spc="-1" strike="noStrike">
              <a:solidFill>
                <a:srgbClr val="000000"/>
              </a:solidFill>
              <a:latin typeface="Calibri"/>
            </a:endParaRPr>
          </a:p>
        </p:txBody>
      </p:sp>
      <p:sp>
        <p:nvSpPr>
          <p:cNvPr id="430" name="TextShape 2"/>
          <p:cNvSpPr txBox="1"/>
          <p:nvPr/>
        </p:nvSpPr>
        <p:spPr>
          <a:xfrm>
            <a:off x="3124080" y="6480000"/>
            <a:ext cx="4975920" cy="359640"/>
          </a:xfrm>
          <a:prstGeom prst="rect">
            <a:avLst/>
          </a:prstGeom>
          <a:noFill/>
          <a:ln>
            <a:noFill/>
          </a:ln>
        </p:spPr>
        <p:txBody>
          <a:bodyPr>
            <a:noAutofit/>
          </a:bodyPr>
          <a:p>
            <a:endParaRPr b="0" lang="fr-FR" sz="2400" spc="-1" strike="noStrike">
              <a:latin typeface="Times New Roman"/>
            </a:endParaRPr>
          </a:p>
        </p:txBody>
      </p:sp>
      <p:sp>
        <p:nvSpPr>
          <p:cNvPr id="431" name="TextShape 3"/>
          <p:cNvSpPr txBox="1"/>
          <p:nvPr/>
        </p:nvSpPr>
        <p:spPr>
          <a:xfrm>
            <a:off x="8172360" y="6480000"/>
            <a:ext cx="539640" cy="359640"/>
          </a:xfrm>
          <a:prstGeom prst="rect">
            <a:avLst/>
          </a:prstGeom>
          <a:noFill/>
          <a:ln>
            <a:noFill/>
          </a:ln>
        </p:spPr>
        <p:txBody>
          <a:bodyPr lIns="90000" rIns="90000" tIns="45000" bIns="45000">
            <a:noAutofit/>
          </a:bodyPr>
          <a:p>
            <a:pPr algn="r">
              <a:lnSpc>
                <a:spcPct val="100000"/>
              </a:lnSpc>
            </a:pPr>
            <a:fld id="{BE7CC37A-43A9-49E9-A0A0-6491099A0184}" type="slidenum">
              <a:rPr b="0" lang="fr-FR" sz="900" spc="-1" strike="noStrike">
                <a:solidFill>
                  <a:srgbClr val="205aa7"/>
                </a:solidFill>
                <a:latin typeface="Calibri"/>
              </a:rPr>
              <a:t>&lt;number&gt;</a:t>
            </a:fld>
            <a:endParaRPr b="0" lang="fr-FR" sz="900" spc="-1" strike="noStrike">
              <a:latin typeface="Times New Roman"/>
            </a:endParaRPr>
          </a:p>
        </p:txBody>
      </p:sp>
      <p:sp>
        <p:nvSpPr>
          <p:cNvPr id="432" name="TextShape 4"/>
          <p:cNvSpPr txBox="1"/>
          <p:nvPr/>
        </p:nvSpPr>
        <p:spPr>
          <a:xfrm>
            <a:off x="468000" y="1484640"/>
            <a:ext cx="8229240" cy="4525560"/>
          </a:xfrm>
          <a:prstGeom prst="rect">
            <a:avLst/>
          </a:prstGeom>
          <a:noFill/>
          <a:ln>
            <a:noFill/>
          </a:ln>
        </p:spPr>
        <p:txBody>
          <a:bodyPr>
            <a:normAutofit fontScale="28000"/>
          </a:bodyPr>
          <a:p>
            <a:pPr algn="ctr">
              <a:lnSpc>
                <a:spcPct val="100000"/>
              </a:lnSpc>
              <a:spcBef>
                <a:spcPts val="519"/>
              </a:spcBef>
              <a:tabLst>
                <a:tab algn="l" pos="0"/>
              </a:tabLst>
            </a:pPr>
            <a:r>
              <a:rPr b="1" lang="fr-FR" sz="2600" spc="-1" strike="noStrike">
                <a:solidFill>
                  <a:srgbClr val="205aa7"/>
                </a:solidFill>
                <a:latin typeface="Calibri"/>
              </a:rPr>
              <a:t>Étape 4 – Examen de la structure financière</a:t>
            </a:r>
            <a:endParaRPr b="0" lang="fr-FR" sz="2600" spc="-1" strike="noStrike">
              <a:solidFill>
                <a:srgbClr val="205aa7"/>
              </a:solidFill>
              <a:latin typeface="Calibri"/>
            </a:endParaRPr>
          </a:p>
          <a:p>
            <a:pPr algn="just">
              <a:lnSpc>
                <a:spcPct val="100000"/>
              </a:lnSpc>
              <a:spcBef>
                <a:spcPts val="519"/>
              </a:spcBef>
              <a:tabLst>
                <a:tab algn="l" pos="0"/>
              </a:tabLst>
            </a:pPr>
            <a:endParaRPr b="0" lang="fr-FR" sz="2600" spc="-1" strike="noStrike">
              <a:solidFill>
                <a:srgbClr val="205aa7"/>
              </a:solidFill>
              <a:latin typeface="Calibri"/>
            </a:endParaRPr>
          </a:p>
          <a:p>
            <a:pPr marL="252000" indent="-251640" algn="just">
              <a:lnSpc>
                <a:spcPct val="100000"/>
              </a:lnSpc>
              <a:spcBef>
                <a:spcPts val="519"/>
              </a:spcBef>
              <a:buClr>
                <a:srgbClr val="205aa7"/>
              </a:buClr>
              <a:buFont typeface="Wingdings" charset="2"/>
              <a:buChar char=""/>
              <a:tabLst>
                <a:tab algn="l" pos="0"/>
              </a:tabLst>
            </a:pPr>
            <a:r>
              <a:rPr b="0" lang="fr-FR" sz="2600" spc="-1" strike="noStrike">
                <a:solidFill>
                  <a:srgbClr val="205aa7"/>
                </a:solidFill>
                <a:latin typeface="Calibri"/>
              </a:rPr>
              <a:t>Lorsque l’écart d’acquisition élargi est </a:t>
            </a:r>
            <a:r>
              <a:rPr b="1" lang="fr-FR" sz="2600" spc="-1" strike="noStrike">
                <a:solidFill>
                  <a:srgbClr val="205aa7"/>
                </a:solidFill>
                <a:latin typeface="Calibri"/>
              </a:rPr>
              <a:t>significatif</a:t>
            </a:r>
            <a:r>
              <a:rPr b="0" lang="fr-FR" sz="2600" spc="-1" strike="noStrike">
                <a:solidFill>
                  <a:srgbClr val="205aa7"/>
                </a:solidFill>
                <a:latin typeface="Calibri"/>
              </a:rPr>
              <a:t> ou que le </a:t>
            </a:r>
            <a:r>
              <a:rPr b="1" lang="fr-FR" sz="2600" spc="-1" strike="noStrike">
                <a:solidFill>
                  <a:srgbClr val="205aa7"/>
                </a:solidFill>
                <a:latin typeface="Calibri"/>
              </a:rPr>
              <a:t>montant des fonds propres nets réduits est sensiblement inférieur à celui des fonds propres publiés par le groupe</a:t>
            </a:r>
            <a:r>
              <a:rPr b="0" lang="fr-FR" sz="2600" spc="-1" strike="noStrike">
                <a:solidFill>
                  <a:srgbClr val="205aa7"/>
                </a:solidFill>
                <a:latin typeface="Calibri"/>
              </a:rPr>
              <a:t>, il est nécessaire de circonscrire la valeur de l’écart d’acquisition élargi aux profits générés par l’investissement sur 10 ans. L’excédent est assimilé à une </a:t>
            </a:r>
            <a:r>
              <a:rPr b="1" lang="fr-FR" sz="2600" spc="-1" strike="noStrike">
                <a:solidFill>
                  <a:srgbClr val="205aa7"/>
                </a:solidFill>
                <a:latin typeface="Calibri"/>
              </a:rPr>
              <a:t>non-valeur</a:t>
            </a:r>
            <a:r>
              <a:rPr b="0" lang="fr-FR" sz="2600" spc="-1" strike="noStrike">
                <a:solidFill>
                  <a:srgbClr val="205aa7"/>
                </a:solidFill>
                <a:latin typeface="Calibri"/>
              </a:rPr>
              <a:t>.</a:t>
            </a:r>
            <a:endParaRPr b="0" lang="fr-FR" sz="2600" spc="-1" strike="noStrike">
              <a:solidFill>
                <a:srgbClr val="205aa7"/>
              </a:solidFill>
              <a:latin typeface="Calibri"/>
            </a:endParaRPr>
          </a:p>
          <a:p>
            <a:pPr marL="252000" indent="-251640" algn="just">
              <a:lnSpc>
                <a:spcPct val="100000"/>
              </a:lnSpc>
              <a:spcBef>
                <a:spcPts val="519"/>
              </a:spcBef>
              <a:buClr>
                <a:srgbClr val="205aa7"/>
              </a:buClr>
              <a:buFont typeface="Wingdings" charset="2"/>
              <a:buChar char=""/>
              <a:tabLst>
                <a:tab algn="l" pos="0"/>
              </a:tabLst>
            </a:pPr>
            <a:r>
              <a:rPr b="0" lang="fr-FR" sz="2600" spc="-1" strike="noStrike">
                <a:solidFill>
                  <a:srgbClr val="205aa7"/>
                </a:solidFill>
                <a:latin typeface="Calibri"/>
              </a:rPr>
              <a:t>Le délai du retour sur investissement doit être affiné en fonction du secteur d’activité et lorsque la visibilité sur les rendements attendus est faible (la durée de 10 ans peut paraître excessive) ou forte (la durée de 10 ans peut paraître réduite).</a:t>
            </a:r>
            <a:endParaRPr b="0" lang="fr-FR" sz="2600" spc="-1" strike="noStrike">
              <a:solidFill>
                <a:srgbClr val="205aa7"/>
              </a:solidFill>
              <a:latin typeface="Calibri"/>
            </a:endParaRPr>
          </a:p>
          <a:p>
            <a:pPr marL="252000" indent="-251640" algn="just">
              <a:lnSpc>
                <a:spcPct val="100000"/>
              </a:lnSpc>
              <a:spcBef>
                <a:spcPts val="519"/>
              </a:spcBef>
              <a:buClr>
                <a:srgbClr val="205aa7"/>
              </a:buClr>
              <a:buFont typeface="Wingdings" charset="2"/>
              <a:buChar char=""/>
              <a:tabLst>
                <a:tab algn="l" pos="0"/>
              </a:tabLst>
            </a:pPr>
            <a:r>
              <a:rPr b="0" lang="fr-FR" sz="2600" spc="-1" strike="noStrike">
                <a:solidFill>
                  <a:srgbClr val="205aa7"/>
                </a:solidFill>
                <a:latin typeface="Calibri"/>
              </a:rPr>
              <a:t>Par défaut, la rentabilité d’une filiale est estimée à 10 fois son résultat net récurrent.</a:t>
            </a:r>
            <a:endParaRPr b="0" lang="fr-FR" sz="2600" spc="-1" strike="noStrike">
              <a:solidFill>
                <a:srgbClr val="205aa7"/>
              </a:solidFill>
              <a:latin typeface="Calibri"/>
            </a:endParaRPr>
          </a:p>
          <a:p>
            <a:pPr marL="252000" indent="-251640" algn="just">
              <a:lnSpc>
                <a:spcPct val="100000"/>
              </a:lnSpc>
              <a:spcBef>
                <a:spcPts val="519"/>
              </a:spcBef>
              <a:buClr>
                <a:srgbClr val="205aa7"/>
              </a:buClr>
              <a:buFont typeface="Wingdings" charset="2"/>
              <a:buChar char=""/>
              <a:tabLst>
                <a:tab algn="l" pos="0"/>
              </a:tabLst>
            </a:pPr>
            <a:r>
              <a:rPr b="0" lang="fr-FR" sz="2600" spc="-1" strike="noStrike">
                <a:solidFill>
                  <a:srgbClr val="205aa7"/>
                </a:solidFill>
                <a:latin typeface="Calibri"/>
              </a:rPr>
              <a:t>Lorsqu’on ne dispose pas du détail de l’écart d’acquisition par filiale, ni des performances des filiales concernées, l’écart d’acquisition global peut être comparé au résultat net récurrent du groupe.</a:t>
            </a:r>
            <a:endParaRPr b="0" lang="fr-FR" sz="2600" spc="-1" strike="noStrike">
              <a:solidFill>
                <a:srgbClr val="205aa7"/>
              </a:solidFill>
              <a:latin typeface="Calibri"/>
            </a:endParaRPr>
          </a:p>
          <a:p>
            <a:pPr>
              <a:lnSpc>
                <a:spcPct val="100000"/>
              </a:lnSpc>
              <a:spcBef>
                <a:spcPts val="519"/>
              </a:spcBef>
              <a:tabLst>
                <a:tab algn="l" pos="0"/>
              </a:tabLst>
            </a:pPr>
            <a:endParaRPr b="0" lang="fr-FR" sz="2600" spc="-1" strike="noStrike">
              <a:solidFill>
                <a:srgbClr val="205aa7"/>
              </a:solidFill>
              <a:latin typeface="Calibri"/>
            </a:endParaRPr>
          </a:p>
        </p:txBody>
      </p:sp>
    </p:spTree>
  </p:cSld>
  <mc:AlternateContent>
    <mc:Choice Requires="p14">
      <p:transition spd="slow" p14:dur="2000"/>
    </mc:Choice>
    <mc:Fallback>
      <p:transition spd="slow"/>
    </mc:Fallback>
  </mc:AlternateContent>
</p:sld>
</file>

<file path=ppt/slides/slide7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3" name="TextShape 1"/>
          <p:cNvSpPr txBox="1"/>
          <p:nvPr/>
        </p:nvSpPr>
        <p:spPr>
          <a:xfrm>
            <a:off x="468000" y="0"/>
            <a:ext cx="8229240" cy="1142640"/>
          </a:xfrm>
          <a:prstGeom prst="rect">
            <a:avLst/>
          </a:prstGeom>
          <a:noFill/>
          <a:ln>
            <a:noFill/>
          </a:ln>
        </p:spPr>
        <p:txBody>
          <a:bodyPr anchor="ctr">
            <a:noAutofit/>
          </a:bodyPr>
          <a:p>
            <a:pPr>
              <a:lnSpc>
                <a:spcPct val="100000"/>
              </a:lnSpc>
            </a:pPr>
            <a:r>
              <a:rPr b="1" lang="fr-FR" sz="2400" spc="-1" strike="noStrike" cap="all">
                <a:solidFill>
                  <a:srgbClr val="ffffff"/>
                </a:solidFill>
                <a:latin typeface="Calibri"/>
              </a:rPr>
              <a:t>3. L’analyse financière des comptes consolidés</a:t>
            </a:r>
            <a:endParaRPr b="0" lang="fr-FR" sz="2400" spc="-1" strike="noStrike">
              <a:solidFill>
                <a:srgbClr val="000000"/>
              </a:solidFill>
              <a:latin typeface="Calibri"/>
            </a:endParaRPr>
          </a:p>
        </p:txBody>
      </p:sp>
      <p:sp>
        <p:nvSpPr>
          <p:cNvPr id="434" name="TextShape 2"/>
          <p:cNvSpPr txBox="1"/>
          <p:nvPr/>
        </p:nvSpPr>
        <p:spPr>
          <a:xfrm>
            <a:off x="3124080" y="6480000"/>
            <a:ext cx="4975920" cy="359640"/>
          </a:xfrm>
          <a:prstGeom prst="rect">
            <a:avLst/>
          </a:prstGeom>
          <a:noFill/>
          <a:ln>
            <a:noFill/>
          </a:ln>
        </p:spPr>
        <p:txBody>
          <a:bodyPr>
            <a:noAutofit/>
          </a:bodyPr>
          <a:p>
            <a:endParaRPr b="0" lang="fr-FR" sz="2400" spc="-1" strike="noStrike">
              <a:latin typeface="Times New Roman"/>
            </a:endParaRPr>
          </a:p>
        </p:txBody>
      </p:sp>
      <p:sp>
        <p:nvSpPr>
          <p:cNvPr id="435" name="TextShape 3"/>
          <p:cNvSpPr txBox="1"/>
          <p:nvPr/>
        </p:nvSpPr>
        <p:spPr>
          <a:xfrm>
            <a:off x="8172360" y="6480000"/>
            <a:ext cx="539640" cy="359640"/>
          </a:xfrm>
          <a:prstGeom prst="rect">
            <a:avLst/>
          </a:prstGeom>
          <a:noFill/>
          <a:ln>
            <a:noFill/>
          </a:ln>
        </p:spPr>
        <p:txBody>
          <a:bodyPr lIns="90000" rIns="90000" tIns="45000" bIns="45000">
            <a:noAutofit/>
          </a:bodyPr>
          <a:p>
            <a:pPr algn="r">
              <a:lnSpc>
                <a:spcPct val="100000"/>
              </a:lnSpc>
            </a:pPr>
            <a:fld id="{34BF9676-735C-4706-A917-FAAC75F34A49}" type="slidenum">
              <a:rPr b="0" lang="fr-FR" sz="900" spc="-1" strike="noStrike">
                <a:solidFill>
                  <a:srgbClr val="205aa7"/>
                </a:solidFill>
                <a:latin typeface="Calibri"/>
              </a:rPr>
              <a:t>&lt;number&gt;</a:t>
            </a:fld>
            <a:endParaRPr b="0" lang="fr-FR" sz="900" spc="-1" strike="noStrike">
              <a:latin typeface="Times New Roman"/>
            </a:endParaRPr>
          </a:p>
        </p:txBody>
      </p:sp>
      <p:sp>
        <p:nvSpPr>
          <p:cNvPr id="436" name="TextShape 4"/>
          <p:cNvSpPr txBox="1"/>
          <p:nvPr/>
        </p:nvSpPr>
        <p:spPr>
          <a:xfrm>
            <a:off x="468000" y="1440000"/>
            <a:ext cx="8229240" cy="4525560"/>
          </a:xfrm>
          <a:prstGeom prst="rect">
            <a:avLst/>
          </a:prstGeom>
          <a:noFill/>
          <a:ln>
            <a:noFill/>
          </a:ln>
        </p:spPr>
        <p:txBody>
          <a:bodyPr>
            <a:normAutofit/>
          </a:bodyPr>
          <a:p>
            <a:pPr algn="ctr">
              <a:lnSpc>
                <a:spcPct val="100000"/>
              </a:lnSpc>
              <a:spcBef>
                <a:spcPts val="400"/>
              </a:spcBef>
              <a:tabLst>
                <a:tab algn="l" pos="0"/>
              </a:tabLst>
            </a:pPr>
            <a:r>
              <a:rPr b="1" lang="fr-FR" sz="2000" spc="-1" strike="noStrike">
                <a:solidFill>
                  <a:srgbClr val="205aa7"/>
                </a:solidFill>
                <a:latin typeface="Calibri"/>
              </a:rPr>
              <a:t>Étape 4 – Examen de la structure financière</a:t>
            </a:r>
            <a:endParaRPr b="0" lang="fr-FR" sz="2000" spc="-1" strike="noStrike">
              <a:solidFill>
                <a:srgbClr val="205aa7"/>
              </a:solidFill>
              <a:latin typeface="Calibri"/>
            </a:endParaRPr>
          </a:p>
          <a:p>
            <a:pPr algn="ctr">
              <a:lnSpc>
                <a:spcPct val="100000"/>
              </a:lnSpc>
              <a:spcBef>
                <a:spcPts val="201"/>
              </a:spcBef>
              <a:tabLst>
                <a:tab algn="l" pos="0"/>
              </a:tabLst>
            </a:pPr>
            <a:endParaRPr b="0" lang="fr-FR" sz="2000" spc="-1" strike="noStrike">
              <a:solidFill>
                <a:srgbClr val="205aa7"/>
              </a:solidFill>
              <a:latin typeface="Calibri"/>
            </a:endParaRPr>
          </a:p>
          <a:p>
            <a:pPr algn="ctr">
              <a:lnSpc>
                <a:spcPct val="100000"/>
              </a:lnSpc>
              <a:spcBef>
                <a:spcPts val="400"/>
              </a:spcBef>
              <a:tabLst>
                <a:tab algn="l" pos="0"/>
              </a:tabLst>
            </a:pPr>
            <a:r>
              <a:rPr b="0" lang="fr-FR" sz="2000" spc="-1" strike="noStrike" u="sng">
                <a:solidFill>
                  <a:srgbClr val="205aa7"/>
                </a:solidFill>
                <a:uFillTx/>
                <a:latin typeface="Calibri"/>
              </a:rPr>
              <a:t>Les impôts différés</a:t>
            </a:r>
            <a:endParaRPr b="0" lang="fr-FR" sz="2000" spc="-1" strike="noStrike">
              <a:solidFill>
                <a:srgbClr val="205aa7"/>
              </a:solidFill>
              <a:latin typeface="Calibri"/>
            </a:endParaRPr>
          </a:p>
          <a:p>
            <a:pPr marL="252000" indent="-251640" algn="just">
              <a:lnSpc>
                <a:spcPct val="100000"/>
              </a:lnSpc>
              <a:spcBef>
                <a:spcPts val="400"/>
              </a:spcBef>
              <a:buClr>
                <a:srgbClr val="205aa7"/>
              </a:buClr>
              <a:buFont typeface="Wingdings" charset="2"/>
              <a:buChar char=""/>
              <a:tabLst>
                <a:tab algn="l" pos="0"/>
              </a:tabLst>
            </a:pPr>
            <a:r>
              <a:rPr b="0" lang="fr-FR" sz="2000" spc="-1" strike="noStrike">
                <a:solidFill>
                  <a:srgbClr val="205aa7"/>
                </a:solidFill>
                <a:latin typeface="Calibri"/>
              </a:rPr>
              <a:t>Il s’agit de la différence entre l’impôt économiquement justifié et l’impôt exigible.</a:t>
            </a:r>
            <a:endParaRPr b="0" lang="fr-FR" sz="2000" spc="-1" strike="noStrike">
              <a:solidFill>
                <a:srgbClr val="205aa7"/>
              </a:solidFill>
              <a:latin typeface="Calibri"/>
            </a:endParaRPr>
          </a:p>
          <a:p>
            <a:pPr marL="252000" indent="-251640" algn="just">
              <a:lnSpc>
                <a:spcPct val="100000"/>
              </a:lnSpc>
              <a:spcBef>
                <a:spcPts val="400"/>
              </a:spcBef>
              <a:buClr>
                <a:srgbClr val="205aa7"/>
              </a:buClr>
              <a:buFont typeface="Wingdings" charset="2"/>
              <a:buChar char=""/>
              <a:tabLst>
                <a:tab algn="l" pos="0"/>
              </a:tabLst>
            </a:pPr>
            <a:r>
              <a:rPr b="0" lang="fr-FR" sz="2000" spc="-1" strike="noStrike">
                <a:solidFill>
                  <a:srgbClr val="205aa7"/>
                </a:solidFill>
                <a:latin typeface="Calibri"/>
              </a:rPr>
              <a:t>Les impôts différés proviennent :</a:t>
            </a:r>
            <a:endParaRPr b="0" lang="fr-FR" sz="2000" spc="-1" strike="noStrike">
              <a:solidFill>
                <a:srgbClr val="205aa7"/>
              </a:solidFill>
              <a:latin typeface="Calibri"/>
            </a:endParaRPr>
          </a:p>
          <a:p>
            <a:pPr lvl="1" marL="743040" indent="-285480" algn="just">
              <a:lnSpc>
                <a:spcPct val="100000"/>
              </a:lnSpc>
              <a:spcBef>
                <a:spcPts val="360"/>
              </a:spcBef>
              <a:buClr>
                <a:srgbClr val="205aa7"/>
              </a:buClr>
              <a:buFont typeface="Arial"/>
              <a:buChar char="–"/>
              <a:tabLst>
                <a:tab algn="l" pos="0"/>
              </a:tabLst>
            </a:pPr>
            <a:r>
              <a:rPr b="0" lang="fr-FR" sz="1800" spc="-1" strike="noStrike">
                <a:solidFill>
                  <a:srgbClr val="205aa7"/>
                </a:solidFill>
                <a:latin typeface="Calibri"/>
              </a:rPr>
              <a:t>des décalages entre la constatation comptable des produits et des charges et leur inclusion dans le résultat fiscal.</a:t>
            </a:r>
            <a:endParaRPr b="0" lang="fr-FR" sz="1800" spc="-1" strike="noStrike">
              <a:solidFill>
                <a:srgbClr val="595959"/>
              </a:solidFill>
              <a:latin typeface="Calibri"/>
            </a:endParaRPr>
          </a:p>
          <a:p>
            <a:pPr lvl="1" marL="743040" indent="-285480" algn="just">
              <a:lnSpc>
                <a:spcPct val="100000"/>
              </a:lnSpc>
              <a:spcBef>
                <a:spcPts val="360"/>
              </a:spcBef>
              <a:buClr>
                <a:srgbClr val="205aa7"/>
              </a:buClr>
              <a:buFont typeface="Arial"/>
              <a:buChar char="–"/>
              <a:tabLst>
                <a:tab algn="l" pos="0"/>
              </a:tabLst>
            </a:pPr>
            <a:r>
              <a:rPr b="0" lang="fr-FR" sz="1800" spc="-1" strike="noStrike">
                <a:solidFill>
                  <a:srgbClr val="205aa7"/>
                </a:solidFill>
                <a:latin typeface="Calibri"/>
              </a:rPr>
              <a:t>de l’impact fiscal théorique des retraitements de </a:t>
            </a:r>
            <a:r>
              <a:rPr b="0" lang="fr-FR" sz="1800" spc="-1" strike="noStrike">
                <a:solidFill>
                  <a:srgbClr val="205aa7"/>
                </a:solidFill>
                <a:latin typeface="Calibri"/>
              </a:rPr>
              <a:t>	</a:t>
            </a:r>
            <a:r>
              <a:rPr b="0" lang="fr-FR" sz="1800" spc="-1" strike="noStrike">
                <a:solidFill>
                  <a:srgbClr val="205aa7"/>
                </a:solidFill>
                <a:latin typeface="Calibri"/>
              </a:rPr>
              <a:t>consolidation (déficits fiscaux reportables).</a:t>
            </a:r>
            <a:endParaRPr b="0" lang="fr-FR" sz="1800" spc="-1" strike="noStrike">
              <a:solidFill>
                <a:srgbClr val="595959"/>
              </a:solidFill>
              <a:latin typeface="Calibri"/>
            </a:endParaRPr>
          </a:p>
          <a:p>
            <a:pPr lvl="1" marL="743040" indent="-285480" algn="just">
              <a:lnSpc>
                <a:spcPct val="100000"/>
              </a:lnSpc>
              <a:spcBef>
                <a:spcPts val="360"/>
              </a:spcBef>
              <a:buClr>
                <a:srgbClr val="205aa7"/>
              </a:buClr>
              <a:buFont typeface="Arial"/>
              <a:buChar char="–"/>
              <a:tabLst>
                <a:tab algn="l" pos="0"/>
              </a:tabLst>
            </a:pPr>
            <a:r>
              <a:rPr b="0" lang="fr-FR" sz="1800" spc="-1" strike="noStrike">
                <a:solidFill>
                  <a:srgbClr val="205aa7"/>
                </a:solidFill>
                <a:latin typeface="Calibri"/>
              </a:rPr>
              <a:t>de la fiscalité latente liée à la revalorisation du bilan dans le cadre d’une acquisition d’entreprise.</a:t>
            </a:r>
            <a:endParaRPr b="0" lang="fr-FR" sz="1800" spc="-1" strike="noStrike">
              <a:solidFill>
                <a:srgbClr val="595959"/>
              </a:solidFill>
              <a:latin typeface="Calibri"/>
            </a:endParaRPr>
          </a:p>
          <a:p>
            <a:pPr>
              <a:lnSpc>
                <a:spcPct val="100000"/>
              </a:lnSpc>
              <a:spcBef>
                <a:spcPts val="519"/>
              </a:spcBef>
              <a:tabLst>
                <a:tab algn="l" pos="0"/>
              </a:tabLst>
            </a:pPr>
            <a:endParaRPr b="0" lang="fr-FR" sz="1800" spc="-1" strike="noStrike">
              <a:solidFill>
                <a:srgbClr val="205aa7"/>
              </a:solidFill>
              <a:latin typeface="Calibri"/>
            </a:endParaRPr>
          </a:p>
        </p:txBody>
      </p:sp>
    </p:spTree>
  </p:cSld>
  <mc:AlternateContent>
    <mc:Choice Requires="p14">
      <p:transition spd="slow" p14:dur="2000"/>
    </mc:Choice>
    <mc:Fallback>
      <p:transition spd="slow"/>
    </mc:Fallback>
  </mc:AlternateContent>
</p:sld>
</file>

<file path=ppt/slides/slide7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7" name="TextShape 1"/>
          <p:cNvSpPr txBox="1"/>
          <p:nvPr/>
        </p:nvSpPr>
        <p:spPr>
          <a:xfrm>
            <a:off x="468000" y="0"/>
            <a:ext cx="8229240" cy="1142640"/>
          </a:xfrm>
          <a:prstGeom prst="rect">
            <a:avLst/>
          </a:prstGeom>
          <a:noFill/>
          <a:ln>
            <a:noFill/>
          </a:ln>
        </p:spPr>
        <p:txBody>
          <a:bodyPr anchor="ctr">
            <a:noAutofit/>
          </a:bodyPr>
          <a:p>
            <a:pPr>
              <a:lnSpc>
                <a:spcPct val="100000"/>
              </a:lnSpc>
            </a:pPr>
            <a:r>
              <a:rPr b="1" lang="fr-FR" sz="2400" spc="-1" strike="noStrike" cap="all">
                <a:solidFill>
                  <a:srgbClr val="ffffff"/>
                </a:solidFill>
                <a:latin typeface="Calibri"/>
              </a:rPr>
              <a:t>3. L’analyse financière des comptes consolidés</a:t>
            </a:r>
            <a:endParaRPr b="0" lang="fr-FR" sz="2400" spc="-1" strike="noStrike">
              <a:solidFill>
                <a:srgbClr val="000000"/>
              </a:solidFill>
              <a:latin typeface="Calibri"/>
            </a:endParaRPr>
          </a:p>
        </p:txBody>
      </p:sp>
      <p:sp>
        <p:nvSpPr>
          <p:cNvPr id="438" name="TextShape 2"/>
          <p:cNvSpPr txBox="1"/>
          <p:nvPr/>
        </p:nvSpPr>
        <p:spPr>
          <a:xfrm>
            <a:off x="3124080" y="6480000"/>
            <a:ext cx="4975920" cy="359640"/>
          </a:xfrm>
          <a:prstGeom prst="rect">
            <a:avLst/>
          </a:prstGeom>
          <a:noFill/>
          <a:ln>
            <a:noFill/>
          </a:ln>
        </p:spPr>
        <p:txBody>
          <a:bodyPr>
            <a:noAutofit/>
          </a:bodyPr>
          <a:p>
            <a:endParaRPr b="0" lang="fr-FR" sz="2400" spc="-1" strike="noStrike">
              <a:latin typeface="Times New Roman"/>
            </a:endParaRPr>
          </a:p>
        </p:txBody>
      </p:sp>
      <p:sp>
        <p:nvSpPr>
          <p:cNvPr id="439" name="TextShape 3"/>
          <p:cNvSpPr txBox="1"/>
          <p:nvPr/>
        </p:nvSpPr>
        <p:spPr>
          <a:xfrm>
            <a:off x="8172360" y="6480000"/>
            <a:ext cx="539640" cy="359640"/>
          </a:xfrm>
          <a:prstGeom prst="rect">
            <a:avLst/>
          </a:prstGeom>
          <a:noFill/>
          <a:ln>
            <a:noFill/>
          </a:ln>
        </p:spPr>
        <p:txBody>
          <a:bodyPr lIns="90000" rIns="90000" tIns="45000" bIns="45000">
            <a:noAutofit/>
          </a:bodyPr>
          <a:p>
            <a:pPr algn="r">
              <a:lnSpc>
                <a:spcPct val="100000"/>
              </a:lnSpc>
            </a:pPr>
            <a:fld id="{EF0B5A5B-8E6C-45E5-8819-BE729E7DF696}" type="slidenum">
              <a:rPr b="0" lang="fr-FR" sz="900" spc="-1" strike="noStrike">
                <a:solidFill>
                  <a:srgbClr val="205aa7"/>
                </a:solidFill>
                <a:latin typeface="Calibri"/>
              </a:rPr>
              <a:t>&lt;number&gt;</a:t>
            </a:fld>
            <a:endParaRPr b="0" lang="fr-FR" sz="900" spc="-1" strike="noStrike">
              <a:latin typeface="Times New Roman"/>
            </a:endParaRPr>
          </a:p>
        </p:txBody>
      </p:sp>
      <p:sp>
        <p:nvSpPr>
          <p:cNvPr id="440" name="TextShape 4"/>
          <p:cNvSpPr txBox="1"/>
          <p:nvPr/>
        </p:nvSpPr>
        <p:spPr>
          <a:xfrm>
            <a:off x="468000" y="1440000"/>
            <a:ext cx="8229240" cy="4525560"/>
          </a:xfrm>
          <a:prstGeom prst="rect">
            <a:avLst/>
          </a:prstGeom>
          <a:noFill/>
          <a:ln>
            <a:noFill/>
          </a:ln>
        </p:spPr>
        <p:txBody>
          <a:bodyPr>
            <a:normAutofit/>
          </a:bodyPr>
          <a:p>
            <a:pPr algn="ctr">
              <a:lnSpc>
                <a:spcPct val="100000"/>
              </a:lnSpc>
              <a:spcBef>
                <a:spcPts val="400"/>
              </a:spcBef>
              <a:tabLst>
                <a:tab algn="l" pos="0"/>
              </a:tabLst>
            </a:pPr>
            <a:r>
              <a:rPr b="1" lang="fr-FR" sz="2000" spc="-1" strike="noStrike">
                <a:solidFill>
                  <a:srgbClr val="205aa7"/>
                </a:solidFill>
                <a:latin typeface="Calibri"/>
              </a:rPr>
              <a:t>Étape 4 – Examen de la structure financière</a:t>
            </a:r>
            <a:endParaRPr b="0" lang="fr-FR" sz="2000" spc="-1" strike="noStrike">
              <a:solidFill>
                <a:srgbClr val="205aa7"/>
              </a:solidFill>
              <a:latin typeface="Calibri"/>
            </a:endParaRPr>
          </a:p>
          <a:p>
            <a:pPr algn="ctr">
              <a:lnSpc>
                <a:spcPct val="100000"/>
              </a:lnSpc>
              <a:spcBef>
                <a:spcPts val="201"/>
              </a:spcBef>
              <a:tabLst>
                <a:tab algn="l" pos="0"/>
              </a:tabLst>
            </a:pPr>
            <a:endParaRPr b="0" lang="fr-FR" sz="2000" spc="-1" strike="noStrike">
              <a:solidFill>
                <a:srgbClr val="205aa7"/>
              </a:solidFill>
              <a:latin typeface="Calibri"/>
            </a:endParaRPr>
          </a:p>
          <a:p>
            <a:pPr algn="ctr">
              <a:lnSpc>
                <a:spcPct val="100000"/>
              </a:lnSpc>
              <a:spcBef>
                <a:spcPts val="400"/>
              </a:spcBef>
              <a:tabLst>
                <a:tab algn="l" pos="0"/>
              </a:tabLst>
            </a:pPr>
            <a:r>
              <a:rPr b="0" lang="fr-FR" sz="2000" spc="-1" strike="noStrike" u="sng">
                <a:solidFill>
                  <a:srgbClr val="205aa7"/>
                </a:solidFill>
                <a:uFillTx/>
                <a:latin typeface="Calibri"/>
              </a:rPr>
              <a:t>Un exemple d’impôts différés </a:t>
            </a:r>
            <a:endParaRPr b="0" lang="fr-FR" sz="2000" spc="-1" strike="noStrike">
              <a:solidFill>
                <a:srgbClr val="205aa7"/>
              </a:solidFill>
              <a:latin typeface="Calibri"/>
            </a:endParaRPr>
          </a:p>
          <a:p>
            <a:pPr>
              <a:lnSpc>
                <a:spcPct val="100000"/>
              </a:lnSpc>
              <a:spcBef>
                <a:spcPts val="519"/>
              </a:spcBef>
              <a:tabLst>
                <a:tab algn="l" pos="0"/>
              </a:tabLst>
            </a:pPr>
            <a:endParaRPr b="0" lang="fr-FR" sz="2000" spc="-1" strike="noStrike">
              <a:solidFill>
                <a:srgbClr val="205aa7"/>
              </a:solidFill>
              <a:latin typeface="Calibri"/>
            </a:endParaRPr>
          </a:p>
        </p:txBody>
      </p:sp>
      <p:pic>
        <p:nvPicPr>
          <p:cNvPr id="441" name="Picture 3" descr=""/>
          <p:cNvPicPr/>
          <p:nvPr/>
        </p:nvPicPr>
        <p:blipFill>
          <a:blip r:embed="rId1"/>
          <a:stretch/>
        </p:blipFill>
        <p:spPr>
          <a:xfrm>
            <a:off x="1555560" y="2349000"/>
            <a:ext cx="6054120" cy="3959640"/>
          </a:xfrm>
          <a:prstGeom prst="rect">
            <a:avLst/>
          </a:prstGeom>
          <a:ln>
            <a:noFill/>
          </a:ln>
        </p:spPr>
      </p:pic>
    </p:spTree>
  </p:cSld>
  <mc:AlternateContent>
    <mc:Choice Requires="p14">
      <p:transition spd="slow" p14:dur="2000"/>
    </mc:Choice>
    <mc:Fallback>
      <p:transition spd="slow"/>
    </mc:Fallback>
  </mc:AlternateContent>
</p:sld>
</file>

<file path=ppt/slides/slide7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2" name="TextShape 1"/>
          <p:cNvSpPr txBox="1"/>
          <p:nvPr/>
        </p:nvSpPr>
        <p:spPr>
          <a:xfrm>
            <a:off x="468000" y="0"/>
            <a:ext cx="8229240" cy="1142640"/>
          </a:xfrm>
          <a:prstGeom prst="rect">
            <a:avLst/>
          </a:prstGeom>
          <a:noFill/>
          <a:ln>
            <a:noFill/>
          </a:ln>
        </p:spPr>
        <p:txBody>
          <a:bodyPr anchor="ctr">
            <a:noAutofit/>
          </a:bodyPr>
          <a:p>
            <a:pPr>
              <a:lnSpc>
                <a:spcPct val="100000"/>
              </a:lnSpc>
            </a:pPr>
            <a:r>
              <a:rPr b="1" lang="fr-FR" sz="2400" spc="-1" strike="noStrike" cap="all">
                <a:solidFill>
                  <a:srgbClr val="ffffff"/>
                </a:solidFill>
                <a:latin typeface="Calibri"/>
              </a:rPr>
              <a:t>3. L’analyse financière des comptes consolidés</a:t>
            </a:r>
            <a:endParaRPr b="0" lang="fr-FR" sz="2400" spc="-1" strike="noStrike">
              <a:solidFill>
                <a:srgbClr val="000000"/>
              </a:solidFill>
              <a:latin typeface="Calibri"/>
            </a:endParaRPr>
          </a:p>
        </p:txBody>
      </p:sp>
      <p:sp>
        <p:nvSpPr>
          <p:cNvPr id="443" name="TextShape 2"/>
          <p:cNvSpPr txBox="1"/>
          <p:nvPr/>
        </p:nvSpPr>
        <p:spPr>
          <a:xfrm>
            <a:off x="3124080" y="6480000"/>
            <a:ext cx="4975920" cy="359640"/>
          </a:xfrm>
          <a:prstGeom prst="rect">
            <a:avLst/>
          </a:prstGeom>
          <a:noFill/>
          <a:ln>
            <a:noFill/>
          </a:ln>
        </p:spPr>
        <p:txBody>
          <a:bodyPr>
            <a:noAutofit/>
          </a:bodyPr>
          <a:p>
            <a:endParaRPr b="0" lang="fr-FR" sz="2400" spc="-1" strike="noStrike">
              <a:latin typeface="Times New Roman"/>
            </a:endParaRPr>
          </a:p>
        </p:txBody>
      </p:sp>
      <p:sp>
        <p:nvSpPr>
          <p:cNvPr id="444" name="TextShape 3"/>
          <p:cNvSpPr txBox="1"/>
          <p:nvPr/>
        </p:nvSpPr>
        <p:spPr>
          <a:xfrm>
            <a:off x="8172360" y="6480000"/>
            <a:ext cx="539640" cy="359640"/>
          </a:xfrm>
          <a:prstGeom prst="rect">
            <a:avLst/>
          </a:prstGeom>
          <a:noFill/>
          <a:ln>
            <a:noFill/>
          </a:ln>
        </p:spPr>
        <p:txBody>
          <a:bodyPr lIns="90000" rIns="90000" tIns="45000" bIns="45000">
            <a:noAutofit/>
          </a:bodyPr>
          <a:p>
            <a:pPr algn="r">
              <a:lnSpc>
                <a:spcPct val="100000"/>
              </a:lnSpc>
            </a:pPr>
            <a:fld id="{D28D81EF-0A54-4885-ACEB-2A2231216D35}" type="slidenum">
              <a:rPr b="0" lang="fr-FR" sz="900" spc="-1" strike="noStrike">
                <a:solidFill>
                  <a:srgbClr val="205aa7"/>
                </a:solidFill>
                <a:latin typeface="Calibri"/>
              </a:rPr>
              <a:t>&lt;number&gt;</a:t>
            </a:fld>
            <a:endParaRPr b="0" lang="fr-FR" sz="900" spc="-1" strike="noStrike">
              <a:latin typeface="Times New Roman"/>
            </a:endParaRPr>
          </a:p>
        </p:txBody>
      </p:sp>
      <p:sp>
        <p:nvSpPr>
          <p:cNvPr id="445" name="TextShape 4"/>
          <p:cNvSpPr txBox="1"/>
          <p:nvPr/>
        </p:nvSpPr>
        <p:spPr>
          <a:xfrm>
            <a:off x="468000" y="1440000"/>
            <a:ext cx="8229240" cy="4525560"/>
          </a:xfrm>
          <a:prstGeom prst="rect">
            <a:avLst/>
          </a:prstGeom>
          <a:noFill/>
          <a:ln>
            <a:noFill/>
          </a:ln>
        </p:spPr>
        <p:txBody>
          <a:bodyPr>
            <a:normAutofit/>
          </a:bodyPr>
          <a:p>
            <a:pPr algn="ctr">
              <a:lnSpc>
                <a:spcPct val="100000"/>
              </a:lnSpc>
              <a:spcBef>
                <a:spcPts val="400"/>
              </a:spcBef>
              <a:tabLst>
                <a:tab algn="l" pos="0"/>
              </a:tabLst>
            </a:pPr>
            <a:r>
              <a:rPr b="1" lang="fr-FR" sz="2000" spc="-1" strike="noStrike">
                <a:solidFill>
                  <a:srgbClr val="205aa7"/>
                </a:solidFill>
                <a:latin typeface="Calibri"/>
              </a:rPr>
              <a:t>Étape 4 – Examen de la structure financière</a:t>
            </a:r>
            <a:endParaRPr b="0" lang="fr-FR" sz="2000" spc="-1" strike="noStrike">
              <a:solidFill>
                <a:srgbClr val="205aa7"/>
              </a:solidFill>
              <a:latin typeface="Calibri"/>
            </a:endParaRPr>
          </a:p>
          <a:p>
            <a:pPr algn="ctr">
              <a:lnSpc>
                <a:spcPct val="100000"/>
              </a:lnSpc>
              <a:spcBef>
                <a:spcPts val="201"/>
              </a:spcBef>
              <a:tabLst>
                <a:tab algn="l" pos="0"/>
              </a:tabLst>
            </a:pPr>
            <a:endParaRPr b="0" lang="fr-FR" sz="2000" spc="-1" strike="noStrike">
              <a:solidFill>
                <a:srgbClr val="205aa7"/>
              </a:solidFill>
              <a:latin typeface="Calibri"/>
            </a:endParaRPr>
          </a:p>
          <a:p>
            <a:pPr algn="ctr">
              <a:lnSpc>
                <a:spcPct val="100000"/>
              </a:lnSpc>
              <a:spcBef>
                <a:spcPts val="400"/>
              </a:spcBef>
              <a:tabLst>
                <a:tab algn="l" pos="0"/>
              </a:tabLst>
            </a:pPr>
            <a:r>
              <a:rPr b="0" lang="fr-FR" sz="2000" spc="-1" strike="noStrike" u="sng">
                <a:solidFill>
                  <a:srgbClr val="205aa7"/>
                </a:solidFill>
                <a:uFillTx/>
                <a:latin typeface="Calibri"/>
              </a:rPr>
              <a:t>Un exemple d’impôts différés </a:t>
            </a:r>
            <a:endParaRPr b="0" lang="fr-FR" sz="2000" spc="-1" strike="noStrike">
              <a:solidFill>
                <a:srgbClr val="205aa7"/>
              </a:solidFill>
              <a:latin typeface="Calibri"/>
            </a:endParaRPr>
          </a:p>
          <a:p>
            <a:pPr>
              <a:lnSpc>
                <a:spcPct val="100000"/>
              </a:lnSpc>
              <a:spcBef>
                <a:spcPts val="519"/>
              </a:spcBef>
              <a:tabLst>
                <a:tab algn="l" pos="0"/>
              </a:tabLst>
            </a:pPr>
            <a:endParaRPr b="0" lang="fr-FR" sz="2000" spc="-1" strike="noStrike">
              <a:solidFill>
                <a:srgbClr val="205aa7"/>
              </a:solidFill>
              <a:latin typeface="Calibri"/>
            </a:endParaRPr>
          </a:p>
        </p:txBody>
      </p:sp>
      <p:pic>
        <p:nvPicPr>
          <p:cNvPr id="446" name="Picture 2" descr=""/>
          <p:cNvPicPr/>
          <p:nvPr/>
        </p:nvPicPr>
        <p:blipFill>
          <a:blip r:embed="rId1"/>
          <a:stretch/>
        </p:blipFill>
        <p:spPr>
          <a:xfrm>
            <a:off x="1610280" y="2349000"/>
            <a:ext cx="5944320" cy="3959640"/>
          </a:xfrm>
          <a:prstGeom prst="rect">
            <a:avLst/>
          </a:prstGeom>
          <a:ln>
            <a:noFill/>
          </a:ln>
        </p:spPr>
      </p:pic>
    </p:spTree>
  </p:cSld>
  <mc:AlternateContent>
    <mc:Choice Requires="p14">
      <p:transition spd="slow" p14:dur="2000"/>
    </mc:Choice>
    <mc:Fallback>
      <p:transition spd="slow"/>
    </mc:Fallback>
  </mc:AlternateContent>
</p:sld>
</file>

<file path=ppt/slides/slide7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7" name="TextShape 1"/>
          <p:cNvSpPr txBox="1"/>
          <p:nvPr/>
        </p:nvSpPr>
        <p:spPr>
          <a:xfrm>
            <a:off x="468000" y="0"/>
            <a:ext cx="8229240" cy="1142640"/>
          </a:xfrm>
          <a:prstGeom prst="rect">
            <a:avLst/>
          </a:prstGeom>
          <a:noFill/>
          <a:ln>
            <a:noFill/>
          </a:ln>
        </p:spPr>
        <p:txBody>
          <a:bodyPr anchor="ctr">
            <a:noAutofit/>
          </a:bodyPr>
          <a:p>
            <a:pPr>
              <a:lnSpc>
                <a:spcPct val="100000"/>
              </a:lnSpc>
            </a:pPr>
            <a:r>
              <a:rPr b="1" lang="fr-FR" sz="2400" spc="-1" strike="noStrike" cap="all">
                <a:solidFill>
                  <a:srgbClr val="ffffff"/>
                </a:solidFill>
                <a:latin typeface="Calibri"/>
              </a:rPr>
              <a:t>3. L’analyse financière des comptes consolidés</a:t>
            </a:r>
            <a:endParaRPr b="0" lang="fr-FR" sz="2400" spc="-1" strike="noStrike">
              <a:solidFill>
                <a:srgbClr val="000000"/>
              </a:solidFill>
              <a:latin typeface="Calibri"/>
            </a:endParaRPr>
          </a:p>
        </p:txBody>
      </p:sp>
      <p:sp>
        <p:nvSpPr>
          <p:cNvPr id="448" name="TextShape 2"/>
          <p:cNvSpPr txBox="1"/>
          <p:nvPr/>
        </p:nvSpPr>
        <p:spPr>
          <a:xfrm>
            <a:off x="3124080" y="6480000"/>
            <a:ext cx="4975920" cy="359640"/>
          </a:xfrm>
          <a:prstGeom prst="rect">
            <a:avLst/>
          </a:prstGeom>
          <a:noFill/>
          <a:ln>
            <a:noFill/>
          </a:ln>
        </p:spPr>
        <p:txBody>
          <a:bodyPr>
            <a:noAutofit/>
          </a:bodyPr>
          <a:p>
            <a:endParaRPr b="0" lang="fr-FR" sz="2400" spc="-1" strike="noStrike">
              <a:latin typeface="Times New Roman"/>
            </a:endParaRPr>
          </a:p>
        </p:txBody>
      </p:sp>
      <p:sp>
        <p:nvSpPr>
          <p:cNvPr id="449" name="TextShape 3"/>
          <p:cNvSpPr txBox="1"/>
          <p:nvPr/>
        </p:nvSpPr>
        <p:spPr>
          <a:xfrm>
            <a:off x="8172360" y="6480000"/>
            <a:ext cx="539640" cy="359640"/>
          </a:xfrm>
          <a:prstGeom prst="rect">
            <a:avLst/>
          </a:prstGeom>
          <a:noFill/>
          <a:ln>
            <a:noFill/>
          </a:ln>
        </p:spPr>
        <p:txBody>
          <a:bodyPr lIns="90000" rIns="90000" tIns="45000" bIns="45000">
            <a:noAutofit/>
          </a:bodyPr>
          <a:p>
            <a:pPr algn="r">
              <a:lnSpc>
                <a:spcPct val="100000"/>
              </a:lnSpc>
            </a:pPr>
            <a:fld id="{87E63E1E-4FDB-47C2-B5A9-8FD8A619CFB7}" type="slidenum">
              <a:rPr b="0" lang="fr-FR" sz="900" spc="-1" strike="noStrike">
                <a:solidFill>
                  <a:srgbClr val="205aa7"/>
                </a:solidFill>
                <a:latin typeface="Calibri"/>
              </a:rPr>
              <a:t>&lt;number&gt;</a:t>
            </a:fld>
            <a:endParaRPr b="0" lang="fr-FR" sz="900" spc="-1" strike="noStrike">
              <a:latin typeface="Times New Roman"/>
            </a:endParaRPr>
          </a:p>
        </p:txBody>
      </p:sp>
      <p:sp>
        <p:nvSpPr>
          <p:cNvPr id="450" name="TextShape 4"/>
          <p:cNvSpPr txBox="1"/>
          <p:nvPr/>
        </p:nvSpPr>
        <p:spPr>
          <a:xfrm>
            <a:off x="468000" y="1484640"/>
            <a:ext cx="8229240" cy="4525560"/>
          </a:xfrm>
          <a:prstGeom prst="rect">
            <a:avLst/>
          </a:prstGeom>
          <a:noFill/>
          <a:ln>
            <a:noFill/>
          </a:ln>
        </p:spPr>
        <p:txBody>
          <a:bodyPr>
            <a:normAutofit fontScale="35000"/>
          </a:bodyPr>
          <a:p>
            <a:pPr algn="ctr">
              <a:lnSpc>
                <a:spcPct val="100000"/>
              </a:lnSpc>
              <a:spcBef>
                <a:spcPts val="519"/>
              </a:spcBef>
              <a:tabLst>
                <a:tab algn="l" pos="0"/>
              </a:tabLst>
            </a:pPr>
            <a:r>
              <a:rPr b="1" lang="fr-FR" sz="2600" spc="-1" strike="noStrike">
                <a:solidFill>
                  <a:srgbClr val="205aa7"/>
                </a:solidFill>
                <a:latin typeface="Calibri"/>
              </a:rPr>
              <a:t>Étape 4 – Examen de la structure financière</a:t>
            </a:r>
            <a:endParaRPr b="0" lang="fr-FR" sz="2600" spc="-1" strike="noStrike">
              <a:solidFill>
                <a:srgbClr val="205aa7"/>
              </a:solidFill>
              <a:latin typeface="Calibri"/>
            </a:endParaRPr>
          </a:p>
          <a:p>
            <a:pPr algn="ctr">
              <a:lnSpc>
                <a:spcPct val="100000"/>
              </a:lnSpc>
              <a:spcBef>
                <a:spcPts val="261"/>
              </a:spcBef>
              <a:tabLst>
                <a:tab algn="l" pos="0"/>
              </a:tabLst>
            </a:pPr>
            <a:endParaRPr b="0" lang="fr-FR" sz="2600" spc="-1" strike="noStrike">
              <a:solidFill>
                <a:srgbClr val="205aa7"/>
              </a:solidFill>
              <a:latin typeface="Calibri"/>
            </a:endParaRPr>
          </a:p>
          <a:p>
            <a:pPr algn="ctr">
              <a:lnSpc>
                <a:spcPct val="100000"/>
              </a:lnSpc>
              <a:spcBef>
                <a:spcPts val="519"/>
              </a:spcBef>
              <a:tabLst>
                <a:tab algn="l" pos="0"/>
              </a:tabLst>
            </a:pPr>
            <a:r>
              <a:rPr b="0" lang="fr-FR" sz="2600" spc="-1" strike="noStrike" u="sng">
                <a:solidFill>
                  <a:srgbClr val="205aa7"/>
                </a:solidFill>
                <a:uFillTx/>
                <a:latin typeface="Calibri"/>
              </a:rPr>
              <a:t>Les impôts différés</a:t>
            </a:r>
            <a:endParaRPr b="0" lang="fr-FR" sz="2600" spc="-1" strike="noStrike">
              <a:solidFill>
                <a:srgbClr val="205aa7"/>
              </a:solidFill>
              <a:latin typeface="Calibri"/>
            </a:endParaRPr>
          </a:p>
          <a:p>
            <a:pPr marL="252000" indent="-251640" algn="just">
              <a:lnSpc>
                <a:spcPct val="100000"/>
              </a:lnSpc>
              <a:spcBef>
                <a:spcPts val="519"/>
              </a:spcBef>
              <a:buClr>
                <a:srgbClr val="205aa7"/>
              </a:buClr>
              <a:buFont typeface="Wingdings" charset="2"/>
              <a:buChar char=""/>
              <a:tabLst>
                <a:tab algn="l" pos="0"/>
              </a:tabLst>
            </a:pPr>
            <a:r>
              <a:rPr b="0" lang="fr-FR" sz="2600" spc="-1" strike="noStrike">
                <a:solidFill>
                  <a:srgbClr val="205aa7"/>
                </a:solidFill>
                <a:latin typeface="Calibri"/>
              </a:rPr>
              <a:t>En l’absence de détail quant à leur composition, le solde excédentaire du montant net des impôts différés (Actif – Passif) est considéré comme une non-valeur.</a:t>
            </a:r>
            <a:endParaRPr b="0" lang="fr-FR" sz="2600" spc="-1" strike="noStrike">
              <a:solidFill>
                <a:srgbClr val="205aa7"/>
              </a:solidFill>
              <a:latin typeface="Calibri"/>
            </a:endParaRPr>
          </a:p>
          <a:p>
            <a:pPr marL="252000" indent="-251640" algn="just">
              <a:lnSpc>
                <a:spcPct val="100000"/>
              </a:lnSpc>
              <a:spcBef>
                <a:spcPts val="519"/>
              </a:spcBef>
              <a:buClr>
                <a:srgbClr val="205aa7"/>
              </a:buClr>
              <a:buFont typeface="Wingdings" charset="2"/>
              <a:buChar char=""/>
              <a:tabLst>
                <a:tab algn="l" pos="0"/>
              </a:tabLst>
            </a:pPr>
            <a:r>
              <a:rPr b="0" lang="fr-FR" sz="2600" spc="-1" strike="noStrike">
                <a:solidFill>
                  <a:srgbClr val="205aa7"/>
                </a:solidFill>
                <a:latin typeface="Calibri"/>
              </a:rPr>
              <a:t>Si les IDA sont rattachables à des provisions (dont engagements de retraite), la provision correspondante est diminuée.</a:t>
            </a:r>
            <a:endParaRPr b="0" lang="fr-FR" sz="2600" spc="-1" strike="noStrike">
              <a:solidFill>
                <a:srgbClr val="205aa7"/>
              </a:solidFill>
              <a:latin typeface="Calibri"/>
            </a:endParaRPr>
          </a:p>
          <a:p>
            <a:pPr marL="252000" indent="-251640" algn="just">
              <a:lnSpc>
                <a:spcPct val="100000"/>
              </a:lnSpc>
              <a:spcBef>
                <a:spcPts val="519"/>
              </a:spcBef>
              <a:buClr>
                <a:srgbClr val="205aa7"/>
              </a:buClr>
              <a:buFont typeface="Wingdings" charset="2"/>
              <a:buChar char=""/>
              <a:tabLst>
                <a:tab algn="l" pos="0"/>
              </a:tabLst>
            </a:pPr>
            <a:r>
              <a:rPr b="0" lang="fr-FR" sz="2600" spc="-1" strike="noStrike">
                <a:solidFill>
                  <a:srgbClr val="205aa7"/>
                </a:solidFill>
                <a:latin typeface="Calibri"/>
              </a:rPr>
              <a:t>Si les IDA sont liés à des reports déficitaires, il convient d’analyser la probabilité de récupération et de déduire, le cas échéant, la part que le groupe n’est pas assuré d’utiliser dans les 2 ans des capitaux propres.</a:t>
            </a:r>
            <a:endParaRPr b="0" lang="fr-FR" sz="2600" spc="-1" strike="noStrike">
              <a:solidFill>
                <a:srgbClr val="205aa7"/>
              </a:solidFill>
              <a:latin typeface="Calibri"/>
            </a:endParaRPr>
          </a:p>
          <a:p>
            <a:pPr marL="252000" indent="-251640" algn="just">
              <a:lnSpc>
                <a:spcPct val="100000"/>
              </a:lnSpc>
              <a:spcBef>
                <a:spcPts val="519"/>
              </a:spcBef>
              <a:buClr>
                <a:srgbClr val="205aa7"/>
              </a:buClr>
              <a:buFont typeface="Wingdings" charset="2"/>
              <a:buChar char=""/>
              <a:tabLst>
                <a:tab algn="l" pos="0"/>
              </a:tabLst>
            </a:pPr>
            <a:r>
              <a:rPr b="0" lang="fr-FR" sz="2600" spc="-1" strike="noStrike">
                <a:solidFill>
                  <a:srgbClr val="205aa7"/>
                </a:solidFill>
                <a:latin typeface="Calibri"/>
              </a:rPr>
              <a:t>En ce qui concerne les IDP liés à la réévaluation d’actifs immobilisés, l’incidence sur les capitaux propres pourra être nuancée dans la mesure où l’hypothèse de cession de l’actif paraît improbable (actifs stratégiques, cœur de métier…).</a:t>
            </a:r>
            <a:endParaRPr b="0" lang="fr-FR" sz="2600" spc="-1" strike="noStrike">
              <a:solidFill>
                <a:srgbClr val="205aa7"/>
              </a:solidFill>
              <a:latin typeface="Calibri"/>
            </a:endParaRPr>
          </a:p>
          <a:p>
            <a:pPr>
              <a:lnSpc>
                <a:spcPct val="100000"/>
              </a:lnSpc>
              <a:spcBef>
                <a:spcPts val="519"/>
              </a:spcBef>
              <a:tabLst>
                <a:tab algn="l" pos="0"/>
              </a:tabLst>
            </a:pPr>
            <a:endParaRPr b="0" lang="fr-FR" sz="2600" spc="-1" strike="noStrike">
              <a:solidFill>
                <a:srgbClr val="205aa7"/>
              </a:solidFill>
              <a:latin typeface="Calibri"/>
            </a:endParaRPr>
          </a:p>
        </p:txBody>
      </p:sp>
    </p:spTree>
  </p:cSld>
  <mc:AlternateContent>
    <mc:Choice Requires="p14">
      <p:transition spd="slow" p14:dur="2000"/>
    </mc:Choice>
    <mc:Fallback>
      <p:transition spd="slow"/>
    </mc:Fallback>
  </mc:AlternateContent>
</p:sld>
</file>

<file path=ppt/slides/slide7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1" name="TextShape 1"/>
          <p:cNvSpPr txBox="1"/>
          <p:nvPr/>
        </p:nvSpPr>
        <p:spPr>
          <a:xfrm>
            <a:off x="468000" y="0"/>
            <a:ext cx="8229240" cy="1142640"/>
          </a:xfrm>
          <a:prstGeom prst="rect">
            <a:avLst/>
          </a:prstGeom>
          <a:noFill/>
          <a:ln>
            <a:noFill/>
          </a:ln>
        </p:spPr>
        <p:txBody>
          <a:bodyPr anchor="ctr">
            <a:noAutofit/>
          </a:bodyPr>
          <a:p>
            <a:pPr>
              <a:lnSpc>
                <a:spcPct val="100000"/>
              </a:lnSpc>
            </a:pPr>
            <a:r>
              <a:rPr b="1" lang="fr-FR" sz="2400" spc="-1" strike="noStrike" cap="all">
                <a:solidFill>
                  <a:srgbClr val="ffffff"/>
                </a:solidFill>
                <a:latin typeface="Calibri"/>
              </a:rPr>
              <a:t>3. L’analyse financière des comptes consolidés</a:t>
            </a:r>
            <a:endParaRPr b="0" lang="fr-FR" sz="2400" spc="-1" strike="noStrike">
              <a:solidFill>
                <a:srgbClr val="000000"/>
              </a:solidFill>
              <a:latin typeface="Calibri"/>
            </a:endParaRPr>
          </a:p>
        </p:txBody>
      </p:sp>
      <p:sp>
        <p:nvSpPr>
          <p:cNvPr id="452" name="TextShape 2"/>
          <p:cNvSpPr txBox="1"/>
          <p:nvPr/>
        </p:nvSpPr>
        <p:spPr>
          <a:xfrm>
            <a:off x="3124080" y="6480000"/>
            <a:ext cx="4975920" cy="359640"/>
          </a:xfrm>
          <a:prstGeom prst="rect">
            <a:avLst/>
          </a:prstGeom>
          <a:noFill/>
          <a:ln>
            <a:noFill/>
          </a:ln>
        </p:spPr>
        <p:txBody>
          <a:bodyPr>
            <a:noAutofit/>
          </a:bodyPr>
          <a:p>
            <a:endParaRPr b="0" lang="fr-FR" sz="2400" spc="-1" strike="noStrike">
              <a:latin typeface="Times New Roman"/>
            </a:endParaRPr>
          </a:p>
        </p:txBody>
      </p:sp>
      <p:sp>
        <p:nvSpPr>
          <p:cNvPr id="453" name="TextShape 3"/>
          <p:cNvSpPr txBox="1"/>
          <p:nvPr/>
        </p:nvSpPr>
        <p:spPr>
          <a:xfrm>
            <a:off x="8172360" y="6480000"/>
            <a:ext cx="539640" cy="359640"/>
          </a:xfrm>
          <a:prstGeom prst="rect">
            <a:avLst/>
          </a:prstGeom>
          <a:noFill/>
          <a:ln>
            <a:noFill/>
          </a:ln>
        </p:spPr>
        <p:txBody>
          <a:bodyPr lIns="90000" rIns="90000" tIns="45000" bIns="45000">
            <a:noAutofit/>
          </a:bodyPr>
          <a:p>
            <a:pPr algn="r">
              <a:lnSpc>
                <a:spcPct val="100000"/>
              </a:lnSpc>
            </a:pPr>
            <a:fld id="{30BBA66C-7020-43D0-9D59-CBED075D0B6C}" type="slidenum">
              <a:rPr b="0" lang="fr-FR" sz="900" spc="-1" strike="noStrike">
                <a:solidFill>
                  <a:srgbClr val="205aa7"/>
                </a:solidFill>
                <a:latin typeface="Calibri"/>
              </a:rPr>
              <a:t>&lt;number&gt;</a:t>
            </a:fld>
            <a:endParaRPr b="0" lang="fr-FR" sz="900" spc="-1" strike="noStrike">
              <a:latin typeface="Times New Roman"/>
            </a:endParaRPr>
          </a:p>
        </p:txBody>
      </p:sp>
      <p:sp>
        <p:nvSpPr>
          <p:cNvPr id="454" name="TextShape 4"/>
          <p:cNvSpPr txBox="1"/>
          <p:nvPr/>
        </p:nvSpPr>
        <p:spPr>
          <a:xfrm>
            <a:off x="468000" y="1484640"/>
            <a:ext cx="8229240" cy="4525560"/>
          </a:xfrm>
          <a:prstGeom prst="rect">
            <a:avLst/>
          </a:prstGeom>
          <a:noFill/>
          <a:ln>
            <a:noFill/>
          </a:ln>
        </p:spPr>
        <p:txBody>
          <a:bodyPr>
            <a:normAutofit fontScale="45000"/>
          </a:bodyPr>
          <a:p>
            <a:pPr algn="ctr">
              <a:lnSpc>
                <a:spcPct val="100000"/>
              </a:lnSpc>
              <a:spcBef>
                <a:spcPts val="519"/>
              </a:spcBef>
              <a:tabLst>
                <a:tab algn="l" pos="0"/>
              </a:tabLst>
            </a:pPr>
            <a:r>
              <a:rPr b="1" lang="fr-FR" sz="2600" spc="-1" strike="noStrike">
                <a:solidFill>
                  <a:srgbClr val="205aa7"/>
                </a:solidFill>
                <a:latin typeface="Calibri"/>
              </a:rPr>
              <a:t>Étape 4 – Examen de la structure financière</a:t>
            </a:r>
            <a:endParaRPr b="0" lang="fr-FR" sz="2600" spc="-1" strike="noStrike">
              <a:solidFill>
                <a:srgbClr val="205aa7"/>
              </a:solidFill>
              <a:latin typeface="Calibri"/>
            </a:endParaRPr>
          </a:p>
          <a:p>
            <a:pPr algn="ctr">
              <a:lnSpc>
                <a:spcPct val="100000"/>
              </a:lnSpc>
              <a:spcBef>
                <a:spcPts val="261"/>
              </a:spcBef>
              <a:tabLst>
                <a:tab algn="l" pos="0"/>
              </a:tabLst>
            </a:pPr>
            <a:endParaRPr b="0" lang="fr-FR" sz="2600" spc="-1" strike="noStrike">
              <a:solidFill>
                <a:srgbClr val="205aa7"/>
              </a:solidFill>
              <a:latin typeface="Calibri"/>
            </a:endParaRPr>
          </a:p>
          <a:p>
            <a:pPr algn="ctr">
              <a:lnSpc>
                <a:spcPct val="100000"/>
              </a:lnSpc>
              <a:spcBef>
                <a:spcPts val="519"/>
              </a:spcBef>
              <a:tabLst>
                <a:tab algn="l" pos="0"/>
              </a:tabLst>
            </a:pPr>
            <a:r>
              <a:rPr b="0" lang="fr-FR" sz="2600" spc="-1" strike="noStrike" u="sng">
                <a:solidFill>
                  <a:srgbClr val="205aa7"/>
                </a:solidFill>
                <a:uFillTx/>
                <a:latin typeface="Calibri"/>
              </a:rPr>
              <a:t>Les écarts de conversion</a:t>
            </a:r>
            <a:endParaRPr b="0" lang="fr-FR" sz="2600" spc="-1" strike="noStrike">
              <a:solidFill>
                <a:srgbClr val="205aa7"/>
              </a:solidFill>
              <a:latin typeface="Calibri"/>
            </a:endParaRPr>
          </a:p>
          <a:p>
            <a:pPr marL="252000" indent="-251640" algn="just">
              <a:lnSpc>
                <a:spcPct val="100000"/>
              </a:lnSpc>
              <a:spcBef>
                <a:spcPts val="519"/>
              </a:spcBef>
              <a:buClr>
                <a:srgbClr val="205aa7"/>
              </a:buClr>
              <a:buFont typeface="Wingdings" charset="2"/>
              <a:buChar char=""/>
              <a:tabLst>
                <a:tab algn="l" pos="0"/>
              </a:tabLst>
            </a:pPr>
            <a:r>
              <a:rPr b="0" lang="fr-FR" sz="2600" spc="-1" strike="noStrike">
                <a:solidFill>
                  <a:srgbClr val="205aa7"/>
                </a:solidFill>
                <a:latin typeface="Calibri"/>
              </a:rPr>
              <a:t>Les écarts de conversion sont des plus ou moins-values latentes issues des variations de change sur les filiales réalisant leurs transactions dans une devise étrangère.</a:t>
            </a:r>
            <a:endParaRPr b="0" lang="fr-FR" sz="2600" spc="-1" strike="noStrike">
              <a:solidFill>
                <a:srgbClr val="205aa7"/>
              </a:solidFill>
              <a:latin typeface="Calibri"/>
            </a:endParaRPr>
          </a:p>
          <a:p>
            <a:pPr marL="252000" indent="-251640" algn="just">
              <a:lnSpc>
                <a:spcPct val="100000"/>
              </a:lnSpc>
              <a:spcBef>
                <a:spcPts val="519"/>
              </a:spcBef>
              <a:buClr>
                <a:srgbClr val="205aa7"/>
              </a:buClr>
              <a:buFont typeface="Wingdings" charset="2"/>
              <a:buChar char=""/>
              <a:tabLst>
                <a:tab algn="l" pos="0"/>
              </a:tabLst>
            </a:pPr>
            <a:r>
              <a:rPr b="0" lang="fr-FR" sz="2600" spc="-1" strike="noStrike">
                <a:solidFill>
                  <a:srgbClr val="205aa7"/>
                </a:solidFill>
                <a:latin typeface="Calibri"/>
              </a:rPr>
              <a:t>Ils se concrétisent lors de la cession de la filiale ou lors des remontées de dividendes.</a:t>
            </a:r>
            <a:endParaRPr b="0" lang="fr-FR" sz="2600" spc="-1" strike="noStrike">
              <a:solidFill>
                <a:srgbClr val="205aa7"/>
              </a:solidFill>
              <a:latin typeface="Calibri"/>
            </a:endParaRPr>
          </a:p>
          <a:p>
            <a:pPr marL="252000" indent="-251640" algn="just">
              <a:lnSpc>
                <a:spcPct val="100000"/>
              </a:lnSpc>
              <a:spcBef>
                <a:spcPts val="519"/>
              </a:spcBef>
              <a:buClr>
                <a:srgbClr val="205aa7"/>
              </a:buClr>
              <a:buFont typeface="Wingdings" charset="2"/>
              <a:buChar char=""/>
              <a:tabLst>
                <a:tab algn="l" pos="0"/>
              </a:tabLst>
            </a:pPr>
            <a:r>
              <a:rPr b="0" lang="fr-FR" sz="2600" spc="-1" strike="noStrike">
                <a:solidFill>
                  <a:srgbClr val="205aa7"/>
                </a:solidFill>
                <a:latin typeface="Calibri"/>
              </a:rPr>
              <a:t>Ils sont comptabilisés :</a:t>
            </a:r>
            <a:endParaRPr b="0" lang="fr-FR" sz="2600" spc="-1" strike="noStrike">
              <a:solidFill>
                <a:srgbClr val="205aa7"/>
              </a:solidFill>
              <a:latin typeface="Calibri"/>
            </a:endParaRPr>
          </a:p>
          <a:p>
            <a:pPr lvl="1" marL="743040" indent="-285480" algn="just">
              <a:lnSpc>
                <a:spcPct val="100000"/>
              </a:lnSpc>
              <a:spcBef>
                <a:spcPts val="459"/>
              </a:spcBef>
              <a:buClr>
                <a:srgbClr val="205aa7"/>
              </a:buClr>
              <a:buFont typeface="Arial"/>
              <a:buChar char="–"/>
              <a:tabLst>
                <a:tab algn="l" pos="0"/>
              </a:tabLst>
            </a:pPr>
            <a:r>
              <a:rPr b="0" lang="fr-FR" sz="2300" spc="-1" strike="noStrike">
                <a:solidFill>
                  <a:srgbClr val="205aa7"/>
                </a:solidFill>
                <a:latin typeface="Calibri"/>
              </a:rPr>
              <a:t>dans le résultat financier, pour les écarts de conversion sur éléments monétaires.</a:t>
            </a:r>
            <a:endParaRPr b="0" lang="fr-FR" sz="2300" spc="-1" strike="noStrike">
              <a:solidFill>
                <a:srgbClr val="595959"/>
              </a:solidFill>
              <a:latin typeface="Calibri"/>
            </a:endParaRPr>
          </a:p>
          <a:p>
            <a:pPr lvl="1" marL="743040" indent="-285480" algn="just">
              <a:lnSpc>
                <a:spcPct val="100000"/>
              </a:lnSpc>
              <a:spcBef>
                <a:spcPts val="459"/>
              </a:spcBef>
              <a:buClr>
                <a:srgbClr val="205aa7"/>
              </a:buClr>
              <a:buFont typeface="Arial"/>
              <a:buChar char="–"/>
              <a:tabLst>
                <a:tab algn="l" pos="0"/>
              </a:tabLst>
            </a:pPr>
            <a:r>
              <a:rPr b="0" lang="fr-FR" sz="2300" spc="-1" strike="noStrike">
                <a:solidFill>
                  <a:srgbClr val="205aa7"/>
                </a:solidFill>
                <a:latin typeface="Calibri"/>
              </a:rPr>
              <a:t>dans les capitaux propres, pour les écarts de conversion sur éléments non monétaires.</a:t>
            </a:r>
            <a:endParaRPr b="0" lang="fr-FR" sz="2300" spc="-1" strike="noStrike">
              <a:solidFill>
                <a:srgbClr val="595959"/>
              </a:solidFill>
              <a:latin typeface="Calibri"/>
            </a:endParaRPr>
          </a:p>
          <a:p>
            <a:pPr marL="252000" indent="-251640" algn="just">
              <a:lnSpc>
                <a:spcPct val="100000"/>
              </a:lnSpc>
              <a:spcBef>
                <a:spcPts val="519"/>
              </a:spcBef>
              <a:buClr>
                <a:srgbClr val="205aa7"/>
              </a:buClr>
              <a:buFont typeface="Wingdings" charset="2"/>
              <a:buChar char=""/>
              <a:tabLst>
                <a:tab algn="l" pos="0"/>
              </a:tabLst>
            </a:pPr>
            <a:r>
              <a:rPr b="0" lang="fr-FR" sz="2600" spc="-1" strike="noStrike">
                <a:solidFill>
                  <a:srgbClr val="205aa7"/>
                </a:solidFill>
                <a:latin typeface="Calibri"/>
              </a:rPr>
              <a:t>Il convient de distinguer la part a priori acquise (à maintenir dans les capitaux propres) de la part fluctuante (à défalquer des capitaux propres).</a:t>
            </a:r>
            <a:endParaRPr b="0" lang="fr-FR" sz="2600" spc="-1" strike="noStrike">
              <a:solidFill>
                <a:srgbClr val="205aa7"/>
              </a:solidFill>
              <a:latin typeface="Calibri"/>
            </a:endParaRPr>
          </a:p>
          <a:p>
            <a:pPr algn="just">
              <a:lnSpc>
                <a:spcPct val="100000"/>
              </a:lnSpc>
              <a:spcBef>
                <a:spcPts val="519"/>
              </a:spcBef>
              <a:tabLst>
                <a:tab algn="l" pos="0"/>
              </a:tabLst>
            </a:pPr>
            <a:endParaRPr b="0" lang="fr-FR" sz="2600" spc="-1" strike="noStrike">
              <a:solidFill>
                <a:srgbClr val="205aa7"/>
              </a:solidFill>
              <a:latin typeface="Calibri"/>
            </a:endParaRPr>
          </a:p>
          <a:p>
            <a:pPr>
              <a:lnSpc>
                <a:spcPct val="100000"/>
              </a:lnSpc>
              <a:spcBef>
                <a:spcPts val="519"/>
              </a:spcBef>
              <a:tabLst>
                <a:tab algn="l" pos="0"/>
              </a:tabLst>
            </a:pPr>
            <a:endParaRPr b="0" lang="fr-FR" sz="2600" spc="-1" strike="noStrike">
              <a:solidFill>
                <a:srgbClr val="205aa7"/>
              </a:solidFill>
              <a:latin typeface="Calibri"/>
            </a:endParaRPr>
          </a:p>
        </p:txBody>
      </p:sp>
    </p:spTree>
  </p:cSld>
  <mc:AlternateContent>
    <mc:Choice Requires="p14">
      <p:transition spd="slow" p14:dur="2000"/>
    </mc:Choice>
    <mc:Fallback>
      <p:transition spd="slow"/>
    </mc:Fallback>
  </mc:AlternateContent>
</p:sld>
</file>

<file path=ppt/slides/slide7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5" name="TextShape 1"/>
          <p:cNvSpPr txBox="1"/>
          <p:nvPr/>
        </p:nvSpPr>
        <p:spPr>
          <a:xfrm>
            <a:off x="468000" y="0"/>
            <a:ext cx="8229240" cy="1142640"/>
          </a:xfrm>
          <a:prstGeom prst="rect">
            <a:avLst/>
          </a:prstGeom>
          <a:noFill/>
          <a:ln>
            <a:noFill/>
          </a:ln>
        </p:spPr>
        <p:txBody>
          <a:bodyPr anchor="ctr">
            <a:noAutofit/>
          </a:bodyPr>
          <a:p>
            <a:pPr>
              <a:lnSpc>
                <a:spcPct val="100000"/>
              </a:lnSpc>
            </a:pPr>
            <a:r>
              <a:rPr b="1" lang="fr-FR" sz="2400" spc="-1" strike="noStrike" cap="all">
                <a:solidFill>
                  <a:srgbClr val="ffffff"/>
                </a:solidFill>
                <a:latin typeface="Calibri"/>
              </a:rPr>
              <a:t>3. L’analyse financière des comptes consolidés</a:t>
            </a:r>
            <a:endParaRPr b="0" lang="fr-FR" sz="2400" spc="-1" strike="noStrike">
              <a:solidFill>
                <a:srgbClr val="000000"/>
              </a:solidFill>
              <a:latin typeface="Calibri"/>
            </a:endParaRPr>
          </a:p>
        </p:txBody>
      </p:sp>
      <p:sp>
        <p:nvSpPr>
          <p:cNvPr id="456" name="TextShape 2"/>
          <p:cNvSpPr txBox="1"/>
          <p:nvPr/>
        </p:nvSpPr>
        <p:spPr>
          <a:xfrm>
            <a:off x="3124080" y="6480000"/>
            <a:ext cx="4975920" cy="359640"/>
          </a:xfrm>
          <a:prstGeom prst="rect">
            <a:avLst/>
          </a:prstGeom>
          <a:noFill/>
          <a:ln>
            <a:noFill/>
          </a:ln>
        </p:spPr>
        <p:txBody>
          <a:bodyPr>
            <a:noAutofit/>
          </a:bodyPr>
          <a:p>
            <a:endParaRPr b="0" lang="fr-FR" sz="2400" spc="-1" strike="noStrike">
              <a:latin typeface="Times New Roman"/>
            </a:endParaRPr>
          </a:p>
        </p:txBody>
      </p:sp>
      <p:sp>
        <p:nvSpPr>
          <p:cNvPr id="457" name="TextShape 3"/>
          <p:cNvSpPr txBox="1"/>
          <p:nvPr/>
        </p:nvSpPr>
        <p:spPr>
          <a:xfrm>
            <a:off x="8172360" y="6480000"/>
            <a:ext cx="539640" cy="359640"/>
          </a:xfrm>
          <a:prstGeom prst="rect">
            <a:avLst/>
          </a:prstGeom>
          <a:noFill/>
          <a:ln>
            <a:noFill/>
          </a:ln>
        </p:spPr>
        <p:txBody>
          <a:bodyPr lIns="90000" rIns="90000" tIns="45000" bIns="45000">
            <a:noAutofit/>
          </a:bodyPr>
          <a:p>
            <a:pPr algn="r">
              <a:lnSpc>
                <a:spcPct val="100000"/>
              </a:lnSpc>
            </a:pPr>
            <a:fld id="{870ECE75-4009-44E0-AEA7-4E6CE9312A71}" type="slidenum">
              <a:rPr b="0" lang="fr-FR" sz="900" spc="-1" strike="noStrike">
                <a:solidFill>
                  <a:srgbClr val="205aa7"/>
                </a:solidFill>
                <a:latin typeface="Calibri"/>
              </a:rPr>
              <a:t>&lt;number&gt;</a:t>
            </a:fld>
            <a:endParaRPr b="0" lang="fr-FR" sz="900" spc="-1" strike="noStrike">
              <a:latin typeface="Times New Roman"/>
            </a:endParaRPr>
          </a:p>
        </p:txBody>
      </p:sp>
      <p:sp>
        <p:nvSpPr>
          <p:cNvPr id="458" name="TextShape 4"/>
          <p:cNvSpPr txBox="1"/>
          <p:nvPr/>
        </p:nvSpPr>
        <p:spPr>
          <a:xfrm>
            <a:off x="468000" y="1440000"/>
            <a:ext cx="8229240" cy="4525560"/>
          </a:xfrm>
          <a:prstGeom prst="rect">
            <a:avLst/>
          </a:prstGeom>
          <a:noFill/>
          <a:ln>
            <a:noFill/>
          </a:ln>
        </p:spPr>
        <p:txBody>
          <a:bodyPr>
            <a:normAutofit/>
          </a:bodyPr>
          <a:p>
            <a:pPr algn="ctr">
              <a:lnSpc>
                <a:spcPct val="100000"/>
              </a:lnSpc>
              <a:spcBef>
                <a:spcPts val="400"/>
              </a:spcBef>
              <a:tabLst>
                <a:tab algn="l" pos="0"/>
              </a:tabLst>
            </a:pPr>
            <a:r>
              <a:rPr b="1" lang="fr-FR" sz="2000" spc="-1" strike="noStrike">
                <a:solidFill>
                  <a:srgbClr val="205aa7"/>
                </a:solidFill>
                <a:latin typeface="Calibri"/>
              </a:rPr>
              <a:t>Étape 4 – Examen de la structure financière</a:t>
            </a:r>
            <a:endParaRPr b="0" lang="fr-FR" sz="2000" spc="-1" strike="noStrike">
              <a:solidFill>
                <a:srgbClr val="205aa7"/>
              </a:solidFill>
              <a:latin typeface="Calibri"/>
            </a:endParaRPr>
          </a:p>
          <a:p>
            <a:pPr algn="ctr">
              <a:lnSpc>
                <a:spcPct val="100000"/>
              </a:lnSpc>
              <a:spcBef>
                <a:spcPts val="201"/>
              </a:spcBef>
              <a:tabLst>
                <a:tab algn="l" pos="0"/>
              </a:tabLst>
            </a:pPr>
            <a:endParaRPr b="0" lang="fr-FR" sz="2000" spc="-1" strike="noStrike">
              <a:solidFill>
                <a:srgbClr val="205aa7"/>
              </a:solidFill>
              <a:latin typeface="Calibri"/>
            </a:endParaRPr>
          </a:p>
          <a:p>
            <a:pPr algn="ctr">
              <a:lnSpc>
                <a:spcPct val="100000"/>
              </a:lnSpc>
              <a:spcBef>
                <a:spcPts val="400"/>
              </a:spcBef>
              <a:tabLst>
                <a:tab algn="l" pos="0"/>
              </a:tabLst>
            </a:pPr>
            <a:r>
              <a:rPr b="0" lang="fr-FR" sz="2000" spc="-1" strike="noStrike" u="sng">
                <a:solidFill>
                  <a:srgbClr val="205aa7"/>
                </a:solidFill>
                <a:uFillTx/>
                <a:latin typeface="Calibri"/>
              </a:rPr>
              <a:t>Les autres retraitements</a:t>
            </a:r>
            <a:endParaRPr b="0" lang="fr-FR" sz="2000" spc="-1" strike="noStrike">
              <a:solidFill>
                <a:srgbClr val="205aa7"/>
              </a:solidFill>
              <a:latin typeface="Calibri"/>
            </a:endParaRPr>
          </a:p>
          <a:p>
            <a:pPr marL="252000" indent="-251640" algn="just">
              <a:lnSpc>
                <a:spcPct val="100000"/>
              </a:lnSpc>
              <a:spcBef>
                <a:spcPts val="400"/>
              </a:spcBef>
              <a:buClr>
                <a:srgbClr val="205aa7"/>
              </a:buClr>
              <a:buFont typeface="Wingdings" charset="2"/>
              <a:buChar char=""/>
              <a:tabLst>
                <a:tab algn="l" pos="0"/>
              </a:tabLst>
            </a:pPr>
            <a:r>
              <a:rPr b="0" lang="fr-FR" sz="2000" spc="-1" strike="noStrike">
                <a:solidFill>
                  <a:srgbClr val="205aa7"/>
                </a:solidFill>
                <a:latin typeface="Calibri"/>
              </a:rPr>
              <a:t>Les intérêts minoritaires : Ils résultent de l’existence d’associés minoritaires dans le cadre de l’intégration globale d’une filiale = </a:t>
            </a:r>
            <a:r>
              <a:rPr b="1" lang="fr-FR" sz="2000" spc="-1" strike="noStrike">
                <a:solidFill>
                  <a:srgbClr val="205aa7"/>
                </a:solidFill>
                <a:latin typeface="Calibri"/>
              </a:rPr>
              <a:t>risque de retrait</a:t>
            </a:r>
            <a:r>
              <a:rPr b="0" lang="fr-FR" sz="2000" spc="-1" strike="noStrike">
                <a:solidFill>
                  <a:srgbClr val="205aa7"/>
                </a:solidFill>
                <a:latin typeface="Calibri"/>
              </a:rPr>
              <a:t>.</a:t>
            </a:r>
            <a:endParaRPr b="0" lang="fr-FR" sz="2000" spc="-1" strike="noStrike">
              <a:solidFill>
                <a:srgbClr val="205aa7"/>
              </a:solidFill>
              <a:latin typeface="Calibri"/>
            </a:endParaRPr>
          </a:p>
          <a:p>
            <a:pPr marL="252000" indent="-251640" algn="just">
              <a:lnSpc>
                <a:spcPct val="100000"/>
              </a:lnSpc>
              <a:spcBef>
                <a:spcPts val="400"/>
              </a:spcBef>
              <a:buClr>
                <a:srgbClr val="205aa7"/>
              </a:buClr>
              <a:buFont typeface="Wingdings" charset="2"/>
              <a:buChar char=""/>
              <a:tabLst>
                <a:tab algn="l" pos="0"/>
              </a:tabLst>
            </a:pPr>
            <a:r>
              <a:rPr b="0" lang="fr-FR" sz="2000" spc="-1" strike="noStrike">
                <a:solidFill>
                  <a:srgbClr val="205aa7"/>
                </a:solidFill>
                <a:latin typeface="Calibri"/>
              </a:rPr>
              <a:t>Les engagements de retraites : Il s’agit des indemnités de fin de carrière, des compléments de retraite, des comptes épargne temps, des remboursements de frais médicaux, des garanties de prévoyance s’appliquant après le départ en retraite du personnel = </a:t>
            </a:r>
            <a:r>
              <a:rPr b="1" lang="fr-FR" sz="2000" spc="-1" strike="noStrike">
                <a:solidFill>
                  <a:srgbClr val="205aa7"/>
                </a:solidFill>
                <a:latin typeface="Calibri"/>
              </a:rPr>
              <a:t>doivent être provisionnés</a:t>
            </a:r>
            <a:endParaRPr b="0" lang="fr-FR" sz="2000" spc="-1" strike="noStrike">
              <a:solidFill>
                <a:srgbClr val="205aa7"/>
              </a:solidFill>
              <a:latin typeface="Calibri"/>
            </a:endParaRPr>
          </a:p>
          <a:p>
            <a:pPr>
              <a:lnSpc>
                <a:spcPct val="100000"/>
              </a:lnSpc>
              <a:spcBef>
                <a:spcPts val="519"/>
              </a:spcBef>
              <a:tabLst>
                <a:tab algn="l" pos="0"/>
              </a:tabLst>
            </a:pPr>
            <a:endParaRPr b="0" lang="fr-FR" sz="2000" spc="-1" strike="noStrike">
              <a:solidFill>
                <a:srgbClr val="205aa7"/>
              </a:solidFill>
              <a:latin typeface="Calibri"/>
            </a:endParaRPr>
          </a:p>
        </p:txBody>
      </p:sp>
    </p:spTree>
  </p:cSld>
  <mc:AlternateContent>
    <mc:Choice Requires="p14">
      <p:transition spd="slow" p14:dur="2000"/>
    </mc:Choice>
    <mc:Fallback>
      <p:transition spd="slow"/>
    </mc:Fallback>
  </mc:AlternateContent>
</p:sld>
</file>

<file path=ppt/slides/slide7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9" name="TextShape 1"/>
          <p:cNvSpPr txBox="1"/>
          <p:nvPr/>
        </p:nvSpPr>
        <p:spPr>
          <a:xfrm>
            <a:off x="468000" y="0"/>
            <a:ext cx="8229240" cy="1142640"/>
          </a:xfrm>
          <a:prstGeom prst="rect">
            <a:avLst/>
          </a:prstGeom>
          <a:noFill/>
          <a:ln>
            <a:noFill/>
          </a:ln>
        </p:spPr>
        <p:txBody>
          <a:bodyPr anchor="ctr">
            <a:noAutofit/>
          </a:bodyPr>
          <a:p>
            <a:pPr>
              <a:lnSpc>
                <a:spcPct val="100000"/>
              </a:lnSpc>
            </a:pPr>
            <a:r>
              <a:rPr b="1" lang="fr-FR" sz="2400" spc="-1" strike="noStrike" cap="all">
                <a:solidFill>
                  <a:srgbClr val="ffffff"/>
                </a:solidFill>
                <a:latin typeface="Calibri"/>
              </a:rPr>
              <a:t>3. L’analyse financière des comptes consolidés</a:t>
            </a:r>
            <a:endParaRPr b="0" lang="fr-FR" sz="2400" spc="-1" strike="noStrike">
              <a:solidFill>
                <a:srgbClr val="000000"/>
              </a:solidFill>
              <a:latin typeface="Calibri"/>
            </a:endParaRPr>
          </a:p>
        </p:txBody>
      </p:sp>
      <p:sp>
        <p:nvSpPr>
          <p:cNvPr id="460" name="TextShape 2"/>
          <p:cNvSpPr txBox="1"/>
          <p:nvPr/>
        </p:nvSpPr>
        <p:spPr>
          <a:xfrm>
            <a:off x="3124080" y="6480000"/>
            <a:ext cx="4975920" cy="359640"/>
          </a:xfrm>
          <a:prstGeom prst="rect">
            <a:avLst/>
          </a:prstGeom>
          <a:noFill/>
          <a:ln>
            <a:noFill/>
          </a:ln>
        </p:spPr>
        <p:txBody>
          <a:bodyPr>
            <a:noAutofit/>
          </a:bodyPr>
          <a:p>
            <a:endParaRPr b="0" lang="fr-FR" sz="2400" spc="-1" strike="noStrike">
              <a:latin typeface="Times New Roman"/>
            </a:endParaRPr>
          </a:p>
        </p:txBody>
      </p:sp>
      <p:sp>
        <p:nvSpPr>
          <p:cNvPr id="461" name="TextShape 3"/>
          <p:cNvSpPr txBox="1"/>
          <p:nvPr/>
        </p:nvSpPr>
        <p:spPr>
          <a:xfrm>
            <a:off x="8172360" y="6480000"/>
            <a:ext cx="539640" cy="359640"/>
          </a:xfrm>
          <a:prstGeom prst="rect">
            <a:avLst/>
          </a:prstGeom>
          <a:noFill/>
          <a:ln>
            <a:noFill/>
          </a:ln>
        </p:spPr>
        <p:txBody>
          <a:bodyPr lIns="90000" rIns="90000" tIns="45000" bIns="45000">
            <a:noAutofit/>
          </a:bodyPr>
          <a:p>
            <a:pPr algn="r">
              <a:lnSpc>
                <a:spcPct val="100000"/>
              </a:lnSpc>
            </a:pPr>
            <a:fld id="{948E80D8-3999-4563-AEAC-C3712E97417E}" type="slidenum">
              <a:rPr b="0" lang="fr-FR" sz="900" spc="-1" strike="noStrike">
                <a:solidFill>
                  <a:srgbClr val="205aa7"/>
                </a:solidFill>
                <a:latin typeface="Calibri"/>
              </a:rPr>
              <a:t>&lt;number&gt;</a:t>
            </a:fld>
            <a:endParaRPr b="0" lang="fr-FR" sz="900" spc="-1" strike="noStrike">
              <a:latin typeface="Times New Roman"/>
            </a:endParaRPr>
          </a:p>
        </p:txBody>
      </p:sp>
      <p:sp>
        <p:nvSpPr>
          <p:cNvPr id="462" name="TextShape 4"/>
          <p:cNvSpPr txBox="1"/>
          <p:nvPr/>
        </p:nvSpPr>
        <p:spPr>
          <a:xfrm>
            <a:off x="468000" y="1440000"/>
            <a:ext cx="8229240" cy="4525560"/>
          </a:xfrm>
          <a:prstGeom prst="rect">
            <a:avLst/>
          </a:prstGeom>
          <a:noFill/>
          <a:ln>
            <a:noFill/>
          </a:ln>
        </p:spPr>
        <p:txBody>
          <a:bodyPr>
            <a:normAutofit/>
          </a:bodyPr>
          <a:p>
            <a:pPr algn="ctr">
              <a:lnSpc>
                <a:spcPct val="100000"/>
              </a:lnSpc>
              <a:spcBef>
                <a:spcPts val="479"/>
              </a:spcBef>
              <a:tabLst>
                <a:tab algn="l" pos="0"/>
              </a:tabLst>
            </a:pPr>
            <a:r>
              <a:rPr b="1" lang="fr-FR" sz="2400" spc="-1" strike="noStrike">
                <a:solidFill>
                  <a:srgbClr val="205aa7"/>
                </a:solidFill>
                <a:latin typeface="Calibri"/>
              </a:rPr>
              <a:t>Étape 4 – Examen de la structure financière</a:t>
            </a:r>
            <a:endParaRPr b="0" lang="fr-FR" sz="2400" spc="-1" strike="noStrike">
              <a:solidFill>
                <a:srgbClr val="205aa7"/>
              </a:solidFill>
              <a:latin typeface="Calibri"/>
            </a:endParaRPr>
          </a:p>
          <a:p>
            <a:pPr>
              <a:lnSpc>
                <a:spcPct val="100000"/>
              </a:lnSpc>
              <a:spcBef>
                <a:spcPts val="519"/>
              </a:spcBef>
              <a:tabLst>
                <a:tab algn="l" pos="0"/>
              </a:tabLst>
            </a:pPr>
            <a:endParaRPr b="0" lang="fr-FR" sz="2400" spc="-1" strike="noStrike">
              <a:solidFill>
                <a:srgbClr val="205aa7"/>
              </a:solidFill>
              <a:latin typeface="Calibri"/>
            </a:endParaRPr>
          </a:p>
          <a:p>
            <a:pPr>
              <a:lnSpc>
                <a:spcPct val="100000"/>
              </a:lnSpc>
              <a:spcBef>
                <a:spcPts val="519"/>
              </a:spcBef>
              <a:tabLst>
                <a:tab algn="l" pos="0"/>
              </a:tabLst>
            </a:pPr>
            <a:endParaRPr b="0" lang="fr-FR" sz="2400" spc="-1" strike="noStrike">
              <a:solidFill>
                <a:srgbClr val="205aa7"/>
              </a:solidFill>
              <a:latin typeface="Calibri"/>
            </a:endParaRPr>
          </a:p>
        </p:txBody>
      </p:sp>
      <p:pic>
        <p:nvPicPr>
          <p:cNvPr id="463" name="Image 6" descr=""/>
          <p:cNvPicPr/>
          <p:nvPr/>
        </p:nvPicPr>
        <p:blipFill>
          <a:blip r:embed="rId1"/>
          <a:stretch/>
        </p:blipFill>
        <p:spPr>
          <a:xfrm>
            <a:off x="1331640" y="1888920"/>
            <a:ext cx="6108480" cy="4076640"/>
          </a:xfrm>
          <a:prstGeom prst="rect">
            <a:avLst/>
          </a:prstGeom>
          <a:ln>
            <a:noFill/>
          </a:ln>
        </p:spPr>
      </p:pic>
      <p:sp>
        <p:nvSpPr>
          <p:cNvPr id="464" name="CustomShape 5"/>
          <p:cNvSpPr/>
          <p:nvPr/>
        </p:nvSpPr>
        <p:spPr>
          <a:xfrm>
            <a:off x="5775840" y="5944320"/>
            <a:ext cx="1950480" cy="212040"/>
          </a:xfrm>
          <a:prstGeom prst="rect">
            <a:avLst/>
          </a:prstGeom>
          <a:noFill/>
          <a:ln>
            <a:noFill/>
          </a:ln>
        </p:spPr>
        <p:style>
          <a:lnRef idx="0"/>
          <a:fillRef idx="0"/>
          <a:effectRef idx="0"/>
          <a:fontRef idx="minor"/>
        </p:style>
        <p:txBody>
          <a:bodyPr wrap="none" lIns="90000" rIns="90000" tIns="45000" bIns="45000">
            <a:spAutoFit/>
          </a:bodyPr>
          <a:p>
            <a:pPr>
              <a:lnSpc>
                <a:spcPct val="100000"/>
              </a:lnSpc>
            </a:pPr>
            <a:r>
              <a:rPr b="0" i="1" lang="fr-FR" sz="800" spc="-1" strike="noStrike">
                <a:solidFill>
                  <a:srgbClr val="666666"/>
                </a:solidFill>
                <a:latin typeface="Calibri"/>
              </a:rPr>
              <a:t>Photo by </a:t>
            </a:r>
            <a:r>
              <a:rPr b="0" i="1" lang="fr-FR" sz="800" spc="-1" strike="noStrike" u="sng">
                <a:solidFill>
                  <a:srgbClr val="a0006e"/>
                </a:solidFill>
                <a:uFillTx/>
                <a:latin typeface="Calibri"/>
                <a:hlinkClick r:id="rId2"/>
              </a:rPr>
              <a:t>Helloquence</a:t>
            </a:r>
            <a:r>
              <a:rPr b="0" i="1" lang="fr-FR" sz="800" spc="-1" strike="noStrike">
                <a:solidFill>
                  <a:srgbClr val="666666"/>
                </a:solidFill>
                <a:latin typeface="Calibri"/>
              </a:rPr>
              <a:t> on </a:t>
            </a:r>
            <a:r>
              <a:rPr b="0" i="1" lang="fr-FR" sz="800" spc="-1" strike="noStrike" u="sng">
                <a:solidFill>
                  <a:srgbClr val="a0006e"/>
                </a:solidFill>
                <a:uFillTx/>
                <a:latin typeface="Calibri"/>
                <a:hlinkClick r:id="rId3"/>
              </a:rPr>
              <a:t>Unsplash</a:t>
            </a:r>
            <a:endParaRPr b="0" lang="fr-FR" sz="800" spc="-1" strike="noStrike">
              <a:latin typeface="Arial"/>
            </a:endParaRPr>
          </a:p>
        </p:txBody>
      </p:sp>
    </p:spTree>
  </p:cSld>
  <mc:AlternateContent>
    <mc:Choice Requires="p14">
      <p:transition spd="slow" p14:dur="2000"/>
    </mc:Choice>
    <mc:Fallback>
      <p:transition spd="slow"/>
    </mc:Fallback>
  </mc:AlternateContent>
</p:sld>
</file>

<file path=ppt/slides/slide7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5" name="TextShape 1"/>
          <p:cNvSpPr txBox="1"/>
          <p:nvPr/>
        </p:nvSpPr>
        <p:spPr>
          <a:xfrm>
            <a:off x="468000" y="0"/>
            <a:ext cx="8229240" cy="1142640"/>
          </a:xfrm>
          <a:prstGeom prst="rect">
            <a:avLst/>
          </a:prstGeom>
          <a:noFill/>
          <a:ln>
            <a:noFill/>
          </a:ln>
        </p:spPr>
        <p:txBody>
          <a:bodyPr anchor="ctr">
            <a:noAutofit/>
          </a:bodyPr>
          <a:p>
            <a:pPr>
              <a:lnSpc>
                <a:spcPct val="100000"/>
              </a:lnSpc>
            </a:pPr>
            <a:r>
              <a:rPr b="1" lang="fr-FR" sz="2400" spc="-1" strike="noStrike" cap="all">
                <a:solidFill>
                  <a:srgbClr val="ffffff"/>
                </a:solidFill>
                <a:latin typeface="Calibri"/>
              </a:rPr>
              <a:t>3. L’analyse financière des comptes consolidés</a:t>
            </a:r>
            <a:endParaRPr b="0" lang="fr-FR" sz="2400" spc="-1" strike="noStrike">
              <a:solidFill>
                <a:srgbClr val="000000"/>
              </a:solidFill>
              <a:latin typeface="Calibri"/>
            </a:endParaRPr>
          </a:p>
        </p:txBody>
      </p:sp>
      <p:sp>
        <p:nvSpPr>
          <p:cNvPr id="466" name="TextShape 2"/>
          <p:cNvSpPr txBox="1"/>
          <p:nvPr/>
        </p:nvSpPr>
        <p:spPr>
          <a:xfrm>
            <a:off x="3124080" y="6480000"/>
            <a:ext cx="4975920" cy="359640"/>
          </a:xfrm>
          <a:prstGeom prst="rect">
            <a:avLst/>
          </a:prstGeom>
          <a:noFill/>
          <a:ln>
            <a:noFill/>
          </a:ln>
        </p:spPr>
        <p:txBody>
          <a:bodyPr>
            <a:noAutofit/>
          </a:bodyPr>
          <a:p>
            <a:endParaRPr b="0" lang="fr-FR" sz="2400" spc="-1" strike="noStrike">
              <a:latin typeface="Times New Roman"/>
            </a:endParaRPr>
          </a:p>
        </p:txBody>
      </p:sp>
      <p:sp>
        <p:nvSpPr>
          <p:cNvPr id="467" name="TextShape 3"/>
          <p:cNvSpPr txBox="1"/>
          <p:nvPr/>
        </p:nvSpPr>
        <p:spPr>
          <a:xfrm>
            <a:off x="8172360" y="6480000"/>
            <a:ext cx="539640" cy="359640"/>
          </a:xfrm>
          <a:prstGeom prst="rect">
            <a:avLst/>
          </a:prstGeom>
          <a:noFill/>
          <a:ln>
            <a:noFill/>
          </a:ln>
        </p:spPr>
        <p:txBody>
          <a:bodyPr lIns="90000" rIns="90000" tIns="45000" bIns="45000">
            <a:noAutofit/>
          </a:bodyPr>
          <a:p>
            <a:pPr algn="r">
              <a:lnSpc>
                <a:spcPct val="100000"/>
              </a:lnSpc>
            </a:pPr>
            <a:fld id="{0E261FD3-5A88-41E5-89D3-E805E4A9428F}" type="slidenum">
              <a:rPr b="0" lang="fr-FR" sz="900" spc="-1" strike="noStrike">
                <a:solidFill>
                  <a:srgbClr val="205aa7"/>
                </a:solidFill>
                <a:latin typeface="Calibri"/>
              </a:rPr>
              <a:t>&lt;number&gt;</a:t>
            </a:fld>
            <a:endParaRPr b="0" lang="fr-FR" sz="900" spc="-1" strike="noStrike">
              <a:latin typeface="Times New Roman"/>
            </a:endParaRPr>
          </a:p>
        </p:txBody>
      </p:sp>
      <p:sp>
        <p:nvSpPr>
          <p:cNvPr id="468" name="TextShape 4"/>
          <p:cNvSpPr txBox="1"/>
          <p:nvPr/>
        </p:nvSpPr>
        <p:spPr>
          <a:xfrm>
            <a:off x="468000" y="1440000"/>
            <a:ext cx="8229240" cy="4525560"/>
          </a:xfrm>
          <a:prstGeom prst="rect">
            <a:avLst/>
          </a:prstGeom>
          <a:noFill/>
          <a:ln>
            <a:noFill/>
          </a:ln>
        </p:spPr>
        <p:txBody>
          <a:bodyPr>
            <a:normAutofit/>
          </a:bodyPr>
          <a:p>
            <a:pPr algn="ctr">
              <a:lnSpc>
                <a:spcPct val="100000"/>
              </a:lnSpc>
              <a:spcBef>
                <a:spcPts val="400"/>
              </a:spcBef>
              <a:tabLst>
                <a:tab algn="l" pos="0"/>
              </a:tabLst>
            </a:pPr>
            <a:r>
              <a:rPr b="1" lang="fr-FR" sz="2000" spc="-1" strike="noStrike">
                <a:solidFill>
                  <a:srgbClr val="205aa7"/>
                </a:solidFill>
                <a:latin typeface="Calibri"/>
              </a:rPr>
              <a:t>Étape 4 – Examen de la structure financière</a:t>
            </a:r>
            <a:endParaRPr b="0" lang="fr-FR" sz="2000" spc="-1" strike="noStrike">
              <a:solidFill>
                <a:srgbClr val="205aa7"/>
              </a:solidFill>
              <a:latin typeface="Calibri"/>
            </a:endParaRPr>
          </a:p>
          <a:p>
            <a:pPr algn="ctr">
              <a:lnSpc>
                <a:spcPct val="100000"/>
              </a:lnSpc>
              <a:spcBef>
                <a:spcPts val="201"/>
              </a:spcBef>
              <a:tabLst>
                <a:tab algn="l" pos="0"/>
              </a:tabLst>
            </a:pPr>
            <a:endParaRPr b="0" lang="fr-FR" sz="2000" spc="-1" strike="noStrike">
              <a:solidFill>
                <a:srgbClr val="205aa7"/>
              </a:solidFill>
              <a:latin typeface="Calibri"/>
            </a:endParaRPr>
          </a:p>
          <a:p>
            <a:pPr algn="ctr">
              <a:lnSpc>
                <a:spcPct val="100000"/>
              </a:lnSpc>
              <a:spcBef>
                <a:spcPts val="400"/>
              </a:spcBef>
              <a:tabLst>
                <a:tab algn="l" pos="0"/>
              </a:tabLst>
            </a:pPr>
            <a:r>
              <a:rPr b="0" lang="fr-FR" sz="2000" spc="-1" strike="noStrike" u="sng">
                <a:solidFill>
                  <a:srgbClr val="205aa7"/>
                </a:solidFill>
                <a:uFillTx/>
                <a:latin typeface="Calibri"/>
              </a:rPr>
              <a:t>Le niveau d’endettement du groupe</a:t>
            </a:r>
            <a:endParaRPr b="0" lang="fr-FR" sz="2000" spc="-1" strike="noStrike">
              <a:solidFill>
                <a:srgbClr val="205aa7"/>
              </a:solidFill>
              <a:latin typeface="Calibri"/>
            </a:endParaRPr>
          </a:p>
          <a:p>
            <a:pPr algn="just">
              <a:lnSpc>
                <a:spcPct val="100000"/>
              </a:lnSpc>
              <a:spcBef>
                <a:spcPts val="400"/>
              </a:spcBef>
              <a:tabLst>
                <a:tab algn="l" pos="0"/>
              </a:tabLst>
            </a:pPr>
            <a:r>
              <a:rPr b="0" lang="fr-FR" sz="2000" spc="-1" strike="noStrike">
                <a:solidFill>
                  <a:srgbClr val="205aa7"/>
                </a:solidFill>
                <a:latin typeface="Calibri"/>
              </a:rPr>
              <a:t>Quels sont les éléments à prendre en compte dans l’endettement financier ?</a:t>
            </a:r>
            <a:endParaRPr b="0" lang="fr-FR" sz="2000" spc="-1" strike="noStrike">
              <a:solidFill>
                <a:srgbClr val="205aa7"/>
              </a:solidFill>
              <a:latin typeface="Calibri"/>
            </a:endParaRPr>
          </a:p>
          <a:p>
            <a:pPr marL="571680" indent="-456840" algn="just">
              <a:lnSpc>
                <a:spcPct val="100000"/>
              </a:lnSpc>
              <a:spcBef>
                <a:spcPts val="400"/>
              </a:spcBef>
              <a:buClr>
                <a:srgbClr val="205aa7"/>
              </a:buClr>
              <a:buFont typeface="Wingdings" charset="2"/>
              <a:buChar char=""/>
              <a:tabLst>
                <a:tab algn="l" pos="0"/>
              </a:tabLst>
            </a:pPr>
            <a:r>
              <a:rPr b="0" lang="fr-FR" sz="2000" spc="-1" strike="noStrike">
                <a:solidFill>
                  <a:srgbClr val="205aa7"/>
                </a:solidFill>
                <a:latin typeface="Calibri"/>
              </a:rPr>
              <a:t>Les titres hybrides</a:t>
            </a:r>
            <a:endParaRPr b="0" lang="fr-FR" sz="2000" spc="-1" strike="noStrike">
              <a:solidFill>
                <a:srgbClr val="205aa7"/>
              </a:solidFill>
              <a:latin typeface="Calibri"/>
            </a:endParaRPr>
          </a:p>
          <a:p>
            <a:pPr marL="571680" indent="-456840" algn="just">
              <a:lnSpc>
                <a:spcPct val="100000"/>
              </a:lnSpc>
              <a:spcBef>
                <a:spcPts val="400"/>
              </a:spcBef>
              <a:buClr>
                <a:srgbClr val="205aa7"/>
              </a:buClr>
              <a:buFont typeface="Wingdings" charset="2"/>
              <a:buChar char=""/>
              <a:tabLst>
                <a:tab algn="l" pos="0"/>
              </a:tabLst>
            </a:pPr>
            <a:r>
              <a:rPr b="0" lang="fr-FR" sz="2000" spc="-1" strike="noStrike">
                <a:solidFill>
                  <a:srgbClr val="205aa7"/>
                </a:solidFill>
                <a:latin typeface="Calibri"/>
              </a:rPr>
              <a:t>Les comptes courants d’associés</a:t>
            </a:r>
            <a:endParaRPr b="0" lang="fr-FR" sz="2000" spc="-1" strike="noStrike">
              <a:solidFill>
                <a:srgbClr val="205aa7"/>
              </a:solidFill>
              <a:latin typeface="Calibri"/>
            </a:endParaRPr>
          </a:p>
          <a:p>
            <a:pPr marL="571680" indent="-456840" algn="just">
              <a:lnSpc>
                <a:spcPct val="100000"/>
              </a:lnSpc>
              <a:spcBef>
                <a:spcPts val="400"/>
              </a:spcBef>
              <a:buClr>
                <a:srgbClr val="205aa7"/>
              </a:buClr>
              <a:buFont typeface="Wingdings" charset="2"/>
              <a:buChar char=""/>
              <a:tabLst>
                <a:tab algn="l" pos="0"/>
              </a:tabLst>
            </a:pPr>
            <a:r>
              <a:rPr b="0" lang="fr-FR" sz="2000" spc="-1" strike="noStrike">
                <a:solidFill>
                  <a:srgbClr val="205aa7"/>
                </a:solidFill>
                <a:latin typeface="Calibri"/>
              </a:rPr>
              <a:t>Les engagements hors bilan</a:t>
            </a:r>
            <a:endParaRPr b="0" lang="fr-FR" sz="2000" spc="-1" strike="noStrike">
              <a:solidFill>
                <a:srgbClr val="205aa7"/>
              </a:solidFill>
              <a:latin typeface="Calibri"/>
            </a:endParaRPr>
          </a:p>
          <a:p>
            <a:pPr marL="571680" indent="-456840" algn="just">
              <a:lnSpc>
                <a:spcPct val="100000"/>
              </a:lnSpc>
              <a:spcBef>
                <a:spcPts val="400"/>
              </a:spcBef>
              <a:buClr>
                <a:srgbClr val="205aa7"/>
              </a:buClr>
              <a:buFont typeface="Wingdings" charset="2"/>
              <a:buChar char=""/>
              <a:tabLst>
                <a:tab algn="l" pos="0"/>
              </a:tabLst>
            </a:pPr>
            <a:r>
              <a:rPr b="0" lang="fr-FR" sz="2000" spc="-1" strike="noStrike">
                <a:solidFill>
                  <a:srgbClr val="205aa7"/>
                </a:solidFill>
                <a:latin typeface="Calibri"/>
              </a:rPr>
              <a:t>La trésorerie active</a:t>
            </a:r>
            <a:endParaRPr b="0" lang="fr-FR" sz="2000" spc="-1" strike="noStrike">
              <a:solidFill>
                <a:srgbClr val="205aa7"/>
              </a:solidFill>
              <a:latin typeface="Calibri"/>
            </a:endParaRPr>
          </a:p>
          <a:p>
            <a:pPr marL="114480" algn="just">
              <a:lnSpc>
                <a:spcPct val="100000"/>
              </a:lnSpc>
              <a:spcBef>
                <a:spcPts val="400"/>
              </a:spcBef>
              <a:tabLst>
                <a:tab algn="l" pos="0"/>
              </a:tabLst>
            </a:pPr>
            <a:endParaRPr b="0" lang="fr-FR" sz="2000" spc="-1" strike="noStrike">
              <a:solidFill>
                <a:srgbClr val="205aa7"/>
              </a:solidFill>
              <a:latin typeface="Calibri"/>
            </a:endParaRPr>
          </a:p>
          <a:p>
            <a:pPr marL="114480" algn="ctr">
              <a:lnSpc>
                <a:spcPct val="100000"/>
              </a:lnSpc>
              <a:spcBef>
                <a:spcPts val="400"/>
              </a:spcBef>
              <a:tabLst>
                <a:tab algn="l" pos="0"/>
              </a:tabLst>
            </a:pPr>
            <a:r>
              <a:rPr b="1" lang="fr-FR" sz="2000" spc="-1" strike="noStrike">
                <a:solidFill>
                  <a:srgbClr val="205aa7"/>
                </a:solidFill>
                <a:latin typeface="Wingdings"/>
              </a:rPr>
              <a:t></a:t>
            </a:r>
            <a:r>
              <a:rPr b="1" lang="fr-FR" sz="2000" spc="-1" strike="noStrike">
                <a:solidFill>
                  <a:srgbClr val="205aa7"/>
                </a:solidFill>
                <a:latin typeface="Calibri"/>
              </a:rPr>
              <a:t> </a:t>
            </a:r>
            <a:r>
              <a:rPr b="1" lang="fr-FR" sz="2000" spc="-1" strike="noStrike">
                <a:solidFill>
                  <a:srgbClr val="205aa7"/>
                </a:solidFill>
                <a:latin typeface="Calibri"/>
              </a:rPr>
              <a:t>Taux d’endettement (endettement financier retraité/fonds propres retraités)</a:t>
            </a:r>
            <a:endParaRPr b="0" lang="fr-FR" sz="2000" spc="-1" strike="noStrike">
              <a:solidFill>
                <a:srgbClr val="205aa7"/>
              </a:solidFill>
              <a:latin typeface="Calibri"/>
            </a:endParaRPr>
          </a:p>
          <a:p>
            <a:pPr>
              <a:lnSpc>
                <a:spcPct val="100000"/>
              </a:lnSpc>
              <a:spcBef>
                <a:spcPts val="519"/>
              </a:spcBef>
              <a:tabLst>
                <a:tab algn="l" pos="0"/>
              </a:tabLst>
            </a:pPr>
            <a:endParaRPr b="0" lang="fr-FR" sz="2000" spc="-1" strike="noStrike">
              <a:solidFill>
                <a:srgbClr val="205aa7"/>
              </a:solidFill>
              <a:latin typeface="Calibri"/>
            </a:endParaRPr>
          </a:p>
        </p:txBody>
      </p:sp>
    </p:spTree>
  </p:cSld>
  <mc:AlternateContent>
    <mc:Choice Requires="p14">
      <p:transition spd="slow" p14:dur="2000"/>
    </mc:Choice>
    <mc:Fallback>
      <p:transition spd="slow"/>
    </mc:Fallback>
  </mc:AlternateContent>
</p:sld>
</file>

<file path=ppt/slides/slide8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9" name="TextShape 1"/>
          <p:cNvSpPr txBox="1"/>
          <p:nvPr/>
        </p:nvSpPr>
        <p:spPr>
          <a:xfrm>
            <a:off x="468000" y="0"/>
            <a:ext cx="8229240" cy="1142640"/>
          </a:xfrm>
          <a:prstGeom prst="rect">
            <a:avLst/>
          </a:prstGeom>
          <a:noFill/>
          <a:ln>
            <a:noFill/>
          </a:ln>
        </p:spPr>
        <p:txBody>
          <a:bodyPr anchor="ctr">
            <a:noAutofit/>
          </a:bodyPr>
          <a:p>
            <a:pPr>
              <a:lnSpc>
                <a:spcPct val="100000"/>
              </a:lnSpc>
            </a:pPr>
            <a:r>
              <a:rPr b="1" lang="fr-FR" sz="2400" spc="-1" strike="noStrike" cap="all">
                <a:solidFill>
                  <a:srgbClr val="ffffff"/>
                </a:solidFill>
                <a:latin typeface="Calibri"/>
              </a:rPr>
              <a:t>3. L’analyse financière des comptes consolidés</a:t>
            </a:r>
            <a:endParaRPr b="0" lang="fr-FR" sz="2400" spc="-1" strike="noStrike">
              <a:solidFill>
                <a:srgbClr val="000000"/>
              </a:solidFill>
              <a:latin typeface="Calibri"/>
            </a:endParaRPr>
          </a:p>
        </p:txBody>
      </p:sp>
      <p:sp>
        <p:nvSpPr>
          <p:cNvPr id="470" name="TextShape 2"/>
          <p:cNvSpPr txBox="1"/>
          <p:nvPr/>
        </p:nvSpPr>
        <p:spPr>
          <a:xfrm>
            <a:off x="3124080" y="6480000"/>
            <a:ext cx="4975920" cy="359640"/>
          </a:xfrm>
          <a:prstGeom prst="rect">
            <a:avLst/>
          </a:prstGeom>
          <a:noFill/>
          <a:ln>
            <a:noFill/>
          </a:ln>
        </p:spPr>
        <p:txBody>
          <a:bodyPr>
            <a:noAutofit/>
          </a:bodyPr>
          <a:p>
            <a:endParaRPr b="0" lang="fr-FR" sz="2400" spc="-1" strike="noStrike">
              <a:latin typeface="Times New Roman"/>
            </a:endParaRPr>
          </a:p>
        </p:txBody>
      </p:sp>
      <p:sp>
        <p:nvSpPr>
          <p:cNvPr id="471" name="TextShape 3"/>
          <p:cNvSpPr txBox="1"/>
          <p:nvPr/>
        </p:nvSpPr>
        <p:spPr>
          <a:xfrm>
            <a:off x="8172360" y="6480000"/>
            <a:ext cx="539640" cy="359640"/>
          </a:xfrm>
          <a:prstGeom prst="rect">
            <a:avLst/>
          </a:prstGeom>
          <a:noFill/>
          <a:ln>
            <a:noFill/>
          </a:ln>
        </p:spPr>
        <p:txBody>
          <a:bodyPr lIns="90000" rIns="90000" tIns="45000" bIns="45000">
            <a:noAutofit/>
          </a:bodyPr>
          <a:p>
            <a:pPr algn="r">
              <a:lnSpc>
                <a:spcPct val="100000"/>
              </a:lnSpc>
            </a:pPr>
            <a:fld id="{029A6282-99CE-4258-82CB-A5284F626590}" type="slidenum">
              <a:rPr b="0" lang="fr-FR" sz="900" spc="-1" strike="noStrike">
                <a:solidFill>
                  <a:srgbClr val="205aa7"/>
                </a:solidFill>
                <a:latin typeface="Calibri"/>
              </a:rPr>
              <a:t>&lt;number&gt;</a:t>
            </a:fld>
            <a:endParaRPr b="0" lang="fr-FR" sz="900" spc="-1" strike="noStrike">
              <a:latin typeface="Times New Roman"/>
            </a:endParaRPr>
          </a:p>
        </p:txBody>
      </p:sp>
      <p:sp>
        <p:nvSpPr>
          <p:cNvPr id="472" name="TextShape 4"/>
          <p:cNvSpPr txBox="1"/>
          <p:nvPr/>
        </p:nvSpPr>
        <p:spPr>
          <a:xfrm>
            <a:off x="468000" y="1440000"/>
            <a:ext cx="8229240" cy="4525560"/>
          </a:xfrm>
          <a:prstGeom prst="rect">
            <a:avLst/>
          </a:prstGeom>
          <a:noFill/>
          <a:ln>
            <a:noFill/>
          </a:ln>
        </p:spPr>
        <p:txBody>
          <a:bodyPr>
            <a:normAutofit/>
          </a:bodyPr>
          <a:p>
            <a:pPr algn="ctr">
              <a:lnSpc>
                <a:spcPct val="100000"/>
              </a:lnSpc>
              <a:spcBef>
                <a:spcPts val="400"/>
              </a:spcBef>
              <a:tabLst>
                <a:tab algn="l" pos="0"/>
              </a:tabLst>
            </a:pPr>
            <a:r>
              <a:rPr b="1" lang="fr-FR" sz="2000" spc="-1" strike="noStrike">
                <a:solidFill>
                  <a:srgbClr val="205aa7"/>
                </a:solidFill>
                <a:latin typeface="Calibri"/>
              </a:rPr>
              <a:t>Étape 4 – Examen de la structure financière</a:t>
            </a:r>
            <a:endParaRPr b="0" lang="fr-FR" sz="2000" spc="-1" strike="noStrike">
              <a:solidFill>
                <a:srgbClr val="205aa7"/>
              </a:solidFill>
              <a:latin typeface="Calibri"/>
            </a:endParaRPr>
          </a:p>
          <a:p>
            <a:pPr algn="ctr">
              <a:lnSpc>
                <a:spcPct val="100000"/>
              </a:lnSpc>
              <a:spcBef>
                <a:spcPts val="201"/>
              </a:spcBef>
              <a:tabLst>
                <a:tab algn="l" pos="0"/>
              </a:tabLst>
            </a:pPr>
            <a:endParaRPr b="0" lang="fr-FR" sz="2000" spc="-1" strike="noStrike">
              <a:solidFill>
                <a:srgbClr val="205aa7"/>
              </a:solidFill>
              <a:latin typeface="Calibri"/>
            </a:endParaRPr>
          </a:p>
          <a:p>
            <a:pPr algn="ctr">
              <a:lnSpc>
                <a:spcPct val="100000"/>
              </a:lnSpc>
              <a:spcBef>
                <a:spcPts val="400"/>
              </a:spcBef>
              <a:tabLst>
                <a:tab algn="l" pos="0"/>
              </a:tabLst>
            </a:pPr>
            <a:r>
              <a:rPr b="0" lang="fr-FR" sz="2000" spc="-1" strike="noStrike" u="sng">
                <a:solidFill>
                  <a:srgbClr val="205aa7"/>
                </a:solidFill>
                <a:uFillTx/>
                <a:latin typeface="Calibri"/>
              </a:rPr>
              <a:t>Les titres hybrides</a:t>
            </a:r>
            <a:endParaRPr b="0" lang="fr-FR" sz="2000" spc="-1" strike="noStrike">
              <a:solidFill>
                <a:srgbClr val="205aa7"/>
              </a:solidFill>
              <a:latin typeface="Calibri"/>
            </a:endParaRPr>
          </a:p>
          <a:p>
            <a:pPr marL="252000" indent="-251640" algn="just">
              <a:lnSpc>
                <a:spcPct val="100000"/>
              </a:lnSpc>
              <a:spcBef>
                <a:spcPts val="400"/>
              </a:spcBef>
              <a:buClr>
                <a:srgbClr val="205aa7"/>
              </a:buClr>
              <a:buFont typeface="Wingdings" charset="2"/>
              <a:buChar char=""/>
              <a:tabLst>
                <a:tab algn="l" pos="0"/>
              </a:tabLst>
            </a:pPr>
            <a:r>
              <a:rPr b="0" lang="fr-FR" sz="2000" spc="-1" strike="noStrike">
                <a:solidFill>
                  <a:srgbClr val="205aa7"/>
                </a:solidFill>
                <a:latin typeface="Calibri"/>
              </a:rPr>
              <a:t>Les titres hybrides sont des instruments financiers partageant des caractéristiques spécifiques aux dettes et aux fonds propres : emprunt obligataire convertible en actions (OCA), emprunt obligataire remboursable en actions (ORA), titres subordonnés à durée indéterminée (TSDI)…</a:t>
            </a:r>
            <a:endParaRPr b="0" lang="fr-FR" sz="2000" spc="-1" strike="noStrike">
              <a:solidFill>
                <a:srgbClr val="205aa7"/>
              </a:solidFill>
              <a:latin typeface="Calibri"/>
            </a:endParaRPr>
          </a:p>
          <a:p>
            <a:pPr marL="252000" indent="-251640" algn="just">
              <a:lnSpc>
                <a:spcPct val="100000"/>
              </a:lnSpc>
              <a:spcBef>
                <a:spcPts val="400"/>
              </a:spcBef>
              <a:buClr>
                <a:srgbClr val="205aa7"/>
              </a:buClr>
              <a:buFont typeface="Wingdings" charset="2"/>
              <a:buChar char=""/>
              <a:tabLst>
                <a:tab algn="l" pos="0"/>
              </a:tabLst>
            </a:pPr>
            <a:r>
              <a:rPr b="0" lang="fr-FR" sz="2000" spc="-1" strike="noStrike">
                <a:solidFill>
                  <a:srgbClr val="205aa7"/>
                </a:solidFill>
                <a:latin typeface="Calibri"/>
              </a:rPr>
              <a:t>Selon les cas, les titres hybrides seront :</a:t>
            </a:r>
            <a:endParaRPr b="0" lang="fr-FR" sz="2000" spc="-1" strike="noStrike">
              <a:solidFill>
                <a:srgbClr val="205aa7"/>
              </a:solidFill>
              <a:latin typeface="Calibri"/>
            </a:endParaRPr>
          </a:p>
          <a:p>
            <a:pPr lvl="1" marL="743040" indent="-285480" algn="just">
              <a:lnSpc>
                <a:spcPct val="100000"/>
              </a:lnSpc>
              <a:spcBef>
                <a:spcPts val="360"/>
              </a:spcBef>
              <a:buClr>
                <a:srgbClr val="205aa7"/>
              </a:buClr>
              <a:buFont typeface="Arial"/>
              <a:buChar char="–"/>
              <a:tabLst>
                <a:tab algn="l" pos="0"/>
              </a:tabLst>
            </a:pPr>
            <a:r>
              <a:rPr b="0" lang="fr-FR" sz="1800" spc="-1" strike="noStrike">
                <a:solidFill>
                  <a:srgbClr val="205aa7"/>
                </a:solidFill>
                <a:latin typeface="Calibri"/>
              </a:rPr>
              <a:t>maintenus dans l’endettement,</a:t>
            </a:r>
            <a:endParaRPr b="0" lang="fr-FR" sz="1800" spc="-1" strike="noStrike">
              <a:solidFill>
                <a:srgbClr val="595959"/>
              </a:solidFill>
              <a:latin typeface="Calibri"/>
            </a:endParaRPr>
          </a:p>
          <a:p>
            <a:pPr lvl="1" marL="743040" indent="-285480" algn="just">
              <a:lnSpc>
                <a:spcPct val="100000"/>
              </a:lnSpc>
              <a:spcBef>
                <a:spcPts val="360"/>
              </a:spcBef>
              <a:buClr>
                <a:srgbClr val="205aa7"/>
              </a:buClr>
              <a:buFont typeface="Arial"/>
              <a:buChar char="–"/>
              <a:tabLst>
                <a:tab algn="l" pos="0"/>
              </a:tabLst>
            </a:pPr>
            <a:r>
              <a:rPr b="0" lang="fr-FR" sz="1800" spc="-1" strike="noStrike">
                <a:solidFill>
                  <a:srgbClr val="205aa7"/>
                </a:solidFill>
                <a:latin typeface="Calibri"/>
              </a:rPr>
              <a:t>neutralisés de l’endettement,</a:t>
            </a:r>
            <a:endParaRPr b="0" lang="fr-FR" sz="1800" spc="-1" strike="noStrike">
              <a:solidFill>
                <a:srgbClr val="595959"/>
              </a:solidFill>
              <a:latin typeface="Calibri"/>
            </a:endParaRPr>
          </a:p>
          <a:p>
            <a:pPr lvl="1" marL="743040" indent="-285480" algn="just">
              <a:lnSpc>
                <a:spcPct val="100000"/>
              </a:lnSpc>
              <a:spcBef>
                <a:spcPts val="360"/>
              </a:spcBef>
              <a:buClr>
                <a:srgbClr val="205aa7"/>
              </a:buClr>
              <a:buFont typeface="Arial"/>
              <a:buChar char="–"/>
              <a:tabLst>
                <a:tab algn="l" pos="0"/>
              </a:tabLst>
            </a:pPr>
            <a:r>
              <a:rPr b="0" lang="fr-FR" sz="1800" spc="-1" strike="noStrike">
                <a:solidFill>
                  <a:srgbClr val="205aa7"/>
                </a:solidFill>
                <a:latin typeface="Calibri"/>
              </a:rPr>
              <a:t>assimilés aux fonds propres.</a:t>
            </a:r>
            <a:endParaRPr b="0" lang="fr-FR" sz="1800" spc="-1" strike="noStrike">
              <a:solidFill>
                <a:srgbClr val="595959"/>
              </a:solidFill>
              <a:latin typeface="Calibri"/>
            </a:endParaRPr>
          </a:p>
          <a:p>
            <a:pPr>
              <a:lnSpc>
                <a:spcPct val="100000"/>
              </a:lnSpc>
              <a:spcBef>
                <a:spcPts val="519"/>
              </a:spcBef>
              <a:tabLst>
                <a:tab algn="l" pos="0"/>
              </a:tabLst>
            </a:pPr>
            <a:endParaRPr b="0" lang="fr-FR" sz="1800" spc="-1" strike="noStrike">
              <a:solidFill>
                <a:srgbClr val="205aa7"/>
              </a:solidFill>
              <a:latin typeface="Calibri"/>
            </a:endParaRPr>
          </a:p>
        </p:txBody>
      </p:sp>
    </p:spTree>
  </p:cSld>
  <mc:AlternateContent>
    <mc:Choice Requires="p14">
      <p:transition spd="slow" p14:dur="2000"/>
    </mc:Choice>
    <mc:Fallback>
      <p:transition spd="slow"/>
    </mc:Fallback>
  </mc:AlternateContent>
</p:sld>
</file>

<file path=ppt/slides/slide8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3" name="TextShape 1"/>
          <p:cNvSpPr txBox="1"/>
          <p:nvPr/>
        </p:nvSpPr>
        <p:spPr>
          <a:xfrm>
            <a:off x="468000" y="0"/>
            <a:ext cx="8229240" cy="1142640"/>
          </a:xfrm>
          <a:prstGeom prst="rect">
            <a:avLst/>
          </a:prstGeom>
          <a:noFill/>
          <a:ln>
            <a:noFill/>
          </a:ln>
        </p:spPr>
        <p:txBody>
          <a:bodyPr anchor="ctr">
            <a:noAutofit/>
          </a:bodyPr>
          <a:p>
            <a:pPr>
              <a:lnSpc>
                <a:spcPct val="100000"/>
              </a:lnSpc>
            </a:pPr>
            <a:r>
              <a:rPr b="1" lang="fr-FR" sz="2400" spc="-1" strike="noStrike" cap="all">
                <a:solidFill>
                  <a:srgbClr val="ffffff"/>
                </a:solidFill>
                <a:latin typeface="Calibri"/>
              </a:rPr>
              <a:t>3. L’analyse financière des comptes consolidés</a:t>
            </a:r>
            <a:endParaRPr b="0" lang="fr-FR" sz="2400" spc="-1" strike="noStrike">
              <a:solidFill>
                <a:srgbClr val="000000"/>
              </a:solidFill>
              <a:latin typeface="Calibri"/>
            </a:endParaRPr>
          </a:p>
        </p:txBody>
      </p:sp>
      <p:sp>
        <p:nvSpPr>
          <p:cNvPr id="474" name="TextShape 2"/>
          <p:cNvSpPr txBox="1"/>
          <p:nvPr/>
        </p:nvSpPr>
        <p:spPr>
          <a:xfrm>
            <a:off x="3124080" y="6480000"/>
            <a:ext cx="4975920" cy="359640"/>
          </a:xfrm>
          <a:prstGeom prst="rect">
            <a:avLst/>
          </a:prstGeom>
          <a:noFill/>
          <a:ln>
            <a:noFill/>
          </a:ln>
        </p:spPr>
        <p:txBody>
          <a:bodyPr>
            <a:noAutofit/>
          </a:bodyPr>
          <a:p>
            <a:endParaRPr b="0" lang="fr-FR" sz="2400" spc="-1" strike="noStrike">
              <a:latin typeface="Times New Roman"/>
            </a:endParaRPr>
          </a:p>
        </p:txBody>
      </p:sp>
      <p:sp>
        <p:nvSpPr>
          <p:cNvPr id="475" name="TextShape 3"/>
          <p:cNvSpPr txBox="1"/>
          <p:nvPr/>
        </p:nvSpPr>
        <p:spPr>
          <a:xfrm>
            <a:off x="8172360" y="6480000"/>
            <a:ext cx="539640" cy="359640"/>
          </a:xfrm>
          <a:prstGeom prst="rect">
            <a:avLst/>
          </a:prstGeom>
          <a:noFill/>
          <a:ln>
            <a:noFill/>
          </a:ln>
        </p:spPr>
        <p:txBody>
          <a:bodyPr lIns="90000" rIns="90000" tIns="45000" bIns="45000">
            <a:noAutofit/>
          </a:bodyPr>
          <a:p>
            <a:pPr algn="r">
              <a:lnSpc>
                <a:spcPct val="100000"/>
              </a:lnSpc>
            </a:pPr>
            <a:fld id="{D468343B-DE36-45CF-8180-2B05EC0D645C}" type="slidenum">
              <a:rPr b="0" lang="fr-FR" sz="900" spc="-1" strike="noStrike">
                <a:solidFill>
                  <a:srgbClr val="205aa7"/>
                </a:solidFill>
                <a:latin typeface="Calibri"/>
              </a:rPr>
              <a:t>&lt;number&gt;</a:t>
            </a:fld>
            <a:endParaRPr b="0" lang="fr-FR" sz="900" spc="-1" strike="noStrike">
              <a:latin typeface="Times New Roman"/>
            </a:endParaRPr>
          </a:p>
        </p:txBody>
      </p:sp>
      <p:sp>
        <p:nvSpPr>
          <p:cNvPr id="476" name="TextShape 4"/>
          <p:cNvSpPr txBox="1"/>
          <p:nvPr/>
        </p:nvSpPr>
        <p:spPr>
          <a:xfrm>
            <a:off x="468000" y="1440000"/>
            <a:ext cx="8229240" cy="4525560"/>
          </a:xfrm>
          <a:prstGeom prst="rect">
            <a:avLst/>
          </a:prstGeom>
          <a:noFill/>
          <a:ln>
            <a:noFill/>
          </a:ln>
        </p:spPr>
        <p:txBody>
          <a:bodyPr>
            <a:normAutofit/>
          </a:bodyPr>
          <a:p>
            <a:pPr algn="ctr">
              <a:lnSpc>
                <a:spcPct val="100000"/>
              </a:lnSpc>
              <a:spcBef>
                <a:spcPts val="400"/>
              </a:spcBef>
              <a:tabLst>
                <a:tab algn="l" pos="0"/>
              </a:tabLst>
            </a:pPr>
            <a:r>
              <a:rPr b="1" lang="fr-FR" sz="2000" spc="-1" strike="noStrike">
                <a:solidFill>
                  <a:srgbClr val="205aa7"/>
                </a:solidFill>
                <a:latin typeface="Calibri"/>
              </a:rPr>
              <a:t>Étape 4 – Examen de la structure financière</a:t>
            </a:r>
            <a:endParaRPr b="0" lang="fr-FR" sz="2000" spc="-1" strike="noStrike">
              <a:solidFill>
                <a:srgbClr val="205aa7"/>
              </a:solidFill>
              <a:latin typeface="Calibri"/>
            </a:endParaRPr>
          </a:p>
          <a:p>
            <a:pPr algn="ctr">
              <a:lnSpc>
                <a:spcPct val="100000"/>
              </a:lnSpc>
              <a:spcBef>
                <a:spcPts val="201"/>
              </a:spcBef>
              <a:tabLst>
                <a:tab algn="l" pos="0"/>
              </a:tabLst>
            </a:pPr>
            <a:endParaRPr b="0" lang="fr-FR" sz="2000" spc="-1" strike="noStrike">
              <a:solidFill>
                <a:srgbClr val="205aa7"/>
              </a:solidFill>
              <a:latin typeface="Calibri"/>
            </a:endParaRPr>
          </a:p>
          <a:p>
            <a:pPr algn="ctr">
              <a:lnSpc>
                <a:spcPct val="100000"/>
              </a:lnSpc>
              <a:spcBef>
                <a:spcPts val="400"/>
              </a:spcBef>
              <a:tabLst>
                <a:tab algn="l" pos="0"/>
              </a:tabLst>
            </a:pPr>
            <a:r>
              <a:rPr b="0" lang="fr-FR" sz="2000" spc="-1" strike="noStrike" u="sng">
                <a:solidFill>
                  <a:srgbClr val="205aa7"/>
                </a:solidFill>
                <a:uFillTx/>
                <a:latin typeface="Calibri"/>
              </a:rPr>
              <a:t>Les comptes courants d’associés</a:t>
            </a:r>
            <a:endParaRPr b="0" lang="fr-FR" sz="2000" spc="-1" strike="noStrike">
              <a:solidFill>
                <a:srgbClr val="205aa7"/>
              </a:solidFill>
              <a:latin typeface="Calibri"/>
            </a:endParaRPr>
          </a:p>
          <a:p>
            <a:pPr marL="252000" indent="-251640" algn="just">
              <a:lnSpc>
                <a:spcPct val="100000"/>
              </a:lnSpc>
              <a:spcBef>
                <a:spcPts val="400"/>
              </a:spcBef>
              <a:buClr>
                <a:srgbClr val="205aa7"/>
              </a:buClr>
              <a:buFont typeface="Wingdings" charset="2"/>
              <a:buChar char=""/>
              <a:tabLst>
                <a:tab algn="l" pos="0"/>
              </a:tabLst>
            </a:pPr>
            <a:r>
              <a:rPr b="0" lang="fr-FR" sz="2000" spc="-1" strike="noStrike">
                <a:solidFill>
                  <a:srgbClr val="205aa7"/>
                </a:solidFill>
                <a:latin typeface="Calibri"/>
              </a:rPr>
              <a:t>La neutralisation des comptes courants d’associés des dettes financières est possible si :</a:t>
            </a:r>
            <a:endParaRPr b="0" lang="fr-FR" sz="2000" spc="-1" strike="noStrike">
              <a:solidFill>
                <a:srgbClr val="205aa7"/>
              </a:solidFill>
              <a:latin typeface="Calibri"/>
            </a:endParaRPr>
          </a:p>
          <a:p>
            <a:pPr lvl="1" marL="743040" indent="-285480" algn="just">
              <a:lnSpc>
                <a:spcPct val="100000"/>
              </a:lnSpc>
              <a:spcBef>
                <a:spcPts val="360"/>
              </a:spcBef>
              <a:buClr>
                <a:srgbClr val="205aa7"/>
              </a:buClr>
              <a:buFont typeface="Arial"/>
              <a:buChar char="–"/>
              <a:tabLst>
                <a:tab algn="l" pos="0"/>
              </a:tabLst>
            </a:pPr>
            <a:r>
              <a:rPr b="0" lang="fr-FR" sz="1800" spc="-1" strike="noStrike">
                <a:solidFill>
                  <a:srgbClr val="205aa7"/>
                </a:solidFill>
                <a:latin typeface="Calibri"/>
              </a:rPr>
              <a:t>le soutien des associés sous forme de comptes courants est acquis et pérenne,</a:t>
            </a:r>
            <a:endParaRPr b="0" lang="fr-FR" sz="1800" spc="-1" strike="noStrike">
              <a:solidFill>
                <a:srgbClr val="595959"/>
              </a:solidFill>
              <a:latin typeface="Calibri"/>
            </a:endParaRPr>
          </a:p>
          <a:p>
            <a:pPr lvl="1" marL="743040" indent="-285480" algn="just">
              <a:lnSpc>
                <a:spcPct val="100000"/>
              </a:lnSpc>
              <a:spcBef>
                <a:spcPts val="360"/>
              </a:spcBef>
              <a:buClr>
                <a:srgbClr val="205aa7"/>
              </a:buClr>
              <a:buFont typeface="Arial"/>
              <a:buChar char="–"/>
              <a:tabLst>
                <a:tab algn="l" pos="0"/>
              </a:tabLst>
            </a:pPr>
            <a:r>
              <a:rPr b="0" lang="fr-FR" sz="1800" spc="-1" strike="noStrike">
                <a:solidFill>
                  <a:srgbClr val="205aa7"/>
                </a:solidFill>
                <a:latin typeface="Calibri"/>
              </a:rPr>
              <a:t>les apporteurs sont connus et ne font pas l’objet d’une cotation péjorative,</a:t>
            </a:r>
            <a:endParaRPr b="0" lang="fr-FR" sz="1800" spc="-1" strike="noStrike">
              <a:solidFill>
                <a:srgbClr val="595959"/>
              </a:solidFill>
              <a:latin typeface="Calibri"/>
            </a:endParaRPr>
          </a:p>
          <a:p>
            <a:pPr lvl="1" marL="743040" indent="-285480" algn="just">
              <a:lnSpc>
                <a:spcPct val="100000"/>
              </a:lnSpc>
              <a:spcBef>
                <a:spcPts val="360"/>
              </a:spcBef>
              <a:buClr>
                <a:srgbClr val="205aa7"/>
              </a:buClr>
              <a:buFont typeface="Arial"/>
              <a:buChar char="–"/>
              <a:tabLst>
                <a:tab algn="l" pos="0"/>
              </a:tabLst>
            </a:pPr>
            <a:r>
              <a:rPr b="0" lang="fr-FR" sz="1800" spc="-1" strike="noStrike">
                <a:solidFill>
                  <a:srgbClr val="205aa7"/>
                </a:solidFill>
                <a:latin typeface="Calibri"/>
              </a:rPr>
              <a:t>l’endettement est constitué pour une part importante de comptes courants d’associés et qu’il est faible.</a:t>
            </a:r>
            <a:endParaRPr b="0" lang="fr-FR" sz="1800" spc="-1" strike="noStrike">
              <a:solidFill>
                <a:srgbClr val="595959"/>
              </a:solidFill>
              <a:latin typeface="Calibri"/>
            </a:endParaRPr>
          </a:p>
          <a:p>
            <a:pPr marL="252000" indent="-251640" algn="just">
              <a:lnSpc>
                <a:spcPct val="100000"/>
              </a:lnSpc>
              <a:spcBef>
                <a:spcPts val="400"/>
              </a:spcBef>
              <a:buClr>
                <a:srgbClr val="205aa7"/>
              </a:buClr>
              <a:buFont typeface="Wingdings" charset="2"/>
              <a:buChar char=""/>
              <a:tabLst>
                <a:tab algn="l" pos="0"/>
              </a:tabLst>
            </a:pPr>
            <a:r>
              <a:rPr b="0" lang="fr-FR" sz="2000" spc="-1" strike="noStrike">
                <a:solidFill>
                  <a:srgbClr val="205aa7"/>
                </a:solidFill>
                <a:latin typeface="Calibri"/>
              </a:rPr>
              <a:t>Ils peuvent être exclus des dettes et ajouter aux fonds propres s’ils sont bloqués et incorporables à terme dans les fonds propres.</a:t>
            </a:r>
            <a:endParaRPr b="0" lang="fr-FR" sz="2000" spc="-1" strike="noStrike">
              <a:solidFill>
                <a:srgbClr val="205aa7"/>
              </a:solidFill>
              <a:latin typeface="Calibri"/>
            </a:endParaRPr>
          </a:p>
        </p:txBody>
      </p:sp>
    </p:spTree>
  </p:cSld>
  <mc:AlternateContent>
    <mc:Choice Requires="p14">
      <p:transition spd="slow" p14:dur="2000"/>
    </mc:Choice>
    <mc:Fallback>
      <p:transition spd="slow"/>
    </mc:Fallback>
  </mc:AlternateContent>
</p:sld>
</file>

<file path=ppt/slides/slide8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7" name="TextShape 1"/>
          <p:cNvSpPr txBox="1"/>
          <p:nvPr/>
        </p:nvSpPr>
        <p:spPr>
          <a:xfrm>
            <a:off x="468000" y="0"/>
            <a:ext cx="8229240" cy="1142640"/>
          </a:xfrm>
          <a:prstGeom prst="rect">
            <a:avLst/>
          </a:prstGeom>
          <a:noFill/>
          <a:ln>
            <a:noFill/>
          </a:ln>
        </p:spPr>
        <p:txBody>
          <a:bodyPr anchor="ctr">
            <a:noAutofit/>
          </a:bodyPr>
          <a:p>
            <a:pPr>
              <a:lnSpc>
                <a:spcPct val="100000"/>
              </a:lnSpc>
            </a:pPr>
            <a:r>
              <a:rPr b="1" lang="fr-FR" sz="2400" spc="-1" strike="noStrike" cap="all">
                <a:solidFill>
                  <a:srgbClr val="ffffff"/>
                </a:solidFill>
                <a:latin typeface="Calibri"/>
              </a:rPr>
              <a:t>3. L’analyse financière des comptes consolidés</a:t>
            </a:r>
            <a:endParaRPr b="0" lang="fr-FR" sz="2400" spc="-1" strike="noStrike">
              <a:solidFill>
                <a:srgbClr val="000000"/>
              </a:solidFill>
              <a:latin typeface="Calibri"/>
            </a:endParaRPr>
          </a:p>
        </p:txBody>
      </p:sp>
      <p:sp>
        <p:nvSpPr>
          <p:cNvPr id="478" name="TextShape 2"/>
          <p:cNvSpPr txBox="1"/>
          <p:nvPr/>
        </p:nvSpPr>
        <p:spPr>
          <a:xfrm>
            <a:off x="3124080" y="6480000"/>
            <a:ext cx="4975920" cy="359640"/>
          </a:xfrm>
          <a:prstGeom prst="rect">
            <a:avLst/>
          </a:prstGeom>
          <a:noFill/>
          <a:ln>
            <a:noFill/>
          </a:ln>
        </p:spPr>
        <p:txBody>
          <a:bodyPr>
            <a:noAutofit/>
          </a:bodyPr>
          <a:p>
            <a:endParaRPr b="0" lang="fr-FR" sz="2400" spc="-1" strike="noStrike">
              <a:latin typeface="Times New Roman"/>
            </a:endParaRPr>
          </a:p>
        </p:txBody>
      </p:sp>
      <p:sp>
        <p:nvSpPr>
          <p:cNvPr id="479" name="TextShape 3"/>
          <p:cNvSpPr txBox="1"/>
          <p:nvPr/>
        </p:nvSpPr>
        <p:spPr>
          <a:xfrm>
            <a:off x="8172360" y="6480000"/>
            <a:ext cx="539640" cy="359640"/>
          </a:xfrm>
          <a:prstGeom prst="rect">
            <a:avLst/>
          </a:prstGeom>
          <a:noFill/>
          <a:ln>
            <a:noFill/>
          </a:ln>
        </p:spPr>
        <p:txBody>
          <a:bodyPr lIns="90000" rIns="90000" tIns="45000" bIns="45000">
            <a:noAutofit/>
          </a:bodyPr>
          <a:p>
            <a:pPr algn="r">
              <a:lnSpc>
                <a:spcPct val="100000"/>
              </a:lnSpc>
            </a:pPr>
            <a:fld id="{80428967-1FE4-4C07-B224-9406D0F184BC}" type="slidenum">
              <a:rPr b="0" lang="fr-FR" sz="900" spc="-1" strike="noStrike">
                <a:solidFill>
                  <a:srgbClr val="205aa7"/>
                </a:solidFill>
                <a:latin typeface="Calibri"/>
              </a:rPr>
              <a:t>&lt;number&gt;</a:t>
            </a:fld>
            <a:endParaRPr b="0" lang="fr-FR" sz="900" spc="-1" strike="noStrike">
              <a:latin typeface="Times New Roman"/>
            </a:endParaRPr>
          </a:p>
        </p:txBody>
      </p:sp>
      <p:sp>
        <p:nvSpPr>
          <p:cNvPr id="480" name="TextShape 4"/>
          <p:cNvSpPr txBox="1"/>
          <p:nvPr/>
        </p:nvSpPr>
        <p:spPr>
          <a:xfrm>
            <a:off x="468000" y="1440000"/>
            <a:ext cx="8229240" cy="4525560"/>
          </a:xfrm>
          <a:prstGeom prst="rect">
            <a:avLst/>
          </a:prstGeom>
          <a:noFill/>
          <a:ln>
            <a:noFill/>
          </a:ln>
        </p:spPr>
        <p:txBody>
          <a:bodyPr>
            <a:noAutofit/>
          </a:bodyPr>
          <a:p>
            <a:pPr algn="ctr">
              <a:lnSpc>
                <a:spcPct val="100000"/>
              </a:lnSpc>
              <a:spcBef>
                <a:spcPts val="400"/>
              </a:spcBef>
              <a:tabLst>
                <a:tab algn="l" pos="0"/>
              </a:tabLst>
            </a:pPr>
            <a:r>
              <a:rPr b="1" lang="fr-FR" sz="2000" spc="-1" strike="noStrike">
                <a:solidFill>
                  <a:srgbClr val="205aa7"/>
                </a:solidFill>
                <a:latin typeface="Calibri"/>
              </a:rPr>
              <a:t>Étape 4 – Examen de la structure financière</a:t>
            </a:r>
            <a:endParaRPr b="0" lang="fr-FR" sz="2000" spc="-1" strike="noStrike">
              <a:solidFill>
                <a:srgbClr val="205aa7"/>
              </a:solidFill>
              <a:latin typeface="Calibri"/>
            </a:endParaRPr>
          </a:p>
          <a:p>
            <a:pPr algn="ctr">
              <a:lnSpc>
                <a:spcPct val="100000"/>
              </a:lnSpc>
              <a:spcBef>
                <a:spcPts val="201"/>
              </a:spcBef>
              <a:tabLst>
                <a:tab algn="l" pos="0"/>
              </a:tabLst>
            </a:pPr>
            <a:endParaRPr b="0" lang="fr-FR" sz="2000" spc="-1" strike="noStrike">
              <a:solidFill>
                <a:srgbClr val="205aa7"/>
              </a:solidFill>
              <a:latin typeface="Calibri"/>
            </a:endParaRPr>
          </a:p>
          <a:p>
            <a:pPr algn="ctr">
              <a:lnSpc>
                <a:spcPct val="100000"/>
              </a:lnSpc>
              <a:spcBef>
                <a:spcPts val="400"/>
              </a:spcBef>
              <a:tabLst>
                <a:tab algn="l" pos="0"/>
              </a:tabLst>
            </a:pPr>
            <a:r>
              <a:rPr b="0" lang="fr-FR" sz="2000" spc="-1" strike="noStrike" u="sng">
                <a:solidFill>
                  <a:srgbClr val="205aa7"/>
                </a:solidFill>
                <a:uFillTx/>
                <a:latin typeface="Calibri"/>
              </a:rPr>
              <a:t>Les engagements hors bilan</a:t>
            </a:r>
            <a:endParaRPr b="0" lang="fr-FR" sz="2000" spc="-1" strike="noStrike">
              <a:solidFill>
                <a:srgbClr val="205aa7"/>
              </a:solidFill>
              <a:latin typeface="Calibri"/>
            </a:endParaRPr>
          </a:p>
          <a:p>
            <a:pPr marL="252000" indent="-251640" algn="just">
              <a:lnSpc>
                <a:spcPct val="100000"/>
              </a:lnSpc>
              <a:spcBef>
                <a:spcPts val="400"/>
              </a:spcBef>
              <a:buClr>
                <a:srgbClr val="205aa7"/>
              </a:buClr>
              <a:buFont typeface="Wingdings" charset="2"/>
              <a:buChar char=""/>
              <a:tabLst>
                <a:tab algn="l" pos="0"/>
              </a:tabLst>
            </a:pPr>
            <a:r>
              <a:rPr b="0" lang="fr-FR" sz="2000" spc="-1" strike="noStrike">
                <a:solidFill>
                  <a:srgbClr val="205aa7"/>
                </a:solidFill>
                <a:latin typeface="Calibri"/>
              </a:rPr>
              <a:t>Les engagements à retraiter systématiquement sont :</a:t>
            </a:r>
            <a:endParaRPr b="0" lang="fr-FR" sz="2000" spc="-1" strike="noStrike">
              <a:solidFill>
                <a:srgbClr val="205aa7"/>
              </a:solidFill>
              <a:latin typeface="Calibri"/>
            </a:endParaRPr>
          </a:p>
          <a:p>
            <a:pPr lvl="1" marL="743040" indent="-285480" algn="just">
              <a:lnSpc>
                <a:spcPct val="100000"/>
              </a:lnSpc>
              <a:spcBef>
                <a:spcPts val="360"/>
              </a:spcBef>
              <a:buClr>
                <a:srgbClr val="205aa7"/>
              </a:buClr>
              <a:buFont typeface="Arial"/>
              <a:buChar char="–"/>
              <a:tabLst>
                <a:tab algn="l" pos="0"/>
              </a:tabLst>
            </a:pPr>
            <a:r>
              <a:rPr b="0" lang="fr-FR" sz="1800" spc="-1" strike="noStrike">
                <a:solidFill>
                  <a:srgbClr val="205aa7"/>
                </a:solidFill>
                <a:latin typeface="Calibri"/>
              </a:rPr>
              <a:t>le crédit-bail et la location financière, les engagements de location simple fermes et irrévocables,</a:t>
            </a:r>
            <a:endParaRPr b="0" lang="fr-FR" sz="1800" spc="-1" strike="noStrike">
              <a:solidFill>
                <a:srgbClr val="595959"/>
              </a:solidFill>
              <a:latin typeface="Calibri"/>
            </a:endParaRPr>
          </a:p>
          <a:p>
            <a:pPr lvl="1" marL="743040" indent="-285480" algn="just">
              <a:lnSpc>
                <a:spcPct val="100000"/>
              </a:lnSpc>
              <a:spcBef>
                <a:spcPts val="360"/>
              </a:spcBef>
              <a:buClr>
                <a:srgbClr val="205aa7"/>
              </a:buClr>
              <a:buFont typeface="Arial"/>
              <a:buChar char="–"/>
              <a:tabLst>
                <a:tab algn="l" pos="0"/>
              </a:tabLst>
            </a:pPr>
            <a:r>
              <a:rPr b="0" lang="fr-FR" sz="1800" spc="-1" strike="noStrike">
                <a:solidFill>
                  <a:srgbClr val="205aa7"/>
                </a:solidFill>
                <a:latin typeface="Calibri"/>
              </a:rPr>
              <a:t>les créances mobilisées : effets escomptés non échus, Dailly, affacturage,</a:t>
            </a:r>
            <a:endParaRPr b="0" lang="fr-FR" sz="1800" spc="-1" strike="noStrike">
              <a:solidFill>
                <a:srgbClr val="595959"/>
              </a:solidFill>
              <a:latin typeface="Calibri"/>
            </a:endParaRPr>
          </a:p>
          <a:p>
            <a:pPr lvl="1" marL="743040" indent="-285480" algn="just">
              <a:lnSpc>
                <a:spcPct val="100000"/>
              </a:lnSpc>
              <a:spcBef>
                <a:spcPts val="360"/>
              </a:spcBef>
              <a:buClr>
                <a:srgbClr val="205aa7"/>
              </a:buClr>
              <a:buFont typeface="Arial"/>
              <a:buChar char="–"/>
              <a:tabLst>
                <a:tab algn="l" pos="0"/>
              </a:tabLst>
            </a:pPr>
            <a:r>
              <a:rPr b="0" lang="fr-FR" sz="1800" spc="-1" strike="noStrike">
                <a:solidFill>
                  <a:srgbClr val="205aa7"/>
                </a:solidFill>
                <a:latin typeface="Calibri"/>
              </a:rPr>
              <a:t>l’engagement ferme de rachat des minoritaires.</a:t>
            </a:r>
            <a:endParaRPr b="0" lang="fr-FR" sz="1800" spc="-1" strike="noStrike">
              <a:solidFill>
                <a:srgbClr val="595959"/>
              </a:solidFill>
              <a:latin typeface="Calibri"/>
            </a:endParaRPr>
          </a:p>
          <a:p>
            <a:pPr marL="252000" indent="-251640" algn="just">
              <a:lnSpc>
                <a:spcPct val="100000"/>
              </a:lnSpc>
              <a:spcBef>
                <a:spcPts val="400"/>
              </a:spcBef>
              <a:buClr>
                <a:srgbClr val="205aa7"/>
              </a:buClr>
              <a:buFont typeface="Wingdings" charset="2"/>
              <a:buChar char=""/>
              <a:tabLst>
                <a:tab algn="l" pos="0"/>
              </a:tabLst>
            </a:pPr>
            <a:r>
              <a:rPr b="0" lang="fr-FR" sz="2000" spc="-1" strike="noStrike">
                <a:solidFill>
                  <a:srgbClr val="205aa7"/>
                </a:solidFill>
                <a:latin typeface="Calibri"/>
              </a:rPr>
              <a:t>Les engagements à intégrer en fonction de l’importance et de la probabilité du risque sont :</a:t>
            </a:r>
            <a:endParaRPr b="0" lang="fr-FR" sz="2000" spc="-1" strike="noStrike">
              <a:solidFill>
                <a:srgbClr val="205aa7"/>
              </a:solidFill>
              <a:latin typeface="Calibri"/>
            </a:endParaRPr>
          </a:p>
          <a:p>
            <a:pPr lvl="1" marL="743040" indent="-285480" algn="just">
              <a:lnSpc>
                <a:spcPct val="100000"/>
              </a:lnSpc>
              <a:spcBef>
                <a:spcPts val="360"/>
              </a:spcBef>
              <a:buClr>
                <a:srgbClr val="205aa7"/>
              </a:buClr>
              <a:buFont typeface="Arial"/>
              <a:buChar char="–"/>
              <a:tabLst>
                <a:tab algn="l" pos="0"/>
              </a:tabLst>
            </a:pPr>
            <a:r>
              <a:rPr b="0" lang="fr-FR" sz="1800" spc="-1" strike="noStrike">
                <a:solidFill>
                  <a:srgbClr val="205aa7"/>
                </a:solidFill>
                <a:latin typeface="Calibri"/>
              </a:rPr>
              <a:t>les risques relatifs aux sociétés non intégrées globalement,</a:t>
            </a:r>
            <a:endParaRPr b="0" lang="fr-FR" sz="1800" spc="-1" strike="noStrike">
              <a:solidFill>
                <a:srgbClr val="595959"/>
              </a:solidFill>
              <a:latin typeface="Calibri"/>
            </a:endParaRPr>
          </a:p>
          <a:p>
            <a:pPr lvl="1" marL="743040" indent="-285480" algn="just">
              <a:lnSpc>
                <a:spcPct val="100000"/>
              </a:lnSpc>
              <a:spcBef>
                <a:spcPts val="360"/>
              </a:spcBef>
              <a:buClr>
                <a:srgbClr val="205aa7"/>
              </a:buClr>
              <a:buFont typeface="Arial"/>
              <a:buChar char="–"/>
              <a:tabLst>
                <a:tab algn="l" pos="0"/>
              </a:tabLst>
            </a:pPr>
            <a:r>
              <a:rPr b="0" lang="fr-FR" sz="1800" spc="-1" strike="noStrike">
                <a:solidFill>
                  <a:srgbClr val="205aa7"/>
                </a:solidFill>
                <a:latin typeface="Calibri"/>
              </a:rPr>
              <a:t>les risques relatifs aux sociétés de personnes et autres sûretés personnelles (cautions),</a:t>
            </a:r>
            <a:endParaRPr b="0" lang="fr-FR" sz="1800" spc="-1" strike="noStrike">
              <a:solidFill>
                <a:srgbClr val="595959"/>
              </a:solidFill>
              <a:latin typeface="Calibri"/>
            </a:endParaRPr>
          </a:p>
          <a:p>
            <a:pPr lvl="1" marL="743040" indent="-285480" algn="just">
              <a:lnSpc>
                <a:spcPct val="100000"/>
              </a:lnSpc>
              <a:spcBef>
                <a:spcPts val="360"/>
              </a:spcBef>
              <a:buClr>
                <a:srgbClr val="205aa7"/>
              </a:buClr>
              <a:buFont typeface="Arial"/>
              <a:buChar char="–"/>
              <a:tabLst>
                <a:tab algn="l" pos="0"/>
              </a:tabLst>
            </a:pPr>
            <a:r>
              <a:rPr b="0" lang="fr-FR" sz="1800" spc="-1" strike="noStrike">
                <a:solidFill>
                  <a:srgbClr val="205aa7"/>
                </a:solidFill>
                <a:latin typeface="Calibri"/>
              </a:rPr>
              <a:t>l’engagement optionnel de rachat des minoritaires.</a:t>
            </a:r>
            <a:endParaRPr b="0" lang="fr-FR" sz="1800" spc="-1" strike="noStrike">
              <a:solidFill>
                <a:srgbClr val="595959"/>
              </a:solidFill>
              <a:latin typeface="Calibri"/>
            </a:endParaRPr>
          </a:p>
        </p:txBody>
      </p:sp>
    </p:spTree>
  </p:cSld>
  <mc:AlternateContent>
    <mc:Choice Requires="p14">
      <p:transition spd="slow" p14:dur="2000"/>
    </mc:Choice>
    <mc:Fallback>
      <p:transition spd="slow"/>
    </mc:Fallback>
  </mc:AlternateContent>
</p:sld>
</file>

<file path=ppt/slides/slide8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1" name="TextShape 1"/>
          <p:cNvSpPr txBox="1"/>
          <p:nvPr/>
        </p:nvSpPr>
        <p:spPr>
          <a:xfrm>
            <a:off x="468000" y="0"/>
            <a:ext cx="8229240" cy="1142640"/>
          </a:xfrm>
          <a:prstGeom prst="rect">
            <a:avLst/>
          </a:prstGeom>
          <a:noFill/>
          <a:ln>
            <a:noFill/>
          </a:ln>
        </p:spPr>
        <p:txBody>
          <a:bodyPr anchor="ctr">
            <a:noAutofit/>
          </a:bodyPr>
          <a:p>
            <a:pPr>
              <a:lnSpc>
                <a:spcPct val="100000"/>
              </a:lnSpc>
            </a:pPr>
            <a:r>
              <a:rPr b="1" lang="fr-FR" sz="2400" spc="-1" strike="noStrike" cap="all">
                <a:solidFill>
                  <a:srgbClr val="ffffff"/>
                </a:solidFill>
                <a:latin typeface="Calibri"/>
              </a:rPr>
              <a:t>3. L’analyse financière des comptes consolidés</a:t>
            </a:r>
            <a:endParaRPr b="0" lang="fr-FR" sz="2400" spc="-1" strike="noStrike">
              <a:solidFill>
                <a:srgbClr val="000000"/>
              </a:solidFill>
              <a:latin typeface="Calibri"/>
            </a:endParaRPr>
          </a:p>
        </p:txBody>
      </p:sp>
      <p:sp>
        <p:nvSpPr>
          <p:cNvPr id="482" name="TextShape 2"/>
          <p:cNvSpPr txBox="1"/>
          <p:nvPr/>
        </p:nvSpPr>
        <p:spPr>
          <a:xfrm>
            <a:off x="3124080" y="6480000"/>
            <a:ext cx="4975920" cy="359640"/>
          </a:xfrm>
          <a:prstGeom prst="rect">
            <a:avLst/>
          </a:prstGeom>
          <a:noFill/>
          <a:ln>
            <a:noFill/>
          </a:ln>
        </p:spPr>
        <p:txBody>
          <a:bodyPr>
            <a:noAutofit/>
          </a:bodyPr>
          <a:p>
            <a:endParaRPr b="0" lang="fr-FR" sz="2400" spc="-1" strike="noStrike">
              <a:latin typeface="Times New Roman"/>
            </a:endParaRPr>
          </a:p>
        </p:txBody>
      </p:sp>
      <p:sp>
        <p:nvSpPr>
          <p:cNvPr id="483" name="TextShape 3"/>
          <p:cNvSpPr txBox="1"/>
          <p:nvPr/>
        </p:nvSpPr>
        <p:spPr>
          <a:xfrm>
            <a:off x="8172360" y="6480000"/>
            <a:ext cx="539640" cy="359640"/>
          </a:xfrm>
          <a:prstGeom prst="rect">
            <a:avLst/>
          </a:prstGeom>
          <a:noFill/>
          <a:ln>
            <a:noFill/>
          </a:ln>
        </p:spPr>
        <p:txBody>
          <a:bodyPr lIns="90000" rIns="90000" tIns="45000" bIns="45000">
            <a:noAutofit/>
          </a:bodyPr>
          <a:p>
            <a:pPr algn="r">
              <a:lnSpc>
                <a:spcPct val="100000"/>
              </a:lnSpc>
            </a:pPr>
            <a:fld id="{C2E8BC46-F835-4736-8479-7FDD2E17D2BA}" type="slidenum">
              <a:rPr b="0" lang="fr-FR" sz="900" spc="-1" strike="noStrike">
                <a:solidFill>
                  <a:srgbClr val="205aa7"/>
                </a:solidFill>
                <a:latin typeface="Calibri"/>
              </a:rPr>
              <a:t>&lt;number&gt;</a:t>
            </a:fld>
            <a:endParaRPr b="0" lang="fr-FR" sz="900" spc="-1" strike="noStrike">
              <a:latin typeface="Times New Roman"/>
            </a:endParaRPr>
          </a:p>
        </p:txBody>
      </p:sp>
      <p:sp>
        <p:nvSpPr>
          <p:cNvPr id="484" name="TextShape 4"/>
          <p:cNvSpPr txBox="1"/>
          <p:nvPr/>
        </p:nvSpPr>
        <p:spPr>
          <a:xfrm>
            <a:off x="468000" y="1440000"/>
            <a:ext cx="8229240" cy="4525560"/>
          </a:xfrm>
          <a:prstGeom prst="rect">
            <a:avLst/>
          </a:prstGeom>
          <a:noFill/>
          <a:ln>
            <a:noFill/>
          </a:ln>
        </p:spPr>
        <p:txBody>
          <a:bodyPr>
            <a:noAutofit/>
          </a:bodyPr>
          <a:p>
            <a:pPr algn="ctr">
              <a:lnSpc>
                <a:spcPct val="100000"/>
              </a:lnSpc>
              <a:spcBef>
                <a:spcPts val="400"/>
              </a:spcBef>
              <a:tabLst>
                <a:tab algn="l" pos="0"/>
              </a:tabLst>
            </a:pPr>
            <a:r>
              <a:rPr b="1" lang="fr-FR" sz="2000" spc="-1" strike="noStrike">
                <a:solidFill>
                  <a:srgbClr val="205aa7"/>
                </a:solidFill>
                <a:latin typeface="Calibri"/>
              </a:rPr>
              <a:t>Étape 4 – Examen de la structure financière</a:t>
            </a:r>
            <a:endParaRPr b="0" lang="fr-FR" sz="2000" spc="-1" strike="noStrike">
              <a:solidFill>
                <a:srgbClr val="205aa7"/>
              </a:solidFill>
              <a:latin typeface="Calibri"/>
            </a:endParaRPr>
          </a:p>
          <a:p>
            <a:pPr algn="ctr">
              <a:lnSpc>
                <a:spcPct val="100000"/>
              </a:lnSpc>
              <a:spcBef>
                <a:spcPts val="201"/>
              </a:spcBef>
              <a:tabLst>
                <a:tab algn="l" pos="0"/>
              </a:tabLst>
            </a:pPr>
            <a:endParaRPr b="0" lang="fr-FR" sz="2000" spc="-1" strike="noStrike">
              <a:solidFill>
                <a:srgbClr val="205aa7"/>
              </a:solidFill>
              <a:latin typeface="Calibri"/>
            </a:endParaRPr>
          </a:p>
          <a:p>
            <a:pPr algn="ctr">
              <a:lnSpc>
                <a:spcPct val="100000"/>
              </a:lnSpc>
              <a:spcBef>
                <a:spcPts val="400"/>
              </a:spcBef>
              <a:tabLst>
                <a:tab algn="l" pos="0"/>
              </a:tabLst>
            </a:pPr>
            <a:r>
              <a:rPr b="0" lang="fr-FR" sz="2000" spc="-1" strike="noStrike" u="sng">
                <a:solidFill>
                  <a:srgbClr val="205aa7"/>
                </a:solidFill>
                <a:uFillTx/>
                <a:latin typeface="Calibri"/>
              </a:rPr>
              <a:t>La trésorerie disponible au remboursement</a:t>
            </a:r>
            <a:endParaRPr b="0" lang="fr-FR" sz="2000" spc="-1" strike="noStrike">
              <a:solidFill>
                <a:srgbClr val="205aa7"/>
              </a:solidFill>
              <a:latin typeface="Calibri"/>
            </a:endParaRPr>
          </a:p>
          <a:p>
            <a:pPr marL="252000" indent="-251640" algn="just">
              <a:lnSpc>
                <a:spcPct val="100000"/>
              </a:lnSpc>
              <a:spcBef>
                <a:spcPts val="400"/>
              </a:spcBef>
              <a:buClr>
                <a:srgbClr val="205aa7"/>
              </a:buClr>
              <a:buFont typeface="Wingdings" charset="2"/>
              <a:buChar char=""/>
              <a:tabLst>
                <a:tab algn="l" pos="0"/>
              </a:tabLst>
            </a:pPr>
            <a:r>
              <a:rPr b="0" lang="fr-FR" sz="2000" spc="-1" strike="noStrike">
                <a:solidFill>
                  <a:srgbClr val="205aa7"/>
                </a:solidFill>
                <a:latin typeface="Calibri"/>
              </a:rPr>
              <a:t>Suite à la décision prise à l’issue de l’analyse de l’organisation financière du groupe de retenir un agrégat d’endettement financier net, l’analyste doit se poser la question suivante : la totalité de la trésorerie active est-elle disponible au désendettement du groupe ?</a:t>
            </a:r>
            <a:endParaRPr b="0" lang="fr-FR" sz="2000" spc="-1" strike="noStrike">
              <a:solidFill>
                <a:srgbClr val="205aa7"/>
              </a:solidFill>
              <a:latin typeface="Calibri"/>
            </a:endParaRPr>
          </a:p>
          <a:p>
            <a:pPr marL="252000" indent="-251640" algn="just">
              <a:lnSpc>
                <a:spcPct val="100000"/>
              </a:lnSpc>
              <a:spcBef>
                <a:spcPts val="400"/>
              </a:spcBef>
              <a:buClr>
                <a:srgbClr val="205aa7"/>
              </a:buClr>
              <a:buFont typeface="Wingdings" charset="2"/>
              <a:buChar char=""/>
              <a:tabLst>
                <a:tab algn="l" pos="0"/>
              </a:tabLst>
            </a:pPr>
            <a:r>
              <a:rPr b="0" lang="fr-FR" sz="2000" spc="-1" strike="noStrike">
                <a:solidFill>
                  <a:srgbClr val="205aa7"/>
                </a:solidFill>
                <a:latin typeface="Calibri"/>
              </a:rPr>
              <a:t>Pour s’assurer de la pleine déduction de la trésorerie, il convient de s’interroger sur les points suivants :</a:t>
            </a:r>
            <a:endParaRPr b="0" lang="fr-FR" sz="2000" spc="-1" strike="noStrike">
              <a:solidFill>
                <a:srgbClr val="205aa7"/>
              </a:solidFill>
              <a:latin typeface="Calibri"/>
            </a:endParaRPr>
          </a:p>
          <a:p>
            <a:pPr lvl="1" marL="743040" indent="-285480" algn="just">
              <a:lnSpc>
                <a:spcPct val="100000"/>
              </a:lnSpc>
              <a:spcBef>
                <a:spcPts val="360"/>
              </a:spcBef>
              <a:buClr>
                <a:srgbClr val="205aa7"/>
              </a:buClr>
              <a:buFont typeface="Arial"/>
              <a:buChar char="–"/>
              <a:tabLst>
                <a:tab algn="l" pos="0"/>
              </a:tabLst>
            </a:pPr>
            <a:r>
              <a:rPr b="0" lang="fr-FR" sz="1800" spc="-1" strike="noStrike">
                <a:solidFill>
                  <a:srgbClr val="205aa7"/>
                </a:solidFill>
                <a:latin typeface="Calibri"/>
              </a:rPr>
              <a:t>la trésorerie est-elle la conséquence d’un décalage ponctuel entre encaissements et décaissements ?</a:t>
            </a:r>
            <a:endParaRPr b="0" lang="fr-FR" sz="1800" spc="-1" strike="noStrike">
              <a:solidFill>
                <a:srgbClr val="595959"/>
              </a:solidFill>
              <a:latin typeface="Calibri"/>
            </a:endParaRPr>
          </a:p>
          <a:p>
            <a:pPr lvl="1" marL="743040" indent="-285480" algn="just">
              <a:lnSpc>
                <a:spcPct val="100000"/>
              </a:lnSpc>
              <a:spcBef>
                <a:spcPts val="360"/>
              </a:spcBef>
              <a:buClr>
                <a:srgbClr val="205aa7"/>
              </a:buClr>
              <a:buFont typeface="Arial"/>
              <a:buChar char="–"/>
              <a:tabLst>
                <a:tab algn="l" pos="0"/>
              </a:tabLst>
            </a:pPr>
            <a:r>
              <a:rPr b="0" lang="fr-FR" sz="1800" spc="-1" strike="noStrike">
                <a:solidFill>
                  <a:srgbClr val="205aa7"/>
                </a:solidFill>
                <a:latin typeface="Calibri"/>
              </a:rPr>
              <a:t>la trésorerie à la clôture est-elle déjà pré-affectée (financement d’une acquisition à court terme, investissements, paiement d’un dividende important…) ?</a:t>
            </a:r>
            <a:endParaRPr b="0" lang="fr-FR" sz="1800" spc="-1" strike="noStrike">
              <a:solidFill>
                <a:srgbClr val="595959"/>
              </a:solidFill>
              <a:latin typeface="Calibri"/>
            </a:endParaRPr>
          </a:p>
        </p:txBody>
      </p:sp>
    </p:spTree>
  </p:cSld>
  <mc:AlternateContent>
    <mc:Choice Requires="p14">
      <p:transition spd="slow" p14:dur="2000"/>
    </mc:Choice>
    <mc:Fallback>
      <p:transition spd="slow"/>
    </mc:Fallback>
  </mc:AlternateContent>
</p:sld>
</file>

<file path=ppt/slides/slide8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5" name="TextShape 1"/>
          <p:cNvSpPr txBox="1"/>
          <p:nvPr/>
        </p:nvSpPr>
        <p:spPr>
          <a:xfrm>
            <a:off x="468000" y="0"/>
            <a:ext cx="8229240" cy="1142640"/>
          </a:xfrm>
          <a:prstGeom prst="rect">
            <a:avLst/>
          </a:prstGeom>
          <a:noFill/>
          <a:ln>
            <a:noFill/>
          </a:ln>
        </p:spPr>
        <p:txBody>
          <a:bodyPr anchor="ctr">
            <a:noAutofit/>
          </a:bodyPr>
          <a:p>
            <a:pPr>
              <a:lnSpc>
                <a:spcPct val="100000"/>
              </a:lnSpc>
            </a:pPr>
            <a:r>
              <a:rPr b="1" lang="fr-FR" sz="2400" spc="-1" strike="noStrike" cap="all">
                <a:solidFill>
                  <a:srgbClr val="ffffff"/>
                </a:solidFill>
                <a:latin typeface="Calibri"/>
              </a:rPr>
              <a:t>3. L’analyse financière des comptes consolidés</a:t>
            </a:r>
            <a:endParaRPr b="0" lang="fr-FR" sz="2400" spc="-1" strike="noStrike">
              <a:solidFill>
                <a:srgbClr val="000000"/>
              </a:solidFill>
              <a:latin typeface="Calibri"/>
            </a:endParaRPr>
          </a:p>
        </p:txBody>
      </p:sp>
      <p:sp>
        <p:nvSpPr>
          <p:cNvPr id="486" name="TextShape 2"/>
          <p:cNvSpPr txBox="1"/>
          <p:nvPr/>
        </p:nvSpPr>
        <p:spPr>
          <a:xfrm>
            <a:off x="3124080" y="6480000"/>
            <a:ext cx="4975920" cy="359640"/>
          </a:xfrm>
          <a:prstGeom prst="rect">
            <a:avLst/>
          </a:prstGeom>
          <a:noFill/>
          <a:ln>
            <a:noFill/>
          </a:ln>
        </p:spPr>
        <p:txBody>
          <a:bodyPr>
            <a:noAutofit/>
          </a:bodyPr>
          <a:p>
            <a:endParaRPr b="0" lang="fr-FR" sz="2400" spc="-1" strike="noStrike">
              <a:latin typeface="Times New Roman"/>
            </a:endParaRPr>
          </a:p>
        </p:txBody>
      </p:sp>
      <p:sp>
        <p:nvSpPr>
          <p:cNvPr id="487" name="TextShape 3"/>
          <p:cNvSpPr txBox="1"/>
          <p:nvPr/>
        </p:nvSpPr>
        <p:spPr>
          <a:xfrm>
            <a:off x="8172360" y="6480000"/>
            <a:ext cx="539640" cy="359640"/>
          </a:xfrm>
          <a:prstGeom prst="rect">
            <a:avLst/>
          </a:prstGeom>
          <a:noFill/>
          <a:ln>
            <a:noFill/>
          </a:ln>
        </p:spPr>
        <p:txBody>
          <a:bodyPr lIns="90000" rIns="90000" tIns="45000" bIns="45000">
            <a:noAutofit/>
          </a:bodyPr>
          <a:p>
            <a:pPr algn="r">
              <a:lnSpc>
                <a:spcPct val="100000"/>
              </a:lnSpc>
            </a:pPr>
            <a:fld id="{C4CD1BAF-DA32-415A-939C-6A08033CC41C}" type="slidenum">
              <a:rPr b="0" lang="fr-FR" sz="900" spc="-1" strike="noStrike">
                <a:solidFill>
                  <a:srgbClr val="205aa7"/>
                </a:solidFill>
                <a:latin typeface="Calibri"/>
              </a:rPr>
              <a:t>&lt;number&gt;</a:t>
            </a:fld>
            <a:endParaRPr b="0" lang="fr-FR" sz="900" spc="-1" strike="noStrike">
              <a:latin typeface="Times New Roman"/>
            </a:endParaRPr>
          </a:p>
        </p:txBody>
      </p:sp>
      <p:sp>
        <p:nvSpPr>
          <p:cNvPr id="488" name="TextShape 4"/>
          <p:cNvSpPr txBox="1"/>
          <p:nvPr/>
        </p:nvSpPr>
        <p:spPr>
          <a:xfrm>
            <a:off x="468000" y="1440000"/>
            <a:ext cx="8229240" cy="4525560"/>
          </a:xfrm>
          <a:prstGeom prst="rect">
            <a:avLst/>
          </a:prstGeom>
          <a:noFill/>
          <a:ln>
            <a:noFill/>
          </a:ln>
        </p:spPr>
        <p:txBody>
          <a:bodyPr>
            <a:normAutofit/>
          </a:bodyPr>
          <a:p>
            <a:pPr algn="ctr">
              <a:lnSpc>
                <a:spcPct val="100000"/>
              </a:lnSpc>
              <a:spcBef>
                <a:spcPts val="479"/>
              </a:spcBef>
              <a:tabLst>
                <a:tab algn="l" pos="0"/>
              </a:tabLst>
            </a:pPr>
            <a:r>
              <a:rPr b="1" lang="fr-FR" sz="2400" spc="-1" strike="noStrike">
                <a:solidFill>
                  <a:srgbClr val="205aa7"/>
                </a:solidFill>
                <a:latin typeface="Calibri"/>
              </a:rPr>
              <a:t>Étape 4 – Examen de la structure financière</a:t>
            </a:r>
            <a:endParaRPr b="0" lang="fr-FR" sz="2400" spc="-1" strike="noStrike">
              <a:solidFill>
                <a:srgbClr val="205aa7"/>
              </a:solidFill>
              <a:latin typeface="Calibri"/>
            </a:endParaRPr>
          </a:p>
          <a:p>
            <a:pPr>
              <a:lnSpc>
                <a:spcPct val="100000"/>
              </a:lnSpc>
              <a:spcBef>
                <a:spcPts val="519"/>
              </a:spcBef>
              <a:tabLst>
                <a:tab algn="l" pos="0"/>
              </a:tabLst>
            </a:pPr>
            <a:endParaRPr b="0" lang="fr-FR" sz="2400" spc="-1" strike="noStrike">
              <a:solidFill>
                <a:srgbClr val="205aa7"/>
              </a:solidFill>
              <a:latin typeface="Calibri"/>
            </a:endParaRPr>
          </a:p>
          <a:p>
            <a:pPr>
              <a:lnSpc>
                <a:spcPct val="100000"/>
              </a:lnSpc>
              <a:spcBef>
                <a:spcPts val="519"/>
              </a:spcBef>
              <a:tabLst>
                <a:tab algn="l" pos="0"/>
              </a:tabLst>
            </a:pPr>
            <a:endParaRPr b="0" lang="fr-FR" sz="2400" spc="-1" strike="noStrike">
              <a:solidFill>
                <a:srgbClr val="205aa7"/>
              </a:solidFill>
              <a:latin typeface="Calibri"/>
            </a:endParaRPr>
          </a:p>
        </p:txBody>
      </p:sp>
      <p:pic>
        <p:nvPicPr>
          <p:cNvPr id="489" name="Image 6" descr=""/>
          <p:cNvPicPr/>
          <p:nvPr/>
        </p:nvPicPr>
        <p:blipFill>
          <a:blip r:embed="rId1"/>
          <a:stretch/>
        </p:blipFill>
        <p:spPr>
          <a:xfrm>
            <a:off x="1331640" y="1888920"/>
            <a:ext cx="6108480" cy="4076640"/>
          </a:xfrm>
          <a:prstGeom prst="rect">
            <a:avLst/>
          </a:prstGeom>
          <a:ln>
            <a:noFill/>
          </a:ln>
        </p:spPr>
      </p:pic>
      <p:sp>
        <p:nvSpPr>
          <p:cNvPr id="490" name="CustomShape 5"/>
          <p:cNvSpPr/>
          <p:nvPr/>
        </p:nvSpPr>
        <p:spPr>
          <a:xfrm>
            <a:off x="5775840" y="5944320"/>
            <a:ext cx="1950480" cy="212040"/>
          </a:xfrm>
          <a:prstGeom prst="rect">
            <a:avLst/>
          </a:prstGeom>
          <a:noFill/>
          <a:ln>
            <a:noFill/>
          </a:ln>
        </p:spPr>
        <p:style>
          <a:lnRef idx="0"/>
          <a:fillRef idx="0"/>
          <a:effectRef idx="0"/>
          <a:fontRef idx="minor"/>
        </p:style>
        <p:txBody>
          <a:bodyPr wrap="none" lIns="90000" rIns="90000" tIns="45000" bIns="45000">
            <a:spAutoFit/>
          </a:bodyPr>
          <a:p>
            <a:pPr>
              <a:lnSpc>
                <a:spcPct val="100000"/>
              </a:lnSpc>
            </a:pPr>
            <a:r>
              <a:rPr b="0" i="1" lang="fr-FR" sz="800" spc="-1" strike="noStrike">
                <a:solidFill>
                  <a:srgbClr val="666666"/>
                </a:solidFill>
                <a:latin typeface="Calibri"/>
              </a:rPr>
              <a:t>Photo by </a:t>
            </a:r>
            <a:r>
              <a:rPr b="0" i="1" lang="fr-FR" sz="800" spc="-1" strike="noStrike" u="sng">
                <a:solidFill>
                  <a:srgbClr val="a0006e"/>
                </a:solidFill>
                <a:uFillTx/>
                <a:latin typeface="Calibri"/>
                <a:hlinkClick r:id="rId2"/>
              </a:rPr>
              <a:t>Helloquence</a:t>
            </a:r>
            <a:r>
              <a:rPr b="0" i="1" lang="fr-FR" sz="800" spc="-1" strike="noStrike">
                <a:solidFill>
                  <a:srgbClr val="666666"/>
                </a:solidFill>
                <a:latin typeface="Calibri"/>
              </a:rPr>
              <a:t> on </a:t>
            </a:r>
            <a:r>
              <a:rPr b="0" i="1" lang="fr-FR" sz="800" spc="-1" strike="noStrike" u="sng">
                <a:solidFill>
                  <a:srgbClr val="a0006e"/>
                </a:solidFill>
                <a:uFillTx/>
                <a:latin typeface="Calibri"/>
                <a:hlinkClick r:id="rId3"/>
              </a:rPr>
              <a:t>Unsplash</a:t>
            </a:r>
            <a:endParaRPr b="0" lang="fr-FR" sz="800" spc="-1" strike="noStrike">
              <a:latin typeface="Arial"/>
            </a:endParaRPr>
          </a:p>
        </p:txBody>
      </p:sp>
    </p:spTree>
  </p:cSld>
  <mc:AlternateContent>
    <mc:Choice Requires="p14">
      <p:transition spd="slow" p14:dur="2000"/>
    </mc:Choice>
    <mc:Fallback>
      <p:transition spd="slow"/>
    </mc:Fallback>
  </mc:AlternateContent>
</p:sld>
</file>

<file path=ppt/slides/slide8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1" name="TextShape 1"/>
          <p:cNvSpPr txBox="1"/>
          <p:nvPr/>
        </p:nvSpPr>
        <p:spPr>
          <a:xfrm>
            <a:off x="468000" y="0"/>
            <a:ext cx="8229240" cy="1142640"/>
          </a:xfrm>
          <a:prstGeom prst="rect">
            <a:avLst/>
          </a:prstGeom>
          <a:noFill/>
          <a:ln>
            <a:noFill/>
          </a:ln>
        </p:spPr>
        <p:txBody>
          <a:bodyPr anchor="ctr">
            <a:noAutofit/>
          </a:bodyPr>
          <a:p>
            <a:pPr>
              <a:lnSpc>
                <a:spcPct val="100000"/>
              </a:lnSpc>
            </a:pPr>
            <a:r>
              <a:rPr b="1" lang="fr-FR" sz="2400" spc="-1" strike="noStrike" cap="all">
                <a:solidFill>
                  <a:srgbClr val="ffffff"/>
                </a:solidFill>
                <a:latin typeface="Calibri"/>
              </a:rPr>
              <a:t>3. L’analyse financière des comptes consolidés</a:t>
            </a:r>
            <a:endParaRPr b="0" lang="fr-FR" sz="2400" spc="-1" strike="noStrike">
              <a:solidFill>
                <a:srgbClr val="000000"/>
              </a:solidFill>
              <a:latin typeface="Calibri"/>
            </a:endParaRPr>
          </a:p>
        </p:txBody>
      </p:sp>
      <p:sp>
        <p:nvSpPr>
          <p:cNvPr id="492" name="TextShape 2"/>
          <p:cNvSpPr txBox="1"/>
          <p:nvPr/>
        </p:nvSpPr>
        <p:spPr>
          <a:xfrm>
            <a:off x="3124080" y="6480000"/>
            <a:ext cx="4975920" cy="359640"/>
          </a:xfrm>
          <a:prstGeom prst="rect">
            <a:avLst/>
          </a:prstGeom>
          <a:noFill/>
          <a:ln>
            <a:noFill/>
          </a:ln>
        </p:spPr>
        <p:txBody>
          <a:bodyPr>
            <a:noAutofit/>
          </a:bodyPr>
          <a:p>
            <a:endParaRPr b="0" lang="fr-FR" sz="2400" spc="-1" strike="noStrike">
              <a:latin typeface="Times New Roman"/>
            </a:endParaRPr>
          </a:p>
        </p:txBody>
      </p:sp>
      <p:sp>
        <p:nvSpPr>
          <p:cNvPr id="493" name="TextShape 3"/>
          <p:cNvSpPr txBox="1"/>
          <p:nvPr/>
        </p:nvSpPr>
        <p:spPr>
          <a:xfrm>
            <a:off x="8172360" y="6480000"/>
            <a:ext cx="539640" cy="359640"/>
          </a:xfrm>
          <a:prstGeom prst="rect">
            <a:avLst/>
          </a:prstGeom>
          <a:noFill/>
          <a:ln>
            <a:noFill/>
          </a:ln>
        </p:spPr>
        <p:txBody>
          <a:bodyPr lIns="90000" rIns="90000" tIns="45000" bIns="45000">
            <a:noAutofit/>
          </a:bodyPr>
          <a:p>
            <a:pPr algn="r">
              <a:lnSpc>
                <a:spcPct val="100000"/>
              </a:lnSpc>
            </a:pPr>
            <a:fld id="{87D4A9D8-0ACB-4267-89B2-9836960AA588}" type="slidenum">
              <a:rPr b="0" lang="fr-FR" sz="900" spc="-1" strike="noStrike">
                <a:solidFill>
                  <a:srgbClr val="205aa7"/>
                </a:solidFill>
                <a:latin typeface="Calibri"/>
              </a:rPr>
              <a:t>&lt;number&gt;</a:t>
            </a:fld>
            <a:endParaRPr b="0" lang="fr-FR" sz="900" spc="-1" strike="noStrike">
              <a:latin typeface="Times New Roman"/>
            </a:endParaRPr>
          </a:p>
        </p:txBody>
      </p:sp>
      <p:sp>
        <p:nvSpPr>
          <p:cNvPr id="494" name="TextShape 4"/>
          <p:cNvSpPr txBox="1"/>
          <p:nvPr/>
        </p:nvSpPr>
        <p:spPr>
          <a:xfrm>
            <a:off x="468000" y="1440000"/>
            <a:ext cx="8229240" cy="4525560"/>
          </a:xfrm>
          <a:prstGeom prst="rect">
            <a:avLst/>
          </a:prstGeom>
          <a:noFill/>
          <a:ln>
            <a:noFill/>
          </a:ln>
        </p:spPr>
        <p:txBody>
          <a:bodyPr>
            <a:noAutofit/>
          </a:bodyPr>
          <a:p>
            <a:pPr algn="ctr">
              <a:lnSpc>
                <a:spcPct val="100000"/>
              </a:lnSpc>
              <a:spcBef>
                <a:spcPts val="400"/>
              </a:spcBef>
              <a:tabLst>
                <a:tab algn="l" pos="0"/>
              </a:tabLst>
            </a:pPr>
            <a:r>
              <a:rPr b="1" lang="fr-FR" sz="2000" spc="-1" strike="noStrike">
                <a:solidFill>
                  <a:srgbClr val="205aa7"/>
                </a:solidFill>
                <a:latin typeface="Calibri"/>
              </a:rPr>
              <a:t>Étape 4 – Examen de la structure financière</a:t>
            </a:r>
            <a:endParaRPr b="0" lang="fr-FR" sz="2000" spc="-1" strike="noStrike">
              <a:solidFill>
                <a:srgbClr val="205aa7"/>
              </a:solidFill>
              <a:latin typeface="Calibri"/>
            </a:endParaRPr>
          </a:p>
          <a:p>
            <a:pPr>
              <a:lnSpc>
                <a:spcPct val="100000"/>
              </a:lnSpc>
              <a:spcBef>
                <a:spcPts val="201"/>
              </a:spcBef>
              <a:tabLst>
                <a:tab algn="l" pos="0"/>
              </a:tabLst>
            </a:pPr>
            <a:endParaRPr b="0" lang="fr-FR" sz="2000" spc="-1" strike="noStrike">
              <a:solidFill>
                <a:srgbClr val="205aa7"/>
              </a:solidFill>
              <a:latin typeface="Calibri"/>
            </a:endParaRPr>
          </a:p>
          <a:p>
            <a:pPr algn="ctr">
              <a:lnSpc>
                <a:spcPct val="100000"/>
              </a:lnSpc>
              <a:spcBef>
                <a:spcPts val="400"/>
              </a:spcBef>
              <a:tabLst>
                <a:tab algn="l" pos="0"/>
              </a:tabLst>
            </a:pPr>
            <a:r>
              <a:rPr b="0" lang="fr-FR" sz="2000" spc="-1" strike="noStrike" u="sng">
                <a:solidFill>
                  <a:srgbClr val="205aa7"/>
                </a:solidFill>
                <a:uFillTx/>
                <a:latin typeface="Calibri"/>
              </a:rPr>
              <a:t>L’autonomie financière</a:t>
            </a:r>
            <a:endParaRPr b="0" lang="fr-FR" sz="2000" spc="-1" strike="noStrike">
              <a:solidFill>
                <a:srgbClr val="205aa7"/>
              </a:solidFill>
              <a:latin typeface="Calibri"/>
            </a:endParaRPr>
          </a:p>
          <a:p>
            <a:pPr algn="just">
              <a:lnSpc>
                <a:spcPct val="100000"/>
              </a:lnSpc>
              <a:spcBef>
                <a:spcPts val="400"/>
              </a:spcBef>
              <a:tabLst>
                <a:tab algn="l" pos="0"/>
              </a:tabLst>
            </a:pPr>
            <a:r>
              <a:rPr b="0" lang="fr-FR" sz="2000" spc="-1" strike="noStrike">
                <a:solidFill>
                  <a:srgbClr val="205aa7"/>
                </a:solidFill>
                <a:latin typeface="Calibri"/>
              </a:rPr>
              <a:t>Il s’agit d’apprécier l’aptitude de la capacité d’autofinancement (CAF) à être en adéquation avec le niveau d’endettement du groupe et à couvrir les deux prochaines échéances financières du groupe.</a:t>
            </a:r>
            <a:endParaRPr b="0" lang="fr-FR" sz="2000" spc="-1" strike="noStrike">
              <a:solidFill>
                <a:srgbClr val="205aa7"/>
              </a:solidFill>
              <a:latin typeface="Calibri"/>
            </a:endParaRPr>
          </a:p>
          <a:p>
            <a:pPr algn="just">
              <a:lnSpc>
                <a:spcPct val="100000"/>
              </a:lnSpc>
              <a:spcBef>
                <a:spcPts val="201"/>
              </a:spcBef>
              <a:tabLst>
                <a:tab algn="l" pos="0"/>
              </a:tabLst>
            </a:pPr>
            <a:endParaRPr b="0" lang="fr-FR" sz="2000" spc="-1" strike="noStrike">
              <a:solidFill>
                <a:srgbClr val="205aa7"/>
              </a:solidFill>
              <a:latin typeface="Calibri"/>
            </a:endParaRPr>
          </a:p>
          <a:p>
            <a:pPr algn="ctr">
              <a:lnSpc>
                <a:spcPct val="100000"/>
              </a:lnSpc>
              <a:spcBef>
                <a:spcPts val="400"/>
              </a:spcBef>
              <a:tabLst>
                <a:tab algn="l" pos="0"/>
              </a:tabLst>
            </a:pPr>
            <a:r>
              <a:rPr b="0" lang="fr-FR" sz="2000" spc="-1" strike="noStrike" u="sng">
                <a:solidFill>
                  <a:srgbClr val="205aa7"/>
                </a:solidFill>
                <a:uFillTx/>
                <a:latin typeface="Calibri"/>
              </a:rPr>
              <a:t>Les indicateurs à suivre</a:t>
            </a:r>
            <a:endParaRPr b="0" lang="fr-FR" sz="2000" spc="-1" strike="noStrike">
              <a:solidFill>
                <a:srgbClr val="205aa7"/>
              </a:solidFill>
              <a:latin typeface="Calibri"/>
            </a:endParaRPr>
          </a:p>
          <a:p>
            <a:pPr marL="457200" indent="-342720" algn="just">
              <a:lnSpc>
                <a:spcPct val="100000"/>
              </a:lnSpc>
              <a:spcBef>
                <a:spcPts val="400"/>
              </a:spcBef>
              <a:buClr>
                <a:srgbClr val="205aa7"/>
              </a:buClr>
              <a:buFont typeface="Wingdings" charset="2"/>
              <a:buChar char=""/>
              <a:tabLst>
                <a:tab algn="l" pos="0"/>
              </a:tabLst>
            </a:pPr>
            <a:r>
              <a:rPr b="0" lang="fr-FR" sz="2000" spc="-1" strike="noStrike">
                <a:solidFill>
                  <a:srgbClr val="205aa7"/>
                </a:solidFill>
                <a:latin typeface="Calibri"/>
              </a:rPr>
              <a:t>Niveau de la capacité d’autofinancement récurrente (CAFr) = RCAI * 2/3 + dotations aux amortissements et aux provisions d’exploitation nettes des reprises</a:t>
            </a:r>
            <a:endParaRPr b="0" lang="fr-FR" sz="2000" spc="-1" strike="noStrike">
              <a:solidFill>
                <a:srgbClr val="205aa7"/>
              </a:solidFill>
              <a:latin typeface="Calibri"/>
            </a:endParaRPr>
          </a:p>
          <a:p>
            <a:pPr marL="457200" indent="-342720" algn="just">
              <a:lnSpc>
                <a:spcPct val="100000"/>
              </a:lnSpc>
              <a:spcBef>
                <a:spcPts val="400"/>
              </a:spcBef>
              <a:buClr>
                <a:srgbClr val="205aa7"/>
              </a:buClr>
              <a:buFont typeface="Wingdings" charset="2"/>
              <a:buChar char=""/>
              <a:tabLst>
                <a:tab algn="l" pos="0"/>
              </a:tabLst>
            </a:pPr>
            <a:r>
              <a:rPr b="0" lang="fr-FR" sz="2000" spc="-1" strike="noStrike">
                <a:solidFill>
                  <a:srgbClr val="205aa7"/>
                </a:solidFill>
                <a:latin typeface="Calibri"/>
              </a:rPr>
              <a:t>Capacité de remboursement : endettement financier retraité / CAFr</a:t>
            </a:r>
            <a:endParaRPr b="0" lang="fr-FR" sz="2000" spc="-1" strike="noStrike">
              <a:solidFill>
                <a:srgbClr val="205aa7"/>
              </a:solidFill>
              <a:latin typeface="Calibri"/>
            </a:endParaRPr>
          </a:p>
          <a:p>
            <a:pPr marL="457200" indent="-342720" algn="just">
              <a:lnSpc>
                <a:spcPct val="100000"/>
              </a:lnSpc>
              <a:spcBef>
                <a:spcPts val="400"/>
              </a:spcBef>
              <a:buClr>
                <a:srgbClr val="205aa7"/>
              </a:buClr>
              <a:buFont typeface="Wingdings" charset="2"/>
              <a:buChar char=""/>
              <a:tabLst>
                <a:tab algn="l" pos="0"/>
              </a:tabLst>
            </a:pPr>
            <a:r>
              <a:rPr b="0" lang="fr-FR" sz="2000" spc="-1" strike="noStrike">
                <a:solidFill>
                  <a:srgbClr val="205aa7"/>
                </a:solidFill>
                <a:latin typeface="Calibri"/>
              </a:rPr>
              <a:t>Couverture des 2 prochaines échéances</a:t>
            </a:r>
            <a:r>
              <a:rPr b="1" lang="fr-FR" sz="2000" spc="-1" strike="noStrike">
                <a:solidFill>
                  <a:srgbClr val="205aa7"/>
                </a:solidFill>
                <a:latin typeface="Calibri"/>
              </a:rPr>
              <a:t> </a:t>
            </a:r>
            <a:r>
              <a:rPr b="0" lang="fr-FR" sz="2000" spc="-1" strike="noStrike">
                <a:solidFill>
                  <a:srgbClr val="205aa7"/>
                </a:solidFill>
                <a:latin typeface="Calibri"/>
              </a:rPr>
              <a:t>: CAFr &gt; Échéance MLT N+1 </a:t>
            </a:r>
            <a:r>
              <a:rPr b="0" lang="fr-FR" sz="2000" spc="-1" strike="noStrike" u="sng">
                <a:solidFill>
                  <a:srgbClr val="205aa7"/>
                </a:solidFill>
                <a:uFillTx/>
                <a:latin typeface="Calibri"/>
              </a:rPr>
              <a:t>et</a:t>
            </a:r>
            <a:r>
              <a:rPr b="0" lang="fr-FR" sz="2000" spc="-1" strike="noStrike">
                <a:solidFill>
                  <a:srgbClr val="205aa7"/>
                </a:solidFill>
                <a:latin typeface="Calibri"/>
              </a:rPr>
              <a:t> CAFR &gt; Échéance MLT N+2</a:t>
            </a:r>
            <a:endParaRPr b="0" lang="fr-FR" sz="2000" spc="-1" strike="noStrike">
              <a:solidFill>
                <a:srgbClr val="205aa7"/>
              </a:solidFill>
              <a:latin typeface="Calibri"/>
            </a:endParaRPr>
          </a:p>
        </p:txBody>
      </p:sp>
    </p:spTree>
  </p:cSld>
  <mc:AlternateContent>
    <mc:Choice Requires="p14">
      <p:transition spd="slow" p14:dur="2000"/>
    </mc:Choice>
    <mc:Fallback>
      <p:transition spd="slow"/>
    </mc:Fallback>
  </mc:AlternateContent>
</p:sld>
</file>

<file path=ppt/slides/slide8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5" name="TextShape 1"/>
          <p:cNvSpPr txBox="1"/>
          <p:nvPr/>
        </p:nvSpPr>
        <p:spPr>
          <a:xfrm>
            <a:off x="468000" y="0"/>
            <a:ext cx="8229240" cy="1142640"/>
          </a:xfrm>
          <a:prstGeom prst="rect">
            <a:avLst/>
          </a:prstGeom>
          <a:noFill/>
          <a:ln>
            <a:noFill/>
          </a:ln>
        </p:spPr>
        <p:txBody>
          <a:bodyPr anchor="ctr">
            <a:noAutofit/>
          </a:bodyPr>
          <a:p>
            <a:pPr>
              <a:lnSpc>
                <a:spcPct val="100000"/>
              </a:lnSpc>
            </a:pPr>
            <a:r>
              <a:rPr b="1" lang="fr-FR" sz="2400" spc="-1" strike="noStrike" cap="all">
                <a:solidFill>
                  <a:srgbClr val="ffffff"/>
                </a:solidFill>
                <a:latin typeface="Calibri"/>
              </a:rPr>
              <a:t>3. L’analyse financière des comptes consolidés</a:t>
            </a:r>
            <a:endParaRPr b="0" lang="fr-FR" sz="2400" spc="-1" strike="noStrike">
              <a:solidFill>
                <a:srgbClr val="000000"/>
              </a:solidFill>
              <a:latin typeface="Calibri"/>
            </a:endParaRPr>
          </a:p>
        </p:txBody>
      </p:sp>
      <p:sp>
        <p:nvSpPr>
          <p:cNvPr id="496" name="TextShape 2"/>
          <p:cNvSpPr txBox="1"/>
          <p:nvPr/>
        </p:nvSpPr>
        <p:spPr>
          <a:xfrm>
            <a:off x="3124080" y="6480000"/>
            <a:ext cx="4975920" cy="359640"/>
          </a:xfrm>
          <a:prstGeom prst="rect">
            <a:avLst/>
          </a:prstGeom>
          <a:noFill/>
          <a:ln>
            <a:noFill/>
          </a:ln>
        </p:spPr>
        <p:txBody>
          <a:bodyPr>
            <a:noAutofit/>
          </a:bodyPr>
          <a:p>
            <a:endParaRPr b="0" lang="fr-FR" sz="2400" spc="-1" strike="noStrike">
              <a:latin typeface="Times New Roman"/>
            </a:endParaRPr>
          </a:p>
        </p:txBody>
      </p:sp>
      <p:sp>
        <p:nvSpPr>
          <p:cNvPr id="497" name="TextShape 3"/>
          <p:cNvSpPr txBox="1"/>
          <p:nvPr/>
        </p:nvSpPr>
        <p:spPr>
          <a:xfrm>
            <a:off x="8172360" y="6480000"/>
            <a:ext cx="539640" cy="359640"/>
          </a:xfrm>
          <a:prstGeom prst="rect">
            <a:avLst/>
          </a:prstGeom>
          <a:noFill/>
          <a:ln>
            <a:noFill/>
          </a:ln>
        </p:spPr>
        <p:txBody>
          <a:bodyPr lIns="90000" rIns="90000" tIns="45000" bIns="45000">
            <a:noAutofit/>
          </a:bodyPr>
          <a:p>
            <a:pPr algn="r">
              <a:lnSpc>
                <a:spcPct val="100000"/>
              </a:lnSpc>
            </a:pPr>
            <a:fld id="{53072DA1-6469-47E5-ABA6-3AF23521D1E4}" type="slidenum">
              <a:rPr b="0" lang="fr-FR" sz="900" spc="-1" strike="noStrike">
                <a:solidFill>
                  <a:srgbClr val="205aa7"/>
                </a:solidFill>
                <a:latin typeface="Calibri"/>
              </a:rPr>
              <a:t>&lt;number&gt;</a:t>
            </a:fld>
            <a:endParaRPr b="0" lang="fr-FR" sz="900" spc="-1" strike="noStrike">
              <a:latin typeface="Times New Roman"/>
            </a:endParaRPr>
          </a:p>
        </p:txBody>
      </p:sp>
      <p:sp>
        <p:nvSpPr>
          <p:cNvPr id="498" name="TextShape 4"/>
          <p:cNvSpPr txBox="1"/>
          <p:nvPr/>
        </p:nvSpPr>
        <p:spPr>
          <a:xfrm>
            <a:off x="468000" y="1440000"/>
            <a:ext cx="8229240" cy="4525560"/>
          </a:xfrm>
          <a:prstGeom prst="rect">
            <a:avLst/>
          </a:prstGeom>
          <a:noFill/>
          <a:ln>
            <a:noFill/>
          </a:ln>
        </p:spPr>
        <p:txBody>
          <a:bodyPr>
            <a:normAutofit/>
          </a:bodyPr>
          <a:p>
            <a:pPr marL="114480" algn="ctr">
              <a:lnSpc>
                <a:spcPct val="100000"/>
              </a:lnSpc>
              <a:spcBef>
                <a:spcPts val="479"/>
              </a:spcBef>
              <a:tabLst>
                <a:tab algn="l" pos="0"/>
              </a:tabLst>
            </a:pPr>
            <a:r>
              <a:rPr b="1" lang="fr-FR" sz="2400" spc="-1" strike="noStrike">
                <a:solidFill>
                  <a:srgbClr val="205aa7"/>
                </a:solidFill>
                <a:latin typeface="Calibri"/>
              </a:rPr>
              <a:t>Les principales étapes de l’analyse :</a:t>
            </a:r>
            <a:endParaRPr b="0" lang="fr-FR" sz="2400" spc="-1" strike="noStrike">
              <a:solidFill>
                <a:srgbClr val="205aa7"/>
              </a:solidFill>
              <a:latin typeface="Calibri"/>
            </a:endParaRPr>
          </a:p>
          <a:p>
            <a:pPr marL="114480" algn="just">
              <a:lnSpc>
                <a:spcPct val="100000"/>
              </a:lnSpc>
              <a:spcBef>
                <a:spcPts val="479"/>
              </a:spcBef>
              <a:tabLst>
                <a:tab algn="l" pos="0"/>
              </a:tabLst>
            </a:pPr>
            <a:endParaRPr b="0" lang="fr-FR" sz="2400" spc="-1" strike="noStrike">
              <a:solidFill>
                <a:srgbClr val="205aa7"/>
              </a:solidFill>
              <a:latin typeface="Calibri"/>
            </a:endParaRPr>
          </a:p>
          <a:p>
            <a:pPr marL="571680" indent="-456840" algn="just">
              <a:lnSpc>
                <a:spcPct val="100000"/>
              </a:lnSpc>
              <a:spcBef>
                <a:spcPts val="479"/>
              </a:spcBef>
              <a:buClr>
                <a:srgbClr val="cbddf5"/>
              </a:buClr>
              <a:buFont typeface="StarSymbol"/>
              <a:buAutoNum type="arabicPeriod"/>
              <a:tabLst>
                <a:tab algn="l" pos="0"/>
              </a:tabLst>
            </a:pPr>
            <a:r>
              <a:rPr b="0" lang="fr-FR" sz="2400" spc="-1" strike="noStrike">
                <a:solidFill>
                  <a:srgbClr val="cbddf5"/>
                </a:solidFill>
                <a:latin typeface="Calibri"/>
              </a:rPr>
              <a:t>Analyse de l’environnement, de la stratégie et de l’organisation.</a:t>
            </a:r>
            <a:endParaRPr b="0" lang="fr-FR" sz="2400" spc="-1" strike="noStrike">
              <a:solidFill>
                <a:srgbClr val="205aa7"/>
              </a:solidFill>
              <a:latin typeface="Calibri"/>
            </a:endParaRPr>
          </a:p>
          <a:p>
            <a:pPr marL="571680" indent="-456840" algn="just">
              <a:lnSpc>
                <a:spcPct val="100000"/>
              </a:lnSpc>
              <a:spcBef>
                <a:spcPts val="479"/>
              </a:spcBef>
              <a:buClr>
                <a:srgbClr val="cbddf5"/>
              </a:buClr>
              <a:buFont typeface="StarSymbol"/>
              <a:buAutoNum type="arabicPeriod"/>
              <a:tabLst>
                <a:tab algn="l" pos="0"/>
              </a:tabLst>
            </a:pPr>
            <a:r>
              <a:rPr b="0" lang="fr-FR" sz="2400" spc="-1" strike="noStrike">
                <a:solidFill>
                  <a:srgbClr val="cbddf5"/>
                </a:solidFill>
                <a:latin typeface="Calibri"/>
              </a:rPr>
              <a:t>Examen critique de la qualité de l’information et étude préalable à l’analyse des comptes.</a:t>
            </a:r>
            <a:endParaRPr b="0" lang="fr-FR" sz="2400" spc="-1" strike="noStrike">
              <a:solidFill>
                <a:srgbClr val="205aa7"/>
              </a:solidFill>
              <a:latin typeface="Calibri"/>
            </a:endParaRPr>
          </a:p>
          <a:p>
            <a:pPr marL="571680" indent="-456840" algn="just">
              <a:lnSpc>
                <a:spcPct val="100000"/>
              </a:lnSpc>
              <a:spcBef>
                <a:spcPts val="479"/>
              </a:spcBef>
              <a:buClr>
                <a:srgbClr val="cbddf5"/>
              </a:buClr>
              <a:buFont typeface="StarSymbol"/>
              <a:buAutoNum type="arabicPeriod"/>
              <a:tabLst>
                <a:tab algn="l" pos="0"/>
              </a:tabLst>
            </a:pPr>
            <a:r>
              <a:rPr b="0" lang="fr-FR" sz="2400" spc="-1" strike="noStrike">
                <a:solidFill>
                  <a:srgbClr val="cbddf5"/>
                </a:solidFill>
                <a:latin typeface="Calibri"/>
              </a:rPr>
              <a:t>Analyse des performances.</a:t>
            </a:r>
            <a:endParaRPr b="0" lang="fr-FR" sz="2400" spc="-1" strike="noStrike">
              <a:solidFill>
                <a:srgbClr val="205aa7"/>
              </a:solidFill>
              <a:latin typeface="Calibri"/>
            </a:endParaRPr>
          </a:p>
          <a:p>
            <a:pPr marL="571680" indent="-456840" algn="just">
              <a:lnSpc>
                <a:spcPct val="100000"/>
              </a:lnSpc>
              <a:spcBef>
                <a:spcPts val="479"/>
              </a:spcBef>
              <a:buClr>
                <a:srgbClr val="cbddf5"/>
              </a:buClr>
              <a:buFont typeface="StarSymbol"/>
              <a:buAutoNum type="arabicPeriod"/>
              <a:tabLst>
                <a:tab algn="l" pos="0"/>
              </a:tabLst>
            </a:pPr>
            <a:r>
              <a:rPr b="0" lang="fr-FR" sz="2400" spc="-1" strike="noStrike">
                <a:solidFill>
                  <a:srgbClr val="cbddf5"/>
                </a:solidFill>
                <a:latin typeface="Calibri"/>
              </a:rPr>
              <a:t>Examen de la structure financière (solvabilité et autonomie financière).</a:t>
            </a:r>
            <a:endParaRPr b="0" lang="fr-FR" sz="2400" spc="-1" strike="noStrike">
              <a:solidFill>
                <a:srgbClr val="205aa7"/>
              </a:solidFill>
              <a:latin typeface="Calibri"/>
            </a:endParaRPr>
          </a:p>
          <a:p>
            <a:pPr marL="571680" indent="-456840" algn="just">
              <a:lnSpc>
                <a:spcPct val="100000"/>
              </a:lnSpc>
              <a:spcBef>
                <a:spcPts val="479"/>
              </a:spcBef>
              <a:buClr>
                <a:srgbClr val="205aa7"/>
              </a:buClr>
              <a:buFont typeface="StarSymbol"/>
              <a:buAutoNum type="arabicPeriod"/>
              <a:tabLst>
                <a:tab algn="l" pos="0"/>
              </a:tabLst>
            </a:pPr>
            <a:r>
              <a:rPr b="0" lang="fr-FR" sz="2400" spc="-1" strike="noStrike">
                <a:solidFill>
                  <a:srgbClr val="205aa7"/>
                </a:solidFill>
                <a:latin typeface="Calibri"/>
              </a:rPr>
              <a:t>Analyse de la liquidité.</a:t>
            </a:r>
            <a:endParaRPr b="0" lang="fr-FR" sz="2400" spc="-1" strike="noStrike">
              <a:solidFill>
                <a:srgbClr val="205aa7"/>
              </a:solidFill>
              <a:latin typeface="Calibri"/>
            </a:endParaRPr>
          </a:p>
          <a:p>
            <a:pPr marL="571680" indent="-456840" algn="just">
              <a:lnSpc>
                <a:spcPct val="100000"/>
              </a:lnSpc>
              <a:spcBef>
                <a:spcPts val="479"/>
              </a:spcBef>
              <a:buClr>
                <a:srgbClr val="cbddf5"/>
              </a:buClr>
              <a:buFont typeface="StarSymbol"/>
              <a:buAutoNum type="arabicPeriod"/>
              <a:tabLst>
                <a:tab algn="l" pos="0"/>
              </a:tabLst>
            </a:pPr>
            <a:r>
              <a:rPr b="0" lang="fr-FR" sz="2400" spc="-1" strike="noStrike">
                <a:solidFill>
                  <a:srgbClr val="cbddf5"/>
                </a:solidFill>
                <a:latin typeface="Calibri"/>
              </a:rPr>
              <a:t>Décision de cotation</a:t>
            </a:r>
            <a:endParaRPr b="0" lang="fr-FR" sz="2400" spc="-1" strike="noStrike">
              <a:solidFill>
                <a:srgbClr val="205aa7"/>
              </a:solidFill>
              <a:latin typeface="Calibri"/>
            </a:endParaRPr>
          </a:p>
        </p:txBody>
      </p:sp>
    </p:spTree>
  </p:cSld>
  <mc:AlternateContent>
    <mc:Choice Requires="p14">
      <p:transition spd="slow" p14:dur="2000"/>
    </mc:Choice>
    <mc:Fallback>
      <p:transition spd="slow"/>
    </mc:Fallback>
  </mc:AlternateContent>
</p:sld>
</file>

<file path=ppt/slides/slide8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9" name="TextShape 1"/>
          <p:cNvSpPr txBox="1"/>
          <p:nvPr/>
        </p:nvSpPr>
        <p:spPr>
          <a:xfrm>
            <a:off x="468000" y="0"/>
            <a:ext cx="8229240" cy="1142640"/>
          </a:xfrm>
          <a:prstGeom prst="rect">
            <a:avLst/>
          </a:prstGeom>
          <a:noFill/>
          <a:ln>
            <a:noFill/>
          </a:ln>
        </p:spPr>
        <p:txBody>
          <a:bodyPr anchor="ctr">
            <a:noAutofit/>
          </a:bodyPr>
          <a:p>
            <a:pPr>
              <a:lnSpc>
                <a:spcPct val="100000"/>
              </a:lnSpc>
            </a:pPr>
            <a:r>
              <a:rPr b="1" lang="fr-FR" sz="2400" spc="-1" strike="noStrike" cap="all">
                <a:solidFill>
                  <a:srgbClr val="ffffff"/>
                </a:solidFill>
                <a:latin typeface="Calibri"/>
              </a:rPr>
              <a:t>3. L’analyse financière des comptes consolidés</a:t>
            </a:r>
            <a:endParaRPr b="0" lang="fr-FR" sz="2400" spc="-1" strike="noStrike">
              <a:solidFill>
                <a:srgbClr val="000000"/>
              </a:solidFill>
              <a:latin typeface="Calibri"/>
            </a:endParaRPr>
          </a:p>
        </p:txBody>
      </p:sp>
      <p:sp>
        <p:nvSpPr>
          <p:cNvPr id="500" name="TextShape 2"/>
          <p:cNvSpPr txBox="1"/>
          <p:nvPr/>
        </p:nvSpPr>
        <p:spPr>
          <a:xfrm>
            <a:off x="3124080" y="6480000"/>
            <a:ext cx="4975920" cy="359640"/>
          </a:xfrm>
          <a:prstGeom prst="rect">
            <a:avLst/>
          </a:prstGeom>
          <a:noFill/>
          <a:ln>
            <a:noFill/>
          </a:ln>
        </p:spPr>
        <p:txBody>
          <a:bodyPr>
            <a:noAutofit/>
          </a:bodyPr>
          <a:p>
            <a:endParaRPr b="0" lang="fr-FR" sz="2400" spc="-1" strike="noStrike">
              <a:latin typeface="Times New Roman"/>
            </a:endParaRPr>
          </a:p>
        </p:txBody>
      </p:sp>
      <p:sp>
        <p:nvSpPr>
          <p:cNvPr id="501" name="TextShape 3"/>
          <p:cNvSpPr txBox="1"/>
          <p:nvPr/>
        </p:nvSpPr>
        <p:spPr>
          <a:xfrm>
            <a:off x="8172360" y="6480000"/>
            <a:ext cx="539640" cy="359640"/>
          </a:xfrm>
          <a:prstGeom prst="rect">
            <a:avLst/>
          </a:prstGeom>
          <a:noFill/>
          <a:ln>
            <a:noFill/>
          </a:ln>
        </p:spPr>
        <p:txBody>
          <a:bodyPr lIns="90000" rIns="90000" tIns="45000" bIns="45000">
            <a:noAutofit/>
          </a:bodyPr>
          <a:p>
            <a:pPr algn="r">
              <a:lnSpc>
                <a:spcPct val="100000"/>
              </a:lnSpc>
            </a:pPr>
            <a:fld id="{57608A1E-91F4-4E72-A00E-14BA06EBD421}" type="slidenum">
              <a:rPr b="0" lang="fr-FR" sz="900" spc="-1" strike="noStrike">
                <a:solidFill>
                  <a:srgbClr val="205aa7"/>
                </a:solidFill>
                <a:latin typeface="Calibri"/>
              </a:rPr>
              <a:t>&lt;number&gt;</a:t>
            </a:fld>
            <a:endParaRPr b="0" lang="fr-FR" sz="900" spc="-1" strike="noStrike">
              <a:latin typeface="Times New Roman"/>
            </a:endParaRPr>
          </a:p>
        </p:txBody>
      </p:sp>
      <p:sp>
        <p:nvSpPr>
          <p:cNvPr id="502" name="TextShape 4"/>
          <p:cNvSpPr txBox="1"/>
          <p:nvPr/>
        </p:nvSpPr>
        <p:spPr>
          <a:xfrm>
            <a:off x="468000" y="1440000"/>
            <a:ext cx="8229240" cy="4525560"/>
          </a:xfrm>
          <a:prstGeom prst="rect">
            <a:avLst/>
          </a:prstGeom>
          <a:noFill/>
          <a:ln>
            <a:noFill/>
          </a:ln>
        </p:spPr>
        <p:txBody>
          <a:bodyPr>
            <a:normAutofit/>
          </a:bodyPr>
          <a:p>
            <a:pPr algn="ctr">
              <a:lnSpc>
                <a:spcPct val="100000"/>
              </a:lnSpc>
              <a:spcBef>
                <a:spcPts val="400"/>
              </a:spcBef>
              <a:tabLst>
                <a:tab algn="l" pos="0"/>
              </a:tabLst>
            </a:pPr>
            <a:r>
              <a:rPr b="1" lang="fr-FR" sz="2000" spc="-1" strike="noStrike">
                <a:solidFill>
                  <a:srgbClr val="205aa7"/>
                </a:solidFill>
                <a:latin typeface="Calibri"/>
              </a:rPr>
              <a:t>Étape 5 – Analyse de la liquidité</a:t>
            </a:r>
            <a:endParaRPr b="0" lang="fr-FR" sz="2000" spc="-1" strike="noStrike">
              <a:solidFill>
                <a:srgbClr val="205aa7"/>
              </a:solidFill>
              <a:latin typeface="Calibri"/>
            </a:endParaRPr>
          </a:p>
          <a:p>
            <a:pPr algn="ctr">
              <a:lnSpc>
                <a:spcPct val="100000"/>
              </a:lnSpc>
              <a:spcBef>
                <a:spcPts val="201"/>
              </a:spcBef>
              <a:tabLst>
                <a:tab algn="l" pos="0"/>
              </a:tabLst>
            </a:pPr>
            <a:endParaRPr b="0" lang="fr-FR" sz="2000" spc="-1" strike="noStrike">
              <a:solidFill>
                <a:srgbClr val="205aa7"/>
              </a:solidFill>
              <a:latin typeface="Calibri"/>
            </a:endParaRPr>
          </a:p>
          <a:p>
            <a:pPr marL="114480" algn="ctr">
              <a:lnSpc>
                <a:spcPct val="100000"/>
              </a:lnSpc>
              <a:spcBef>
                <a:spcPts val="400"/>
              </a:spcBef>
              <a:tabLst>
                <a:tab algn="l" pos="0"/>
              </a:tabLst>
            </a:pPr>
            <a:r>
              <a:rPr b="0" lang="fr-FR" sz="2000" spc="-1" strike="noStrike" u="sng">
                <a:solidFill>
                  <a:srgbClr val="205aa7"/>
                </a:solidFill>
                <a:uFillTx/>
                <a:latin typeface="Calibri"/>
              </a:rPr>
              <a:t>Objectifs de cette étape</a:t>
            </a:r>
            <a:endParaRPr b="0" lang="fr-FR" sz="2000" spc="-1" strike="noStrike">
              <a:solidFill>
                <a:srgbClr val="205aa7"/>
              </a:solidFill>
              <a:latin typeface="Calibri"/>
            </a:endParaRPr>
          </a:p>
          <a:p>
            <a:pPr marL="457200" indent="-342720" algn="just">
              <a:lnSpc>
                <a:spcPct val="100000"/>
              </a:lnSpc>
              <a:spcBef>
                <a:spcPts val="400"/>
              </a:spcBef>
              <a:buClr>
                <a:srgbClr val="205aa7"/>
              </a:buClr>
              <a:buFont typeface="Wingdings" charset="2"/>
              <a:buChar char=""/>
              <a:tabLst>
                <a:tab algn="l" pos="0"/>
              </a:tabLst>
            </a:pPr>
            <a:r>
              <a:rPr b="0" lang="fr-FR" sz="2000" spc="-1" strike="noStrike">
                <a:solidFill>
                  <a:srgbClr val="205aa7"/>
                </a:solidFill>
                <a:latin typeface="Calibri"/>
              </a:rPr>
              <a:t>Analyser la génération de trésorerie au travers du tableau des flux apprécier la capacité récurrente du groupe à générer de la liquidité.</a:t>
            </a:r>
            <a:endParaRPr b="0" lang="fr-FR" sz="2000" spc="-1" strike="noStrike">
              <a:solidFill>
                <a:srgbClr val="205aa7"/>
              </a:solidFill>
              <a:latin typeface="Calibri"/>
            </a:endParaRPr>
          </a:p>
          <a:p>
            <a:pPr marL="457200" indent="-342720" algn="just">
              <a:lnSpc>
                <a:spcPct val="100000"/>
              </a:lnSpc>
              <a:spcBef>
                <a:spcPts val="400"/>
              </a:spcBef>
              <a:buClr>
                <a:srgbClr val="205aa7"/>
              </a:buClr>
              <a:buFont typeface="Wingdings" charset="2"/>
              <a:buChar char=""/>
              <a:tabLst>
                <a:tab algn="l" pos="0"/>
              </a:tabLst>
            </a:pPr>
            <a:r>
              <a:rPr b="0" lang="fr-FR" sz="2000" spc="-1" strike="noStrike">
                <a:solidFill>
                  <a:srgbClr val="205aa7"/>
                </a:solidFill>
                <a:latin typeface="Calibri"/>
              </a:rPr>
              <a:t>Anticiper à un horizon de 24 mois l’évolution de la trésorerie afin de mettre en exergue une éventuelle impasse de liquidité</a:t>
            </a:r>
            <a:endParaRPr b="0" lang="fr-FR" sz="2000" spc="-1" strike="noStrike">
              <a:solidFill>
                <a:srgbClr val="205aa7"/>
              </a:solidFill>
              <a:latin typeface="Calibri"/>
            </a:endParaRPr>
          </a:p>
          <a:p>
            <a:pPr marL="457200" indent="-342720" algn="just">
              <a:lnSpc>
                <a:spcPct val="100000"/>
              </a:lnSpc>
              <a:spcBef>
                <a:spcPts val="400"/>
              </a:spcBef>
              <a:buClr>
                <a:srgbClr val="205aa7"/>
              </a:buClr>
              <a:buFont typeface="Wingdings" charset="2"/>
              <a:buChar char=""/>
              <a:tabLst>
                <a:tab algn="l" pos="0"/>
              </a:tabLst>
            </a:pPr>
            <a:r>
              <a:rPr b="0" lang="fr-FR" sz="2000" spc="-1" strike="noStrike">
                <a:solidFill>
                  <a:srgbClr val="205aa7"/>
                </a:solidFill>
                <a:latin typeface="Calibri"/>
              </a:rPr>
              <a:t>Il s’agit de déterminer la capacité du groupe à dégager des ressources internes par sa propre activité en N+1 et N+2.</a:t>
            </a:r>
            <a:endParaRPr b="0" lang="fr-FR" sz="2000" spc="-1" strike="noStrike">
              <a:solidFill>
                <a:srgbClr val="205aa7"/>
              </a:solidFill>
              <a:latin typeface="Calibri"/>
            </a:endParaRPr>
          </a:p>
          <a:p>
            <a:pPr marL="457200" indent="-342720" algn="just">
              <a:lnSpc>
                <a:spcPct val="100000"/>
              </a:lnSpc>
              <a:spcBef>
                <a:spcPts val="400"/>
              </a:spcBef>
              <a:buClr>
                <a:srgbClr val="205aa7"/>
              </a:buClr>
              <a:buFont typeface="Wingdings" charset="2"/>
              <a:buChar char=""/>
              <a:tabLst>
                <a:tab algn="l" pos="0"/>
              </a:tabLst>
            </a:pPr>
            <a:r>
              <a:rPr b="0" lang="fr-FR" sz="2000" spc="-1" strike="noStrike">
                <a:solidFill>
                  <a:srgbClr val="205aa7"/>
                </a:solidFill>
                <a:latin typeface="Calibri"/>
              </a:rPr>
              <a:t>L’analyse de la liquidité comporte 4 phases.</a:t>
            </a:r>
            <a:endParaRPr b="0" lang="fr-FR" sz="2000" spc="-1" strike="noStrike">
              <a:solidFill>
                <a:srgbClr val="205aa7"/>
              </a:solidFill>
              <a:latin typeface="Calibri"/>
            </a:endParaRPr>
          </a:p>
          <a:p>
            <a:pPr>
              <a:lnSpc>
                <a:spcPct val="100000"/>
              </a:lnSpc>
              <a:spcBef>
                <a:spcPts val="400"/>
              </a:spcBef>
              <a:tabLst>
                <a:tab algn="l" pos="0"/>
              </a:tabLst>
            </a:pPr>
            <a:endParaRPr b="0" lang="fr-FR" sz="2000" spc="-1" strike="noStrike">
              <a:solidFill>
                <a:srgbClr val="205aa7"/>
              </a:solidFill>
              <a:latin typeface="Calibri"/>
            </a:endParaRPr>
          </a:p>
        </p:txBody>
      </p:sp>
    </p:spTree>
  </p:cSld>
  <mc:AlternateContent>
    <mc:Choice Requires="p14">
      <p:transition spd="slow" p14:dur="2000"/>
    </mc:Choice>
    <mc:Fallback>
      <p:transition spd="slow"/>
    </mc:Fallback>
  </mc:AlternateContent>
</p:sld>
</file>

<file path=ppt/slides/slide8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3" name="TextShape 1"/>
          <p:cNvSpPr txBox="1"/>
          <p:nvPr/>
        </p:nvSpPr>
        <p:spPr>
          <a:xfrm>
            <a:off x="468000" y="0"/>
            <a:ext cx="8229240" cy="1142640"/>
          </a:xfrm>
          <a:prstGeom prst="rect">
            <a:avLst/>
          </a:prstGeom>
          <a:noFill/>
          <a:ln>
            <a:noFill/>
          </a:ln>
        </p:spPr>
        <p:txBody>
          <a:bodyPr anchor="ctr">
            <a:noAutofit/>
          </a:bodyPr>
          <a:p>
            <a:pPr>
              <a:lnSpc>
                <a:spcPct val="100000"/>
              </a:lnSpc>
            </a:pPr>
            <a:r>
              <a:rPr b="1" lang="fr-FR" sz="2400" spc="-1" strike="noStrike" cap="all">
                <a:solidFill>
                  <a:srgbClr val="ffffff"/>
                </a:solidFill>
                <a:latin typeface="Calibri"/>
              </a:rPr>
              <a:t>3. L’analyse financière des comptes consolidés</a:t>
            </a:r>
            <a:endParaRPr b="0" lang="fr-FR" sz="2400" spc="-1" strike="noStrike">
              <a:solidFill>
                <a:srgbClr val="000000"/>
              </a:solidFill>
              <a:latin typeface="Calibri"/>
            </a:endParaRPr>
          </a:p>
        </p:txBody>
      </p:sp>
      <p:sp>
        <p:nvSpPr>
          <p:cNvPr id="504" name="TextShape 2"/>
          <p:cNvSpPr txBox="1"/>
          <p:nvPr/>
        </p:nvSpPr>
        <p:spPr>
          <a:xfrm>
            <a:off x="3124080" y="6480000"/>
            <a:ext cx="4975920" cy="359640"/>
          </a:xfrm>
          <a:prstGeom prst="rect">
            <a:avLst/>
          </a:prstGeom>
          <a:noFill/>
          <a:ln>
            <a:noFill/>
          </a:ln>
        </p:spPr>
        <p:txBody>
          <a:bodyPr>
            <a:noAutofit/>
          </a:bodyPr>
          <a:p>
            <a:endParaRPr b="0" lang="fr-FR" sz="2400" spc="-1" strike="noStrike">
              <a:latin typeface="Times New Roman"/>
            </a:endParaRPr>
          </a:p>
        </p:txBody>
      </p:sp>
      <p:sp>
        <p:nvSpPr>
          <p:cNvPr id="505" name="TextShape 3"/>
          <p:cNvSpPr txBox="1"/>
          <p:nvPr/>
        </p:nvSpPr>
        <p:spPr>
          <a:xfrm>
            <a:off x="8172360" y="6480000"/>
            <a:ext cx="539640" cy="359640"/>
          </a:xfrm>
          <a:prstGeom prst="rect">
            <a:avLst/>
          </a:prstGeom>
          <a:noFill/>
          <a:ln>
            <a:noFill/>
          </a:ln>
        </p:spPr>
        <p:txBody>
          <a:bodyPr lIns="90000" rIns="90000" tIns="45000" bIns="45000">
            <a:noAutofit/>
          </a:bodyPr>
          <a:p>
            <a:pPr algn="r">
              <a:lnSpc>
                <a:spcPct val="100000"/>
              </a:lnSpc>
            </a:pPr>
            <a:fld id="{DB448502-C687-4DDB-A0AE-8B85685F3CF3}" type="slidenum">
              <a:rPr b="0" lang="fr-FR" sz="900" spc="-1" strike="noStrike">
                <a:solidFill>
                  <a:srgbClr val="205aa7"/>
                </a:solidFill>
                <a:latin typeface="Calibri"/>
              </a:rPr>
              <a:t>&lt;number&gt;</a:t>
            </a:fld>
            <a:endParaRPr b="0" lang="fr-FR" sz="900" spc="-1" strike="noStrike">
              <a:latin typeface="Times New Roman"/>
            </a:endParaRPr>
          </a:p>
        </p:txBody>
      </p:sp>
      <p:sp>
        <p:nvSpPr>
          <p:cNvPr id="506" name="TextShape 4"/>
          <p:cNvSpPr txBox="1"/>
          <p:nvPr/>
        </p:nvSpPr>
        <p:spPr>
          <a:xfrm>
            <a:off x="468000" y="1440000"/>
            <a:ext cx="8229240" cy="4525560"/>
          </a:xfrm>
          <a:prstGeom prst="rect">
            <a:avLst/>
          </a:prstGeom>
          <a:noFill/>
          <a:ln>
            <a:noFill/>
          </a:ln>
        </p:spPr>
        <p:txBody>
          <a:bodyPr>
            <a:normAutofit/>
          </a:bodyPr>
          <a:p>
            <a:pPr algn="ctr">
              <a:lnSpc>
                <a:spcPct val="100000"/>
              </a:lnSpc>
              <a:spcBef>
                <a:spcPts val="400"/>
              </a:spcBef>
              <a:tabLst>
                <a:tab algn="l" pos="0"/>
              </a:tabLst>
            </a:pPr>
            <a:r>
              <a:rPr b="1" lang="fr-FR" sz="2000" spc="-1" strike="noStrike">
                <a:solidFill>
                  <a:srgbClr val="205aa7"/>
                </a:solidFill>
                <a:latin typeface="Calibri"/>
              </a:rPr>
              <a:t>Étape 5 – Analyse de la liquidité</a:t>
            </a:r>
            <a:endParaRPr b="0" lang="fr-FR" sz="2000" spc="-1" strike="noStrike">
              <a:solidFill>
                <a:srgbClr val="205aa7"/>
              </a:solidFill>
              <a:latin typeface="Calibri"/>
            </a:endParaRPr>
          </a:p>
          <a:p>
            <a:pPr algn="ctr">
              <a:lnSpc>
                <a:spcPct val="100000"/>
              </a:lnSpc>
              <a:spcBef>
                <a:spcPts val="201"/>
              </a:spcBef>
              <a:tabLst>
                <a:tab algn="l" pos="0"/>
              </a:tabLst>
            </a:pPr>
            <a:endParaRPr b="0" lang="fr-FR" sz="2000" spc="-1" strike="noStrike">
              <a:solidFill>
                <a:srgbClr val="205aa7"/>
              </a:solidFill>
              <a:latin typeface="Calibri"/>
            </a:endParaRPr>
          </a:p>
          <a:p>
            <a:pPr marL="114480" algn="ctr">
              <a:lnSpc>
                <a:spcPct val="100000"/>
              </a:lnSpc>
              <a:spcBef>
                <a:spcPts val="400"/>
              </a:spcBef>
              <a:tabLst>
                <a:tab algn="l" pos="0"/>
              </a:tabLst>
            </a:pPr>
            <a:r>
              <a:rPr b="0" lang="fr-FR" sz="2000" spc="-1" strike="noStrike" u="sng">
                <a:solidFill>
                  <a:srgbClr val="205aa7"/>
                </a:solidFill>
                <a:uFillTx/>
                <a:latin typeface="Calibri"/>
              </a:rPr>
              <a:t>Phase 1 : analyse statique</a:t>
            </a:r>
            <a:endParaRPr b="0" lang="fr-FR" sz="2000" spc="-1" strike="noStrike">
              <a:solidFill>
                <a:srgbClr val="205aa7"/>
              </a:solidFill>
              <a:latin typeface="Calibri"/>
            </a:endParaRPr>
          </a:p>
          <a:p>
            <a:pPr marL="252000" indent="-251640" algn="just">
              <a:lnSpc>
                <a:spcPct val="100000"/>
              </a:lnSpc>
              <a:spcBef>
                <a:spcPts val="400"/>
              </a:spcBef>
              <a:buClr>
                <a:srgbClr val="205aa7"/>
              </a:buClr>
              <a:buFont typeface="Wingdings" charset="2"/>
              <a:buChar char=""/>
              <a:tabLst>
                <a:tab algn="l" pos="0"/>
              </a:tabLst>
            </a:pPr>
            <a:r>
              <a:rPr b="0" lang="fr-FR" sz="2000" spc="-1" strike="noStrike">
                <a:solidFill>
                  <a:srgbClr val="205aa7"/>
                </a:solidFill>
                <a:latin typeface="Calibri"/>
              </a:rPr>
              <a:t>L’objectif de cette phase est de détecter d’éventuels déséquilibres structurels et/ou des évolutions sensibles et/ou des décaissements à court terme susceptibles d’entraîner une impasse de trésorerie</a:t>
            </a:r>
            <a:endParaRPr b="0" lang="fr-FR" sz="2000" spc="-1" strike="noStrike">
              <a:solidFill>
                <a:srgbClr val="205aa7"/>
              </a:solidFill>
              <a:latin typeface="Calibri"/>
            </a:endParaRPr>
          </a:p>
          <a:p>
            <a:pPr marL="252000" indent="-251640" algn="just">
              <a:lnSpc>
                <a:spcPct val="100000"/>
              </a:lnSpc>
              <a:spcBef>
                <a:spcPts val="400"/>
              </a:spcBef>
              <a:buClr>
                <a:srgbClr val="205aa7"/>
              </a:buClr>
              <a:buFont typeface="Wingdings" charset="2"/>
              <a:buChar char=""/>
              <a:tabLst>
                <a:tab algn="l" pos="0"/>
              </a:tabLst>
            </a:pPr>
            <a:r>
              <a:rPr b="0" lang="fr-FR" sz="2000" spc="-1" strike="noStrike">
                <a:solidFill>
                  <a:srgbClr val="205aa7"/>
                </a:solidFill>
                <a:latin typeface="Calibri"/>
              </a:rPr>
              <a:t>Les indicateurs pertinents :</a:t>
            </a:r>
            <a:endParaRPr b="0" lang="fr-FR" sz="2000" spc="-1" strike="noStrike">
              <a:solidFill>
                <a:srgbClr val="205aa7"/>
              </a:solidFill>
              <a:latin typeface="Calibri"/>
            </a:endParaRPr>
          </a:p>
          <a:p>
            <a:pPr lvl="1" marL="743040" indent="-285480" algn="just">
              <a:lnSpc>
                <a:spcPct val="100000"/>
              </a:lnSpc>
              <a:spcBef>
                <a:spcPts val="360"/>
              </a:spcBef>
              <a:buClr>
                <a:srgbClr val="205aa7"/>
              </a:buClr>
              <a:buFont typeface="Arial"/>
              <a:buChar char="–"/>
              <a:tabLst>
                <a:tab algn="l" pos="0"/>
              </a:tabLst>
            </a:pPr>
            <a:r>
              <a:rPr b="0" lang="fr-FR" sz="1800" spc="-1" strike="noStrike">
                <a:solidFill>
                  <a:srgbClr val="205aa7"/>
                </a:solidFill>
                <a:latin typeface="Calibri"/>
              </a:rPr>
              <a:t>FRNG</a:t>
            </a:r>
            <a:endParaRPr b="0" lang="fr-FR" sz="1800" spc="-1" strike="noStrike">
              <a:solidFill>
                <a:srgbClr val="595959"/>
              </a:solidFill>
              <a:latin typeface="Calibri"/>
            </a:endParaRPr>
          </a:p>
          <a:p>
            <a:pPr lvl="1" marL="743040" indent="-285480" algn="just">
              <a:lnSpc>
                <a:spcPct val="100000"/>
              </a:lnSpc>
              <a:spcBef>
                <a:spcPts val="360"/>
              </a:spcBef>
              <a:buClr>
                <a:srgbClr val="205aa7"/>
              </a:buClr>
              <a:buFont typeface="Arial"/>
              <a:buChar char="–"/>
              <a:tabLst>
                <a:tab algn="l" pos="0"/>
              </a:tabLst>
            </a:pPr>
            <a:r>
              <a:rPr b="0" lang="fr-FR" sz="1800" spc="-1" strike="noStrike">
                <a:solidFill>
                  <a:srgbClr val="205aa7"/>
                </a:solidFill>
                <a:latin typeface="Calibri"/>
              </a:rPr>
              <a:t>FRNG/BFR</a:t>
            </a:r>
            <a:endParaRPr b="0" lang="fr-FR" sz="1800" spc="-1" strike="noStrike">
              <a:solidFill>
                <a:srgbClr val="595959"/>
              </a:solidFill>
              <a:latin typeface="Calibri"/>
            </a:endParaRPr>
          </a:p>
          <a:p>
            <a:pPr lvl="1" marL="743040" indent="-285480" algn="just">
              <a:lnSpc>
                <a:spcPct val="100000"/>
              </a:lnSpc>
              <a:spcBef>
                <a:spcPts val="360"/>
              </a:spcBef>
              <a:buClr>
                <a:srgbClr val="205aa7"/>
              </a:buClr>
              <a:buFont typeface="Arial"/>
              <a:buChar char="–"/>
              <a:tabLst>
                <a:tab algn="l" pos="0"/>
              </a:tabLst>
            </a:pPr>
            <a:r>
              <a:rPr b="0" lang="fr-FR" sz="1800" spc="-1" strike="noStrike">
                <a:solidFill>
                  <a:srgbClr val="205aa7"/>
                </a:solidFill>
                <a:latin typeface="Calibri"/>
              </a:rPr>
              <a:t>Trésorerie nette/Fonds propres</a:t>
            </a:r>
            <a:endParaRPr b="0" lang="fr-FR" sz="1800" spc="-1" strike="noStrike">
              <a:solidFill>
                <a:srgbClr val="595959"/>
              </a:solidFill>
              <a:latin typeface="Calibri"/>
            </a:endParaRPr>
          </a:p>
          <a:p>
            <a:pPr lvl="1" marL="743040" indent="-285480" algn="just">
              <a:lnSpc>
                <a:spcPct val="100000"/>
              </a:lnSpc>
              <a:spcBef>
                <a:spcPts val="360"/>
              </a:spcBef>
              <a:buClr>
                <a:srgbClr val="205aa7"/>
              </a:buClr>
              <a:buFont typeface="Arial"/>
              <a:buChar char="–"/>
              <a:tabLst>
                <a:tab algn="l" pos="0"/>
              </a:tabLst>
            </a:pPr>
            <a:r>
              <a:rPr b="0" lang="fr-FR" sz="1800" spc="-1" strike="noStrike">
                <a:solidFill>
                  <a:srgbClr val="205aa7"/>
                </a:solidFill>
                <a:latin typeface="Calibri"/>
              </a:rPr>
              <a:t>Variation de la trésorerie nette/Fonds propres</a:t>
            </a:r>
            <a:endParaRPr b="0" lang="fr-FR" sz="1800" spc="-1" strike="noStrike">
              <a:solidFill>
                <a:srgbClr val="595959"/>
              </a:solidFill>
              <a:latin typeface="Calibri"/>
            </a:endParaRPr>
          </a:p>
          <a:p>
            <a:pPr algn="just">
              <a:lnSpc>
                <a:spcPct val="100000"/>
              </a:lnSpc>
              <a:spcBef>
                <a:spcPts val="400"/>
              </a:spcBef>
              <a:tabLst>
                <a:tab algn="l" pos="0"/>
              </a:tabLst>
            </a:pPr>
            <a:endParaRPr b="0" lang="fr-FR" sz="1800" spc="-1" strike="noStrike">
              <a:solidFill>
                <a:srgbClr val="205aa7"/>
              </a:solidFill>
              <a:latin typeface="Calibri"/>
            </a:endParaRPr>
          </a:p>
        </p:txBody>
      </p:sp>
    </p:spTree>
  </p:cSld>
  <mc:AlternateContent>
    <mc:Choice Requires="p14">
      <p:transition spd="slow" p14:dur="2000"/>
    </mc:Choice>
    <mc:Fallback>
      <p:transition spd="slow"/>
    </mc:Fallback>
  </mc:AlternateContent>
</p:sld>
</file>

<file path=ppt/slides/slide8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7" name="TextShape 1"/>
          <p:cNvSpPr txBox="1"/>
          <p:nvPr/>
        </p:nvSpPr>
        <p:spPr>
          <a:xfrm>
            <a:off x="468000" y="0"/>
            <a:ext cx="8229240" cy="1142640"/>
          </a:xfrm>
          <a:prstGeom prst="rect">
            <a:avLst/>
          </a:prstGeom>
          <a:noFill/>
          <a:ln>
            <a:noFill/>
          </a:ln>
        </p:spPr>
        <p:txBody>
          <a:bodyPr anchor="ctr">
            <a:noAutofit/>
          </a:bodyPr>
          <a:p>
            <a:pPr>
              <a:lnSpc>
                <a:spcPct val="100000"/>
              </a:lnSpc>
            </a:pPr>
            <a:r>
              <a:rPr b="1" lang="fr-FR" sz="2400" spc="-1" strike="noStrike" cap="all">
                <a:solidFill>
                  <a:srgbClr val="ffffff"/>
                </a:solidFill>
                <a:latin typeface="Calibri"/>
              </a:rPr>
              <a:t>3. L’analyse financière des comptes consolidés</a:t>
            </a:r>
            <a:endParaRPr b="0" lang="fr-FR" sz="2400" spc="-1" strike="noStrike">
              <a:solidFill>
                <a:srgbClr val="000000"/>
              </a:solidFill>
              <a:latin typeface="Calibri"/>
            </a:endParaRPr>
          </a:p>
        </p:txBody>
      </p:sp>
      <p:sp>
        <p:nvSpPr>
          <p:cNvPr id="508" name="TextShape 2"/>
          <p:cNvSpPr txBox="1"/>
          <p:nvPr/>
        </p:nvSpPr>
        <p:spPr>
          <a:xfrm>
            <a:off x="3124080" y="6480000"/>
            <a:ext cx="4975920" cy="359640"/>
          </a:xfrm>
          <a:prstGeom prst="rect">
            <a:avLst/>
          </a:prstGeom>
          <a:noFill/>
          <a:ln>
            <a:noFill/>
          </a:ln>
        </p:spPr>
        <p:txBody>
          <a:bodyPr>
            <a:noAutofit/>
          </a:bodyPr>
          <a:p>
            <a:endParaRPr b="0" lang="fr-FR" sz="2400" spc="-1" strike="noStrike">
              <a:latin typeface="Times New Roman"/>
            </a:endParaRPr>
          </a:p>
        </p:txBody>
      </p:sp>
      <p:sp>
        <p:nvSpPr>
          <p:cNvPr id="509" name="TextShape 3"/>
          <p:cNvSpPr txBox="1"/>
          <p:nvPr/>
        </p:nvSpPr>
        <p:spPr>
          <a:xfrm>
            <a:off x="8172360" y="6480000"/>
            <a:ext cx="539640" cy="359640"/>
          </a:xfrm>
          <a:prstGeom prst="rect">
            <a:avLst/>
          </a:prstGeom>
          <a:noFill/>
          <a:ln>
            <a:noFill/>
          </a:ln>
        </p:spPr>
        <p:txBody>
          <a:bodyPr lIns="90000" rIns="90000" tIns="45000" bIns="45000">
            <a:noAutofit/>
          </a:bodyPr>
          <a:p>
            <a:pPr algn="r">
              <a:lnSpc>
                <a:spcPct val="100000"/>
              </a:lnSpc>
            </a:pPr>
            <a:fld id="{E6956F18-0A9C-4EB6-9448-7D2617E4D534}" type="slidenum">
              <a:rPr b="0" lang="fr-FR" sz="900" spc="-1" strike="noStrike">
                <a:solidFill>
                  <a:srgbClr val="205aa7"/>
                </a:solidFill>
                <a:latin typeface="Calibri"/>
              </a:rPr>
              <a:t>&lt;number&gt;</a:t>
            </a:fld>
            <a:endParaRPr b="0" lang="fr-FR" sz="900" spc="-1" strike="noStrike">
              <a:latin typeface="Times New Roman"/>
            </a:endParaRPr>
          </a:p>
        </p:txBody>
      </p:sp>
      <p:sp>
        <p:nvSpPr>
          <p:cNvPr id="510" name="TextShape 4"/>
          <p:cNvSpPr txBox="1"/>
          <p:nvPr/>
        </p:nvSpPr>
        <p:spPr>
          <a:xfrm>
            <a:off x="468000" y="1440000"/>
            <a:ext cx="8229240" cy="4525560"/>
          </a:xfrm>
          <a:prstGeom prst="rect">
            <a:avLst/>
          </a:prstGeom>
          <a:noFill/>
          <a:ln>
            <a:noFill/>
          </a:ln>
        </p:spPr>
        <p:txBody>
          <a:bodyPr>
            <a:normAutofit/>
          </a:bodyPr>
          <a:p>
            <a:pPr algn="ctr">
              <a:lnSpc>
                <a:spcPct val="100000"/>
              </a:lnSpc>
              <a:spcBef>
                <a:spcPts val="400"/>
              </a:spcBef>
              <a:tabLst>
                <a:tab algn="l" pos="0"/>
              </a:tabLst>
            </a:pPr>
            <a:r>
              <a:rPr b="1" lang="fr-FR" sz="2000" spc="-1" strike="noStrike">
                <a:solidFill>
                  <a:srgbClr val="205aa7"/>
                </a:solidFill>
                <a:latin typeface="Calibri"/>
              </a:rPr>
              <a:t>Étape 5 – Analyse de la liquidité</a:t>
            </a:r>
            <a:endParaRPr b="0" lang="fr-FR" sz="2000" spc="-1" strike="noStrike">
              <a:solidFill>
                <a:srgbClr val="205aa7"/>
              </a:solidFill>
              <a:latin typeface="Calibri"/>
            </a:endParaRPr>
          </a:p>
          <a:p>
            <a:pPr algn="ctr">
              <a:lnSpc>
                <a:spcPct val="100000"/>
              </a:lnSpc>
              <a:spcBef>
                <a:spcPts val="201"/>
              </a:spcBef>
              <a:tabLst>
                <a:tab algn="l" pos="0"/>
              </a:tabLst>
            </a:pPr>
            <a:endParaRPr b="0" lang="fr-FR" sz="2000" spc="-1" strike="noStrike">
              <a:solidFill>
                <a:srgbClr val="205aa7"/>
              </a:solidFill>
              <a:latin typeface="Calibri"/>
            </a:endParaRPr>
          </a:p>
          <a:p>
            <a:pPr marL="114480" algn="ctr">
              <a:lnSpc>
                <a:spcPct val="100000"/>
              </a:lnSpc>
              <a:spcBef>
                <a:spcPts val="400"/>
              </a:spcBef>
              <a:tabLst>
                <a:tab algn="l" pos="0"/>
              </a:tabLst>
            </a:pPr>
            <a:r>
              <a:rPr b="0" lang="fr-FR" sz="2000" spc="-1" strike="noStrike" u="sng">
                <a:solidFill>
                  <a:srgbClr val="205aa7"/>
                </a:solidFill>
                <a:uFillTx/>
                <a:latin typeface="Calibri"/>
              </a:rPr>
              <a:t>Phase 2 : analyse dynamique</a:t>
            </a:r>
            <a:endParaRPr b="0" lang="fr-FR" sz="2000" spc="-1" strike="noStrike">
              <a:solidFill>
                <a:srgbClr val="205aa7"/>
              </a:solidFill>
              <a:latin typeface="Calibri"/>
            </a:endParaRPr>
          </a:p>
          <a:p>
            <a:pPr marL="252000" indent="-251640">
              <a:lnSpc>
                <a:spcPct val="100000"/>
              </a:lnSpc>
              <a:spcBef>
                <a:spcPts val="400"/>
              </a:spcBef>
              <a:buClr>
                <a:srgbClr val="205aa7"/>
              </a:buClr>
              <a:buFont typeface="Wingdings" charset="2"/>
              <a:buChar char=""/>
              <a:tabLst>
                <a:tab algn="l" pos="0"/>
              </a:tabLst>
            </a:pPr>
            <a:r>
              <a:rPr b="0" lang="fr-FR" sz="2000" spc="-1" strike="noStrike">
                <a:solidFill>
                  <a:srgbClr val="205aa7"/>
                </a:solidFill>
                <a:latin typeface="Calibri"/>
              </a:rPr>
              <a:t>L’objectif : apprécier la capacité récurrente du groupe à générer de la liquidité.</a:t>
            </a:r>
            <a:endParaRPr b="0" lang="fr-FR" sz="2000" spc="-1" strike="noStrike">
              <a:solidFill>
                <a:srgbClr val="205aa7"/>
              </a:solidFill>
              <a:latin typeface="Calibri"/>
            </a:endParaRPr>
          </a:p>
          <a:p>
            <a:pPr marL="252000" indent="-251640">
              <a:lnSpc>
                <a:spcPct val="100000"/>
              </a:lnSpc>
              <a:spcBef>
                <a:spcPts val="400"/>
              </a:spcBef>
              <a:buClr>
                <a:srgbClr val="205aa7"/>
              </a:buClr>
              <a:buFont typeface="Wingdings" charset="2"/>
              <a:buChar char=""/>
              <a:tabLst>
                <a:tab algn="l" pos="0"/>
              </a:tabLst>
            </a:pPr>
            <a:r>
              <a:rPr b="0" lang="fr-FR" sz="2000" spc="-1" strike="noStrike">
                <a:solidFill>
                  <a:srgbClr val="205aa7"/>
                </a:solidFill>
                <a:latin typeface="Calibri"/>
              </a:rPr>
              <a:t>L’indicateur : flux de trésorerie lié à l’activité (FTA) / chiffre d’affaires</a:t>
            </a:r>
            <a:endParaRPr b="0" lang="fr-FR" sz="2000" spc="-1" strike="noStrike">
              <a:solidFill>
                <a:srgbClr val="205aa7"/>
              </a:solidFill>
              <a:latin typeface="Calibri"/>
            </a:endParaRPr>
          </a:p>
          <a:p>
            <a:pPr lvl="1" marL="743040" indent="-285480">
              <a:lnSpc>
                <a:spcPct val="100000"/>
              </a:lnSpc>
              <a:spcBef>
                <a:spcPts val="360"/>
              </a:spcBef>
              <a:buClr>
                <a:srgbClr val="205aa7"/>
              </a:buClr>
              <a:buFont typeface="Arial"/>
              <a:buChar char="–"/>
              <a:tabLst>
                <a:tab algn="l" pos="0"/>
              </a:tabLst>
            </a:pPr>
            <a:r>
              <a:rPr b="0" lang="fr-FR" sz="1800" spc="-1" strike="noStrike">
                <a:solidFill>
                  <a:srgbClr val="205aa7"/>
                </a:solidFill>
                <a:latin typeface="Calibri"/>
              </a:rPr>
              <a:t>Cet indicateur permet d’anticiper une détérioration potentielle de la liquidité et doit faire l’objet d’une analyse :</a:t>
            </a:r>
            <a:endParaRPr b="0" lang="fr-FR" sz="1800" spc="-1" strike="noStrike">
              <a:solidFill>
                <a:srgbClr val="595959"/>
              </a:solidFill>
              <a:latin typeface="Calibri"/>
            </a:endParaRPr>
          </a:p>
          <a:p>
            <a:pPr lvl="1" marL="743040" indent="-285480">
              <a:lnSpc>
                <a:spcPct val="100000"/>
              </a:lnSpc>
              <a:spcBef>
                <a:spcPts val="360"/>
              </a:spcBef>
              <a:buClr>
                <a:srgbClr val="205aa7"/>
              </a:buClr>
              <a:buFont typeface="Arial"/>
              <a:buChar char="–"/>
              <a:tabLst>
                <a:tab algn="l" pos="0"/>
              </a:tabLst>
            </a:pPr>
            <a:r>
              <a:rPr b="0" lang="fr-FR" sz="1800" spc="-1" strike="noStrike">
                <a:solidFill>
                  <a:srgbClr val="205aa7"/>
                </a:solidFill>
                <a:latin typeface="Calibri"/>
              </a:rPr>
              <a:t>annuelle par composante afin de détecter une incapacité à générer une marge suffisante et/ou une absence de maîtrise des BFR,</a:t>
            </a:r>
            <a:endParaRPr b="0" lang="fr-FR" sz="1800" spc="-1" strike="noStrike">
              <a:solidFill>
                <a:srgbClr val="595959"/>
              </a:solidFill>
              <a:latin typeface="Calibri"/>
            </a:endParaRPr>
          </a:p>
          <a:p>
            <a:pPr lvl="1" marL="743040" indent="-285480">
              <a:lnSpc>
                <a:spcPct val="100000"/>
              </a:lnSpc>
              <a:spcBef>
                <a:spcPts val="360"/>
              </a:spcBef>
              <a:buClr>
                <a:srgbClr val="205aa7"/>
              </a:buClr>
              <a:buFont typeface="Arial"/>
              <a:buChar char="–"/>
              <a:tabLst>
                <a:tab algn="l" pos="0"/>
              </a:tabLst>
            </a:pPr>
            <a:r>
              <a:rPr b="0" lang="fr-FR" sz="1800" spc="-1" strike="noStrike">
                <a:solidFill>
                  <a:srgbClr val="205aa7"/>
                </a:solidFill>
                <a:latin typeface="Calibri"/>
              </a:rPr>
              <a:t>pluriannuelle afin d’annoncer l’analyse prospective.</a:t>
            </a:r>
            <a:endParaRPr b="0" lang="fr-FR" sz="1800" spc="-1" strike="noStrike">
              <a:solidFill>
                <a:srgbClr val="595959"/>
              </a:solidFill>
              <a:latin typeface="Calibri"/>
            </a:endParaRPr>
          </a:p>
          <a:p>
            <a:pPr>
              <a:lnSpc>
                <a:spcPct val="100000"/>
              </a:lnSpc>
              <a:spcBef>
                <a:spcPts val="400"/>
              </a:spcBef>
              <a:tabLst>
                <a:tab algn="l" pos="0"/>
              </a:tabLst>
            </a:pPr>
            <a:endParaRPr b="0" lang="fr-FR" sz="1800" spc="-1" strike="noStrike">
              <a:solidFill>
                <a:srgbClr val="205aa7"/>
              </a:solidFill>
              <a:latin typeface="Calibri"/>
            </a:endParaRPr>
          </a:p>
        </p:txBody>
      </p:sp>
    </p:spTree>
  </p:cSld>
  <mc:AlternateContent>
    <mc:Choice Requires="p14">
      <p:transition spd="slow" p14:dur="2000"/>
    </mc:Choice>
    <mc:Fallback>
      <p:transition spd="slow"/>
    </mc:Fallback>
  </mc:AlternateContent>
</p:sld>
</file>

<file path=ppt/slides/slide9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1" name="TextShape 1"/>
          <p:cNvSpPr txBox="1"/>
          <p:nvPr/>
        </p:nvSpPr>
        <p:spPr>
          <a:xfrm>
            <a:off x="468000" y="0"/>
            <a:ext cx="8229240" cy="1142640"/>
          </a:xfrm>
          <a:prstGeom prst="rect">
            <a:avLst/>
          </a:prstGeom>
          <a:noFill/>
          <a:ln>
            <a:noFill/>
          </a:ln>
        </p:spPr>
        <p:txBody>
          <a:bodyPr anchor="ctr">
            <a:noAutofit/>
          </a:bodyPr>
          <a:p>
            <a:pPr>
              <a:lnSpc>
                <a:spcPct val="100000"/>
              </a:lnSpc>
            </a:pPr>
            <a:r>
              <a:rPr b="1" lang="fr-FR" sz="2400" spc="-1" strike="noStrike" cap="all">
                <a:solidFill>
                  <a:srgbClr val="ffffff"/>
                </a:solidFill>
                <a:latin typeface="Calibri"/>
              </a:rPr>
              <a:t>3. L’analyse financière des comptes consolidés</a:t>
            </a:r>
            <a:endParaRPr b="0" lang="fr-FR" sz="2400" spc="-1" strike="noStrike">
              <a:solidFill>
                <a:srgbClr val="000000"/>
              </a:solidFill>
              <a:latin typeface="Calibri"/>
            </a:endParaRPr>
          </a:p>
        </p:txBody>
      </p:sp>
      <p:sp>
        <p:nvSpPr>
          <p:cNvPr id="512" name="TextShape 2"/>
          <p:cNvSpPr txBox="1"/>
          <p:nvPr/>
        </p:nvSpPr>
        <p:spPr>
          <a:xfrm>
            <a:off x="3124080" y="6480000"/>
            <a:ext cx="4975920" cy="359640"/>
          </a:xfrm>
          <a:prstGeom prst="rect">
            <a:avLst/>
          </a:prstGeom>
          <a:noFill/>
          <a:ln>
            <a:noFill/>
          </a:ln>
        </p:spPr>
        <p:txBody>
          <a:bodyPr>
            <a:noAutofit/>
          </a:bodyPr>
          <a:p>
            <a:endParaRPr b="0" lang="fr-FR" sz="2400" spc="-1" strike="noStrike">
              <a:latin typeface="Times New Roman"/>
            </a:endParaRPr>
          </a:p>
        </p:txBody>
      </p:sp>
      <p:sp>
        <p:nvSpPr>
          <p:cNvPr id="513" name="TextShape 3"/>
          <p:cNvSpPr txBox="1"/>
          <p:nvPr/>
        </p:nvSpPr>
        <p:spPr>
          <a:xfrm>
            <a:off x="8172360" y="6480000"/>
            <a:ext cx="539640" cy="359640"/>
          </a:xfrm>
          <a:prstGeom prst="rect">
            <a:avLst/>
          </a:prstGeom>
          <a:noFill/>
          <a:ln>
            <a:noFill/>
          </a:ln>
        </p:spPr>
        <p:txBody>
          <a:bodyPr lIns="90000" rIns="90000" tIns="45000" bIns="45000">
            <a:noAutofit/>
          </a:bodyPr>
          <a:p>
            <a:pPr algn="r">
              <a:lnSpc>
                <a:spcPct val="100000"/>
              </a:lnSpc>
            </a:pPr>
            <a:fld id="{35DEFCF3-8AD4-464B-8973-EA89C45FBE33}" type="slidenum">
              <a:rPr b="0" lang="fr-FR" sz="900" spc="-1" strike="noStrike">
                <a:solidFill>
                  <a:srgbClr val="205aa7"/>
                </a:solidFill>
                <a:latin typeface="Calibri"/>
              </a:rPr>
              <a:t>&lt;number&gt;</a:t>
            </a:fld>
            <a:endParaRPr b="0" lang="fr-FR" sz="900" spc="-1" strike="noStrike">
              <a:latin typeface="Times New Roman"/>
            </a:endParaRPr>
          </a:p>
        </p:txBody>
      </p:sp>
      <p:sp>
        <p:nvSpPr>
          <p:cNvPr id="514" name="TextShape 4"/>
          <p:cNvSpPr txBox="1"/>
          <p:nvPr/>
        </p:nvSpPr>
        <p:spPr>
          <a:xfrm>
            <a:off x="468000" y="1440000"/>
            <a:ext cx="8229240" cy="4525560"/>
          </a:xfrm>
          <a:prstGeom prst="rect">
            <a:avLst/>
          </a:prstGeom>
          <a:noFill/>
          <a:ln>
            <a:noFill/>
          </a:ln>
        </p:spPr>
        <p:txBody>
          <a:bodyPr>
            <a:normAutofit/>
          </a:bodyPr>
          <a:p>
            <a:pPr algn="ctr">
              <a:lnSpc>
                <a:spcPct val="100000"/>
              </a:lnSpc>
              <a:spcBef>
                <a:spcPts val="400"/>
              </a:spcBef>
              <a:tabLst>
                <a:tab algn="l" pos="0"/>
              </a:tabLst>
            </a:pPr>
            <a:r>
              <a:rPr b="1" lang="fr-FR" sz="2000" spc="-1" strike="noStrike">
                <a:solidFill>
                  <a:srgbClr val="205aa7"/>
                </a:solidFill>
                <a:latin typeface="Calibri"/>
              </a:rPr>
              <a:t>Étape 5 – Analyse de la liquidité</a:t>
            </a:r>
            <a:endParaRPr b="0" lang="fr-FR" sz="2000" spc="-1" strike="noStrike">
              <a:solidFill>
                <a:srgbClr val="205aa7"/>
              </a:solidFill>
              <a:latin typeface="Calibri"/>
            </a:endParaRPr>
          </a:p>
          <a:p>
            <a:pPr algn="ctr">
              <a:lnSpc>
                <a:spcPct val="100000"/>
              </a:lnSpc>
              <a:spcBef>
                <a:spcPts val="201"/>
              </a:spcBef>
              <a:tabLst>
                <a:tab algn="l" pos="0"/>
              </a:tabLst>
            </a:pPr>
            <a:endParaRPr b="0" lang="fr-FR" sz="2000" spc="-1" strike="noStrike">
              <a:solidFill>
                <a:srgbClr val="205aa7"/>
              </a:solidFill>
              <a:latin typeface="Calibri"/>
            </a:endParaRPr>
          </a:p>
          <a:p>
            <a:pPr marL="114480" algn="ctr">
              <a:lnSpc>
                <a:spcPct val="100000"/>
              </a:lnSpc>
              <a:spcBef>
                <a:spcPts val="400"/>
              </a:spcBef>
              <a:tabLst>
                <a:tab algn="l" pos="0"/>
              </a:tabLst>
            </a:pPr>
            <a:r>
              <a:rPr b="0" lang="fr-FR" sz="2000" spc="-1" strike="noStrike" u="sng">
                <a:solidFill>
                  <a:srgbClr val="205aa7"/>
                </a:solidFill>
                <a:uFillTx/>
                <a:latin typeface="Calibri"/>
              </a:rPr>
              <a:t>Phase 3 : analyse prospective</a:t>
            </a:r>
            <a:endParaRPr b="0" lang="fr-FR" sz="2000" spc="-1" strike="noStrike">
              <a:solidFill>
                <a:srgbClr val="205aa7"/>
              </a:solidFill>
              <a:latin typeface="Calibri"/>
            </a:endParaRPr>
          </a:p>
          <a:p>
            <a:pPr marL="252000" indent="-251640" algn="just">
              <a:lnSpc>
                <a:spcPct val="100000"/>
              </a:lnSpc>
              <a:spcBef>
                <a:spcPts val="400"/>
              </a:spcBef>
              <a:buClr>
                <a:srgbClr val="205aa7"/>
              </a:buClr>
              <a:buFont typeface="Wingdings" charset="2"/>
              <a:buChar char=""/>
              <a:tabLst>
                <a:tab algn="l" pos="0"/>
              </a:tabLst>
            </a:pPr>
            <a:r>
              <a:rPr b="0" lang="fr-FR" sz="2000" spc="-1" strike="noStrike">
                <a:solidFill>
                  <a:srgbClr val="205aa7"/>
                </a:solidFill>
                <a:latin typeface="Calibri"/>
              </a:rPr>
              <a:t>L’objectif est d’anticiper à un horizon de 24 mois l’évolution de la trésorerie afin de mettre en exergue une éventuelle impasse de liquidité. Il s’agit de déterminer la capacité du groupe à dégager des ressources internes par sa propre activité en N+1 et N+2.</a:t>
            </a:r>
            <a:endParaRPr b="0" lang="fr-FR" sz="2000" spc="-1" strike="noStrike">
              <a:solidFill>
                <a:srgbClr val="205aa7"/>
              </a:solidFill>
              <a:latin typeface="Calibri"/>
            </a:endParaRPr>
          </a:p>
          <a:p>
            <a:pPr marL="252000" indent="-251640" algn="just">
              <a:lnSpc>
                <a:spcPct val="100000"/>
              </a:lnSpc>
              <a:spcBef>
                <a:spcPts val="400"/>
              </a:spcBef>
              <a:buClr>
                <a:srgbClr val="205aa7"/>
              </a:buClr>
              <a:buFont typeface="Wingdings" charset="2"/>
              <a:buChar char=""/>
              <a:tabLst>
                <a:tab algn="l" pos="0"/>
              </a:tabLst>
            </a:pPr>
            <a:r>
              <a:rPr b="0" lang="fr-FR" sz="2000" spc="-1" strike="noStrike">
                <a:solidFill>
                  <a:srgbClr val="205aa7"/>
                </a:solidFill>
                <a:latin typeface="Calibri"/>
              </a:rPr>
              <a:t>Les Indicateurs :</a:t>
            </a:r>
            <a:endParaRPr b="0" lang="fr-FR" sz="2000" spc="-1" strike="noStrike">
              <a:solidFill>
                <a:srgbClr val="205aa7"/>
              </a:solidFill>
              <a:latin typeface="Calibri"/>
            </a:endParaRPr>
          </a:p>
          <a:p>
            <a:pPr lvl="1" marL="743040" indent="-285480" algn="just">
              <a:lnSpc>
                <a:spcPct val="100000"/>
              </a:lnSpc>
              <a:spcBef>
                <a:spcPts val="360"/>
              </a:spcBef>
              <a:buClr>
                <a:srgbClr val="205aa7"/>
              </a:buClr>
              <a:buFont typeface="Arial"/>
              <a:buChar char="–"/>
              <a:tabLst>
                <a:tab algn="l" pos="0"/>
              </a:tabLst>
            </a:pPr>
            <a:r>
              <a:rPr b="0" lang="fr-FR" sz="1800" spc="-1" strike="noStrike">
                <a:solidFill>
                  <a:srgbClr val="205aa7"/>
                </a:solidFill>
                <a:latin typeface="Calibri"/>
              </a:rPr>
              <a:t>Flux de trésorerie disponible (FTD = FTA – Investissements de maintien – Dividendes) N+1 estimé</a:t>
            </a:r>
            <a:endParaRPr b="0" lang="fr-FR" sz="1800" spc="-1" strike="noStrike">
              <a:solidFill>
                <a:srgbClr val="595959"/>
              </a:solidFill>
              <a:latin typeface="Calibri"/>
            </a:endParaRPr>
          </a:p>
          <a:p>
            <a:pPr lvl="1" marL="743040" indent="-285480" algn="just">
              <a:lnSpc>
                <a:spcPct val="100000"/>
              </a:lnSpc>
              <a:spcBef>
                <a:spcPts val="360"/>
              </a:spcBef>
              <a:buClr>
                <a:srgbClr val="205aa7"/>
              </a:buClr>
              <a:buFont typeface="Arial"/>
              <a:buChar char="–"/>
              <a:tabLst>
                <a:tab algn="l" pos="0"/>
              </a:tabLst>
            </a:pPr>
            <a:r>
              <a:rPr b="0" lang="fr-FR" sz="1800" spc="-1" strike="noStrike">
                <a:solidFill>
                  <a:srgbClr val="205aa7"/>
                </a:solidFill>
                <a:latin typeface="Calibri"/>
              </a:rPr>
              <a:t>Ressources N+1 – Échéance MLT N+1 &gt; 0 </a:t>
            </a:r>
            <a:endParaRPr b="0" lang="fr-FR" sz="1800" spc="-1" strike="noStrike">
              <a:solidFill>
                <a:srgbClr val="595959"/>
              </a:solidFill>
              <a:latin typeface="Calibri"/>
            </a:endParaRPr>
          </a:p>
          <a:p>
            <a:pPr lvl="1" marL="743040" indent="-285480" algn="just">
              <a:lnSpc>
                <a:spcPct val="100000"/>
              </a:lnSpc>
              <a:spcBef>
                <a:spcPts val="360"/>
              </a:spcBef>
              <a:buClr>
                <a:srgbClr val="205aa7"/>
              </a:buClr>
              <a:buFont typeface="Arial"/>
              <a:buChar char="–"/>
              <a:tabLst>
                <a:tab algn="l" pos="0"/>
              </a:tabLst>
            </a:pPr>
            <a:r>
              <a:rPr b="0" lang="fr-FR" sz="1800" spc="-1" strike="noStrike">
                <a:solidFill>
                  <a:srgbClr val="205aa7"/>
                </a:solidFill>
                <a:latin typeface="Calibri"/>
              </a:rPr>
              <a:t>Ressources N+2 – Échéance MLT N+2 &gt; 0</a:t>
            </a:r>
            <a:endParaRPr b="0" lang="fr-FR" sz="1800" spc="-1" strike="noStrike">
              <a:solidFill>
                <a:srgbClr val="595959"/>
              </a:solidFill>
              <a:latin typeface="Calibri"/>
            </a:endParaRPr>
          </a:p>
          <a:p>
            <a:pPr>
              <a:lnSpc>
                <a:spcPct val="100000"/>
              </a:lnSpc>
              <a:spcBef>
                <a:spcPts val="400"/>
              </a:spcBef>
              <a:tabLst>
                <a:tab algn="l" pos="0"/>
              </a:tabLst>
            </a:pPr>
            <a:endParaRPr b="0" lang="fr-FR" sz="1800" spc="-1" strike="noStrike">
              <a:solidFill>
                <a:srgbClr val="205aa7"/>
              </a:solidFill>
              <a:latin typeface="Calibri"/>
            </a:endParaRPr>
          </a:p>
        </p:txBody>
      </p:sp>
    </p:spTree>
  </p:cSld>
  <mc:AlternateContent>
    <mc:Choice Requires="p14">
      <p:transition spd="slow" p14:dur="2000"/>
    </mc:Choice>
    <mc:Fallback>
      <p:transition spd="slow"/>
    </mc:Fallback>
  </mc:AlternateContent>
</p:sld>
</file>

<file path=ppt/slides/slide9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5" name="TextShape 1"/>
          <p:cNvSpPr txBox="1"/>
          <p:nvPr/>
        </p:nvSpPr>
        <p:spPr>
          <a:xfrm>
            <a:off x="468000" y="0"/>
            <a:ext cx="8229240" cy="1142640"/>
          </a:xfrm>
          <a:prstGeom prst="rect">
            <a:avLst/>
          </a:prstGeom>
          <a:noFill/>
          <a:ln>
            <a:noFill/>
          </a:ln>
        </p:spPr>
        <p:txBody>
          <a:bodyPr anchor="ctr">
            <a:noAutofit/>
          </a:bodyPr>
          <a:p>
            <a:pPr>
              <a:lnSpc>
                <a:spcPct val="100000"/>
              </a:lnSpc>
            </a:pPr>
            <a:r>
              <a:rPr b="1" lang="fr-FR" sz="2400" spc="-1" strike="noStrike" cap="all">
                <a:solidFill>
                  <a:srgbClr val="ffffff"/>
                </a:solidFill>
                <a:latin typeface="Calibri"/>
              </a:rPr>
              <a:t>3. L’analyse financière des comptes consolidés</a:t>
            </a:r>
            <a:endParaRPr b="0" lang="fr-FR" sz="2400" spc="-1" strike="noStrike">
              <a:solidFill>
                <a:srgbClr val="000000"/>
              </a:solidFill>
              <a:latin typeface="Calibri"/>
            </a:endParaRPr>
          </a:p>
        </p:txBody>
      </p:sp>
      <p:sp>
        <p:nvSpPr>
          <p:cNvPr id="516" name="TextShape 2"/>
          <p:cNvSpPr txBox="1"/>
          <p:nvPr/>
        </p:nvSpPr>
        <p:spPr>
          <a:xfrm>
            <a:off x="3124080" y="6480000"/>
            <a:ext cx="4975920" cy="359640"/>
          </a:xfrm>
          <a:prstGeom prst="rect">
            <a:avLst/>
          </a:prstGeom>
          <a:noFill/>
          <a:ln>
            <a:noFill/>
          </a:ln>
        </p:spPr>
        <p:txBody>
          <a:bodyPr>
            <a:noAutofit/>
          </a:bodyPr>
          <a:p>
            <a:endParaRPr b="0" lang="fr-FR" sz="2400" spc="-1" strike="noStrike">
              <a:latin typeface="Times New Roman"/>
            </a:endParaRPr>
          </a:p>
        </p:txBody>
      </p:sp>
      <p:sp>
        <p:nvSpPr>
          <p:cNvPr id="517" name="TextShape 3"/>
          <p:cNvSpPr txBox="1"/>
          <p:nvPr/>
        </p:nvSpPr>
        <p:spPr>
          <a:xfrm>
            <a:off x="8172360" y="6480000"/>
            <a:ext cx="539640" cy="359640"/>
          </a:xfrm>
          <a:prstGeom prst="rect">
            <a:avLst/>
          </a:prstGeom>
          <a:noFill/>
          <a:ln>
            <a:noFill/>
          </a:ln>
        </p:spPr>
        <p:txBody>
          <a:bodyPr lIns="90000" rIns="90000" tIns="45000" bIns="45000">
            <a:noAutofit/>
          </a:bodyPr>
          <a:p>
            <a:pPr algn="r">
              <a:lnSpc>
                <a:spcPct val="100000"/>
              </a:lnSpc>
            </a:pPr>
            <a:fld id="{883650DB-5CF5-407E-BBAB-2E70D4F2F3C5}" type="slidenum">
              <a:rPr b="0" lang="fr-FR" sz="900" spc="-1" strike="noStrike">
                <a:solidFill>
                  <a:srgbClr val="205aa7"/>
                </a:solidFill>
                <a:latin typeface="Calibri"/>
              </a:rPr>
              <a:t>&lt;number&gt;</a:t>
            </a:fld>
            <a:endParaRPr b="0" lang="fr-FR" sz="900" spc="-1" strike="noStrike">
              <a:latin typeface="Times New Roman"/>
            </a:endParaRPr>
          </a:p>
        </p:txBody>
      </p:sp>
      <p:sp>
        <p:nvSpPr>
          <p:cNvPr id="518" name="TextShape 4"/>
          <p:cNvSpPr txBox="1"/>
          <p:nvPr/>
        </p:nvSpPr>
        <p:spPr>
          <a:xfrm>
            <a:off x="468000" y="1440000"/>
            <a:ext cx="8229240" cy="4525560"/>
          </a:xfrm>
          <a:prstGeom prst="rect">
            <a:avLst/>
          </a:prstGeom>
          <a:noFill/>
          <a:ln>
            <a:noFill/>
          </a:ln>
        </p:spPr>
        <p:txBody>
          <a:bodyPr>
            <a:normAutofit fontScale="94000"/>
          </a:bodyPr>
          <a:p>
            <a:pPr algn="ctr">
              <a:lnSpc>
                <a:spcPct val="100000"/>
              </a:lnSpc>
              <a:spcBef>
                <a:spcPts val="400"/>
              </a:spcBef>
              <a:tabLst>
                <a:tab algn="l" pos="0"/>
              </a:tabLst>
            </a:pPr>
            <a:r>
              <a:rPr b="1" lang="fr-FR" sz="2000" spc="-1" strike="noStrike">
                <a:solidFill>
                  <a:srgbClr val="205aa7"/>
                </a:solidFill>
                <a:latin typeface="Calibri"/>
              </a:rPr>
              <a:t>Étape 5 – Analyse de la liquidité</a:t>
            </a:r>
            <a:endParaRPr b="0" lang="fr-FR" sz="2000" spc="-1" strike="noStrike">
              <a:solidFill>
                <a:srgbClr val="205aa7"/>
              </a:solidFill>
              <a:latin typeface="Calibri"/>
            </a:endParaRPr>
          </a:p>
          <a:p>
            <a:pPr algn="ctr">
              <a:lnSpc>
                <a:spcPct val="100000"/>
              </a:lnSpc>
              <a:spcBef>
                <a:spcPts val="201"/>
              </a:spcBef>
              <a:tabLst>
                <a:tab algn="l" pos="0"/>
              </a:tabLst>
            </a:pPr>
            <a:endParaRPr b="0" lang="fr-FR" sz="2000" spc="-1" strike="noStrike">
              <a:solidFill>
                <a:srgbClr val="205aa7"/>
              </a:solidFill>
              <a:latin typeface="Calibri"/>
            </a:endParaRPr>
          </a:p>
          <a:p>
            <a:pPr marL="114480" algn="ctr">
              <a:lnSpc>
                <a:spcPct val="100000"/>
              </a:lnSpc>
              <a:spcBef>
                <a:spcPts val="400"/>
              </a:spcBef>
              <a:tabLst>
                <a:tab algn="l" pos="0"/>
              </a:tabLst>
            </a:pPr>
            <a:r>
              <a:rPr b="0" lang="fr-FR" sz="2000" spc="-1" strike="noStrike" u="sng">
                <a:solidFill>
                  <a:srgbClr val="205aa7"/>
                </a:solidFill>
                <a:uFillTx/>
                <a:latin typeface="Calibri"/>
              </a:rPr>
              <a:t>Phase 4 : analyse des risques financiers</a:t>
            </a:r>
            <a:endParaRPr b="0" lang="fr-FR" sz="2000" spc="-1" strike="noStrike">
              <a:solidFill>
                <a:srgbClr val="205aa7"/>
              </a:solidFill>
              <a:latin typeface="Calibri"/>
            </a:endParaRPr>
          </a:p>
          <a:p>
            <a:pPr algn="just">
              <a:lnSpc>
                <a:spcPct val="100000"/>
              </a:lnSpc>
              <a:spcBef>
                <a:spcPts val="400"/>
              </a:spcBef>
              <a:tabLst>
                <a:tab algn="l" pos="0"/>
              </a:tabLst>
            </a:pPr>
            <a:r>
              <a:rPr b="0" lang="fr-FR" sz="2000" spc="-1" strike="noStrike">
                <a:solidFill>
                  <a:srgbClr val="205aa7"/>
                </a:solidFill>
                <a:latin typeface="Calibri"/>
              </a:rPr>
              <a:t>L’objectif est de déterminer le degré d’exposition du groupe aux risques financiers.</a:t>
            </a:r>
            <a:endParaRPr b="0" lang="fr-FR" sz="2000" spc="-1" strike="noStrike">
              <a:solidFill>
                <a:srgbClr val="205aa7"/>
              </a:solidFill>
              <a:latin typeface="Calibri"/>
            </a:endParaRPr>
          </a:p>
          <a:p>
            <a:pPr marL="252000" indent="-251640" algn="just">
              <a:lnSpc>
                <a:spcPct val="100000"/>
              </a:lnSpc>
              <a:spcBef>
                <a:spcPts val="400"/>
              </a:spcBef>
              <a:buClr>
                <a:srgbClr val="205aa7"/>
              </a:buClr>
              <a:buFont typeface="Wingdings" charset="2"/>
              <a:buChar char=""/>
              <a:tabLst>
                <a:tab algn="l" pos="0"/>
              </a:tabLst>
            </a:pPr>
            <a:r>
              <a:rPr b="1" lang="fr-FR" sz="2000" spc="-1" strike="noStrike">
                <a:solidFill>
                  <a:srgbClr val="205aa7"/>
                </a:solidFill>
                <a:latin typeface="Calibri"/>
              </a:rPr>
              <a:t>Risque de taux </a:t>
            </a:r>
            <a:r>
              <a:rPr b="0" lang="fr-FR" sz="2000" spc="-1" strike="noStrike">
                <a:solidFill>
                  <a:srgbClr val="205aa7"/>
                </a:solidFill>
                <a:latin typeface="Calibri"/>
              </a:rPr>
              <a:t>: impact d’une hausse des taux d’intérêt et appréciation du degré de couverture.</a:t>
            </a:r>
            <a:endParaRPr b="0" lang="fr-FR" sz="2000" spc="-1" strike="noStrike">
              <a:solidFill>
                <a:srgbClr val="205aa7"/>
              </a:solidFill>
              <a:latin typeface="Calibri"/>
            </a:endParaRPr>
          </a:p>
          <a:p>
            <a:pPr marL="252000" indent="-251640" algn="just">
              <a:lnSpc>
                <a:spcPct val="100000"/>
              </a:lnSpc>
              <a:spcBef>
                <a:spcPts val="400"/>
              </a:spcBef>
              <a:buClr>
                <a:srgbClr val="205aa7"/>
              </a:buClr>
              <a:buFont typeface="Wingdings" charset="2"/>
              <a:buChar char=""/>
              <a:tabLst>
                <a:tab algn="l" pos="0"/>
              </a:tabLst>
            </a:pPr>
            <a:r>
              <a:rPr b="1" lang="fr-FR" sz="2000" spc="-1" strike="noStrike">
                <a:solidFill>
                  <a:srgbClr val="205aa7"/>
                </a:solidFill>
                <a:latin typeface="Calibri"/>
              </a:rPr>
              <a:t>Risque de change </a:t>
            </a:r>
            <a:r>
              <a:rPr b="0" lang="fr-FR" sz="2000" spc="-1" strike="noStrike">
                <a:solidFill>
                  <a:srgbClr val="205aa7"/>
                </a:solidFill>
                <a:latin typeface="Calibri"/>
              </a:rPr>
              <a:t>: degré d’exposition du chiffre d’affaires et des achats notamment à une variation du taux de change et appréciation du degré de couverture.</a:t>
            </a:r>
            <a:endParaRPr b="0" lang="fr-FR" sz="2000" spc="-1" strike="noStrike">
              <a:solidFill>
                <a:srgbClr val="205aa7"/>
              </a:solidFill>
              <a:latin typeface="Calibri"/>
            </a:endParaRPr>
          </a:p>
          <a:p>
            <a:pPr marL="252000" indent="-251640" algn="just">
              <a:lnSpc>
                <a:spcPct val="100000"/>
              </a:lnSpc>
              <a:spcBef>
                <a:spcPts val="400"/>
              </a:spcBef>
              <a:buClr>
                <a:srgbClr val="205aa7"/>
              </a:buClr>
              <a:buFont typeface="Wingdings" charset="2"/>
              <a:buChar char=""/>
              <a:tabLst>
                <a:tab algn="l" pos="0"/>
              </a:tabLst>
            </a:pPr>
            <a:r>
              <a:rPr b="1" lang="fr-FR" sz="2000" spc="-1" strike="noStrike">
                <a:solidFill>
                  <a:srgbClr val="205aa7"/>
                </a:solidFill>
                <a:latin typeface="Calibri"/>
              </a:rPr>
              <a:t>Risque de matières premières</a:t>
            </a:r>
            <a:r>
              <a:rPr b="0" lang="fr-FR" sz="2000" spc="-1" strike="noStrike">
                <a:solidFill>
                  <a:srgbClr val="205aa7"/>
                </a:solidFill>
                <a:latin typeface="Calibri"/>
              </a:rPr>
              <a:t> : capacité à répercuter une hausse des cours dans les prix de vente et appréciation du degré de couverture.</a:t>
            </a:r>
            <a:endParaRPr b="0" lang="fr-FR" sz="2000" spc="-1" strike="noStrike">
              <a:solidFill>
                <a:srgbClr val="205aa7"/>
              </a:solidFill>
              <a:latin typeface="Calibri"/>
            </a:endParaRPr>
          </a:p>
          <a:p>
            <a:pPr marL="252000" indent="-251640" algn="just">
              <a:lnSpc>
                <a:spcPct val="100000"/>
              </a:lnSpc>
              <a:spcBef>
                <a:spcPts val="400"/>
              </a:spcBef>
              <a:buClr>
                <a:srgbClr val="205aa7"/>
              </a:buClr>
              <a:buFont typeface="Wingdings" charset="2"/>
              <a:buChar char=""/>
              <a:tabLst>
                <a:tab algn="l" pos="0"/>
              </a:tabLst>
            </a:pPr>
            <a:r>
              <a:rPr b="1" lang="fr-FR" sz="2000" spc="-1" strike="noStrike">
                <a:solidFill>
                  <a:srgbClr val="205aa7"/>
                </a:solidFill>
                <a:latin typeface="Calibri"/>
              </a:rPr>
              <a:t>Autres risques </a:t>
            </a:r>
            <a:r>
              <a:rPr b="0" lang="fr-FR" sz="2000" spc="-1" strike="noStrike">
                <a:solidFill>
                  <a:srgbClr val="205aa7"/>
                </a:solidFill>
                <a:latin typeface="Calibri"/>
              </a:rPr>
              <a:t>: bris de covenant, environnementaux, de contrepartie…</a:t>
            </a:r>
            <a:endParaRPr b="0" lang="fr-FR" sz="2000" spc="-1" strike="noStrike">
              <a:solidFill>
                <a:srgbClr val="205aa7"/>
              </a:solidFill>
              <a:latin typeface="Calibri"/>
            </a:endParaRPr>
          </a:p>
        </p:txBody>
      </p:sp>
    </p:spTree>
  </p:cSld>
  <mc:AlternateContent>
    <mc:Choice Requires="p14">
      <p:transition spd="slow" p14:dur="2000"/>
    </mc:Choice>
    <mc:Fallback>
      <p:transition spd="slow"/>
    </mc:Fallback>
  </mc:AlternateContent>
</p:sld>
</file>

<file path=ppt/slides/slide9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9" name="TextShape 1"/>
          <p:cNvSpPr txBox="1"/>
          <p:nvPr/>
        </p:nvSpPr>
        <p:spPr>
          <a:xfrm>
            <a:off x="468000" y="0"/>
            <a:ext cx="8229240" cy="1142640"/>
          </a:xfrm>
          <a:prstGeom prst="rect">
            <a:avLst/>
          </a:prstGeom>
          <a:noFill/>
          <a:ln>
            <a:noFill/>
          </a:ln>
        </p:spPr>
        <p:txBody>
          <a:bodyPr anchor="ctr">
            <a:noAutofit/>
          </a:bodyPr>
          <a:p>
            <a:pPr>
              <a:lnSpc>
                <a:spcPct val="100000"/>
              </a:lnSpc>
            </a:pPr>
            <a:r>
              <a:rPr b="1" lang="fr-FR" sz="2400" spc="-1" strike="noStrike" cap="all">
                <a:solidFill>
                  <a:srgbClr val="ffffff"/>
                </a:solidFill>
                <a:latin typeface="Calibri"/>
              </a:rPr>
              <a:t>3. L’analyse financière des comptes consolidés</a:t>
            </a:r>
            <a:endParaRPr b="0" lang="fr-FR" sz="2400" spc="-1" strike="noStrike">
              <a:solidFill>
                <a:srgbClr val="000000"/>
              </a:solidFill>
              <a:latin typeface="Calibri"/>
            </a:endParaRPr>
          </a:p>
        </p:txBody>
      </p:sp>
      <p:sp>
        <p:nvSpPr>
          <p:cNvPr id="520" name="TextShape 2"/>
          <p:cNvSpPr txBox="1"/>
          <p:nvPr/>
        </p:nvSpPr>
        <p:spPr>
          <a:xfrm>
            <a:off x="3124080" y="6480000"/>
            <a:ext cx="4975920" cy="359640"/>
          </a:xfrm>
          <a:prstGeom prst="rect">
            <a:avLst/>
          </a:prstGeom>
          <a:noFill/>
          <a:ln>
            <a:noFill/>
          </a:ln>
        </p:spPr>
        <p:txBody>
          <a:bodyPr>
            <a:noAutofit/>
          </a:bodyPr>
          <a:p>
            <a:endParaRPr b="0" lang="fr-FR" sz="2400" spc="-1" strike="noStrike">
              <a:latin typeface="Times New Roman"/>
            </a:endParaRPr>
          </a:p>
        </p:txBody>
      </p:sp>
      <p:sp>
        <p:nvSpPr>
          <p:cNvPr id="521" name="TextShape 3"/>
          <p:cNvSpPr txBox="1"/>
          <p:nvPr/>
        </p:nvSpPr>
        <p:spPr>
          <a:xfrm>
            <a:off x="8172360" y="6480000"/>
            <a:ext cx="539640" cy="359640"/>
          </a:xfrm>
          <a:prstGeom prst="rect">
            <a:avLst/>
          </a:prstGeom>
          <a:noFill/>
          <a:ln>
            <a:noFill/>
          </a:ln>
        </p:spPr>
        <p:txBody>
          <a:bodyPr lIns="90000" rIns="90000" tIns="45000" bIns="45000">
            <a:noAutofit/>
          </a:bodyPr>
          <a:p>
            <a:pPr algn="r">
              <a:lnSpc>
                <a:spcPct val="100000"/>
              </a:lnSpc>
            </a:pPr>
            <a:fld id="{63CD930E-B2CA-411D-8C55-14A6F772AA09}" type="slidenum">
              <a:rPr b="0" lang="fr-FR" sz="900" spc="-1" strike="noStrike">
                <a:solidFill>
                  <a:srgbClr val="205aa7"/>
                </a:solidFill>
                <a:latin typeface="Calibri"/>
              </a:rPr>
              <a:t>&lt;number&gt;</a:t>
            </a:fld>
            <a:endParaRPr b="0" lang="fr-FR" sz="900" spc="-1" strike="noStrike">
              <a:latin typeface="Times New Roman"/>
            </a:endParaRPr>
          </a:p>
        </p:txBody>
      </p:sp>
      <p:sp>
        <p:nvSpPr>
          <p:cNvPr id="522" name="TextShape 4"/>
          <p:cNvSpPr txBox="1"/>
          <p:nvPr/>
        </p:nvSpPr>
        <p:spPr>
          <a:xfrm>
            <a:off x="468000" y="1440000"/>
            <a:ext cx="8229240" cy="4525560"/>
          </a:xfrm>
          <a:prstGeom prst="rect">
            <a:avLst/>
          </a:prstGeom>
          <a:noFill/>
          <a:ln>
            <a:noFill/>
          </a:ln>
        </p:spPr>
        <p:txBody>
          <a:bodyPr>
            <a:normAutofit/>
          </a:bodyPr>
          <a:p>
            <a:pPr algn="ctr">
              <a:lnSpc>
                <a:spcPct val="100000"/>
              </a:lnSpc>
              <a:spcBef>
                <a:spcPts val="400"/>
              </a:spcBef>
              <a:tabLst>
                <a:tab algn="l" pos="0"/>
              </a:tabLst>
            </a:pPr>
            <a:r>
              <a:rPr b="1" lang="fr-FR" sz="2000" spc="-1" strike="noStrike">
                <a:solidFill>
                  <a:srgbClr val="205aa7"/>
                </a:solidFill>
                <a:latin typeface="Calibri"/>
              </a:rPr>
              <a:t>Étape 5 – Analyse de la liquidité</a:t>
            </a:r>
            <a:endParaRPr b="0" lang="fr-FR" sz="2000" spc="-1" strike="noStrike">
              <a:solidFill>
                <a:srgbClr val="205aa7"/>
              </a:solidFill>
              <a:latin typeface="Calibri"/>
            </a:endParaRPr>
          </a:p>
          <a:p>
            <a:pPr algn="ctr">
              <a:lnSpc>
                <a:spcPct val="100000"/>
              </a:lnSpc>
              <a:spcBef>
                <a:spcPts val="201"/>
              </a:spcBef>
              <a:tabLst>
                <a:tab algn="l" pos="0"/>
              </a:tabLst>
            </a:pPr>
            <a:endParaRPr b="0" lang="fr-FR" sz="2000" spc="-1" strike="noStrike">
              <a:solidFill>
                <a:srgbClr val="205aa7"/>
              </a:solidFill>
              <a:latin typeface="Calibri"/>
            </a:endParaRPr>
          </a:p>
          <a:p>
            <a:pPr marL="114480" algn="ctr">
              <a:lnSpc>
                <a:spcPct val="100000"/>
              </a:lnSpc>
              <a:spcBef>
                <a:spcPts val="400"/>
              </a:spcBef>
              <a:tabLst>
                <a:tab algn="l" pos="0"/>
              </a:tabLst>
            </a:pPr>
            <a:r>
              <a:rPr b="0" lang="fr-FR" sz="2000" spc="-1" strike="noStrike" u="sng">
                <a:solidFill>
                  <a:srgbClr val="205aa7"/>
                </a:solidFill>
                <a:uFillTx/>
                <a:latin typeface="Calibri"/>
              </a:rPr>
              <a:t>Appréciation finale du risque de liquidité</a:t>
            </a:r>
            <a:endParaRPr b="0" lang="fr-FR" sz="2000" spc="-1" strike="noStrike">
              <a:solidFill>
                <a:srgbClr val="205aa7"/>
              </a:solidFill>
              <a:latin typeface="Calibri"/>
            </a:endParaRPr>
          </a:p>
          <a:p>
            <a:pPr marL="252000" indent="-251640" algn="just">
              <a:lnSpc>
                <a:spcPct val="100000"/>
              </a:lnSpc>
              <a:spcBef>
                <a:spcPts val="400"/>
              </a:spcBef>
              <a:buClr>
                <a:srgbClr val="205aa7"/>
              </a:buClr>
              <a:buFont typeface="Wingdings" charset="2"/>
              <a:buChar char=""/>
              <a:tabLst>
                <a:tab algn="l" pos="0"/>
              </a:tabLst>
            </a:pPr>
            <a:r>
              <a:rPr b="0" lang="fr-FR" sz="2000" spc="-1" strike="noStrike">
                <a:solidFill>
                  <a:srgbClr val="205aa7"/>
                </a:solidFill>
                <a:latin typeface="Calibri"/>
              </a:rPr>
              <a:t>Le groupe est-il en mesure de faire face à ses engagements financiers dans les 24 mois ?</a:t>
            </a:r>
            <a:endParaRPr b="0" lang="fr-FR" sz="2000" spc="-1" strike="noStrike">
              <a:solidFill>
                <a:srgbClr val="205aa7"/>
              </a:solidFill>
              <a:latin typeface="Calibri"/>
            </a:endParaRPr>
          </a:p>
          <a:p>
            <a:pPr marL="252000" indent="-251640" algn="just">
              <a:lnSpc>
                <a:spcPct val="100000"/>
              </a:lnSpc>
              <a:spcBef>
                <a:spcPts val="400"/>
              </a:spcBef>
              <a:buClr>
                <a:srgbClr val="205aa7"/>
              </a:buClr>
              <a:buFont typeface="Wingdings" charset="2"/>
              <a:buChar char=""/>
              <a:tabLst>
                <a:tab algn="l" pos="0"/>
              </a:tabLst>
            </a:pPr>
            <a:r>
              <a:rPr b="0" lang="fr-FR" sz="2000" spc="-1" strike="noStrike">
                <a:solidFill>
                  <a:srgbClr val="205aa7"/>
                </a:solidFill>
                <a:latin typeface="Calibri"/>
              </a:rPr>
              <a:t>L’appréciation du risque de liquidité dépendra de :</a:t>
            </a:r>
            <a:endParaRPr b="0" lang="fr-FR" sz="2000" spc="-1" strike="noStrike">
              <a:solidFill>
                <a:srgbClr val="205aa7"/>
              </a:solidFill>
              <a:latin typeface="Calibri"/>
            </a:endParaRPr>
          </a:p>
          <a:p>
            <a:pPr lvl="1" marL="743040" indent="-285480" algn="just">
              <a:lnSpc>
                <a:spcPct val="100000"/>
              </a:lnSpc>
              <a:spcBef>
                <a:spcPts val="360"/>
              </a:spcBef>
              <a:buClr>
                <a:srgbClr val="205aa7"/>
              </a:buClr>
              <a:buFont typeface="Arial"/>
              <a:buChar char="–"/>
              <a:tabLst>
                <a:tab algn="l" pos="0"/>
              </a:tabLst>
            </a:pPr>
            <a:r>
              <a:rPr b="0" lang="fr-FR" sz="1800" spc="-1" strike="noStrike">
                <a:solidFill>
                  <a:srgbClr val="205aa7"/>
                </a:solidFill>
                <a:latin typeface="Calibri"/>
              </a:rPr>
              <a:t>la présence ou non de freins à la circulation des flux au sein du groupe et l’assurance que les entités endettées pourront capter le cash nécessaire pour faire face à leur engagement ;</a:t>
            </a:r>
            <a:endParaRPr b="0" lang="fr-FR" sz="1800" spc="-1" strike="noStrike">
              <a:solidFill>
                <a:srgbClr val="595959"/>
              </a:solidFill>
              <a:latin typeface="Calibri"/>
            </a:endParaRPr>
          </a:p>
          <a:p>
            <a:pPr lvl="1" marL="743040" indent="-285480" algn="just">
              <a:lnSpc>
                <a:spcPct val="100000"/>
              </a:lnSpc>
              <a:spcBef>
                <a:spcPts val="360"/>
              </a:spcBef>
              <a:buClr>
                <a:srgbClr val="205aa7"/>
              </a:buClr>
              <a:buFont typeface="Arial"/>
              <a:buChar char="–"/>
              <a:tabLst>
                <a:tab algn="l" pos="0"/>
              </a:tabLst>
            </a:pPr>
            <a:r>
              <a:rPr b="0" lang="fr-FR" sz="1800" spc="-1" strike="noStrike">
                <a:solidFill>
                  <a:srgbClr val="205aa7"/>
                </a:solidFill>
                <a:latin typeface="Calibri"/>
              </a:rPr>
              <a:t>la valeur des indicateurs de liquidité ;</a:t>
            </a:r>
            <a:endParaRPr b="0" lang="fr-FR" sz="1800" spc="-1" strike="noStrike">
              <a:solidFill>
                <a:srgbClr val="595959"/>
              </a:solidFill>
              <a:latin typeface="Calibri"/>
            </a:endParaRPr>
          </a:p>
          <a:p>
            <a:pPr lvl="1" marL="743040" indent="-285480" algn="just">
              <a:lnSpc>
                <a:spcPct val="100000"/>
              </a:lnSpc>
              <a:spcBef>
                <a:spcPts val="360"/>
              </a:spcBef>
              <a:buClr>
                <a:srgbClr val="205aa7"/>
              </a:buClr>
              <a:buFont typeface="Arial"/>
              <a:buChar char="–"/>
              <a:tabLst>
                <a:tab algn="l" pos="0"/>
              </a:tabLst>
            </a:pPr>
            <a:r>
              <a:rPr b="0" lang="fr-FR" sz="1800" spc="-1" strike="noStrike">
                <a:solidFill>
                  <a:srgbClr val="205aa7"/>
                </a:solidFill>
                <a:latin typeface="Calibri"/>
              </a:rPr>
              <a:t>la mise en évidence d’une insuffisance future de trésorerie ;</a:t>
            </a:r>
            <a:endParaRPr b="0" lang="fr-FR" sz="1800" spc="-1" strike="noStrike">
              <a:solidFill>
                <a:srgbClr val="595959"/>
              </a:solidFill>
              <a:latin typeface="Calibri"/>
            </a:endParaRPr>
          </a:p>
          <a:p>
            <a:pPr lvl="1" marL="743040" indent="-285480" algn="just">
              <a:lnSpc>
                <a:spcPct val="100000"/>
              </a:lnSpc>
              <a:spcBef>
                <a:spcPts val="360"/>
              </a:spcBef>
              <a:buClr>
                <a:srgbClr val="205aa7"/>
              </a:buClr>
              <a:buFont typeface="Arial"/>
              <a:buChar char="–"/>
              <a:tabLst>
                <a:tab algn="l" pos="0"/>
              </a:tabLst>
            </a:pPr>
            <a:r>
              <a:rPr b="0" lang="fr-FR" sz="1800" spc="-1" strike="noStrike">
                <a:solidFill>
                  <a:srgbClr val="205aa7"/>
                </a:solidFill>
                <a:latin typeface="Calibri"/>
              </a:rPr>
              <a:t>la flexibilité financière et la capacité du groupe à faire face à une trésorerie qui deviendra insuffisante.</a:t>
            </a:r>
            <a:endParaRPr b="0" lang="fr-FR" sz="1800" spc="-1" strike="noStrike">
              <a:solidFill>
                <a:srgbClr val="595959"/>
              </a:solidFill>
              <a:latin typeface="Calibri"/>
            </a:endParaRPr>
          </a:p>
        </p:txBody>
      </p:sp>
    </p:spTree>
  </p:cSld>
  <mc:AlternateContent>
    <mc:Choice Requires="p14">
      <p:transition spd="slow" p14:dur="2000"/>
    </mc:Choice>
    <mc:Fallback>
      <p:transition spd="slow"/>
    </mc:Fallback>
  </mc:AlternateContent>
</p:sld>
</file>

<file path=ppt/slides/slide9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3" name="TextShape 1"/>
          <p:cNvSpPr txBox="1"/>
          <p:nvPr/>
        </p:nvSpPr>
        <p:spPr>
          <a:xfrm>
            <a:off x="468000" y="0"/>
            <a:ext cx="8229240" cy="1142640"/>
          </a:xfrm>
          <a:prstGeom prst="rect">
            <a:avLst/>
          </a:prstGeom>
          <a:noFill/>
          <a:ln>
            <a:noFill/>
          </a:ln>
        </p:spPr>
        <p:txBody>
          <a:bodyPr anchor="ctr">
            <a:noAutofit/>
          </a:bodyPr>
          <a:p>
            <a:pPr>
              <a:lnSpc>
                <a:spcPct val="100000"/>
              </a:lnSpc>
            </a:pPr>
            <a:r>
              <a:rPr b="1" lang="fr-FR" sz="2400" spc="-1" strike="noStrike" cap="all">
                <a:solidFill>
                  <a:srgbClr val="ffffff"/>
                </a:solidFill>
                <a:latin typeface="Calibri"/>
              </a:rPr>
              <a:t>3. L’analyse financière des comptes consolidés</a:t>
            </a:r>
            <a:endParaRPr b="0" lang="fr-FR" sz="2400" spc="-1" strike="noStrike">
              <a:solidFill>
                <a:srgbClr val="000000"/>
              </a:solidFill>
              <a:latin typeface="Calibri"/>
            </a:endParaRPr>
          </a:p>
        </p:txBody>
      </p:sp>
      <p:sp>
        <p:nvSpPr>
          <p:cNvPr id="524" name="TextShape 2"/>
          <p:cNvSpPr txBox="1"/>
          <p:nvPr/>
        </p:nvSpPr>
        <p:spPr>
          <a:xfrm>
            <a:off x="3124080" y="6480000"/>
            <a:ext cx="4975920" cy="359640"/>
          </a:xfrm>
          <a:prstGeom prst="rect">
            <a:avLst/>
          </a:prstGeom>
          <a:noFill/>
          <a:ln>
            <a:noFill/>
          </a:ln>
        </p:spPr>
        <p:txBody>
          <a:bodyPr>
            <a:noAutofit/>
          </a:bodyPr>
          <a:p>
            <a:endParaRPr b="0" lang="fr-FR" sz="2400" spc="-1" strike="noStrike">
              <a:latin typeface="Times New Roman"/>
            </a:endParaRPr>
          </a:p>
        </p:txBody>
      </p:sp>
      <p:sp>
        <p:nvSpPr>
          <p:cNvPr id="525" name="TextShape 3"/>
          <p:cNvSpPr txBox="1"/>
          <p:nvPr/>
        </p:nvSpPr>
        <p:spPr>
          <a:xfrm>
            <a:off x="8172360" y="6480000"/>
            <a:ext cx="539640" cy="359640"/>
          </a:xfrm>
          <a:prstGeom prst="rect">
            <a:avLst/>
          </a:prstGeom>
          <a:noFill/>
          <a:ln>
            <a:noFill/>
          </a:ln>
        </p:spPr>
        <p:txBody>
          <a:bodyPr lIns="90000" rIns="90000" tIns="45000" bIns="45000">
            <a:noAutofit/>
          </a:bodyPr>
          <a:p>
            <a:pPr algn="r">
              <a:lnSpc>
                <a:spcPct val="100000"/>
              </a:lnSpc>
            </a:pPr>
            <a:fld id="{B6B4B3A5-1213-4BAF-8A50-70ABB7F8173C}" type="slidenum">
              <a:rPr b="0" lang="fr-FR" sz="900" spc="-1" strike="noStrike">
                <a:solidFill>
                  <a:srgbClr val="205aa7"/>
                </a:solidFill>
                <a:latin typeface="Calibri"/>
              </a:rPr>
              <a:t>&lt;number&gt;</a:t>
            </a:fld>
            <a:endParaRPr b="0" lang="fr-FR" sz="900" spc="-1" strike="noStrike">
              <a:latin typeface="Times New Roman"/>
            </a:endParaRPr>
          </a:p>
        </p:txBody>
      </p:sp>
      <p:sp>
        <p:nvSpPr>
          <p:cNvPr id="526" name="TextShape 4"/>
          <p:cNvSpPr txBox="1"/>
          <p:nvPr/>
        </p:nvSpPr>
        <p:spPr>
          <a:xfrm>
            <a:off x="468000" y="1440000"/>
            <a:ext cx="8229240" cy="4525560"/>
          </a:xfrm>
          <a:prstGeom prst="rect">
            <a:avLst/>
          </a:prstGeom>
          <a:noFill/>
          <a:ln>
            <a:noFill/>
          </a:ln>
        </p:spPr>
        <p:txBody>
          <a:bodyPr>
            <a:normAutofit/>
          </a:bodyPr>
          <a:p>
            <a:pPr algn="ctr">
              <a:lnSpc>
                <a:spcPct val="100000"/>
              </a:lnSpc>
              <a:spcBef>
                <a:spcPts val="400"/>
              </a:spcBef>
              <a:tabLst>
                <a:tab algn="l" pos="0"/>
              </a:tabLst>
            </a:pPr>
            <a:r>
              <a:rPr b="1" lang="fr-FR" sz="2000" spc="-1" strike="noStrike">
                <a:solidFill>
                  <a:srgbClr val="205aa7"/>
                </a:solidFill>
                <a:latin typeface="Calibri"/>
              </a:rPr>
              <a:t>Étape 5 – Analyse de la liquidité</a:t>
            </a:r>
            <a:endParaRPr b="0" lang="fr-FR" sz="2000" spc="-1" strike="noStrike">
              <a:solidFill>
                <a:srgbClr val="205aa7"/>
              </a:solidFill>
              <a:latin typeface="Calibri"/>
            </a:endParaRPr>
          </a:p>
          <a:p>
            <a:pPr algn="ctr">
              <a:lnSpc>
                <a:spcPct val="100000"/>
              </a:lnSpc>
              <a:spcBef>
                <a:spcPts val="201"/>
              </a:spcBef>
              <a:tabLst>
                <a:tab algn="l" pos="0"/>
              </a:tabLst>
            </a:pPr>
            <a:endParaRPr b="0" lang="fr-FR" sz="2000" spc="-1" strike="noStrike">
              <a:solidFill>
                <a:srgbClr val="205aa7"/>
              </a:solidFill>
              <a:latin typeface="Calibri"/>
            </a:endParaRPr>
          </a:p>
          <a:p>
            <a:pPr marL="114480" algn="ctr">
              <a:lnSpc>
                <a:spcPct val="100000"/>
              </a:lnSpc>
              <a:spcBef>
                <a:spcPts val="400"/>
              </a:spcBef>
              <a:tabLst>
                <a:tab algn="l" pos="0"/>
              </a:tabLst>
            </a:pPr>
            <a:r>
              <a:rPr b="0" lang="fr-FR" sz="2000" spc="-1" strike="noStrike" u="sng">
                <a:solidFill>
                  <a:srgbClr val="205aa7"/>
                </a:solidFill>
                <a:uFillTx/>
                <a:latin typeface="Calibri"/>
              </a:rPr>
              <a:t>Appréciation finale du risque de liquidité</a:t>
            </a:r>
            <a:endParaRPr b="0" lang="fr-FR" sz="2000" spc="-1" strike="noStrike">
              <a:solidFill>
                <a:srgbClr val="205aa7"/>
              </a:solidFill>
              <a:latin typeface="Calibri"/>
            </a:endParaRPr>
          </a:p>
        </p:txBody>
      </p:sp>
      <p:graphicFrame>
        <p:nvGraphicFramePr>
          <p:cNvPr id="527" name="Table 5"/>
          <p:cNvGraphicFramePr/>
          <p:nvPr/>
        </p:nvGraphicFramePr>
        <p:xfrm>
          <a:off x="1270440" y="2637000"/>
          <a:ext cx="6543360" cy="2928240"/>
        </p:xfrm>
        <a:graphic>
          <a:graphicData uri="http://schemas.openxmlformats.org/drawingml/2006/table">
            <a:tbl>
              <a:tblPr/>
              <a:tblGrid>
                <a:gridCol w="731520"/>
                <a:gridCol w="2858040"/>
                <a:gridCol w="2954160"/>
              </a:tblGrid>
              <a:tr h="622440">
                <a:tc>
                  <a:tcPr marL="91440" marR="91440">
                    <a:lnL w="12240">
                      <a:solidFill>
                        <a:srgbClr val="ffffff"/>
                      </a:solidFill>
                    </a:lnL>
                    <a:lnR w="12240">
                      <a:solidFill>
                        <a:srgbClr val="ffffff"/>
                      </a:solidFill>
                    </a:lnR>
                    <a:lnT w="12240">
                      <a:solidFill>
                        <a:srgbClr val="ffffff"/>
                      </a:solidFill>
                    </a:lnT>
                    <a:lnB w="38160">
                      <a:solidFill>
                        <a:srgbClr val="ffffff"/>
                      </a:solidFill>
                    </a:lnB>
                    <a:solidFill>
                      <a:srgbClr val="ffffff"/>
                    </a:solidFill>
                  </a:tcPr>
                </a:tc>
                <a:tc gridSpan="2">
                  <a:txBody>
                    <a:bodyPr anchor="ctr">
                      <a:noAutofit/>
                    </a:bodyPr>
                    <a:p>
                      <a:pPr algn="ctr">
                        <a:lnSpc>
                          <a:spcPct val="100000"/>
                        </a:lnSpc>
                      </a:pPr>
                      <a:r>
                        <a:rPr b="1" lang="fr-FR" sz="1800" spc="-1" strike="noStrike">
                          <a:solidFill>
                            <a:srgbClr val="ffffff"/>
                          </a:solidFill>
                          <a:latin typeface="Calibri"/>
                        </a:rPr>
                        <a:t>Marges de manœuvre</a:t>
                      </a:r>
                      <a:endParaRPr b="0" lang="fr-FR" sz="1800" spc="-1" strike="noStrike">
                        <a:latin typeface="Arial"/>
                      </a:endParaRPr>
                    </a:p>
                    <a:p>
                      <a:pPr algn="ctr">
                        <a:lnSpc>
                          <a:spcPct val="100000"/>
                        </a:lnSpc>
                      </a:pPr>
                      <a:r>
                        <a:rPr b="1" lang="fr-FR" sz="1800" spc="-1" strike="noStrike">
                          <a:solidFill>
                            <a:srgbClr val="ffffff"/>
                          </a:solidFill>
                          <a:latin typeface="Calibri"/>
                        </a:rPr>
                        <a:t>-                                                   + </a:t>
                      </a:r>
                      <a:endParaRPr b="0" lang="fr-FR" sz="1800" spc="-1" strike="noStrike">
                        <a:latin typeface="Arial"/>
                      </a:endParaRPr>
                    </a:p>
                  </a:txBody>
                  <a:tcPr marL="91440" marR="91440">
                    <a:lnL w="12240">
                      <a:solidFill>
                        <a:srgbClr val="ffffff"/>
                      </a:solidFill>
                    </a:lnL>
                    <a:lnR w="12240">
                      <a:solidFill>
                        <a:srgbClr val="ffffff"/>
                      </a:solidFill>
                    </a:lnR>
                    <a:lnT w="12240">
                      <a:solidFill>
                        <a:srgbClr val="ffffff"/>
                      </a:solidFill>
                    </a:lnT>
                    <a:lnB w="38160">
                      <a:solidFill>
                        <a:srgbClr val="ffffff"/>
                      </a:solidFill>
                    </a:lnB>
                    <a:solidFill>
                      <a:srgbClr val="205aa7"/>
                    </a:solidFill>
                  </a:tcPr>
                </a:tc>
                <a:tc hMerge="1">
                  <a:tcPr marL="90000" marR="90000">
                    <a:solidFill>
                      <a:srgbClr val="729fcf"/>
                    </a:solidFill>
                  </a:tcPr>
                </a:tc>
              </a:tr>
              <a:tr h="1153080">
                <a:tc rowSpan="2">
                  <a:txBody>
                    <a:bodyPr anchor="ctr">
                      <a:noAutofit/>
                    </a:bodyPr>
                    <a:p>
                      <a:pPr algn="ctr">
                        <a:lnSpc>
                          <a:spcPct val="100000"/>
                        </a:lnSpc>
                      </a:pPr>
                      <a:r>
                        <a:rPr b="1" lang="fr-FR" sz="1800" spc="-1" strike="noStrike">
                          <a:solidFill>
                            <a:srgbClr val="000000"/>
                          </a:solidFill>
                          <a:latin typeface="Calibri"/>
                        </a:rPr>
                        <a:t>Horizon</a:t>
                      </a:r>
                      <a:endParaRPr b="0" lang="fr-FR" sz="1800" spc="-1" strike="noStrike">
                        <a:latin typeface="Arial"/>
                      </a:endParaRPr>
                    </a:p>
                    <a:p>
                      <a:pPr algn="ctr">
                        <a:lnSpc>
                          <a:spcPct val="100000"/>
                        </a:lnSpc>
                      </a:pPr>
                      <a:r>
                        <a:rPr b="1" lang="fr-FR" sz="1800" spc="-1" strike="noStrike">
                          <a:solidFill>
                            <a:srgbClr val="000000"/>
                          </a:solidFill>
                          <a:latin typeface="Calibri"/>
                        </a:rPr>
                        <a:t>+                    - </a:t>
                      </a:r>
                      <a:endParaRPr b="0" lang="fr-FR" sz="1800" spc="-1" strike="noStrike">
                        <a:latin typeface="Arial"/>
                      </a:endParaRPr>
                    </a:p>
                  </a:txBody>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ccd1e1"/>
                    </a:solidFill>
                  </a:tcPr>
                </a:tc>
                <a:tc>
                  <a:txBody>
                    <a:bodyPr anchor="ctr">
                      <a:noAutofit/>
                    </a:bodyPr>
                    <a:p>
                      <a:pPr algn="ctr">
                        <a:lnSpc>
                          <a:spcPct val="100000"/>
                        </a:lnSpc>
                      </a:pPr>
                      <a:r>
                        <a:rPr b="1" lang="fr-FR" sz="1800" spc="-1" strike="noStrike">
                          <a:solidFill>
                            <a:srgbClr val="000000"/>
                          </a:solidFill>
                          <a:latin typeface="Calibri"/>
                        </a:rPr>
                        <a:t>Risque avéré</a:t>
                      </a:r>
                      <a:endParaRPr b="0" lang="fr-FR" sz="1800" spc="-1" strike="noStrike">
                        <a:latin typeface="Arial"/>
                      </a:endParaRPr>
                    </a:p>
                    <a:p>
                      <a:pPr algn="ctr">
                        <a:lnSpc>
                          <a:spcPct val="100000"/>
                        </a:lnSpc>
                      </a:pPr>
                      <a:r>
                        <a:rPr b="0" lang="fr-FR" sz="1800" spc="-1" strike="noStrike">
                          <a:solidFill>
                            <a:srgbClr val="000000"/>
                          </a:solidFill>
                          <a:latin typeface="Calibri"/>
                        </a:rPr>
                        <a:t>Attribution d’une cote 5+ à 6 en fonction de l’ampleur</a:t>
                      </a:r>
                      <a:endParaRPr b="0" lang="fr-FR" sz="1800" spc="-1" strike="noStrike">
                        <a:latin typeface="Arial"/>
                      </a:endParaRPr>
                    </a:p>
                  </a:txBody>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ff0000"/>
                    </a:solidFill>
                  </a:tcPr>
                </a:tc>
                <a:tc>
                  <a:txBody>
                    <a:bodyPr anchor="ctr">
                      <a:noAutofit/>
                    </a:bodyPr>
                    <a:p>
                      <a:pPr algn="ctr">
                        <a:lnSpc>
                          <a:spcPct val="100000"/>
                        </a:lnSpc>
                      </a:pPr>
                      <a:r>
                        <a:rPr b="1" lang="fr-FR" sz="1800" spc="-1" strike="noStrike">
                          <a:solidFill>
                            <a:srgbClr val="000000"/>
                          </a:solidFill>
                          <a:latin typeface="Calibri"/>
                        </a:rPr>
                        <a:t>Risque potentiel</a:t>
                      </a:r>
                      <a:endParaRPr b="0" lang="fr-FR" sz="1800" spc="-1" strike="noStrike">
                        <a:latin typeface="Arial"/>
                      </a:endParaRPr>
                    </a:p>
                    <a:p>
                      <a:pPr algn="ctr">
                        <a:lnSpc>
                          <a:spcPct val="100000"/>
                        </a:lnSpc>
                      </a:pPr>
                      <a:r>
                        <a:rPr b="0" lang="fr-FR" sz="1800" spc="-1" strike="noStrike">
                          <a:solidFill>
                            <a:srgbClr val="000000"/>
                          </a:solidFill>
                          <a:latin typeface="Calibri"/>
                        </a:rPr>
                        <a:t>Cote 4 au maximum</a:t>
                      </a:r>
                      <a:endParaRPr b="0" lang="fr-FR" sz="1800" spc="-1" strike="noStrike">
                        <a:latin typeface="Arial"/>
                      </a:endParaRPr>
                    </a:p>
                  </a:txBody>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ffc000"/>
                    </a:solidFill>
                  </a:tcPr>
                </a:tc>
              </a:tr>
              <a:tr h="1153080">
                <a:tc vMerge="1">
                  <a:tcPr marL="90000" marR="90000">
                    <a:solidFill>
                      <a:srgbClr val="729fcf"/>
                    </a:solidFill>
                  </a:tcPr>
                </a:tc>
                <a:tc>
                  <a:txBody>
                    <a:bodyPr anchor="ctr">
                      <a:noAutofit/>
                    </a:bodyPr>
                    <a:p>
                      <a:pPr algn="ctr">
                        <a:lnSpc>
                          <a:spcPct val="100000"/>
                        </a:lnSpc>
                      </a:pPr>
                      <a:r>
                        <a:rPr b="1" lang="fr-FR" sz="1800" spc="-1" strike="noStrike">
                          <a:solidFill>
                            <a:srgbClr val="000000"/>
                          </a:solidFill>
                          <a:latin typeface="Calibri"/>
                        </a:rPr>
                        <a:t>Risque potentiel</a:t>
                      </a:r>
                      <a:endParaRPr b="0" lang="fr-FR" sz="1800" spc="-1" strike="noStrike">
                        <a:latin typeface="Arial"/>
                      </a:endParaRPr>
                    </a:p>
                    <a:p>
                      <a:pPr algn="ctr">
                        <a:lnSpc>
                          <a:spcPct val="100000"/>
                        </a:lnSpc>
                      </a:pPr>
                      <a:r>
                        <a:rPr b="0" lang="fr-FR" sz="1800" spc="-1" strike="noStrike">
                          <a:solidFill>
                            <a:srgbClr val="000000"/>
                          </a:solidFill>
                          <a:latin typeface="Calibri"/>
                        </a:rPr>
                        <a:t>Cote 4 au maximum</a:t>
                      </a:r>
                      <a:endParaRPr b="0" lang="fr-FR" sz="1800" spc="-1" strike="noStrike">
                        <a:latin typeface="Arial"/>
                      </a:endParaRPr>
                    </a:p>
                  </a:txBody>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ffc000"/>
                    </a:solidFill>
                  </a:tcPr>
                </a:tc>
                <a:tc>
                  <a:txBody>
                    <a:bodyPr anchor="ctr">
                      <a:noAutofit/>
                    </a:bodyPr>
                    <a:p>
                      <a:pPr algn="ctr">
                        <a:lnSpc>
                          <a:spcPct val="100000"/>
                        </a:lnSpc>
                      </a:pPr>
                      <a:r>
                        <a:rPr b="0" lang="fr-FR" sz="1800" spc="-1" strike="noStrike">
                          <a:solidFill>
                            <a:srgbClr val="000000"/>
                          </a:solidFill>
                          <a:latin typeface="Calibri"/>
                        </a:rPr>
                        <a:t>Le risque de liquidité peut être écarté. L’attribution d’une cote éligible est possible.</a:t>
                      </a:r>
                      <a:endParaRPr b="0" lang="fr-FR" sz="1800" spc="-1" strike="noStrike">
                        <a:latin typeface="Arial"/>
                      </a:endParaRPr>
                    </a:p>
                  </a:txBody>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92d050"/>
                    </a:solidFill>
                  </a:tcPr>
                </a:tc>
              </a:tr>
            </a:tbl>
          </a:graphicData>
        </a:graphic>
      </p:graphicFrame>
    </p:spTree>
  </p:cSld>
  <mc:AlternateContent>
    <mc:Choice Requires="p14">
      <p:transition spd="slow" p14:dur="2000"/>
    </mc:Choice>
    <mc:Fallback>
      <p:transition spd="slow"/>
    </mc:Fallback>
  </mc:AlternateContent>
</p:sld>
</file>

<file path=ppt/slides/slide9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8" name="TextShape 1"/>
          <p:cNvSpPr txBox="1"/>
          <p:nvPr/>
        </p:nvSpPr>
        <p:spPr>
          <a:xfrm>
            <a:off x="468000" y="0"/>
            <a:ext cx="8229240" cy="1142640"/>
          </a:xfrm>
          <a:prstGeom prst="rect">
            <a:avLst/>
          </a:prstGeom>
          <a:noFill/>
          <a:ln>
            <a:noFill/>
          </a:ln>
        </p:spPr>
        <p:txBody>
          <a:bodyPr anchor="ctr">
            <a:noAutofit/>
          </a:bodyPr>
          <a:p>
            <a:pPr>
              <a:lnSpc>
                <a:spcPct val="100000"/>
              </a:lnSpc>
            </a:pPr>
            <a:r>
              <a:rPr b="1" lang="fr-FR" sz="2400" spc="-1" strike="noStrike" cap="all">
                <a:solidFill>
                  <a:srgbClr val="ffffff"/>
                </a:solidFill>
                <a:latin typeface="Calibri"/>
              </a:rPr>
              <a:t>3. L’analyse financière des comptes consolidés</a:t>
            </a:r>
            <a:endParaRPr b="0" lang="fr-FR" sz="2400" spc="-1" strike="noStrike">
              <a:solidFill>
                <a:srgbClr val="000000"/>
              </a:solidFill>
              <a:latin typeface="Calibri"/>
            </a:endParaRPr>
          </a:p>
        </p:txBody>
      </p:sp>
      <p:sp>
        <p:nvSpPr>
          <p:cNvPr id="529" name="TextShape 2"/>
          <p:cNvSpPr txBox="1"/>
          <p:nvPr/>
        </p:nvSpPr>
        <p:spPr>
          <a:xfrm>
            <a:off x="3124080" y="6480000"/>
            <a:ext cx="4975920" cy="359640"/>
          </a:xfrm>
          <a:prstGeom prst="rect">
            <a:avLst/>
          </a:prstGeom>
          <a:noFill/>
          <a:ln>
            <a:noFill/>
          </a:ln>
        </p:spPr>
        <p:txBody>
          <a:bodyPr>
            <a:noAutofit/>
          </a:bodyPr>
          <a:p>
            <a:endParaRPr b="0" lang="fr-FR" sz="2400" spc="-1" strike="noStrike">
              <a:latin typeface="Times New Roman"/>
            </a:endParaRPr>
          </a:p>
        </p:txBody>
      </p:sp>
      <p:sp>
        <p:nvSpPr>
          <p:cNvPr id="530" name="TextShape 3"/>
          <p:cNvSpPr txBox="1"/>
          <p:nvPr/>
        </p:nvSpPr>
        <p:spPr>
          <a:xfrm>
            <a:off x="8172360" y="6480000"/>
            <a:ext cx="539640" cy="359640"/>
          </a:xfrm>
          <a:prstGeom prst="rect">
            <a:avLst/>
          </a:prstGeom>
          <a:noFill/>
          <a:ln>
            <a:noFill/>
          </a:ln>
        </p:spPr>
        <p:txBody>
          <a:bodyPr lIns="90000" rIns="90000" tIns="45000" bIns="45000">
            <a:noAutofit/>
          </a:bodyPr>
          <a:p>
            <a:pPr algn="r">
              <a:lnSpc>
                <a:spcPct val="100000"/>
              </a:lnSpc>
            </a:pPr>
            <a:fld id="{56ECA30A-78B7-4A40-8700-83E5AB8CA99B}" type="slidenum">
              <a:rPr b="0" lang="fr-FR" sz="900" spc="-1" strike="noStrike">
                <a:solidFill>
                  <a:srgbClr val="205aa7"/>
                </a:solidFill>
                <a:latin typeface="Calibri"/>
              </a:rPr>
              <a:t>&lt;number&gt;</a:t>
            </a:fld>
            <a:endParaRPr b="0" lang="fr-FR" sz="900" spc="-1" strike="noStrike">
              <a:latin typeface="Times New Roman"/>
            </a:endParaRPr>
          </a:p>
        </p:txBody>
      </p:sp>
      <p:sp>
        <p:nvSpPr>
          <p:cNvPr id="531" name="TextShape 4"/>
          <p:cNvSpPr txBox="1"/>
          <p:nvPr/>
        </p:nvSpPr>
        <p:spPr>
          <a:xfrm>
            <a:off x="468000" y="1440000"/>
            <a:ext cx="8229240" cy="4525560"/>
          </a:xfrm>
          <a:prstGeom prst="rect">
            <a:avLst/>
          </a:prstGeom>
          <a:noFill/>
          <a:ln>
            <a:noFill/>
          </a:ln>
        </p:spPr>
        <p:txBody>
          <a:bodyPr>
            <a:normAutofit/>
          </a:bodyPr>
          <a:p>
            <a:pPr algn="ctr">
              <a:lnSpc>
                <a:spcPct val="100000"/>
              </a:lnSpc>
              <a:spcBef>
                <a:spcPts val="479"/>
              </a:spcBef>
              <a:tabLst>
                <a:tab algn="l" pos="0"/>
              </a:tabLst>
            </a:pPr>
            <a:r>
              <a:rPr b="1" lang="fr-FR" sz="2400" spc="-1" strike="noStrike">
                <a:solidFill>
                  <a:srgbClr val="205aa7"/>
                </a:solidFill>
                <a:latin typeface="Calibri"/>
              </a:rPr>
              <a:t>Cas pratique</a:t>
            </a:r>
            <a:endParaRPr b="0" lang="fr-FR" sz="2400" spc="-1" strike="noStrike">
              <a:solidFill>
                <a:srgbClr val="205aa7"/>
              </a:solidFill>
              <a:latin typeface="Calibri"/>
            </a:endParaRPr>
          </a:p>
          <a:p>
            <a:pPr>
              <a:lnSpc>
                <a:spcPct val="100000"/>
              </a:lnSpc>
              <a:spcBef>
                <a:spcPts val="519"/>
              </a:spcBef>
              <a:tabLst>
                <a:tab algn="l" pos="0"/>
              </a:tabLst>
            </a:pPr>
            <a:endParaRPr b="0" lang="fr-FR" sz="2400" spc="-1" strike="noStrike">
              <a:solidFill>
                <a:srgbClr val="205aa7"/>
              </a:solidFill>
              <a:latin typeface="Calibri"/>
            </a:endParaRPr>
          </a:p>
          <a:p>
            <a:pPr>
              <a:lnSpc>
                <a:spcPct val="100000"/>
              </a:lnSpc>
              <a:spcBef>
                <a:spcPts val="519"/>
              </a:spcBef>
              <a:tabLst>
                <a:tab algn="l" pos="0"/>
              </a:tabLst>
            </a:pPr>
            <a:endParaRPr b="0" lang="fr-FR" sz="2400" spc="-1" strike="noStrike">
              <a:solidFill>
                <a:srgbClr val="205aa7"/>
              </a:solidFill>
              <a:latin typeface="Calibri"/>
            </a:endParaRPr>
          </a:p>
        </p:txBody>
      </p:sp>
      <p:pic>
        <p:nvPicPr>
          <p:cNvPr id="532" name="Image 6" descr=""/>
          <p:cNvPicPr/>
          <p:nvPr/>
        </p:nvPicPr>
        <p:blipFill>
          <a:blip r:embed="rId1"/>
          <a:stretch/>
        </p:blipFill>
        <p:spPr>
          <a:xfrm>
            <a:off x="1331640" y="1888920"/>
            <a:ext cx="6108480" cy="4076640"/>
          </a:xfrm>
          <a:prstGeom prst="rect">
            <a:avLst/>
          </a:prstGeom>
          <a:ln>
            <a:noFill/>
          </a:ln>
        </p:spPr>
      </p:pic>
      <p:sp>
        <p:nvSpPr>
          <p:cNvPr id="533" name="CustomShape 5"/>
          <p:cNvSpPr/>
          <p:nvPr/>
        </p:nvSpPr>
        <p:spPr>
          <a:xfrm>
            <a:off x="5775840" y="5944320"/>
            <a:ext cx="1950480" cy="212040"/>
          </a:xfrm>
          <a:prstGeom prst="rect">
            <a:avLst/>
          </a:prstGeom>
          <a:noFill/>
          <a:ln>
            <a:noFill/>
          </a:ln>
        </p:spPr>
        <p:style>
          <a:lnRef idx="0"/>
          <a:fillRef idx="0"/>
          <a:effectRef idx="0"/>
          <a:fontRef idx="minor"/>
        </p:style>
        <p:txBody>
          <a:bodyPr wrap="none" lIns="90000" rIns="90000" tIns="45000" bIns="45000">
            <a:spAutoFit/>
          </a:bodyPr>
          <a:p>
            <a:pPr>
              <a:lnSpc>
                <a:spcPct val="100000"/>
              </a:lnSpc>
            </a:pPr>
            <a:r>
              <a:rPr b="0" i="1" lang="fr-FR" sz="800" spc="-1" strike="noStrike">
                <a:solidFill>
                  <a:srgbClr val="666666"/>
                </a:solidFill>
                <a:latin typeface="Calibri"/>
              </a:rPr>
              <a:t>Photo by </a:t>
            </a:r>
            <a:r>
              <a:rPr b="0" i="1" lang="fr-FR" sz="800" spc="-1" strike="noStrike" u="sng">
                <a:solidFill>
                  <a:srgbClr val="a0006e"/>
                </a:solidFill>
                <a:uFillTx/>
                <a:latin typeface="Calibri"/>
                <a:hlinkClick r:id="rId2"/>
              </a:rPr>
              <a:t>Helloquence</a:t>
            </a:r>
            <a:r>
              <a:rPr b="0" i="1" lang="fr-FR" sz="800" spc="-1" strike="noStrike">
                <a:solidFill>
                  <a:srgbClr val="666666"/>
                </a:solidFill>
                <a:latin typeface="Calibri"/>
              </a:rPr>
              <a:t> on </a:t>
            </a:r>
            <a:r>
              <a:rPr b="0" i="1" lang="fr-FR" sz="800" spc="-1" strike="noStrike" u="sng">
                <a:solidFill>
                  <a:srgbClr val="a0006e"/>
                </a:solidFill>
                <a:uFillTx/>
                <a:latin typeface="Calibri"/>
                <a:hlinkClick r:id="rId3"/>
              </a:rPr>
              <a:t>Unsplash</a:t>
            </a:r>
            <a:endParaRPr b="0" lang="fr-FR" sz="800" spc="-1" strike="noStrike">
              <a:latin typeface="Arial"/>
            </a:endParaRPr>
          </a:p>
        </p:txBody>
      </p:sp>
    </p:spTree>
  </p:cSld>
  <mc:AlternateContent>
    <mc:Choice Requires="p14">
      <p:transition spd="slow" p14:dur="2000"/>
    </mc:Choice>
    <mc:Fallback>
      <p:transition spd="slow"/>
    </mc:Fallback>
  </mc:AlternateContent>
</p:sld>
</file>

<file path=ppt/slides/slide9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4" name="TextShape 1"/>
          <p:cNvSpPr txBox="1"/>
          <p:nvPr/>
        </p:nvSpPr>
        <p:spPr>
          <a:xfrm>
            <a:off x="468000" y="0"/>
            <a:ext cx="8229240" cy="1142640"/>
          </a:xfrm>
          <a:prstGeom prst="rect">
            <a:avLst/>
          </a:prstGeom>
          <a:noFill/>
          <a:ln>
            <a:noFill/>
          </a:ln>
        </p:spPr>
        <p:txBody>
          <a:bodyPr anchor="ctr">
            <a:noAutofit/>
          </a:bodyPr>
          <a:p>
            <a:pPr>
              <a:lnSpc>
                <a:spcPct val="100000"/>
              </a:lnSpc>
            </a:pPr>
            <a:r>
              <a:rPr b="1" lang="fr-FR" sz="2400" spc="-1" strike="noStrike" cap="all">
                <a:solidFill>
                  <a:srgbClr val="ffffff"/>
                </a:solidFill>
                <a:latin typeface="Calibri"/>
              </a:rPr>
              <a:t>3. L’analyse financière des comptes consolidés</a:t>
            </a:r>
            <a:endParaRPr b="0" lang="fr-FR" sz="2400" spc="-1" strike="noStrike">
              <a:solidFill>
                <a:srgbClr val="000000"/>
              </a:solidFill>
              <a:latin typeface="Calibri"/>
            </a:endParaRPr>
          </a:p>
        </p:txBody>
      </p:sp>
      <p:sp>
        <p:nvSpPr>
          <p:cNvPr id="535" name="TextShape 2"/>
          <p:cNvSpPr txBox="1"/>
          <p:nvPr/>
        </p:nvSpPr>
        <p:spPr>
          <a:xfrm>
            <a:off x="3124080" y="6480000"/>
            <a:ext cx="4975920" cy="359640"/>
          </a:xfrm>
          <a:prstGeom prst="rect">
            <a:avLst/>
          </a:prstGeom>
          <a:noFill/>
          <a:ln>
            <a:noFill/>
          </a:ln>
        </p:spPr>
        <p:txBody>
          <a:bodyPr>
            <a:noAutofit/>
          </a:bodyPr>
          <a:p>
            <a:endParaRPr b="0" lang="fr-FR" sz="2400" spc="-1" strike="noStrike">
              <a:latin typeface="Times New Roman"/>
            </a:endParaRPr>
          </a:p>
        </p:txBody>
      </p:sp>
      <p:sp>
        <p:nvSpPr>
          <p:cNvPr id="536" name="TextShape 3"/>
          <p:cNvSpPr txBox="1"/>
          <p:nvPr/>
        </p:nvSpPr>
        <p:spPr>
          <a:xfrm>
            <a:off x="8172360" y="6480000"/>
            <a:ext cx="539640" cy="359640"/>
          </a:xfrm>
          <a:prstGeom prst="rect">
            <a:avLst/>
          </a:prstGeom>
          <a:noFill/>
          <a:ln>
            <a:noFill/>
          </a:ln>
        </p:spPr>
        <p:txBody>
          <a:bodyPr lIns="90000" rIns="90000" tIns="45000" bIns="45000">
            <a:noAutofit/>
          </a:bodyPr>
          <a:p>
            <a:pPr algn="r">
              <a:lnSpc>
                <a:spcPct val="100000"/>
              </a:lnSpc>
            </a:pPr>
            <a:fld id="{0567C453-3605-4CDC-8C70-3F7D1C7229E4}" type="slidenum">
              <a:rPr b="0" lang="fr-FR" sz="900" spc="-1" strike="noStrike">
                <a:solidFill>
                  <a:srgbClr val="205aa7"/>
                </a:solidFill>
                <a:latin typeface="Calibri"/>
              </a:rPr>
              <a:t>&lt;number&gt;</a:t>
            </a:fld>
            <a:endParaRPr b="0" lang="fr-FR" sz="900" spc="-1" strike="noStrike">
              <a:latin typeface="Times New Roman"/>
            </a:endParaRPr>
          </a:p>
        </p:txBody>
      </p:sp>
      <p:sp>
        <p:nvSpPr>
          <p:cNvPr id="537" name="TextShape 4"/>
          <p:cNvSpPr txBox="1"/>
          <p:nvPr/>
        </p:nvSpPr>
        <p:spPr>
          <a:xfrm>
            <a:off x="468000" y="1440000"/>
            <a:ext cx="8229240" cy="4525560"/>
          </a:xfrm>
          <a:prstGeom prst="rect">
            <a:avLst/>
          </a:prstGeom>
          <a:noFill/>
          <a:ln>
            <a:noFill/>
          </a:ln>
        </p:spPr>
        <p:txBody>
          <a:bodyPr>
            <a:normAutofit/>
          </a:bodyPr>
          <a:p>
            <a:pPr marL="114480" algn="ctr">
              <a:lnSpc>
                <a:spcPct val="100000"/>
              </a:lnSpc>
              <a:spcBef>
                <a:spcPts val="479"/>
              </a:spcBef>
              <a:tabLst>
                <a:tab algn="l" pos="0"/>
              </a:tabLst>
            </a:pPr>
            <a:r>
              <a:rPr b="1" lang="fr-FR" sz="2400" spc="-1" strike="noStrike">
                <a:solidFill>
                  <a:srgbClr val="205aa7"/>
                </a:solidFill>
                <a:latin typeface="Calibri"/>
              </a:rPr>
              <a:t>Les principales étapes de l’analyse :</a:t>
            </a:r>
            <a:endParaRPr b="0" lang="fr-FR" sz="2400" spc="-1" strike="noStrike">
              <a:solidFill>
                <a:srgbClr val="205aa7"/>
              </a:solidFill>
              <a:latin typeface="Calibri"/>
            </a:endParaRPr>
          </a:p>
          <a:p>
            <a:pPr marL="114480" algn="just">
              <a:lnSpc>
                <a:spcPct val="100000"/>
              </a:lnSpc>
              <a:spcBef>
                <a:spcPts val="479"/>
              </a:spcBef>
              <a:tabLst>
                <a:tab algn="l" pos="0"/>
              </a:tabLst>
            </a:pPr>
            <a:endParaRPr b="0" lang="fr-FR" sz="2400" spc="-1" strike="noStrike">
              <a:solidFill>
                <a:srgbClr val="205aa7"/>
              </a:solidFill>
              <a:latin typeface="Calibri"/>
            </a:endParaRPr>
          </a:p>
          <a:p>
            <a:pPr marL="571680" indent="-456840" algn="just">
              <a:lnSpc>
                <a:spcPct val="100000"/>
              </a:lnSpc>
              <a:spcBef>
                <a:spcPts val="479"/>
              </a:spcBef>
              <a:buClr>
                <a:srgbClr val="cbddf5"/>
              </a:buClr>
              <a:buFont typeface="StarSymbol"/>
              <a:buAutoNum type="arabicPeriod"/>
              <a:tabLst>
                <a:tab algn="l" pos="0"/>
              </a:tabLst>
            </a:pPr>
            <a:r>
              <a:rPr b="0" lang="fr-FR" sz="2400" spc="-1" strike="noStrike">
                <a:solidFill>
                  <a:srgbClr val="cbddf5"/>
                </a:solidFill>
                <a:latin typeface="Calibri"/>
              </a:rPr>
              <a:t>Analyse de l’environnement, de la stratégie et de l’organisation.</a:t>
            </a:r>
            <a:endParaRPr b="0" lang="fr-FR" sz="2400" spc="-1" strike="noStrike">
              <a:solidFill>
                <a:srgbClr val="205aa7"/>
              </a:solidFill>
              <a:latin typeface="Calibri"/>
            </a:endParaRPr>
          </a:p>
          <a:p>
            <a:pPr marL="571680" indent="-456840" algn="just">
              <a:lnSpc>
                <a:spcPct val="100000"/>
              </a:lnSpc>
              <a:spcBef>
                <a:spcPts val="479"/>
              </a:spcBef>
              <a:buClr>
                <a:srgbClr val="cbddf5"/>
              </a:buClr>
              <a:buFont typeface="StarSymbol"/>
              <a:buAutoNum type="arabicPeriod"/>
              <a:tabLst>
                <a:tab algn="l" pos="0"/>
              </a:tabLst>
            </a:pPr>
            <a:r>
              <a:rPr b="0" lang="fr-FR" sz="2400" spc="-1" strike="noStrike">
                <a:solidFill>
                  <a:srgbClr val="cbddf5"/>
                </a:solidFill>
                <a:latin typeface="Calibri"/>
              </a:rPr>
              <a:t>Examen critique de la qualité de l’information et étude préalable à l’analyse des comptes.</a:t>
            </a:r>
            <a:endParaRPr b="0" lang="fr-FR" sz="2400" spc="-1" strike="noStrike">
              <a:solidFill>
                <a:srgbClr val="205aa7"/>
              </a:solidFill>
              <a:latin typeface="Calibri"/>
            </a:endParaRPr>
          </a:p>
          <a:p>
            <a:pPr marL="571680" indent="-456840" algn="just">
              <a:lnSpc>
                <a:spcPct val="100000"/>
              </a:lnSpc>
              <a:spcBef>
                <a:spcPts val="479"/>
              </a:spcBef>
              <a:buClr>
                <a:srgbClr val="cbddf5"/>
              </a:buClr>
              <a:buFont typeface="StarSymbol"/>
              <a:buAutoNum type="arabicPeriod"/>
              <a:tabLst>
                <a:tab algn="l" pos="0"/>
              </a:tabLst>
            </a:pPr>
            <a:r>
              <a:rPr b="0" lang="fr-FR" sz="2400" spc="-1" strike="noStrike">
                <a:solidFill>
                  <a:srgbClr val="cbddf5"/>
                </a:solidFill>
                <a:latin typeface="Calibri"/>
              </a:rPr>
              <a:t>Analyse des performances.</a:t>
            </a:r>
            <a:endParaRPr b="0" lang="fr-FR" sz="2400" spc="-1" strike="noStrike">
              <a:solidFill>
                <a:srgbClr val="205aa7"/>
              </a:solidFill>
              <a:latin typeface="Calibri"/>
            </a:endParaRPr>
          </a:p>
          <a:p>
            <a:pPr marL="571680" indent="-456840" algn="just">
              <a:lnSpc>
                <a:spcPct val="100000"/>
              </a:lnSpc>
              <a:spcBef>
                <a:spcPts val="479"/>
              </a:spcBef>
              <a:buClr>
                <a:srgbClr val="cbddf5"/>
              </a:buClr>
              <a:buFont typeface="StarSymbol"/>
              <a:buAutoNum type="arabicPeriod"/>
              <a:tabLst>
                <a:tab algn="l" pos="0"/>
              </a:tabLst>
            </a:pPr>
            <a:r>
              <a:rPr b="0" lang="fr-FR" sz="2400" spc="-1" strike="noStrike">
                <a:solidFill>
                  <a:srgbClr val="cbddf5"/>
                </a:solidFill>
                <a:latin typeface="Calibri"/>
              </a:rPr>
              <a:t>Examen de la structure financière (solvabilité et autonomie financière).</a:t>
            </a:r>
            <a:endParaRPr b="0" lang="fr-FR" sz="2400" spc="-1" strike="noStrike">
              <a:solidFill>
                <a:srgbClr val="205aa7"/>
              </a:solidFill>
              <a:latin typeface="Calibri"/>
            </a:endParaRPr>
          </a:p>
          <a:p>
            <a:pPr marL="571680" indent="-456840" algn="just">
              <a:lnSpc>
                <a:spcPct val="100000"/>
              </a:lnSpc>
              <a:spcBef>
                <a:spcPts val="479"/>
              </a:spcBef>
              <a:buClr>
                <a:srgbClr val="cbddf5"/>
              </a:buClr>
              <a:buFont typeface="StarSymbol"/>
              <a:buAutoNum type="arabicPeriod"/>
              <a:tabLst>
                <a:tab algn="l" pos="0"/>
              </a:tabLst>
            </a:pPr>
            <a:r>
              <a:rPr b="0" lang="fr-FR" sz="2400" spc="-1" strike="noStrike">
                <a:solidFill>
                  <a:srgbClr val="cbddf5"/>
                </a:solidFill>
                <a:latin typeface="Calibri"/>
              </a:rPr>
              <a:t>Analyse de la liquidité.</a:t>
            </a:r>
            <a:endParaRPr b="0" lang="fr-FR" sz="2400" spc="-1" strike="noStrike">
              <a:solidFill>
                <a:srgbClr val="205aa7"/>
              </a:solidFill>
              <a:latin typeface="Calibri"/>
            </a:endParaRPr>
          </a:p>
          <a:p>
            <a:pPr marL="571680" indent="-456840" algn="just">
              <a:lnSpc>
                <a:spcPct val="100000"/>
              </a:lnSpc>
              <a:spcBef>
                <a:spcPts val="479"/>
              </a:spcBef>
              <a:buClr>
                <a:srgbClr val="205aa7"/>
              </a:buClr>
              <a:buFont typeface="StarSymbol"/>
              <a:buAutoNum type="arabicPeriod"/>
              <a:tabLst>
                <a:tab algn="l" pos="0"/>
              </a:tabLst>
            </a:pPr>
            <a:r>
              <a:rPr b="0" lang="fr-FR" sz="2400" spc="-1" strike="noStrike">
                <a:solidFill>
                  <a:srgbClr val="205aa7"/>
                </a:solidFill>
                <a:latin typeface="Calibri"/>
              </a:rPr>
              <a:t>Décision de cotation</a:t>
            </a:r>
            <a:endParaRPr b="0" lang="fr-FR" sz="2400" spc="-1" strike="noStrike">
              <a:solidFill>
                <a:srgbClr val="205aa7"/>
              </a:solidFill>
              <a:latin typeface="Calibri"/>
            </a:endParaRPr>
          </a:p>
        </p:txBody>
      </p:sp>
    </p:spTree>
  </p:cSld>
  <mc:AlternateContent>
    <mc:Choice Requires="p14">
      <p:transition spd="slow" p14:dur="2000"/>
    </mc:Choice>
    <mc:Fallback>
      <p:transition spd="slow"/>
    </mc:Fallback>
  </mc:AlternateContent>
</p:sld>
</file>

<file path=ppt/slides/slide9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8" name="TextShape 1"/>
          <p:cNvSpPr txBox="1"/>
          <p:nvPr/>
        </p:nvSpPr>
        <p:spPr>
          <a:xfrm>
            <a:off x="468000" y="0"/>
            <a:ext cx="8229240" cy="1142640"/>
          </a:xfrm>
          <a:prstGeom prst="rect">
            <a:avLst/>
          </a:prstGeom>
          <a:noFill/>
          <a:ln>
            <a:noFill/>
          </a:ln>
        </p:spPr>
        <p:txBody>
          <a:bodyPr anchor="ctr">
            <a:noAutofit/>
          </a:bodyPr>
          <a:p>
            <a:pPr>
              <a:lnSpc>
                <a:spcPct val="100000"/>
              </a:lnSpc>
            </a:pPr>
            <a:r>
              <a:rPr b="1" lang="fr-FR" sz="2400" spc="-1" strike="noStrike" cap="all">
                <a:solidFill>
                  <a:srgbClr val="ffffff"/>
                </a:solidFill>
                <a:latin typeface="Calibri"/>
              </a:rPr>
              <a:t>3. L’analyse financière des comptes consolidés</a:t>
            </a:r>
            <a:endParaRPr b="0" lang="fr-FR" sz="2400" spc="-1" strike="noStrike">
              <a:solidFill>
                <a:srgbClr val="000000"/>
              </a:solidFill>
              <a:latin typeface="Calibri"/>
            </a:endParaRPr>
          </a:p>
        </p:txBody>
      </p:sp>
      <p:sp>
        <p:nvSpPr>
          <p:cNvPr id="539" name="TextShape 2"/>
          <p:cNvSpPr txBox="1"/>
          <p:nvPr/>
        </p:nvSpPr>
        <p:spPr>
          <a:xfrm>
            <a:off x="3124080" y="6480000"/>
            <a:ext cx="4975920" cy="359640"/>
          </a:xfrm>
          <a:prstGeom prst="rect">
            <a:avLst/>
          </a:prstGeom>
          <a:noFill/>
          <a:ln>
            <a:noFill/>
          </a:ln>
        </p:spPr>
        <p:txBody>
          <a:bodyPr>
            <a:noAutofit/>
          </a:bodyPr>
          <a:p>
            <a:endParaRPr b="0" lang="fr-FR" sz="2400" spc="-1" strike="noStrike">
              <a:latin typeface="Times New Roman"/>
            </a:endParaRPr>
          </a:p>
        </p:txBody>
      </p:sp>
      <p:sp>
        <p:nvSpPr>
          <p:cNvPr id="540" name="TextShape 3"/>
          <p:cNvSpPr txBox="1"/>
          <p:nvPr/>
        </p:nvSpPr>
        <p:spPr>
          <a:xfrm>
            <a:off x="8172360" y="6480000"/>
            <a:ext cx="539640" cy="359640"/>
          </a:xfrm>
          <a:prstGeom prst="rect">
            <a:avLst/>
          </a:prstGeom>
          <a:noFill/>
          <a:ln>
            <a:noFill/>
          </a:ln>
        </p:spPr>
        <p:txBody>
          <a:bodyPr lIns="90000" rIns="90000" tIns="45000" bIns="45000">
            <a:noAutofit/>
          </a:bodyPr>
          <a:p>
            <a:pPr algn="r">
              <a:lnSpc>
                <a:spcPct val="100000"/>
              </a:lnSpc>
            </a:pPr>
            <a:fld id="{9FE0B552-644B-4308-A681-26D393051321}" type="slidenum">
              <a:rPr b="0" lang="fr-FR" sz="900" spc="-1" strike="noStrike">
                <a:solidFill>
                  <a:srgbClr val="205aa7"/>
                </a:solidFill>
                <a:latin typeface="Calibri"/>
              </a:rPr>
              <a:t>&lt;number&gt;</a:t>
            </a:fld>
            <a:endParaRPr b="0" lang="fr-FR" sz="900" spc="-1" strike="noStrike">
              <a:latin typeface="Times New Roman"/>
            </a:endParaRPr>
          </a:p>
        </p:txBody>
      </p:sp>
      <p:sp>
        <p:nvSpPr>
          <p:cNvPr id="541" name="TextShape 4"/>
          <p:cNvSpPr txBox="1"/>
          <p:nvPr/>
        </p:nvSpPr>
        <p:spPr>
          <a:xfrm>
            <a:off x="468000" y="1440000"/>
            <a:ext cx="8229240" cy="4525560"/>
          </a:xfrm>
          <a:prstGeom prst="rect">
            <a:avLst/>
          </a:prstGeom>
          <a:noFill/>
          <a:ln>
            <a:noFill/>
          </a:ln>
        </p:spPr>
        <p:txBody>
          <a:bodyPr>
            <a:normAutofit/>
          </a:bodyPr>
          <a:p>
            <a:pPr algn="ctr">
              <a:lnSpc>
                <a:spcPct val="100000"/>
              </a:lnSpc>
              <a:spcBef>
                <a:spcPts val="400"/>
              </a:spcBef>
              <a:tabLst>
                <a:tab algn="l" pos="0"/>
              </a:tabLst>
            </a:pPr>
            <a:r>
              <a:rPr b="1" lang="fr-FR" sz="2000" spc="-1" strike="noStrike">
                <a:solidFill>
                  <a:srgbClr val="205aa7"/>
                </a:solidFill>
                <a:latin typeface="Calibri"/>
              </a:rPr>
              <a:t>Étape 6 – Décision de cotation</a:t>
            </a:r>
            <a:endParaRPr b="0" lang="fr-FR" sz="2000" spc="-1" strike="noStrike">
              <a:solidFill>
                <a:srgbClr val="205aa7"/>
              </a:solidFill>
              <a:latin typeface="Calibri"/>
            </a:endParaRPr>
          </a:p>
          <a:p>
            <a:pPr algn="ctr">
              <a:lnSpc>
                <a:spcPct val="100000"/>
              </a:lnSpc>
              <a:spcBef>
                <a:spcPts val="201"/>
              </a:spcBef>
              <a:tabLst>
                <a:tab algn="l" pos="0"/>
              </a:tabLst>
            </a:pPr>
            <a:endParaRPr b="0" lang="fr-FR" sz="2000" spc="-1" strike="noStrike">
              <a:solidFill>
                <a:srgbClr val="205aa7"/>
              </a:solidFill>
              <a:latin typeface="Calibri"/>
            </a:endParaRPr>
          </a:p>
          <a:p>
            <a:pPr marL="114480" algn="ctr">
              <a:lnSpc>
                <a:spcPct val="100000"/>
              </a:lnSpc>
              <a:spcBef>
                <a:spcPts val="400"/>
              </a:spcBef>
              <a:tabLst>
                <a:tab algn="l" pos="0"/>
              </a:tabLst>
            </a:pPr>
            <a:r>
              <a:rPr b="0" lang="fr-FR" sz="2000" spc="-1" strike="noStrike" u="sng">
                <a:solidFill>
                  <a:srgbClr val="205aa7"/>
                </a:solidFill>
                <a:uFillTx/>
                <a:latin typeface="Calibri"/>
              </a:rPr>
              <a:t>L’objectif de cette étape</a:t>
            </a:r>
            <a:r>
              <a:rPr b="0" lang="fr-FR" sz="2000" spc="-1" strike="noStrike">
                <a:solidFill>
                  <a:srgbClr val="205aa7"/>
                </a:solidFill>
                <a:latin typeface="Calibri"/>
              </a:rPr>
              <a:t> :</a:t>
            </a:r>
            <a:endParaRPr b="0" lang="fr-FR" sz="2000" spc="-1" strike="noStrike">
              <a:solidFill>
                <a:srgbClr val="205aa7"/>
              </a:solidFill>
              <a:latin typeface="Calibri"/>
            </a:endParaRPr>
          </a:p>
          <a:p>
            <a:pPr marL="571680" indent="-456840" algn="just">
              <a:lnSpc>
                <a:spcPct val="100000"/>
              </a:lnSpc>
              <a:spcBef>
                <a:spcPts val="400"/>
              </a:spcBef>
              <a:buClr>
                <a:srgbClr val="205aa7"/>
              </a:buClr>
              <a:buFont typeface="Wingdings" charset="2"/>
              <a:buChar char=""/>
              <a:tabLst>
                <a:tab algn="l" pos="0"/>
              </a:tabLst>
            </a:pPr>
            <a:r>
              <a:rPr b="0" lang="fr-FR" sz="2000" spc="-1" strike="noStrike">
                <a:solidFill>
                  <a:srgbClr val="205aa7"/>
                </a:solidFill>
                <a:latin typeface="Calibri"/>
              </a:rPr>
              <a:t>apprécier la capacité du groupe à faire face à ses engagements financiers sur les 24 à 36 prochains mois.</a:t>
            </a:r>
            <a:endParaRPr b="0" lang="fr-FR" sz="2000" spc="-1" strike="noStrike">
              <a:solidFill>
                <a:srgbClr val="205aa7"/>
              </a:solidFill>
              <a:latin typeface="Calibri"/>
            </a:endParaRPr>
          </a:p>
          <a:p>
            <a:pPr marL="571680" indent="-456840" algn="just">
              <a:lnSpc>
                <a:spcPct val="100000"/>
              </a:lnSpc>
              <a:spcBef>
                <a:spcPts val="400"/>
              </a:spcBef>
              <a:buClr>
                <a:srgbClr val="205aa7"/>
              </a:buClr>
              <a:buFont typeface="Wingdings" charset="2"/>
              <a:buChar char=""/>
              <a:tabLst>
                <a:tab algn="l" pos="0"/>
              </a:tabLst>
            </a:pPr>
            <a:r>
              <a:rPr b="0" lang="fr-FR" sz="2000" spc="-1" strike="noStrike">
                <a:solidFill>
                  <a:srgbClr val="205aa7"/>
                </a:solidFill>
                <a:latin typeface="Calibri"/>
              </a:rPr>
              <a:t>Le processus de cotation se décompose en 4 phases :</a:t>
            </a:r>
            <a:endParaRPr b="0" lang="fr-FR" sz="2000" spc="-1" strike="noStrike">
              <a:solidFill>
                <a:srgbClr val="205aa7"/>
              </a:solidFill>
              <a:latin typeface="Calibri"/>
            </a:endParaRPr>
          </a:p>
          <a:p>
            <a:pPr lvl="1" marL="1062360" indent="-456840" algn="just">
              <a:lnSpc>
                <a:spcPct val="100000"/>
              </a:lnSpc>
              <a:spcBef>
                <a:spcPts val="360"/>
              </a:spcBef>
              <a:buClr>
                <a:srgbClr val="205aa7"/>
              </a:buClr>
              <a:buFont typeface="Arial"/>
              <a:buChar char="–"/>
              <a:tabLst>
                <a:tab algn="l" pos="0"/>
              </a:tabLst>
            </a:pPr>
            <a:r>
              <a:rPr b="0" lang="fr-FR" sz="1800" spc="-1" strike="noStrike">
                <a:solidFill>
                  <a:srgbClr val="205aa7"/>
                </a:solidFill>
                <a:latin typeface="Calibri"/>
              </a:rPr>
              <a:t>Détermination de la cote financière</a:t>
            </a:r>
            <a:endParaRPr b="0" lang="fr-FR" sz="1800" spc="-1" strike="noStrike">
              <a:solidFill>
                <a:srgbClr val="595959"/>
              </a:solidFill>
              <a:latin typeface="Calibri"/>
            </a:endParaRPr>
          </a:p>
          <a:p>
            <a:pPr lvl="1" marL="1062360" indent="-456840" algn="just">
              <a:lnSpc>
                <a:spcPct val="100000"/>
              </a:lnSpc>
              <a:spcBef>
                <a:spcPts val="360"/>
              </a:spcBef>
              <a:buClr>
                <a:srgbClr val="205aa7"/>
              </a:buClr>
              <a:buFont typeface="Arial"/>
              <a:buChar char="–"/>
              <a:tabLst>
                <a:tab algn="l" pos="0"/>
              </a:tabLst>
            </a:pPr>
            <a:r>
              <a:rPr b="0" lang="fr-FR" sz="1800" spc="-1" strike="noStrike">
                <a:solidFill>
                  <a:srgbClr val="205aa7"/>
                </a:solidFill>
                <a:latin typeface="Calibri"/>
              </a:rPr>
              <a:t>Prise en compte du profil qualitatif (impact favorable, neutre ou défavorable)</a:t>
            </a:r>
            <a:endParaRPr b="0" lang="fr-FR" sz="1800" spc="-1" strike="noStrike">
              <a:solidFill>
                <a:srgbClr val="595959"/>
              </a:solidFill>
              <a:latin typeface="Calibri"/>
            </a:endParaRPr>
          </a:p>
          <a:p>
            <a:pPr lvl="1" marL="1062360" indent="-456840" algn="just">
              <a:lnSpc>
                <a:spcPct val="100000"/>
              </a:lnSpc>
              <a:spcBef>
                <a:spcPts val="360"/>
              </a:spcBef>
              <a:buClr>
                <a:srgbClr val="205aa7"/>
              </a:buClr>
              <a:buFont typeface="Arial"/>
              <a:buChar char="–"/>
              <a:tabLst>
                <a:tab algn="l" pos="0"/>
              </a:tabLst>
            </a:pPr>
            <a:r>
              <a:rPr b="0" lang="fr-FR" sz="1800" spc="-1" strike="noStrike">
                <a:solidFill>
                  <a:srgbClr val="205aa7"/>
                </a:solidFill>
                <a:latin typeface="Calibri"/>
              </a:rPr>
              <a:t>Perspective d’évolution de la cotation (favorable, stable ou défavorable)</a:t>
            </a:r>
            <a:endParaRPr b="0" lang="fr-FR" sz="1800" spc="-1" strike="noStrike">
              <a:solidFill>
                <a:srgbClr val="595959"/>
              </a:solidFill>
              <a:latin typeface="Calibri"/>
            </a:endParaRPr>
          </a:p>
          <a:p>
            <a:pPr lvl="1" marL="1062360" indent="-456840" algn="just">
              <a:lnSpc>
                <a:spcPct val="100000"/>
              </a:lnSpc>
              <a:spcBef>
                <a:spcPts val="360"/>
              </a:spcBef>
              <a:buClr>
                <a:srgbClr val="205aa7"/>
              </a:buClr>
              <a:buFont typeface="Arial"/>
              <a:buChar char="–"/>
              <a:tabLst>
                <a:tab algn="l" pos="0"/>
              </a:tabLst>
            </a:pPr>
            <a:r>
              <a:rPr b="0" lang="fr-FR" sz="1800" spc="-1" strike="noStrike">
                <a:solidFill>
                  <a:srgbClr val="205aa7"/>
                </a:solidFill>
                <a:latin typeface="Calibri"/>
              </a:rPr>
              <a:t>Préconisation du type de cotation à attribuer aux filiales</a:t>
            </a:r>
            <a:endParaRPr b="0" lang="fr-FR" sz="1800" spc="-1" strike="noStrike">
              <a:solidFill>
                <a:srgbClr val="595959"/>
              </a:solidFill>
              <a:latin typeface="Calibri"/>
            </a:endParaRPr>
          </a:p>
        </p:txBody>
      </p:sp>
    </p:spTree>
  </p:cSld>
  <mc:AlternateContent>
    <mc:Choice Requires="p14">
      <p:transition spd="slow" p14:dur="2000"/>
    </mc:Choice>
    <mc:Fallback>
      <p:transition spd="slow"/>
    </mc:Fallback>
  </mc:AlternateContent>
</p:sld>
</file>

<file path=ppt/slides/slide9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2" name="TextShape 1"/>
          <p:cNvSpPr txBox="1"/>
          <p:nvPr/>
        </p:nvSpPr>
        <p:spPr>
          <a:xfrm>
            <a:off x="468000" y="0"/>
            <a:ext cx="8229240" cy="1142640"/>
          </a:xfrm>
          <a:prstGeom prst="rect">
            <a:avLst/>
          </a:prstGeom>
          <a:noFill/>
          <a:ln>
            <a:noFill/>
          </a:ln>
        </p:spPr>
        <p:txBody>
          <a:bodyPr anchor="ctr">
            <a:noAutofit/>
          </a:bodyPr>
          <a:p>
            <a:pPr>
              <a:lnSpc>
                <a:spcPct val="100000"/>
              </a:lnSpc>
            </a:pPr>
            <a:r>
              <a:rPr b="1" lang="fr-FR" sz="2400" spc="-1" strike="noStrike" cap="all">
                <a:solidFill>
                  <a:srgbClr val="ffffff"/>
                </a:solidFill>
                <a:latin typeface="Calibri"/>
              </a:rPr>
              <a:t>3. L’analyse financière des comptes consolidés</a:t>
            </a:r>
            <a:endParaRPr b="0" lang="fr-FR" sz="2400" spc="-1" strike="noStrike">
              <a:solidFill>
                <a:srgbClr val="000000"/>
              </a:solidFill>
              <a:latin typeface="Calibri"/>
            </a:endParaRPr>
          </a:p>
        </p:txBody>
      </p:sp>
      <p:sp>
        <p:nvSpPr>
          <p:cNvPr id="543" name="TextShape 2"/>
          <p:cNvSpPr txBox="1"/>
          <p:nvPr/>
        </p:nvSpPr>
        <p:spPr>
          <a:xfrm>
            <a:off x="3124080" y="6480000"/>
            <a:ext cx="4975920" cy="359640"/>
          </a:xfrm>
          <a:prstGeom prst="rect">
            <a:avLst/>
          </a:prstGeom>
          <a:noFill/>
          <a:ln>
            <a:noFill/>
          </a:ln>
        </p:spPr>
        <p:txBody>
          <a:bodyPr>
            <a:noAutofit/>
          </a:bodyPr>
          <a:p>
            <a:endParaRPr b="0" lang="fr-FR" sz="2400" spc="-1" strike="noStrike">
              <a:latin typeface="Times New Roman"/>
            </a:endParaRPr>
          </a:p>
        </p:txBody>
      </p:sp>
      <p:sp>
        <p:nvSpPr>
          <p:cNvPr id="544" name="TextShape 3"/>
          <p:cNvSpPr txBox="1"/>
          <p:nvPr/>
        </p:nvSpPr>
        <p:spPr>
          <a:xfrm>
            <a:off x="8172360" y="6480000"/>
            <a:ext cx="539640" cy="359640"/>
          </a:xfrm>
          <a:prstGeom prst="rect">
            <a:avLst/>
          </a:prstGeom>
          <a:noFill/>
          <a:ln>
            <a:noFill/>
          </a:ln>
        </p:spPr>
        <p:txBody>
          <a:bodyPr lIns="90000" rIns="90000" tIns="45000" bIns="45000">
            <a:noAutofit/>
          </a:bodyPr>
          <a:p>
            <a:pPr algn="r">
              <a:lnSpc>
                <a:spcPct val="100000"/>
              </a:lnSpc>
            </a:pPr>
            <a:fld id="{CD5E359F-978C-4E45-B486-4E15A67B578D}" type="slidenum">
              <a:rPr b="0" lang="fr-FR" sz="900" spc="-1" strike="noStrike">
                <a:solidFill>
                  <a:srgbClr val="205aa7"/>
                </a:solidFill>
                <a:latin typeface="Calibri"/>
              </a:rPr>
              <a:t>&lt;number&gt;</a:t>
            </a:fld>
            <a:endParaRPr b="0" lang="fr-FR" sz="900" spc="-1" strike="noStrike">
              <a:latin typeface="Times New Roman"/>
            </a:endParaRPr>
          </a:p>
        </p:txBody>
      </p:sp>
      <p:sp>
        <p:nvSpPr>
          <p:cNvPr id="545" name="TextShape 4"/>
          <p:cNvSpPr txBox="1"/>
          <p:nvPr/>
        </p:nvSpPr>
        <p:spPr>
          <a:xfrm>
            <a:off x="468000" y="1440000"/>
            <a:ext cx="8229240" cy="4525560"/>
          </a:xfrm>
          <a:prstGeom prst="rect">
            <a:avLst/>
          </a:prstGeom>
          <a:noFill/>
          <a:ln>
            <a:noFill/>
          </a:ln>
        </p:spPr>
        <p:txBody>
          <a:bodyPr>
            <a:normAutofit fontScale="97000"/>
          </a:bodyPr>
          <a:p>
            <a:pPr algn="ctr">
              <a:lnSpc>
                <a:spcPct val="100000"/>
              </a:lnSpc>
              <a:spcBef>
                <a:spcPts val="400"/>
              </a:spcBef>
              <a:tabLst>
                <a:tab algn="l" pos="0"/>
              </a:tabLst>
            </a:pPr>
            <a:r>
              <a:rPr b="1" lang="fr-FR" sz="2000" spc="-1" strike="noStrike">
                <a:solidFill>
                  <a:srgbClr val="205aa7"/>
                </a:solidFill>
                <a:latin typeface="Calibri"/>
              </a:rPr>
              <a:t>Étape 6 – Décision de cotation</a:t>
            </a:r>
            <a:endParaRPr b="0" lang="fr-FR" sz="2000" spc="-1" strike="noStrike">
              <a:solidFill>
                <a:srgbClr val="205aa7"/>
              </a:solidFill>
              <a:latin typeface="Calibri"/>
            </a:endParaRPr>
          </a:p>
          <a:p>
            <a:pPr algn="ctr">
              <a:lnSpc>
                <a:spcPct val="100000"/>
              </a:lnSpc>
              <a:spcBef>
                <a:spcPts val="201"/>
              </a:spcBef>
              <a:tabLst>
                <a:tab algn="l" pos="0"/>
              </a:tabLst>
            </a:pPr>
            <a:endParaRPr b="0" lang="fr-FR" sz="2000" spc="-1" strike="noStrike">
              <a:solidFill>
                <a:srgbClr val="205aa7"/>
              </a:solidFill>
              <a:latin typeface="Calibri"/>
            </a:endParaRPr>
          </a:p>
          <a:p>
            <a:pPr marL="114480" algn="ctr">
              <a:lnSpc>
                <a:spcPct val="100000"/>
              </a:lnSpc>
              <a:spcBef>
                <a:spcPts val="400"/>
              </a:spcBef>
              <a:tabLst>
                <a:tab algn="l" pos="0"/>
              </a:tabLst>
            </a:pPr>
            <a:r>
              <a:rPr b="0" lang="fr-FR" sz="2000" spc="-1" strike="noStrike" u="sng">
                <a:solidFill>
                  <a:srgbClr val="205aa7"/>
                </a:solidFill>
                <a:uFillTx/>
                <a:latin typeface="Calibri"/>
              </a:rPr>
              <a:t>Phase 1 : Déterminer la cote financière</a:t>
            </a:r>
            <a:endParaRPr b="0" lang="fr-FR" sz="2000" spc="-1" strike="noStrike">
              <a:solidFill>
                <a:srgbClr val="205aa7"/>
              </a:solidFill>
              <a:latin typeface="Calibri"/>
            </a:endParaRPr>
          </a:p>
          <a:p>
            <a:pPr marL="252000" indent="-251640" algn="just">
              <a:lnSpc>
                <a:spcPct val="100000"/>
              </a:lnSpc>
              <a:spcBef>
                <a:spcPts val="400"/>
              </a:spcBef>
              <a:buClr>
                <a:srgbClr val="205aa7"/>
              </a:buClr>
              <a:buFont typeface="Wingdings" charset="2"/>
              <a:buChar char=""/>
              <a:tabLst>
                <a:tab algn="l" pos="0"/>
              </a:tabLst>
            </a:pPr>
            <a:r>
              <a:rPr b="0" lang="fr-FR" sz="2000" spc="-1" strike="noStrike">
                <a:solidFill>
                  <a:srgbClr val="205aa7"/>
                </a:solidFill>
                <a:latin typeface="Calibri"/>
              </a:rPr>
              <a:t>Les éléments dont l’impact sur la situation du groupe sont </a:t>
            </a:r>
            <a:r>
              <a:rPr b="1" lang="fr-FR" sz="2000" spc="-1" strike="noStrike">
                <a:solidFill>
                  <a:srgbClr val="205aa7"/>
                </a:solidFill>
                <a:latin typeface="Calibri"/>
              </a:rPr>
              <a:t>quantifiables financièrement</a:t>
            </a:r>
            <a:r>
              <a:rPr b="0" lang="fr-FR" sz="2000" spc="-1" strike="noStrike">
                <a:solidFill>
                  <a:srgbClr val="205aa7"/>
                </a:solidFill>
                <a:latin typeface="Calibri"/>
              </a:rPr>
              <a:t> sont pris en compte au niveau du profil financier.</a:t>
            </a:r>
            <a:endParaRPr b="0" lang="fr-FR" sz="2000" spc="-1" strike="noStrike">
              <a:solidFill>
                <a:srgbClr val="205aa7"/>
              </a:solidFill>
              <a:latin typeface="Calibri"/>
            </a:endParaRPr>
          </a:p>
          <a:p>
            <a:pPr marL="252000" indent="-251640" algn="just">
              <a:lnSpc>
                <a:spcPct val="100000"/>
              </a:lnSpc>
              <a:spcBef>
                <a:spcPts val="400"/>
              </a:spcBef>
              <a:buClr>
                <a:srgbClr val="205aa7"/>
              </a:buClr>
              <a:buFont typeface="Wingdings" charset="2"/>
              <a:buChar char=""/>
              <a:tabLst>
                <a:tab algn="l" pos="0"/>
              </a:tabLst>
            </a:pPr>
            <a:r>
              <a:rPr b="0" lang="fr-FR" sz="2000" spc="-1" strike="noStrike">
                <a:solidFill>
                  <a:srgbClr val="205aa7"/>
                </a:solidFill>
                <a:latin typeface="Calibri"/>
              </a:rPr>
              <a:t>Ainsi, les évènements post-clôture réalisés et précisément chiffrés et les données issues des situations intermédiaires, notamment semestrielles, doivent être intégrés au niveau du profil financier, c’est-à-dire avant prise en compte des éléments qualitatifs.</a:t>
            </a:r>
            <a:endParaRPr b="0" lang="fr-FR" sz="2000" spc="-1" strike="noStrike">
              <a:solidFill>
                <a:srgbClr val="205aa7"/>
              </a:solidFill>
              <a:latin typeface="Calibri"/>
            </a:endParaRPr>
          </a:p>
          <a:p>
            <a:pPr marL="252000" indent="-251640" algn="just">
              <a:lnSpc>
                <a:spcPct val="100000"/>
              </a:lnSpc>
              <a:spcBef>
                <a:spcPts val="400"/>
              </a:spcBef>
              <a:buClr>
                <a:srgbClr val="205aa7"/>
              </a:buClr>
              <a:buFont typeface="Wingdings" charset="2"/>
              <a:buChar char=""/>
              <a:tabLst>
                <a:tab algn="l" pos="0"/>
              </a:tabLst>
            </a:pPr>
            <a:r>
              <a:rPr b="0" lang="fr-FR" sz="2000" spc="-1" strike="noStrike">
                <a:solidFill>
                  <a:srgbClr val="205aa7"/>
                </a:solidFill>
                <a:latin typeface="Calibri"/>
              </a:rPr>
              <a:t>Le groupe est positionné sur une cote primaire (3, 4, 5 ou 6) qui est ensuite segmentée sur la base d’indicateurs financiers clés discriminants (différents selon les secteurs d’activité) et du risque de liquidité.</a:t>
            </a:r>
            <a:endParaRPr b="0" lang="fr-FR" sz="2000" spc="-1" strike="noStrike">
              <a:solidFill>
                <a:srgbClr val="205aa7"/>
              </a:solidFill>
              <a:latin typeface="Calibri"/>
            </a:endParaRPr>
          </a:p>
        </p:txBody>
      </p:sp>
    </p:spTree>
  </p:cSld>
  <mc:AlternateContent>
    <mc:Choice Requires="p14">
      <p:transition spd="slow" p14:dur="2000"/>
    </mc:Choice>
    <mc:Fallback>
      <p:transition spd="slow"/>
    </mc:Fallback>
  </mc:AlternateContent>
</p:sld>
</file>

<file path=ppt/slides/slide9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6" name="TextShape 1"/>
          <p:cNvSpPr txBox="1"/>
          <p:nvPr/>
        </p:nvSpPr>
        <p:spPr>
          <a:xfrm>
            <a:off x="468000" y="0"/>
            <a:ext cx="8229240" cy="1142640"/>
          </a:xfrm>
          <a:prstGeom prst="rect">
            <a:avLst/>
          </a:prstGeom>
          <a:noFill/>
          <a:ln>
            <a:noFill/>
          </a:ln>
        </p:spPr>
        <p:txBody>
          <a:bodyPr anchor="ctr">
            <a:noAutofit/>
          </a:bodyPr>
          <a:p>
            <a:pPr>
              <a:lnSpc>
                <a:spcPct val="100000"/>
              </a:lnSpc>
            </a:pPr>
            <a:r>
              <a:rPr b="1" lang="fr-FR" sz="2400" spc="-1" strike="noStrike" cap="all">
                <a:solidFill>
                  <a:srgbClr val="ffffff"/>
                </a:solidFill>
                <a:latin typeface="Calibri"/>
              </a:rPr>
              <a:t>3. L’analyse financière des comptes consolidés</a:t>
            </a:r>
            <a:endParaRPr b="0" lang="fr-FR" sz="2400" spc="-1" strike="noStrike">
              <a:solidFill>
                <a:srgbClr val="000000"/>
              </a:solidFill>
              <a:latin typeface="Calibri"/>
            </a:endParaRPr>
          </a:p>
        </p:txBody>
      </p:sp>
      <p:sp>
        <p:nvSpPr>
          <p:cNvPr id="547" name="TextShape 2"/>
          <p:cNvSpPr txBox="1"/>
          <p:nvPr/>
        </p:nvSpPr>
        <p:spPr>
          <a:xfrm>
            <a:off x="3124080" y="6480000"/>
            <a:ext cx="4975920" cy="359640"/>
          </a:xfrm>
          <a:prstGeom prst="rect">
            <a:avLst/>
          </a:prstGeom>
          <a:noFill/>
          <a:ln>
            <a:noFill/>
          </a:ln>
        </p:spPr>
        <p:txBody>
          <a:bodyPr>
            <a:noAutofit/>
          </a:bodyPr>
          <a:p>
            <a:endParaRPr b="0" lang="fr-FR" sz="2400" spc="-1" strike="noStrike">
              <a:latin typeface="Times New Roman"/>
            </a:endParaRPr>
          </a:p>
        </p:txBody>
      </p:sp>
      <p:sp>
        <p:nvSpPr>
          <p:cNvPr id="548" name="TextShape 3"/>
          <p:cNvSpPr txBox="1"/>
          <p:nvPr/>
        </p:nvSpPr>
        <p:spPr>
          <a:xfrm>
            <a:off x="8172360" y="6480000"/>
            <a:ext cx="539640" cy="359640"/>
          </a:xfrm>
          <a:prstGeom prst="rect">
            <a:avLst/>
          </a:prstGeom>
          <a:noFill/>
          <a:ln>
            <a:noFill/>
          </a:ln>
        </p:spPr>
        <p:txBody>
          <a:bodyPr lIns="90000" rIns="90000" tIns="45000" bIns="45000">
            <a:noAutofit/>
          </a:bodyPr>
          <a:p>
            <a:pPr algn="r">
              <a:lnSpc>
                <a:spcPct val="100000"/>
              </a:lnSpc>
            </a:pPr>
            <a:fld id="{C29AD38C-CDED-461C-A590-FE3700953FEE}" type="slidenum">
              <a:rPr b="0" lang="fr-FR" sz="900" spc="-1" strike="noStrike">
                <a:solidFill>
                  <a:srgbClr val="205aa7"/>
                </a:solidFill>
                <a:latin typeface="Calibri"/>
              </a:rPr>
              <a:t>&lt;number&gt;</a:t>
            </a:fld>
            <a:endParaRPr b="0" lang="fr-FR" sz="900" spc="-1" strike="noStrike">
              <a:latin typeface="Times New Roman"/>
            </a:endParaRPr>
          </a:p>
        </p:txBody>
      </p:sp>
      <p:sp>
        <p:nvSpPr>
          <p:cNvPr id="549" name="TextShape 4"/>
          <p:cNvSpPr txBox="1"/>
          <p:nvPr/>
        </p:nvSpPr>
        <p:spPr>
          <a:xfrm>
            <a:off x="468000" y="1440000"/>
            <a:ext cx="8229240" cy="4525560"/>
          </a:xfrm>
          <a:prstGeom prst="rect">
            <a:avLst/>
          </a:prstGeom>
          <a:noFill/>
          <a:ln>
            <a:noFill/>
          </a:ln>
        </p:spPr>
        <p:txBody>
          <a:bodyPr>
            <a:normAutofit/>
          </a:bodyPr>
          <a:p>
            <a:pPr algn="ctr">
              <a:lnSpc>
                <a:spcPct val="100000"/>
              </a:lnSpc>
              <a:spcBef>
                <a:spcPts val="400"/>
              </a:spcBef>
              <a:tabLst>
                <a:tab algn="l" pos="0"/>
              </a:tabLst>
            </a:pPr>
            <a:r>
              <a:rPr b="1" lang="fr-FR" sz="2000" spc="-1" strike="noStrike">
                <a:solidFill>
                  <a:srgbClr val="205aa7"/>
                </a:solidFill>
                <a:latin typeface="Calibri"/>
              </a:rPr>
              <a:t>Étape 6 – Décision de cotation</a:t>
            </a:r>
            <a:endParaRPr b="0" lang="fr-FR" sz="2000" spc="-1" strike="noStrike">
              <a:solidFill>
                <a:srgbClr val="205aa7"/>
              </a:solidFill>
              <a:latin typeface="Calibri"/>
            </a:endParaRPr>
          </a:p>
          <a:p>
            <a:pPr algn="ctr">
              <a:lnSpc>
                <a:spcPct val="100000"/>
              </a:lnSpc>
              <a:spcBef>
                <a:spcPts val="201"/>
              </a:spcBef>
              <a:tabLst>
                <a:tab algn="l" pos="0"/>
              </a:tabLst>
            </a:pPr>
            <a:endParaRPr b="0" lang="fr-FR" sz="2000" spc="-1" strike="noStrike">
              <a:solidFill>
                <a:srgbClr val="205aa7"/>
              </a:solidFill>
              <a:latin typeface="Calibri"/>
            </a:endParaRPr>
          </a:p>
          <a:p>
            <a:pPr marL="114480" algn="ctr">
              <a:lnSpc>
                <a:spcPct val="100000"/>
              </a:lnSpc>
              <a:spcBef>
                <a:spcPts val="400"/>
              </a:spcBef>
              <a:tabLst>
                <a:tab algn="l" pos="0"/>
              </a:tabLst>
            </a:pPr>
            <a:r>
              <a:rPr b="0" lang="fr-FR" sz="2000" spc="-1" strike="noStrike" u="sng">
                <a:solidFill>
                  <a:srgbClr val="205aa7"/>
                </a:solidFill>
                <a:uFillTx/>
                <a:latin typeface="Calibri"/>
              </a:rPr>
              <a:t>Phase 2 : Déterminer le profil qualitatif</a:t>
            </a:r>
            <a:endParaRPr b="0" lang="fr-FR" sz="2000" spc="-1" strike="noStrike">
              <a:solidFill>
                <a:srgbClr val="205aa7"/>
              </a:solidFill>
              <a:latin typeface="Calibri"/>
            </a:endParaRPr>
          </a:p>
          <a:p>
            <a:pPr marL="252000" indent="-251640" algn="just">
              <a:lnSpc>
                <a:spcPct val="100000"/>
              </a:lnSpc>
              <a:spcBef>
                <a:spcPts val="400"/>
              </a:spcBef>
              <a:buClr>
                <a:srgbClr val="205aa7"/>
              </a:buClr>
              <a:buFont typeface="Wingdings" charset="2"/>
              <a:buChar char=""/>
              <a:tabLst>
                <a:tab algn="l" pos="0"/>
              </a:tabLst>
            </a:pPr>
            <a:r>
              <a:rPr b="0" lang="fr-FR" sz="2000" spc="-1" strike="noStrike">
                <a:solidFill>
                  <a:srgbClr val="205aa7"/>
                </a:solidFill>
                <a:latin typeface="Calibri"/>
              </a:rPr>
              <a:t>Les éléments </a:t>
            </a:r>
            <a:r>
              <a:rPr b="1" lang="fr-FR" sz="2000" spc="-1" strike="noStrike">
                <a:solidFill>
                  <a:srgbClr val="205aa7"/>
                </a:solidFill>
                <a:latin typeface="Calibri"/>
              </a:rPr>
              <a:t>non quantifiables financièrement </a:t>
            </a:r>
            <a:r>
              <a:rPr b="0" lang="fr-FR" sz="2000" spc="-1" strike="noStrike">
                <a:solidFill>
                  <a:srgbClr val="205aa7"/>
                </a:solidFill>
                <a:latin typeface="Calibri"/>
              </a:rPr>
              <a:t>(évènements post-clôture non chiffrés, prévisions d’activité) doivent être appréciés au titre de l’analyse qualitative et leur impact retranscrit au niveau de la cote finalement retenue.</a:t>
            </a:r>
            <a:endParaRPr b="0" lang="fr-FR" sz="2000" spc="-1" strike="noStrike">
              <a:solidFill>
                <a:srgbClr val="205aa7"/>
              </a:solidFill>
              <a:latin typeface="Calibri"/>
            </a:endParaRPr>
          </a:p>
          <a:p>
            <a:pPr marL="252000" indent="-251640" algn="just">
              <a:lnSpc>
                <a:spcPct val="100000"/>
              </a:lnSpc>
              <a:spcBef>
                <a:spcPts val="400"/>
              </a:spcBef>
              <a:buClr>
                <a:srgbClr val="205aa7"/>
              </a:buClr>
              <a:buFont typeface="Wingdings" charset="2"/>
              <a:buChar char=""/>
              <a:tabLst>
                <a:tab algn="l" pos="0"/>
              </a:tabLst>
            </a:pPr>
            <a:r>
              <a:rPr b="0" lang="fr-FR" sz="2000" spc="-1" strike="noStrike">
                <a:solidFill>
                  <a:srgbClr val="205aa7"/>
                </a:solidFill>
                <a:latin typeface="Calibri"/>
              </a:rPr>
              <a:t>Un même élément ne peut en aucun cas impacter le profil financier </a:t>
            </a:r>
            <a:r>
              <a:rPr b="0" lang="fr-FR" sz="2000" spc="-1" strike="noStrike" u="sng">
                <a:solidFill>
                  <a:srgbClr val="205aa7"/>
                </a:solidFill>
                <a:uFillTx/>
                <a:latin typeface="Calibri"/>
              </a:rPr>
              <a:t>et</a:t>
            </a:r>
            <a:r>
              <a:rPr b="0" lang="fr-FR" sz="2000" spc="-1" strike="noStrike">
                <a:solidFill>
                  <a:srgbClr val="205aa7"/>
                </a:solidFill>
                <a:latin typeface="Calibri"/>
              </a:rPr>
              <a:t> le profil qualitatif.</a:t>
            </a:r>
            <a:endParaRPr b="0" lang="fr-FR" sz="2000" spc="-1" strike="noStrike">
              <a:solidFill>
                <a:srgbClr val="205aa7"/>
              </a:solidFill>
              <a:latin typeface="Calibri"/>
            </a:endParaRPr>
          </a:p>
          <a:p>
            <a:pPr marL="252000" indent="-251640" algn="just">
              <a:lnSpc>
                <a:spcPct val="100000"/>
              </a:lnSpc>
              <a:spcBef>
                <a:spcPts val="400"/>
              </a:spcBef>
              <a:buClr>
                <a:srgbClr val="205aa7"/>
              </a:buClr>
              <a:buFont typeface="Wingdings" charset="2"/>
              <a:buChar char=""/>
              <a:tabLst>
                <a:tab algn="l" pos="0"/>
              </a:tabLst>
            </a:pPr>
            <a:r>
              <a:rPr b="0" lang="fr-FR" sz="2000" spc="-1" strike="noStrike">
                <a:solidFill>
                  <a:srgbClr val="205aa7"/>
                </a:solidFill>
                <a:latin typeface="Calibri"/>
              </a:rPr>
              <a:t>L’objectif de cette phase est d’établir une synthèse critique des atouts et des faiblesses du profil qualitatif du groupe au regard des éléments développés dans la fiche de cotation.</a:t>
            </a:r>
            <a:endParaRPr b="0" lang="fr-FR" sz="2000" spc="-1" strike="noStrike">
              <a:solidFill>
                <a:srgbClr val="205aa7"/>
              </a:solidFill>
              <a:latin typeface="Calibri"/>
            </a:endParaRPr>
          </a:p>
        </p:txBody>
      </p:sp>
    </p:spTree>
  </p:cSld>
  <mc:AlternateContent>
    <mc:Choice Requires="p14">
      <p:transition spd="slow" p14:dur="2000"/>
    </mc:Choice>
    <mc:Fallback>
      <p:transition spd="slow"/>
    </mc:Fallback>
  </mc:AlternateContent>
</p:sld>
</file>

<file path=ppt/slides/slide9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0" name="TextShape 1"/>
          <p:cNvSpPr txBox="1"/>
          <p:nvPr/>
        </p:nvSpPr>
        <p:spPr>
          <a:xfrm>
            <a:off x="468000" y="0"/>
            <a:ext cx="8229240" cy="1142640"/>
          </a:xfrm>
          <a:prstGeom prst="rect">
            <a:avLst/>
          </a:prstGeom>
          <a:noFill/>
          <a:ln>
            <a:noFill/>
          </a:ln>
        </p:spPr>
        <p:txBody>
          <a:bodyPr anchor="ctr">
            <a:noAutofit/>
          </a:bodyPr>
          <a:p>
            <a:pPr>
              <a:lnSpc>
                <a:spcPct val="100000"/>
              </a:lnSpc>
            </a:pPr>
            <a:r>
              <a:rPr b="1" lang="fr-FR" sz="2400" spc="-1" strike="noStrike" cap="all">
                <a:solidFill>
                  <a:srgbClr val="ffffff"/>
                </a:solidFill>
                <a:latin typeface="Calibri"/>
              </a:rPr>
              <a:t>3. L’analyse financière des comptes consolidés</a:t>
            </a:r>
            <a:endParaRPr b="0" lang="fr-FR" sz="2400" spc="-1" strike="noStrike">
              <a:solidFill>
                <a:srgbClr val="000000"/>
              </a:solidFill>
              <a:latin typeface="Calibri"/>
            </a:endParaRPr>
          </a:p>
        </p:txBody>
      </p:sp>
      <p:sp>
        <p:nvSpPr>
          <p:cNvPr id="551" name="TextShape 2"/>
          <p:cNvSpPr txBox="1"/>
          <p:nvPr/>
        </p:nvSpPr>
        <p:spPr>
          <a:xfrm>
            <a:off x="3124080" y="6480000"/>
            <a:ext cx="4975920" cy="359640"/>
          </a:xfrm>
          <a:prstGeom prst="rect">
            <a:avLst/>
          </a:prstGeom>
          <a:noFill/>
          <a:ln>
            <a:noFill/>
          </a:ln>
        </p:spPr>
        <p:txBody>
          <a:bodyPr>
            <a:noAutofit/>
          </a:bodyPr>
          <a:p>
            <a:endParaRPr b="0" lang="fr-FR" sz="2400" spc="-1" strike="noStrike">
              <a:latin typeface="Times New Roman"/>
            </a:endParaRPr>
          </a:p>
        </p:txBody>
      </p:sp>
      <p:sp>
        <p:nvSpPr>
          <p:cNvPr id="552" name="TextShape 3"/>
          <p:cNvSpPr txBox="1"/>
          <p:nvPr/>
        </p:nvSpPr>
        <p:spPr>
          <a:xfrm>
            <a:off x="8172360" y="6480000"/>
            <a:ext cx="539640" cy="359640"/>
          </a:xfrm>
          <a:prstGeom prst="rect">
            <a:avLst/>
          </a:prstGeom>
          <a:noFill/>
          <a:ln>
            <a:noFill/>
          </a:ln>
        </p:spPr>
        <p:txBody>
          <a:bodyPr lIns="90000" rIns="90000" tIns="45000" bIns="45000">
            <a:noAutofit/>
          </a:bodyPr>
          <a:p>
            <a:pPr algn="r">
              <a:lnSpc>
                <a:spcPct val="100000"/>
              </a:lnSpc>
            </a:pPr>
            <a:fld id="{179C2F59-2194-40B0-9ABA-C052FD4619AA}" type="slidenum">
              <a:rPr b="0" lang="fr-FR" sz="900" spc="-1" strike="noStrike">
                <a:solidFill>
                  <a:srgbClr val="205aa7"/>
                </a:solidFill>
                <a:latin typeface="Calibri"/>
              </a:rPr>
              <a:t>&lt;number&gt;</a:t>
            </a:fld>
            <a:endParaRPr b="0" lang="fr-FR" sz="900" spc="-1" strike="noStrike">
              <a:latin typeface="Times New Roman"/>
            </a:endParaRPr>
          </a:p>
        </p:txBody>
      </p:sp>
      <p:sp>
        <p:nvSpPr>
          <p:cNvPr id="553" name="TextShape 4"/>
          <p:cNvSpPr txBox="1"/>
          <p:nvPr/>
        </p:nvSpPr>
        <p:spPr>
          <a:xfrm>
            <a:off x="468000" y="1440000"/>
            <a:ext cx="8229240" cy="4525560"/>
          </a:xfrm>
          <a:prstGeom prst="rect">
            <a:avLst/>
          </a:prstGeom>
          <a:noFill/>
          <a:ln>
            <a:noFill/>
          </a:ln>
        </p:spPr>
        <p:txBody>
          <a:bodyPr>
            <a:normAutofit/>
          </a:bodyPr>
          <a:p>
            <a:pPr algn="ctr">
              <a:lnSpc>
                <a:spcPct val="100000"/>
              </a:lnSpc>
              <a:spcBef>
                <a:spcPts val="400"/>
              </a:spcBef>
              <a:tabLst>
                <a:tab algn="l" pos="0"/>
              </a:tabLst>
            </a:pPr>
            <a:r>
              <a:rPr b="1" lang="fr-FR" sz="2000" spc="-1" strike="noStrike">
                <a:solidFill>
                  <a:srgbClr val="205aa7"/>
                </a:solidFill>
                <a:latin typeface="Calibri"/>
              </a:rPr>
              <a:t>Étape 6 – Décision de cotation</a:t>
            </a:r>
            <a:endParaRPr b="0" lang="fr-FR" sz="2000" spc="-1" strike="noStrike">
              <a:solidFill>
                <a:srgbClr val="205aa7"/>
              </a:solidFill>
              <a:latin typeface="Calibri"/>
            </a:endParaRPr>
          </a:p>
          <a:p>
            <a:pPr algn="ctr">
              <a:lnSpc>
                <a:spcPct val="100000"/>
              </a:lnSpc>
              <a:spcBef>
                <a:spcPts val="201"/>
              </a:spcBef>
              <a:tabLst>
                <a:tab algn="l" pos="0"/>
              </a:tabLst>
            </a:pPr>
            <a:endParaRPr b="0" lang="fr-FR" sz="2000" spc="-1" strike="noStrike">
              <a:solidFill>
                <a:srgbClr val="205aa7"/>
              </a:solidFill>
              <a:latin typeface="Calibri"/>
            </a:endParaRPr>
          </a:p>
          <a:p>
            <a:pPr marL="114480" algn="ctr">
              <a:lnSpc>
                <a:spcPct val="100000"/>
              </a:lnSpc>
              <a:spcBef>
                <a:spcPts val="400"/>
              </a:spcBef>
              <a:tabLst>
                <a:tab algn="l" pos="0"/>
              </a:tabLst>
            </a:pPr>
            <a:r>
              <a:rPr b="0" lang="fr-FR" sz="2000" spc="-1" strike="noStrike" u="sng">
                <a:solidFill>
                  <a:srgbClr val="205aa7"/>
                </a:solidFill>
                <a:uFillTx/>
                <a:latin typeface="Calibri"/>
              </a:rPr>
              <a:t>Phase 2 : Déterminer le profil qualitatif</a:t>
            </a:r>
            <a:endParaRPr b="0" lang="fr-FR" sz="2000" spc="-1" strike="noStrike">
              <a:solidFill>
                <a:srgbClr val="205aa7"/>
              </a:solidFill>
              <a:latin typeface="Calibri"/>
            </a:endParaRPr>
          </a:p>
        </p:txBody>
      </p:sp>
      <p:pic>
        <p:nvPicPr>
          <p:cNvPr id="554" name="Picture 2" descr=""/>
          <p:cNvPicPr/>
          <p:nvPr/>
        </p:nvPicPr>
        <p:blipFill>
          <a:blip r:embed="rId1"/>
          <a:stretch/>
        </p:blipFill>
        <p:spPr>
          <a:xfrm>
            <a:off x="2527200" y="2349000"/>
            <a:ext cx="4111200" cy="3982320"/>
          </a:xfrm>
          <a:prstGeom prst="rect">
            <a:avLst/>
          </a:prstGeom>
          <a:ln>
            <a:noFill/>
          </a:ln>
        </p:spPr>
      </p:pic>
    </p:spTree>
  </p:cSld>
  <mc:AlternateContent>
    <mc:Choice Requires="p14">
      <p:transition spd="slow" p14:dur="2000"/>
    </mc:Choice>
    <mc:Fallback>
      <p:transition spd="slow"/>
    </mc:Fallback>
  </mc:AlternateContent>
</p:sld>
</file>

<file path=ppt/slides/slide10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5" name="TextShape 1"/>
          <p:cNvSpPr txBox="1"/>
          <p:nvPr/>
        </p:nvSpPr>
        <p:spPr>
          <a:xfrm>
            <a:off x="468000" y="0"/>
            <a:ext cx="8229240" cy="1142640"/>
          </a:xfrm>
          <a:prstGeom prst="rect">
            <a:avLst/>
          </a:prstGeom>
          <a:noFill/>
          <a:ln>
            <a:noFill/>
          </a:ln>
        </p:spPr>
        <p:txBody>
          <a:bodyPr anchor="ctr">
            <a:noAutofit/>
          </a:bodyPr>
          <a:p>
            <a:pPr>
              <a:lnSpc>
                <a:spcPct val="100000"/>
              </a:lnSpc>
            </a:pPr>
            <a:r>
              <a:rPr b="1" lang="fr-FR" sz="2400" spc="-1" strike="noStrike" cap="all">
                <a:solidFill>
                  <a:srgbClr val="ffffff"/>
                </a:solidFill>
                <a:latin typeface="Calibri"/>
              </a:rPr>
              <a:t>3. L’analyse financière des comptes consolidés</a:t>
            </a:r>
            <a:endParaRPr b="0" lang="fr-FR" sz="2400" spc="-1" strike="noStrike">
              <a:solidFill>
                <a:srgbClr val="000000"/>
              </a:solidFill>
              <a:latin typeface="Calibri"/>
            </a:endParaRPr>
          </a:p>
        </p:txBody>
      </p:sp>
      <p:sp>
        <p:nvSpPr>
          <p:cNvPr id="556" name="TextShape 2"/>
          <p:cNvSpPr txBox="1"/>
          <p:nvPr/>
        </p:nvSpPr>
        <p:spPr>
          <a:xfrm>
            <a:off x="3124080" y="6480000"/>
            <a:ext cx="4975920" cy="359640"/>
          </a:xfrm>
          <a:prstGeom prst="rect">
            <a:avLst/>
          </a:prstGeom>
          <a:noFill/>
          <a:ln>
            <a:noFill/>
          </a:ln>
        </p:spPr>
        <p:txBody>
          <a:bodyPr>
            <a:noAutofit/>
          </a:bodyPr>
          <a:p>
            <a:endParaRPr b="0" lang="fr-FR" sz="2400" spc="-1" strike="noStrike">
              <a:latin typeface="Times New Roman"/>
            </a:endParaRPr>
          </a:p>
        </p:txBody>
      </p:sp>
      <p:sp>
        <p:nvSpPr>
          <p:cNvPr id="557" name="TextShape 3"/>
          <p:cNvSpPr txBox="1"/>
          <p:nvPr/>
        </p:nvSpPr>
        <p:spPr>
          <a:xfrm>
            <a:off x="8172360" y="6480000"/>
            <a:ext cx="539640" cy="359640"/>
          </a:xfrm>
          <a:prstGeom prst="rect">
            <a:avLst/>
          </a:prstGeom>
          <a:noFill/>
          <a:ln>
            <a:noFill/>
          </a:ln>
        </p:spPr>
        <p:txBody>
          <a:bodyPr lIns="90000" rIns="90000" tIns="45000" bIns="45000">
            <a:noAutofit/>
          </a:bodyPr>
          <a:p>
            <a:pPr algn="r">
              <a:lnSpc>
                <a:spcPct val="100000"/>
              </a:lnSpc>
            </a:pPr>
            <a:fld id="{524498D7-61D3-4F62-835A-379D977E461F}" type="slidenum">
              <a:rPr b="0" lang="fr-FR" sz="900" spc="-1" strike="noStrike">
                <a:solidFill>
                  <a:srgbClr val="205aa7"/>
                </a:solidFill>
                <a:latin typeface="Calibri"/>
              </a:rPr>
              <a:t>&lt;number&gt;</a:t>
            </a:fld>
            <a:endParaRPr b="0" lang="fr-FR" sz="900" spc="-1" strike="noStrike">
              <a:latin typeface="Times New Roman"/>
            </a:endParaRPr>
          </a:p>
        </p:txBody>
      </p:sp>
      <p:sp>
        <p:nvSpPr>
          <p:cNvPr id="558" name="TextShape 4"/>
          <p:cNvSpPr txBox="1"/>
          <p:nvPr/>
        </p:nvSpPr>
        <p:spPr>
          <a:xfrm>
            <a:off x="468000" y="1440000"/>
            <a:ext cx="8229240" cy="4525560"/>
          </a:xfrm>
          <a:prstGeom prst="rect">
            <a:avLst/>
          </a:prstGeom>
          <a:noFill/>
          <a:ln>
            <a:noFill/>
          </a:ln>
        </p:spPr>
        <p:txBody>
          <a:bodyPr>
            <a:normAutofit/>
          </a:bodyPr>
          <a:p>
            <a:pPr algn="ctr">
              <a:lnSpc>
                <a:spcPct val="100000"/>
              </a:lnSpc>
              <a:spcBef>
                <a:spcPts val="400"/>
              </a:spcBef>
              <a:tabLst>
                <a:tab algn="l" pos="0"/>
              </a:tabLst>
            </a:pPr>
            <a:r>
              <a:rPr b="1" lang="fr-FR" sz="2000" spc="-1" strike="noStrike">
                <a:solidFill>
                  <a:srgbClr val="205aa7"/>
                </a:solidFill>
                <a:latin typeface="Calibri"/>
              </a:rPr>
              <a:t>Étape 6 – Décision de cotation</a:t>
            </a:r>
            <a:endParaRPr b="0" lang="fr-FR" sz="2000" spc="-1" strike="noStrike">
              <a:solidFill>
                <a:srgbClr val="205aa7"/>
              </a:solidFill>
              <a:latin typeface="Calibri"/>
            </a:endParaRPr>
          </a:p>
          <a:p>
            <a:pPr algn="ctr">
              <a:lnSpc>
                <a:spcPct val="100000"/>
              </a:lnSpc>
              <a:spcBef>
                <a:spcPts val="201"/>
              </a:spcBef>
              <a:tabLst>
                <a:tab algn="l" pos="0"/>
              </a:tabLst>
            </a:pPr>
            <a:endParaRPr b="0" lang="fr-FR" sz="2000" spc="-1" strike="noStrike">
              <a:solidFill>
                <a:srgbClr val="205aa7"/>
              </a:solidFill>
              <a:latin typeface="Calibri"/>
            </a:endParaRPr>
          </a:p>
          <a:p>
            <a:pPr marL="114480" algn="ctr">
              <a:lnSpc>
                <a:spcPct val="100000"/>
              </a:lnSpc>
              <a:spcBef>
                <a:spcPts val="400"/>
              </a:spcBef>
              <a:tabLst>
                <a:tab algn="l" pos="0"/>
              </a:tabLst>
            </a:pPr>
            <a:r>
              <a:rPr b="0" lang="fr-FR" sz="2000" spc="-1" strike="noStrike" u="sng">
                <a:solidFill>
                  <a:srgbClr val="205aa7"/>
                </a:solidFill>
                <a:uFillTx/>
                <a:latin typeface="Calibri"/>
              </a:rPr>
              <a:t>Phase 3 : Perspective d’évolution de la cotation</a:t>
            </a:r>
            <a:endParaRPr b="0" lang="fr-FR" sz="2000" spc="-1" strike="noStrike">
              <a:solidFill>
                <a:srgbClr val="205aa7"/>
              </a:solidFill>
              <a:latin typeface="Calibri"/>
            </a:endParaRPr>
          </a:p>
          <a:p>
            <a:pPr marL="252000" indent="-251640" algn="just">
              <a:lnSpc>
                <a:spcPct val="100000"/>
              </a:lnSpc>
              <a:spcBef>
                <a:spcPts val="400"/>
              </a:spcBef>
              <a:buClr>
                <a:srgbClr val="205aa7"/>
              </a:buClr>
              <a:buFont typeface="Wingdings" charset="2"/>
              <a:buChar char=""/>
              <a:tabLst>
                <a:tab algn="l" pos="0"/>
              </a:tabLst>
            </a:pPr>
            <a:r>
              <a:rPr b="0" lang="fr-FR" sz="2000" spc="-1" strike="noStrike">
                <a:solidFill>
                  <a:srgbClr val="205aa7"/>
                </a:solidFill>
                <a:latin typeface="Calibri"/>
              </a:rPr>
              <a:t>L’objectif de cette phase est d’indiquer l’orientation de la cotation du groupe en analysant notamment les indicateurs financiers clés qui peuvent influer sur son évolution.</a:t>
            </a:r>
            <a:endParaRPr b="0" lang="fr-FR" sz="2000" spc="-1" strike="noStrike">
              <a:solidFill>
                <a:srgbClr val="205aa7"/>
              </a:solidFill>
              <a:latin typeface="Calibri"/>
            </a:endParaRPr>
          </a:p>
          <a:p>
            <a:pPr marL="252000" indent="-251640" algn="just">
              <a:lnSpc>
                <a:spcPct val="100000"/>
              </a:lnSpc>
              <a:spcBef>
                <a:spcPts val="400"/>
              </a:spcBef>
              <a:buClr>
                <a:srgbClr val="205aa7"/>
              </a:buClr>
              <a:buFont typeface="Wingdings" charset="2"/>
              <a:buChar char=""/>
              <a:tabLst>
                <a:tab algn="l" pos="0"/>
              </a:tabLst>
            </a:pPr>
            <a:r>
              <a:rPr b="0" lang="fr-FR" sz="2000" spc="-1" strike="noStrike">
                <a:solidFill>
                  <a:srgbClr val="205aa7"/>
                </a:solidFill>
                <a:latin typeface="Calibri"/>
              </a:rPr>
              <a:t>A posteriori, cette perspective est étudiée pour relever les écarts éventuels et apprécier la fiabilité des prévisions.</a:t>
            </a:r>
            <a:endParaRPr b="0" lang="fr-FR" sz="2000" spc="-1" strike="noStrike">
              <a:solidFill>
                <a:srgbClr val="205aa7"/>
              </a:solidFill>
              <a:latin typeface="Calibri"/>
            </a:endParaRPr>
          </a:p>
        </p:txBody>
      </p:sp>
    </p:spTree>
  </p:cSld>
  <mc:AlternateContent>
    <mc:Choice Requires="p14">
      <p:transition spd="slow" p14:dur="2000"/>
    </mc:Choice>
    <mc:Fallback>
      <p:transition spd="slow"/>
    </mc:Fallback>
  </mc:AlternateContent>
</p:sld>
</file>

<file path=ppt/slides/slide10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9" name="TextShape 1"/>
          <p:cNvSpPr txBox="1"/>
          <p:nvPr/>
        </p:nvSpPr>
        <p:spPr>
          <a:xfrm>
            <a:off x="468000" y="0"/>
            <a:ext cx="8229240" cy="1142640"/>
          </a:xfrm>
          <a:prstGeom prst="rect">
            <a:avLst/>
          </a:prstGeom>
          <a:noFill/>
          <a:ln>
            <a:noFill/>
          </a:ln>
        </p:spPr>
        <p:txBody>
          <a:bodyPr anchor="ctr">
            <a:noAutofit/>
          </a:bodyPr>
          <a:p>
            <a:pPr>
              <a:lnSpc>
                <a:spcPct val="100000"/>
              </a:lnSpc>
            </a:pPr>
            <a:r>
              <a:rPr b="1" lang="fr-FR" sz="2400" spc="-1" strike="noStrike" cap="all">
                <a:solidFill>
                  <a:srgbClr val="ffffff"/>
                </a:solidFill>
                <a:latin typeface="Calibri"/>
              </a:rPr>
              <a:t>3. L’analyse financière des comptes consolidés</a:t>
            </a:r>
            <a:endParaRPr b="0" lang="fr-FR" sz="2400" spc="-1" strike="noStrike">
              <a:solidFill>
                <a:srgbClr val="000000"/>
              </a:solidFill>
              <a:latin typeface="Calibri"/>
            </a:endParaRPr>
          </a:p>
        </p:txBody>
      </p:sp>
      <p:sp>
        <p:nvSpPr>
          <p:cNvPr id="560" name="TextShape 2"/>
          <p:cNvSpPr txBox="1"/>
          <p:nvPr/>
        </p:nvSpPr>
        <p:spPr>
          <a:xfrm>
            <a:off x="3124080" y="6480000"/>
            <a:ext cx="4975920" cy="359640"/>
          </a:xfrm>
          <a:prstGeom prst="rect">
            <a:avLst/>
          </a:prstGeom>
          <a:noFill/>
          <a:ln>
            <a:noFill/>
          </a:ln>
        </p:spPr>
        <p:txBody>
          <a:bodyPr>
            <a:noAutofit/>
          </a:bodyPr>
          <a:p>
            <a:endParaRPr b="0" lang="fr-FR" sz="2400" spc="-1" strike="noStrike">
              <a:latin typeface="Times New Roman"/>
            </a:endParaRPr>
          </a:p>
        </p:txBody>
      </p:sp>
      <p:sp>
        <p:nvSpPr>
          <p:cNvPr id="561" name="TextShape 3"/>
          <p:cNvSpPr txBox="1"/>
          <p:nvPr/>
        </p:nvSpPr>
        <p:spPr>
          <a:xfrm>
            <a:off x="8172360" y="6480000"/>
            <a:ext cx="539640" cy="359640"/>
          </a:xfrm>
          <a:prstGeom prst="rect">
            <a:avLst/>
          </a:prstGeom>
          <a:noFill/>
          <a:ln>
            <a:noFill/>
          </a:ln>
        </p:spPr>
        <p:txBody>
          <a:bodyPr lIns="90000" rIns="90000" tIns="45000" bIns="45000">
            <a:noAutofit/>
          </a:bodyPr>
          <a:p>
            <a:pPr algn="r">
              <a:lnSpc>
                <a:spcPct val="100000"/>
              </a:lnSpc>
            </a:pPr>
            <a:fld id="{9CEC28B1-7750-4E48-8CC0-876C8DCE219B}" type="slidenum">
              <a:rPr b="0" lang="fr-FR" sz="900" spc="-1" strike="noStrike">
                <a:solidFill>
                  <a:srgbClr val="205aa7"/>
                </a:solidFill>
                <a:latin typeface="Calibri"/>
              </a:rPr>
              <a:t>&lt;number&gt;</a:t>
            </a:fld>
            <a:endParaRPr b="0" lang="fr-FR" sz="900" spc="-1" strike="noStrike">
              <a:latin typeface="Times New Roman"/>
            </a:endParaRPr>
          </a:p>
        </p:txBody>
      </p:sp>
      <p:sp>
        <p:nvSpPr>
          <p:cNvPr id="562" name="TextShape 4"/>
          <p:cNvSpPr txBox="1"/>
          <p:nvPr/>
        </p:nvSpPr>
        <p:spPr>
          <a:xfrm>
            <a:off x="468000" y="1440000"/>
            <a:ext cx="8229240" cy="4525560"/>
          </a:xfrm>
          <a:prstGeom prst="rect">
            <a:avLst/>
          </a:prstGeom>
          <a:noFill/>
          <a:ln>
            <a:noFill/>
          </a:ln>
        </p:spPr>
        <p:txBody>
          <a:bodyPr>
            <a:noAutofit/>
          </a:bodyPr>
          <a:p>
            <a:pPr algn="ctr">
              <a:lnSpc>
                <a:spcPct val="100000"/>
              </a:lnSpc>
              <a:spcBef>
                <a:spcPts val="400"/>
              </a:spcBef>
              <a:tabLst>
                <a:tab algn="l" pos="0"/>
              </a:tabLst>
            </a:pPr>
            <a:r>
              <a:rPr b="1" lang="fr-FR" sz="2000" spc="-1" strike="noStrike">
                <a:solidFill>
                  <a:srgbClr val="205aa7"/>
                </a:solidFill>
                <a:latin typeface="Calibri"/>
              </a:rPr>
              <a:t>Étape 6 – Décision de cotation</a:t>
            </a:r>
            <a:endParaRPr b="0" lang="fr-FR" sz="2000" spc="-1" strike="noStrike">
              <a:solidFill>
                <a:srgbClr val="205aa7"/>
              </a:solidFill>
              <a:latin typeface="Calibri"/>
            </a:endParaRPr>
          </a:p>
          <a:p>
            <a:pPr algn="ctr">
              <a:lnSpc>
                <a:spcPct val="100000"/>
              </a:lnSpc>
              <a:spcBef>
                <a:spcPts val="201"/>
              </a:spcBef>
              <a:tabLst>
                <a:tab algn="l" pos="0"/>
              </a:tabLst>
            </a:pPr>
            <a:endParaRPr b="0" lang="fr-FR" sz="2000" spc="-1" strike="noStrike">
              <a:solidFill>
                <a:srgbClr val="205aa7"/>
              </a:solidFill>
              <a:latin typeface="Calibri"/>
            </a:endParaRPr>
          </a:p>
          <a:p>
            <a:pPr marL="114480" algn="ctr">
              <a:lnSpc>
                <a:spcPct val="100000"/>
              </a:lnSpc>
              <a:spcBef>
                <a:spcPts val="400"/>
              </a:spcBef>
              <a:tabLst>
                <a:tab algn="l" pos="0"/>
              </a:tabLst>
            </a:pPr>
            <a:r>
              <a:rPr b="0" lang="fr-FR" sz="2000" spc="-1" strike="noStrike" u="sng">
                <a:solidFill>
                  <a:srgbClr val="205aa7"/>
                </a:solidFill>
                <a:uFillTx/>
                <a:latin typeface="Calibri"/>
              </a:rPr>
              <a:t>Phase 4 : Préconisation de cotation pour les filiales</a:t>
            </a:r>
            <a:endParaRPr b="0" lang="fr-FR" sz="2000" spc="-1" strike="noStrike">
              <a:solidFill>
                <a:srgbClr val="205aa7"/>
              </a:solidFill>
              <a:latin typeface="Calibri"/>
            </a:endParaRPr>
          </a:p>
          <a:p>
            <a:pPr lvl="1" marL="399960" indent="-342720" algn="just">
              <a:lnSpc>
                <a:spcPct val="100000"/>
              </a:lnSpc>
              <a:spcBef>
                <a:spcPts val="400"/>
              </a:spcBef>
              <a:buClr>
                <a:srgbClr val="205aa7"/>
              </a:buClr>
              <a:buFont typeface="Wingdings" charset="2"/>
              <a:buChar char=""/>
              <a:tabLst>
                <a:tab algn="l" pos="0"/>
              </a:tabLst>
            </a:pPr>
            <a:r>
              <a:rPr b="0" lang="fr-FR" sz="2000" spc="-1" strike="noStrike">
                <a:solidFill>
                  <a:srgbClr val="205aa7"/>
                </a:solidFill>
                <a:latin typeface="Calibri"/>
              </a:rPr>
              <a:t>Les filiales qui ne présentent aucun signe de fragilité reçoivent la cote du groupe.</a:t>
            </a:r>
            <a:endParaRPr b="0" lang="fr-FR" sz="2000" spc="-1" strike="noStrike">
              <a:solidFill>
                <a:srgbClr val="595959"/>
              </a:solidFill>
              <a:latin typeface="Calibri"/>
            </a:endParaRPr>
          </a:p>
          <a:p>
            <a:pPr lvl="1" marL="399960" indent="-342720" algn="just">
              <a:lnSpc>
                <a:spcPct val="100000"/>
              </a:lnSpc>
              <a:spcBef>
                <a:spcPts val="400"/>
              </a:spcBef>
              <a:buClr>
                <a:srgbClr val="205aa7"/>
              </a:buClr>
              <a:buFont typeface="Wingdings" charset="2"/>
              <a:buChar char=""/>
              <a:tabLst>
                <a:tab algn="l" pos="0"/>
              </a:tabLst>
            </a:pPr>
            <a:r>
              <a:rPr b="0" lang="fr-FR" sz="2000" spc="-1" strike="noStrike">
                <a:solidFill>
                  <a:srgbClr val="205aa7"/>
                </a:solidFill>
                <a:latin typeface="Calibri"/>
              </a:rPr>
              <a:t>Celles qui présentent des signes de fragilité (par exemple un risque de liquidité, des pertes récurrentes…) ne peuvent recevoir la cote du groupe que si le soutien financier du groupe est effectif. A défaut, elles reçoivent une cote autonome.</a:t>
            </a:r>
            <a:endParaRPr b="0" lang="fr-FR" sz="2000" spc="-1" strike="noStrike">
              <a:solidFill>
                <a:srgbClr val="595959"/>
              </a:solidFill>
              <a:latin typeface="Calibri"/>
            </a:endParaRPr>
          </a:p>
          <a:p>
            <a:pPr lvl="1" marL="399960" indent="-342720" algn="just">
              <a:lnSpc>
                <a:spcPct val="100000"/>
              </a:lnSpc>
              <a:spcBef>
                <a:spcPts val="400"/>
              </a:spcBef>
              <a:buClr>
                <a:srgbClr val="205aa7"/>
              </a:buClr>
              <a:buFont typeface="Wingdings" charset="2"/>
              <a:buChar char=""/>
              <a:tabLst>
                <a:tab algn="l" pos="0"/>
              </a:tabLst>
            </a:pPr>
            <a:r>
              <a:rPr b="0" lang="fr-FR" sz="2000" spc="-1" strike="noStrike">
                <a:solidFill>
                  <a:srgbClr val="205aa7"/>
                </a:solidFill>
                <a:latin typeface="Calibri"/>
              </a:rPr>
              <a:t>Les filiales qui affichent des capitaux propres négatifs ou des capitaux propres inférieurs à la moitié du capital social reçoivent au mieux un cote 5+.</a:t>
            </a:r>
            <a:endParaRPr b="0" lang="fr-FR" sz="2000" spc="-1" strike="noStrike">
              <a:solidFill>
                <a:srgbClr val="595959"/>
              </a:solidFill>
              <a:latin typeface="Calibri"/>
            </a:endParaRPr>
          </a:p>
        </p:txBody>
      </p:sp>
    </p:spTree>
  </p:cSld>
  <mc:AlternateContent>
    <mc:Choice Requires="p14">
      <p:transition spd="slow" p14:dur="2000"/>
    </mc:Choice>
    <mc:Fallback>
      <p:transition spd="slow"/>
    </mc:Fallback>
  </mc:AlternateContent>
</p:sld>
</file>

<file path=ppt/slides/slide10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3" name="TextShape 1"/>
          <p:cNvSpPr txBox="1"/>
          <p:nvPr/>
        </p:nvSpPr>
        <p:spPr>
          <a:xfrm>
            <a:off x="1619640" y="2835000"/>
            <a:ext cx="5904720" cy="1259640"/>
          </a:xfrm>
          <a:prstGeom prst="rect">
            <a:avLst/>
          </a:prstGeom>
          <a:noFill/>
          <a:ln>
            <a:noFill/>
          </a:ln>
        </p:spPr>
        <p:txBody>
          <a:bodyPr anchor="ctr">
            <a:noAutofit/>
          </a:bodyPr>
          <a:p>
            <a:pPr algn="ctr">
              <a:lnSpc>
                <a:spcPct val="100000"/>
              </a:lnSpc>
            </a:pPr>
            <a:r>
              <a:rPr b="1" lang="fr-FR" sz="3000" spc="-1" strike="noStrike" cap="all">
                <a:solidFill>
                  <a:srgbClr val="205aa7"/>
                </a:solidFill>
                <a:latin typeface="Calibri"/>
              </a:rPr>
              <a:t>Merci pour votre attention</a:t>
            </a:r>
            <a:endParaRPr b="0" lang="fr-FR" sz="3000" spc="-1" strike="noStrike">
              <a:solidFill>
                <a:srgbClr val="000000"/>
              </a:solidFill>
              <a:latin typeface="Calibri"/>
            </a:endParaRPr>
          </a:p>
        </p:txBody>
      </p:sp>
      <p:pic>
        <p:nvPicPr>
          <p:cNvPr id="564" name="Image 10" descr=""/>
          <p:cNvPicPr/>
          <p:nvPr/>
        </p:nvPicPr>
        <p:blipFill>
          <a:blip r:embed="rId1"/>
          <a:stretch/>
        </p:blipFill>
        <p:spPr>
          <a:xfrm>
            <a:off x="3763440" y="4996800"/>
            <a:ext cx="1616400" cy="520200"/>
          </a:xfrm>
          <a:prstGeom prst="rect">
            <a:avLst/>
          </a:prstGeom>
          <a:ln>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GABARIT-BDF-PPT</Template>
  <TotalTime>6</TotalTime>
  <Application>LibreOffice/6.4.7.2$Linux_X86_64 LibreOffice_project/40$Build-2</Application>
  <Company>Banque de France</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2018-11-13T08:29:04Z</dcterms:created>
  <dc:creator>ggilles@inseec-edu.com</dc:creator>
  <dc:description/>
  <dc:language>fr-FR</dc:language>
  <cp:lastModifiedBy/>
  <cp:lastPrinted>2019-12-11T19:51:55Z</cp:lastPrinted>
  <dcterms:modified xsi:type="dcterms:W3CDTF">2021-12-17T21:06:22Z</dcterms:modified>
  <cp:revision>77</cp:revision>
  <dc:subject/>
  <dc:title>TITRE DE LA PRÉSENTATION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Banque de France</vt:lpwstr>
  </property>
  <property fmtid="{D5CDD505-2E9C-101B-9397-08002B2CF9AE}" pid="4" name="ContentTypeId">
    <vt:lpwstr>0x010100747A41D63B67B8439C09AB678A8DA1B0</vt:lpwstr>
  </property>
  <property fmtid="{D5CDD505-2E9C-101B-9397-08002B2CF9AE}" pid="5" name="HiddenSlides">
    <vt:i4>0</vt:i4>
  </property>
  <property fmtid="{D5CDD505-2E9C-101B-9397-08002B2CF9AE}" pid="6" name="HyperlinksChanged">
    <vt:bool>0</vt:bool>
  </property>
  <property fmtid="{D5CDD505-2E9C-101B-9397-08002B2CF9AE}" pid="7" name="LinksUpToDate">
    <vt:bool>0</vt:bool>
  </property>
  <property fmtid="{D5CDD505-2E9C-101B-9397-08002B2CF9AE}" pid="8" name="MMClips">
    <vt:i4>1</vt:i4>
  </property>
  <property fmtid="{D5CDD505-2E9C-101B-9397-08002B2CF9AE}" pid="9" name="Notes">
    <vt:i4>14</vt:i4>
  </property>
  <property fmtid="{D5CDD505-2E9C-101B-9397-08002B2CF9AE}" pid="10" name="PresentationFormat">
    <vt:lpwstr>Affichage à l'écran (4:3)</vt:lpwstr>
  </property>
  <property fmtid="{D5CDD505-2E9C-101B-9397-08002B2CF9AE}" pid="11" name="ScaleCrop">
    <vt:bool>0</vt:bool>
  </property>
  <property fmtid="{D5CDD505-2E9C-101B-9397-08002B2CF9AE}" pid="12" name="ShareDoc">
    <vt:bool>0</vt:bool>
  </property>
  <property fmtid="{D5CDD505-2E9C-101B-9397-08002B2CF9AE}" pid="13" name="Slides">
    <vt:i4>103</vt:i4>
  </property>
</Properties>
</file>