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7"/>
  </p:notesMasterIdLst>
  <p:handoutMasterIdLst>
    <p:handoutMasterId r:id="rId48"/>
  </p:handoutMasterIdLst>
  <p:sldIdLst>
    <p:sldId id="328" r:id="rId5"/>
    <p:sldId id="276" r:id="rId6"/>
    <p:sldId id="292" r:id="rId7"/>
    <p:sldId id="275" r:id="rId8"/>
    <p:sldId id="341" r:id="rId9"/>
    <p:sldId id="337" r:id="rId10"/>
    <p:sldId id="338" r:id="rId11"/>
    <p:sldId id="339" r:id="rId12"/>
    <p:sldId id="295" r:id="rId13"/>
    <p:sldId id="296" r:id="rId14"/>
    <p:sldId id="312" r:id="rId15"/>
    <p:sldId id="342" r:id="rId16"/>
    <p:sldId id="257" r:id="rId17"/>
    <p:sldId id="313" r:id="rId18"/>
    <p:sldId id="258" r:id="rId19"/>
    <p:sldId id="314" r:id="rId20"/>
    <p:sldId id="340" r:id="rId21"/>
    <p:sldId id="330" r:id="rId22"/>
    <p:sldId id="303" r:id="rId23"/>
    <p:sldId id="343" r:id="rId24"/>
    <p:sldId id="329" r:id="rId25"/>
    <p:sldId id="327" r:id="rId26"/>
    <p:sldId id="325" r:id="rId27"/>
    <p:sldId id="304" r:id="rId28"/>
    <p:sldId id="335" r:id="rId29"/>
    <p:sldId id="336" r:id="rId30"/>
    <p:sldId id="284" r:id="rId31"/>
    <p:sldId id="285" r:id="rId32"/>
    <p:sldId id="321" r:id="rId33"/>
    <p:sldId id="320" r:id="rId34"/>
    <p:sldId id="286" r:id="rId35"/>
    <p:sldId id="287" r:id="rId36"/>
    <p:sldId id="317" r:id="rId37"/>
    <p:sldId id="308" r:id="rId38"/>
    <p:sldId id="301" r:id="rId39"/>
    <p:sldId id="331" r:id="rId40"/>
    <p:sldId id="344" r:id="rId41"/>
    <p:sldId id="299" r:id="rId42"/>
    <p:sldId id="300" r:id="rId43"/>
    <p:sldId id="319" r:id="rId44"/>
    <p:sldId id="333" r:id="rId45"/>
    <p:sldId id="334" r:id="rId46"/>
  </p:sldIdLst>
  <p:sldSz cx="9144000" cy="6858000" type="screen4x3"/>
  <p:notesSz cx="6799263" cy="9929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66" autoAdjust="0"/>
    <p:restoredTop sz="76213" autoAdjust="0"/>
  </p:normalViewPr>
  <p:slideViewPr>
    <p:cSldViewPr>
      <p:cViewPr varScale="1">
        <p:scale>
          <a:sx n="85" d="100"/>
          <a:sy n="85" d="100"/>
        </p:scale>
        <p:origin x="1920"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FD3BFE-1574-426B-9921-0030CDA70612}" type="doc">
      <dgm:prSet loTypeId="urn:microsoft.com/office/officeart/2005/8/layout/hList6" loCatId="list" qsTypeId="urn:microsoft.com/office/officeart/2005/8/quickstyle/simple1" qsCatId="simple" csTypeId="urn:microsoft.com/office/officeart/2005/8/colors/accent2_2" csCatId="accent2" phldr="1"/>
      <dgm:spPr/>
      <dgm:t>
        <a:bodyPr/>
        <a:lstStyle/>
        <a:p>
          <a:endParaRPr lang="fr-FR"/>
        </a:p>
      </dgm:t>
    </dgm:pt>
    <dgm:pt modelId="{E236BCFE-4C24-4EF3-AB49-FB92A9BB5975}">
      <dgm:prSet phldrT="[Texte]" custT="1"/>
      <dgm:spPr/>
      <dgm:t>
        <a:bodyPr/>
        <a:lstStyle/>
        <a:p>
          <a:r>
            <a:rPr lang="fr-FR" sz="1800" dirty="0" smtClean="0">
              <a:solidFill>
                <a:schemeClr val="tx1"/>
              </a:solidFill>
            </a:rPr>
            <a:t>Les dérivés dans le PCG actuel</a:t>
          </a:r>
          <a:endParaRPr lang="fr-FR" sz="1800" dirty="0">
            <a:solidFill>
              <a:schemeClr val="tx1"/>
            </a:solidFill>
          </a:endParaRPr>
        </a:p>
      </dgm:t>
    </dgm:pt>
    <dgm:pt modelId="{37A62080-8588-4990-853C-C259D0E16D3C}" type="parTrans" cxnId="{BE4D3E01-56D7-4D7F-A5B1-86BE34DAF26E}">
      <dgm:prSet/>
      <dgm:spPr/>
      <dgm:t>
        <a:bodyPr/>
        <a:lstStyle/>
        <a:p>
          <a:endParaRPr lang="fr-FR"/>
        </a:p>
      </dgm:t>
    </dgm:pt>
    <dgm:pt modelId="{26CF41A2-E381-43B7-A9C6-7ADBB0BCB764}" type="sibTrans" cxnId="{BE4D3E01-56D7-4D7F-A5B1-86BE34DAF26E}">
      <dgm:prSet/>
      <dgm:spPr/>
      <dgm:t>
        <a:bodyPr/>
        <a:lstStyle/>
        <a:p>
          <a:endParaRPr lang="fr-FR"/>
        </a:p>
      </dgm:t>
    </dgm:pt>
    <dgm:pt modelId="{E483C2C2-15BC-4572-A836-5C142D24D300}">
      <dgm:prSet phldrT="[Texte]" custT="1"/>
      <dgm:spPr/>
      <dgm:t>
        <a:bodyPr/>
        <a:lstStyle/>
        <a:p>
          <a:r>
            <a:rPr lang="fr-FR" sz="1600" dirty="0" smtClean="0">
              <a:solidFill>
                <a:schemeClr val="tx1"/>
              </a:solidFill>
            </a:rPr>
            <a:t>Dérivés de couverture simples</a:t>
          </a:r>
          <a:endParaRPr lang="fr-FR" sz="1600" dirty="0">
            <a:solidFill>
              <a:schemeClr val="tx1"/>
            </a:solidFill>
          </a:endParaRPr>
        </a:p>
      </dgm:t>
    </dgm:pt>
    <dgm:pt modelId="{A62FE1E7-8E4F-4074-ABD9-0A0E5796BBE6}" type="parTrans" cxnId="{96812A27-CE2F-49E3-A811-9C06610A7954}">
      <dgm:prSet/>
      <dgm:spPr/>
      <dgm:t>
        <a:bodyPr/>
        <a:lstStyle/>
        <a:p>
          <a:endParaRPr lang="fr-FR"/>
        </a:p>
      </dgm:t>
    </dgm:pt>
    <dgm:pt modelId="{A15362E2-FCAF-4B49-9CB0-BCE3CCE89872}" type="sibTrans" cxnId="{96812A27-CE2F-49E3-A811-9C06610A7954}">
      <dgm:prSet/>
      <dgm:spPr/>
      <dgm:t>
        <a:bodyPr/>
        <a:lstStyle/>
        <a:p>
          <a:endParaRPr lang="fr-FR"/>
        </a:p>
      </dgm:t>
    </dgm:pt>
    <dgm:pt modelId="{EBA69260-69BB-4CD2-85F9-68518AF49FBC}">
      <dgm:prSet phldrT="[Texte]" custT="1"/>
      <dgm:spPr/>
      <dgm:t>
        <a:bodyPr/>
        <a:lstStyle/>
        <a:p>
          <a:r>
            <a:rPr lang="fr-FR" sz="1600" dirty="0" smtClean="0">
              <a:solidFill>
                <a:schemeClr val="tx1"/>
              </a:solidFill>
            </a:rPr>
            <a:t>Dérivés en position ouverte isolée (POI)</a:t>
          </a:r>
          <a:endParaRPr lang="fr-FR" sz="1600" dirty="0">
            <a:solidFill>
              <a:schemeClr val="tx1"/>
            </a:solidFill>
          </a:endParaRPr>
        </a:p>
      </dgm:t>
    </dgm:pt>
    <dgm:pt modelId="{2FED6CC0-41B3-4396-8DB2-C2A40D729F62}" type="parTrans" cxnId="{EEFB3F18-A720-4D66-A883-D8B35486B070}">
      <dgm:prSet/>
      <dgm:spPr/>
      <dgm:t>
        <a:bodyPr/>
        <a:lstStyle/>
        <a:p>
          <a:endParaRPr lang="fr-FR"/>
        </a:p>
      </dgm:t>
    </dgm:pt>
    <dgm:pt modelId="{BAE5131E-1C55-4AB0-A21C-65DDB7BEEABF}" type="sibTrans" cxnId="{EEFB3F18-A720-4D66-A883-D8B35486B070}">
      <dgm:prSet/>
      <dgm:spPr/>
      <dgm:t>
        <a:bodyPr/>
        <a:lstStyle/>
        <a:p>
          <a:endParaRPr lang="fr-FR"/>
        </a:p>
      </dgm:t>
    </dgm:pt>
    <dgm:pt modelId="{C47D5CD6-E4D9-412C-A2E2-A565AFA47F49}">
      <dgm:prSet phldrT="[Texte]" custT="1"/>
      <dgm:spPr/>
      <dgm:t>
        <a:bodyPr/>
        <a:lstStyle/>
        <a:p>
          <a:r>
            <a:rPr lang="fr-FR" sz="1600" dirty="0" smtClean="0">
              <a:solidFill>
                <a:schemeClr val="tx1"/>
              </a:solidFill>
            </a:rPr>
            <a:t>Ajout des 2 nouvelles catégories</a:t>
          </a:r>
          <a:endParaRPr lang="fr-FR" sz="1600" dirty="0">
            <a:solidFill>
              <a:schemeClr val="tx1"/>
            </a:solidFill>
          </a:endParaRPr>
        </a:p>
      </dgm:t>
    </dgm:pt>
    <dgm:pt modelId="{F748C359-0246-4EC1-8CC6-FEAD3561A004}" type="parTrans" cxnId="{52ADC3F5-B0BC-4F99-831F-32A1A8616480}">
      <dgm:prSet/>
      <dgm:spPr/>
      <dgm:t>
        <a:bodyPr/>
        <a:lstStyle/>
        <a:p>
          <a:endParaRPr lang="fr-FR"/>
        </a:p>
      </dgm:t>
    </dgm:pt>
    <dgm:pt modelId="{0504ECB1-5DC3-40BA-8565-9B447B665A8D}" type="sibTrans" cxnId="{52ADC3F5-B0BC-4F99-831F-32A1A8616480}">
      <dgm:prSet/>
      <dgm:spPr/>
      <dgm:t>
        <a:bodyPr/>
        <a:lstStyle/>
        <a:p>
          <a:endParaRPr lang="fr-FR"/>
        </a:p>
      </dgm:t>
    </dgm:pt>
    <dgm:pt modelId="{8E8DDE83-B54C-4F01-8356-88574F798EF5}">
      <dgm:prSet phldrT="[Texte]" custT="1"/>
      <dgm:spPr/>
      <dgm:t>
        <a:bodyPr/>
        <a:lstStyle/>
        <a:p>
          <a:r>
            <a:rPr lang="fr-FR" sz="1400" dirty="0" smtClean="0">
              <a:solidFill>
                <a:schemeClr val="tx1"/>
              </a:solidFill>
            </a:rPr>
            <a:t>Dérivés de couverture avec composante d’optimisation sans prise de risque supplémentaire</a:t>
          </a:r>
          <a:endParaRPr lang="fr-FR" sz="1400" dirty="0">
            <a:solidFill>
              <a:schemeClr val="tx1"/>
            </a:solidFill>
          </a:endParaRPr>
        </a:p>
      </dgm:t>
    </dgm:pt>
    <dgm:pt modelId="{D758B518-DE1D-48F3-AE86-E8A376A9077C}" type="parTrans" cxnId="{C9C04ED6-5EA5-4E30-BA3E-1A4CF97C359D}">
      <dgm:prSet/>
      <dgm:spPr/>
      <dgm:t>
        <a:bodyPr/>
        <a:lstStyle/>
        <a:p>
          <a:endParaRPr lang="fr-FR"/>
        </a:p>
      </dgm:t>
    </dgm:pt>
    <dgm:pt modelId="{9438E14F-6F7B-467F-A9BA-7644D5CBDB6B}" type="sibTrans" cxnId="{C9C04ED6-5EA5-4E30-BA3E-1A4CF97C359D}">
      <dgm:prSet/>
      <dgm:spPr/>
      <dgm:t>
        <a:bodyPr/>
        <a:lstStyle/>
        <a:p>
          <a:endParaRPr lang="fr-FR"/>
        </a:p>
      </dgm:t>
    </dgm:pt>
    <dgm:pt modelId="{9FC1DBC7-15C0-477D-9D61-49BB88D053D0}">
      <dgm:prSet phldrT="[Texte]" custT="1"/>
      <dgm:spPr/>
      <dgm:t>
        <a:bodyPr/>
        <a:lstStyle/>
        <a:p>
          <a:r>
            <a:rPr lang="fr-FR" sz="1400" dirty="0" smtClean="0">
              <a:solidFill>
                <a:schemeClr val="tx1"/>
              </a:solidFill>
            </a:rPr>
            <a:t>Dérivés de couverture avec prise de risque</a:t>
          </a:r>
          <a:endParaRPr lang="fr-FR" sz="1400" dirty="0">
            <a:solidFill>
              <a:schemeClr val="tx1"/>
            </a:solidFill>
          </a:endParaRPr>
        </a:p>
      </dgm:t>
    </dgm:pt>
    <dgm:pt modelId="{98D0AC12-7BAE-4E08-B87E-5EE045D2028C}" type="parTrans" cxnId="{BD978400-65C3-4F50-A540-29F12416DCA3}">
      <dgm:prSet/>
      <dgm:spPr/>
      <dgm:t>
        <a:bodyPr/>
        <a:lstStyle/>
        <a:p>
          <a:endParaRPr lang="fr-FR"/>
        </a:p>
      </dgm:t>
    </dgm:pt>
    <dgm:pt modelId="{BE4AF577-A605-4F40-9668-E13925556CA8}" type="sibTrans" cxnId="{BD978400-65C3-4F50-A540-29F12416DCA3}">
      <dgm:prSet/>
      <dgm:spPr/>
      <dgm:t>
        <a:bodyPr/>
        <a:lstStyle/>
        <a:p>
          <a:endParaRPr lang="fr-FR"/>
        </a:p>
      </dgm:t>
    </dgm:pt>
    <dgm:pt modelId="{0BADC244-FF0D-453F-A56A-BE616ACB44B7}" type="pres">
      <dgm:prSet presAssocID="{C9FD3BFE-1574-426B-9921-0030CDA70612}" presName="Name0" presStyleCnt="0">
        <dgm:presLayoutVars>
          <dgm:dir/>
          <dgm:resizeHandles val="exact"/>
        </dgm:presLayoutVars>
      </dgm:prSet>
      <dgm:spPr/>
      <dgm:t>
        <a:bodyPr/>
        <a:lstStyle/>
        <a:p>
          <a:endParaRPr lang="fr-FR"/>
        </a:p>
      </dgm:t>
    </dgm:pt>
    <dgm:pt modelId="{0D3454D2-0A86-4767-B6A1-5238EB0042AD}" type="pres">
      <dgm:prSet presAssocID="{E236BCFE-4C24-4EF3-AB49-FB92A9BB5975}" presName="node" presStyleLbl="node1" presStyleIdx="0" presStyleCnt="2">
        <dgm:presLayoutVars>
          <dgm:bulletEnabled val="1"/>
        </dgm:presLayoutVars>
      </dgm:prSet>
      <dgm:spPr/>
      <dgm:t>
        <a:bodyPr/>
        <a:lstStyle/>
        <a:p>
          <a:endParaRPr lang="fr-FR"/>
        </a:p>
      </dgm:t>
    </dgm:pt>
    <dgm:pt modelId="{E1829FDE-B1FC-4B7B-9C87-C095D012F7F8}" type="pres">
      <dgm:prSet presAssocID="{26CF41A2-E381-43B7-A9C6-7ADBB0BCB764}" presName="sibTrans" presStyleCnt="0"/>
      <dgm:spPr/>
      <dgm:t>
        <a:bodyPr/>
        <a:lstStyle/>
        <a:p>
          <a:endParaRPr lang="fr-FR"/>
        </a:p>
      </dgm:t>
    </dgm:pt>
    <dgm:pt modelId="{95A348BF-409B-4556-932B-36F711EDDD6B}" type="pres">
      <dgm:prSet presAssocID="{C47D5CD6-E4D9-412C-A2E2-A565AFA47F49}" presName="node" presStyleLbl="node1" presStyleIdx="1" presStyleCnt="2">
        <dgm:presLayoutVars>
          <dgm:bulletEnabled val="1"/>
        </dgm:presLayoutVars>
      </dgm:prSet>
      <dgm:spPr/>
      <dgm:t>
        <a:bodyPr/>
        <a:lstStyle/>
        <a:p>
          <a:endParaRPr lang="fr-FR"/>
        </a:p>
      </dgm:t>
    </dgm:pt>
  </dgm:ptLst>
  <dgm:cxnLst>
    <dgm:cxn modelId="{3E8BAEA0-6FB5-482B-8B7F-83AF5546431B}" type="presOf" srcId="{C47D5CD6-E4D9-412C-A2E2-A565AFA47F49}" destId="{95A348BF-409B-4556-932B-36F711EDDD6B}" srcOrd="0" destOrd="0" presId="urn:microsoft.com/office/officeart/2005/8/layout/hList6"/>
    <dgm:cxn modelId="{96812A27-CE2F-49E3-A811-9C06610A7954}" srcId="{E236BCFE-4C24-4EF3-AB49-FB92A9BB5975}" destId="{E483C2C2-15BC-4572-A836-5C142D24D300}" srcOrd="0" destOrd="0" parTransId="{A62FE1E7-8E4F-4074-ABD9-0A0E5796BBE6}" sibTransId="{A15362E2-FCAF-4B49-9CB0-BCE3CCE89872}"/>
    <dgm:cxn modelId="{0234FD12-CC05-431D-AD3F-D75BE5A1EEEF}" type="presOf" srcId="{C9FD3BFE-1574-426B-9921-0030CDA70612}" destId="{0BADC244-FF0D-453F-A56A-BE616ACB44B7}" srcOrd="0" destOrd="0" presId="urn:microsoft.com/office/officeart/2005/8/layout/hList6"/>
    <dgm:cxn modelId="{6C00685A-F695-47D0-9431-5AC240867161}" type="presOf" srcId="{EBA69260-69BB-4CD2-85F9-68518AF49FBC}" destId="{0D3454D2-0A86-4767-B6A1-5238EB0042AD}" srcOrd="0" destOrd="2" presId="urn:microsoft.com/office/officeart/2005/8/layout/hList6"/>
    <dgm:cxn modelId="{52ADC3F5-B0BC-4F99-831F-32A1A8616480}" srcId="{C9FD3BFE-1574-426B-9921-0030CDA70612}" destId="{C47D5CD6-E4D9-412C-A2E2-A565AFA47F49}" srcOrd="1" destOrd="0" parTransId="{F748C359-0246-4EC1-8CC6-FEAD3561A004}" sibTransId="{0504ECB1-5DC3-40BA-8565-9B447B665A8D}"/>
    <dgm:cxn modelId="{78952925-A252-4570-8BE7-5CF5FB6AAAB2}" type="presOf" srcId="{E236BCFE-4C24-4EF3-AB49-FB92A9BB5975}" destId="{0D3454D2-0A86-4767-B6A1-5238EB0042AD}" srcOrd="0" destOrd="0" presId="urn:microsoft.com/office/officeart/2005/8/layout/hList6"/>
    <dgm:cxn modelId="{73E34B62-4332-4EB5-8E1F-7176CE66BA06}" type="presOf" srcId="{E483C2C2-15BC-4572-A836-5C142D24D300}" destId="{0D3454D2-0A86-4767-B6A1-5238EB0042AD}" srcOrd="0" destOrd="1" presId="urn:microsoft.com/office/officeart/2005/8/layout/hList6"/>
    <dgm:cxn modelId="{EEFB3F18-A720-4D66-A883-D8B35486B070}" srcId="{E236BCFE-4C24-4EF3-AB49-FB92A9BB5975}" destId="{EBA69260-69BB-4CD2-85F9-68518AF49FBC}" srcOrd="1" destOrd="0" parTransId="{2FED6CC0-41B3-4396-8DB2-C2A40D729F62}" sibTransId="{BAE5131E-1C55-4AB0-A21C-65DDB7BEEABF}"/>
    <dgm:cxn modelId="{0F0DE3A7-BFA7-468B-9D66-D23BE6103A4D}" type="presOf" srcId="{8E8DDE83-B54C-4F01-8356-88574F798EF5}" destId="{95A348BF-409B-4556-932B-36F711EDDD6B}" srcOrd="0" destOrd="1" presId="urn:microsoft.com/office/officeart/2005/8/layout/hList6"/>
    <dgm:cxn modelId="{BD978400-65C3-4F50-A540-29F12416DCA3}" srcId="{C47D5CD6-E4D9-412C-A2E2-A565AFA47F49}" destId="{9FC1DBC7-15C0-477D-9D61-49BB88D053D0}" srcOrd="1" destOrd="0" parTransId="{98D0AC12-7BAE-4E08-B87E-5EE045D2028C}" sibTransId="{BE4AF577-A605-4F40-9668-E13925556CA8}"/>
    <dgm:cxn modelId="{C9C04ED6-5EA5-4E30-BA3E-1A4CF97C359D}" srcId="{C47D5CD6-E4D9-412C-A2E2-A565AFA47F49}" destId="{8E8DDE83-B54C-4F01-8356-88574F798EF5}" srcOrd="0" destOrd="0" parTransId="{D758B518-DE1D-48F3-AE86-E8A376A9077C}" sibTransId="{9438E14F-6F7B-467F-A9BA-7644D5CBDB6B}"/>
    <dgm:cxn modelId="{415B1ED5-E4FE-4B30-B536-6E766456E9EF}" type="presOf" srcId="{9FC1DBC7-15C0-477D-9D61-49BB88D053D0}" destId="{95A348BF-409B-4556-932B-36F711EDDD6B}" srcOrd="0" destOrd="2" presId="urn:microsoft.com/office/officeart/2005/8/layout/hList6"/>
    <dgm:cxn modelId="{BE4D3E01-56D7-4D7F-A5B1-86BE34DAF26E}" srcId="{C9FD3BFE-1574-426B-9921-0030CDA70612}" destId="{E236BCFE-4C24-4EF3-AB49-FB92A9BB5975}" srcOrd="0" destOrd="0" parTransId="{37A62080-8588-4990-853C-C259D0E16D3C}" sibTransId="{26CF41A2-E381-43B7-A9C6-7ADBB0BCB764}"/>
    <dgm:cxn modelId="{5E1A47D9-6A06-4C3A-8567-F7FE4C23C791}" type="presParOf" srcId="{0BADC244-FF0D-453F-A56A-BE616ACB44B7}" destId="{0D3454D2-0A86-4767-B6A1-5238EB0042AD}" srcOrd="0" destOrd="0" presId="urn:microsoft.com/office/officeart/2005/8/layout/hList6"/>
    <dgm:cxn modelId="{949E02FC-7300-4045-99F4-14D9B7E02F43}" type="presParOf" srcId="{0BADC244-FF0D-453F-A56A-BE616ACB44B7}" destId="{E1829FDE-B1FC-4B7B-9C87-C095D012F7F8}" srcOrd="1" destOrd="0" presId="urn:microsoft.com/office/officeart/2005/8/layout/hList6"/>
    <dgm:cxn modelId="{C16A65C1-3485-44DF-9EB8-66EFCFCC9297}" type="presParOf" srcId="{0BADC244-FF0D-453F-A56A-BE616ACB44B7}" destId="{95A348BF-409B-4556-932B-36F711EDDD6B}"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454D2-0A86-4767-B6A1-5238EB0042AD}">
      <dsp:nvSpPr>
        <dsp:cNvPr id="0" name=""/>
        <dsp:cNvSpPr/>
      </dsp:nvSpPr>
      <dsp:spPr>
        <a:xfrm rot="16200000">
          <a:off x="-1134146" y="1136200"/>
          <a:ext cx="4248472" cy="1976071"/>
        </a:xfrm>
        <a:prstGeom prst="flowChartManualOperation">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0" rIns="114300" bIns="0" numCol="1" spcCol="1270" anchor="t" anchorCtr="0">
          <a:noAutofit/>
        </a:bodyPr>
        <a:lstStyle/>
        <a:p>
          <a:pPr lvl="0" algn="l" defTabSz="800100">
            <a:lnSpc>
              <a:spcPct val="90000"/>
            </a:lnSpc>
            <a:spcBef>
              <a:spcPct val="0"/>
            </a:spcBef>
            <a:spcAft>
              <a:spcPct val="35000"/>
            </a:spcAft>
          </a:pPr>
          <a:r>
            <a:rPr lang="fr-FR" sz="1800" kern="1200" dirty="0" smtClean="0">
              <a:solidFill>
                <a:schemeClr val="tx1"/>
              </a:solidFill>
            </a:rPr>
            <a:t>Les dérivés dans le PCG actuel</a:t>
          </a:r>
          <a:endParaRPr lang="fr-FR" sz="1800" kern="1200" dirty="0">
            <a:solidFill>
              <a:schemeClr val="tx1"/>
            </a:solidFill>
          </a:endParaRPr>
        </a:p>
        <a:p>
          <a:pPr marL="171450" lvl="1" indent="-171450" algn="l" defTabSz="711200">
            <a:lnSpc>
              <a:spcPct val="90000"/>
            </a:lnSpc>
            <a:spcBef>
              <a:spcPct val="0"/>
            </a:spcBef>
            <a:spcAft>
              <a:spcPct val="15000"/>
            </a:spcAft>
            <a:buChar char="••"/>
          </a:pPr>
          <a:r>
            <a:rPr lang="fr-FR" sz="1600" kern="1200" dirty="0" smtClean="0">
              <a:solidFill>
                <a:schemeClr val="tx1"/>
              </a:solidFill>
            </a:rPr>
            <a:t>Dérivés de couverture simples</a:t>
          </a:r>
          <a:endParaRPr lang="fr-FR" sz="1600" kern="1200" dirty="0">
            <a:solidFill>
              <a:schemeClr val="tx1"/>
            </a:solidFill>
          </a:endParaRPr>
        </a:p>
        <a:p>
          <a:pPr marL="171450" lvl="1" indent="-171450" algn="l" defTabSz="711200">
            <a:lnSpc>
              <a:spcPct val="90000"/>
            </a:lnSpc>
            <a:spcBef>
              <a:spcPct val="0"/>
            </a:spcBef>
            <a:spcAft>
              <a:spcPct val="15000"/>
            </a:spcAft>
            <a:buChar char="••"/>
          </a:pPr>
          <a:r>
            <a:rPr lang="fr-FR" sz="1600" kern="1200" dirty="0" smtClean="0">
              <a:solidFill>
                <a:schemeClr val="tx1"/>
              </a:solidFill>
            </a:rPr>
            <a:t>Dérivés en position ouverte isolée (POI)</a:t>
          </a:r>
          <a:endParaRPr lang="fr-FR" sz="1600" kern="1200" dirty="0">
            <a:solidFill>
              <a:schemeClr val="tx1"/>
            </a:solidFill>
          </a:endParaRPr>
        </a:p>
      </dsp:txBody>
      <dsp:txXfrm rot="5400000">
        <a:off x="2054" y="849694"/>
        <a:ext cx="1976071" cy="2549084"/>
      </dsp:txXfrm>
    </dsp:sp>
    <dsp:sp modelId="{95A348BF-409B-4556-932B-36F711EDDD6B}">
      <dsp:nvSpPr>
        <dsp:cNvPr id="0" name=""/>
        <dsp:cNvSpPr/>
      </dsp:nvSpPr>
      <dsp:spPr>
        <a:xfrm rot="16200000">
          <a:off x="990130" y="1136200"/>
          <a:ext cx="4248472" cy="1976071"/>
        </a:xfrm>
        <a:prstGeom prst="flowChartManualOperation">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0" rIns="101600" bIns="0" numCol="1" spcCol="1270" anchor="t" anchorCtr="0">
          <a:noAutofit/>
        </a:bodyPr>
        <a:lstStyle/>
        <a:p>
          <a:pPr lvl="0" algn="l" defTabSz="711200">
            <a:lnSpc>
              <a:spcPct val="90000"/>
            </a:lnSpc>
            <a:spcBef>
              <a:spcPct val="0"/>
            </a:spcBef>
            <a:spcAft>
              <a:spcPct val="35000"/>
            </a:spcAft>
          </a:pPr>
          <a:r>
            <a:rPr lang="fr-FR" sz="1600" kern="1200" dirty="0" smtClean="0">
              <a:solidFill>
                <a:schemeClr val="tx1"/>
              </a:solidFill>
            </a:rPr>
            <a:t>Ajout des 2 nouvelles catégories</a:t>
          </a:r>
          <a:endParaRPr lang="fr-FR" sz="1600" kern="1200" dirty="0">
            <a:solidFill>
              <a:schemeClr val="tx1"/>
            </a:solidFill>
          </a:endParaRPr>
        </a:p>
        <a:p>
          <a:pPr marL="114300" lvl="1" indent="-114300" algn="l" defTabSz="622300">
            <a:lnSpc>
              <a:spcPct val="90000"/>
            </a:lnSpc>
            <a:spcBef>
              <a:spcPct val="0"/>
            </a:spcBef>
            <a:spcAft>
              <a:spcPct val="15000"/>
            </a:spcAft>
            <a:buChar char="••"/>
          </a:pPr>
          <a:r>
            <a:rPr lang="fr-FR" sz="1400" kern="1200" dirty="0" smtClean="0">
              <a:solidFill>
                <a:schemeClr val="tx1"/>
              </a:solidFill>
            </a:rPr>
            <a:t>Dérivés de couverture avec composante d’optimisation sans prise de risque supplémentaire</a:t>
          </a:r>
          <a:endParaRPr lang="fr-FR" sz="1400" kern="1200" dirty="0">
            <a:solidFill>
              <a:schemeClr val="tx1"/>
            </a:solidFill>
          </a:endParaRPr>
        </a:p>
        <a:p>
          <a:pPr marL="114300" lvl="1" indent="-114300" algn="l" defTabSz="622300">
            <a:lnSpc>
              <a:spcPct val="90000"/>
            </a:lnSpc>
            <a:spcBef>
              <a:spcPct val="0"/>
            </a:spcBef>
            <a:spcAft>
              <a:spcPct val="15000"/>
            </a:spcAft>
            <a:buChar char="••"/>
          </a:pPr>
          <a:r>
            <a:rPr lang="fr-FR" sz="1400" kern="1200" dirty="0" smtClean="0">
              <a:solidFill>
                <a:schemeClr val="tx1"/>
              </a:solidFill>
            </a:rPr>
            <a:t>Dérivés de couverture avec prise de risque</a:t>
          </a:r>
          <a:endParaRPr lang="fr-FR" sz="1400" kern="1200" dirty="0">
            <a:solidFill>
              <a:schemeClr val="tx1"/>
            </a:solidFill>
          </a:endParaRPr>
        </a:p>
      </dsp:txBody>
      <dsp:txXfrm rot="5400000">
        <a:off x="2126330" y="849694"/>
        <a:ext cx="1976071" cy="2549084"/>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2946347" cy="49649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51343" y="1"/>
            <a:ext cx="2946347" cy="496490"/>
          </a:xfrm>
          <a:prstGeom prst="rect">
            <a:avLst/>
          </a:prstGeom>
        </p:spPr>
        <p:txBody>
          <a:bodyPr vert="horz" lIns="91440" tIns="45720" rIns="91440" bIns="45720" rtlCol="0"/>
          <a:lstStyle>
            <a:lvl1pPr algn="r">
              <a:defRPr sz="1200"/>
            </a:lvl1pPr>
          </a:lstStyle>
          <a:p>
            <a:fld id="{DFC71B6A-421E-406C-9F5C-08AD0F02E32C}" type="datetimeFigureOut">
              <a:rPr lang="fr-FR" smtClean="0"/>
              <a:t>25/02/2019</a:t>
            </a:fld>
            <a:endParaRPr lang="fr-FR"/>
          </a:p>
        </p:txBody>
      </p:sp>
      <p:sp>
        <p:nvSpPr>
          <p:cNvPr id="4" name="Espace réservé du pied de page 3"/>
          <p:cNvSpPr>
            <a:spLocks noGrp="1"/>
          </p:cNvSpPr>
          <p:nvPr>
            <p:ph type="ftr" sz="quarter" idx="2"/>
          </p:nvPr>
        </p:nvSpPr>
        <p:spPr>
          <a:xfrm>
            <a:off x="1" y="9431600"/>
            <a:ext cx="2946347" cy="49649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51343" y="9431600"/>
            <a:ext cx="2946347" cy="496490"/>
          </a:xfrm>
          <a:prstGeom prst="rect">
            <a:avLst/>
          </a:prstGeom>
        </p:spPr>
        <p:txBody>
          <a:bodyPr vert="horz" lIns="91440" tIns="45720" rIns="91440" bIns="45720" rtlCol="0" anchor="b"/>
          <a:lstStyle>
            <a:lvl1pPr algn="r">
              <a:defRPr sz="1200"/>
            </a:lvl1pPr>
          </a:lstStyle>
          <a:p>
            <a:fld id="{5565BE47-660F-4DBD-BF05-8C41AFE960BC}" type="slidenum">
              <a:rPr lang="fr-FR" smtClean="0"/>
              <a:t>‹N°›</a:t>
            </a:fld>
            <a:endParaRPr lang="fr-FR"/>
          </a:p>
        </p:txBody>
      </p:sp>
    </p:spTree>
    <p:extLst>
      <p:ext uri="{BB962C8B-B14F-4D97-AF65-F5344CB8AC3E}">
        <p14:creationId xmlns:p14="http://schemas.microsoft.com/office/powerpoint/2010/main" val="541285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2946347" cy="496490"/>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51343" y="1"/>
            <a:ext cx="2946347" cy="496490"/>
          </a:xfrm>
          <a:prstGeom prst="rect">
            <a:avLst/>
          </a:prstGeom>
        </p:spPr>
        <p:txBody>
          <a:bodyPr vert="horz" lIns="91440" tIns="45720" rIns="91440" bIns="45720" rtlCol="0"/>
          <a:lstStyle>
            <a:lvl1pPr algn="r">
              <a:defRPr sz="1200"/>
            </a:lvl1pPr>
          </a:lstStyle>
          <a:p>
            <a:fld id="{3ED4D7B2-CB60-45FB-9B34-5D6A3D70843C}" type="datetimeFigureOut">
              <a:rPr lang="fr-FR" smtClean="0"/>
              <a:t>25/02/2019</a:t>
            </a:fld>
            <a:endParaRPr lang="fr-FR" dirty="0"/>
          </a:p>
        </p:txBody>
      </p:sp>
      <p:sp>
        <p:nvSpPr>
          <p:cNvPr id="4" name="Espace réservé de l'image des diapositives 3"/>
          <p:cNvSpPr>
            <a:spLocks noGrp="1" noRot="1" noChangeAspect="1"/>
          </p:cNvSpPr>
          <p:nvPr>
            <p:ph type="sldImg" idx="2"/>
          </p:nvPr>
        </p:nvSpPr>
        <p:spPr>
          <a:xfrm>
            <a:off x="919163" y="744538"/>
            <a:ext cx="4960937" cy="3722687"/>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79927" y="4716661"/>
            <a:ext cx="5439410" cy="4468415"/>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1" y="9431600"/>
            <a:ext cx="2946347" cy="496490"/>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51343" y="9431600"/>
            <a:ext cx="2946347" cy="496490"/>
          </a:xfrm>
          <a:prstGeom prst="rect">
            <a:avLst/>
          </a:prstGeom>
        </p:spPr>
        <p:txBody>
          <a:bodyPr vert="horz" lIns="91440" tIns="45720" rIns="91440" bIns="45720" rtlCol="0" anchor="b"/>
          <a:lstStyle>
            <a:lvl1pPr algn="r">
              <a:defRPr sz="1200"/>
            </a:lvl1pPr>
          </a:lstStyle>
          <a:p>
            <a:fld id="{8C58AD9D-9639-4366-836E-CE02EE01A232}" type="slidenum">
              <a:rPr lang="fr-FR" smtClean="0"/>
              <a:t>‹N°›</a:t>
            </a:fld>
            <a:endParaRPr lang="fr-FR" dirty="0"/>
          </a:p>
        </p:txBody>
      </p:sp>
    </p:spTree>
    <p:extLst>
      <p:ext uri="{BB962C8B-B14F-4D97-AF65-F5344CB8AC3E}">
        <p14:creationId xmlns:p14="http://schemas.microsoft.com/office/powerpoint/2010/main" val="2089598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focusifrs.com/menu_gauche/normes_et_interpretations/textes_des_normes_et_interpretations/tableau_sommaire"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www.focusifrs.com/menu_gauche/actualites_phare/iasb/publication_d_ifrs_16_contrats_de_location"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a:t>
            </a:fld>
            <a:endParaRPr lang="fr-FR" dirty="0"/>
          </a:p>
        </p:txBody>
      </p:sp>
    </p:spTree>
    <p:extLst>
      <p:ext uri="{BB962C8B-B14F-4D97-AF65-F5344CB8AC3E}">
        <p14:creationId xmlns:p14="http://schemas.microsoft.com/office/powerpoint/2010/main" val="1161925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a:t>
            </a:fld>
            <a:endParaRPr lang="fr-FR" dirty="0"/>
          </a:p>
        </p:txBody>
      </p:sp>
    </p:spTree>
    <p:extLst>
      <p:ext uri="{BB962C8B-B14F-4D97-AF65-F5344CB8AC3E}">
        <p14:creationId xmlns:p14="http://schemas.microsoft.com/office/powerpoint/2010/main" val="1572441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http://www.anc.gouv.fr/cms/sites/anc/accueil/normes-francaises/reglementation-comptable/reglementation-par-annee.default.html?displayTab=2015&amp;</a:t>
            </a:r>
          </a:p>
          <a:p>
            <a:endParaRPr lang="fr-FR" dirty="0" smtClean="0"/>
          </a:p>
          <a:p>
            <a:r>
              <a:rPr lang="fr-FR" dirty="0" smtClean="0"/>
              <a:t>- En IFRS, tous les instruments dérivés comptabilisés en juste valeur du fait que ce sont des instruments de spéculation.</a:t>
            </a:r>
            <a:r>
              <a:rPr lang="fr-FR" baseline="0" dirty="0" smtClean="0"/>
              <a:t> </a:t>
            </a:r>
          </a:p>
          <a:p>
            <a:r>
              <a:rPr lang="fr-FR" baseline="0" dirty="0" smtClean="0"/>
              <a:t>Les opérations de couverture donnent lieu à une documentation comptable spécifique. Cela peut amener à ce que ces opérations de couverture soient considérées comme des opérations spéculatives. </a:t>
            </a:r>
          </a:p>
          <a:p>
            <a:endParaRPr lang="fr-FR" baseline="0" dirty="0" smtClean="0"/>
          </a:p>
          <a:p>
            <a:pPr marL="0" indent="0">
              <a:buFontTx/>
              <a:buNone/>
            </a:pPr>
            <a:r>
              <a:rPr lang="fr-FR" baseline="0" dirty="0" smtClean="0"/>
              <a:t>- En principe français, les dérivés sont supposés être souscrits à des fins de couverture. Les dérivés ne sont pas comptabilisés nécessairement en juste valeur sauf pour traduire la reconnaissance symétrique des impacts du risque couvert, des effets de la couverture ou encore l’effet négatif des risques que prend une entreprise. </a:t>
            </a:r>
          </a:p>
          <a:p>
            <a:pPr marL="171450" indent="-171450">
              <a:buFontTx/>
              <a:buChar char="-"/>
            </a:pPr>
            <a:endParaRPr lang="fr-FR" baseline="0" dirty="0" smtClean="0"/>
          </a:p>
          <a:p>
            <a:r>
              <a:rPr lang="fr-FR" dirty="0" smtClean="0"/>
              <a:t>Principaux impacts attendus à l’ouverture de l’exercice 2017 : </a:t>
            </a:r>
          </a:p>
          <a:p>
            <a:pPr marL="171450" indent="-171450">
              <a:buFontTx/>
              <a:buChar char="-"/>
            </a:pPr>
            <a:r>
              <a:rPr lang="fr-FR" b="1" dirty="0" smtClean="0"/>
              <a:t>Sur les capitaux propres d’ouverture </a:t>
            </a:r>
            <a:r>
              <a:rPr lang="fr-FR" dirty="0" smtClean="0"/>
              <a:t>:</a:t>
            </a:r>
            <a:r>
              <a:rPr lang="fr-FR" baseline="0" dirty="0" smtClean="0"/>
              <a:t> </a:t>
            </a:r>
          </a:p>
          <a:p>
            <a:pPr marL="628650" lvl="1" indent="-171450">
              <a:buFontTx/>
              <a:buChar char="-"/>
            </a:pPr>
            <a:r>
              <a:rPr lang="fr-FR" baseline="0" dirty="0" smtClean="0"/>
              <a:t>Reprise des provisions pour pertes latentes constatées sur les instruments nouvellement reconnus en tant qu’instrument de couverture, alors que le résultat sur l’élément couvert n’a toujours pas été reconnu</a:t>
            </a:r>
          </a:p>
          <a:p>
            <a:pPr marL="628650" lvl="1" indent="-171450">
              <a:buFontTx/>
              <a:buChar char="-"/>
            </a:pPr>
            <a:r>
              <a:rPr lang="fr-FR" baseline="0" dirty="0" smtClean="0"/>
              <a:t>Reconstitution au bilan des pertes et gains réalisés sur des instruments de couverture et comptabilisés en résultat au cours des exercices antérieurs, alors que le résultat sur l’élément couvert n’a toujours pas été reconnu</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baseline="0" dirty="0" smtClean="0"/>
              <a:t>Reconstitution au bilan des gains latents sur des instruments en position ouverte isolée comptabilisés en résultat au cours des exercices précédents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baseline="0" dirty="0" smtClean="0"/>
              <a:t>Ajustement des provisions pour pertes latentes étant donné les règles plus strictes de calcul des positions globales de change</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fr-FR" baseline="0" dirty="0" smtClean="0"/>
          </a:p>
          <a:p>
            <a:pPr marL="628650" lvl="1" indent="-171450">
              <a:buFontTx/>
              <a:buChar char="-"/>
            </a:pPr>
            <a:endParaRPr lang="fr-FR"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fr-FR" b="1" dirty="0" smtClean="0"/>
              <a:t>Sur l’information à donner</a:t>
            </a:r>
            <a:r>
              <a:rPr lang="fr-FR" b="1" baseline="0" dirty="0" smtClean="0"/>
              <a:t> en annexe</a:t>
            </a:r>
            <a:r>
              <a:rPr lang="fr-FR" dirty="0" smtClean="0"/>
              <a:t>:</a:t>
            </a:r>
            <a:r>
              <a:rPr lang="fr-FR" baseline="0" dirty="0" smtClean="0"/>
              <a:t> au titre du changement de règlementation (info pro forma et justification des impacts de première application).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fr-FR" baseline="0" dirty="0" smtClean="0"/>
              <a:t>En l’absence de texte de l’administration fiscale commentant la nouvelle règlementation comptable et ses impacts de première application, </a:t>
            </a:r>
            <a:r>
              <a:rPr lang="fr-FR" b="1" baseline="0" dirty="0" smtClean="0"/>
              <a:t>peu d’impacts sont attendus sur le plan fiscal</a:t>
            </a:r>
            <a:r>
              <a:rPr lang="fr-FR" baseline="0" dirty="0" smtClean="0"/>
              <a:t>. </a:t>
            </a:r>
          </a:p>
          <a:p>
            <a:pPr marL="171450" marR="0" indent="-171450" algn="l" defTabSz="914400" rtl="0" eaLnBrk="1" fontAlgn="auto" latinLnBrk="0" hangingPunct="1">
              <a:lnSpc>
                <a:spcPct val="100000"/>
              </a:lnSpc>
              <a:spcBef>
                <a:spcPts val="0"/>
              </a:spcBef>
              <a:spcAft>
                <a:spcPts val="0"/>
              </a:spcAft>
              <a:buClrTx/>
              <a:buSzTx/>
              <a:buFontTx/>
              <a:buChar char="-"/>
              <a:tabLst/>
              <a:defRPr/>
            </a:pPr>
            <a:endParaRPr lang="fr-FR"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fr-FR" baseline="0" dirty="0" smtClean="0"/>
              <a:t>EXEMPLES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baseline="0" dirty="0" smtClean="0"/>
              <a:t>Un contrat à long terme (conclu en 2015, terme en 2020) est couvert par une succession d’instruments dérivés de court terme (12 mois). Les instruments dérivés échus et comptabilisés en résultat en 2015 et 2016 selon les anciennes règles n’ont pas à être retraités au bilan d’ouverture 2017.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baseline="0" dirty="0" smtClean="0"/>
              <a:t>Un emprunt couvre des titres en devises. Il a été décidé en 2016 de rembourser par anticipation cet emprunt et de payer une soulte. Les titres sont conservés. L’opération de couverture n’a pas à être retraitée au bilan d’ouverture de 2017.</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baseline="0" dirty="0" smtClean="0"/>
              <a:t>En revanche, si, dans l’exemple précédent, l’emprunt n’est pas remboursé par anticipation mais qu’il est attribué à une relation de couverture, la mesure de simplification ne permet pas de s’abstenir de retraiter l’opération de couverture dans le bilan d’ouverture. </a:t>
            </a:r>
          </a:p>
          <a:p>
            <a:endParaRPr lang="fr-FR" baseline="0" dirty="0" smtClean="0"/>
          </a:p>
          <a:p>
            <a:r>
              <a:rPr lang="fr-FR" b="0" baseline="0" dirty="0" smtClean="0"/>
              <a:t>Pas d’étude d’impact à ce jour</a:t>
            </a:r>
            <a:r>
              <a:rPr lang="fr-FR" b="1" baseline="0" dirty="0" smtClean="0"/>
              <a:t>. </a:t>
            </a:r>
            <a:r>
              <a:rPr lang="fr-FR" b="0" baseline="0" dirty="0" smtClean="0"/>
              <a:t>https://www.flf.fr/breves/arrete-des-comptes-2017-devises_527.html </a:t>
            </a:r>
          </a:p>
          <a:p>
            <a:endParaRPr lang="fr-FR" b="1" baseline="0" dirty="0" smtClean="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a:t>
            </a:fld>
            <a:endParaRPr lang="fr-FR" dirty="0"/>
          </a:p>
        </p:txBody>
      </p:sp>
    </p:spTree>
    <p:extLst>
      <p:ext uri="{BB962C8B-B14F-4D97-AF65-F5344CB8AC3E}">
        <p14:creationId xmlns:p14="http://schemas.microsoft.com/office/powerpoint/2010/main" val="949770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Pour les comptes ouverts</a:t>
            </a:r>
            <a:r>
              <a:rPr lang="fr-FR" baseline="0" dirty="0" smtClean="0"/>
              <a:t> au </a:t>
            </a:r>
            <a:r>
              <a:rPr lang="fr-FR" b="1" baseline="0" dirty="0" smtClean="0"/>
              <a:t>1er janvier 2017</a:t>
            </a:r>
            <a:r>
              <a:rPr lang="fr-FR" baseline="0" dirty="0" smtClean="0"/>
              <a:t>,</a:t>
            </a:r>
          </a:p>
          <a:p>
            <a:r>
              <a:rPr lang="fr-FR" baseline="0" dirty="0" smtClean="0"/>
              <a:t>Peu de changement, mais précision afin de refléter les risques de certaines opérations de couverture complexes : </a:t>
            </a:r>
          </a:p>
          <a:p>
            <a:r>
              <a:rPr lang="fr-FR" baseline="0" dirty="0" smtClean="0"/>
              <a:t>-&gt; ajout de 2 nouvelles catégories de dérivés :</a:t>
            </a:r>
          </a:p>
          <a:p>
            <a:r>
              <a:rPr lang="fr-FR" baseline="0" dirty="0" smtClean="0"/>
              <a:t>		- de couverture avec composante d’optimisation sans prise de risque supplémentaire</a:t>
            </a:r>
          </a:p>
          <a:p>
            <a:r>
              <a:rPr lang="fr-FR" baseline="0" dirty="0" smtClean="0"/>
              <a:t>		- de couverture avec prise de risque</a:t>
            </a:r>
          </a:p>
          <a:p>
            <a:endParaRPr lang="fr-FR" baseline="0" dirty="0" smtClean="0"/>
          </a:p>
          <a:p>
            <a:endParaRPr lang="fr-FR" baseline="0" dirty="0" smtClean="0"/>
          </a:p>
          <a:p>
            <a:endParaRPr lang="fr-FR" baseline="0" dirty="0" smtClean="0"/>
          </a:p>
          <a:p>
            <a:endParaRPr lang="fr-FR" baseline="0" dirty="0" smtClean="0"/>
          </a:p>
          <a:p>
            <a:r>
              <a:rPr lang="fr-FR" baseline="0" dirty="0" smtClean="0"/>
              <a:t>	</a:t>
            </a:r>
          </a:p>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4</a:t>
            </a:fld>
            <a:endParaRPr lang="fr-FR" dirty="0"/>
          </a:p>
        </p:txBody>
      </p:sp>
    </p:spTree>
    <p:extLst>
      <p:ext uri="{BB962C8B-B14F-4D97-AF65-F5344CB8AC3E}">
        <p14:creationId xmlns:p14="http://schemas.microsoft.com/office/powerpoint/2010/main" val="4027996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baseline="0" dirty="0" smtClean="0"/>
          </a:p>
          <a:p>
            <a:endParaRPr lang="fr-FR" baseline="0" dirty="0" smtClean="0"/>
          </a:p>
          <a:p>
            <a:r>
              <a:rPr lang="fr-FR" baseline="0" dirty="0" smtClean="0"/>
              <a:t>	</a:t>
            </a:r>
          </a:p>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5</a:t>
            </a:fld>
            <a:endParaRPr lang="fr-FR" dirty="0"/>
          </a:p>
        </p:txBody>
      </p:sp>
    </p:spTree>
    <p:extLst>
      <p:ext uri="{BB962C8B-B14F-4D97-AF65-F5344CB8AC3E}">
        <p14:creationId xmlns:p14="http://schemas.microsoft.com/office/powerpoint/2010/main" val="4027996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b="1" dirty="0" smtClean="0"/>
              <a:t>Ordonnance n°2016-315</a:t>
            </a:r>
            <a:r>
              <a:rPr lang="fr-FR" sz="1200" b="1" baseline="0" dirty="0" smtClean="0"/>
              <a:t> du 17 mars 2016 complétée par le décret 2016-1026 depuis le 26 juillet 2016.</a:t>
            </a:r>
          </a:p>
          <a:p>
            <a:r>
              <a:rPr lang="fr-FR" sz="1200" dirty="0" smtClean="0"/>
              <a:t>Le but de cette réforme est de renforcer la crédibilité</a:t>
            </a:r>
            <a:r>
              <a:rPr lang="fr-FR" sz="1200" baseline="0" dirty="0" smtClean="0"/>
              <a:t> des états financiers en garantissant un meilleur contrôle.  </a:t>
            </a:r>
          </a:p>
          <a:p>
            <a:pPr marL="171450" indent="-171450">
              <a:buFontTx/>
              <a:buChar char="-"/>
            </a:pPr>
            <a:r>
              <a:rPr lang="fr-FR" sz="1200" baseline="0" dirty="0" smtClean="0"/>
              <a:t>Directive 2014/56/UE qui concerne les contrôles légaux des comptes annuels et consolidés</a:t>
            </a:r>
          </a:p>
          <a:p>
            <a:pPr marL="171450" indent="-171450">
              <a:buFontTx/>
              <a:buChar char="-"/>
            </a:pPr>
            <a:r>
              <a:rPr lang="fr-FR" sz="1200" baseline="0" dirty="0" smtClean="0"/>
              <a:t>Règlement UE 537/2014 : exigences au contrôle légal des comptes des EIP </a:t>
            </a:r>
          </a:p>
          <a:p>
            <a:pPr marL="0" indent="0">
              <a:buFontTx/>
              <a:buNone/>
            </a:pPr>
            <a:endParaRPr lang="fr-FR" sz="1200" dirty="0" smtClean="0"/>
          </a:p>
          <a:p>
            <a:pPr marL="0" indent="0">
              <a:buFontTx/>
              <a:buNone/>
            </a:pPr>
            <a:r>
              <a:rPr lang="fr-FR" sz="1200" dirty="0" smtClean="0"/>
              <a:t>Indépendance des CAC avec une </a:t>
            </a:r>
            <a:r>
              <a:rPr lang="fr-FR" sz="1200" b="1" dirty="0" smtClean="0"/>
              <a:t>rotation des CAC tous les 10 ans </a:t>
            </a:r>
          </a:p>
          <a:p>
            <a:pPr algn="just"/>
            <a:r>
              <a:rPr lang="fr-FR" sz="1200" dirty="0" smtClean="0"/>
              <a:t>Dès lors, pour les services non-audit, ce qui n’est pas interdit est </a:t>
            </a:r>
            <a:r>
              <a:rPr lang="fr-FR" sz="1200" u="sng" dirty="0" smtClean="0"/>
              <a:t>autorisé</a:t>
            </a:r>
          </a:p>
          <a:p>
            <a:pPr algn="just"/>
            <a:r>
              <a:rPr lang="fr-FR" sz="1200" dirty="0" smtClean="0"/>
              <a:t>Exigences accrues pour les cabinets d’audit des entités d’intérêt public (EIP) marquant encore plus leur différenciation avec un contenu du rapport d’audit différent entre les mandats EIP et non EIP</a:t>
            </a:r>
          </a:p>
          <a:p>
            <a:pPr algn="just"/>
            <a:r>
              <a:rPr lang="fr-FR" sz="1200" dirty="0" smtClean="0"/>
              <a:t>Renforcement de l’indépendance des commissaires aux comptes et de leur supervision</a:t>
            </a:r>
          </a:p>
          <a:p>
            <a:pPr algn="just"/>
            <a:r>
              <a:rPr lang="fr-FR" sz="1200" dirty="0" smtClean="0"/>
              <a:t>De nouvelles prérogatives pour le H3C</a:t>
            </a:r>
          </a:p>
          <a:p>
            <a:pPr algn="just"/>
            <a:r>
              <a:rPr lang="fr-FR" sz="1200" dirty="0" smtClean="0"/>
              <a:t>Nouveau régime de sanctions applicables :</a:t>
            </a:r>
          </a:p>
          <a:p>
            <a:pPr lvl="1" algn="just"/>
            <a:r>
              <a:rPr lang="fr-FR" sz="1200" dirty="0" smtClean="0"/>
              <a:t>Aux CAC et aux personnes qui lui sont liées</a:t>
            </a:r>
          </a:p>
          <a:p>
            <a:pPr lvl="1" algn="just"/>
            <a:r>
              <a:rPr lang="fr-FR" sz="1200" dirty="0" smtClean="0"/>
              <a:t>Aux personnes ou entités autres que les CAC</a:t>
            </a:r>
          </a:p>
          <a:p>
            <a:pPr marL="0" indent="0">
              <a:buFontTx/>
              <a:buNone/>
            </a:pPr>
            <a:r>
              <a:rPr lang="fr-FR" sz="1200" dirty="0" smtClean="0"/>
              <a:t>4 membres au lieu de 12,</a:t>
            </a:r>
            <a:r>
              <a:rPr lang="fr-FR" sz="1200" baseline="0" dirty="0" smtClean="0"/>
              <a:t> ne comprend plus de CAC en fonction. </a:t>
            </a:r>
          </a:p>
          <a:p>
            <a:pPr marL="0" indent="0">
              <a:buFontTx/>
              <a:buNone/>
            </a:pPr>
            <a:endParaRPr lang="fr-FR" sz="1200" baseline="0" dirty="0" smtClean="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6</a:t>
            </a:fld>
            <a:endParaRPr lang="fr-FR" dirty="0"/>
          </a:p>
        </p:txBody>
      </p:sp>
    </p:spTree>
    <p:extLst>
      <p:ext uri="{BB962C8B-B14F-4D97-AF65-F5344CB8AC3E}">
        <p14:creationId xmlns:p14="http://schemas.microsoft.com/office/powerpoint/2010/main" val="43448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dirty="0" smtClean="0"/>
              <a:t>Site</a:t>
            </a:r>
            <a:r>
              <a:rPr lang="fr-FR" sz="1100" baseline="0" dirty="0" smtClean="0"/>
              <a:t> de l’ANC : </a:t>
            </a:r>
            <a:r>
              <a:rPr lang="fr-FR" sz="1100" dirty="0" smtClean="0"/>
              <a:t>http://www.anc.gouv.fr/cms/sites/anc/accueil/recherche/etats-generaux-de-la-recherche-c.html</a:t>
            </a:r>
          </a:p>
          <a:p>
            <a:pPr marL="342900" indent="-342900">
              <a:spcBef>
                <a:spcPts val="600"/>
              </a:spcBef>
              <a:buFont typeface="Arial" panose="020B0604020202020204" pitchFamily="34" charset="0"/>
              <a:buChar char="•"/>
            </a:pPr>
            <a:r>
              <a:rPr lang="fr-FR" sz="1100" dirty="0" smtClean="0"/>
              <a:t>Actualités et prospective sur les thèmes des </a:t>
            </a:r>
            <a:r>
              <a:rPr lang="fr-FR" sz="1100" dirty="0" err="1" smtClean="0"/>
              <a:t>Etats</a:t>
            </a:r>
            <a:r>
              <a:rPr lang="fr-FR" sz="1100" dirty="0" smtClean="0"/>
              <a:t> Généraux 2015 &amp; 2016</a:t>
            </a:r>
          </a:p>
          <a:p>
            <a:pPr marL="800100" lvl="1" indent="-342900">
              <a:buFont typeface="Arial" panose="020B0604020202020204" pitchFamily="34" charset="0"/>
              <a:buChar char="•"/>
            </a:pPr>
            <a:r>
              <a:rPr lang="fr-FR" sz="1100" dirty="0" smtClean="0"/>
              <a:t>Cadre conceptuel : au-delà des traditions,</a:t>
            </a:r>
            <a:r>
              <a:rPr lang="fr-FR" sz="1100" baseline="0" dirty="0" smtClean="0"/>
              <a:t> une dynamique européenne ?</a:t>
            </a:r>
          </a:p>
          <a:p>
            <a:pPr marL="1257300" lvl="2" indent="-342900">
              <a:buFont typeface="Arial" panose="020B0604020202020204" pitchFamily="34" charset="0"/>
              <a:buChar char="•"/>
            </a:pPr>
            <a:r>
              <a:rPr lang="fr-FR" sz="1100" baseline="0" dirty="0" smtClean="0"/>
              <a:t>Importance de continuer à mener une réflexion européenne sur les grands principes de la comptabilité à retenir par l’UE.</a:t>
            </a:r>
          </a:p>
          <a:p>
            <a:pPr marL="1257300" lvl="2" indent="-342900">
              <a:buFont typeface="Arial" panose="020B0604020202020204" pitchFamily="34" charset="0"/>
              <a:buChar char="•"/>
            </a:pPr>
            <a:r>
              <a:rPr lang="fr-FR" sz="1100" baseline="0" dirty="0" smtClean="0"/>
              <a:t>Certains principes méritent d’être réexaminés, mieux définis, mieux délimités (notions d’utilisateurs de l’information financière, le niveau de prudence à maintenir dans les comptes, importance et rôle des business </a:t>
            </a:r>
            <a:r>
              <a:rPr lang="fr-FR" sz="1100" baseline="0" dirty="0" err="1" smtClean="0"/>
              <a:t>models</a:t>
            </a:r>
            <a:r>
              <a:rPr lang="fr-FR" sz="1100" baseline="0" dirty="0" smtClean="0"/>
              <a:t>, statut de l’OCI)</a:t>
            </a:r>
          </a:p>
          <a:p>
            <a:pPr marL="800100" lvl="1" indent="-342900">
              <a:buFont typeface="Arial" panose="020B0604020202020204" pitchFamily="34" charset="0"/>
              <a:buChar char="•"/>
            </a:pPr>
            <a:r>
              <a:rPr lang="fr-FR" sz="1100" baseline="0" dirty="0" smtClean="0"/>
              <a:t>Performance : une convergence sur les indicateurs clés est-elle possible ?</a:t>
            </a:r>
          </a:p>
          <a:p>
            <a:pPr marL="1257300" lvl="2" indent="-342900">
              <a:buFont typeface="Arial" panose="020B0604020202020204" pitchFamily="34" charset="0"/>
              <a:buChar char="•"/>
            </a:pPr>
            <a:r>
              <a:rPr lang="fr-FR" sz="1100" baseline="0" dirty="0" smtClean="0"/>
              <a:t>Nécessité d’avoir des indicateurs intermédiaires pour éclairer sur les modes de création de valeur. Quels indicateurs retenir ? Comment les définir ? </a:t>
            </a:r>
          </a:p>
          <a:p>
            <a:pPr marL="1257300" lvl="2" indent="-342900">
              <a:buFont typeface="Arial" panose="020B0604020202020204" pitchFamily="34" charset="0"/>
              <a:buChar char="•"/>
            </a:pPr>
            <a:r>
              <a:rPr lang="fr-FR" sz="1100" baseline="0" dirty="0" smtClean="0"/>
              <a:t>Solutions simples, rigoureuses et non contraignantes : présentation du compte de résultat par nature plutôt que par fonction avec un indicateur de type EBIT opérationnel. </a:t>
            </a:r>
            <a:endParaRPr lang="fr-FR" sz="1100" dirty="0" smtClean="0"/>
          </a:p>
          <a:p>
            <a:pPr marL="171450" marR="0" lvl="2"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fr-FR" sz="1100" dirty="0" smtClean="0"/>
              <a:t>Les enjeux de la transformation numérique pour la normalisation comptable</a:t>
            </a:r>
          </a:p>
          <a:p>
            <a:pPr marL="628650" lvl="1" indent="-171450">
              <a:buFont typeface="Arial" panose="020B0604020202020204" pitchFamily="34" charset="0"/>
              <a:buChar char="•"/>
            </a:pPr>
            <a:r>
              <a:rPr lang="fr-FR" sz="1100" dirty="0" smtClean="0"/>
              <a:t>Contexte de l’économie</a:t>
            </a:r>
            <a:r>
              <a:rPr lang="fr-FR" sz="1100" baseline="0" dirty="0" smtClean="0"/>
              <a:t> du numérique : les nouveaux paradigmes</a:t>
            </a:r>
          </a:p>
          <a:p>
            <a:pPr marL="628650" lvl="1" indent="-171450">
              <a:buFont typeface="Arial" panose="020B0604020202020204" pitchFamily="34" charset="0"/>
              <a:buChar char="•"/>
            </a:pPr>
            <a:r>
              <a:rPr lang="fr-FR" sz="1100" baseline="0" dirty="0" smtClean="0"/>
              <a:t>Impact du numérique sur l’information financière : nouvelle définition, nouvelle diffusion, nouvelle certification ?</a:t>
            </a:r>
          </a:p>
          <a:p>
            <a:pPr marL="628650" lvl="1" indent="-171450">
              <a:buFont typeface="Arial" panose="020B0604020202020204" pitchFamily="34" charset="0"/>
              <a:buChar char="•"/>
            </a:pPr>
            <a:r>
              <a:rPr lang="fr-FR" sz="1100" baseline="0" dirty="0" smtClean="0"/>
              <a:t>L’information financière à l’épreuve de l’économie du numérique : de nouveaux concepts pour de nouvelles transactions ?</a:t>
            </a:r>
          </a:p>
          <a:p>
            <a:pPr marL="628650" lvl="1" indent="-171450">
              <a:buFont typeface="Arial" panose="020B0604020202020204" pitchFamily="34" charset="0"/>
              <a:buChar char="•"/>
            </a:pPr>
            <a:r>
              <a:rPr lang="fr-FR" sz="1100" baseline="0" dirty="0" smtClean="0"/>
              <a:t>L’intérêt du public européen et les défis comptables de l’économie du numérique</a:t>
            </a:r>
          </a:p>
          <a:p>
            <a:pPr marL="628650" lvl="1" indent="-171450">
              <a:buFont typeface="Arial" panose="020B0604020202020204" pitchFamily="34" charset="0"/>
              <a:buChar char="•"/>
            </a:pPr>
            <a:endParaRPr lang="fr-FR" sz="1100" dirty="0" smtClean="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7</a:t>
            </a:fld>
            <a:endParaRPr lang="fr-FR" dirty="0"/>
          </a:p>
        </p:txBody>
      </p:sp>
    </p:spTree>
    <p:extLst>
      <p:ext uri="{BB962C8B-B14F-4D97-AF65-F5344CB8AC3E}">
        <p14:creationId xmlns:p14="http://schemas.microsoft.com/office/powerpoint/2010/main" val="3935917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171450" indent="-171450">
              <a:buFontTx/>
              <a:buChar char="-"/>
            </a:pPr>
            <a:r>
              <a:rPr lang="fr-FR" dirty="0" smtClean="0"/>
              <a:t>Réforme</a:t>
            </a:r>
            <a:r>
              <a:rPr lang="fr-FR" baseline="0" dirty="0" smtClean="0"/>
              <a:t> du règlement comptable applicable aux associations et fondations </a:t>
            </a:r>
          </a:p>
          <a:p>
            <a:pPr marL="0" indent="0">
              <a:buFontTx/>
              <a:buNone/>
            </a:pPr>
            <a:endParaRPr lang="fr-FR" dirty="0" smtClean="0"/>
          </a:p>
          <a:p>
            <a:r>
              <a:rPr lang="fr-FR" dirty="0" smtClean="0"/>
              <a:t>Le </a:t>
            </a:r>
            <a:r>
              <a:rPr lang="fr-FR" b="1" dirty="0" smtClean="0"/>
              <a:t>règlement CRC n°99-01</a:t>
            </a:r>
            <a:r>
              <a:rPr lang="fr-FR" dirty="0" smtClean="0"/>
              <a:t> a été modifié trois fois, en 2004, en 2008 et 2009. L'ANC prévoit de le </a:t>
            </a:r>
            <a:r>
              <a:rPr lang="fr-FR" b="1" dirty="0" smtClean="0"/>
              <a:t>moderniser</a:t>
            </a:r>
            <a:r>
              <a:rPr lang="fr-FR" dirty="0" smtClean="0"/>
              <a:t>, de </a:t>
            </a:r>
            <a:r>
              <a:rPr lang="fr-FR" b="1" dirty="0" smtClean="0"/>
              <a:t>réviser le modèle du compte emploi ressources</a:t>
            </a:r>
            <a:r>
              <a:rPr lang="fr-FR" dirty="0" smtClean="0"/>
              <a:t> et de</a:t>
            </a:r>
            <a:r>
              <a:rPr lang="fr-FR" b="1" dirty="0" smtClean="0"/>
              <a:t> clarifier les opérations de regroupement</a:t>
            </a:r>
            <a:r>
              <a:rPr lang="fr-FR" dirty="0" smtClean="0"/>
              <a:t> telles que les fusions d'associations.</a:t>
            </a:r>
          </a:p>
          <a:p>
            <a:r>
              <a:rPr lang="fr-FR" dirty="0" smtClean="0"/>
              <a:t>La révision du compte emploi ressources fait suite à une demande de la Cour des comptes qui souhaite obtenir quelque chose de beaucoup plus lisible pour le lecteur des comptes.</a:t>
            </a:r>
          </a:p>
          <a:p>
            <a:r>
              <a:rPr lang="fr-FR" dirty="0" smtClean="0"/>
              <a:t>Les éléments qui </a:t>
            </a:r>
            <a:r>
              <a:rPr lang="fr-FR" b="1" dirty="0" smtClean="0"/>
              <a:t>font débat</a:t>
            </a:r>
            <a:r>
              <a:rPr lang="fr-FR" dirty="0" smtClean="0"/>
              <a:t> sont le </a:t>
            </a:r>
            <a:r>
              <a:rPr lang="fr-FR" b="1" dirty="0" smtClean="0"/>
              <a:t>compte emploi ressources</a:t>
            </a:r>
            <a:r>
              <a:rPr lang="fr-FR" dirty="0" smtClean="0"/>
              <a:t> et le</a:t>
            </a:r>
            <a:r>
              <a:rPr lang="fr-FR" b="1" dirty="0" smtClean="0"/>
              <a:t> traitement des legs et donations</a:t>
            </a:r>
            <a:r>
              <a:rPr lang="fr-FR" dirty="0" smtClean="0"/>
              <a:t>.</a:t>
            </a:r>
          </a:p>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8</a:t>
            </a:fld>
            <a:endParaRPr lang="fr-FR" dirty="0"/>
          </a:p>
        </p:txBody>
      </p:sp>
    </p:spTree>
    <p:extLst>
      <p:ext uri="{BB962C8B-B14F-4D97-AF65-F5344CB8AC3E}">
        <p14:creationId xmlns:p14="http://schemas.microsoft.com/office/powerpoint/2010/main" val="3206149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Restriction du champ d’application de cette obligation</a:t>
            </a:r>
            <a:r>
              <a:rPr lang="fr-FR" baseline="0" dirty="0" smtClean="0"/>
              <a:t> par la Loi de Finances 2018 :</a:t>
            </a:r>
          </a:p>
          <a:p>
            <a:pPr marL="171450" indent="-171450">
              <a:buFontTx/>
              <a:buChar char="-"/>
            </a:pPr>
            <a:r>
              <a:rPr lang="fr-FR" baseline="0" dirty="0" smtClean="0"/>
              <a:t>Seuls les logiciels et systèmes de caisse sont concernés à l’exclusion des logiciels de comptabilité et de gestion</a:t>
            </a:r>
          </a:p>
          <a:p>
            <a:pPr marL="171450" indent="-171450">
              <a:buFontTx/>
              <a:buChar char="-"/>
            </a:pPr>
            <a:r>
              <a:rPr lang="fr-FR" baseline="0" dirty="0" smtClean="0"/>
              <a:t>Assujettis bénéficiant d’une franchise en base de TVA et ceux effectuant des opérations ou prestations exonérées de TVA sont dispensés de cette obligation</a:t>
            </a:r>
            <a:endParaRPr lang="fr-FR" baseline="0" dirty="0"/>
          </a:p>
          <a:p>
            <a:pPr marL="171450" indent="-171450">
              <a:buFontTx/>
              <a:buChar char="-"/>
            </a:pPr>
            <a:endParaRPr lang="fr-FR" baseline="0" dirty="0"/>
          </a:p>
          <a:p>
            <a:pPr marL="0" indent="0">
              <a:buFontTx/>
              <a:buNone/>
            </a:pPr>
            <a:r>
              <a:rPr lang="fr-FR" baseline="0" dirty="0" smtClean="0"/>
              <a:t>Zones grises = logiciels multifonctions =&gt; attente d’un arrêté à ce sujet </a:t>
            </a:r>
          </a:p>
          <a:p>
            <a:pPr marL="0" indent="0">
              <a:buFontTx/>
              <a:buNone/>
            </a:pPr>
            <a:r>
              <a:rPr lang="fr-FR" baseline="0" dirty="0" smtClean="0"/>
              <a:t>Pour 2018 = bienveillance fiscale</a:t>
            </a:r>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9</a:t>
            </a:fld>
            <a:endParaRPr lang="fr-FR" dirty="0"/>
          </a:p>
        </p:txBody>
      </p:sp>
    </p:spTree>
    <p:extLst>
      <p:ext uri="{BB962C8B-B14F-4D97-AF65-F5344CB8AC3E}">
        <p14:creationId xmlns:p14="http://schemas.microsoft.com/office/powerpoint/2010/main" val="2841317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Les</a:t>
            </a:r>
            <a:r>
              <a:rPr lang="fr-FR" baseline="0" dirty="0" smtClean="0"/>
              <a:t> entreprises pouvant bénéficier d’un taux IS à 15 % sont : </a:t>
            </a:r>
          </a:p>
          <a:p>
            <a:pPr marL="171450" indent="-171450">
              <a:buFontTx/>
              <a:buChar char="-"/>
            </a:pPr>
            <a:r>
              <a:rPr lang="fr-FR" baseline="0" dirty="0" smtClean="0"/>
              <a:t>Celles ayant un CA &lt; à 7 630 000 € </a:t>
            </a:r>
          </a:p>
          <a:p>
            <a:pPr marL="171450" indent="-171450">
              <a:buFontTx/>
              <a:buChar char="-"/>
            </a:pPr>
            <a:r>
              <a:rPr lang="fr-FR" baseline="0" dirty="0" smtClean="0"/>
              <a:t>Dont le capital est totalement libéré est détenu pour 75 % par des personnes physiques ou une société.</a:t>
            </a:r>
          </a:p>
          <a:p>
            <a:pPr marL="0" indent="0">
              <a:buFontTx/>
              <a:buNone/>
            </a:pPr>
            <a:r>
              <a:rPr lang="fr-FR" baseline="0" dirty="0" smtClean="0"/>
              <a:t>Ce taux d’IS à 15 % est plafonné pour un résultat fiscal ne dépassant pas 38 120 € </a:t>
            </a:r>
          </a:p>
          <a:p>
            <a:pPr marL="171450" indent="-171450">
              <a:buFontTx/>
              <a:buChar char="-"/>
            </a:pPr>
            <a:endParaRPr lang="fr-FR" baseline="0" dirty="0" smtClean="0"/>
          </a:p>
          <a:p>
            <a:pPr marL="0" indent="0">
              <a:buFontTx/>
              <a:buNone/>
            </a:pPr>
            <a:r>
              <a:rPr lang="fr-FR" baseline="0" dirty="0" smtClean="0"/>
              <a:t>À partir du 1</a:t>
            </a:r>
            <a:r>
              <a:rPr lang="fr-FR" baseline="30000" dirty="0" smtClean="0"/>
              <a:t>er</a:t>
            </a:r>
            <a:r>
              <a:rPr lang="fr-FR" baseline="0" dirty="0" smtClean="0"/>
              <a:t> Janvier 2019, le taux IS à 15 % sera applicable pour les entreprises ayant un CA &lt; à 50 M€. </a:t>
            </a:r>
            <a:endParaRPr lang="fr-FR" dirty="0" smtClean="0"/>
          </a:p>
          <a:p>
            <a:endParaRPr lang="fr-FR" dirty="0" smtClean="0"/>
          </a:p>
          <a:p>
            <a:r>
              <a:rPr lang="fr-FR" dirty="0" smtClean="0"/>
              <a:t>Les tests de dépréciations d’actifs</a:t>
            </a:r>
            <a:r>
              <a:rPr lang="fr-FR" baseline="0" dirty="0" smtClean="0"/>
              <a:t> tiendront compte des nouveaux taux d’imposition. </a:t>
            </a:r>
          </a:p>
          <a:p>
            <a:endParaRPr lang="fr-FR" dirty="0" smtClean="0"/>
          </a:p>
          <a:p>
            <a:r>
              <a:rPr lang="fr-FR" dirty="0" smtClean="0"/>
              <a:t>https://www.legifiscal.fr/actualites-fiscales/1642-plf-2018-taux-is-25-2022.html </a:t>
            </a:r>
          </a:p>
          <a:p>
            <a:endParaRPr lang="fr-FR" dirty="0" smtClean="0"/>
          </a:p>
          <a:p>
            <a:r>
              <a:rPr lang="fr-FR" dirty="0" smtClean="0"/>
              <a:t>LF 2018 : </a:t>
            </a:r>
          </a:p>
          <a:p>
            <a:pPr marL="171450" indent="-171450">
              <a:buFontTx/>
              <a:buChar char="-"/>
            </a:pPr>
            <a:r>
              <a:rPr lang="fr-FR" dirty="0" smtClean="0"/>
              <a:t>Moins favorable pour les PME</a:t>
            </a:r>
          </a:p>
          <a:p>
            <a:pPr marL="171450" indent="-171450">
              <a:buFontTx/>
              <a:buChar char="-"/>
            </a:pPr>
            <a:r>
              <a:rPr lang="fr-FR" dirty="0" smtClean="0"/>
              <a:t>Plus favorable pour les GE (taux plus favorable en 2019 pour les entreprises dont le CA excède 1Md# (31% vs 33 1/3%)</a:t>
            </a: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10</a:t>
            </a:fld>
            <a:endParaRPr lang="fr-FR" dirty="0"/>
          </a:p>
        </p:txBody>
      </p:sp>
    </p:spTree>
    <p:extLst>
      <p:ext uri="{BB962C8B-B14F-4D97-AF65-F5344CB8AC3E}">
        <p14:creationId xmlns:p14="http://schemas.microsoft.com/office/powerpoint/2010/main" val="3723236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1" dirty="0" smtClean="0"/>
              <a:t>https://www.latribune.fr/economie/france/la-surtaxe-des-grandes-entreprises-definitivement-adoptee-par-le-parlement-758026.html </a:t>
            </a:r>
          </a:p>
          <a:p>
            <a:r>
              <a:rPr lang="fr-FR" b="1" dirty="0" smtClean="0"/>
              <a:t>https://investir.lesechos.fr/marches/actualites/france-320-entreprises-concernees-par-la-surtaxe-d-ir-1717958.php </a:t>
            </a:r>
          </a:p>
          <a:p>
            <a:r>
              <a:rPr lang="fr-FR" b="1" dirty="0" smtClean="0"/>
              <a:t>https://www.lesechos.fr/06/10/2017/lesechos.fr/030670343735_le-conseil-constitutionnel-donne-le-coup-de-grace-a-la-taxe-a-3---sur-les-dividendes-.htm</a:t>
            </a:r>
            <a:endParaRPr lang="fr-FR" b="1"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11</a:t>
            </a:fld>
            <a:endParaRPr lang="fr-FR" dirty="0"/>
          </a:p>
        </p:txBody>
      </p:sp>
    </p:spTree>
    <p:extLst>
      <p:ext uri="{BB962C8B-B14F-4D97-AF65-F5344CB8AC3E}">
        <p14:creationId xmlns:p14="http://schemas.microsoft.com/office/powerpoint/2010/main" val="4190004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12</a:t>
            </a:fld>
            <a:endParaRPr lang="fr-FR" dirty="0"/>
          </a:p>
        </p:txBody>
      </p:sp>
    </p:spTree>
    <p:extLst>
      <p:ext uri="{BB962C8B-B14F-4D97-AF65-F5344CB8AC3E}">
        <p14:creationId xmlns:p14="http://schemas.microsoft.com/office/powerpoint/2010/main" val="4184972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lvl="0" indent="0" algn="just">
              <a:buFontTx/>
              <a:buNone/>
            </a:pPr>
            <a:r>
              <a:rPr lang="fr-FR" sz="1100" b="1" dirty="0" smtClean="0"/>
              <a:t>Le suramortissement productif : les biens pris en crédit-bail ou loués avec option d'achat sont éligibles à la mesure (hors véhicules</a:t>
            </a:r>
            <a:r>
              <a:rPr lang="fr-FR" sz="1100" b="1" baseline="0" dirty="0" smtClean="0"/>
              <a:t>)</a:t>
            </a:r>
          </a:p>
          <a:p>
            <a:pPr marL="0" lvl="0" indent="0" algn="just">
              <a:buFontTx/>
              <a:buNone/>
            </a:pPr>
            <a:r>
              <a:rPr lang="fr-FR" sz="1100" b="0" baseline="0" dirty="0" smtClean="0"/>
              <a:t>Suramortissement de 40% possible pour les investissements réalisés entre le 15 avril 2015 et le 14 avril 2017.  (opérations industrielles, manutention, épuration des eaux, assainissement, production d’énergie électrique, recherche scientifique ou technique, transport par câbles (remontées mécaniques), fibre optique, appareils informatiques.</a:t>
            </a:r>
            <a:endParaRPr lang="fr-FR" sz="1100" dirty="0" smtClean="0"/>
          </a:p>
          <a:p>
            <a:pPr marL="0" marR="0" indent="0" algn="l" defTabSz="914400" rtl="0" eaLnBrk="1" fontAlgn="auto" latinLnBrk="0" hangingPunct="1">
              <a:lnSpc>
                <a:spcPct val="100000"/>
              </a:lnSpc>
              <a:spcBef>
                <a:spcPts val="600"/>
              </a:spcBef>
              <a:spcAft>
                <a:spcPts val="0"/>
              </a:spcAft>
              <a:buClrTx/>
              <a:buSzTx/>
              <a:buFontTx/>
              <a:buNone/>
              <a:tabLst/>
              <a:defRPr/>
            </a:pPr>
            <a:r>
              <a:rPr lang="fr-FR" sz="1100" b="1" dirty="0" smtClean="0"/>
              <a:t>Les investissements</a:t>
            </a:r>
            <a:r>
              <a:rPr lang="fr-FR" sz="1100" b="1" baseline="0" dirty="0" smtClean="0"/>
              <a:t> éligibles au-delà du 14 avril 2017 :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fr-FR" sz="1100" dirty="0" smtClean="0"/>
              <a:t>Les véhicules de plus de 3,5 tonnes utilisant</a:t>
            </a:r>
            <a:r>
              <a:rPr lang="fr-FR" sz="1100" baseline="0" dirty="0" smtClean="0"/>
              <a:t> le gaz naturel et le </a:t>
            </a:r>
            <a:r>
              <a:rPr lang="fr-FR" sz="1100" baseline="0" dirty="0" err="1" smtClean="0"/>
              <a:t>biométhane</a:t>
            </a:r>
            <a:r>
              <a:rPr lang="fr-FR" sz="1100" baseline="0" dirty="0" smtClean="0"/>
              <a:t> ou le carburant ED95 composé d’un minimum de 90 % d’alcool éthylique d’origine agricole =&gt; prorogé jusqu’au 31 décembre 2019,</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fr-FR" sz="1100" baseline="0" dirty="0" smtClean="0"/>
              <a:t>Les biens commandés avant le 15 avril 2017 sont éligibles au dispositif de déduction exceptionnelle à condition de répondre aux 2 critères cumulatifs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sz="1100" baseline="0" dirty="0" smtClean="0"/>
              <a:t>Versement d’acomptes d’au moins 10 % du montant total de la commande avant le 15 avril 2017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fr-FR" sz="1100" baseline="0" dirty="0" smtClean="0"/>
              <a:t>Acquisition du bien intervenant dans les 24 mois de la date de la commande</a:t>
            </a:r>
          </a:p>
          <a:p>
            <a:pPr marL="457200" marR="0" lvl="1" indent="0" algn="l" defTabSz="914400" rtl="0" eaLnBrk="1" fontAlgn="auto" latinLnBrk="0" hangingPunct="1">
              <a:lnSpc>
                <a:spcPct val="100000"/>
              </a:lnSpc>
              <a:spcBef>
                <a:spcPts val="0"/>
              </a:spcBef>
              <a:spcAft>
                <a:spcPts val="0"/>
              </a:spcAft>
              <a:buClrTx/>
              <a:buSzTx/>
              <a:buFontTx/>
              <a:buNone/>
              <a:tabLst/>
              <a:defRPr/>
            </a:pPr>
            <a:endParaRPr lang="fr-FR" sz="1100"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fr-FR" sz="1100" baseline="0" dirty="0" smtClean="0"/>
              <a:t>Plus d’info : https://www.legifiscal.fr/actualites-fiscales/1645-deduction-exceptionnelle-40-investissements-eligibles.html </a:t>
            </a:r>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13</a:t>
            </a:fld>
            <a:endParaRPr lang="fr-FR" dirty="0"/>
          </a:p>
        </p:txBody>
      </p:sp>
    </p:spTree>
    <p:extLst>
      <p:ext uri="{BB962C8B-B14F-4D97-AF65-F5344CB8AC3E}">
        <p14:creationId xmlns:p14="http://schemas.microsoft.com/office/powerpoint/2010/main" val="4155039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b="1"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14</a:t>
            </a:fld>
            <a:endParaRPr lang="fr-FR" dirty="0"/>
          </a:p>
        </p:txBody>
      </p:sp>
    </p:spTree>
    <p:extLst>
      <p:ext uri="{BB962C8B-B14F-4D97-AF65-F5344CB8AC3E}">
        <p14:creationId xmlns:p14="http://schemas.microsoft.com/office/powerpoint/2010/main" val="2750826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L’allègement de la fiscalité des entreprises comprend</a:t>
            </a:r>
            <a:r>
              <a:rPr lang="fr-FR" baseline="0" dirty="0" smtClean="0"/>
              <a:t> les dispositifs suivants : CICE, Pacte de Responsabilité et de Solidarité et Suramortissement</a:t>
            </a:r>
          </a:p>
          <a:p>
            <a:endParaRPr lang="fr-FR" dirty="0" smtClean="0"/>
          </a:p>
          <a:p>
            <a:r>
              <a:rPr lang="fr-FR" sz="1200" b="0" u="none" dirty="0" smtClean="0"/>
              <a:t>Créances de CICE reportables au 1</a:t>
            </a:r>
            <a:r>
              <a:rPr lang="fr-FR" sz="1200" b="0" u="none" baseline="30000" dirty="0" smtClean="0"/>
              <a:t>er</a:t>
            </a:r>
            <a:r>
              <a:rPr lang="fr-FR" sz="1200" b="0" u="none" dirty="0" smtClean="0"/>
              <a:t> janvier 2019 seront imputées ou</a:t>
            </a:r>
            <a:r>
              <a:rPr lang="fr-FR" sz="1200" b="0" u="none" baseline="0" dirty="0" smtClean="0"/>
              <a:t> restituées « au fil de l’eau » =&gt; pas remboursable immédiatement</a:t>
            </a:r>
          </a:p>
          <a:p>
            <a:r>
              <a:rPr lang="fr-FR" sz="1200" b="0" u="none" baseline="0" dirty="0" smtClean="0"/>
              <a:t>Hausse du résultat imposable : +7/8 Mds € </a:t>
            </a:r>
          </a:p>
          <a:p>
            <a:r>
              <a:rPr lang="fr-FR" sz="1200" b="0" u="none" baseline="0" dirty="0" smtClean="0"/>
              <a:t>Hausse de la participation salariés : +1 Md € </a:t>
            </a:r>
            <a:endParaRPr lang="fr-FR" sz="1200" b="0" u="none" dirty="0" smtClean="0"/>
          </a:p>
          <a:p>
            <a:endParaRPr lang="fr-FR" sz="1200" b="0" u="none"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sz="1200" b="1" u="none" dirty="0" smtClean="0"/>
              <a:t>En savoir + </a:t>
            </a:r>
            <a:r>
              <a:rPr lang="fr-FR" sz="1200" b="0" u="none" dirty="0" smtClean="0"/>
              <a:t>: </a:t>
            </a:r>
            <a:r>
              <a:rPr lang="fr-FR" u="sng" dirty="0" smtClean="0"/>
              <a:t>http://www.gouvernement.fr/action/le-projet-de-loi-de-finances-2018</a:t>
            </a:r>
          </a:p>
          <a:p>
            <a:pPr marL="0" marR="0" indent="0" algn="l" defTabSz="914400" rtl="0" eaLnBrk="1" fontAlgn="auto" latinLnBrk="0" hangingPunct="1">
              <a:lnSpc>
                <a:spcPct val="100000"/>
              </a:lnSpc>
              <a:spcBef>
                <a:spcPts val="0"/>
              </a:spcBef>
              <a:spcAft>
                <a:spcPts val="0"/>
              </a:spcAft>
              <a:buClrTx/>
              <a:buSzTx/>
              <a:buFontTx/>
              <a:buNone/>
              <a:tabLst/>
              <a:defRPr/>
            </a:pPr>
            <a:endParaRPr lang="fr-FR" u="sng"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fr-FR" u="sng"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u="sng" dirty="0" smtClean="0"/>
              <a:t>Dernier rapport sur le CICE publié le 5 octobre 2017 :</a:t>
            </a:r>
          </a:p>
          <a:p>
            <a:pPr marL="0" marR="0" indent="0" algn="l" defTabSz="914400" rtl="0" eaLnBrk="1" fontAlgn="auto" latinLnBrk="0" hangingPunct="1">
              <a:lnSpc>
                <a:spcPct val="100000"/>
              </a:lnSpc>
              <a:spcBef>
                <a:spcPts val="0"/>
              </a:spcBef>
              <a:spcAft>
                <a:spcPts val="0"/>
              </a:spcAft>
              <a:buClrTx/>
              <a:buSzTx/>
              <a:buFontTx/>
              <a:buNone/>
              <a:tabLst/>
              <a:defRPr/>
            </a:pPr>
            <a:r>
              <a:rPr lang="fr-FR" u="sng" dirty="0" smtClean="0"/>
              <a:t>http://www.strategie.gouv.fr/sites/strategie.gouv.fr/files/atoms/files/rapport_cice2017_03102017_0.pdf </a:t>
            </a:r>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15</a:t>
            </a:fld>
            <a:endParaRPr lang="fr-FR" dirty="0"/>
          </a:p>
        </p:txBody>
      </p:sp>
    </p:spTree>
    <p:extLst>
      <p:ext uri="{BB962C8B-B14F-4D97-AF65-F5344CB8AC3E}">
        <p14:creationId xmlns:p14="http://schemas.microsoft.com/office/powerpoint/2010/main" val="11071277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0" dirty="0" smtClean="0"/>
              <a:t>http://www.vie-publique.fr/decouverte-institutions/finances-publiques/protection-sociale/financement/qu-est-ce-que-csg.html </a:t>
            </a:r>
          </a:p>
          <a:p>
            <a:endParaRPr lang="fr-FR" b="1" baseline="0" dirty="0" smtClean="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16</a:t>
            </a:fld>
            <a:endParaRPr lang="fr-FR" dirty="0"/>
          </a:p>
        </p:txBody>
      </p:sp>
    </p:spTree>
    <p:extLst>
      <p:ext uri="{BB962C8B-B14F-4D97-AF65-F5344CB8AC3E}">
        <p14:creationId xmlns:p14="http://schemas.microsoft.com/office/powerpoint/2010/main" val="4184972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b="0"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17</a:t>
            </a:fld>
            <a:endParaRPr lang="fr-FR" dirty="0"/>
          </a:p>
        </p:txBody>
      </p:sp>
    </p:spTree>
    <p:extLst>
      <p:ext uri="{BB962C8B-B14F-4D97-AF65-F5344CB8AC3E}">
        <p14:creationId xmlns:p14="http://schemas.microsoft.com/office/powerpoint/2010/main" val="189043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b="0"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18</a:t>
            </a:fld>
            <a:endParaRPr lang="fr-FR" dirty="0"/>
          </a:p>
        </p:txBody>
      </p:sp>
    </p:spTree>
    <p:extLst>
      <p:ext uri="{BB962C8B-B14F-4D97-AF65-F5344CB8AC3E}">
        <p14:creationId xmlns:p14="http://schemas.microsoft.com/office/powerpoint/2010/main" val="189043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buFont typeface="Arial" panose="020B0604020202020204" pitchFamily="34" charset="0"/>
              <a:buNone/>
            </a:pPr>
            <a:r>
              <a:rPr lang="fr-FR" u="sng" dirty="0" smtClean="0"/>
              <a:t>Nouvelles obligations pour les sociétés</a:t>
            </a:r>
            <a:r>
              <a:rPr lang="fr-FR" u="sng" baseline="0" dirty="0" smtClean="0"/>
              <a:t> (SA, SCA) ayant au moins 100 M€ de CA et plus de 500 salariés</a:t>
            </a:r>
            <a:r>
              <a:rPr lang="fr-FR" baseline="0" dirty="0" smtClean="0"/>
              <a:t> :</a:t>
            </a:r>
          </a:p>
          <a:p>
            <a:pPr>
              <a:spcBef>
                <a:spcPts val="300"/>
              </a:spcBef>
            </a:pPr>
            <a:r>
              <a:rPr lang="fr-FR" dirty="0" smtClean="0"/>
              <a:t>- Communication</a:t>
            </a:r>
            <a:r>
              <a:rPr lang="fr-FR" baseline="0" dirty="0" smtClean="0"/>
              <a:t> sur les risques liés aux émissions de gaz à effet de serre (changement climatique par exemple) causant des risques diverses tels que financiers, règlementaires, de réputation, technologiques…</a:t>
            </a:r>
          </a:p>
          <a:p>
            <a:pPr>
              <a:spcBef>
                <a:spcPts val="300"/>
              </a:spcBef>
            </a:pPr>
            <a:r>
              <a:rPr lang="fr-FR" baseline="0" dirty="0" smtClean="0"/>
              <a:t>- Communication sur les impacts des accords collectifs sur les performances économique de l’entreprise mais aussi sur les conditions de travail.</a:t>
            </a:r>
          </a:p>
          <a:p>
            <a:pPr>
              <a:spcBef>
                <a:spcPts val="600"/>
              </a:spcBef>
            </a:pPr>
            <a:r>
              <a:rPr lang="fr-FR" baseline="0" dirty="0" smtClean="0"/>
              <a:t>AUCUNE METHODOLOGIE INDIQUEE POUR MESURER TOUS CES IMPACTS.</a:t>
            </a:r>
          </a:p>
          <a:p>
            <a:r>
              <a:rPr lang="fr-FR" baseline="0" dirty="0" smtClean="0"/>
              <a:t>Aucune sanction prévue en cas de non respect de ces deux nouvelles obligations.</a:t>
            </a:r>
          </a:p>
          <a:p>
            <a:pPr>
              <a:spcBef>
                <a:spcPts val="600"/>
              </a:spcBef>
            </a:pPr>
            <a:r>
              <a:rPr lang="fr-FR" baseline="0" dirty="0" smtClean="0"/>
              <a:t>Depuis le 1</a:t>
            </a:r>
            <a:r>
              <a:rPr lang="fr-FR" baseline="30000" dirty="0" smtClean="0"/>
              <a:t>er</a:t>
            </a:r>
            <a:r>
              <a:rPr lang="fr-FR" baseline="0" dirty="0" smtClean="0"/>
              <a:t> janvier 2016, les entreprises doivent faire vérifier la sincérité des informations contenues dans le rapport de responsabilité sociétale des entreprises (RSE)</a:t>
            </a:r>
          </a:p>
          <a:p>
            <a:pPr>
              <a:spcBef>
                <a:spcPts val="600"/>
              </a:spcBef>
            </a:pPr>
            <a:r>
              <a:rPr lang="fr-FR" baseline="0" dirty="0" smtClean="0"/>
              <a:t>http://www.amf-france.org/Reglementation/Doctrine/Doctrine-list/Doctrine.html?xtcr=1&amp;isSearch=true&amp;docId=workspace%3A%2F%2FSpacesStore%2F0869f3d7-474d-4316-8903-2b97f3694540&amp;lastSearchPage=http%3A%2F%2Fwww.amf-france.org%2FmagnoliaPublic%2Famf%2FResultat-de-recherche.html%3FTEXT%3DRECOMMANDATIONS%26%2343%3BAMF%26LANGUAGE%3Dfr%26isSearch%3Dtrue%26simpleSearch%3Dtrue%26valid_recherche%3DValider&amp;xtmc=RECOMMANDATIONS-AMF&amp;category=I+-+Emetteurs+et+information+financi%C3%A8re&amp;docVersion=1.0</a:t>
            </a:r>
          </a:p>
          <a:p>
            <a:endParaRPr lang="fr-FR" baseline="0" dirty="0" smtClean="0"/>
          </a:p>
          <a:p>
            <a:endParaRPr lang="fr-FR" baseline="0" dirty="0" smtClean="0"/>
          </a:p>
          <a:p>
            <a:pPr marL="0" indent="0">
              <a:buFont typeface="Arial" panose="020B0604020202020204" pitchFamily="34" charset="0"/>
              <a:buNone/>
            </a:pPr>
            <a:endParaRPr lang="fr-FR" baseline="0" dirty="0" smtClean="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19</a:t>
            </a:fld>
            <a:endParaRPr lang="fr-FR" dirty="0"/>
          </a:p>
        </p:txBody>
      </p:sp>
    </p:spTree>
    <p:extLst>
      <p:ext uri="{BB962C8B-B14F-4D97-AF65-F5344CB8AC3E}">
        <p14:creationId xmlns:p14="http://schemas.microsoft.com/office/powerpoint/2010/main" val="39524452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Green Bond</a:t>
            </a:r>
            <a:r>
              <a:rPr lang="fr-FR" baseline="0" dirty="0" smtClean="0"/>
              <a:t> : obligation verte = emprunt obligataire émis sur les marchés financiers par une entreprise publique ou privée pour financer des projets contribuant à la transition écologique. </a:t>
            </a:r>
          </a:p>
          <a:p>
            <a:endParaRPr lang="fr-FR" baseline="0" dirty="0" smtClean="0"/>
          </a:p>
          <a:p>
            <a:r>
              <a:rPr lang="fr-FR" baseline="0" dirty="0" smtClean="0"/>
              <a:t>Finance verte = enjeu de compétition entre les places financières. </a:t>
            </a:r>
          </a:p>
          <a:p>
            <a:r>
              <a:rPr lang="fr-FR" baseline="0" dirty="0" smtClean="0"/>
              <a:t>France forte de l’obligation verte émise par l’Agence France Trésor l’année dernière = France championne des green bonds émis entre 2009 et 2017. </a:t>
            </a:r>
          </a:p>
          <a:p>
            <a:r>
              <a:rPr lang="fr-FR" baseline="0" dirty="0" smtClean="0"/>
              <a:t>Moitié des 33,7 milliards de dollars levés en une année. </a:t>
            </a:r>
          </a:p>
          <a:p>
            <a:endParaRPr lang="fr-FR" baseline="0" dirty="0" smtClean="0"/>
          </a:p>
          <a:p>
            <a:r>
              <a:rPr lang="fr-FR" baseline="0" dirty="0" smtClean="0"/>
              <a:t>En France, 42 % des actifs sous encours ont obtenu une note comprise entre A et AAA attribuée par l’AODP (</a:t>
            </a:r>
            <a:r>
              <a:rPr lang="fr-FR" baseline="0" dirty="0" err="1" smtClean="0"/>
              <a:t>Asset</a:t>
            </a:r>
            <a:r>
              <a:rPr lang="fr-FR" baseline="0" dirty="0" smtClean="0"/>
              <a:t> </a:t>
            </a:r>
            <a:r>
              <a:rPr lang="fr-FR" baseline="0" dirty="0" err="1" smtClean="0"/>
              <a:t>Owner</a:t>
            </a:r>
            <a:r>
              <a:rPr lang="fr-FR" baseline="0" dirty="0" smtClean="0"/>
              <a:t> </a:t>
            </a:r>
            <a:r>
              <a:rPr lang="fr-FR" baseline="0" dirty="0" err="1" smtClean="0"/>
              <a:t>Disclosure</a:t>
            </a:r>
            <a:r>
              <a:rPr lang="fr-FR" baseline="0" dirty="0" smtClean="0"/>
              <a:t> Project) avec un effort de « </a:t>
            </a:r>
            <a:r>
              <a:rPr lang="fr-FR" baseline="0" dirty="0" err="1" smtClean="0"/>
              <a:t>décarbonisation</a:t>
            </a:r>
            <a:r>
              <a:rPr lang="fr-FR" baseline="0" dirty="0" smtClean="0"/>
              <a:t> » de leurs portefeuilles (loi de transition énergétique).</a:t>
            </a:r>
          </a:p>
          <a:p>
            <a:endParaRPr lang="fr-FR" baseline="0" dirty="0" smtClean="0"/>
          </a:p>
          <a:p>
            <a:r>
              <a:rPr lang="fr-FR" baseline="0" dirty="0" smtClean="0"/>
              <a:t>Différence avec des obligations classiques : engagements pris par l’émetteur différents et sur l’usage précis des fonds récoltés portant sur un projet ayant un impact favorable sur l’environnement. De plus, un rapport et/ou publication doit rendre compte chaque année aux investisseurs de la vie de ces projets.   </a:t>
            </a: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20</a:t>
            </a:fld>
            <a:endParaRPr lang="fr-FR" dirty="0"/>
          </a:p>
        </p:txBody>
      </p:sp>
    </p:spTree>
    <p:extLst>
      <p:ext uri="{BB962C8B-B14F-4D97-AF65-F5344CB8AC3E}">
        <p14:creationId xmlns:p14="http://schemas.microsoft.com/office/powerpoint/2010/main" val="1442023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Les</a:t>
            </a:r>
            <a:r>
              <a:rPr lang="fr-FR" baseline="0" dirty="0" smtClean="0"/>
              <a:t> entreprises qui réalisent un CA de plus de 750 M€ doivent transmettre un </a:t>
            </a:r>
            <a:r>
              <a:rPr lang="fr-FR" baseline="0" dirty="0" err="1" smtClean="0"/>
              <a:t>reporting</a:t>
            </a:r>
            <a:r>
              <a:rPr lang="fr-FR" baseline="0" dirty="0" smtClean="0"/>
              <a:t> pays par pays à l’administration fiscale. </a:t>
            </a:r>
          </a:p>
          <a:p>
            <a:r>
              <a:rPr lang="fr-FR" baseline="0" dirty="0" smtClean="0"/>
              <a:t>Dispositif qui devrait s’élargir progressivement aux entreprises plus petites ayant un CA de plus de 250 M€. </a:t>
            </a:r>
          </a:p>
          <a:p>
            <a:endParaRPr lang="fr-FR" baseline="0" dirty="0" smtClean="0"/>
          </a:p>
          <a:p>
            <a:r>
              <a:rPr lang="fr-FR" baseline="0" dirty="0" smtClean="0"/>
              <a:t>Ce </a:t>
            </a:r>
            <a:r>
              <a:rPr lang="fr-FR" baseline="0" dirty="0" err="1" smtClean="0"/>
              <a:t>reporting</a:t>
            </a:r>
            <a:r>
              <a:rPr lang="fr-FR" baseline="0" dirty="0" smtClean="0"/>
              <a:t> est applicable pour les exercices ouverts à partir du 1</a:t>
            </a:r>
            <a:r>
              <a:rPr lang="fr-FR" baseline="30000" dirty="0" smtClean="0"/>
              <a:t>er</a:t>
            </a:r>
            <a:r>
              <a:rPr lang="fr-FR" baseline="0" dirty="0" smtClean="0"/>
              <a:t> Janvier 2016. Dispositions s’appliquant à partir du 5 Juin 2017. </a:t>
            </a:r>
          </a:p>
          <a:p>
            <a:endParaRPr lang="fr-FR" baseline="0" dirty="0" smtClean="0"/>
          </a:p>
          <a:p>
            <a:r>
              <a:rPr lang="fr-FR" baseline="0" dirty="0" smtClean="0"/>
              <a:t>Cependant, le Conseil Constitutionnel a censuré le 01/12/2016 cette décision la jugeant comme une « atteinte disproportionnée à la liberté d’entreprendre » :</a:t>
            </a:r>
          </a:p>
          <a:p>
            <a:r>
              <a:rPr lang="fr-FR" baseline="0" dirty="0" smtClean="0"/>
              <a:t>Pas de publicité de ce rapport.</a:t>
            </a:r>
          </a:p>
          <a:p>
            <a:endParaRPr lang="fr-FR" baseline="0" dirty="0" smtClean="0"/>
          </a:p>
          <a:p>
            <a:r>
              <a:rPr lang="fr-FR" baseline="0" dirty="0" smtClean="0"/>
              <a:t>Un convention multilatérale pour l’échange automatique à partir de 2018 entre autorités fiscales signée par plus de 40 pays signataires signé à l’été 2016.</a:t>
            </a:r>
          </a:p>
          <a:p>
            <a:r>
              <a:rPr lang="fr-FR" baseline="0" dirty="0" smtClean="0"/>
              <a:t>États de l’UE, suisse, chine, inde, japon, canada, Australie. Non signé par la Russie et les USA.</a:t>
            </a:r>
          </a:p>
          <a:p>
            <a:endParaRPr lang="fr-FR" baseline="0" dirty="0" smtClean="0"/>
          </a:p>
          <a:p>
            <a:r>
              <a:rPr lang="fr-FR" baseline="0" dirty="0" smtClean="0"/>
              <a:t>http://www.creda.cci-paris-idf.fr/info-debat/lettre%202016-32.html</a:t>
            </a:r>
          </a:p>
          <a:p>
            <a:endParaRPr lang="fr-FR" baseline="0" dirty="0" smtClean="0"/>
          </a:p>
          <a:p>
            <a:r>
              <a:rPr lang="fr-FR" baseline="0" dirty="0" smtClean="0"/>
              <a:t>https://www.euractiv.fr/section/economie/news/reporting-pays-par-pays-une-victoire-contre-loptimisation-fiscale/ </a:t>
            </a:r>
          </a:p>
          <a:p>
            <a:r>
              <a:rPr lang="fr-FR" baseline="0" dirty="0" smtClean="0"/>
              <a:t>                                                                                                                                                                                                                                                                                                                                                                                                                                                                                                                                                                                                                                                                                                                                                                                        </a:t>
            </a: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21</a:t>
            </a:fld>
            <a:endParaRPr lang="fr-FR" dirty="0"/>
          </a:p>
        </p:txBody>
      </p:sp>
    </p:spTree>
    <p:extLst>
      <p:ext uri="{BB962C8B-B14F-4D97-AF65-F5344CB8AC3E}">
        <p14:creationId xmlns:p14="http://schemas.microsoft.com/office/powerpoint/2010/main" val="2640692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aseline="0" dirty="0" smtClean="0"/>
              <a:t>3 textes clés de 2016-2017 : </a:t>
            </a:r>
          </a:p>
          <a:p>
            <a:pPr marL="171450" indent="-171450">
              <a:buFontTx/>
              <a:buChar char="-"/>
            </a:pPr>
            <a:r>
              <a:rPr lang="fr-FR" baseline="0" dirty="0" smtClean="0"/>
              <a:t>La transposition en France de la directive européenne relative à la publication d’informations non financières, qui remplace le dispositif dit « Grenelle II » pour les exercices ouverts à compter du 01/09/2017. Une nouvelle déclaration de performance extra-financière devra être présentée dans le rapport de gestion. </a:t>
            </a:r>
          </a:p>
          <a:p>
            <a:pPr marL="171450" indent="-171450">
              <a:buFontTx/>
              <a:buChar char="-"/>
            </a:pPr>
            <a:r>
              <a:rPr lang="fr-FR" baseline="0" dirty="0" smtClean="0"/>
              <a:t>La loi sur le devoir de vigilance, qui impose aux grandes sociétés et groupes français l’obligation d’établir et de mettre en œuvre un plan de vigilance dès 2017. L’entreprise devra le publier et rendre compte de sa mise en œuvre dans son rapport de gestion. </a:t>
            </a:r>
          </a:p>
          <a:p>
            <a:pPr marL="171450" indent="-171450">
              <a:buFontTx/>
              <a:buChar char="-"/>
            </a:pPr>
            <a:r>
              <a:rPr lang="fr-FR" baseline="0" dirty="0" smtClean="0"/>
              <a:t>La loi « Sapin 2 », qui bouleverse la responsabilité des entreprises et des représentants légaux en prévoyant l’obligation pour les sociétés et groupes de sociétés d’une certaine taille, depuis le 01/06/2017, de mettre en place des procédures internes de prévention contre la corruption et le trafic d’influence. </a:t>
            </a:r>
          </a:p>
          <a:p>
            <a:endParaRPr lang="fr-FR" baseline="0" dirty="0" smtClean="0"/>
          </a:p>
          <a:p>
            <a:pPr marL="0" indent="0">
              <a:buFont typeface="Arial" panose="020B0604020202020204" pitchFamily="34" charset="0"/>
              <a:buNone/>
            </a:pPr>
            <a:endParaRPr lang="fr-FR" baseline="0" dirty="0" smtClean="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22</a:t>
            </a:fld>
            <a:endParaRPr lang="fr-FR" dirty="0"/>
          </a:p>
        </p:txBody>
      </p:sp>
    </p:spTree>
    <p:extLst>
      <p:ext uri="{BB962C8B-B14F-4D97-AF65-F5344CB8AC3E}">
        <p14:creationId xmlns:p14="http://schemas.microsoft.com/office/powerpoint/2010/main" val="3952445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 G20 Finances à Buenos Aires en Argentine a</a:t>
            </a:r>
            <a:r>
              <a:rPr lang="fr-FR" baseline="0" dirty="0" smtClean="0"/>
              <a:t> considéré que le Bitcoin n’était pas une monnaie même si l’intérêt des crypto-actifs a été souligné </a:t>
            </a:r>
            <a:r>
              <a:rPr lang="fr-FR" baseline="0" smtClean="0"/>
              <a:t>(source AFP – 20/03/2018). </a:t>
            </a: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23</a:t>
            </a:fld>
            <a:endParaRPr lang="fr-FR" dirty="0"/>
          </a:p>
        </p:txBody>
      </p:sp>
    </p:spTree>
    <p:extLst>
      <p:ext uri="{BB962C8B-B14F-4D97-AF65-F5344CB8AC3E}">
        <p14:creationId xmlns:p14="http://schemas.microsoft.com/office/powerpoint/2010/main" val="14420236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fr-FR" dirty="0" smtClean="0"/>
              <a:t>-Amendement à la norme IAS 7 – Tableau de flux de trésorerie</a:t>
            </a:r>
          </a:p>
          <a:p>
            <a:pPr marL="0" marR="0" lvl="1" indent="0" algn="l" defTabSz="914400" rtl="0" eaLnBrk="1" fontAlgn="auto" latinLnBrk="0" hangingPunct="1">
              <a:lnSpc>
                <a:spcPct val="100000"/>
              </a:lnSpc>
              <a:spcBef>
                <a:spcPts val="0"/>
              </a:spcBef>
              <a:spcAft>
                <a:spcPts val="0"/>
              </a:spcAft>
              <a:buClrTx/>
              <a:buSzTx/>
              <a:buFontTx/>
              <a:buNone/>
              <a:tabLst/>
              <a:defRPr/>
            </a:pPr>
            <a:r>
              <a:rPr lang="fr-FR" dirty="0" smtClean="0"/>
              <a:t>Info</a:t>
            </a:r>
            <a:r>
              <a:rPr lang="fr-FR" baseline="0" dirty="0" smtClean="0"/>
              <a:t> attendue par les utilisateurs des états financiers des sociétés industrielles et commerciales. </a:t>
            </a:r>
            <a:endParaRPr lang="fr-FR" dirty="0" smtClean="0"/>
          </a:p>
          <a:p>
            <a:endParaRPr lang="fr-FR" dirty="0" smtClean="0"/>
          </a:p>
          <a:p>
            <a:endParaRPr lang="fr-FR" dirty="0" smtClean="0"/>
          </a:p>
          <a:p>
            <a:endParaRPr lang="fr-FR" dirty="0" smtClean="0"/>
          </a:p>
          <a:p>
            <a:r>
              <a:rPr lang="fr-FR" dirty="0" smtClean="0"/>
              <a:t>Impacts de nouvelles normes tels</a:t>
            </a:r>
            <a:r>
              <a:rPr lang="fr-FR" baseline="0" dirty="0" smtClean="0"/>
              <a:t> que IFRS 15 et IFRS 9 en 2018, IFRS 16 en 2019. </a:t>
            </a: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24</a:t>
            </a:fld>
            <a:endParaRPr lang="fr-FR" dirty="0"/>
          </a:p>
        </p:txBody>
      </p:sp>
    </p:spTree>
    <p:extLst>
      <p:ext uri="{BB962C8B-B14F-4D97-AF65-F5344CB8AC3E}">
        <p14:creationId xmlns:p14="http://schemas.microsoft.com/office/powerpoint/2010/main" val="2990312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https://www.youtube.com/watch?v=VpMiH6E3nXo&amp;list=PLobLdtqtclknqbwsHdRfnAZDIxgCqyw7 </a:t>
            </a:r>
          </a:p>
          <a:p>
            <a:endParaRPr lang="fr-FR" dirty="0" smtClean="0"/>
          </a:p>
          <a:p>
            <a:r>
              <a:rPr lang="fr-FR" dirty="0" smtClean="0"/>
              <a:t>Recommandation AMF</a:t>
            </a:r>
            <a:r>
              <a:rPr lang="fr-FR" baseline="0" dirty="0" smtClean="0"/>
              <a:t> 2016 </a:t>
            </a:r>
          </a:p>
          <a:p>
            <a:r>
              <a:rPr lang="fr-FR" dirty="0" smtClean="0"/>
              <a:t>https://www.google.fr/url?sa=t&amp;rct=j&amp;q=&amp;esrc=s&amp;source=web&amp;cd=1&amp;ved=0ahUKEwj6wozGtenZAhXFDuwKHVZsDTIQFggoMAA&amp;url=http%3A%2F%2Fwww.amf-france.org%2Ftechnique%2Fmultimedia%3FdocId%3Dworkspace%3A%2F%2FSpacesStore%2Fe3faf240-bd56-441d-9d3b-648629bf43e3_fr_1.0_rendition&amp;usg=AOvVaw0Rx1G0V_S5J2aBYou_1LQx </a:t>
            </a:r>
          </a:p>
          <a:p>
            <a:endParaRPr lang="fr-FR" dirty="0" smtClean="0"/>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25</a:t>
            </a:fld>
            <a:endParaRPr lang="fr-FR" dirty="0"/>
          </a:p>
        </p:txBody>
      </p:sp>
    </p:spTree>
    <p:extLst>
      <p:ext uri="{BB962C8B-B14F-4D97-AF65-F5344CB8AC3E}">
        <p14:creationId xmlns:p14="http://schemas.microsoft.com/office/powerpoint/2010/main" val="43448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Source : Les</a:t>
            </a:r>
            <a:r>
              <a:rPr lang="fr-FR" baseline="0" dirty="0" smtClean="0"/>
              <a:t> Echos</a:t>
            </a:r>
          </a:p>
          <a:p>
            <a:endParaRPr lang="fr-FR" baseline="0" dirty="0" smtClean="0"/>
          </a:p>
          <a:p>
            <a:r>
              <a:rPr lang="fr-FR" baseline="0" dirty="0" err="1" smtClean="0"/>
              <a:t>Brexit</a:t>
            </a:r>
            <a:r>
              <a:rPr lang="fr-FR" baseline="0" dirty="0" smtClean="0"/>
              <a:t> fixé au 29 mars 2019 à 23h. </a:t>
            </a:r>
          </a:p>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26</a:t>
            </a:fld>
            <a:endParaRPr lang="fr-FR" dirty="0"/>
          </a:p>
        </p:txBody>
      </p:sp>
    </p:spTree>
    <p:extLst>
      <p:ext uri="{BB962C8B-B14F-4D97-AF65-F5344CB8AC3E}">
        <p14:creationId xmlns:p14="http://schemas.microsoft.com/office/powerpoint/2010/main" val="36912687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u="none" dirty="0" smtClean="0"/>
              <a:t>L’IASB</a:t>
            </a:r>
            <a:r>
              <a:rPr lang="fr-FR" u="none" baseline="0" dirty="0" smtClean="0"/>
              <a:t> préfère travailler sur une meilleure application des normes plutôt que d’en créer d’autres. Pour cela, l’IASB fera de la maintenance et clarifiera les textes difficiles à mettre en place. </a:t>
            </a:r>
            <a:endParaRPr lang="fr-FR" u="none" dirty="0" smtClean="0"/>
          </a:p>
          <a:p>
            <a:endParaRPr lang="fr-FR" u="none" dirty="0" smtClean="0"/>
          </a:p>
          <a:p>
            <a:endParaRPr lang="fr-FR" u="sng" dirty="0" smtClean="0"/>
          </a:p>
          <a:p>
            <a:r>
              <a:rPr lang="fr-FR" u="sng" dirty="0" smtClean="0"/>
              <a:t>IFRS</a:t>
            </a:r>
            <a:r>
              <a:rPr lang="fr-FR" u="sng" baseline="0" dirty="0" smtClean="0"/>
              <a:t> 9 :</a:t>
            </a:r>
            <a:r>
              <a:rPr lang="fr-FR" u="none" baseline="0" dirty="0" smtClean="0"/>
              <a:t> concernant l’amendement à IFRS 9 (clauses de remboursement anticipé avec compensation négative) avec date d’entrée en vigueur le 01/01/2019, la norme ne peut être appliquée en Europe avant son adoption par l’UE attendue au Q1 2018.</a:t>
            </a:r>
          </a:p>
          <a:p>
            <a:endParaRPr lang="fr-FR" u="none" baseline="0" dirty="0" smtClean="0"/>
          </a:p>
          <a:p>
            <a:r>
              <a:rPr lang="fr-FR" u="sng" baseline="0" dirty="0" smtClean="0"/>
              <a:t>IFRS 17 </a:t>
            </a:r>
            <a:r>
              <a:rPr lang="fr-FR" u="none" baseline="0" dirty="0" smtClean="0"/>
              <a:t>: contrats d’assurance : adoption en Europe non définie à ce jour.</a:t>
            </a:r>
          </a:p>
          <a:p>
            <a:endParaRPr lang="fr-FR" u="none"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u="sng" dirty="0" smtClean="0"/>
              <a:t>IFRIC 22 </a:t>
            </a:r>
            <a:r>
              <a:rPr lang="fr-FR" dirty="0" smtClean="0"/>
              <a:t>:</a:t>
            </a:r>
            <a:r>
              <a:rPr lang="fr-FR" baseline="0" dirty="0" smtClean="0"/>
              <a:t> adoption par l’UE prévue au Q1 2018.</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u="sng" baseline="0" dirty="0" smtClean="0"/>
              <a:t>IFRIC 23 </a:t>
            </a:r>
            <a:r>
              <a:rPr lang="fr-FR" baseline="0" dirty="0" smtClean="0"/>
              <a:t>: adoption par l’UE attendue en 2018. </a:t>
            </a:r>
            <a:endParaRPr lang="fr-FR" dirty="0" smtClean="0"/>
          </a:p>
          <a:p>
            <a:endParaRPr lang="fr-FR" u="none" baseline="0" dirty="0" smtClean="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27</a:t>
            </a:fld>
            <a:endParaRPr lang="fr-FR" dirty="0"/>
          </a:p>
        </p:txBody>
      </p:sp>
    </p:spTree>
    <p:extLst>
      <p:ext uri="{BB962C8B-B14F-4D97-AF65-F5344CB8AC3E}">
        <p14:creationId xmlns:p14="http://schemas.microsoft.com/office/powerpoint/2010/main" val="2954792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b="1" baseline="0" dirty="0" smtClean="0"/>
          </a:p>
          <a:p>
            <a:r>
              <a:rPr lang="fr-FR" b="1" baseline="0" dirty="0" smtClean="0"/>
              <a:t>AMF encourage « la présentation des variations des passifs issus des activités de financement par un format tabulaire, pour une information claire et concise ». </a:t>
            </a:r>
            <a:endParaRPr lang="fr-FR" b="1"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28</a:t>
            </a:fld>
            <a:endParaRPr lang="fr-FR" dirty="0"/>
          </a:p>
        </p:txBody>
      </p:sp>
    </p:spTree>
    <p:extLst>
      <p:ext uri="{BB962C8B-B14F-4D97-AF65-F5344CB8AC3E}">
        <p14:creationId xmlns:p14="http://schemas.microsoft.com/office/powerpoint/2010/main" val="28916784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i="1" dirty="0" smtClean="0"/>
              <a:t>IDP : comptabilisation systématique – IAS 12.15-20</a:t>
            </a:r>
          </a:p>
          <a:p>
            <a:r>
              <a:rPr lang="fr-FR" i="1" dirty="0" smtClean="0"/>
              <a:t>IDA : quelle que soit son origine (perte fiscale reportable, crédit d’impôt ou différence temporelle déductible), comptabilisation que s’il est probable que l’entreprise disposera de bénéfices imposables suffisants pour le recouvrer- IAS 12.24 </a:t>
            </a:r>
          </a:p>
          <a:p>
            <a:r>
              <a:rPr lang="fr-FR" i="1" dirty="0" smtClean="0"/>
              <a:t>L’existence de pertes fiscales non utilisées constitue une indication forte que des bénéfices imposables futurs risquent de ne pas être disponibles. En cas d’historique de pertes récentes, nécessité d’indications convaincantes montrant que le groupe disposera de différences temporelles imposables ou de bénéfices imposables suffisants – IAS 12.35</a:t>
            </a:r>
          </a:p>
          <a:p>
            <a:endParaRPr lang="fr-FR" b="1" dirty="0" smtClean="0"/>
          </a:p>
          <a:p>
            <a:r>
              <a:rPr lang="fr-FR" b="1" dirty="0" smtClean="0"/>
              <a:t>http://expert-consolidation.com/lois_fiscales-impact_impots_differes-cloture-decembre/ </a:t>
            </a:r>
            <a:endParaRPr lang="fr-FR" b="1"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29</a:t>
            </a:fld>
            <a:endParaRPr lang="fr-FR" dirty="0"/>
          </a:p>
        </p:txBody>
      </p:sp>
    </p:spTree>
    <p:extLst>
      <p:ext uri="{BB962C8B-B14F-4D97-AF65-F5344CB8AC3E}">
        <p14:creationId xmlns:p14="http://schemas.microsoft.com/office/powerpoint/2010/main" val="28916784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L’ESMA</a:t>
            </a:r>
            <a:r>
              <a:rPr lang="fr-FR" baseline="0" dirty="0" smtClean="0"/>
              <a:t> (</a:t>
            </a:r>
            <a:r>
              <a:rPr lang="fr-FR" baseline="0" dirty="0" err="1" smtClean="0"/>
              <a:t>European</a:t>
            </a:r>
            <a:r>
              <a:rPr lang="fr-FR" baseline="0" dirty="0" smtClean="0"/>
              <a:t> Securities and </a:t>
            </a:r>
            <a:r>
              <a:rPr lang="fr-FR" baseline="0" dirty="0" err="1" smtClean="0"/>
              <a:t>Markets</a:t>
            </a:r>
            <a:r>
              <a:rPr lang="fr-FR" baseline="0" dirty="0" smtClean="0"/>
              <a:t> </a:t>
            </a:r>
            <a:r>
              <a:rPr lang="fr-FR" baseline="0" dirty="0" err="1" smtClean="0"/>
              <a:t>Authority</a:t>
            </a:r>
            <a:r>
              <a:rPr lang="fr-FR" baseline="0" dirty="0" smtClean="0"/>
              <a:t>) recommande aux entreprises impactées par IFRS 9 à donner des informations sur les méthodes comptables retenues, présenter des indicateurs alternatifs de performance et en quoi cela va impacter leur gestion des risques financiers.  </a:t>
            </a:r>
          </a:p>
          <a:p>
            <a:endParaRPr lang="fr-FR" baseline="0" dirty="0" smtClean="0"/>
          </a:p>
          <a:p>
            <a:r>
              <a:rPr lang="fr-FR" baseline="0" dirty="0" smtClean="0"/>
              <a:t>Étude d’impacts sur les banques de Mazars : https://fre.mazars.com/Accueil/News/Nos-publications/Cahiers-techniques/Quantified-impacts-of-IFRS-9-initial-findings </a:t>
            </a:r>
          </a:p>
          <a:p>
            <a:r>
              <a:rPr lang="fr-FR" baseline="0" dirty="0" smtClean="0"/>
              <a:t> </a:t>
            </a: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30</a:t>
            </a:fld>
            <a:endParaRPr lang="fr-FR" dirty="0"/>
          </a:p>
        </p:txBody>
      </p:sp>
    </p:spTree>
    <p:extLst>
      <p:ext uri="{BB962C8B-B14F-4D97-AF65-F5344CB8AC3E}">
        <p14:creationId xmlns:p14="http://schemas.microsoft.com/office/powerpoint/2010/main" val="28916784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La raison de cet amendement : l’IASB consulte actuellement sur certaines clarifications proposées à la norme ( exposé-sondage ED/2015/6 ), propositions faisant suite aux discussions du groupe de ressources de transition. </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A</a:t>
            </a:r>
            <a:r>
              <a:rPr lang="fr-FR" baseline="0" dirty="0" smtClean="0"/>
              <a:t> ce jour,  cet amendement n’est pas encore homologué au niveau européen.</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smtClean="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31</a:t>
            </a:fld>
            <a:endParaRPr lang="fr-FR" dirty="0"/>
          </a:p>
        </p:txBody>
      </p:sp>
    </p:spTree>
    <p:extLst>
      <p:ext uri="{BB962C8B-B14F-4D97-AF65-F5344CB8AC3E}">
        <p14:creationId xmlns:p14="http://schemas.microsoft.com/office/powerpoint/2010/main" val="5335434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1" dirty="0" smtClean="0"/>
              <a:t>Entrée en vigueur</a:t>
            </a:r>
            <a:r>
              <a:rPr lang="fr-FR" b="1" baseline="0" dirty="0" smtClean="0"/>
              <a:t> le 1</a:t>
            </a:r>
            <a:r>
              <a:rPr lang="fr-FR" b="1" baseline="30000" dirty="0" smtClean="0"/>
              <a:t>er</a:t>
            </a:r>
            <a:r>
              <a:rPr lang="fr-FR" b="1" baseline="0" dirty="0" smtClean="0"/>
              <a:t> janvier 2019 mais u</a:t>
            </a:r>
            <a:r>
              <a:rPr lang="fr-FR" b="1" dirty="0" smtClean="0"/>
              <a:t>ne application anticipée est autorisée</a:t>
            </a:r>
            <a:r>
              <a:rPr lang="fr-FR" dirty="0" smtClean="0"/>
              <a:t> (à condition que la norme </a:t>
            </a:r>
            <a:r>
              <a:rPr lang="fr-FR" u="sng" dirty="0" smtClean="0">
                <a:hlinkClick r:id="rId3"/>
              </a:rPr>
              <a:t>IFRS 15 « Produits des activités ordinaires tirés de contrats conclus avec des clients » </a:t>
            </a:r>
            <a:r>
              <a:rPr lang="fr-FR" dirty="0" smtClean="0"/>
              <a:t> soit aussi appliquée).</a:t>
            </a:r>
          </a:p>
          <a:p>
            <a:pPr marL="0" marR="0" indent="0" algn="l" defTabSz="914400" rtl="0" eaLnBrk="1" fontAlgn="auto" latinLnBrk="0" hangingPunct="1">
              <a:lnSpc>
                <a:spcPct val="100000"/>
              </a:lnSpc>
              <a:spcBef>
                <a:spcPts val="0"/>
              </a:spcBef>
              <a:spcAft>
                <a:spcPts val="0"/>
              </a:spcAft>
              <a:buClrTx/>
              <a:buSzTx/>
              <a:buFontTx/>
              <a:buNone/>
              <a:tabLst/>
              <a:defRPr/>
            </a:pPr>
            <a:endParaRPr lang="fr-FR" u="sng" dirty="0" smtClean="0">
              <a:hlinkClick r:id="rId4"/>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L’IASB a publié en même temps que la norme une « analyse des impacts » qui montre les coûts et les avantages liés à la norme IFRS 16. Cette analyse démontre clairement le besoin d’une nouvelle norme et le fait que les avantages dépassent les coûts.</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fr-FR" u="sng" dirty="0" smtClean="0"/>
          </a:p>
          <a:p>
            <a:r>
              <a:rPr lang="fr-FR" dirty="0" smtClean="0"/>
              <a:t>ANC publié 18/07/2018 : sous réserve de modification,</a:t>
            </a:r>
            <a:r>
              <a:rPr lang="fr-FR" baseline="0" dirty="0" smtClean="0"/>
              <a:t> cette position limite la durée de location et de la dette à 9 ans chaque renouvellement devra être traité comme un nouveau contrat de location. </a:t>
            </a:r>
          </a:p>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32</a:t>
            </a:fld>
            <a:endParaRPr lang="fr-FR" dirty="0"/>
          </a:p>
        </p:txBody>
      </p:sp>
    </p:spTree>
    <p:extLst>
      <p:ext uri="{BB962C8B-B14F-4D97-AF65-F5344CB8AC3E}">
        <p14:creationId xmlns:p14="http://schemas.microsoft.com/office/powerpoint/2010/main" val="34404339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33</a:t>
            </a:fld>
            <a:endParaRPr lang="fr-FR" dirty="0"/>
          </a:p>
        </p:txBody>
      </p:sp>
    </p:spTree>
    <p:extLst>
      <p:ext uri="{BB962C8B-B14F-4D97-AF65-F5344CB8AC3E}">
        <p14:creationId xmlns:p14="http://schemas.microsoft.com/office/powerpoint/2010/main" val="36792843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1" dirty="0" smtClean="0"/>
              <a:t>Entrée en vigueur</a:t>
            </a:r>
            <a:r>
              <a:rPr lang="fr-FR" b="1" baseline="0" dirty="0" smtClean="0"/>
              <a:t> le 1</a:t>
            </a:r>
            <a:r>
              <a:rPr lang="fr-FR" b="1" baseline="30000" dirty="0" smtClean="0"/>
              <a:t>er</a:t>
            </a:r>
            <a:r>
              <a:rPr lang="fr-FR" b="1" baseline="0" dirty="0" smtClean="0"/>
              <a:t> janvier 2021</a:t>
            </a:r>
          </a:p>
          <a:p>
            <a:pPr marL="0" marR="0" indent="0" algn="l" defTabSz="914400" rtl="0" eaLnBrk="1" fontAlgn="auto" latinLnBrk="0" hangingPunct="1">
              <a:lnSpc>
                <a:spcPct val="100000"/>
              </a:lnSpc>
              <a:spcBef>
                <a:spcPts val="0"/>
              </a:spcBef>
              <a:spcAft>
                <a:spcPts val="0"/>
              </a:spcAft>
              <a:buClrTx/>
              <a:buSzTx/>
              <a:buFontTx/>
              <a:buNone/>
              <a:tabLst/>
              <a:defRPr/>
            </a:pPr>
            <a:endParaRPr lang="fr-FR" b="1"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b="0" baseline="0" dirty="0" smtClean="0"/>
              <a:t>Les marges pour les contrats et liées au risque feront le chiffre d’affaires. </a:t>
            </a:r>
          </a:p>
          <a:p>
            <a:pPr marL="0" marR="0" indent="0" algn="l" defTabSz="914400" rtl="0" eaLnBrk="1" fontAlgn="auto" latinLnBrk="0" hangingPunct="1">
              <a:lnSpc>
                <a:spcPct val="100000"/>
              </a:lnSpc>
              <a:spcBef>
                <a:spcPts val="0"/>
              </a:spcBef>
              <a:spcAft>
                <a:spcPts val="0"/>
              </a:spcAft>
              <a:buClrTx/>
              <a:buSzTx/>
              <a:buFontTx/>
              <a:buNone/>
              <a:tabLst/>
              <a:defRPr/>
            </a:pPr>
            <a:endParaRPr lang="fr-FR" b="0"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b="0" baseline="0" dirty="0" smtClean="0"/>
              <a:t>IASB : constitution d’un groupe de transition réuni pour la 1</a:t>
            </a:r>
            <a:r>
              <a:rPr lang="fr-FR" b="0" baseline="30000" dirty="0" smtClean="0"/>
              <a:t>ère</a:t>
            </a:r>
            <a:r>
              <a:rPr lang="fr-FR" b="0" baseline="0" dirty="0" smtClean="0"/>
              <a:t> fois en février car cette norme pose des questions de mise en œuvre. </a:t>
            </a:r>
            <a:endParaRPr lang="fr-FR" b="0"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34</a:t>
            </a:fld>
            <a:endParaRPr lang="fr-FR" dirty="0"/>
          </a:p>
        </p:txBody>
      </p:sp>
    </p:spTree>
    <p:extLst>
      <p:ext uri="{BB962C8B-B14F-4D97-AF65-F5344CB8AC3E}">
        <p14:creationId xmlns:p14="http://schemas.microsoft.com/office/powerpoint/2010/main" val="3440433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algn="just"/>
            <a:r>
              <a:rPr lang="fr-FR" dirty="0" smtClean="0"/>
              <a:t>Les cessions ont été importantes en 2016 – impacts très significatifs</a:t>
            </a:r>
            <a:r>
              <a:rPr lang="fr-FR" baseline="0" dirty="0" smtClean="0"/>
              <a:t> sur certains groupe : AREVA par exemple voit son chiffres d’affaires divisé par 3.</a:t>
            </a:r>
            <a:endParaRPr lang="fr-FR" dirty="0" smtClean="0"/>
          </a:p>
          <a:p>
            <a:pPr algn="just"/>
            <a:endParaRPr lang="fr-FR" sz="800" dirty="0" smtClean="0"/>
          </a:p>
          <a:p>
            <a:pPr algn="just"/>
            <a:r>
              <a:rPr lang="fr-FR" dirty="0" smtClean="0"/>
              <a:t>Les impacts de cette norme sont considérables sur nos 80 groupes à fin décembre 2016. </a:t>
            </a:r>
          </a:p>
          <a:p>
            <a:pPr algn="just"/>
            <a:r>
              <a:rPr lang="fr-FR" dirty="0" smtClean="0"/>
              <a:t>En effet, l’on constate une diminution considérable du CA mais aussi de leurs immobilisations. </a:t>
            </a:r>
          </a:p>
          <a:p>
            <a:pPr algn="just"/>
            <a:endParaRPr lang="fr-FR" dirty="0" smtClean="0"/>
          </a:p>
          <a:p>
            <a:pPr algn="just"/>
            <a:r>
              <a:rPr lang="fr-FR" dirty="0" smtClean="0"/>
              <a:t>AREVA : cession</a:t>
            </a:r>
            <a:r>
              <a:rPr lang="fr-FR" baseline="0" dirty="0" smtClean="0"/>
              <a:t> d’une partie de leurs activités (AREVA TA et énergies renouvelables). Plan de cession devant conduire à une perte de contrôle et un programme actif de recherche d’acquéreurs, et dont la vente est jugée hautement probable dans un délai de 12 mois à compter de l’exercice de clôture de 2016. </a:t>
            </a:r>
          </a:p>
          <a:p>
            <a:pPr algn="just"/>
            <a:r>
              <a:rPr lang="fr-FR" baseline="0" dirty="0" smtClean="0"/>
              <a:t>CA 2016 1,6 Mds € contre 5,6 Mds € pour 2015. </a:t>
            </a:r>
          </a:p>
          <a:p>
            <a:pPr algn="just"/>
            <a:endParaRPr lang="fr-FR" baseline="0" dirty="0" smtClean="0"/>
          </a:p>
          <a:p>
            <a:pPr algn="just"/>
            <a:r>
              <a:rPr lang="fr-FR" baseline="0" dirty="0" smtClean="0"/>
              <a:t>ACCOR : Ils considèrent que leur métier n’est pas d’être propriétaire des </a:t>
            </a:r>
            <a:r>
              <a:rPr lang="fr-FR" baseline="0" dirty="0" err="1" smtClean="0"/>
              <a:t>hotels</a:t>
            </a:r>
            <a:r>
              <a:rPr lang="fr-FR" baseline="0" dirty="0" smtClean="0"/>
              <a:t> mais de les exploiter. En ce sens, ils ont créé un pôle (foncière) </a:t>
            </a:r>
            <a:r>
              <a:rPr lang="fr-FR" baseline="0" dirty="0" err="1" smtClean="0"/>
              <a:t>HotelInvest</a:t>
            </a:r>
            <a:r>
              <a:rPr lang="fr-FR" baseline="0" dirty="0" smtClean="0"/>
              <a:t> et ont décidé d’en céder le contrôle de cette activité et considère la vente comme hautement probable. </a:t>
            </a:r>
          </a:p>
          <a:p>
            <a:pPr marL="0" marR="0" indent="0" algn="just" defTabSz="914400" rtl="0" eaLnBrk="1" fontAlgn="auto" latinLnBrk="0" hangingPunct="1">
              <a:lnSpc>
                <a:spcPct val="100000"/>
              </a:lnSpc>
              <a:spcBef>
                <a:spcPts val="0"/>
              </a:spcBef>
              <a:spcAft>
                <a:spcPts val="0"/>
              </a:spcAft>
              <a:buClrTx/>
              <a:buSzTx/>
              <a:buFontTx/>
              <a:buNone/>
              <a:tabLst/>
              <a:defRPr/>
            </a:pPr>
            <a:r>
              <a:rPr lang="fr-FR" baseline="0" dirty="0" smtClean="0"/>
              <a:t>CA 2016 10 M € contre 4,2 Mds € pour 2015. </a:t>
            </a:r>
          </a:p>
          <a:p>
            <a:pPr algn="just"/>
            <a:endParaRPr lang="fr-FR" dirty="0" smtClean="0"/>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35</a:t>
            </a:fld>
            <a:endParaRPr lang="fr-FR" dirty="0"/>
          </a:p>
        </p:txBody>
      </p:sp>
    </p:spTree>
    <p:extLst>
      <p:ext uri="{BB962C8B-B14F-4D97-AF65-F5344CB8AC3E}">
        <p14:creationId xmlns:p14="http://schemas.microsoft.com/office/powerpoint/2010/main" val="39833619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http://www.lefigaro.fr/conjoncture/2018/03/08/20002-20180308ARTFIG00145-les-benefices-des-entreprises-du-cac-40-en-hausse-de-24-en-2017.php</a:t>
            </a: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36</a:t>
            </a:fld>
            <a:endParaRPr lang="fr-FR" dirty="0"/>
          </a:p>
        </p:txBody>
      </p:sp>
    </p:spTree>
    <p:extLst>
      <p:ext uri="{BB962C8B-B14F-4D97-AF65-F5344CB8AC3E}">
        <p14:creationId xmlns:p14="http://schemas.microsoft.com/office/powerpoint/2010/main" val="27155720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https://www.latribune.fr/entreprises-finance/banques-finance/les-grandes-entreprises-sont-trop-endettees-alerte-bercy-761938.html</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https://www.economie.gouv.fr/files/files/directions_services/hcsf/HCSF_Rapport_endettement.pdf</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37</a:t>
            </a:fld>
            <a:endParaRPr lang="fr-FR" dirty="0"/>
          </a:p>
        </p:txBody>
      </p:sp>
    </p:spTree>
    <p:extLst>
      <p:ext uri="{BB962C8B-B14F-4D97-AF65-F5344CB8AC3E}">
        <p14:creationId xmlns:p14="http://schemas.microsoft.com/office/powerpoint/2010/main" val="27155720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Étude</a:t>
            </a:r>
            <a:r>
              <a:rPr lang="fr-FR" baseline="0" dirty="0" smtClean="0"/>
              <a:t> pour le 1</a:t>
            </a:r>
            <a:r>
              <a:rPr lang="fr-FR" baseline="30000" dirty="0" smtClean="0"/>
              <a:t>er</a:t>
            </a:r>
            <a:r>
              <a:rPr lang="fr-FR" baseline="0" dirty="0" smtClean="0"/>
              <a:t> semestre 2017 : https://publications.banque-france.fr/sites/default/files/medias/documents/bulletin-bf-214_web.pdf#page=57</a:t>
            </a:r>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Étude à fin décembre</a:t>
            </a:r>
            <a:r>
              <a:rPr lang="fr-FR" baseline="0" dirty="0" smtClean="0"/>
              <a:t> 2016 : https://publications.banque-france.fr/sites/default/files/medias/documents/bdf212web1807.pdf#page=15 </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Présentation de</a:t>
            </a:r>
            <a:r>
              <a:rPr lang="fr-FR" baseline="0" dirty="0" smtClean="0"/>
              <a:t> l’étude au CSOEC  en décembre 2016 : https://www.youtube.com/watch?v=WLFA_xkXdqk</a:t>
            </a: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38</a:t>
            </a:fld>
            <a:endParaRPr lang="fr-FR" dirty="0"/>
          </a:p>
        </p:txBody>
      </p:sp>
    </p:spTree>
    <p:extLst>
      <p:ext uri="{BB962C8B-B14F-4D97-AF65-F5344CB8AC3E}">
        <p14:creationId xmlns:p14="http://schemas.microsoft.com/office/powerpoint/2010/main" val="27155720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Dans l’étude sur les 80 groupes au 1</a:t>
            </a:r>
            <a:r>
              <a:rPr lang="fr-FR" sz="1200" baseline="30000" dirty="0" smtClean="0"/>
              <a:t>er</a:t>
            </a:r>
            <a:r>
              <a:rPr lang="fr-FR" sz="1200" dirty="0" smtClean="0"/>
              <a:t> semestre 2017, on peut voir que l’on assiste, depuis 2014, a une nette augmentation des écarts d’acquisition. </a:t>
            </a:r>
          </a:p>
          <a:p>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39</a:t>
            </a:fld>
            <a:endParaRPr lang="fr-FR" dirty="0"/>
          </a:p>
        </p:txBody>
      </p:sp>
    </p:spTree>
    <p:extLst>
      <p:ext uri="{BB962C8B-B14F-4D97-AF65-F5344CB8AC3E}">
        <p14:creationId xmlns:p14="http://schemas.microsoft.com/office/powerpoint/2010/main" val="7257321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smtClean="0">
                <a:solidFill>
                  <a:schemeClr val="tx1"/>
                </a:solidFill>
                <a:effectLst/>
                <a:latin typeface="+mn-lt"/>
                <a:ea typeface="+mn-ea"/>
                <a:cs typeface="+mn-cs"/>
              </a:rPr>
              <a:t>La crise financière a posé avec une nouvelle acuité la question des choix de financement des entreprises, et en particulier des plus grandes qui ont plus de latitude en la matière. </a:t>
            </a:r>
          </a:p>
          <a:p>
            <a:r>
              <a:rPr lang="fr-FR" sz="1200" kern="1200" dirty="0" smtClean="0">
                <a:solidFill>
                  <a:schemeClr val="tx1"/>
                </a:solidFill>
                <a:effectLst/>
                <a:latin typeface="+mn-lt"/>
                <a:ea typeface="+mn-ea"/>
                <a:cs typeface="+mn-cs"/>
              </a:rPr>
              <a:t>Évaluer l’endettement des grands groupes suppose une analyse :</a:t>
            </a:r>
          </a:p>
          <a:p>
            <a:pPr marL="171450" indent="-171450">
              <a:buFontTx/>
              <a:buChar char="-"/>
            </a:pPr>
            <a:r>
              <a:rPr lang="fr-FR" sz="1200" kern="1200" dirty="0" smtClean="0">
                <a:solidFill>
                  <a:schemeClr val="tx1"/>
                </a:solidFill>
                <a:effectLst/>
                <a:latin typeface="+mn-lt"/>
                <a:ea typeface="+mn-ea"/>
                <a:cs typeface="+mn-cs"/>
              </a:rPr>
              <a:t>du poids respectif des capitaux propres et des dettes financières dans le financement de l’actif économique du groupe, </a:t>
            </a:r>
          </a:p>
          <a:p>
            <a:pPr marL="171450" indent="-171450">
              <a:buFontTx/>
              <a:buChar char="-"/>
            </a:pPr>
            <a:r>
              <a:rPr lang="fr-FR" sz="1200" kern="1200" dirty="0" smtClean="0">
                <a:solidFill>
                  <a:schemeClr val="tx1"/>
                </a:solidFill>
                <a:effectLst/>
                <a:latin typeface="+mn-lt"/>
                <a:ea typeface="+mn-ea"/>
                <a:cs typeface="+mn-cs"/>
              </a:rPr>
              <a:t>de la capacité de remboursement de la dette</a:t>
            </a:r>
          </a:p>
          <a:p>
            <a:pPr marL="171450" indent="-171450">
              <a:buFontTx/>
              <a:buChar char="-"/>
            </a:pPr>
            <a:r>
              <a:rPr lang="fr-FR" sz="1200" kern="1200" dirty="0" smtClean="0">
                <a:solidFill>
                  <a:schemeClr val="tx1"/>
                </a:solidFill>
                <a:effectLst/>
                <a:latin typeface="+mn-lt"/>
                <a:ea typeface="+mn-ea"/>
                <a:cs typeface="+mn-cs"/>
              </a:rPr>
              <a:t>du lien entre l’endettement et l’investissement, ce dernier permettant d’augmenter les revenus futurs.</a:t>
            </a:r>
          </a:p>
          <a:p>
            <a:pPr marL="0" indent="0">
              <a:buFontTx/>
              <a:buNone/>
            </a:pPr>
            <a:endParaRPr lang="fr-FR" sz="1200" kern="1200" dirty="0" smtClean="0">
              <a:solidFill>
                <a:schemeClr val="tx1"/>
              </a:solidFill>
              <a:effectLst/>
              <a:latin typeface="+mn-lt"/>
              <a:ea typeface="+mn-ea"/>
              <a:cs typeface="+mn-cs"/>
            </a:endParaRPr>
          </a:p>
          <a:p>
            <a:r>
              <a:rPr lang="fr-FR" sz="1200" kern="1200" dirty="0" smtClean="0">
                <a:solidFill>
                  <a:schemeClr val="tx1"/>
                </a:solidFill>
                <a:effectLst/>
                <a:latin typeface="+mn-lt"/>
                <a:ea typeface="+mn-ea"/>
                <a:cs typeface="+mn-cs"/>
              </a:rPr>
              <a:t>On observe une amélioration de la solvabilité des grands groupes à la suite du renforcement de leurs fonds propres. Toutefois, les grands groupes peinent à générer une augmentation </a:t>
            </a:r>
          </a:p>
          <a:p>
            <a:r>
              <a:rPr lang="fr-FR" sz="1200" kern="1200" dirty="0" smtClean="0">
                <a:solidFill>
                  <a:schemeClr val="tx1"/>
                </a:solidFill>
                <a:effectLst/>
                <a:latin typeface="+mn-lt"/>
                <a:ea typeface="+mn-ea"/>
                <a:cs typeface="+mn-cs"/>
              </a:rPr>
              <a:t>de la capacité d’autofinancement supérieure à celle de l’endettement net. Dès lors, il convient d’analyser dans quelle mesure le nouvel endettement des groupes français permet de financer des investissements qui conduiront à une augmentation des revenus futurs. En 2016, les nouvelles dettes financières financent davantage l’investissement de croissance externe que l’investissement corporel et incorporel des grands groupes.</a:t>
            </a:r>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https://publications.banque-france.fr/sites/default/files/medias/documents/bulletin-bf-214_web.pdf#page=73</a:t>
            </a:r>
            <a:endParaRPr lang="fr-FR"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8C58AD9D-9639-4366-836E-CE02EE01A232}" type="slidenum">
              <a:rPr lang="fr-FR" smtClean="0"/>
              <a:t>40</a:t>
            </a:fld>
            <a:endParaRPr lang="fr-FR" dirty="0"/>
          </a:p>
        </p:txBody>
      </p:sp>
    </p:spTree>
    <p:extLst>
      <p:ext uri="{BB962C8B-B14F-4D97-AF65-F5344CB8AC3E}">
        <p14:creationId xmlns:p14="http://schemas.microsoft.com/office/powerpoint/2010/main" val="27155720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077768-21C8-4125-A345-258E48D2EED0}" type="slidenum">
              <a:rPr lang="fr-FR" smtClean="0"/>
              <a:pPr/>
              <a:t>41</a:t>
            </a:fld>
            <a:endParaRPr lang="fr-FR" dirty="0"/>
          </a:p>
        </p:txBody>
      </p:sp>
    </p:spTree>
    <p:extLst>
      <p:ext uri="{BB962C8B-B14F-4D97-AF65-F5344CB8AC3E}">
        <p14:creationId xmlns:p14="http://schemas.microsoft.com/office/powerpoint/2010/main" val="20375808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CA077768-21C8-4125-A345-258E48D2EED0}" type="slidenum">
              <a:rPr lang="fr-FR" smtClean="0"/>
              <a:pPr/>
              <a:t>42</a:t>
            </a:fld>
            <a:endParaRPr lang="fr-FR" dirty="0"/>
          </a:p>
        </p:txBody>
      </p:sp>
    </p:spTree>
    <p:extLst>
      <p:ext uri="{BB962C8B-B14F-4D97-AF65-F5344CB8AC3E}">
        <p14:creationId xmlns:p14="http://schemas.microsoft.com/office/powerpoint/2010/main" val="2037580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fr-FR" smtClean="0"/>
              <a:t>Modifiez le style du titre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p:txBody>
          <a:bodyPr/>
          <a:lstStyle/>
          <a:p>
            <a:fld id="{55AF537A-5CAA-46D9-A0EA-93A9CC49591E}" type="datetime1">
              <a:rPr lang="fr-FR" smtClean="0"/>
              <a:t>25/02/2019</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851EF7E6-E725-4BDA-90E5-11DEA34DAC65}" type="slidenum">
              <a:rPr lang="fr-FR" smtClean="0"/>
              <a:t>‹N°›</a:t>
            </a:fld>
            <a:endParaRPr lang="fr-FR"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Content Placeholder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5459F76C-99CD-4083-A98B-39487DB88AD9}" type="datetime1">
              <a:rPr lang="fr-FR" smtClean="0"/>
              <a:t>25/02/2019</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851EF7E6-E725-4BDA-90E5-11DEA34DAC65}" type="slidenum">
              <a:rPr lang="fr-FR" smtClean="0"/>
              <a:t>‹N°›</a:t>
            </a:fld>
            <a:endParaRPr lang="fr-F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fr-FR" smtClean="0"/>
              <a:t>Modifiez le style du titre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6C96FB4D-FC03-451C-AABC-C3CE14CF52CD}" type="datetime1">
              <a:rPr lang="fr-FR" smtClean="0"/>
              <a:t>25/02/2019</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851EF7E6-E725-4BDA-90E5-11DEA34DAC65}" type="slidenum">
              <a:rPr lang="fr-FR" smtClean="0"/>
              <a:t>‹N°›</a:t>
            </a:fld>
            <a:endParaRPr lang="fr-FR"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57726711-88AE-4145-92E9-1ED96FE604E3}" type="datetime1">
              <a:rPr lang="fr-FR" smtClean="0"/>
              <a:t>25/02/2019</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851EF7E6-E725-4BDA-90E5-11DEA34DAC65}" type="slidenum">
              <a:rPr lang="fr-FR" smtClean="0"/>
              <a:t>‹N°›</a:t>
            </a:fld>
            <a:endParaRPr lang="fr-F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6109AEEE-E718-4447-85A2-52464E8AD8BF}" type="datetime1">
              <a:rPr lang="fr-FR" smtClean="0"/>
              <a:t>25/02/2019</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851EF7E6-E725-4BDA-90E5-11DEA34DAC65}" type="slidenum">
              <a:rPr lang="fr-FR" smtClean="0"/>
              <a:t>‹N°›</a:t>
            </a:fld>
            <a:endParaRPr lang="fr-FR"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Date Placeholder 2"/>
          <p:cNvSpPr>
            <a:spLocks noGrp="1"/>
          </p:cNvSpPr>
          <p:nvPr>
            <p:ph type="dt" sz="half" idx="10"/>
          </p:nvPr>
        </p:nvSpPr>
        <p:spPr/>
        <p:txBody>
          <a:bodyPr/>
          <a:lstStyle/>
          <a:p>
            <a:fld id="{6C6DFBF6-3B9C-4786-A770-D8B76002D21C}" type="datetime1">
              <a:rPr lang="fr-FR" smtClean="0"/>
              <a:t>25/02/2019</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851EF7E6-E725-4BDA-90E5-11DEA34DAC65}" type="slidenum">
              <a:rPr lang="fr-FR" smtClean="0"/>
              <a:t>‹N°›</a:t>
            </a:fld>
            <a:endParaRPr lang="fr-F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817ECE-B283-467D-8055-7AE0AFFF0734}" type="datetime1">
              <a:rPr lang="fr-FR" smtClean="0"/>
              <a:t>25/02/2019</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851EF7E6-E725-4BDA-90E5-11DEA34DAC65}" type="slidenum">
              <a:rPr lang="fr-FR" smtClean="0"/>
              <a:t>‹N°›</a:t>
            </a:fld>
            <a:endParaRPr lang="fr-F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fr-FR" smtClean="0"/>
              <a:t>Modifiez le style du titre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C7330089-0353-43F1-9AD6-0A407AA2D6D1}" type="datetime1">
              <a:rPr lang="fr-FR" smtClean="0"/>
              <a:t>25/02/2019</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851EF7E6-E725-4BDA-90E5-11DEA34DAC65}" type="slidenum">
              <a:rPr lang="fr-FR" smtClean="0"/>
              <a:t>‹N°›</a:t>
            </a:fld>
            <a:endParaRPr lang="fr-FR"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fr-FR" smtClean="0"/>
              <a:t>Modifiez le style du titre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smtClean="0"/>
              <a:t>Cliquez sur l'icône pour ajouter une image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71DE6967-6677-42D7-8CF6-A7D257D97DB8}" type="datetime1">
              <a:rPr lang="fr-FR" smtClean="0"/>
              <a:t>25/02/2019</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851EF7E6-E725-4BDA-90E5-11DEA34DAC65}" type="slidenum">
              <a:rPr lang="fr-FR" smtClean="0"/>
              <a:t>‹N°›</a:t>
            </a:fld>
            <a:endParaRPr lang="fr-F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A85DF7B2-6D33-42F3-B58A-A5084B970CC3}" type="datetime1">
              <a:rPr lang="fr-FR" smtClean="0"/>
              <a:t>25/02/2019</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851EF7E6-E725-4BDA-90E5-11DEA34DAC65}" type="slidenum">
              <a:rPr lang="fr-FR" smtClean="0"/>
              <a:t>‹N°›</a:t>
            </a:fld>
            <a:endParaRPr lang="fr-F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fr-FR" smtClean="0"/>
              <a:t>Modifiez le style du titre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06FE668E-62F9-4DA6-8AC4-0771AC3B6170}" type="datetime1">
              <a:rPr lang="fr-FR" smtClean="0"/>
              <a:t>25/02/2019</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851EF7E6-E725-4BDA-90E5-11DEA34DAC65}" type="slidenum">
              <a:rPr lang="fr-FR" smtClean="0"/>
              <a:t>‹N°›</a:t>
            </a:fld>
            <a:endParaRPr lang="fr-F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iapositive de titre">
    <p:spTree>
      <p:nvGrpSpPr>
        <p:cNvPr id="1" name=""/>
        <p:cNvGrpSpPr/>
        <p:nvPr/>
      </p:nvGrpSpPr>
      <p:grpSpPr>
        <a:xfrm>
          <a:off x="0" y="0"/>
          <a:ext cx="0" cy="0"/>
          <a:chOff x="0" y="0"/>
          <a:chExt cx="0" cy="0"/>
        </a:xfrm>
      </p:grpSpPr>
      <p:sp>
        <p:nvSpPr>
          <p:cNvPr id="4" name="Titre 3"/>
          <p:cNvSpPr>
            <a:spLocks noGrp="1"/>
          </p:cNvSpPr>
          <p:nvPr>
            <p:ph type="title" hasCustomPrompt="1"/>
          </p:nvPr>
        </p:nvSpPr>
        <p:spPr>
          <a:xfrm>
            <a:off x="1619495" y="2834872"/>
            <a:ext cx="5905010" cy="1260000"/>
          </a:xfrm>
        </p:spPr>
        <p:txBody>
          <a:bodyPr>
            <a:noAutofit/>
          </a:bodyPr>
          <a:lstStyle>
            <a:lvl1pPr algn="ctr">
              <a:defRPr sz="3000" b="1" cap="all" baseline="0">
                <a:solidFill>
                  <a:srgbClr val="205AA7"/>
                </a:solidFill>
                <a:latin typeface="+mn-lt"/>
              </a:defRPr>
            </a:lvl1pPr>
          </a:lstStyle>
          <a:p>
            <a:r>
              <a:rPr lang="fr-FR" dirty="0" smtClean="0"/>
              <a:t>MODIFIEZ LE STYLE DU TITRE</a:t>
            </a:r>
            <a:endParaRPr lang="fr-FR" dirty="0"/>
          </a:p>
        </p:txBody>
      </p:sp>
      <p:sp>
        <p:nvSpPr>
          <p:cNvPr id="6" name="Espace réservé du texte 5"/>
          <p:cNvSpPr>
            <a:spLocks noGrp="1"/>
          </p:cNvSpPr>
          <p:nvPr>
            <p:ph type="body" sz="quarter" idx="10" hasCustomPrompt="1"/>
          </p:nvPr>
        </p:nvSpPr>
        <p:spPr>
          <a:xfrm>
            <a:off x="5004048" y="5661248"/>
            <a:ext cx="3599284" cy="792088"/>
          </a:xfrm>
        </p:spPr>
        <p:txBody>
          <a:bodyPr>
            <a:noAutofit/>
          </a:bodyPr>
          <a:lstStyle>
            <a:lvl1pPr marL="0" indent="0" algn="r">
              <a:spcBef>
                <a:spcPts val="0"/>
              </a:spcBef>
              <a:buFontTx/>
              <a:buNone/>
              <a:defRPr sz="1200" cap="all" baseline="0">
                <a:solidFill>
                  <a:srgbClr val="205AA7"/>
                </a:solidFill>
              </a:defRPr>
            </a:lvl1pPr>
          </a:lstStyle>
          <a:p>
            <a:pPr lvl="0"/>
            <a:r>
              <a:rPr lang="fr-FR" dirty="0" smtClean="0"/>
              <a:t>NOM, service</a:t>
            </a:r>
            <a:endParaRPr lang="fr-FR" dirty="0"/>
          </a:p>
        </p:txBody>
      </p:sp>
      <p:sp>
        <p:nvSpPr>
          <p:cNvPr id="7" name="Espace réservé du texte 6"/>
          <p:cNvSpPr>
            <a:spLocks noGrp="1"/>
          </p:cNvSpPr>
          <p:nvPr>
            <p:ph type="body" sz="quarter" idx="11" hasCustomPrompt="1"/>
          </p:nvPr>
        </p:nvSpPr>
        <p:spPr>
          <a:xfrm>
            <a:off x="7019156" y="6489248"/>
            <a:ext cx="1584176" cy="260350"/>
          </a:xfrm>
        </p:spPr>
        <p:txBody>
          <a:bodyPr>
            <a:normAutofit/>
          </a:bodyPr>
          <a:lstStyle>
            <a:lvl1pPr marL="0" indent="0" algn="r">
              <a:buFontTx/>
              <a:buNone/>
              <a:defRPr sz="900" b="1" cap="all" baseline="0">
                <a:solidFill>
                  <a:srgbClr val="205AA7"/>
                </a:solidFill>
              </a:defRPr>
            </a:lvl1pPr>
          </a:lstStyle>
          <a:p>
            <a:pPr lvl="0"/>
            <a:r>
              <a:rPr lang="fr-FR" dirty="0" smtClean="0"/>
              <a:t>DATE</a:t>
            </a:r>
            <a:endParaRPr lang="fr-FR" dirty="0"/>
          </a:p>
        </p:txBody>
      </p:sp>
      <p:pic>
        <p:nvPicPr>
          <p:cNvPr id="5" name="Imag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492000" y="252000"/>
            <a:ext cx="2160000" cy="1011455"/>
          </a:xfrm>
          <a:prstGeom prst="rect">
            <a:avLst/>
          </a:prstGeom>
        </p:spPr>
      </p:pic>
      <p:pic>
        <p:nvPicPr>
          <p:cNvPr id="11" name="Imag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496" y="1772816"/>
            <a:ext cx="1583999" cy="3483136"/>
          </a:xfrm>
          <a:prstGeom prst="rect">
            <a:avLst/>
          </a:prstGeom>
        </p:spPr>
      </p:pic>
      <p:pic>
        <p:nvPicPr>
          <p:cNvPr id="8" name="Imag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flipH="1">
            <a:off x="7524505" y="1772816"/>
            <a:ext cx="1583999" cy="3483136"/>
          </a:xfrm>
          <a:prstGeom prst="rect">
            <a:avLst/>
          </a:prstGeom>
        </p:spPr>
      </p:pic>
    </p:spTree>
    <p:extLst>
      <p:ext uri="{BB962C8B-B14F-4D97-AF65-F5344CB8AC3E}">
        <p14:creationId xmlns:p14="http://schemas.microsoft.com/office/powerpoint/2010/main" val="409722522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38F59161-105B-4439-9898-EFB4F3ECE3B9}" type="datetime1">
              <a:rPr lang="fr-FR" smtClean="0"/>
              <a:t>25/02/2019</a:t>
            </a:fld>
            <a:endParaRPr lang="fr-FR"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fr-FR"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851EF7E6-E725-4BDA-90E5-11DEA34DAC65}" type="slidenum">
              <a:rPr lang="fr-FR" smtClean="0"/>
              <a:t>‹N°›</a:t>
            </a:fld>
            <a:endParaRPr lang="fr-F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47664" y="1495167"/>
            <a:ext cx="6696744" cy="830997"/>
          </a:xfrm>
          <a:prstGeom prst="rect">
            <a:avLst/>
          </a:prstGeom>
        </p:spPr>
        <p:txBody>
          <a:bodyPr wrap="square">
            <a:spAutoFit/>
          </a:bodyPr>
          <a:lstStyle/>
          <a:p>
            <a:r>
              <a:rPr lang="fr-FR" sz="4800" dirty="0">
                <a:solidFill>
                  <a:schemeClr val="bg2">
                    <a:lumMod val="25000"/>
                  </a:schemeClr>
                </a:solidFill>
              </a:rPr>
              <a:t>Actualités Comptables</a:t>
            </a:r>
          </a:p>
        </p:txBody>
      </p:sp>
      <p:sp>
        <p:nvSpPr>
          <p:cNvPr id="8" name="Sous-titre 2"/>
          <p:cNvSpPr txBox="1">
            <a:spLocks/>
          </p:cNvSpPr>
          <p:nvPr/>
        </p:nvSpPr>
        <p:spPr>
          <a:xfrm>
            <a:off x="630875" y="5658544"/>
            <a:ext cx="8136904" cy="1584176"/>
          </a:xfrm>
          <a:prstGeom prst="rect">
            <a:avLst/>
          </a:prstGeom>
        </p:spPr>
        <p:txBody>
          <a:bodyPr>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endParaRPr lang="fr-FR" sz="2800" dirty="0" smtClean="0"/>
          </a:p>
          <a:p>
            <a:pPr marL="0" indent="0" algn="ctr">
              <a:buNone/>
            </a:pPr>
            <a:r>
              <a:rPr lang="fr-FR" sz="2800" dirty="0" smtClean="0"/>
              <a:t>Journées Analystes Groupes – 23 Mars 2018</a:t>
            </a:r>
            <a:endParaRPr lang="fr-FR" sz="2800" dirty="0"/>
          </a:p>
        </p:txBody>
      </p:sp>
      <p:sp>
        <p:nvSpPr>
          <p:cNvPr id="9" name="Rectangle 8"/>
          <p:cNvSpPr/>
          <p:nvPr/>
        </p:nvSpPr>
        <p:spPr>
          <a:xfrm>
            <a:off x="2261592" y="4950658"/>
            <a:ext cx="4572000" cy="954107"/>
          </a:xfrm>
          <a:prstGeom prst="rect">
            <a:avLst/>
          </a:prstGeom>
        </p:spPr>
        <p:txBody>
          <a:bodyPr>
            <a:spAutoFit/>
          </a:bodyPr>
          <a:lstStyle/>
          <a:p>
            <a:pPr algn="ctr"/>
            <a:r>
              <a:rPr lang="fr-FR" sz="2800" b="1" dirty="0">
                <a:solidFill>
                  <a:schemeClr val="tx1">
                    <a:lumMod val="75000"/>
                    <a:lumOff val="25000"/>
                  </a:schemeClr>
                </a:solidFill>
              </a:rPr>
              <a:t>Claire Mangin-</a:t>
            </a:r>
            <a:r>
              <a:rPr lang="fr-FR" sz="2800" b="1" dirty="0" err="1">
                <a:solidFill>
                  <a:schemeClr val="tx1">
                    <a:lumMod val="75000"/>
                    <a:lumOff val="25000"/>
                  </a:schemeClr>
                </a:solidFill>
              </a:rPr>
              <a:t>Soubret</a:t>
            </a:r>
            <a:r>
              <a:rPr lang="fr-FR" sz="2800" b="1" dirty="0">
                <a:solidFill>
                  <a:schemeClr val="tx1">
                    <a:lumMod val="75000"/>
                    <a:lumOff val="25000"/>
                  </a:schemeClr>
                </a:solidFill>
              </a:rPr>
              <a:t> </a:t>
            </a:r>
            <a:r>
              <a:rPr lang="fr-FR" sz="2800" b="1" dirty="0" smtClean="0">
                <a:solidFill>
                  <a:schemeClr val="tx1">
                    <a:lumMod val="75000"/>
                    <a:lumOff val="25000"/>
                  </a:schemeClr>
                </a:solidFill>
              </a:rPr>
              <a:t> </a:t>
            </a:r>
          </a:p>
          <a:p>
            <a:pPr algn="ctr"/>
            <a:r>
              <a:rPr lang="fr-FR" sz="2800" b="1" dirty="0" smtClean="0">
                <a:solidFill>
                  <a:schemeClr val="tx1">
                    <a:lumMod val="75000"/>
                    <a:lumOff val="25000"/>
                  </a:schemeClr>
                </a:solidFill>
              </a:rPr>
              <a:t>Direction </a:t>
            </a:r>
            <a:r>
              <a:rPr lang="fr-FR" sz="2800" b="1" dirty="0">
                <a:solidFill>
                  <a:schemeClr val="tx1">
                    <a:lumMod val="75000"/>
                    <a:lumOff val="25000"/>
                  </a:schemeClr>
                </a:solidFill>
              </a:rPr>
              <a:t>des Entreprises</a:t>
            </a: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0773" y="2376579"/>
            <a:ext cx="5052417" cy="23886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8596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dirty="0" smtClean="0"/>
              <a:t>Sommaire des actualités comptables</a:t>
            </a:r>
            <a:endParaRPr lang="fr-FR" sz="3600" dirty="0"/>
          </a:p>
        </p:txBody>
      </p:sp>
      <p:sp>
        <p:nvSpPr>
          <p:cNvPr id="3" name="Espace réservé du contenu 2"/>
          <p:cNvSpPr>
            <a:spLocks noGrp="1"/>
          </p:cNvSpPr>
          <p:nvPr>
            <p:ph idx="1"/>
          </p:nvPr>
        </p:nvSpPr>
        <p:spPr/>
        <p:txBody>
          <a:bodyPr>
            <a:normAutofit/>
          </a:bodyPr>
          <a:lstStyle/>
          <a:p>
            <a:pPr>
              <a:lnSpc>
                <a:spcPct val="200000"/>
              </a:lnSpc>
            </a:pPr>
            <a:r>
              <a:rPr lang="fr-FR" sz="2100" dirty="0" smtClean="0"/>
              <a:t>Normes françaises sur les instruments financiers</a:t>
            </a:r>
          </a:p>
          <a:p>
            <a:pPr>
              <a:lnSpc>
                <a:spcPct val="200000"/>
              </a:lnSpc>
            </a:pPr>
            <a:r>
              <a:rPr lang="fr-FR" sz="2100" dirty="0"/>
              <a:t>L’ANC centrée sur la mesure de la performance</a:t>
            </a:r>
          </a:p>
          <a:p>
            <a:pPr>
              <a:lnSpc>
                <a:spcPct val="200000"/>
              </a:lnSpc>
            </a:pPr>
            <a:r>
              <a:rPr lang="fr-FR" sz="2100" dirty="0" smtClean="0"/>
              <a:t>Fiscalité : nombreux changements de taux</a:t>
            </a:r>
          </a:p>
          <a:p>
            <a:pPr>
              <a:lnSpc>
                <a:spcPct val="200000"/>
              </a:lnSpc>
            </a:pPr>
            <a:r>
              <a:rPr lang="fr-FR" sz="2100" dirty="0" smtClean="0"/>
              <a:t>Recommandations de l’AMF : </a:t>
            </a:r>
            <a:r>
              <a:rPr lang="fr-FR" sz="2100" dirty="0" err="1"/>
              <a:t>B</a:t>
            </a:r>
            <a:r>
              <a:rPr lang="fr-FR" sz="2100" dirty="0" err="1" smtClean="0"/>
              <a:t>rexit</a:t>
            </a:r>
            <a:r>
              <a:rPr lang="fr-FR" sz="2100" dirty="0" smtClean="0"/>
              <a:t> et matérialité</a:t>
            </a:r>
          </a:p>
          <a:p>
            <a:pPr>
              <a:lnSpc>
                <a:spcPct val="200000"/>
              </a:lnSpc>
            </a:pPr>
            <a:r>
              <a:rPr lang="fr-FR" sz="2100" dirty="0" smtClean="0"/>
              <a:t>Normes IFRS</a:t>
            </a:r>
            <a:endParaRPr lang="fr-FR" sz="2100" dirty="0"/>
          </a:p>
          <a:p>
            <a:pPr>
              <a:lnSpc>
                <a:spcPct val="200000"/>
              </a:lnSpc>
            </a:pPr>
            <a:r>
              <a:rPr lang="fr-FR" sz="2100" dirty="0" smtClean="0"/>
              <a:t>Études et actualités de la Direction des Entreprises</a:t>
            </a:r>
          </a:p>
          <a:p>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2</a:t>
            </a:fld>
            <a:endParaRPr lang="fr-FR"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1354" y="2132856"/>
            <a:ext cx="2151126" cy="2880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7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6923112" cy="990600"/>
          </a:xfrm>
        </p:spPr>
        <p:txBody>
          <a:bodyPr>
            <a:normAutofit fontScale="90000"/>
          </a:bodyPr>
          <a:lstStyle/>
          <a:p>
            <a:r>
              <a:rPr lang="fr-FR" dirty="0" smtClean="0"/>
              <a:t>Instruments financiers à terme </a:t>
            </a:r>
            <a:br>
              <a:rPr lang="fr-FR" dirty="0" smtClean="0"/>
            </a:br>
            <a:r>
              <a:rPr lang="fr-FR" dirty="0" smtClean="0"/>
              <a:t>et opérations de couverture</a:t>
            </a:r>
            <a:endParaRPr lang="fr-FR" dirty="0"/>
          </a:p>
        </p:txBody>
      </p:sp>
      <p:sp>
        <p:nvSpPr>
          <p:cNvPr id="3" name="Espace réservé du contenu 2"/>
          <p:cNvSpPr>
            <a:spLocks noGrp="1"/>
          </p:cNvSpPr>
          <p:nvPr>
            <p:ph idx="1"/>
          </p:nvPr>
        </p:nvSpPr>
        <p:spPr>
          <a:xfrm>
            <a:off x="251520" y="1600200"/>
            <a:ext cx="8712968" cy="4876800"/>
          </a:xfrm>
        </p:spPr>
        <p:txBody>
          <a:bodyPr/>
          <a:lstStyle/>
          <a:p>
            <a:r>
              <a:rPr lang="fr-FR" dirty="0" smtClean="0"/>
              <a:t>Nouveau règlement ANC 2015-05</a:t>
            </a:r>
          </a:p>
          <a:p>
            <a:pPr lvl="2"/>
            <a:endParaRPr lang="fr-FR" dirty="0" smtClean="0"/>
          </a:p>
          <a:p>
            <a:pPr lvl="2"/>
            <a:r>
              <a:rPr lang="fr-FR" dirty="0" smtClean="0"/>
              <a:t>Application obligatoire à compter du 1</a:t>
            </a:r>
            <a:r>
              <a:rPr lang="fr-FR" baseline="30000" dirty="0" smtClean="0"/>
              <a:t>er</a:t>
            </a:r>
            <a:r>
              <a:rPr lang="fr-FR" dirty="0" smtClean="0"/>
              <a:t> Janvier 2017</a:t>
            </a:r>
          </a:p>
          <a:p>
            <a:pPr marL="548640" lvl="2" indent="0">
              <a:buNone/>
            </a:pPr>
            <a:endParaRPr lang="fr-FR" dirty="0" smtClean="0"/>
          </a:p>
          <a:p>
            <a:pPr lvl="2"/>
            <a:r>
              <a:rPr lang="fr-FR" dirty="0" smtClean="0"/>
              <a:t>Grands principes : des évolutions dans un cadre stable</a:t>
            </a:r>
          </a:p>
          <a:p>
            <a:pPr lvl="3"/>
            <a:r>
              <a:rPr lang="fr-FR" dirty="0" smtClean="0"/>
              <a:t>Réaffirmation des principes fondamentaux du PCG </a:t>
            </a:r>
          </a:p>
          <a:p>
            <a:pPr lvl="3"/>
            <a:r>
              <a:rPr lang="fr-FR" dirty="0" smtClean="0"/>
              <a:t>Améliorer la pertinence de l’information sur les stratégies de couverture</a:t>
            </a:r>
          </a:p>
          <a:p>
            <a:pPr lvl="3"/>
            <a:r>
              <a:rPr lang="fr-FR" dirty="0" smtClean="0"/>
              <a:t>Meilleure traduction des risques liés à certains dérivés ou opérations de couverture complexes</a:t>
            </a:r>
          </a:p>
          <a:p>
            <a:pPr marL="822960" lvl="3" indent="0">
              <a:buNone/>
            </a:pPr>
            <a:endParaRPr lang="fr-FR" dirty="0" smtClean="0"/>
          </a:p>
          <a:p>
            <a:pPr lvl="2"/>
            <a:r>
              <a:rPr lang="fr-FR" dirty="0" smtClean="0"/>
              <a:t>Sans objectif de convergence vers les IFRS</a:t>
            </a:r>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3</a:t>
            </a:fld>
            <a:endParaRPr lang="fr-FR" dirty="0"/>
          </a:p>
        </p:txBody>
      </p:sp>
      <p:sp>
        <p:nvSpPr>
          <p:cNvPr id="6" name="Espace réservé du contenu 3"/>
          <p:cNvSpPr txBox="1">
            <a:spLocks/>
          </p:cNvSpPr>
          <p:nvPr/>
        </p:nvSpPr>
        <p:spPr>
          <a:xfrm>
            <a:off x="6444208" y="404664"/>
            <a:ext cx="2520280" cy="864096"/>
          </a:xfrm>
          <a:prstGeom prst="teardrop">
            <a:avLst>
              <a:gd name="adj" fmla="val 97829"/>
            </a:avLst>
          </a:prstGeom>
          <a:ln>
            <a:solidFill>
              <a:schemeClr val="accent5"/>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Autofit/>
          </a:bodyPr>
          <a:lstStyle/>
          <a:p>
            <a:pPr marL="342900" lvl="0" indent="-342900" algn="ctr">
              <a:spcBef>
                <a:spcPct val="20000"/>
              </a:spcBef>
              <a:defRPr/>
            </a:pPr>
            <a:r>
              <a:rPr lang="fr-FR" sz="1600" b="1" dirty="0">
                <a:solidFill>
                  <a:schemeClr val="accent5"/>
                </a:solidFill>
              </a:rPr>
              <a:t>Normes Françaises</a:t>
            </a:r>
            <a:endParaRPr lang="fr-FR" sz="1600" dirty="0">
              <a:solidFill>
                <a:schemeClr val="accent5"/>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4581128"/>
            <a:ext cx="2867025"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311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397457"/>
            <a:ext cx="6048672" cy="1143000"/>
          </a:xfrm>
        </p:spPr>
        <p:txBody>
          <a:bodyPr>
            <a:normAutofit fontScale="90000"/>
          </a:bodyPr>
          <a:lstStyle/>
          <a:p>
            <a:r>
              <a:rPr lang="fr-FR" dirty="0" smtClean="0"/>
              <a:t>La nouvelle norme sur les instruments de couverture</a:t>
            </a:r>
            <a:endParaRPr lang="fr-FR" dirty="0"/>
          </a:p>
        </p:txBody>
      </p:sp>
      <p:graphicFrame>
        <p:nvGraphicFramePr>
          <p:cNvPr id="8" name="Espace réservé du contenu 7"/>
          <p:cNvGraphicFramePr>
            <a:graphicFrameLocks noGrp="1"/>
          </p:cNvGraphicFramePr>
          <p:nvPr>
            <p:ph idx="1"/>
            <p:extLst>
              <p:ext uri="{D42A27DB-BD31-4B8C-83A1-F6EECF244321}">
                <p14:modId xmlns:p14="http://schemas.microsoft.com/office/powerpoint/2010/main" val="3784585944"/>
              </p:ext>
            </p:extLst>
          </p:nvPr>
        </p:nvGraphicFramePr>
        <p:xfrm>
          <a:off x="251520" y="1844824"/>
          <a:ext cx="4104456" cy="4248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Tableau 6"/>
          <p:cNvGraphicFramePr>
            <a:graphicFrameLocks noGrp="1"/>
          </p:cNvGraphicFramePr>
          <p:nvPr>
            <p:extLst>
              <p:ext uri="{D42A27DB-BD31-4B8C-83A1-F6EECF244321}">
                <p14:modId xmlns:p14="http://schemas.microsoft.com/office/powerpoint/2010/main" val="4104398650"/>
              </p:ext>
            </p:extLst>
          </p:nvPr>
        </p:nvGraphicFramePr>
        <p:xfrm>
          <a:off x="4572000" y="2276872"/>
          <a:ext cx="4427984" cy="3220967"/>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259632">
                  <a:extLst>
                    <a:ext uri="{9D8B030D-6E8A-4147-A177-3AD203B41FA5}">
                      <a16:colId xmlns:a16="http://schemas.microsoft.com/office/drawing/2014/main" val="20003"/>
                    </a:ext>
                  </a:extLst>
                </a:gridCol>
              </a:tblGrid>
              <a:tr h="432047">
                <a:tc>
                  <a:txBody>
                    <a:bodyPr/>
                    <a:lstStyle/>
                    <a:p>
                      <a:pPr algn="ctr"/>
                      <a:endParaRPr lang="fr-FR" sz="1100" dirty="0"/>
                    </a:p>
                  </a:txBody>
                  <a:tcPr anchor="ctr">
                    <a:solidFill>
                      <a:schemeClr val="bg2">
                        <a:lumMod val="75000"/>
                      </a:schemeClr>
                    </a:solidFill>
                  </a:tcPr>
                </a:tc>
                <a:tc>
                  <a:txBody>
                    <a:bodyPr/>
                    <a:lstStyle/>
                    <a:p>
                      <a:pPr algn="ctr"/>
                      <a:r>
                        <a:rPr lang="fr-FR" sz="1100" dirty="0" smtClean="0"/>
                        <a:t>Dérivés</a:t>
                      </a:r>
                      <a:endParaRPr lang="fr-FR" sz="1100" b="1" dirty="0"/>
                    </a:p>
                  </a:txBody>
                  <a:tcPr anchor="ctr">
                    <a:solidFill>
                      <a:schemeClr val="bg2">
                        <a:lumMod val="75000"/>
                      </a:schemeClr>
                    </a:solidFill>
                  </a:tcPr>
                </a:tc>
                <a:tc>
                  <a:txBody>
                    <a:bodyPr/>
                    <a:lstStyle/>
                    <a:p>
                      <a:pPr algn="ctr"/>
                      <a:r>
                        <a:rPr lang="fr-FR" sz="1100" dirty="0" smtClean="0"/>
                        <a:t>Opération</a:t>
                      </a:r>
                      <a:r>
                        <a:rPr lang="fr-FR" sz="1100" baseline="0" dirty="0" smtClean="0"/>
                        <a:t> de couverture</a:t>
                      </a:r>
                      <a:endParaRPr lang="fr-FR" sz="1100" b="1" dirty="0"/>
                    </a:p>
                  </a:txBody>
                  <a:tcPr anchor="ctr">
                    <a:solidFill>
                      <a:schemeClr val="bg2">
                        <a:lumMod val="75000"/>
                      </a:schemeClr>
                    </a:solidFill>
                  </a:tcPr>
                </a:tc>
                <a:tc>
                  <a:txBody>
                    <a:bodyPr/>
                    <a:lstStyle/>
                    <a:p>
                      <a:pPr algn="ctr"/>
                      <a:r>
                        <a:rPr lang="fr-FR" sz="1100" dirty="0" smtClean="0"/>
                        <a:t>Spéculatifs</a:t>
                      </a:r>
                      <a:endParaRPr lang="fr-FR" sz="1100" b="1" dirty="0"/>
                    </a:p>
                  </a:txBody>
                  <a:tcPr anchor="ctr">
                    <a:solidFill>
                      <a:schemeClr val="bg2">
                        <a:lumMod val="75000"/>
                      </a:schemeClr>
                    </a:solidFill>
                  </a:tcPr>
                </a:tc>
                <a:extLst>
                  <a:ext uri="{0D108BD9-81ED-4DB2-BD59-A6C34878D82A}">
                    <a16:rowId xmlns:a16="http://schemas.microsoft.com/office/drawing/2014/main" val="10000"/>
                  </a:ext>
                </a:extLst>
              </a:tr>
              <a:tr h="594054">
                <a:tc rowSpan="2">
                  <a:txBody>
                    <a:bodyPr/>
                    <a:lstStyle/>
                    <a:p>
                      <a:pPr algn="ctr"/>
                      <a:r>
                        <a:rPr lang="fr-FR" sz="1100" dirty="0" smtClean="0"/>
                        <a:t>PCG avant le règlement</a:t>
                      </a:r>
                      <a:endParaRPr lang="fr-FR" sz="1100" dirty="0"/>
                    </a:p>
                  </a:txBody>
                  <a:tcPr anchor="ctr">
                    <a:solidFill>
                      <a:schemeClr val="bg2"/>
                    </a:solidFill>
                  </a:tcPr>
                </a:tc>
                <a:tc>
                  <a:txBody>
                    <a:bodyPr/>
                    <a:lstStyle/>
                    <a:p>
                      <a:pPr algn="ctr"/>
                      <a:r>
                        <a:rPr lang="fr-FR" sz="1100" dirty="0" smtClean="0"/>
                        <a:t>Gré à gré</a:t>
                      </a:r>
                      <a:endParaRPr lang="fr-FR" sz="1100" dirty="0"/>
                    </a:p>
                  </a:txBody>
                  <a:tcPr anchor="ctr">
                    <a:solidFill>
                      <a:schemeClr val="bg1">
                        <a:lumMod val="85000"/>
                      </a:schemeClr>
                    </a:solidFill>
                  </a:tcPr>
                </a:tc>
                <a:tc rowSpan="2">
                  <a:txBody>
                    <a:bodyPr/>
                    <a:lstStyle/>
                    <a:p>
                      <a:pPr algn="ctr"/>
                      <a:r>
                        <a:rPr lang="fr-FR" sz="1100" dirty="0" smtClean="0"/>
                        <a:t>Enregistrement en résultat symétrique à l’élément</a:t>
                      </a:r>
                      <a:r>
                        <a:rPr lang="fr-FR" sz="1100" baseline="0" dirty="0" smtClean="0"/>
                        <a:t> couvert</a:t>
                      </a:r>
                      <a:endParaRPr lang="fr-FR" sz="1100" dirty="0"/>
                    </a:p>
                  </a:txBody>
                  <a:tcPr anchor="ctr">
                    <a:solidFill>
                      <a:schemeClr val="bg1">
                        <a:lumMod val="85000"/>
                      </a:schemeClr>
                    </a:solidFill>
                  </a:tcPr>
                </a:tc>
                <a:tc>
                  <a:txBody>
                    <a:bodyPr/>
                    <a:lstStyle/>
                    <a:p>
                      <a:pPr algn="ctr"/>
                      <a:r>
                        <a:rPr lang="fr-FR" sz="1100" dirty="0" smtClean="0"/>
                        <a:t>Provision</a:t>
                      </a:r>
                      <a:r>
                        <a:rPr lang="fr-FR" sz="1100" baseline="0" dirty="0" smtClean="0"/>
                        <a:t> des moins-values latentes</a:t>
                      </a:r>
                      <a:endParaRPr lang="fr-FR" sz="1100" dirty="0"/>
                    </a:p>
                  </a:txBody>
                  <a:tcPr anchor="ctr">
                    <a:solidFill>
                      <a:schemeClr val="bg1">
                        <a:lumMod val="85000"/>
                      </a:schemeClr>
                    </a:solidFill>
                  </a:tcPr>
                </a:tc>
                <a:extLst>
                  <a:ext uri="{0D108BD9-81ED-4DB2-BD59-A6C34878D82A}">
                    <a16:rowId xmlns:a16="http://schemas.microsoft.com/office/drawing/2014/main" val="10001"/>
                  </a:ext>
                </a:extLst>
              </a:tr>
              <a:tr h="701784">
                <a:tc vMerge="1">
                  <a:txBody>
                    <a:bodyPr/>
                    <a:lstStyle/>
                    <a:p>
                      <a:pPr algn="ctr"/>
                      <a:endParaRPr lang="fr-FR" sz="1100" dirty="0"/>
                    </a:p>
                  </a:txBody>
                  <a:tcPr anchor="ctr"/>
                </a:tc>
                <a:tc>
                  <a:txBody>
                    <a:bodyPr/>
                    <a:lstStyle/>
                    <a:p>
                      <a:pPr algn="ctr"/>
                      <a:r>
                        <a:rPr lang="fr-FR" sz="1100" dirty="0" smtClean="0"/>
                        <a:t>Marché organisé</a:t>
                      </a:r>
                      <a:endParaRPr lang="fr-FR" sz="1100" dirty="0"/>
                    </a:p>
                  </a:txBody>
                  <a:tcPr anchor="ctr">
                    <a:solidFill>
                      <a:schemeClr val="bg1">
                        <a:lumMod val="85000"/>
                      </a:schemeClr>
                    </a:solidFill>
                  </a:tcPr>
                </a:tc>
                <a:tc vMerge="1">
                  <a:txBody>
                    <a:bodyPr/>
                    <a:lstStyle/>
                    <a:p>
                      <a:endParaRPr lang="fr-FR" dirty="0"/>
                    </a:p>
                  </a:txBody>
                  <a:tcPr/>
                </a:tc>
                <a:tc>
                  <a:txBody>
                    <a:bodyPr/>
                    <a:lstStyle/>
                    <a:p>
                      <a:pPr algn="ctr"/>
                      <a:r>
                        <a:rPr lang="fr-FR" sz="1100" dirty="0" smtClean="0"/>
                        <a:t>Comptabilisation en résultat de toutes les variations de valeur</a:t>
                      </a:r>
                      <a:endParaRPr lang="fr-FR" sz="1100" dirty="0"/>
                    </a:p>
                  </a:txBody>
                  <a:tcPr anchor="ctr">
                    <a:solidFill>
                      <a:schemeClr val="bg1">
                        <a:lumMod val="85000"/>
                      </a:schemeClr>
                    </a:solidFill>
                  </a:tcPr>
                </a:tc>
                <a:extLst>
                  <a:ext uri="{0D108BD9-81ED-4DB2-BD59-A6C34878D82A}">
                    <a16:rowId xmlns:a16="http://schemas.microsoft.com/office/drawing/2014/main" val="10002"/>
                  </a:ext>
                </a:extLst>
              </a:tr>
              <a:tr h="924272">
                <a:tc>
                  <a:txBody>
                    <a:bodyPr/>
                    <a:lstStyle/>
                    <a:p>
                      <a:pPr algn="ctr"/>
                      <a:r>
                        <a:rPr lang="fr-FR" sz="1100" dirty="0" smtClean="0"/>
                        <a:t>PCG après le règlement</a:t>
                      </a:r>
                      <a:endParaRPr lang="fr-FR" sz="1100" dirty="0"/>
                    </a:p>
                  </a:txBody>
                  <a:tcPr anchor="ctr">
                    <a:solidFill>
                      <a:schemeClr val="bg2"/>
                    </a:solidFill>
                  </a:tcPr>
                </a:tc>
                <a:tc>
                  <a:txBody>
                    <a:bodyPr/>
                    <a:lstStyle/>
                    <a:p>
                      <a:pPr algn="ctr"/>
                      <a:r>
                        <a:rPr lang="fr-FR" sz="1100" dirty="0" smtClean="0"/>
                        <a:t>Quel que</a:t>
                      </a:r>
                      <a:r>
                        <a:rPr lang="fr-FR" sz="1100" baseline="0" dirty="0" smtClean="0"/>
                        <a:t> soit le marché</a:t>
                      </a:r>
                      <a:endParaRPr lang="fr-FR" sz="1100" dirty="0"/>
                    </a:p>
                  </a:txBody>
                  <a:tcPr anchor="ctr">
                    <a:solidFill>
                      <a:schemeClr val="bg1">
                        <a:lumMod val="85000"/>
                      </a:schemeClr>
                    </a:solidFill>
                  </a:tcPr>
                </a:tc>
                <a:tc>
                  <a:txBody>
                    <a:bodyPr/>
                    <a:lstStyle/>
                    <a:p>
                      <a:pPr algn="ctr"/>
                      <a:r>
                        <a:rPr lang="fr-FR" sz="1100" dirty="0" smtClean="0"/>
                        <a:t>Enregistrement</a:t>
                      </a:r>
                      <a:r>
                        <a:rPr lang="fr-FR" sz="1100" baseline="0" dirty="0" smtClean="0"/>
                        <a:t> en résultat symétrique à l’élément couvert</a:t>
                      </a:r>
                      <a:endParaRPr lang="fr-FR" sz="1100" dirty="0"/>
                    </a:p>
                  </a:txBody>
                  <a:tcPr anchor="ctr">
                    <a:solidFill>
                      <a:schemeClr val="bg1">
                        <a:lumMod val="85000"/>
                      </a:schemeClr>
                    </a:solidFill>
                  </a:tcPr>
                </a:tc>
                <a:tc>
                  <a:txBody>
                    <a:bodyPr/>
                    <a:lstStyle/>
                    <a:p>
                      <a:pPr algn="ctr"/>
                      <a:r>
                        <a:rPr lang="fr-FR" sz="1100" dirty="0" smtClean="0"/>
                        <a:t>Enregistrement</a:t>
                      </a:r>
                      <a:r>
                        <a:rPr lang="fr-FR" sz="1100" baseline="0" dirty="0" smtClean="0"/>
                        <a:t> au bilan des variations de valeur et provision des moins values latentes</a:t>
                      </a:r>
                      <a:endParaRPr lang="fr-FR" sz="1100" dirty="0" smtClean="0"/>
                    </a:p>
                  </a:txBody>
                  <a:tcPr anchor="ctr">
                    <a:solidFill>
                      <a:schemeClr val="bg1">
                        <a:lumMod val="85000"/>
                      </a:schemeClr>
                    </a:solidFill>
                  </a:tcPr>
                </a:tc>
                <a:extLst>
                  <a:ext uri="{0D108BD9-81ED-4DB2-BD59-A6C34878D82A}">
                    <a16:rowId xmlns:a16="http://schemas.microsoft.com/office/drawing/2014/main" val="10003"/>
                  </a:ext>
                </a:extLst>
              </a:tr>
            </a:tbl>
          </a:graphicData>
        </a:graphic>
      </p:graphicFrame>
      <p:sp>
        <p:nvSpPr>
          <p:cNvPr id="3" name="Espace réservé du numéro de diapositive 2"/>
          <p:cNvSpPr>
            <a:spLocks noGrp="1"/>
          </p:cNvSpPr>
          <p:nvPr>
            <p:ph type="sldNum" sz="quarter" idx="12"/>
          </p:nvPr>
        </p:nvSpPr>
        <p:spPr/>
        <p:txBody>
          <a:bodyPr/>
          <a:lstStyle/>
          <a:p>
            <a:fld id="{851EF7E6-E725-4BDA-90E5-11DEA34DAC65}" type="slidenum">
              <a:rPr lang="fr-FR" smtClean="0"/>
              <a:t>4</a:t>
            </a:fld>
            <a:endParaRPr lang="fr-FR" dirty="0"/>
          </a:p>
        </p:txBody>
      </p:sp>
      <p:sp>
        <p:nvSpPr>
          <p:cNvPr id="4" name="ZoneTexte 3"/>
          <p:cNvSpPr txBox="1"/>
          <p:nvPr/>
        </p:nvSpPr>
        <p:spPr>
          <a:xfrm>
            <a:off x="467544" y="6381328"/>
            <a:ext cx="8496944" cy="369332"/>
          </a:xfrm>
          <a:prstGeom prst="rect">
            <a:avLst/>
          </a:prstGeom>
          <a:noFill/>
        </p:spPr>
        <p:txBody>
          <a:bodyPr wrap="square" rtlCol="0">
            <a:spAutoFit/>
          </a:bodyPr>
          <a:lstStyle/>
          <a:p>
            <a:r>
              <a:rPr lang="fr-FR" dirty="0" smtClean="0"/>
              <a:t>Applicable pour les exercices ouverts à compter du 1</a:t>
            </a:r>
            <a:r>
              <a:rPr lang="fr-FR" baseline="30000" dirty="0" smtClean="0"/>
              <a:t>er</a:t>
            </a:r>
            <a:r>
              <a:rPr lang="fr-FR" dirty="0" smtClean="0"/>
              <a:t> janvier 2017</a:t>
            </a:r>
            <a:endParaRPr lang="fr-FR" dirty="0"/>
          </a:p>
        </p:txBody>
      </p:sp>
      <p:sp>
        <p:nvSpPr>
          <p:cNvPr id="9" name="Espace réservé du contenu 3"/>
          <p:cNvSpPr txBox="1">
            <a:spLocks/>
          </p:cNvSpPr>
          <p:nvPr/>
        </p:nvSpPr>
        <p:spPr>
          <a:xfrm>
            <a:off x="6444208" y="404664"/>
            <a:ext cx="2520280" cy="864096"/>
          </a:xfrm>
          <a:prstGeom prst="teardrop">
            <a:avLst>
              <a:gd name="adj" fmla="val 97829"/>
            </a:avLst>
          </a:prstGeom>
          <a:ln>
            <a:solidFill>
              <a:schemeClr val="accent5"/>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Autofit/>
          </a:bodyPr>
          <a:lstStyle/>
          <a:p>
            <a:pPr marL="342900" lvl="0" indent="-342900" algn="ctr">
              <a:spcBef>
                <a:spcPct val="20000"/>
              </a:spcBef>
              <a:defRPr/>
            </a:pPr>
            <a:r>
              <a:rPr lang="fr-FR" sz="1600" b="1" dirty="0">
                <a:solidFill>
                  <a:schemeClr val="accent5"/>
                </a:solidFill>
              </a:rPr>
              <a:t>Normes Françaises</a:t>
            </a:r>
            <a:endParaRPr lang="fr-FR" sz="1600" dirty="0">
              <a:solidFill>
                <a:schemeClr val="accent5"/>
              </a:solidFill>
            </a:endParaRPr>
          </a:p>
        </p:txBody>
      </p:sp>
    </p:spTree>
    <p:extLst>
      <p:ext uri="{BB962C8B-B14F-4D97-AF65-F5344CB8AC3E}">
        <p14:creationId xmlns:p14="http://schemas.microsoft.com/office/powerpoint/2010/main" val="3742280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397457"/>
            <a:ext cx="6408712" cy="1143000"/>
          </a:xfrm>
        </p:spPr>
        <p:txBody>
          <a:bodyPr>
            <a:noAutofit/>
          </a:bodyPr>
          <a:lstStyle/>
          <a:p>
            <a:r>
              <a:rPr lang="fr-FR" sz="2400" b="1" dirty="0"/>
              <a:t>I</a:t>
            </a:r>
            <a:r>
              <a:rPr lang="fr-FR" sz="2400" b="1" dirty="0" smtClean="0"/>
              <a:t>nstruments de couverture</a:t>
            </a:r>
            <a:br>
              <a:rPr lang="fr-FR" sz="2400" b="1" dirty="0" smtClean="0"/>
            </a:br>
            <a:r>
              <a:rPr lang="fr-FR" sz="2400" b="1" dirty="0" smtClean="0"/>
              <a:t>Impacts sur les créances &amp; dettes en devises</a:t>
            </a:r>
            <a:endParaRPr lang="fr-FR" sz="2400" b="1" dirty="0"/>
          </a:p>
        </p:txBody>
      </p:sp>
      <p:sp>
        <p:nvSpPr>
          <p:cNvPr id="3" name="Espace réservé du numéro de diapositive 2"/>
          <p:cNvSpPr>
            <a:spLocks noGrp="1"/>
          </p:cNvSpPr>
          <p:nvPr>
            <p:ph type="sldNum" sz="quarter" idx="12"/>
          </p:nvPr>
        </p:nvSpPr>
        <p:spPr/>
        <p:txBody>
          <a:bodyPr/>
          <a:lstStyle/>
          <a:p>
            <a:fld id="{851EF7E6-E725-4BDA-90E5-11DEA34DAC65}" type="slidenum">
              <a:rPr lang="fr-FR" smtClean="0"/>
              <a:t>5</a:t>
            </a:fld>
            <a:endParaRPr lang="fr-FR" dirty="0"/>
          </a:p>
        </p:txBody>
      </p:sp>
      <p:sp>
        <p:nvSpPr>
          <p:cNvPr id="9" name="Espace réservé du contenu 3"/>
          <p:cNvSpPr txBox="1">
            <a:spLocks/>
          </p:cNvSpPr>
          <p:nvPr/>
        </p:nvSpPr>
        <p:spPr>
          <a:xfrm>
            <a:off x="6444208" y="404664"/>
            <a:ext cx="2520280" cy="864096"/>
          </a:xfrm>
          <a:prstGeom prst="teardrop">
            <a:avLst>
              <a:gd name="adj" fmla="val 97829"/>
            </a:avLst>
          </a:prstGeom>
          <a:ln>
            <a:solidFill>
              <a:schemeClr val="accent5"/>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Autofit/>
          </a:bodyPr>
          <a:lstStyle/>
          <a:p>
            <a:pPr marL="342900" lvl="0" indent="-342900" algn="ctr">
              <a:spcBef>
                <a:spcPct val="20000"/>
              </a:spcBef>
              <a:defRPr/>
            </a:pPr>
            <a:r>
              <a:rPr lang="fr-FR" sz="1600" b="1" dirty="0">
                <a:solidFill>
                  <a:schemeClr val="accent5"/>
                </a:solidFill>
              </a:rPr>
              <a:t>Normes Françaises</a:t>
            </a:r>
            <a:endParaRPr lang="fr-FR" sz="1600" dirty="0">
              <a:solidFill>
                <a:schemeClr val="accent5"/>
              </a:solidFill>
            </a:endParaRPr>
          </a:p>
        </p:txBody>
      </p:sp>
      <p:sp>
        <p:nvSpPr>
          <p:cNvPr id="6" name="ZoneTexte 5"/>
          <p:cNvSpPr txBox="1"/>
          <p:nvPr/>
        </p:nvSpPr>
        <p:spPr>
          <a:xfrm>
            <a:off x="323528" y="1628800"/>
            <a:ext cx="7992888" cy="1754326"/>
          </a:xfrm>
          <a:prstGeom prst="rect">
            <a:avLst/>
          </a:prstGeom>
          <a:noFill/>
        </p:spPr>
        <p:txBody>
          <a:bodyPr wrap="square" rtlCol="0">
            <a:spAutoFit/>
          </a:bodyPr>
          <a:lstStyle/>
          <a:p>
            <a:r>
              <a:rPr lang="fr-FR" b="1" u="sng" dirty="0" smtClean="0"/>
              <a:t>En cours d’exercice</a:t>
            </a:r>
            <a:r>
              <a:rPr lang="fr-FR" dirty="0" smtClean="0"/>
              <a:t> :</a:t>
            </a:r>
          </a:p>
          <a:p>
            <a:r>
              <a:rPr lang="fr-FR" i="1" dirty="0" smtClean="0"/>
              <a:t>Obligation de présentation du résultat des couvertures à la même rubrique que l’élément couvert</a:t>
            </a:r>
            <a:r>
              <a:rPr lang="fr-FR" dirty="0" smtClean="0"/>
              <a:t>.</a:t>
            </a:r>
          </a:p>
          <a:p>
            <a:endParaRPr lang="fr-FR" dirty="0"/>
          </a:p>
          <a:p>
            <a:endParaRPr lang="fr-FR" dirty="0" smtClean="0"/>
          </a:p>
          <a:p>
            <a:endParaRPr lang="fr-FR" dirty="0"/>
          </a:p>
        </p:txBody>
      </p:sp>
      <p:sp>
        <p:nvSpPr>
          <p:cNvPr id="10" name="Rectangle 9"/>
          <p:cNvSpPr/>
          <p:nvPr/>
        </p:nvSpPr>
        <p:spPr>
          <a:xfrm>
            <a:off x="4073236" y="2564904"/>
            <a:ext cx="1584176" cy="1467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smtClean="0"/>
              <a:t>Avant :</a:t>
            </a:r>
          </a:p>
          <a:p>
            <a:pPr algn="ctr"/>
            <a:r>
              <a:rPr lang="fr-FR" sz="1600" dirty="0" smtClean="0"/>
              <a:t>Enregistrement en résultat financier</a:t>
            </a:r>
            <a:endParaRPr lang="fr-FR" sz="1600" dirty="0"/>
          </a:p>
        </p:txBody>
      </p:sp>
      <p:sp>
        <p:nvSpPr>
          <p:cNvPr id="11" name="ZoneTexte 10"/>
          <p:cNvSpPr txBox="1"/>
          <p:nvPr/>
        </p:nvSpPr>
        <p:spPr>
          <a:xfrm>
            <a:off x="1115616" y="2564904"/>
            <a:ext cx="2592288" cy="1323439"/>
          </a:xfrm>
          <a:prstGeom prst="rect">
            <a:avLst/>
          </a:prstGeom>
          <a:noFill/>
          <a:ln>
            <a:solidFill>
              <a:schemeClr val="tx1"/>
            </a:solidFill>
          </a:ln>
        </p:spPr>
        <p:txBody>
          <a:bodyPr wrap="square" rtlCol="0">
            <a:spAutoFit/>
          </a:bodyPr>
          <a:lstStyle/>
          <a:p>
            <a:r>
              <a:rPr lang="fr-FR" sz="1600" dirty="0" smtClean="0"/>
              <a:t>Pertes ou gains de change sur les activités d’exploitation</a:t>
            </a:r>
            <a:br>
              <a:rPr lang="fr-FR" sz="1600" dirty="0" smtClean="0"/>
            </a:br>
            <a:r>
              <a:rPr lang="fr-FR" sz="1600" dirty="0" smtClean="0"/>
              <a:t>(dettes fournisseurs, créances clients)</a:t>
            </a:r>
            <a:endParaRPr lang="fr-FR" sz="1600" dirty="0"/>
          </a:p>
        </p:txBody>
      </p:sp>
      <p:sp>
        <p:nvSpPr>
          <p:cNvPr id="12" name="Rectangle 11"/>
          <p:cNvSpPr/>
          <p:nvPr/>
        </p:nvSpPr>
        <p:spPr>
          <a:xfrm>
            <a:off x="6156176" y="2564904"/>
            <a:ext cx="1728192" cy="1467020"/>
          </a:xfrm>
          <a:prstGeom prst="rect">
            <a:avLst/>
          </a:prstGeom>
          <a:solidFill>
            <a:schemeClr val="accent3">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smtClean="0"/>
              <a:t>Après :</a:t>
            </a:r>
          </a:p>
          <a:p>
            <a:pPr algn="ctr"/>
            <a:r>
              <a:rPr lang="fr-FR" sz="1600" dirty="0" smtClean="0"/>
              <a:t>Enregistrement en résultat d’exploitation</a:t>
            </a:r>
            <a:endParaRPr lang="fr-FR" sz="1600" dirty="0"/>
          </a:p>
        </p:txBody>
      </p:sp>
      <p:sp>
        <p:nvSpPr>
          <p:cNvPr id="13" name="ZoneTexte 12"/>
          <p:cNvSpPr txBox="1"/>
          <p:nvPr/>
        </p:nvSpPr>
        <p:spPr>
          <a:xfrm>
            <a:off x="323528" y="4149080"/>
            <a:ext cx="8424936" cy="923330"/>
          </a:xfrm>
          <a:prstGeom prst="rect">
            <a:avLst/>
          </a:prstGeom>
          <a:noFill/>
        </p:spPr>
        <p:txBody>
          <a:bodyPr wrap="square" rtlCol="0">
            <a:spAutoFit/>
          </a:bodyPr>
          <a:lstStyle/>
          <a:p>
            <a:r>
              <a:rPr lang="fr-FR" b="1" u="sng" dirty="0" smtClean="0"/>
              <a:t>En fin d’exercice</a:t>
            </a:r>
            <a:r>
              <a:rPr lang="fr-FR" dirty="0" smtClean="0"/>
              <a:t> :</a:t>
            </a:r>
          </a:p>
          <a:p>
            <a:r>
              <a:rPr lang="fr-FR" i="1" dirty="0" smtClean="0"/>
              <a:t>Pas de changement : créances et dettes en devises évaluées au cours de clôture, avec constatation d ‘écarts de conversion.</a:t>
            </a:r>
            <a:endParaRPr lang="fr-FR" dirty="0"/>
          </a:p>
        </p:txBody>
      </p:sp>
      <p:sp>
        <p:nvSpPr>
          <p:cNvPr id="15" name="ZoneTexte 14"/>
          <p:cNvSpPr txBox="1"/>
          <p:nvPr/>
        </p:nvSpPr>
        <p:spPr>
          <a:xfrm>
            <a:off x="755576" y="5229200"/>
            <a:ext cx="3168352" cy="646331"/>
          </a:xfrm>
          <a:prstGeom prst="rect">
            <a:avLst/>
          </a:prstGeom>
          <a:solidFill>
            <a:schemeClr val="accent4">
              <a:lumMod val="60000"/>
              <a:lumOff val="40000"/>
            </a:schemeClr>
          </a:solidFill>
          <a:ln>
            <a:solidFill>
              <a:schemeClr val="tx1"/>
            </a:solidFill>
          </a:ln>
        </p:spPr>
        <p:txBody>
          <a:bodyPr wrap="square" rtlCol="0">
            <a:spAutoFit/>
          </a:bodyPr>
          <a:lstStyle/>
          <a:p>
            <a:r>
              <a:rPr lang="fr-FR" b="1" dirty="0" smtClean="0"/>
              <a:t>Gain de change Latent</a:t>
            </a:r>
            <a:r>
              <a:rPr lang="fr-FR" dirty="0" smtClean="0"/>
              <a:t> : </a:t>
            </a:r>
          </a:p>
          <a:p>
            <a:r>
              <a:rPr lang="fr-FR" dirty="0" smtClean="0"/>
              <a:t>Écart de conversion passif</a:t>
            </a:r>
            <a:endParaRPr lang="fr-FR" dirty="0"/>
          </a:p>
        </p:txBody>
      </p:sp>
      <p:sp>
        <p:nvSpPr>
          <p:cNvPr id="16" name="ZoneTexte 15"/>
          <p:cNvSpPr txBox="1"/>
          <p:nvPr/>
        </p:nvSpPr>
        <p:spPr>
          <a:xfrm>
            <a:off x="4355976" y="5207527"/>
            <a:ext cx="4176464" cy="1477328"/>
          </a:xfrm>
          <a:prstGeom prst="rect">
            <a:avLst/>
          </a:prstGeom>
          <a:solidFill>
            <a:schemeClr val="accent6">
              <a:lumMod val="40000"/>
              <a:lumOff val="60000"/>
            </a:schemeClr>
          </a:solidFill>
          <a:ln>
            <a:solidFill>
              <a:schemeClr val="tx1"/>
            </a:solidFill>
          </a:ln>
        </p:spPr>
        <p:txBody>
          <a:bodyPr wrap="square" rtlCol="0">
            <a:spAutoFit/>
          </a:bodyPr>
          <a:lstStyle/>
          <a:p>
            <a:r>
              <a:rPr lang="fr-FR" b="1" dirty="0" smtClean="0"/>
              <a:t>Perte de change latente</a:t>
            </a:r>
            <a:r>
              <a:rPr lang="fr-FR" dirty="0" smtClean="0"/>
              <a:t> : </a:t>
            </a:r>
          </a:p>
          <a:p>
            <a:r>
              <a:rPr lang="fr-FR" dirty="0" smtClean="0"/>
              <a:t>Écart de conversion actif</a:t>
            </a:r>
          </a:p>
          <a:p>
            <a:r>
              <a:rPr lang="fr-FR" dirty="0" smtClean="0"/>
              <a:t>+ provision pour risque de change, à hauteur </a:t>
            </a:r>
            <a:r>
              <a:rPr lang="fr-FR" u="sng" dirty="0" smtClean="0"/>
              <a:t>uniquement</a:t>
            </a:r>
            <a:r>
              <a:rPr lang="fr-FR" dirty="0" smtClean="0"/>
              <a:t> du risque non couvert</a:t>
            </a:r>
            <a:endParaRPr lang="fr-FR" dirty="0"/>
          </a:p>
        </p:txBody>
      </p:sp>
    </p:spTree>
    <p:extLst>
      <p:ext uri="{BB962C8B-B14F-4D97-AF65-F5344CB8AC3E}">
        <p14:creationId xmlns:p14="http://schemas.microsoft.com/office/powerpoint/2010/main" val="3735723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400" b="1" dirty="0" smtClean="0"/>
              <a:t>Le Commissariat aux comptes des </a:t>
            </a:r>
            <a:br>
              <a:rPr lang="fr-FR" sz="2400" b="1" dirty="0" smtClean="0"/>
            </a:br>
            <a:r>
              <a:rPr lang="fr-FR" sz="2400" b="1" dirty="0" smtClean="0"/>
              <a:t>petites structures sur la sellette</a:t>
            </a:r>
            <a:endParaRPr lang="fr-FR" sz="2400" b="1" dirty="0"/>
          </a:p>
        </p:txBody>
      </p:sp>
      <p:sp>
        <p:nvSpPr>
          <p:cNvPr id="3" name="Espace réservé du contenu 2"/>
          <p:cNvSpPr>
            <a:spLocks noGrp="1"/>
          </p:cNvSpPr>
          <p:nvPr>
            <p:ph idx="1"/>
          </p:nvPr>
        </p:nvSpPr>
        <p:spPr>
          <a:xfrm>
            <a:off x="467544" y="1556792"/>
            <a:ext cx="8496944" cy="1224136"/>
          </a:xfrm>
        </p:spPr>
        <p:txBody>
          <a:bodyPr>
            <a:normAutofit/>
          </a:bodyPr>
          <a:lstStyle/>
          <a:p>
            <a:r>
              <a:rPr lang="fr-FR" dirty="0" smtClean="0"/>
              <a:t> </a:t>
            </a:r>
            <a:r>
              <a:rPr lang="fr-FR" sz="1800" dirty="0" smtClean="0"/>
              <a:t>La Loi PACTE sera débattue au Conseil des Ministres mi-avril :</a:t>
            </a:r>
          </a:p>
          <a:p>
            <a:pPr lvl="1"/>
            <a:r>
              <a:rPr lang="fr-FR" sz="1800" dirty="0" smtClean="0"/>
              <a:t>Proposition de l’IGF de déclencher les seuils pour l’audit légal obligatoire sur les mêmes seuils en vigueur en Europe </a:t>
            </a:r>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6</a:t>
            </a:fld>
            <a:endParaRPr lang="fr-FR" dirty="0"/>
          </a:p>
        </p:txBody>
      </p:sp>
      <p:sp>
        <p:nvSpPr>
          <p:cNvPr id="5" name="Espace réservé du contenu 3"/>
          <p:cNvSpPr txBox="1">
            <a:spLocks/>
          </p:cNvSpPr>
          <p:nvPr/>
        </p:nvSpPr>
        <p:spPr>
          <a:xfrm>
            <a:off x="6444208" y="404664"/>
            <a:ext cx="2520280" cy="864096"/>
          </a:xfrm>
          <a:prstGeom prst="teardrop">
            <a:avLst>
              <a:gd name="adj" fmla="val 97829"/>
            </a:avLst>
          </a:prstGeom>
          <a:ln>
            <a:solidFill>
              <a:schemeClr val="accent5"/>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62500" lnSpcReduction="20000"/>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5"/>
                </a:solidFill>
                <a:effectLst/>
                <a:uLnTx/>
                <a:uFillTx/>
                <a:latin typeface="+mn-lt"/>
                <a:ea typeface="+mn-ea"/>
                <a:cs typeface="+mn-cs"/>
              </a:rPr>
              <a:t>	</a:t>
            </a:r>
            <a:r>
              <a:rPr lang="fr-FR" sz="3400" b="1" dirty="0" smtClean="0">
                <a:solidFill>
                  <a:schemeClr val="accent5"/>
                </a:solidFill>
              </a:rPr>
              <a:t>Droit des sociétés</a:t>
            </a:r>
            <a:endParaRPr kumimoji="0" lang="fr-FR" sz="4200" b="0" i="0" u="none" strike="noStrike" kern="1200" cap="none" spc="0" normalizeH="0" baseline="0" noProof="0" dirty="0">
              <a:ln>
                <a:noFill/>
              </a:ln>
              <a:solidFill>
                <a:schemeClr val="accent5"/>
              </a:solidFill>
              <a:effectLst/>
              <a:uLnTx/>
              <a:uFillTx/>
            </a:endParaRPr>
          </a:p>
        </p:txBody>
      </p:sp>
      <p:graphicFrame>
        <p:nvGraphicFramePr>
          <p:cNvPr id="6" name="Tableau 5"/>
          <p:cNvGraphicFramePr>
            <a:graphicFrameLocks noGrp="1"/>
          </p:cNvGraphicFramePr>
          <p:nvPr>
            <p:extLst>
              <p:ext uri="{D42A27DB-BD31-4B8C-83A1-F6EECF244321}">
                <p14:modId xmlns:p14="http://schemas.microsoft.com/office/powerpoint/2010/main" val="3631389012"/>
              </p:ext>
            </p:extLst>
          </p:nvPr>
        </p:nvGraphicFramePr>
        <p:xfrm>
          <a:off x="1043608" y="2669128"/>
          <a:ext cx="6096000" cy="2387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endParaRPr lang="fr-FR" sz="1600" dirty="0"/>
                    </a:p>
                  </a:txBody>
                  <a:tcPr/>
                </a:tc>
                <a:tc>
                  <a:txBody>
                    <a:bodyPr/>
                    <a:lstStyle/>
                    <a:p>
                      <a:pPr algn="ctr"/>
                      <a:r>
                        <a:rPr lang="fr-FR" sz="1600" dirty="0" smtClean="0"/>
                        <a:t>Seuils en France</a:t>
                      </a:r>
                      <a:endParaRPr lang="fr-FR" sz="1600" dirty="0"/>
                    </a:p>
                  </a:txBody>
                  <a:tcPr/>
                </a:tc>
                <a:tc>
                  <a:txBody>
                    <a:bodyPr/>
                    <a:lstStyle/>
                    <a:p>
                      <a:pPr algn="ctr"/>
                      <a:r>
                        <a:rPr lang="fr-FR" sz="1600" dirty="0" smtClean="0"/>
                        <a:t>Seuils Européens</a:t>
                      </a:r>
                      <a:endParaRPr lang="fr-FR" sz="1600" dirty="0"/>
                    </a:p>
                  </a:txBody>
                  <a:tcPr/>
                </a:tc>
                <a:extLst>
                  <a:ext uri="{0D108BD9-81ED-4DB2-BD59-A6C34878D82A}">
                    <a16:rowId xmlns:a16="http://schemas.microsoft.com/office/drawing/2014/main" val="10000"/>
                  </a:ext>
                </a:extLst>
              </a:tr>
              <a:tr h="370840">
                <a:tc>
                  <a:txBody>
                    <a:bodyPr/>
                    <a:lstStyle/>
                    <a:p>
                      <a:r>
                        <a:rPr lang="fr-FR" sz="1600" dirty="0" smtClean="0"/>
                        <a:t>SA - SCA</a:t>
                      </a:r>
                      <a:endParaRPr lang="fr-FR" sz="1600" dirty="0"/>
                    </a:p>
                  </a:txBody>
                  <a:tcPr/>
                </a:tc>
                <a:tc>
                  <a:txBody>
                    <a:bodyPr/>
                    <a:lstStyle/>
                    <a:p>
                      <a:r>
                        <a:rPr lang="fr-FR" sz="1600" dirty="0" smtClean="0"/>
                        <a:t>Obligatoire</a:t>
                      </a:r>
                      <a:endParaRPr lang="fr-FR" sz="1600" dirty="0"/>
                    </a:p>
                  </a:txBody>
                  <a:tcPr/>
                </a:tc>
                <a:tc rowSpan="3">
                  <a:txBody>
                    <a:bodyPr/>
                    <a:lstStyle/>
                    <a:p>
                      <a:pPr algn="ctr"/>
                      <a:endParaRPr lang="fr-FR" sz="1600" dirty="0" smtClean="0"/>
                    </a:p>
                    <a:p>
                      <a:pPr algn="ctr"/>
                      <a:endParaRPr lang="fr-FR" sz="1600" dirty="0" smtClean="0"/>
                    </a:p>
                    <a:p>
                      <a:pPr algn="ctr"/>
                      <a:r>
                        <a:rPr lang="fr-FR" sz="1600" dirty="0" smtClean="0"/>
                        <a:t>CA &gt; 8 M€</a:t>
                      </a:r>
                    </a:p>
                    <a:p>
                      <a:pPr algn="ctr"/>
                      <a:r>
                        <a:rPr lang="fr-FR" sz="1600" dirty="0" smtClean="0"/>
                        <a:t>Bilan &gt; 4 M€</a:t>
                      </a:r>
                    </a:p>
                    <a:p>
                      <a:pPr algn="ctr"/>
                      <a:r>
                        <a:rPr lang="fr-FR" sz="1600" dirty="0" smtClean="0"/>
                        <a:t>+ 50</a:t>
                      </a:r>
                      <a:r>
                        <a:rPr lang="fr-FR" sz="1600" baseline="0" dirty="0" smtClean="0"/>
                        <a:t> salariés</a:t>
                      </a:r>
                      <a:endParaRPr lang="fr-FR" sz="1600" dirty="0" smtClean="0"/>
                    </a:p>
                    <a:p>
                      <a:pPr algn="ctr"/>
                      <a:endParaRPr lang="fr-FR" sz="1600" dirty="0"/>
                    </a:p>
                  </a:txBody>
                  <a:tcPr/>
                </a:tc>
                <a:extLst>
                  <a:ext uri="{0D108BD9-81ED-4DB2-BD59-A6C34878D82A}">
                    <a16:rowId xmlns:a16="http://schemas.microsoft.com/office/drawing/2014/main" val="10001"/>
                  </a:ext>
                </a:extLst>
              </a:tr>
              <a:tr h="370840">
                <a:tc>
                  <a:txBody>
                    <a:bodyPr/>
                    <a:lstStyle/>
                    <a:p>
                      <a:r>
                        <a:rPr lang="fr-FR" sz="1600" dirty="0" smtClean="0"/>
                        <a:t>SARL </a:t>
                      </a:r>
                      <a:br>
                        <a:rPr lang="fr-FR" sz="1600" dirty="0" smtClean="0"/>
                      </a:br>
                      <a:r>
                        <a:rPr lang="fr-FR" sz="1600" dirty="0" smtClean="0"/>
                        <a:t>EURL – SNC - SCS</a:t>
                      </a:r>
                    </a:p>
                    <a:p>
                      <a:r>
                        <a:rPr lang="fr-FR" sz="1200" i="1" dirty="0" smtClean="0"/>
                        <a:t>(2 seuils</a:t>
                      </a:r>
                      <a:r>
                        <a:rPr lang="fr-FR" sz="1200" i="1" baseline="0" dirty="0" smtClean="0"/>
                        <a:t> sur 3 à respecter)</a:t>
                      </a:r>
                      <a:endParaRPr lang="fr-FR" sz="1200" i="1" dirty="0"/>
                    </a:p>
                  </a:txBody>
                  <a:tcPr/>
                </a:tc>
                <a:tc>
                  <a:txBody>
                    <a:bodyPr/>
                    <a:lstStyle/>
                    <a:p>
                      <a:r>
                        <a:rPr lang="fr-FR" sz="1600" dirty="0" smtClean="0"/>
                        <a:t>CA &gt; 3,1 M€</a:t>
                      </a:r>
                    </a:p>
                    <a:p>
                      <a:r>
                        <a:rPr lang="fr-FR" sz="1600" dirty="0" smtClean="0"/>
                        <a:t>Bilan &gt; 1,55 M€</a:t>
                      </a:r>
                    </a:p>
                    <a:p>
                      <a:r>
                        <a:rPr lang="fr-FR" sz="1600" dirty="0" smtClean="0"/>
                        <a:t>+ 50 salariés</a:t>
                      </a:r>
                      <a:endParaRPr lang="fr-FR" sz="1600" dirty="0"/>
                    </a:p>
                  </a:txBody>
                  <a:tcPr/>
                </a:tc>
                <a:tc vMerge="1">
                  <a:txBody>
                    <a:bodyPr/>
                    <a:lstStyle/>
                    <a:p>
                      <a:endParaRPr lang="fr-FR" sz="1600" dirty="0"/>
                    </a:p>
                  </a:txBody>
                  <a:tcPr/>
                </a:tc>
                <a:extLst>
                  <a:ext uri="{0D108BD9-81ED-4DB2-BD59-A6C34878D82A}">
                    <a16:rowId xmlns:a16="http://schemas.microsoft.com/office/drawing/2014/main" val="10002"/>
                  </a:ext>
                </a:extLst>
              </a:tr>
              <a:tr h="370840">
                <a:tc>
                  <a:txBody>
                    <a:bodyPr/>
                    <a:lstStyle/>
                    <a:p>
                      <a:r>
                        <a:rPr lang="fr-FR" sz="1600" dirty="0" smtClean="0"/>
                        <a:t>SAS</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i="1" dirty="0" smtClean="0"/>
                        <a:t>(2 seuils</a:t>
                      </a:r>
                      <a:r>
                        <a:rPr lang="fr-FR" sz="1200" i="1" baseline="0" dirty="0" smtClean="0"/>
                        <a:t> sur 3 à respecter)</a:t>
                      </a:r>
                      <a:endParaRPr lang="fr-FR" sz="1200" i="1" dirty="0" smtClean="0"/>
                    </a:p>
                    <a:p>
                      <a:endParaRPr lang="fr-FR" sz="1600" dirty="0"/>
                    </a:p>
                  </a:txBody>
                  <a:tcPr/>
                </a:tc>
                <a:tc>
                  <a:txBody>
                    <a:bodyPr/>
                    <a:lstStyle/>
                    <a:p>
                      <a:r>
                        <a:rPr lang="fr-FR" sz="1600" dirty="0" smtClean="0"/>
                        <a:t>CA &gt; 2 M€ </a:t>
                      </a:r>
                    </a:p>
                    <a:p>
                      <a:r>
                        <a:rPr lang="fr-FR" sz="1600" dirty="0" smtClean="0"/>
                        <a:t>Bilan &gt; 1 M€</a:t>
                      </a:r>
                    </a:p>
                    <a:p>
                      <a:r>
                        <a:rPr lang="fr-FR" sz="1600" dirty="0" smtClean="0"/>
                        <a:t>+ 20 salariés</a:t>
                      </a:r>
                      <a:r>
                        <a:rPr lang="fr-FR" sz="1600" baseline="0" dirty="0" smtClean="0"/>
                        <a:t> </a:t>
                      </a:r>
                      <a:endParaRPr lang="fr-FR" sz="1600" dirty="0"/>
                    </a:p>
                  </a:txBody>
                  <a:tcPr/>
                </a:tc>
                <a:tc vMerge="1">
                  <a:txBody>
                    <a:bodyPr/>
                    <a:lstStyle/>
                    <a:p>
                      <a:endParaRPr lang="fr-FR" sz="1600" dirty="0"/>
                    </a:p>
                  </a:txBody>
                  <a:tcPr/>
                </a:tc>
                <a:extLst>
                  <a:ext uri="{0D108BD9-81ED-4DB2-BD59-A6C34878D82A}">
                    <a16:rowId xmlns:a16="http://schemas.microsoft.com/office/drawing/2014/main" val="10003"/>
                  </a:ext>
                </a:extLst>
              </a:tr>
            </a:tbl>
          </a:graphicData>
        </a:graphic>
      </p:graphicFrame>
      <p:sp>
        <p:nvSpPr>
          <p:cNvPr id="7" name="Espace réservé du contenu 2"/>
          <p:cNvSpPr txBox="1">
            <a:spLocks/>
          </p:cNvSpPr>
          <p:nvPr/>
        </p:nvSpPr>
        <p:spPr>
          <a:xfrm>
            <a:off x="422090" y="5481228"/>
            <a:ext cx="8496944" cy="792088"/>
          </a:xfrm>
          <a:prstGeom prst="rect">
            <a:avLst/>
          </a:prstGeom>
        </p:spPr>
        <p:txBody>
          <a:bodyPr vert="horz" lIns="91440" tIns="45720" rIns="91440" bIns="45720" rtlCol="0">
            <a:normAutofit fontScale="85000"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fr-FR" sz="1800" dirty="0" smtClean="0"/>
              <a:t>Impact très important pour les petits cabinets : +120.000 mandats / 190.000 mis en cause</a:t>
            </a:r>
          </a:p>
          <a:p>
            <a:pPr marL="0" indent="0">
              <a:buNone/>
            </a:pPr>
            <a:r>
              <a:rPr lang="fr-FR" sz="1800" dirty="0" smtClean="0"/>
              <a:t>=&gt; Quid de la qualité des états financiers et des comptes consolidés s’ils ne sont plus audités ?</a:t>
            </a:r>
          </a:p>
        </p:txBody>
      </p:sp>
    </p:spTree>
    <p:extLst>
      <p:ext uri="{BB962C8B-B14F-4D97-AF65-F5344CB8AC3E}">
        <p14:creationId xmlns:p14="http://schemas.microsoft.com/office/powerpoint/2010/main" val="34240486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557436"/>
            <a:ext cx="5987008" cy="990600"/>
          </a:xfrm>
        </p:spPr>
        <p:txBody>
          <a:bodyPr>
            <a:noAutofit/>
          </a:bodyPr>
          <a:lstStyle/>
          <a:p>
            <a:pPr algn="ctr"/>
            <a:r>
              <a:rPr lang="fr-FR" sz="2400" b="1" dirty="0" smtClean="0"/>
              <a:t/>
            </a:r>
            <a:br>
              <a:rPr lang="fr-FR" sz="2400" b="1" dirty="0" smtClean="0"/>
            </a:br>
            <a:r>
              <a:rPr lang="fr-FR" sz="2400" b="1" dirty="0" smtClean="0"/>
              <a:t>Journée de la recherche comptable </a:t>
            </a:r>
            <a:r>
              <a:rPr lang="fr-FR" sz="2400" b="1" u="sng" dirty="0" smtClean="0"/>
              <a:t>Comptabilité </a:t>
            </a:r>
            <a:r>
              <a:rPr lang="fr-FR" sz="2400" b="1" u="sng" dirty="0"/>
              <a:t>et </a:t>
            </a:r>
            <a:r>
              <a:rPr lang="fr-FR" sz="2400" b="1" u="sng" dirty="0" smtClean="0"/>
              <a:t>numérique </a:t>
            </a:r>
            <a:br>
              <a:rPr lang="fr-FR" sz="2400" b="1" u="sng" dirty="0" smtClean="0"/>
            </a:br>
            <a:r>
              <a:rPr lang="fr-FR" sz="2400" b="1" dirty="0" smtClean="0"/>
              <a:t>11 </a:t>
            </a:r>
            <a:r>
              <a:rPr lang="fr-FR" sz="2400" b="1" dirty="0"/>
              <a:t>décembre 2017</a:t>
            </a:r>
            <a:r>
              <a:rPr lang="fr-FR" sz="2400" b="1" u="sng" dirty="0"/>
              <a:t/>
            </a:r>
            <a:br>
              <a:rPr lang="fr-FR" sz="2400" b="1" u="sng" dirty="0"/>
            </a:br>
            <a:endParaRPr lang="fr-FR" sz="2400" b="1" dirty="0"/>
          </a:p>
        </p:txBody>
      </p:sp>
      <p:sp>
        <p:nvSpPr>
          <p:cNvPr id="3" name="Espace réservé du contenu 2"/>
          <p:cNvSpPr>
            <a:spLocks noGrp="1"/>
          </p:cNvSpPr>
          <p:nvPr>
            <p:ph idx="1"/>
          </p:nvPr>
        </p:nvSpPr>
        <p:spPr>
          <a:xfrm>
            <a:off x="0" y="1695718"/>
            <a:ext cx="8496944" cy="5141168"/>
          </a:xfrm>
        </p:spPr>
        <p:txBody>
          <a:bodyPr>
            <a:normAutofit/>
          </a:bodyPr>
          <a:lstStyle/>
          <a:p>
            <a:r>
              <a:rPr lang="fr-FR" sz="1800" b="1" dirty="0" smtClean="0"/>
              <a:t>Cadre conceptuel</a:t>
            </a:r>
          </a:p>
          <a:p>
            <a:pPr lvl="1"/>
            <a:r>
              <a:rPr lang="fr-FR" sz="1400" dirty="0" smtClean="0"/>
              <a:t>Qui sont les « utilisateurs » des états financiers ? notion à redéfinir</a:t>
            </a:r>
          </a:p>
          <a:p>
            <a:pPr lvl="1"/>
            <a:r>
              <a:rPr lang="fr-FR" sz="1400" dirty="0" smtClean="0"/>
              <a:t>Quel niveau de prudence faut-il maintenir dans les comptes ?</a:t>
            </a:r>
          </a:p>
          <a:p>
            <a:pPr lvl="1"/>
            <a:r>
              <a:rPr lang="fr-FR" sz="1400" dirty="0" smtClean="0"/>
              <a:t>Importance et rôle des business </a:t>
            </a:r>
            <a:r>
              <a:rPr lang="fr-FR" sz="1400" dirty="0" err="1" smtClean="0"/>
              <a:t>models</a:t>
            </a:r>
            <a:r>
              <a:rPr lang="fr-FR" sz="1400" dirty="0" smtClean="0"/>
              <a:t> ?</a:t>
            </a:r>
          </a:p>
          <a:p>
            <a:pPr lvl="1"/>
            <a:r>
              <a:rPr lang="fr-FR" sz="1400" dirty="0" smtClean="0"/>
              <a:t>Statut des OCI &amp; importance du compte de résultat ?</a:t>
            </a:r>
          </a:p>
          <a:p>
            <a:r>
              <a:rPr lang="fr-FR" sz="1800" b="1" dirty="0" smtClean="0"/>
              <a:t>Indicateurs de performance</a:t>
            </a:r>
          </a:p>
          <a:p>
            <a:pPr lvl="1"/>
            <a:r>
              <a:rPr lang="fr-FR" sz="1400" dirty="0" smtClean="0"/>
              <a:t>Quels indicateurs retenir ? EBIT ? EBITDA ?</a:t>
            </a:r>
          </a:p>
          <a:p>
            <a:pPr lvl="1"/>
            <a:r>
              <a:rPr lang="fr-FR" sz="1400" dirty="0" smtClean="0"/>
              <a:t>Utilisation des Soldes Intermédiaires de gestion français à proposer ?</a:t>
            </a:r>
          </a:p>
          <a:p>
            <a:r>
              <a:rPr lang="fr-FR" sz="1800" b="1" dirty="0" smtClean="0"/>
              <a:t>Impact du numérique sur l’information financière</a:t>
            </a:r>
          </a:p>
          <a:p>
            <a:pPr lvl="1"/>
            <a:r>
              <a:rPr lang="fr-FR" sz="1400" dirty="0" smtClean="0"/>
              <a:t>Il facilite l’agrégation des données, réduit les délais de production et de diffusion, rend les données plus accessibles : mais il n’impacte pas la pertinence des données</a:t>
            </a:r>
          </a:p>
          <a:p>
            <a:pPr lvl="1"/>
            <a:r>
              <a:rPr lang="fr-FR" sz="1400" dirty="0" smtClean="0"/>
              <a:t>Faut-il certifier les comptes à partir d’un rapport papier ou un support dématérialisé ?</a:t>
            </a:r>
          </a:p>
          <a:p>
            <a:r>
              <a:rPr lang="fr-FR" sz="1800" b="1" dirty="0" smtClean="0"/>
              <a:t>Information financière et économie numérique</a:t>
            </a:r>
          </a:p>
          <a:p>
            <a:pPr lvl="1"/>
            <a:r>
              <a:rPr lang="fr-FR" sz="1400" dirty="0" smtClean="0"/>
              <a:t>Problème de reconnaissance comptable et financière de ces activités</a:t>
            </a:r>
          </a:p>
          <a:p>
            <a:pPr lvl="1"/>
            <a:r>
              <a:rPr lang="fr-FR" sz="1400" dirty="0" smtClean="0"/>
              <a:t>Indicateurs </a:t>
            </a:r>
            <a:r>
              <a:rPr lang="fr-FR" sz="1400" dirty="0" err="1" smtClean="0"/>
              <a:t>extra-comptables</a:t>
            </a:r>
            <a:r>
              <a:rPr lang="fr-FR" sz="1400" dirty="0" smtClean="0"/>
              <a:t> à prévoir.</a:t>
            </a:r>
          </a:p>
          <a:p>
            <a:pPr lvl="1"/>
            <a:r>
              <a:rPr lang="fr-FR" sz="1400" dirty="0" smtClean="0"/>
              <a:t>Comment reconnaitre l’acquisition de données en </a:t>
            </a:r>
            <a:r>
              <a:rPr lang="fr-FR" sz="1400" dirty="0" err="1" smtClean="0"/>
              <a:t>big</a:t>
            </a:r>
            <a:r>
              <a:rPr lang="fr-FR" sz="1400" dirty="0" smtClean="0"/>
              <a:t> data par exemple ?</a:t>
            </a:r>
          </a:p>
          <a:p>
            <a:pPr lvl="1"/>
            <a:r>
              <a:rPr lang="fr-FR" sz="1400" dirty="0" smtClean="0"/>
              <a:t>Comment reconnaitre l’échange et la contribution à la valeur sans transaction monétaire, avec ou sans « clic » ? Comment reconnaitre la création de valeur par l’usage de l’influence ?</a:t>
            </a:r>
          </a:p>
          <a:p>
            <a:pPr marL="274320" lvl="1" indent="0">
              <a:buNone/>
            </a:pPr>
            <a:endParaRPr lang="fr-FR" sz="1400" dirty="0" smtClean="0"/>
          </a:p>
          <a:p>
            <a:endParaRPr lang="fr-FR" dirty="0" smtClean="0"/>
          </a:p>
          <a:p>
            <a:endParaRPr lang="fr-FR" u="sng" dirty="0" smtClean="0"/>
          </a:p>
          <a:p>
            <a:pPr lvl="1"/>
            <a:endParaRPr lang="fr-FR" dirty="0" smtClean="0"/>
          </a:p>
          <a:p>
            <a:pPr lvl="2" algn="just"/>
            <a:endParaRPr lang="fr-FR" sz="1000" dirty="0" smtClean="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7</a:t>
            </a:fld>
            <a:endParaRPr lang="fr-FR" dirty="0"/>
          </a:p>
        </p:txBody>
      </p:sp>
      <p:sp>
        <p:nvSpPr>
          <p:cNvPr id="5" name="Espace réservé du contenu 3"/>
          <p:cNvSpPr txBox="1">
            <a:spLocks/>
          </p:cNvSpPr>
          <p:nvPr/>
        </p:nvSpPr>
        <p:spPr>
          <a:xfrm>
            <a:off x="6752232" y="404664"/>
            <a:ext cx="2212255" cy="648072"/>
          </a:xfrm>
          <a:prstGeom prst="teardrop">
            <a:avLst>
              <a:gd name="adj" fmla="val 97829"/>
            </a:avLst>
          </a:prstGeom>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3">
                    <a:lumMod val="75000"/>
                  </a:schemeClr>
                </a:solidFill>
                <a:effectLst/>
                <a:uLnTx/>
                <a:uFillTx/>
                <a:latin typeface="+mn-lt"/>
                <a:ea typeface="+mn-ea"/>
                <a:cs typeface="+mn-cs"/>
              </a:rPr>
              <a:t>	</a:t>
            </a:r>
            <a:r>
              <a:rPr lang="fr-FR" sz="2200" b="1" dirty="0" smtClean="0">
                <a:solidFill>
                  <a:schemeClr val="accent2"/>
                </a:solidFill>
              </a:rPr>
              <a:t>ANC</a:t>
            </a:r>
            <a:endParaRPr kumimoji="0" lang="fr-FR" sz="2200" b="0" i="0" u="none" strike="noStrike" kern="1200" cap="none" spc="0" normalizeH="0" baseline="0" noProof="0" dirty="0">
              <a:ln>
                <a:noFill/>
              </a:ln>
              <a:solidFill>
                <a:schemeClr val="accent4"/>
              </a:solidFill>
              <a:effectLst/>
              <a:uLnTx/>
              <a:uFillTx/>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3109" y="1182099"/>
            <a:ext cx="2007363" cy="2894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2059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6203032" cy="990600"/>
          </a:xfrm>
        </p:spPr>
        <p:txBody>
          <a:bodyPr>
            <a:normAutofit fontScale="90000"/>
          </a:bodyPr>
          <a:lstStyle/>
          <a:p>
            <a:r>
              <a:rPr lang="fr-FR" dirty="0" smtClean="0"/>
              <a:t>Grandes orientations de l’ANC sur les années à venir</a:t>
            </a:r>
            <a:endParaRPr lang="fr-FR" dirty="0"/>
          </a:p>
        </p:txBody>
      </p:sp>
      <p:sp>
        <p:nvSpPr>
          <p:cNvPr id="3" name="Espace réservé du contenu 2"/>
          <p:cNvSpPr>
            <a:spLocks noGrp="1"/>
          </p:cNvSpPr>
          <p:nvPr>
            <p:ph idx="1"/>
          </p:nvPr>
        </p:nvSpPr>
        <p:spPr>
          <a:xfrm>
            <a:off x="179512" y="1600200"/>
            <a:ext cx="8784976" cy="4876800"/>
          </a:xfrm>
        </p:spPr>
        <p:txBody>
          <a:bodyPr>
            <a:normAutofit/>
          </a:bodyPr>
          <a:lstStyle/>
          <a:p>
            <a:pPr algn="just"/>
            <a:endParaRPr lang="fr-FR" dirty="0" smtClean="0"/>
          </a:p>
          <a:p>
            <a:pPr algn="just"/>
            <a:r>
              <a:rPr lang="fr-FR" dirty="0" smtClean="0"/>
              <a:t>Principaux thèmes d’études prévus au niveau des normes françaises :</a:t>
            </a:r>
          </a:p>
          <a:p>
            <a:pPr lvl="1" algn="just"/>
            <a:r>
              <a:rPr lang="fr-FR" sz="1800" dirty="0" smtClean="0"/>
              <a:t>Précision des situations exceptionnelles impliquant la possibilité de changer de méthode comptable</a:t>
            </a:r>
          </a:p>
          <a:p>
            <a:pPr lvl="1" algn="just"/>
            <a:r>
              <a:rPr lang="fr-FR" sz="1800" dirty="0" smtClean="0"/>
              <a:t>Les méthodes préférentielles pourraient changer de nom et devenir des méthodes de référence</a:t>
            </a:r>
          </a:p>
          <a:p>
            <a:pPr marL="274320" lvl="1" indent="0" algn="just">
              <a:buNone/>
            </a:pPr>
            <a:endParaRPr lang="fr-FR" dirty="0"/>
          </a:p>
          <a:p>
            <a:pPr algn="just"/>
            <a:r>
              <a:rPr lang="fr-FR" dirty="0" smtClean="0"/>
              <a:t>Travaux en cours en 2017-2018</a:t>
            </a:r>
          </a:p>
          <a:p>
            <a:pPr lvl="1" algn="just"/>
            <a:r>
              <a:rPr lang="fr-FR" sz="1800" dirty="0" smtClean="0"/>
              <a:t>Moderniser les règles de comptabilisation du CA </a:t>
            </a:r>
          </a:p>
          <a:p>
            <a:pPr lvl="1" algn="just"/>
            <a:r>
              <a:rPr lang="fr-FR" sz="1800" dirty="0" smtClean="0"/>
              <a:t>Modernisation du règlement comptable applicable aux associations et fondations</a:t>
            </a:r>
          </a:p>
          <a:p>
            <a:pPr lvl="1" algn="just"/>
            <a:r>
              <a:rPr lang="fr-FR" sz="1800" dirty="0" smtClean="0"/>
              <a:t>Groupe de travail sur l’actualisation des règles applicables pour les comptes consolidés en normes françaises</a:t>
            </a:r>
            <a:endParaRPr lang="fr-FR" dirty="0" smtClean="0"/>
          </a:p>
          <a:p>
            <a:pPr lvl="1" algn="just"/>
            <a:endParaRPr lang="fr-FR" dirty="0" smtClean="0"/>
          </a:p>
          <a:p>
            <a:pPr lvl="1" algn="just"/>
            <a:endParaRPr lang="fr-FR" dirty="0" smtClean="0"/>
          </a:p>
          <a:p>
            <a:pPr lvl="1"/>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8</a:t>
            </a:fld>
            <a:endParaRPr lang="fr-FR"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3416" y="404664"/>
            <a:ext cx="1647056" cy="1619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19904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6779096" cy="990600"/>
          </a:xfrm>
        </p:spPr>
        <p:txBody>
          <a:bodyPr>
            <a:normAutofit fontScale="90000"/>
          </a:bodyPr>
          <a:lstStyle/>
          <a:p>
            <a:r>
              <a:rPr lang="fr-FR" dirty="0" smtClean="0"/>
              <a:t>Nouveaux systèmes de caisse sécurisés</a:t>
            </a:r>
            <a:endParaRPr lang="fr-FR" dirty="0"/>
          </a:p>
        </p:txBody>
      </p:sp>
      <p:sp>
        <p:nvSpPr>
          <p:cNvPr id="3" name="Espace réservé du contenu 2"/>
          <p:cNvSpPr>
            <a:spLocks noGrp="1"/>
          </p:cNvSpPr>
          <p:nvPr>
            <p:ph idx="1"/>
          </p:nvPr>
        </p:nvSpPr>
        <p:spPr/>
        <p:txBody>
          <a:bodyPr/>
          <a:lstStyle/>
          <a:p>
            <a:pPr algn="just"/>
            <a:r>
              <a:rPr lang="fr-FR" sz="2000" dirty="0" smtClean="0"/>
              <a:t>A partir du 1</a:t>
            </a:r>
            <a:r>
              <a:rPr lang="fr-FR" sz="2000" baseline="30000" dirty="0" smtClean="0"/>
              <a:t>er</a:t>
            </a:r>
            <a:r>
              <a:rPr lang="fr-FR" sz="2000" dirty="0" smtClean="0"/>
              <a:t> Janvier 2018, les assujettis à la TVA seront obligés d’avoir un système de caisse sécurisé et certifié. </a:t>
            </a:r>
          </a:p>
          <a:p>
            <a:pPr algn="just"/>
            <a:r>
              <a:rPr lang="fr-FR" sz="2000" dirty="0" smtClean="0"/>
              <a:t>Objectif : réduire les opérations non déclarées = éviter les fraudes</a:t>
            </a:r>
            <a:endParaRPr lang="fr-FR" sz="2000" dirty="0"/>
          </a:p>
          <a:p>
            <a:pPr algn="just"/>
            <a:r>
              <a:rPr lang="fr-FR" sz="2000" dirty="0" smtClean="0"/>
              <a:t>Sanctions : </a:t>
            </a:r>
          </a:p>
          <a:p>
            <a:pPr lvl="1" algn="just"/>
            <a:r>
              <a:rPr lang="fr-FR" sz="1800" dirty="0" smtClean="0"/>
              <a:t>amende de 7500 € par système de caisse ne présentant pas le certificat ou l’attestation individuelle.</a:t>
            </a:r>
          </a:p>
          <a:p>
            <a:pPr lvl="1" algn="just"/>
            <a:r>
              <a:rPr lang="fr-FR" sz="1800" dirty="0" smtClean="0"/>
              <a:t>60 jours pour régulariser la situation.</a:t>
            </a:r>
          </a:p>
          <a:p>
            <a:pPr algn="just"/>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9</a:t>
            </a:fld>
            <a:endParaRPr lang="fr-FR" dirty="0"/>
          </a:p>
        </p:txBody>
      </p:sp>
      <p:sp>
        <p:nvSpPr>
          <p:cNvPr id="5" name="Espace réservé du contenu 3"/>
          <p:cNvSpPr txBox="1">
            <a:spLocks/>
          </p:cNvSpPr>
          <p:nvPr/>
        </p:nvSpPr>
        <p:spPr>
          <a:xfrm>
            <a:off x="6804248" y="404664"/>
            <a:ext cx="2160240" cy="720080"/>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92500"/>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3">
                    <a:lumMod val="75000"/>
                  </a:schemeClr>
                </a:solidFill>
                <a:effectLst/>
                <a:uLnTx/>
                <a:uFillTx/>
                <a:latin typeface="+mn-lt"/>
                <a:ea typeface="+mn-ea"/>
                <a:cs typeface="+mn-cs"/>
              </a:rPr>
              <a:t>	</a:t>
            </a:r>
            <a:r>
              <a:rPr lang="fr-FR" sz="2000" b="1" dirty="0" smtClean="0">
                <a:solidFill>
                  <a:schemeClr val="accent3">
                    <a:lumMod val="75000"/>
                  </a:schemeClr>
                </a:solidFill>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5891" y="4065442"/>
            <a:ext cx="4488357" cy="2606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78275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47486"/>
            <a:ext cx="5698976" cy="990600"/>
          </a:xfrm>
        </p:spPr>
        <p:txBody>
          <a:bodyPr>
            <a:normAutofit/>
          </a:bodyPr>
          <a:lstStyle/>
          <a:p>
            <a:r>
              <a:rPr lang="fr-FR" sz="3600" dirty="0" smtClean="0"/>
              <a:t>Taux d’IS applicables</a:t>
            </a:r>
            <a:endParaRPr lang="fr-FR" sz="3600"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10</a:t>
            </a:fld>
            <a:endParaRPr lang="fr-FR" dirty="0"/>
          </a:p>
        </p:txBody>
      </p:sp>
      <p:sp>
        <p:nvSpPr>
          <p:cNvPr id="5" name="Espace réservé du contenu 3"/>
          <p:cNvSpPr txBox="1">
            <a:spLocks/>
          </p:cNvSpPr>
          <p:nvPr/>
        </p:nvSpPr>
        <p:spPr>
          <a:xfrm>
            <a:off x="7164288" y="404664"/>
            <a:ext cx="1872208" cy="504056"/>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92500" lnSpcReduction="10000"/>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2000" b="1" i="0" u="none" strike="noStrike" kern="1200" cap="none" spc="0" normalizeH="0" baseline="0" noProof="0" dirty="0" smtClean="0">
                <a:ln>
                  <a:noFill/>
                </a:ln>
                <a:solidFill>
                  <a:schemeClr val="accent3">
                    <a:lumMod val="75000"/>
                  </a:schemeClr>
                </a:solidFill>
                <a:effectLst/>
                <a:uLnTx/>
                <a:uFillTx/>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p:graphicFrame>
        <p:nvGraphicFramePr>
          <p:cNvPr id="7" name="Tableau 6"/>
          <p:cNvGraphicFramePr>
            <a:graphicFrameLocks noGrp="1"/>
          </p:cNvGraphicFramePr>
          <p:nvPr>
            <p:extLst>
              <p:ext uri="{D42A27DB-BD31-4B8C-83A1-F6EECF244321}">
                <p14:modId xmlns:p14="http://schemas.microsoft.com/office/powerpoint/2010/main" val="1946082321"/>
              </p:ext>
            </p:extLst>
          </p:nvPr>
        </p:nvGraphicFramePr>
        <p:xfrm>
          <a:off x="179512" y="1087219"/>
          <a:ext cx="8712968" cy="5726157"/>
        </p:xfrm>
        <a:graphic>
          <a:graphicData uri="http://schemas.openxmlformats.org/drawingml/2006/table">
            <a:tbl>
              <a:tblPr firstRow="1" bandRow="1">
                <a:tableStyleId>{5C22544A-7EE6-4342-B048-85BDC9FD1C3A}</a:tableStyleId>
              </a:tblPr>
              <a:tblGrid>
                <a:gridCol w="1128298">
                  <a:extLst>
                    <a:ext uri="{9D8B030D-6E8A-4147-A177-3AD203B41FA5}">
                      <a16:colId xmlns:a16="http://schemas.microsoft.com/office/drawing/2014/main" val="20000"/>
                    </a:ext>
                  </a:extLst>
                </a:gridCol>
                <a:gridCol w="1190981">
                  <a:extLst>
                    <a:ext uri="{9D8B030D-6E8A-4147-A177-3AD203B41FA5}">
                      <a16:colId xmlns:a16="http://schemas.microsoft.com/office/drawing/2014/main" val="20001"/>
                    </a:ext>
                  </a:extLst>
                </a:gridCol>
                <a:gridCol w="1425137">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gridCol w="1271796">
                  <a:extLst>
                    <a:ext uri="{9D8B030D-6E8A-4147-A177-3AD203B41FA5}">
                      <a16:colId xmlns:a16="http://schemas.microsoft.com/office/drawing/2014/main" val="20004"/>
                    </a:ext>
                  </a:extLst>
                </a:gridCol>
                <a:gridCol w="1128298">
                  <a:extLst>
                    <a:ext uri="{9D8B030D-6E8A-4147-A177-3AD203B41FA5}">
                      <a16:colId xmlns:a16="http://schemas.microsoft.com/office/drawing/2014/main" val="20005"/>
                    </a:ext>
                  </a:extLst>
                </a:gridCol>
                <a:gridCol w="1128298">
                  <a:extLst>
                    <a:ext uri="{9D8B030D-6E8A-4147-A177-3AD203B41FA5}">
                      <a16:colId xmlns:a16="http://schemas.microsoft.com/office/drawing/2014/main" val="20006"/>
                    </a:ext>
                  </a:extLst>
                </a:gridCol>
              </a:tblGrid>
              <a:tr h="469573">
                <a:tc>
                  <a:txBody>
                    <a:bodyPr/>
                    <a:lstStyle/>
                    <a:p>
                      <a:pPr algn="ctr"/>
                      <a:r>
                        <a:rPr lang="fr-FR" sz="1400" dirty="0" smtClean="0"/>
                        <a:t>Exercice ouvert le 01</a:t>
                      </a:r>
                      <a:r>
                        <a:rPr lang="fr-FR" sz="1400" baseline="0" dirty="0" smtClean="0"/>
                        <a:t>/01</a:t>
                      </a:r>
                      <a:endParaRPr lang="fr-FR" sz="1400" dirty="0"/>
                    </a:p>
                  </a:txBody>
                  <a:tcPr/>
                </a:tc>
                <a:tc>
                  <a:txBody>
                    <a:bodyPr/>
                    <a:lstStyle/>
                    <a:p>
                      <a:pPr algn="ctr"/>
                      <a:r>
                        <a:rPr lang="fr-FR" sz="1400" dirty="0" smtClean="0"/>
                        <a:t>2017</a:t>
                      </a:r>
                      <a:endParaRPr lang="fr-FR" sz="1400" dirty="0"/>
                    </a:p>
                  </a:txBody>
                  <a:tcPr/>
                </a:tc>
                <a:tc>
                  <a:txBody>
                    <a:bodyPr/>
                    <a:lstStyle/>
                    <a:p>
                      <a:pPr algn="ctr"/>
                      <a:r>
                        <a:rPr lang="fr-FR" sz="1400" dirty="0" smtClean="0"/>
                        <a:t>2018</a:t>
                      </a:r>
                      <a:endParaRPr lang="fr-FR" sz="1400" dirty="0"/>
                    </a:p>
                  </a:txBody>
                  <a:tcPr/>
                </a:tc>
                <a:tc>
                  <a:txBody>
                    <a:bodyPr/>
                    <a:lstStyle/>
                    <a:p>
                      <a:pPr algn="ctr"/>
                      <a:r>
                        <a:rPr lang="fr-FR" sz="1400" dirty="0" smtClean="0"/>
                        <a:t>2019</a:t>
                      </a:r>
                      <a:endParaRPr lang="fr-FR" sz="1400" dirty="0"/>
                    </a:p>
                  </a:txBody>
                  <a:tcPr/>
                </a:tc>
                <a:tc>
                  <a:txBody>
                    <a:bodyPr/>
                    <a:lstStyle/>
                    <a:p>
                      <a:pPr algn="ctr"/>
                      <a:r>
                        <a:rPr lang="fr-FR" sz="1400" dirty="0" smtClean="0"/>
                        <a:t>2020</a:t>
                      </a:r>
                      <a:endParaRPr lang="fr-FR" sz="1400" dirty="0"/>
                    </a:p>
                  </a:txBody>
                  <a:tcPr/>
                </a:tc>
                <a:tc>
                  <a:txBody>
                    <a:bodyPr/>
                    <a:lstStyle/>
                    <a:p>
                      <a:pPr algn="ctr"/>
                      <a:r>
                        <a:rPr lang="fr-FR" sz="1400" dirty="0" smtClean="0"/>
                        <a:t>2021</a:t>
                      </a:r>
                      <a:endParaRPr lang="fr-FR" sz="1400" dirty="0"/>
                    </a:p>
                  </a:txBody>
                  <a:tcPr/>
                </a:tc>
                <a:tc>
                  <a:txBody>
                    <a:bodyPr/>
                    <a:lstStyle/>
                    <a:p>
                      <a:pPr algn="ctr"/>
                      <a:r>
                        <a:rPr lang="fr-FR" sz="1400" dirty="0" smtClean="0"/>
                        <a:t>2022</a:t>
                      </a:r>
                      <a:endParaRPr lang="fr-FR" sz="1400" dirty="0"/>
                    </a:p>
                  </a:txBody>
                  <a:tcPr/>
                </a:tc>
                <a:extLst>
                  <a:ext uri="{0D108BD9-81ED-4DB2-BD59-A6C34878D82A}">
                    <a16:rowId xmlns:a16="http://schemas.microsoft.com/office/drawing/2014/main" val="10000"/>
                  </a:ext>
                </a:extLst>
              </a:tr>
              <a:tr h="2044194">
                <a:tc>
                  <a:txBody>
                    <a:bodyPr/>
                    <a:lstStyle/>
                    <a:p>
                      <a:pPr algn="ctr"/>
                      <a:r>
                        <a:rPr lang="fr-FR" sz="1400" dirty="0" smtClean="0"/>
                        <a:t>CA &lt; 7,63 M€</a:t>
                      </a:r>
                      <a:endParaRPr lang="fr-FR" sz="1400" dirty="0"/>
                    </a:p>
                  </a:txBody>
                  <a:tcPr anchor="ctr"/>
                </a:tc>
                <a:tc>
                  <a:txBody>
                    <a:bodyPr/>
                    <a:lstStyle/>
                    <a:p>
                      <a:pPr marL="285750" indent="-285750" algn="l">
                        <a:buFont typeface="Arial" panose="020B0604020202020204" pitchFamily="34" charset="0"/>
                        <a:buChar char="•"/>
                      </a:pPr>
                      <a:r>
                        <a:rPr lang="fr-FR" sz="1200" dirty="0" smtClean="0"/>
                        <a:t>15 % jusqu’à 38,1K€ de RF</a:t>
                      </a:r>
                    </a:p>
                    <a:p>
                      <a:pPr marL="285750" indent="-285750" algn="l">
                        <a:buFont typeface="Arial" panose="020B0604020202020204" pitchFamily="34" charset="0"/>
                        <a:buChar char="•"/>
                      </a:pPr>
                      <a:r>
                        <a:rPr lang="fr-FR" sz="1200" dirty="0" smtClean="0"/>
                        <a:t>28 % entre 38,1 K€ et 75K€ de RF</a:t>
                      </a:r>
                    </a:p>
                    <a:p>
                      <a:pPr marL="285750" indent="-285750" algn="l">
                        <a:buFont typeface="Arial" panose="020B0604020202020204" pitchFamily="34" charset="0"/>
                        <a:buChar char="•"/>
                      </a:pPr>
                      <a:r>
                        <a:rPr lang="fr-FR" sz="1200" dirty="0" smtClean="0"/>
                        <a:t>33 1/3% au -delà</a:t>
                      </a:r>
                    </a:p>
                  </a:txBody>
                  <a:tcPr anchor="ctr"/>
                </a:tc>
                <a:tc>
                  <a:txBody>
                    <a:bodyPr/>
                    <a:lstStyle/>
                    <a:p>
                      <a:pPr marL="285750" indent="-285750" algn="l">
                        <a:buFont typeface="Arial" panose="020B0604020202020204" pitchFamily="34" charset="0"/>
                        <a:buChar char="•"/>
                      </a:pPr>
                      <a:r>
                        <a:rPr lang="fr-FR" sz="1200" dirty="0" smtClean="0"/>
                        <a:t>15 % jusqu’à 38,1K€ de RF</a:t>
                      </a:r>
                    </a:p>
                    <a:p>
                      <a:pPr marL="285750" indent="-285750" algn="l">
                        <a:buFont typeface="Arial" panose="020B0604020202020204" pitchFamily="34" charset="0"/>
                        <a:buChar char="•"/>
                      </a:pPr>
                      <a:r>
                        <a:rPr lang="fr-FR" sz="1200" dirty="0" smtClean="0"/>
                        <a:t>28 % entre 38,1 K€ et 500K€ de RF</a:t>
                      </a:r>
                    </a:p>
                    <a:p>
                      <a:pPr marL="285750" indent="-285750" algn="l">
                        <a:buFont typeface="Arial" panose="020B0604020202020204" pitchFamily="34" charset="0"/>
                        <a:buChar char="•"/>
                      </a:pPr>
                      <a:r>
                        <a:rPr lang="fr-FR" sz="1200" dirty="0" smtClean="0"/>
                        <a:t>33 1/3% au -delà</a:t>
                      </a:r>
                    </a:p>
                  </a:txBody>
                  <a:tcPr anchor="ctr"/>
                </a:tc>
                <a:tc>
                  <a:txBody>
                    <a:bodyPr/>
                    <a:lstStyle/>
                    <a:p>
                      <a:pPr marL="285750" indent="-285750" algn="l">
                        <a:buFont typeface="Arial" panose="020B0604020202020204" pitchFamily="34" charset="0"/>
                        <a:buChar char="•"/>
                      </a:pPr>
                      <a:r>
                        <a:rPr lang="fr-FR" sz="1200" dirty="0" smtClean="0"/>
                        <a:t>15 % jusqu’à 38,1K€ de RF</a:t>
                      </a:r>
                    </a:p>
                    <a:p>
                      <a:pPr marL="285750" indent="-285750" algn="l">
                        <a:buFont typeface="Arial" panose="020B0604020202020204" pitchFamily="34" charset="0"/>
                        <a:buChar char="•"/>
                      </a:pPr>
                      <a:r>
                        <a:rPr lang="fr-FR" sz="1200" dirty="0" smtClean="0"/>
                        <a:t>28 % au-delà</a:t>
                      </a:r>
                    </a:p>
                  </a:txBody>
                  <a:tcPr anchor="ctr"/>
                </a:tc>
                <a:tc>
                  <a:txBody>
                    <a:bodyPr/>
                    <a:lstStyle/>
                    <a:p>
                      <a:pPr marL="285750" indent="-285750" algn="l">
                        <a:buFont typeface="Arial" panose="020B0604020202020204" pitchFamily="34" charset="0"/>
                        <a:buChar char="•"/>
                      </a:pPr>
                      <a:r>
                        <a:rPr lang="fr-FR" sz="1200" dirty="0" smtClean="0"/>
                        <a:t>15 % jusqu’à 38,1K€ de RF</a:t>
                      </a:r>
                    </a:p>
                    <a:p>
                      <a:pPr marL="285750" indent="-285750" algn="l">
                        <a:buFont typeface="Arial" panose="020B0604020202020204" pitchFamily="34" charset="0"/>
                        <a:buChar char="•"/>
                      </a:pPr>
                      <a:r>
                        <a:rPr lang="fr-FR" sz="1200" dirty="0" smtClean="0"/>
                        <a:t>28 % au-delà</a:t>
                      </a:r>
                    </a:p>
                  </a:txBody>
                  <a:tcPr anchor="ctr"/>
                </a:tc>
                <a:tc>
                  <a:txBody>
                    <a:bodyPr/>
                    <a:lstStyle/>
                    <a:p>
                      <a:pPr marL="285750" indent="-285750" algn="l">
                        <a:buFont typeface="Arial" panose="020B0604020202020204" pitchFamily="34" charset="0"/>
                        <a:buChar char="•"/>
                      </a:pPr>
                      <a:r>
                        <a:rPr lang="fr-FR" sz="1200" dirty="0" smtClean="0"/>
                        <a:t>15 % jusqu’à 38,1K€ de RF</a:t>
                      </a:r>
                    </a:p>
                    <a:p>
                      <a:pPr marL="285750" indent="-285750" algn="l">
                        <a:buFont typeface="Arial" panose="020B0604020202020204" pitchFamily="34" charset="0"/>
                        <a:buChar char="•"/>
                      </a:pPr>
                      <a:r>
                        <a:rPr lang="fr-FR" sz="1200" dirty="0" smtClean="0"/>
                        <a:t>26,5 % au-delà</a:t>
                      </a:r>
                    </a:p>
                    <a:p>
                      <a:pPr algn="ctr"/>
                      <a:endParaRPr lang="fr-FR" sz="1200" dirty="0"/>
                    </a:p>
                  </a:txBody>
                  <a:tcPr anchor="ctr"/>
                </a:tc>
                <a:tc>
                  <a:txBody>
                    <a:bodyPr/>
                    <a:lstStyle/>
                    <a:p>
                      <a:pPr marL="285750" indent="-285750" algn="l">
                        <a:buFont typeface="Arial" panose="020B0604020202020204" pitchFamily="34" charset="0"/>
                        <a:buChar char="•"/>
                      </a:pPr>
                      <a:r>
                        <a:rPr lang="fr-FR" sz="1200" b="1" dirty="0" smtClean="0"/>
                        <a:t>15 % </a:t>
                      </a:r>
                      <a:r>
                        <a:rPr lang="fr-FR" sz="1200" dirty="0" smtClean="0"/>
                        <a:t>jusqu’à 38,1K€ de RF</a:t>
                      </a:r>
                    </a:p>
                    <a:p>
                      <a:pPr marL="285750" indent="-285750" algn="l">
                        <a:buFont typeface="Arial" panose="020B0604020202020204" pitchFamily="34" charset="0"/>
                        <a:buChar char="•"/>
                      </a:pPr>
                      <a:r>
                        <a:rPr lang="fr-FR" sz="1200" dirty="0" smtClean="0"/>
                        <a:t>25 % au-delà</a:t>
                      </a:r>
                    </a:p>
                  </a:txBody>
                  <a:tcPr anchor="ctr"/>
                </a:tc>
                <a:extLst>
                  <a:ext uri="{0D108BD9-81ED-4DB2-BD59-A6C34878D82A}">
                    <a16:rowId xmlns:a16="http://schemas.microsoft.com/office/drawing/2014/main" val="10001"/>
                  </a:ext>
                </a:extLst>
              </a:tr>
              <a:tr h="1155414">
                <a:tc>
                  <a:txBody>
                    <a:bodyPr/>
                    <a:lstStyle/>
                    <a:p>
                      <a:pPr algn="ctr"/>
                      <a:r>
                        <a:rPr lang="fr-FR" sz="1400" dirty="0" smtClean="0"/>
                        <a:t>CA entre</a:t>
                      </a:r>
                      <a:r>
                        <a:rPr lang="fr-FR" sz="1400" baseline="0" dirty="0" smtClean="0"/>
                        <a:t> 7,63 M€ et </a:t>
                      </a:r>
                      <a:r>
                        <a:rPr lang="fr-FR" sz="1400" dirty="0" smtClean="0"/>
                        <a:t>50 M€</a:t>
                      </a:r>
                      <a:endParaRPr lang="fr-FR" sz="1400" dirty="0"/>
                    </a:p>
                  </a:txBody>
                  <a:tcPr anchor="ctr"/>
                </a:tc>
                <a:tc>
                  <a:txBody>
                    <a:bodyPr/>
                    <a:lstStyle/>
                    <a:p>
                      <a:pPr marL="285750" indent="-285750" algn="l">
                        <a:buFont typeface="Arial" panose="020B0604020202020204" pitchFamily="34" charset="0"/>
                        <a:buChar char="•"/>
                      </a:pPr>
                      <a:r>
                        <a:rPr lang="fr-FR" sz="1200" dirty="0" smtClean="0"/>
                        <a:t>28 % jusqu’à 75K€ de RF</a:t>
                      </a:r>
                    </a:p>
                    <a:p>
                      <a:pPr marL="285750" indent="-285750" algn="l">
                        <a:buFont typeface="Arial" panose="020B0604020202020204" pitchFamily="34" charset="0"/>
                        <a:buChar char="•"/>
                      </a:pPr>
                      <a:r>
                        <a:rPr lang="fr-FR" sz="1200" dirty="0" smtClean="0"/>
                        <a:t>33 1/3% au -delà</a:t>
                      </a:r>
                    </a:p>
                  </a:txBody>
                  <a:tcPr anchor="ctr"/>
                </a:tc>
                <a:tc>
                  <a:txBody>
                    <a:bodyPr/>
                    <a:lstStyle/>
                    <a:p>
                      <a:pPr marL="285750" indent="-285750" algn="l">
                        <a:buFont typeface="Arial" panose="020B0604020202020204" pitchFamily="34" charset="0"/>
                        <a:buChar char="•"/>
                      </a:pPr>
                      <a:r>
                        <a:rPr lang="fr-FR" sz="1200" dirty="0" smtClean="0"/>
                        <a:t>28 % jusqu’à 500K€ de RF</a:t>
                      </a:r>
                    </a:p>
                    <a:p>
                      <a:pPr marL="285750" indent="-285750" algn="l">
                        <a:buFont typeface="Arial" panose="020B0604020202020204" pitchFamily="34" charset="0"/>
                        <a:buChar char="•"/>
                      </a:pPr>
                      <a:r>
                        <a:rPr lang="fr-FR" sz="1200" dirty="0" smtClean="0"/>
                        <a:t>33 1/3 % au-delà</a:t>
                      </a:r>
                    </a:p>
                  </a:txBody>
                  <a:tcPr anchor="ctr"/>
                </a:tc>
                <a:tc>
                  <a:txBody>
                    <a:bodyPr/>
                    <a:lstStyle/>
                    <a:p>
                      <a:pPr marL="285750" indent="-285750" algn="l">
                        <a:buFont typeface="Arial" panose="020B0604020202020204" pitchFamily="34" charset="0"/>
                        <a:buChar char="•"/>
                      </a:pPr>
                      <a:r>
                        <a:rPr lang="fr-FR" sz="1200" dirty="0" smtClean="0"/>
                        <a:t>15 % jusqu’à 38,1K€ de RF</a:t>
                      </a:r>
                    </a:p>
                    <a:p>
                      <a:pPr marL="285750" indent="-285750" algn="l">
                        <a:buFont typeface="Arial" panose="020B0604020202020204" pitchFamily="34" charset="0"/>
                        <a:buChar char="•"/>
                      </a:pPr>
                      <a:r>
                        <a:rPr lang="fr-FR" sz="1200" dirty="0" smtClean="0"/>
                        <a:t>28 % au-delà</a:t>
                      </a:r>
                    </a:p>
                  </a:txBody>
                  <a:tcPr anchor="ctr"/>
                </a:tc>
                <a:tc>
                  <a:txBody>
                    <a:bodyPr/>
                    <a:lstStyle/>
                    <a:p>
                      <a:pPr marL="285750" indent="-285750" algn="l">
                        <a:buFont typeface="Arial" panose="020B0604020202020204" pitchFamily="34" charset="0"/>
                        <a:buChar char="•"/>
                      </a:pPr>
                      <a:r>
                        <a:rPr lang="fr-FR" sz="1200" dirty="0" smtClean="0"/>
                        <a:t>15 % jusqu’à 38,1K€ de RF</a:t>
                      </a:r>
                    </a:p>
                    <a:p>
                      <a:pPr marL="285750" indent="-285750" algn="l">
                        <a:buFont typeface="Arial" panose="020B0604020202020204" pitchFamily="34" charset="0"/>
                        <a:buChar char="•"/>
                      </a:pPr>
                      <a:r>
                        <a:rPr lang="fr-FR" sz="1200" dirty="0" smtClean="0"/>
                        <a:t>28 % au-delà</a:t>
                      </a:r>
                    </a:p>
                  </a:txBody>
                  <a:tcPr anchor="ctr"/>
                </a:tc>
                <a:tc>
                  <a:txBody>
                    <a:bodyPr/>
                    <a:lstStyle/>
                    <a:p>
                      <a:pPr marL="285750" indent="-285750" algn="l">
                        <a:buFont typeface="Arial" panose="020B0604020202020204" pitchFamily="34" charset="0"/>
                        <a:buChar char="•"/>
                      </a:pPr>
                      <a:r>
                        <a:rPr lang="fr-FR" sz="1200" dirty="0" smtClean="0"/>
                        <a:t>15 % jusqu’à 38,1K€ de RF</a:t>
                      </a:r>
                    </a:p>
                    <a:p>
                      <a:pPr marL="285750" indent="-285750" algn="l">
                        <a:buFont typeface="Arial" panose="020B0604020202020204" pitchFamily="34" charset="0"/>
                        <a:buChar char="•"/>
                      </a:pPr>
                      <a:r>
                        <a:rPr lang="fr-FR" sz="1200" dirty="0" smtClean="0"/>
                        <a:t>26,5 % au-delà</a:t>
                      </a:r>
                    </a:p>
                  </a:txBody>
                  <a:tcPr anchor="ctr"/>
                </a:tc>
                <a:tc>
                  <a:txBody>
                    <a:bodyPr/>
                    <a:lstStyle/>
                    <a:p>
                      <a:pPr marL="285750" indent="-285750" algn="l">
                        <a:buFont typeface="Arial" panose="020B0604020202020204" pitchFamily="34" charset="0"/>
                        <a:buChar char="•"/>
                      </a:pPr>
                      <a:r>
                        <a:rPr lang="fr-FR" sz="1200" b="1" dirty="0" smtClean="0"/>
                        <a:t>15 % </a:t>
                      </a:r>
                      <a:r>
                        <a:rPr lang="fr-FR" sz="1200" dirty="0" smtClean="0"/>
                        <a:t>jusqu’à 38,1K€ de RF</a:t>
                      </a:r>
                    </a:p>
                    <a:p>
                      <a:pPr marL="285750" indent="-285750" algn="l">
                        <a:buFont typeface="Arial" panose="020B0604020202020204" pitchFamily="34" charset="0"/>
                        <a:buChar char="•"/>
                      </a:pPr>
                      <a:r>
                        <a:rPr lang="fr-FR" sz="1200" dirty="0" smtClean="0"/>
                        <a:t>25 % au-delà</a:t>
                      </a:r>
                    </a:p>
                  </a:txBody>
                  <a:tcPr anchor="ctr"/>
                </a:tc>
                <a:extLst>
                  <a:ext uri="{0D108BD9-81ED-4DB2-BD59-A6C34878D82A}">
                    <a16:rowId xmlns:a16="http://schemas.microsoft.com/office/drawing/2014/main" val="10002"/>
                  </a:ext>
                </a:extLst>
              </a:tr>
              <a:tr h="799902">
                <a:tc>
                  <a:txBody>
                    <a:bodyPr/>
                    <a:lstStyle/>
                    <a:p>
                      <a:pPr algn="ctr"/>
                      <a:r>
                        <a:rPr lang="fr-FR" sz="1400" dirty="0" smtClean="0"/>
                        <a:t>CA entre 50 M€ et 1 Md€</a:t>
                      </a:r>
                      <a:endParaRPr lang="fr-FR" sz="1400" dirty="0"/>
                    </a:p>
                  </a:txBody>
                  <a:tcPr anchor="ctr"/>
                </a:tc>
                <a:tc>
                  <a:txBody>
                    <a:bodyPr/>
                    <a:lstStyle/>
                    <a:p>
                      <a:pPr algn="ctr"/>
                      <a:r>
                        <a:rPr lang="fr-FR" sz="1200" dirty="0" smtClean="0"/>
                        <a:t>33 1/3 %</a:t>
                      </a:r>
                      <a:endParaRPr lang="fr-FR" sz="1200" dirty="0"/>
                    </a:p>
                  </a:txBody>
                  <a:tcPr anchor="ctr"/>
                </a:tc>
                <a:tc>
                  <a:txBody>
                    <a:bodyPr/>
                    <a:lstStyle/>
                    <a:p>
                      <a:pPr marL="285750" indent="-285750" algn="l">
                        <a:buFont typeface="Arial" panose="020B0604020202020204" pitchFamily="34" charset="0"/>
                        <a:buChar char="•"/>
                      </a:pPr>
                      <a:r>
                        <a:rPr lang="fr-FR" sz="1200" dirty="0" smtClean="0"/>
                        <a:t>28 % jusqu’à 500K€ de RF</a:t>
                      </a:r>
                    </a:p>
                    <a:p>
                      <a:pPr marL="285750" indent="-285750" algn="l">
                        <a:buFont typeface="Arial" panose="020B0604020202020204" pitchFamily="34" charset="0"/>
                        <a:buChar char="•"/>
                      </a:pPr>
                      <a:r>
                        <a:rPr lang="fr-FR" sz="1200" dirty="0" smtClean="0"/>
                        <a:t>33 1/3 % au-delà</a:t>
                      </a:r>
                      <a:endParaRPr lang="fr-FR" sz="1200" dirty="0"/>
                    </a:p>
                  </a:txBody>
                  <a:tcPr anchor="ctr"/>
                </a:tc>
                <a:tc>
                  <a:txBody>
                    <a:bodyPr/>
                    <a:lstStyle/>
                    <a:p>
                      <a:pPr algn="ctr"/>
                      <a:r>
                        <a:rPr lang="fr-FR" sz="1200" dirty="0" smtClean="0"/>
                        <a:t>28 %</a:t>
                      </a:r>
                      <a:endParaRPr lang="fr-FR" sz="1200" dirty="0"/>
                    </a:p>
                  </a:txBody>
                  <a:tcPr anchor="ctr"/>
                </a:tc>
                <a:tc>
                  <a:txBody>
                    <a:bodyPr/>
                    <a:lstStyle/>
                    <a:p>
                      <a:pPr algn="ctr"/>
                      <a:r>
                        <a:rPr lang="fr-FR" sz="1200" dirty="0" smtClean="0"/>
                        <a:t>28 %</a:t>
                      </a:r>
                      <a:endParaRPr lang="fr-FR" sz="1200" dirty="0"/>
                    </a:p>
                  </a:txBody>
                  <a:tcPr anchor="ctr"/>
                </a:tc>
                <a:tc>
                  <a:txBody>
                    <a:bodyPr/>
                    <a:lstStyle/>
                    <a:p>
                      <a:pPr algn="ctr"/>
                      <a:r>
                        <a:rPr lang="fr-FR" sz="1200" dirty="0" smtClean="0"/>
                        <a:t>26,5 %</a:t>
                      </a:r>
                      <a:endParaRPr lang="fr-FR" sz="1200" dirty="0"/>
                    </a:p>
                  </a:txBody>
                  <a:tcPr anchor="ctr"/>
                </a:tc>
                <a:tc>
                  <a:txBody>
                    <a:bodyPr/>
                    <a:lstStyle/>
                    <a:p>
                      <a:pPr algn="ctr"/>
                      <a:r>
                        <a:rPr lang="fr-FR" sz="1200" b="1" dirty="0" smtClean="0"/>
                        <a:t>25 %</a:t>
                      </a:r>
                      <a:endParaRPr lang="fr-FR" sz="1200" b="1" dirty="0"/>
                    </a:p>
                  </a:txBody>
                  <a:tcPr anchor="ctr"/>
                </a:tc>
                <a:extLst>
                  <a:ext uri="{0D108BD9-81ED-4DB2-BD59-A6C34878D82A}">
                    <a16:rowId xmlns:a16="http://schemas.microsoft.com/office/drawing/2014/main" val="10003"/>
                  </a:ext>
                </a:extLst>
              </a:tr>
              <a:tr h="879837">
                <a:tc>
                  <a:txBody>
                    <a:bodyPr/>
                    <a:lstStyle/>
                    <a:p>
                      <a:pPr algn="ctr"/>
                      <a:r>
                        <a:rPr lang="fr-FR" sz="1400" dirty="0" smtClean="0"/>
                        <a:t>CA &gt; 1 Md€</a:t>
                      </a:r>
                      <a:endParaRPr lang="fr-FR" sz="14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200" dirty="0" smtClean="0"/>
                        <a:t>33 1/3 %</a:t>
                      </a:r>
                    </a:p>
                  </a:txBody>
                  <a:tcPr anchor="ctr"/>
                </a:tc>
                <a:tc>
                  <a:txBody>
                    <a:bodyPr/>
                    <a:lstStyle/>
                    <a:p>
                      <a:pPr marL="285750" indent="-285750" algn="l">
                        <a:buFont typeface="Arial" panose="020B0604020202020204" pitchFamily="34" charset="0"/>
                        <a:buChar char="•"/>
                      </a:pPr>
                      <a:r>
                        <a:rPr lang="fr-FR" sz="1200" dirty="0" smtClean="0"/>
                        <a:t>28 % jusqu’à 500</a:t>
                      </a:r>
                      <a:r>
                        <a:rPr lang="fr-FR" sz="1200" baseline="0" dirty="0" smtClean="0"/>
                        <a:t> </a:t>
                      </a:r>
                      <a:r>
                        <a:rPr lang="fr-FR" sz="1200" dirty="0" smtClean="0"/>
                        <a:t>K€ de RF</a:t>
                      </a:r>
                    </a:p>
                    <a:p>
                      <a:pPr marL="285750" indent="-285750" algn="l">
                        <a:buFont typeface="Arial" panose="020B0604020202020204" pitchFamily="34" charset="0"/>
                        <a:buChar char="•"/>
                      </a:pPr>
                      <a:r>
                        <a:rPr lang="fr-FR" sz="1200" dirty="0" smtClean="0"/>
                        <a:t>33 1/3 % au-delà</a:t>
                      </a:r>
                      <a:endParaRPr lang="fr-FR" sz="1200" dirty="0"/>
                    </a:p>
                  </a:txBody>
                  <a:tcPr anchor="ctr"/>
                </a:tc>
                <a:tc>
                  <a:txBody>
                    <a:bodyPr/>
                    <a:lstStyle/>
                    <a:p>
                      <a:pPr marL="285750" indent="-285750" algn="l">
                        <a:buFont typeface="Arial" panose="020B0604020202020204" pitchFamily="34" charset="0"/>
                        <a:buChar char="•"/>
                      </a:pPr>
                      <a:r>
                        <a:rPr lang="fr-FR" sz="1200" dirty="0" smtClean="0"/>
                        <a:t>28 % jusqu’à 500</a:t>
                      </a:r>
                      <a:r>
                        <a:rPr lang="fr-FR" sz="1200" baseline="0" dirty="0" smtClean="0"/>
                        <a:t>K</a:t>
                      </a:r>
                      <a:r>
                        <a:rPr lang="fr-FR" sz="1200" dirty="0" smtClean="0"/>
                        <a:t>€ de</a:t>
                      </a:r>
                      <a:r>
                        <a:rPr lang="fr-FR" sz="1200" baseline="0" dirty="0" smtClean="0"/>
                        <a:t> RF</a:t>
                      </a:r>
                      <a:endParaRPr lang="fr-FR" sz="1200" dirty="0" smtClean="0"/>
                    </a:p>
                    <a:p>
                      <a:pPr marL="285750" indent="-285750" algn="ctr">
                        <a:buFont typeface="Arial" panose="020B0604020202020204" pitchFamily="34" charset="0"/>
                        <a:buChar char="•"/>
                      </a:pPr>
                      <a:r>
                        <a:rPr lang="fr-FR" sz="1200" dirty="0" smtClean="0"/>
                        <a:t>33 1/3 % au-delà</a:t>
                      </a:r>
                    </a:p>
                  </a:txBody>
                  <a:tcPr anchor="ctr"/>
                </a:tc>
                <a:tc>
                  <a:txBody>
                    <a:bodyPr/>
                    <a:lstStyle/>
                    <a:p>
                      <a:pPr algn="ctr"/>
                      <a:r>
                        <a:rPr lang="fr-FR" sz="1200" dirty="0" smtClean="0"/>
                        <a:t>28 %</a:t>
                      </a:r>
                      <a:endParaRPr lang="fr-FR" sz="1200" dirty="0"/>
                    </a:p>
                  </a:txBody>
                  <a:tcPr anchor="ctr"/>
                </a:tc>
                <a:tc>
                  <a:txBody>
                    <a:bodyPr/>
                    <a:lstStyle/>
                    <a:p>
                      <a:pPr algn="ctr"/>
                      <a:r>
                        <a:rPr lang="fr-FR" sz="1200" dirty="0" smtClean="0"/>
                        <a:t>26,5 %</a:t>
                      </a:r>
                      <a:endParaRPr lang="fr-FR" sz="1200" dirty="0"/>
                    </a:p>
                  </a:txBody>
                  <a:tcPr anchor="ctr"/>
                </a:tc>
                <a:tc>
                  <a:txBody>
                    <a:bodyPr/>
                    <a:lstStyle/>
                    <a:p>
                      <a:pPr algn="ctr"/>
                      <a:r>
                        <a:rPr lang="fr-FR" sz="1200" b="1" dirty="0" smtClean="0"/>
                        <a:t>25 %</a:t>
                      </a:r>
                      <a:endParaRPr lang="fr-FR" sz="1200" b="1" dirty="0"/>
                    </a:p>
                  </a:txBody>
                  <a:tcPr anchor="ctr"/>
                </a:tc>
                <a:extLst>
                  <a:ext uri="{0D108BD9-81ED-4DB2-BD59-A6C34878D82A}">
                    <a16:rowId xmlns:a16="http://schemas.microsoft.com/office/drawing/2014/main" val="10004"/>
                  </a:ext>
                </a:extLst>
              </a:tr>
            </a:tbl>
          </a:graphicData>
        </a:graphic>
      </p:graphicFrame>
      <p:sp>
        <p:nvSpPr>
          <p:cNvPr id="8" name="ZoneTexte 7"/>
          <p:cNvSpPr txBox="1"/>
          <p:nvPr/>
        </p:nvSpPr>
        <p:spPr>
          <a:xfrm>
            <a:off x="172457" y="6488668"/>
            <a:ext cx="2160240" cy="369332"/>
          </a:xfrm>
          <a:prstGeom prst="rect">
            <a:avLst/>
          </a:prstGeom>
          <a:noFill/>
        </p:spPr>
        <p:txBody>
          <a:bodyPr wrap="square" rtlCol="0">
            <a:spAutoFit/>
          </a:bodyPr>
          <a:lstStyle/>
          <a:p>
            <a:r>
              <a:rPr lang="fr-FR" dirty="0" smtClean="0"/>
              <a:t>RF : résultat fiscal</a:t>
            </a:r>
            <a:endParaRPr lang="fr-FR" dirty="0"/>
          </a:p>
        </p:txBody>
      </p:sp>
    </p:spTree>
    <p:extLst>
      <p:ext uri="{BB962C8B-B14F-4D97-AF65-F5344CB8AC3E}">
        <p14:creationId xmlns:p14="http://schemas.microsoft.com/office/powerpoint/2010/main" val="10567410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387287"/>
            <a:ext cx="6912768" cy="990600"/>
          </a:xfrm>
        </p:spPr>
        <p:txBody>
          <a:bodyPr>
            <a:noAutofit/>
          </a:bodyPr>
          <a:lstStyle/>
          <a:p>
            <a:r>
              <a:rPr lang="fr-FR" sz="2400" b="1" dirty="0" smtClean="0"/>
              <a:t>Grands groupes : </a:t>
            </a:r>
            <a:br>
              <a:rPr lang="fr-FR" sz="2400" b="1" dirty="0" smtClean="0"/>
            </a:br>
            <a:r>
              <a:rPr lang="fr-FR" sz="2400" b="1" dirty="0" smtClean="0"/>
              <a:t>2 nouvelles contributions exceptionnelles</a:t>
            </a:r>
            <a:endParaRPr lang="fr-FR" sz="2400" b="1" dirty="0"/>
          </a:p>
        </p:txBody>
      </p:sp>
      <p:sp>
        <p:nvSpPr>
          <p:cNvPr id="3" name="Espace réservé du contenu 2"/>
          <p:cNvSpPr>
            <a:spLocks noGrp="1"/>
          </p:cNvSpPr>
          <p:nvPr>
            <p:ph idx="1"/>
          </p:nvPr>
        </p:nvSpPr>
        <p:spPr/>
        <p:txBody>
          <a:bodyPr>
            <a:normAutofit fontScale="92500" lnSpcReduction="10000"/>
          </a:bodyPr>
          <a:lstStyle/>
          <a:p>
            <a:pPr algn="just"/>
            <a:r>
              <a:rPr lang="fr-FR" sz="2000" dirty="0" smtClean="0"/>
              <a:t>Le Conseil Constitutionnel a invalidé fin 2017 la </a:t>
            </a:r>
            <a:r>
              <a:rPr lang="fr-FR" sz="2000" dirty="0"/>
              <a:t>taxe sur les dividendes de 3 </a:t>
            </a:r>
            <a:r>
              <a:rPr lang="fr-FR" sz="2000" dirty="0" smtClean="0"/>
              <a:t>% mise en place en 2012 =&gt; remboursement de 10 milliards d’€ à prévoir pour l’</a:t>
            </a:r>
            <a:r>
              <a:rPr lang="fr-FR" sz="2000" dirty="0" err="1" smtClean="0"/>
              <a:t>Etat</a:t>
            </a:r>
            <a:r>
              <a:rPr lang="fr-FR" sz="2000" dirty="0" smtClean="0"/>
              <a:t>.</a:t>
            </a:r>
          </a:p>
          <a:p>
            <a:pPr marL="0" indent="0" algn="just">
              <a:buNone/>
            </a:pPr>
            <a:endParaRPr lang="fr-FR" sz="2000" dirty="0"/>
          </a:p>
          <a:p>
            <a:r>
              <a:rPr lang="fr-FR" sz="2000" dirty="0" smtClean="0"/>
              <a:t>Création de 2 </a:t>
            </a:r>
            <a:r>
              <a:rPr lang="fr-FR" sz="2000" b="1" dirty="0" smtClean="0"/>
              <a:t>contributions temporaires sur l’IS </a:t>
            </a:r>
            <a:br>
              <a:rPr lang="fr-FR" sz="2000" b="1" dirty="0" smtClean="0"/>
            </a:br>
            <a:r>
              <a:rPr lang="fr-FR" sz="2000" b="1" dirty="0" smtClean="0"/>
              <a:t>(concerne 320 entreprises) </a:t>
            </a:r>
            <a:r>
              <a:rPr lang="fr-FR" dirty="0" smtClean="0"/>
              <a:t>:  </a:t>
            </a:r>
            <a:br>
              <a:rPr lang="fr-FR" dirty="0" smtClean="0"/>
            </a:br>
            <a:r>
              <a:rPr lang="fr-FR" sz="1800" i="1" dirty="0" smtClean="0"/>
              <a:t>pour les exercices clos du 31/12/2017 au 30/12/2018</a:t>
            </a:r>
          </a:p>
          <a:p>
            <a:pPr algn="just"/>
            <a:endParaRPr lang="fr-FR" dirty="0"/>
          </a:p>
          <a:p>
            <a:pPr lvl="1" algn="just"/>
            <a:r>
              <a:rPr lang="fr-FR" dirty="0" smtClean="0"/>
              <a:t>CA &gt; 1 milliard d’euros – Contribution d’IS = 15% de l’IS dû</a:t>
            </a:r>
            <a:br>
              <a:rPr lang="fr-FR" dirty="0" smtClean="0"/>
            </a:br>
            <a:endParaRPr lang="fr-FR" dirty="0" smtClean="0"/>
          </a:p>
          <a:p>
            <a:pPr lvl="1" algn="just"/>
            <a:r>
              <a:rPr lang="fr-FR" dirty="0" smtClean="0"/>
              <a:t>CA &gt; 3 milliards d’euros – contribution supplémentaire d’IS = 15%</a:t>
            </a:r>
          </a:p>
          <a:p>
            <a:pPr marL="274320" lvl="1" indent="0" algn="just">
              <a:buNone/>
            </a:pPr>
            <a:r>
              <a:rPr lang="fr-FR" dirty="0" smtClean="0"/>
              <a:t>   (110 entreprises concernées) </a:t>
            </a:r>
          </a:p>
          <a:p>
            <a:pPr lvl="1" algn="just"/>
            <a:endParaRPr lang="fr-FR" dirty="0"/>
          </a:p>
          <a:p>
            <a:pPr marL="274320" lvl="1" indent="0">
              <a:buNone/>
            </a:pPr>
            <a:r>
              <a:rPr lang="fr-FR" dirty="0" smtClean="0"/>
              <a:t>=&gt; acomptes </a:t>
            </a:r>
            <a:r>
              <a:rPr lang="fr-FR" dirty="0"/>
              <a:t>de 95% à régler avec le dernier acompte </a:t>
            </a:r>
            <a:r>
              <a:rPr lang="fr-FR" dirty="0" smtClean="0"/>
              <a:t>d’IS </a:t>
            </a:r>
            <a:br>
              <a:rPr lang="fr-FR" dirty="0" smtClean="0"/>
            </a:br>
            <a:r>
              <a:rPr lang="fr-FR" dirty="0" smtClean="0"/>
              <a:t>(sur décembre 2017)</a:t>
            </a:r>
            <a:r>
              <a:rPr lang="fr-FR" dirty="0"/>
              <a:t/>
            </a:r>
            <a:br>
              <a:rPr lang="fr-FR" dirty="0"/>
            </a:br>
            <a:endParaRPr lang="fr-FR" dirty="0" smtClean="0"/>
          </a:p>
          <a:p>
            <a:pPr algn="just"/>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11</a:t>
            </a:fld>
            <a:endParaRPr lang="fr-FR" dirty="0"/>
          </a:p>
        </p:txBody>
      </p:sp>
      <p:sp>
        <p:nvSpPr>
          <p:cNvPr id="5" name="Espace réservé du contenu 3"/>
          <p:cNvSpPr txBox="1">
            <a:spLocks/>
          </p:cNvSpPr>
          <p:nvPr/>
        </p:nvSpPr>
        <p:spPr>
          <a:xfrm>
            <a:off x="6948264" y="404664"/>
            <a:ext cx="2088232" cy="648072"/>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2000" b="1" i="0" u="none" strike="noStrike" kern="1200" cap="none" spc="0" normalizeH="0" baseline="0" noProof="0" dirty="0" smtClean="0">
                <a:ln>
                  <a:noFill/>
                </a:ln>
                <a:solidFill>
                  <a:schemeClr val="accent3">
                    <a:lumMod val="75000"/>
                  </a:schemeClr>
                </a:solidFill>
                <a:effectLst/>
                <a:uLnTx/>
                <a:uFillTx/>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p:spTree>
    <p:extLst>
      <p:ext uri="{BB962C8B-B14F-4D97-AF65-F5344CB8AC3E}">
        <p14:creationId xmlns:p14="http://schemas.microsoft.com/office/powerpoint/2010/main" val="1574841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476672"/>
            <a:ext cx="8229600" cy="990600"/>
          </a:xfrm>
        </p:spPr>
        <p:txBody>
          <a:bodyPr>
            <a:noAutofit/>
          </a:bodyPr>
          <a:lstStyle/>
          <a:p>
            <a:r>
              <a:rPr lang="fr-FR" sz="2400" b="1" dirty="0" smtClean="0"/>
              <a:t>Un acompte de C3S crée pour les grandes sociétés</a:t>
            </a:r>
            <a:endParaRPr lang="fr-FR" sz="2400" b="1" dirty="0"/>
          </a:p>
        </p:txBody>
      </p:sp>
      <p:sp>
        <p:nvSpPr>
          <p:cNvPr id="3" name="Espace réservé du contenu 2"/>
          <p:cNvSpPr>
            <a:spLocks noGrp="1"/>
          </p:cNvSpPr>
          <p:nvPr>
            <p:ph idx="1"/>
          </p:nvPr>
        </p:nvSpPr>
        <p:spPr>
          <a:xfrm>
            <a:off x="457200" y="1600200"/>
            <a:ext cx="8229600" cy="1108720"/>
          </a:xfrm>
        </p:spPr>
        <p:txBody>
          <a:bodyPr>
            <a:noAutofit/>
          </a:bodyPr>
          <a:lstStyle/>
          <a:p>
            <a:pPr algn="just"/>
            <a:r>
              <a:rPr lang="fr-FR" sz="1800" dirty="0" smtClean="0"/>
              <a:t>CA HT réalisé en N-1 &gt; 1 Mrds d’€ (par entreprise)</a:t>
            </a:r>
            <a:endParaRPr lang="fr-FR" sz="1800" dirty="0"/>
          </a:p>
          <a:p>
            <a:pPr algn="just"/>
            <a:endParaRPr lang="fr-FR" sz="1200" dirty="0" smtClean="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12</a:t>
            </a:fld>
            <a:endParaRPr lang="fr-FR" dirty="0"/>
          </a:p>
        </p:txBody>
      </p:sp>
      <p:sp>
        <p:nvSpPr>
          <p:cNvPr id="5" name="Espace réservé du contenu 3"/>
          <p:cNvSpPr txBox="1">
            <a:spLocks/>
          </p:cNvSpPr>
          <p:nvPr/>
        </p:nvSpPr>
        <p:spPr>
          <a:xfrm>
            <a:off x="6948264" y="404664"/>
            <a:ext cx="2016224" cy="576064"/>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2000" b="1" i="0" u="none" strike="noStrike" kern="1200" cap="none" spc="0" normalizeH="0" baseline="0" noProof="0" dirty="0" smtClean="0">
                <a:ln>
                  <a:noFill/>
                </a:ln>
                <a:solidFill>
                  <a:schemeClr val="accent3">
                    <a:lumMod val="75000"/>
                  </a:schemeClr>
                </a:solidFill>
                <a:effectLst/>
                <a:uLnTx/>
                <a:uFillTx/>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p:graphicFrame>
        <p:nvGraphicFramePr>
          <p:cNvPr id="6" name="Tableau 5"/>
          <p:cNvGraphicFramePr>
            <a:graphicFrameLocks noGrp="1"/>
          </p:cNvGraphicFramePr>
          <p:nvPr>
            <p:extLst>
              <p:ext uri="{D42A27DB-BD31-4B8C-83A1-F6EECF244321}">
                <p14:modId xmlns:p14="http://schemas.microsoft.com/office/powerpoint/2010/main" val="3369954778"/>
              </p:ext>
            </p:extLst>
          </p:nvPr>
        </p:nvGraphicFramePr>
        <p:xfrm>
          <a:off x="1187624" y="2132856"/>
          <a:ext cx="6696744" cy="2936240"/>
        </p:xfrm>
        <a:graphic>
          <a:graphicData uri="http://schemas.openxmlformats.org/drawingml/2006/table">
            <a:tbl>
              <a:tblPr firstRow="1" bandRow="1">
                <a:tableStyleId>{5C22544A-7EE6-4342-B048-85BDC9FD1C3A}</a:tableStyleId>
              </a:tblPr>
              <a:tblGrid>
                <a:gridCol w="2232248">
                  <a:extLst>
                    <a:ext uri="{9D8B030D-6E8A-4147-A177-3AD203B41FA5}">
                      <a16:colId xmlns:a16="http://schemas.microsoft.com/office/drawing/2014/main" val="20000"/>
                    </a:ext>
                  </a:extLst>
                </a:gridCol>
                <a:gridCol w="2232248">
                  <a:extLst>
                    <a:ext uri="{9D8B030D-6E8A-4147-A177-3AD203B41FA5}">
                      <a16:colId xmlns:a16="http://schemas.microsoft.com/office/drawing/2014/main" val="20001"/>
                    </a:ext>
                  </a:extLst>
                </a:gridCol>
                <a:gridCol w="2232248">
                  <a:extLst>
                    <a:ext uri="{9D8B030D-6E8A-4147-A177-3AD203B41FA5}">
                      <a16:colId xmlns:a16="http://schemas.microsoft.com/office/drawing/2014/main" val="20002"/>
                    </a:ext>
                  </a:extLst>
                </a:gridCol>
              </a:tblGrid>
              <a:tr h="370840">
                <a:tc>
                  <a:txBody>
                    <a:bodyPr/>
                    <a:lstStyle/>
                    <a:p>
                      <a:endParaRPr lang="fr-FR" dirty="0"/>
                    </a:p>
                  </a:txBody>
                  <a:tcPr/>
                </a:tc>
                <a:tc>
                  <a:txBody>
                    <a:bodyPr/>
                    <a:lstStyle/>
                    <a:p>
                      <a:pPr algn="ctr"/>
                      <a:r>
                        <a:rPr lang="fr-FR" dirty="0" smtClean="0"/>
                        <a:t>C3S</a:t>
                      </a:r>
                      <a:endParaRPr lang="fr-FR" dirty="0"/>
                    </a:p>
                  </a:txBody>
                  <a:tcPr/>
                </a:tc>
                <a:tc>
                  <a:txBody>
                    <a:bodyPr/>
                    <a:lstStyle/>
                    <a:p>
                      <a:pPr algn="ctr"/>
                      <a:r>
                        <a:rPr lang="fr-FR" dirty="0" smtClean="0"/>
                        <a:t>Contribution supplémentaire à la C3S</a:t>
                      </a:r>
                      <a:endParaRPr lang="fr-FR" dirty="0"/>
                    </a:p>
                  </a:txBody>
                  <a:tcPr/>
                </a:tc>
                <a:extLst>
                  <a:ext uri="{0D108BD9-81ED-4DB2-BD59-A6C34878D82A}">
                    <a16:rowId xmlns:a16="http://schemas.microsoft.com/office/drawing/2014/main" val="10000"/>
                  </a:ext>
                </a:extLst>
              </a:tr>
              <a:tr h="370840">
                <a:tc>
                  <a:txBody>
                    <a:bodyPr/>
                    <a:lstStyle/>
                    <a:p>
                      <a:r>
                        <a:rPr lang="fr-FR" dirty="0" smtClean="0"/>
                        <a:t>Assiette</a:t>
                      </a:r>
                      <a:endParaRPr lang="fr-FR" dirty="0"/>
                    </a:p>
                  </a:txBody>
                  <a:tcPr/>
                </a:tc>
                <a:tc>
                  <a:txBody>
                    <a:bodyPr/>
                    <a:lstStyle/>
                    <a:p>
                      <a:pPr algn="ctr"/>
                      <a:r>
                        <a:rPr lang="fr-FR" dirty="0" smtClean="0"/>
                        <a:t>CA de l’année N</a:t>
                      </a:r>
                      <a:endParaRPr lang="fr-FR"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dirty="0" smtClean="0"/>
                        <a:t>CA de l’année N</a:t>
                      </a:r>
                    </a:p>
                    <a:p>
                      <a:pPr algn="ctr"/>
                      <a:endParaRPr lang="fr-FR" dirty="0"/>
                    </a:p>
                  </a:txBody>
                  <a:tcPr/>
                </a:tc>
                <a:extLst>
                  <a:ext uri="{0D108BD9-81ED-4DB2-BD59-A6C34878D82A}">
                    <a16:rowId xmlns:a16="http://schemas.microsoft.com/office/drawing/2014/main" val="10001"/>
                  </a:ext>
                </a:extLst>
              </a:tr>
              <a:tr h="370840">
                <a:tc>
                  <a:txBody>
                    <a:bodyPr/>
                    <a:lstStyle/>
                    <a:p>
                      <a:r>
                        <a:rPr lang="fr-FR" dirty="0" smtClean="0"/>
                        <a:t>Taux</a:t>
                      </a:r>
                      <a:endParaRPr lang="fr-FR" dirty="0"/>
                    </a:p>
                  </a:txBody>
                  <a:tcPr/>
                </a:tc>
                <a:tc>
                  <a:txBody>
                    <a:bodyPr/>
                    <a:lstStyle/>
                    <a:p>
                      <a:pPr algn="ctr"/>
                      <a:r>
                        <a:rPr lang="fr-FR" dirty="0" smtClean="0"/>
                        <a:t>0,16%</a:t>
                      </a:r>
                      <a:endParaRPr lang="fr-FR" dirty="0"/>
                    </a:p>
                  </a:txBody>
                  <a:tcPr/>
                </a:tc>
                <a:tc>
                  <a:txBody>
                    <a:bodyPr/>
                    <a:lstStyle/>
                    <a:p>
                      <a:pPr algn="ctr"/>
                      <a:r>
                        <a:rPr lang="fr-FR" dirty="0" smtClean="0"/>
                        <a:t>0,04% </a:t>
                      </a:r>
                      <a:br>
                        <a:rPr lang="fr-FR" dirty="0" smtClean="0"/>
                      </a:br>
                      <a:r>
                        <a:rPr lang="fr-FR" dirty="0" smtClean="0"/>
                        <a:t>(25% de la C3S)</a:t>
                      </a:r>
                      <a:endParaRPr lang="fr-FR" dirty="0"/>
                    </a:p>
                  </a:txBody>
                  <a:tcPr/>
                </a:tc>
                <a:extLst>
                  <a:ext uri="{0D108BD9-81ED-4DB2-BD59-A6C34878D82A}">
                    <a16:rowId xmlns:a16="http://schemas.microsoft.com/office/drawing/2014/main" val="10002"/>
                  </a:ext>
                </a:extLst>
              </a:tr>
              <a:tr h="370840">
                <a:tc>
                  <a:txBody>
                    <a:bodyPr/>
                    <a:lstStyle/>
                    <a:p>
                      <a:r>
                        <a:rPr lang="fr-FR" dirty="0" smtClean="0"/>
                        <a:t>Acompte</a:t>
                      </a:r>
                      <a:endParaRPr lang="fr-FR" dirty="0"/>
                    </a:p>
                  </a:txBody>
                  <a:tcPr/>
                </a:tc>
                <a:tc>
                  <a:txBody>
                    <a:bodyPr/>
                    <a:lstStyle/>
                    <a:p>
                      <a:pPr algn="ctr"/>
                      <a:endParaRPr lang="fr-FR" dirty="0"/>
                    </a:p>
                  </a:txBody>
                  <a:tcPr/>
                </a:tc>
                <a:tc>
                  <a:txBody>
                    <a:bodyPr/>
                    <a:lstStyle/>
                    <a:p>
                      <a:pPr algn="ctr"/>
                      <a:r>
                        <a:rPr lang="fr-FR" dirty="0" smtClean="0"/>
                        <a:t>90% au 15/12/N</a:t>
                      </a:r>
                      <a:endParaRPr lang="fr-FR" dirty="0"/>
                    </a:p>
                  </a:txBody>
                  <a:tcPr/>
                </a:tc>
                <a:extLst>
                  <a:ext uri="{0D108BD9-81ED-4DB2-BD59-A6C34878D82A}">
                    <a16:rowId xmlns:a16="http://schemas.microsoft.com/office/drawing/2014/main" val="10003"/>
                  </a:ext>
                </a:extLst>
              </a:tr>
              <a:tr h="370840">
                <a:tc>
                  <a:txBody>
                    <a:bodyPr/>
                    <a:lstStyle/>
                    <a:p>
                      <a:r>
                        <a:rPr lang="fr-FR" dirty="0" smtClean="0"/>
                        <a:t>Exigible</a:t>
                      </a:r>
                      <a:endParaRPr lang="fr-FR" dirty="0"/>
                    </a:p>
                  </a:txBody>
                  <a:tcPr/>
                </a:tc>
                <a:tc>
                  <a:txBody>
                    <a:bodyPr/>
                    <a:lstStyle/>
                    <a:p>
                      <a:pPr algn="ctr"/>
                      <a:r>
                        <a:rPr lang="fr-FR" dirty="0" smtClean="0"/>
                        <a:t>15 mai N+1</a:t>
                      </a:r>
                      <a:endParaRPr lang="fr-FR" dirty="0"/>
                    </a:p>
                  </a:txBody>
                  <a:tcPr/>
                </a:tc>
                <a:tc>
                  <a:txBody>
                    <a:bodyPr/>
                    <a:lstStyle/>
                    <a:p>
                      <a:pPr algn="ctr"/>
                      <a:r>
                        <a:rPr lang="fr-FR" dirty="0" smtClean="0"/>
                        <a:t>15 mai N+1</a:t>
                      </a:r>
                      <a:endParaRPr lang="fr-FR" dirty="0"/>
                    </a:p>
                  </a:txBody>
                  <a:tcPr/>
                </a:tc>
                <a:extLst>
                  <a:ext uri="{0D108BD9-81ED-4DB2-BD59-A6C34878D82A}">
                    <a16:rowId xmlns:a16="http://schemas.microsoft.com/office/drawing/2014/main" val="10004"/>
                  </a:ext>
                </a:extLst>
              </a:tr>
            </a:tbl>
          </a:graphicData>
        </a:graphic>
      </p:graphicFrame>
      <p:sp>
        <p:nvSpPr>
          <p:cNvPr id="7" name="ZoneTexte 6"/>
          <p:cNvSpPr txBox="1"/>
          <p:nvPr/>
        </p:nvSpPr>
        <p:spPr>
          <a:xfrm>
            <a:off x="971600" y="5301208"/>
            <a:ext cx="7704856" cy="1477328"/>
          </a:xfrm>
          <a:prstGeom prst="rect">
            <a:avLst/>
          </a:prstGeom>
          <a:noFill/>
        </p:spPr>
        <p:txBody>
          <a:bodyPr wrap="square" rtlCol="0">
            <a:spAutoFit/>
          </a:bodyPr>
          <a:lstStyle/>
          <a:p>
            <a:r>
              <a:rPr lang="fr-FR" dirty="0" smtClean="0"/>
              <a:t>Il ne s’agit pas d’une contribution supplémentaire, mais d’un acompte qui modifie le calendrier de paiement de la C3S.</a:t>
            </a:r>
          </a:p>
          <a:p>
            <a:endParaRPr lang="fr-FR" dirty="0"/>
          </a:p>
          <a:p>
            <a:r>
              <a:rPr lang="fr-FR" dirty="0" smtClean="0"/>
              <a:t>=&gt; Impact possible dans les comptes consolidés si la C3S n’était pas provisionnée car l’acompte doit être obligatoirement provisionné car réglé.</a:t>
            </a:r>
            <a:endParaRPr lang="fr-FR" dirty="0"/>
          </a:p>
        </p:txBody>
      </p:sp>
    </p:spTree>
    <p:extLst>
      <p:ext uri="{BB962C8B-B14F-4D97-AF65-F5344CB8AC3E}">
        <p14:creationId xmlns:p14="http://schemas.microsoft.com/office/powerpoint/2010/main" val="1136309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6059016" cy="990600"/>
          </a:xfrm>
        </p:spPr>
        <p:txBody>
          <a:bodyPr>
            <a:normAutofit fontScale="90000"/>
          </a:bodyPr>
          <a:lstStyle/>
          <a:p>
            <a:r>
              <a:rPr lang="fr-FR" sz="3600" dirty="0" smtClean="0"/>
              <a:t>La fin du suramortissement fiscal</a:t>
            </a:r>
            <a:endParaRPr lang="fr-FR" sz="3600" dirty="0"/>
          </a:p>
        </p:txBody>
      </p:sp>
      <p:sp>
        <p:nvSpPr>
          <p:cNvPr id="3" name="Espace réservé du contenu 2"/>
          <p:cNvSpPr>
            <a:spLocks noGrp="1"/>
          </p:cNvSpPr>
          <p:nvPr>
            <p:ph idx="1"/>
          </p:nvPr>
        </p:nvSpPr>
        <p:spPr>
          <a:xfrm>
            <a:off x="107504" y="1484784"/>
            <a:ext cx="8229600" cy="5112568"/>
          </a:xfrm>
        </p:spPr>
        <p:txBody>
          <a:bodyPr>
            <a:normAutofit/>
          </a:bodyPr>
          <a:lstStyle/>
          <a:p>
            <a:r>
              <a:rPr lang="fr-FR" sz="2000" u="sng" dirty="0" smtClean="0"/>
              <a:t>Le dispositif de suramortissement prend fin sauf exception</a:t>
            </a:r>
            <a:br>
              <a:rPr lang="fr-FR" sz="2000" u="sng" dirty="0" smtClean="0"/>
            </a:br>
            <a:endParaRPr lang="fr-FR" sz="2000" u="sng" dirty="0"/>
          </a:p>
          <a:p>
            <a:pPr lvl="1"/>
            <a:r>
              <a:rPr lang="fr-FR" sz="1800" dirty="0" smtClean="0"/>
              <a:t>Le dispositif a pris fin le 14 avril 2017</a:t>
            </a:r>
          </a:p>
          <a:p>
            <a:pPr lvl="1"/>
            <a:r>
              <a:rPr lang="fr-FR" sz="1800" dirty="0" smtClean="0"/>
              <a:t>Suramortissement des véhicules utilitaires peu</a:t>
            </a:r>
          </a:p>
          <a:p>
            <a:pPr marL="274320" lvl="1" indent="0">
              <a:buNone/>
            </a:pPr>
            <a:r>
              <a:rPr lang="fr-FR" sz="1800" dirty="0"/>
              <a:t>p</a:t>
            </a:r>
            <a:r>
              <a:rPr lang="fr-FR" sz="1800" dirty="0" smtClean="0"/>
              <a:t>olluants =&gt; prorogé jusqu’au 31 décembre 2019  </a:t>
            </a:r>
            <a:br>
              <a:rPr lang="fr-FR" sz="1800" dirty="0" smtClean="0"/>
            </a:br>
            <a:endParaRPr lang="fr-FR" sz="1800" dirty="0" smtClean="0"/>
          </a:p>
          <a:p>
            <a:pPr lvl="1" algn="just"/>
            <a:r>
              <a:rPr lang="fr-FR" sz="1800" dirty="0" smtClean="0"/>
              <a:t>Pour favoriser l’investissement productif</a:t>
            </a:r>
          </a:p>
          <a:p>
            <a:pPr lvl="2" algn="just"/>
            <a:r>
              <a:rPr lang="fr-FR" sz="1600" dirty="0"/>
              <a:t> </a:t>
            </a:r>
            <a:r>
              <a:rPr lang="fr-FR" sz="1600" dirty="0" smtClean="0"/>
              <a:t>40% de la valeur de certains biens peut être déduit directement du résultat imposable</a:t>
            </a:r>
          </a:p>
          <a:p>
            <a:pPr lvl="2" algn="just"/>
            <a:r>
              <a:rPr lang="fr-FR" sz="1600" dirty="0" smtClean="0"/>
              <a:t>Biens qui étaient concernés : opérations </a:t>
            </a:r>
            <a:r>
              <a:rPr lang="fr-FR" sz="1600" dirty="0"/>
              <a:t>industrielles, manutention, épuration des eaux, assainissement, production d’énergie électrique, recherche scientifique ou technique, transport par câbles (remontées mécaniques), fibre optique, appareils </a:t>
            </a:r>
            <a:r>
              <a:rPr lang="fr-FR" sz="1600" dirty="0" smtClean="0"/>
              <a:t>informatiques, serveurs informatiques, </a:t>
            </a:r>
            <a:r>
              <a:rPr lang="fr-FR" sz="1600" dirty="0" err="1" smtClean="0"/>
              <a:t>super-calculateurs</a:t>
            </a:r>
            <a:r>
              <a:rPr lang="fr-FR" sz="1600" dirty="0" smtClean="0"/>
              <a:t>, fibre optique (hors aides publiques)</a:t>
            </a:r>
            <a:endParaRPr lang="fr-FR" sz="1600" dirty="0"/>
          </a:p>
          <a:p>
            <a:pPr lvl="2" algn="just"/>
            <a:endParaRPr lang="fr-FR" sz="1600" dirty="0" smtClean="0"/>
          </a:p>
          <a:p>
            <a:pPr lvl="2" algn="just"/>
            <a:endParaRPr lang="fr-FR" dirty="0" smtClean="0"/>
          </a:p>
        </p:txBody>
      </p:sp>
      <p:sp>
        <p:nvSpPr>
          <p:cNvPr id="5" name="Espace réservé du contenu 3"/>
          <p:cNvSpPr txBox="1">
            <a:spLocks/>
          </p:cNvSpPr>
          <p:nvPr/>
        </p:nvSpPr>
        <p:spPr>
          <a:xfrm>
            <a:off x="6876256" y="404664"/>
            <a:ext cx="1944216" cy="864096"/>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342900" marR="0" lvl="0" indent="-342900"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3">
                    <a:lumMod val="75000"/>
                  </a:schemeClr>
                </a:solidFill>
                <a:effectLst/>
                <a:uLnTx/>
                <a:uFillTx/>
                <a:latin typeface="+mn-lt"/>
                <a:ea typeface="+mn-ea"/>
                <a:cs typeface="+mn-cs"/>
              </a:rPr>
              <a:t>	</a:t>
            </a:r>
            <a:r>
              <a:rPr lang="fr-FR" sz="1600" b="1" dirty="0" smtClean="0">
                <a:solidFill>
                  <a:schemeClr val="accent3">
                    <a:lumMod val="75000"/>
                  </a:schemeClr>
                </a:solidFill>
              </a:rPr>
              <a:t>Fiscalité</a:t>
            </a:r>
            <a:endParaRPr kumimoji="0" lang="fr-FR" sz="1600" b="0" i="0" u="none" strike="noStrike" kern="1200" cap="none" spc="0" normalizeH="0" baseline="0" noProof="0" dirty="0">
              <a:ln>
                <a:noFill/>
              </a:ln>
              <a:solidFill>
                <a:schemeClr val="accent3">
                  <a:lumMod val="75000"/>
                </a:schemeClr>
              </a:solidFill>
              <a:effectLst/>
              <a:uLnTx/>
              <a:uFillTx/>
            </a:endParaRPr>
          </a:p>
        </p:txBody>
      </p:sp>
      <p:sp>
        <p:nvSpPr>
          <p:cNvPr id="6" name="Espace réservé du numéro de diapositive 5"/>
          <p:cNvSpPr>
            <a:spLocks noGrp="1"/>
          </p:cNvSpPr>
          <p:nvPr>
            <p:ph type="sldNum" sz="quarter" idx="12"/>
          </p:nvPr>
        </p:nvSpPr>
        <p:spPr/>
        <p:txBody>
          <a:bodyPr/>
          <a:lstStyle/>
          <a:p>
            <a:fld id="{851EF7E6-E725-4BDA-90E5-11DEA34DAC65}" type="slidenum">
              <a:rPr lang="fr-FR" smtClean="0"/>
              <a:t>13</a:t>
            </a:fld>
            <a:endParaRPr lang="fr-FR" dirty="0"/>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2120" y="1916832"/>
            <a:ext cx="3425333" cy="1827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95925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404664"/>
            <a:ext cx="8229600" cy="990600"/>
          </a:xfrm>
        </p:spPr>
        <p:txBody>
          <a:bodyPr/>
          <a:lstStyle/>
          <a:p>
            <a:r>
              <a:rPr lang="fr-FR" dirty="0" smtClean="0"/>
              <a:t>Exemple</a:t>
            </a:r>
            <a:endParaRPr lang="fr-FR" dirty="0"/>
          </a:p>
        </p:txBody>
      </p:sp>
      <p:sp>
        <p:nvSpPr>
          <p:cNvPr id="3" name="Espace réservé du contenu 2"/>
          <p:cNvSpPr>
            <a:spLocks noGrp="1"/>
          </p:cNvSpPr>
          <p:nvPr>
            <p:ph idx="1"/>
          </p:nvPr>
        </p:nvSpPr>
        <p:spPr>
          <a:xfrm>
            <a:off x="467544" y="1412776"/>
            <a:ext cx="8229600" cy="1972816"/>
          </a:xfrm>
        </p:spPr>
        <p:txBody>
          <a:bodyPr>
            <a:normAutofit/>
          </a:bodyPr>
          <a:lstStyle/>
          <a:p>
            <a:pPr algn="just"/>
            <a:r>
              <a:rPr lang="fr-FR" sz="1800" dirty="0" smtClean="0"/>
              <a:t>1 exploitant agricole soumis à l’impôt des sociétés achète le 1</a:t>
            </a:r>
            <a:r>
              <a:rPr lang="fr-FR" sz="1800" baseline="30000" dirty="0" smtClean="0"/>
              <a:t>er</a:t>
            </a:r>
            <a:r>
              <a:rPr lang="fr-FR" sz="1800" dirty="0" smtClean="0"/>
              <a:t> juillet 2016 un tracteur roulant au </a:t>
            </a:r>
            <a:r>
              <a:rPr lang="fr-FR" sz="1800" dirty="0" err="1" smtClean="0"/>
              <a:t>biométhane</a:t>
            </a:r>
            <a:r>
              <a:rPr lang="fr-FR" sz="1800" dirty="0" smtClean="0"/>
              <a:t> pour 100 000 € amortissable sur 6 ans. </a:t>
            </a:r>
          </a:p>
          <a:p>
            <a:pPr algn="just"/>
            <a:r>
              <a:rPr lang="fr-FR" sz="1800" dirty="0" smtClean="0"/>
              <a:t>Au titre de la mesure et en supplément de l’amortissement de droit commun, il a le droit à une déduction du résultat imposable. </a:t>
            </a:r>
          </a:p>
          <a:p>
            <a:pPr algn="just"/>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14</a:t>
            </a:fld>
            <a:endParaRPr lang="fr-FR" dirty="0"/>
          </a:p>
        </p:txBody>
      </p:sp>
      <p:sp>
        <p:nvSpPr>
          <p:cNvPr id="5" name="Espace réservé du contenu 3"/>
          <p:cNvSpPr txBox="1">
            <a:spLocks/>
          </p:cNvSpPr>
          <p:nvPr/>
        </p:nvSpPr>
        <p:spPr>
          <a:xfrm>
            <a:off x="6372200" y="404664"/>
            <a:ext cx="2448272" cy="864096"/>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3">
                    <a:lumMod val="75000"/>
                  </a:schemeClr>
                </a:solidFill>
                <a:effectLst/>
                <a:uLnTx/>
                <a:uFillTx/>
                <a:latin typeface="+mn-lt"/>
                <a:ea typeface="+mn-ea"/>
                <a:cs typeface="+mn-cs"/>
              </a:rPr>
              <a:t>	</a:t>
            </a:r>
            <a:r>
              <a:rPr lang="fr-FR" sz="2000" b="1" dirty="0" smtClean="0">
                <a:solidFill>
                  <a:schemeClr val="accent3">
                    <a:lumMod val="75000"/>
                  </a:schemeClr>
                </a:solidFill>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mc:AlternateContent xmlns:mc="http://schemas.openxmlformats.org/markup-compatibility/2006" xmlns:a14="http://schemas.microsoft.com/office/drawing/2010/main">
        <mc:Choice Requires="a14">
          <p:graphicFrame>
            <p:nvGraphicFramePr>
              <p:cNvPr id="6" name="Tableau 5"/>
              <p:cNvGraphicFramePr>
                <a:graphicFrameLocks noGrp="1"/>
              </p:cNvGraphicFramePr>
              <p:nvPr>
                <p:extLst>
                  <p:ext uri="{D42A27DB-BD31-4B8C-83A1-F6EECF244321}">
                    <p14:modId xmlns:p14="http://schemas.microsoft.com/office/powerpoint/2010/main" val="729348920"/>
                  </p:ext>
                </p:extLst>
              </p:nvPr>
            </p:nvGraphicFramePr>
            <p:xfrm>
              <a:off x="395536" y="2924944"/>
              <a:ext cx="6096000" cy="330581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20000"/>
                        </a:ext>
                      </a:extLst>
                    </a:gridCol>
                    <a:gridCol w="2695848">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fr-FR" sz="1600" dirty="0" smtClean="0"/>
                            <a:t>Année</a:t>
                          </a:r>
                          <a:endParaRPr lang="fr-FR" sz="1600" dirty="0"/>
                        </a:p>
                      </a:txBody>
                      <a:tcPr/>
                    </a:tc>
                    <a:tc>
                      <a:txBody>
                        <a:bodyPr/>
                        <a:lstStyle/>
                        <a:p>
                          <a:r>
                            <a:rPr lang="fr-FR" sz="1600" dirty="0" smtClean="0"/>
                            <a:t>Calcul</a:t>
                          </a:r>
                          <a:endParaRPr lang="fr-FR" sz="1600" dirty="0"/>
                        </a:p>
                      </a:txBody>
                      <a:tcPr/>
                    </a:tc>
                    <a:tc>
                      <a:txBody>
                        <a:bodyPr/>
                        <a:lstStyle/>
                        <a:p>
                          <a:r>
                            <a:rPr lang="fr-FR" sz="1600" dirty="0" smtClean="0"/>
                            <a:t>Montant de sa  déduction fiscale</a:t>
                          </a:r>
                          <a:endParaRPr lang="fr-FR" sz="1600" dirty="0"/>
                        </a:p>
                      </a:txBody>
                      <a:tcPr/>
                    </a:tc>
                    <a:extLst>
                      <a:ext uri="{0D108BD9-81ED-4DB2-BD59-A6C34878D82A}">
                        <a16:rowId xmlns:a16="http://schemas.microsoft.com/office/drawing/2014/main" val="10000"/>
                      </a:ext>
                    </a:extLst>
                  </a:tr>
                  <a:tr h="370840">
                    <a:tc>
                      <a:txBody>
                        <a:bodyPr/>
                        <a:lstStyle/>
                        <a:p>
                          <a:pPr algn="l"/>
                          <a:r>
                            <a:rPr lang="fr-FR" sz="1400" dirty="0" smtClean="0"/>
                            <a:t>2016</a:t>
                          </a:r>
                          <a:r>
                            <a:rPr lang="fr-FR" sz="1400" baseline="0" dirty="0" smtClean="0"/>
                            <a:t> </a:t>
                          </a:r>
                          <a:r>
                            <a:rPr lang="fr-FR" sz="1400" dirty="0" smtClean="0"/>
                            <a:t>(6 mois)</a:t>
                          </a:r>
                          <a:endParaRPr lang="fr-FR" sz="1400" dirty="0"/>
                        </a:p>
                      </a:txBody>
                      <a:tcPr/>
                    </a:tc>
                    <a:tc>
                      <a:txBody>
                        <a:bodyPr/>
                        <a:lstStyle/>
                        <a:p>
                          <a:r>
                            <a:rPr lang="fr-FR" sz="1600" dirty="0" smtClean="0"/>
                            <a:t>(100k x 40%) x 20 % x </a:t>
                          </a:r>
                          <a14:m>
                            <m:oMath xmlns:m="http://schemas.openxmlformats.org/officeDocument/2006/math">
                              <m:f>
                                <m:fPr>
                                  <m:ctrlPr>
                                    <a:rPr lang="fr-FR" sz="1600" i="1" smtClean="0">
                                      <a:latin typeface="Cambria Math" panose="02040503050406030204" pitchFamily="18" charset="0"/>
                                    </a:rPr>
                                  </m:ctrlPr>
                                </m:fPr>
                                <m:num>
                                  <m:r>
                                    <a:rPr lang="fr-FR" sz="1600" b="0" i="1" smtClean="0">
                                      <a:latin typeface="Cambria Math"/>
                                    </a:rPr>
                                    <m:t>6</m:t>
                                  </m:r>
                                </m:num>
                                <m:den>
                                  <m:r>
                                    <a:rPr lang="fr-FR" sz="1600" b="0" i="1" smtClean="0">
                                      <a:latin typeface="Cambria Math"/>
                                    </a:rPr>
                                    <m:t>12</m:t>
                                  </m:r>
                                </m:den>
                              </m:f>
                            </m:oMath>
                          </a14:m>
                          <a:endParaRPr lang="fr-FR" sz="1600" dirty="0"/>
                        </a:p>
                      </a:txBody>
                      <a:tcPr/>
                    </a:tc>
                    <a:tc>
                      <a:txBody>
                        <a:bodyPr/>
                        <a:lstStyle/>
                        <a:p>
                          <a:r>
                            <a:rPr lang="fr-FR" sz="1600" dirty="0" smtClean="0"/>
                            <a:t>4 000 €</a:t>
                          </a:r>
                          <a:endParaRPr lang="fr-FR" sz="1600" dirty="0"/>
                        </a:p>
                      </a:txBody>
                      <a:tcPr/>
                    </a:tc>
                    <a:extLst>
                      <a:ext uri="{0D108BD9-81ED-4DB2-BD59-A6C34878D82A}">
                        <a16:rowId xmlns:a16="http://schemas.microsoft.com/office/drawing/2014/main" val="10001"/>
                      </a:ext>
                    </a:extLst>
                  </a:tr>
                  <a:tr h="370840">
                    <a:tc>
                      <a:txBody>
                        <a:bodyPr/>
                        <a:lstStyle/>
                        <a:p>
                          <a:r>
                            <a:rPr lang="fr-FR" sz="1400" dirty="0" smtClean="0"/>
                            <a:t>2017</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p>
                      </a:txBody>
                      <a:tcPr/>
                    </a:tc>
                    <a:tc>
                      <a:txBody>
                        <a:bodyPr/>
                        <a:lstStyle/>
                        <a:p>
                          <a:r>
                            <a:rPr lang="fr-FR" sz="1600" dirty="0" smtClean="0"/>
                            <a:t>8 000 €</a:t>
                          </a:r>
                          <a:endParaRPr lang="fr-FR" sz="1600" dirty="0"/>
                        </a:p>
                      </a:txBody>
                      <a:tcPr/>
                    </a:tc>
                    <a:extLst>
                      <a:ext uri="{0D108BD9-81ED-4DB2-BD59-A6C34878D82A}">
                        <a16:rowId xmlns:a16="http://schemas.microsoft.com/office/drawing/2014/main" val="10002"/>
                      </a:ext>
                    </a:extLst>
                  </a:tr>
                  <a:tr h="370840">
                    <a:tc>
                      <a:txBody>
                        <a:bodyPr/>
                        <a:lstStyle/>
                        <a:p>
                          <a:r>
                            <a:rPr lang="fr-FR" sz="1400" dirty="0" smtClean="0"/>
                            <a:t>2018</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8 000 €</a:t>
                          </a:r>
                        </a:p>
                      </a:txBody>
                      <a:tcPr/>
                    </a:tc>
                    <a:extLst>
                      <a:ext uri="{0D108BD9-81ED-4DB2-BD59-A6C34878D82A}">
                        <a16:rowId xmlns:a16="http://schemas.microsoft.com/office/drawing/2014/main" val="10003"/>
                      </a:ext>
                    </a:extLst>
                  </a:tr>
                  <a:tr h="370840">
                    <a:tc>
                      <a:txBody>
                        <a:bodyPr/>
                        <a:lstStyle/>
                        <a:p>
                          <a:r>
                            <a:rPr lang="fr-FR" sz="1400" dirty="0" smtClean="0"/>
                            <a:t>2019</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8 000 €</a:t>
                          </a:r>
                        </a:p>
                      </a:txBody>
                      <a:tcPr/>
                    </a:tc>
                    <a:extLst>
                      <a:ext uri="{0D108BD9-81ED-4DB2-BD59-A6C34878D82A}">
                        <a16:rowId xmlns:a16="http://schemas.microsoft.com/office/drawing/2014/main" val="10004"/>
                      </a:ext>
                    </a:extLst>
                  </a:tr>
                  <a:tr h="370840">
                    <a:tc>
                      <a:txBody>
                        <a:bodyPr/>
                        <a:lstStyle/>
                        <a:p>
                          <a:r>
                            <a:rPr lang="fr-FR" sz="1400" dirty="0" smtClean="0"/>
                            <a:t>2020</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8 000 €</a:t>
                          </a:r>
                        </a:p>
                      </a:txBody>
                      <a:tcPr/>
                    </a:tc>
                    <a:extLst>
                      <a:ext uri="{0D108BD9-81ED-4DB2-BD59-A6C34878D82A}">
                        <a16:rowId xmlns:a16="http://schemas.microsoft.com/office/drawing/2014/main" val="10005"/>
                      </a:ext>
                    </a:extLst>
                  </a:tr>
                  <a:tr h="370840">
                    <a:tc>
                      <a:txBody>
                        <a:bodyPr/>
                        <a:lstStyle/>
                        <a:p>
                          <a:r>
                            <a:rPr lang="fr-FR" sz="1400" dirty="0" smtClean="0"/>
                            <a:t>2021</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8 000 €</a:t>
                          </a:r>
                        </a:p>
                      </a:txBody>
                      <a:tcPr/>
                    </a:tc>
                    <a:extLst>
                      <a:ext uri="{0D108BD9-81ED-4DB2-BD59-A6C34878D82A}">
                        <a16:rowId xmlns:a16="http://schemas.microsoft.com/office/drawing/2014/main" val="10006"/>
                      </a:ext>
                    </a:extLst>
                  </a:tr>
                  <a:tr h="370840">
                    <a:tc>
                      <a:txBody>
                        <a:bodyPr/>
                        <a:lstStyle/>
                        <a:p>
                          <a:r>
                            <a:rPr lang="fr-FR" sz="1400" dirty="0" smtClean="0"/>
                            <a:t>2022 (6</a:t>
                          </a:r>
                          <a:r>
                            <a:rPr lang="fr-FR" sz="1400" baseline="0" dirty="0" smtClean="0"/>
                            <a:t> mois</a:t>
                          </a:r>
                          <a:r>
                            <a:rPr lang="fr-FR" sz="1400" dirty="0" smtClean="0"/>
                            <a:t>)</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 x </a:t>
                          </a:r>
                          <a14:m>
                            <m:oMath xmlns:m="http://schemas.openxmlformats.org/officeDocument/2006/math">
                              <m:f>
                                <m:fPr>
                                  <m:ctrlPr>
                                    <a:rPr lang="fr-FR" sz="1600" i="1" smtClean="0">
                                      <a:latin typeface="Cambria Math" panose="02040503050406030204" pitchFamily="18" charset="0"/>
                                    </a:rPr>
                                  </m:ctrlPr>
                                </m:fPr>
                                <m:num>
                                  <m:r>
                                    <a:rPr lang="fr-FR" sz="1600" b="0" i="1" smtClean="0">
                                      <a:latin typeface="Cambria Math"/>
                                    </a:rPr>
                                    <m:t>6</m:t>
                                  </m:r>
                                </m:num>
                                <m:den>
                                  <m:r>
                                    <a:rPr lang="fr-FR" sz="1600" b="0" i="1" smtClean="0">
                                      <a:latin typeface="Cambria Math"/>
                                    </a:rPr>
                                    <m:t>12</m:t>
                                  </m:r>
                                </m:den>
                              </m:f>
                            </m:oMath>
                          </a14:m>
                          <a:endParaRPr lang="fr-FR" sz="1600" dirty="0"/>
                        </a:p>
                      </a:txBody>
                      <a:tcPr/>
                    </a:tc>
                    <a:tc>
                      <a:txBody>
                        <a:bodyPr/>
                        <a:lstStyle/>
                        <a:p>
                          <a:r>
                            <a:rPr lang="fr-FR" sz="1600" dirty="0" smtClean="0"/>
                            <a:t>4 000 €</a:t>
                          </a:r>
                          <a:endParaRPr lang="fr-FR" sz="1600" dirty="0"/>
                        </a:p>
                      </a:txBody>
                      <a:tcPr/>
                    </a:tc>
                    <a:extLst>
                      <a:ext uri="{0D108BD9-81ED-4DB2-BD59-A6C34878D82A}">
                        <a16:rowId xmlns:a16="http://schemas.microsoft.com/office/drawing/2014/main" val="10007"/>
                      </a:ext>
                    </a:extLst>
                  </a:tr>
                </a:tbl>
              </a:graphicData>
            </a:graphic>
          </p:graphicFrame>
        </mc:Choice>
        <mc:Fallback xmlns="">
          <p:graphicFrame>
            <p:nvGraphicFramePr>
              <p:cNvPr id="6" name="Tableau 5"/>
              <p:cNvGraphicFramePr>
                <a:graphicFrameLocks noGrp="1"/>
              </p:cNvGraphicFramePr>
              <p:nvPr>
                <p:extLst>
                  <p:ext uri="{D42A27DB-BD31-4B8C-83A1-F6EECF244321}">
                    <p14:modId xmlns:p14="http://schemas.microsoft.com/office/powerpoint/2010/main" val="729348920"/>
                  </p:ext>
                </p:extLst>
              </p:nvPr>
            </p:nvGraphicFramePr>
            <p:xfrm>
              <a:off x="395536" y="2924944"/>
              <a:ext cx="6096000" cy="3305810"/>
            </p:xfrm>
            <a:graphic>
              <a:graphicData uri="http://schemas.openxmlformats.org/drawingml/2006/table">
                <a:tbl>
                  <a:tblPr firstRow="1" bandRow="1">
                    <a:tableStyleId>{5C22544A-7EE6-4342-B048-85BDC9FD1C3A}</a:tableStyleId>
                  </a:tblPr>
                  <a:tblGrid>
                    <a:gridCol w="1368152"/>
                    <a:gridCol w="2695848"/>
                    <a:gridCol w="2032000"/>
                  </a:tblGrid>
                  <a:tr h="579120">
                    <a:tc>
                      <a:txBody>
                        <a:bodyPr/>
                        <a:lstStyle/>
                        <a:p>
                          <a:r>
                            <a:rPr lang="fr-FR" sz="1600" dirty="0" smtClean="0"/>
                            <a:t>Année</a:t>
                          </a:r>
                          <a:endParaRPr lang="fr-FR" sz="1600" dirty="0"/>
                        </a:p>
                      </a:txBody>
                      <a:tcPr/>
                    </a:tc>
                    <a:tc>
                      <a:txBody>
                        <a:bodyPr/>
                        <a:lstStyle/>
                        <a:p>
                          <a:r>
                            <a:rPr lang="fr-FR" sz="1600" dirty="0" smtClean="0"/>
                            <a:t>Calcul</a:t>
                          </a:r>
                          <a:endParaRPr lang="fr-FR" sz="1600" dirty="0"/>
                        </a:p>
                      </a:txBody>
                      <a:tcPr/>
                    </a:tc>
                    <a:tc>
                      <a:txBody>
                        <a:bodyPr/>
                        <a:lstStyle/>
                        <a:p>
                          <a:r>
                            <a:rPr lang="fr-FR" sz="1600" dirty="0" smtClean="0"/>
                            <a:t>Montant de sa  déduction fiscale</a:t>
                          </a:r>
                          <a:endParaRPr lang="fr-FR" sz="1600" dirty="0"/>
                        </a:p>
                      </a:txBody>
                      <a:tcPr/>
                    </a:tc>
                  </a:tr>
                  <a:tr h="436245">
                    <a:tc>
                      <a:txBody>
                        <a:bodyPr/>
                        <a:lstStyle/>
                        <a:p>
                          <a:pPr algn="l"/>
                          <a:r>
                            <a:rPr lang="fr-FR" sz="1400" dirty="0" smtClean="0"/>
                            <a:t>2016</a:t>
                          </a:r>
                          <a:r>
                            <a:rPr lang="fr-FR" sz="1400" baseline="0" dirty="0" smtClean="0"/>
                            <a:t> </a:t>
                          </a:r>
                          <a:r>
                            <a:rPr lang="fr-FR" sz="1400" dirty="0" smtClean="0"/>
                            <a:t>(6 </a:t>
                          </a:r>
                          <a:r>
                            <a:rPr lang="fr-FR" sz="1400" dirty="0" smtClean="0"/>
                            <a:t>mois)</a:t>
                          </a:r>
                          <a:endParaRPr lang="fr-FR" sz="1400" dirty="0"/>
                        </a:p>
                      </a:txBody>
                      <a:tcPr/>
                    </a:tc>
                    <a:tc>
                      <a:txBody>
                        <a:bodyPr/>
                        <a:lstStyle/>
                        <a:p>
                          <a:endParaRPr lang="fr-FR"/>
                        </a:p>
                      </a:txBody>
                      <a:tcPr>
                        <a:blipFill rotWithShape="1">
                          <a:blip r:embed="rId3"/>
                          <a:stretch>
                            <a:fillRect l="-50790" t="-138028" r="-75169" b="-536620"/>
                          </a:stretch>
                        </a:blipFill>
                      </a:tcPr>
                    </a:tc>
                    <a:tc>
                      <a:txBody>
                        <a:bodyPr/>
                        <a:lstStyle/>
                        <a:p>
                          <a:r>
                            <a:rPr lang="fr-FR" sz="1600" dirty="0" smtClean="0"/>
                            <a:t>4 000 €</a:t>
                          </a:r>
                          <a:endParaRPr lang="fr-FR" sz="1600" dirty="0"/>
                        </a:p>
                      </a:txBody>
                      <a:tcPr/>
                    </a:tc>
                  </a:tr>
                  <a:tr h="370840">
                    <a:tc>
                      <a:txBody>
                        <a:bodyPr/>
                        <a:lstStyle/>
                        <a:p>
                          <a:r>
                            <a:rPr lang="fr-FR" sz="1400" dirty="0" smtClean="0"/>
                            <a:t>2017</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p>
                      </a:txBody>
                      <a:tcPr/>
                    </a:tc>
                    <a:tc>
                      <a:txBody>
                        <a:bodyPr/>
                        <a:lstStyle/>
                        <a:p>
                          <a:r>
                            <a:rPr lang="fr-FR" sz="1600" dirty="0" smtClean="0"/>
                            <a:t>8 000 €</a:t>
                          </a:r>
                          <a:endParaRPr lang="fr-FR" sz="1600" dirty="0"/>
                        </a:p>
                      </a:txBody>
                      <a:tcPr/>
                    </a:tc>
                  </a:tr>
                  <a:tr h="370840">
                    <a:tc>
                      <a:txBody>
                        <a:bodyPr/>
                        <a:lstStyle/>
                        <a:p>
                          <a:r>
                            <a:rPr lang="fr-FR" sz="1400" dirty="0" smtClean="0"/>
                            <a:t>2018</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8 000 €</a:t>
                          </a:r>
                        </a:p>
                      </a:txBody>
                      <a:tcPr/>
                    </a:tc>
                  </a:tr>
                  <a:tr h="370840">
                    <a:tc>
                      <a:txBody>
                        <a:bodyPr/>
                        <a:lstStyle/>
                        <a:p>
                          <a:r>
                            <a:rPr lang="fr-FR" sz="1400" dirty="0" smtClean="0"/>
                            <a:t>2019</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8 000 €</a:t>
                          </a:r>
                        </a:p>
                      </a:txBody>
                      <a:tcPr/>
                    </a:tc>
                  </a:tr>
                  <a:tr h="370840">
                    <a:tc>
                      <a:txBody>
                        <a:bodyPr/>
                        <a:lstStyle/>
                        <a:p>
                          <a:r>
                            <a:rPr lang="fr-FR" sz="1400" dirty="0" smtClean="0"/>
                            <a:t>2020</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8 000 €</a:t>
                          </a:r>
                        </a:p>
                      </a:txBody>
                      <a:tcPr/>
                    </a:tc>
                  </a:tr>
                  <a:tr h="370840">
                    <a:tc>
                      <a:txBody>
                        <a:bodyPr/>
                        <a:lstStyle/>
                        <a:p>
                          <a:r>
                            <a:rPr lang="fr-FR" sz="1400" dirty="0" smtClean="0"/>
                            <a:t>2021</a:t>
                          </a:r>
                          <a:endParaRPr lang="fr-FR"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(100k x 40%) x 20 %</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8 000 €</a:t>
                          </a:r>
                        </a:p>
                      </a:txBody>
                      <a:tcPr/>
                    </a:tc>
                  </a:tr>
                  <a:tr h="436245">
                    <a:tc>
                      <a:txBody>
                        <a:bodyPr/>
                        <a:lstStyle/>
                        <a:p>
                          <a:r>
                            <a:rPr lang="fr-FR" sz="1400" dirty="0" smtClean="0"/>
                            <a:t>2022 (</a:t>
                          </a:r>
                          <a:r>
                            <a:rPr lang="fr-FR" sz="1400" dirty="0" smtClean="0"/>
                            <a:t>6</a:t>
                          </a:r>
                          <a:r>
                            <a:rPr lang="fr-FR" sz="1400" baseline="0" dirty="0" smtClean="0"/>
                            <a:t> mois</a:t>
                          </a:r>
                          <a:r>
                            <a:rPr lang="fr-FR" sz="1400" dirty="0" smtClean="0"/>
                            <a:t>)</a:t>
                          </a:r>
                          <a:endParaRPr lang="fr-FR" sz="1400" dirty="0"/>
                        </a:p>
                      </a:txBody>
                      <a:tcPr/>
                    </a:tc>
                    <a:tc>
                      <a:txBody>
                        <a:bodyPr/>
                        <a:lstStyle/>
                        <a:p>
                          <a:endParaRPr lang="fr-FR"/>
                        </a:p>
                      </a:txBody>
                      <a:tcPr>
                        <a:blipFill rotWithShape="1">
                          <a:blip r:embed="rId3"/>
                          <a:stretch>
                            <a:fillRect l="-50790" t="-656944" r="-75169" b="-6944"/>
                          </a:stretch>
                        </a:blipFill>
                      </a:tcPr>
                    </a:tc>
                    <a:tc>
                      <a:txBody>
                        <a:bodyPr/>
                        <a:lstStyle/>
                        <a:p>
                          <a:r>
                            <a:rPr lang="fr-FR" sz="1600" dirty="0" smtClean="0"/>
                            <a:t>4 000 €</a:t>
                          </a:r>
                          <a:endParaRPr lang="fr-FR" sz="1600" dirty="0"/>
                        </a:p>
                      </a:txBody>
                      <a:tcPr/>
                    </a:tc>
                  </a:tr>
                </a:tbl>
              </a:graphicData>
            </a:graphic>
          </p:graphicFrame>
        </mc:Fallback>
      </mc:AlternateContent>
      <p:sp>
        <p:nvSpPr>
          <p:cNvPr id="7" name="ZoneTexte 6"/>
          <p:cNvSpPr txBox="1"/>
          <p:nvPr/>
        </p:nvSpPr>
        <p:spPr>
          <a:xfrm>
            <a:off x="6614151" y="2924944"/>
            <a:ext cx="2411760" cy="1077218"/>
          </a:xfrm>
          <a:prstGeom prst="rect">
            <a:avLst/>
          </a:prstGeom>
          <a:noFill/>
        </p:spPr>
        <p:txBody>
          <a:bodyPr wrap="square" rtlCol="0">
            <a:spAutoFit/>
          </a:bodyPr>
          <a:lstStyle/>
          <a:p>
            <a:r>
              <a:rPr lang="fr-FR" sz="1600" dirty="0" smtClean="0"/>
              <a:t>Au total déduction </a:t>
            </a:r>
            <a:r>
              <a:rPr lang="fr-FR" sz="1600" dirty="0" err="1" smtClean="0"/>
              <a:t>extra-comptable</a:t>
            </a:r>
            <a:r>
              <a:rPr lang="fr-FR" sz="1600" dirty="0" smtClean="0"/>
              <a:t> pour le calcul du résultat fiscal de 48 000 €</a:t>
            </a:r>
            <a:endParaRPr lang="fr-FR" sz="1600"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6058" y="4221088"/>
            <a:ext cx="2380929" cy="21134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0990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304326"/>
            <a:ext cx="8229600" cy="990600"/>
          </a:xfrm>
        </p:spPr>
        <p:txBody>
          <a:bodyPr>
            <a:normAutofit/>
          </a:bodyPr>
          <a:lstStyle/>
          <a:p>
            <a:r>
              <a:rPr lang="fr-FR" sz="3600" b="1" dirty="0" smtClean="0"/>
              <a:t>La fin programmée du CICE</a:t>
            </a:r>
            <a:endParaRPr lang="fr-FR" sz="3600" b="1" dirty="0"/>
          </a:p>
        </p:txBody>
      </p:sp>
      <p:sp>
        <p:nvSpPr>
          <p:cNvPr id="3" name="Espace réservé du contenu 2"/>
          <p:cNvSpPr>
            <a:spLocks noGrp="1"/>
          </p:cNvSpPr>
          <p:nvPr>
            <p:ph idx="1"/>
          </p:nvPr>
        </p:nvSpPr>
        <p:spPr>
          <a:xfrm>
            <a:off x="158371" y="1286474"/>
            <a:ext cx="8784976" cy="5454894"/>
          </a:xfrm>
        </p:spPr>
        <p:txBody>
          <a:bodyPr>
            <a:normAutofit fontScale="85000" lnSpcReduction="20000"/>
          </a:bodyPr>
          <a:lstStyle/>
          <a:p>
            <a:r>
              <a:rPr lang="fr-FR" sz="2200" dirty="0"/>
              <a:t> </a:t>
            </a:r>
            <a:r>
              <a:rPr lang="fr-FR" sz="1900" dirty="0" smtClean="0"/>
              <a:t>Taux en 2013 : 				4 %</a:t>
            </a:r>
          </a:p>
          <a:p>
            <a:pPr marL="0" indent="0">
              <a:buNone/>
            </a:pPr>
            <a:r>
              <a:rPr lang="fr-FR" sz="1900" dirty="0" smtClean="0"/>
              <a:t>    Taux entre 2014 et 2016 : 			6 %</a:t>
            </a:r>
          </a:p>
          <a:p>
            <a:pPr marL="0" indent="0">
              <a:buNone/>
            </a:pPr>
            <a:r>
              <a:rPr lang="fr-FR" sz="1900" dirty="0" smtClean="0"/>
              <a:t>    Taux en 2017 : 				7 %</a:t>
            </a:r>
          </a:p>
          <a:p>
            <a:pPr marL="0" indent="0">
              <a:buNone/>
            </a:pPr>
            <a:r>
              <a:rPr lang="fr-FR" sz="1900" dirty="0" smtClean="0"/>
              <a:t>    Taux </a:t>
            </a:r>
            <a:r>
              <a:rPr lang="fr-FR" sz="1900" dirty="0"/>
              <a:t>à partir du 1</a:t>
            </a:r>
            <a:r>
              <a:rPr lang="fr-FR" sz="1900" baseline="30000" dirty="0"/>
              <a:t>er</a:t>
            </a:r>
            <a:r>
              <a:rPr lang="fr-FR" sz="1900" dirty="0"/>
              <a:t> janvier </a:t>
            </a:r>
            <a:r>
              <a:rPr lang="fr-FR" sz="1900" dirty="0" smtClean="0"/>
              <a:t>2018 :		6 % </a:t>
            </a:r>
          </a:p>
          <a:p>
            <a:pPr marL="0" indent="0">
              <a:buNone/>
            </a:pPr>
            <a:endParaRPr lang="fr-FR" sz="2000" dirty="0"/>
          </a:p>
          <a:p>
            <a:r>
              <a:rPr lang="fr-FR" sz="2000" dirty="0" smtClean="0"/>
              <a:t>Suppression du CICE en 2019 au profit d’un allègement de charges pérenne. </a:t>
            </a:r>
          </a:p>
          <a:p>
            <a:r>
              <a:rPr lang="fr-FR" sz="2000" dirty="0" smtClean="0"/>
              <a:t>Il concerne les rémunérations versées &lt; 2,5 SMIC en </a:t>
            </a:r>
            <a:r>
              <a:rPr lang="fr-FR" sz="2000" dirty="0"/>
              <a:t>France </a:t>
            </a:r>
            <a:r>
              <a:rPr lang="fr-FR" sz="2000" dirty="0" smtClean="0"/>
              <a:t>Métropolitaine</a:t>
            </a:r>
          </a:p>
          <a:p>
            <a:pPr marL="0" indent="0">
              <a:buNone/>
            </a:pPr>
            <a:r>
              <a:rPr lang="fr-FR" sz="2000" dirty="0" smtClean="0"/>
              <a:t>[</a:t>
            </a:r>
            <a:r>
              <a:rPr lang="fr-FR" sz="2000" i="1" dirty="0" smtClean="0"/>
              <a:t>Outre-mer : avant 2016 : 7,5%  - à partir de 2016 : 9%]</a:t>
            </a:r>
            <a:r>
              <a:rPr lang="fr-FR" sz="1800" i="1" dirty="0" smtClean="0"/>
              <a:t/>
            </a:r>
            <a:br>
              <a:rPr lang="fr-FR" sz="1800" i="1" dirty="0" smtClean="0"/>
            </a:br>
            <a:endParaRPr lang="fr-FR" sz="1800" i="1" dirty="0"/>
          </a:p>
          <a:p>
            <a:r>
              <a:rPr lang="fr-FR" sz="1900" dirty="0" smtClean="0"/>
              <a:t>Créances de CICE </a:t>
            </a:r>
            <a:r>
              <a:rPr lang="fr-FR" sz="1900" dirty="0"/>
              <a:t>générées </a:t>
            </a:r>
            <a:r>
              <a:rPr lang="fr-FR" sz="1900" dirty="0" smtClean="0"/>
              <a:t>par année de versement des salaires : </a:t>
            </a:r>
            <a:r>
              <a:rPr lang="fr-FR" sz="1900" b="1" dirty="0" smtClean="0"/>
              <a:t>plus de 62 Mrds d’€</a:t>
            </a:r>
            <a:br>
              <a:rPr lang="fr-FR" sz="1900" b="1" dirty="0" smtClean="0"/>
            </a:br>
            <a:r>
              <a:rPr lang="fr-FR" sz="1900" dirty="0" smtClean="0"/>
              <a:t> (pour les sociétés soumises à l’IS) : </a:t>
            </a:r>
            <a:br>
              <a:rPr lang="fr-FR" sz="1900" dirty="0" smtClean="0"/>
            </a:br>
            <a:endParaRPr lang="fr-FR" sz="1900" dirty="0" smtClean="0"/>
          </a:p>
          <a:p>
            <a:pPr marL="0" indent="0">
              <a:buNone/>
            </a:pPr>
            <a:endParaRPr lang="fr-FR" sz="1900" dirty="0" smtClean="0"/>
          </a:p>
          <a:p>
            <a:pPr marL="0" indent="0">
              <a:buNone/>
            </a:pPr>
            <a:endParaRPr lang="fr-FR" sz="1900" dirty="0"/>
          </a:p>
          <a:p>
            <a:pPr marL="0" indent="0">
              <a:buNone/>
            </a:pPr>
            <a:endParaRPr lang="fr-FR" sz="1900" dirty="0" smtClean="0"/>
          </a:p>
          <a:p>
            <a:pPr marL="0" indent="0">
              <a:buNone/>
            </a:pPr>
            <a:endParaRPr lang="fr-FR" sz="1900" dirty="0"/>
          </a:p>
          <a:p>
            <a:pPr marL="0" indent="0">
              <a:buNone/>
            </a:pPr>
            <a:r>
              <a:rPr lang="fr-FR" dirty="0"/>
              <a:t>	</a:t>
            </a:r>
            <a:endParaRPr lang="fr-FR" dirty="0" smtClean="0"/>
          </a:p>
          <a:p>
            <a:pPr marL="0" indent="0">
              <a:buNone/>
            </a:pPr>
            <a:endParaRPr lang="fr-FR" dirty="0" smtClean="0"/>
          </a:p>
          <a:p>
            <a:pPr marL="0" indent="0">
              <a:buNone/>
            </a:pPr>
            <a:endParaRPr lang="fr-FR" dirty="0" smtClean="0"/>
          </a:p>
          <a:p>
            <a:pPr marL="0" indent="0">
              <a:buNone/>
            </a:pPr>
            <a:r>
              <a:rPr lang="fr-FR" sz="2100" b="1" dirty="0" smtClean="0"/>
              <a:t>Difficulté pour évaluer l’impact sur les entreprises : baisse des défaillances, mais impact faible sur le nombre d’emplois sauvegardés </a:t>
            </a:r>
          </a:p>
          <a:p>
            <a:pPr marL="0" indent="0">
              <a:buNone/>
            </a:pPr>
            <a:endParaRPr lang="fr-FR" sz="2400" dirty="0"/>
          </a:p>
        </p:txBody>
      </p:sp>
      <p:sp>
        <p:nvSpPr>
          <p:cNvPr id="7" name="Espace réservé du contenu 3"/>
          <p:cNvSpPr txBox="1">
            <a:spLocks/>
          </p:cNvSpPr>
          <p:nvPr/>
        </p:nvSpPr>
        <p:spPr>
          <a:xfrm>
            <a:off x="6516216" y="404664"/>
            <a:ext cx="2448272" cy="864096"/>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2000" b="1" i="0" u="none" strike="noStrike" kern="1200" cap="none" spc="0" normalizeH="0" baseline="0" noProof="0" dirty="0" smtClean="0">
                <a:ln>
                  <a:noFill/>
                </a:ln>
                <a:solidFill>
                  <a:schemeClr val="accent3">
                    <a:lumMod val="75000"/>
                  </a:schemeClr>
                </a:solidFill>
                <a:effectLst/>
                <a:uLnTx/>
                <a:uFillTx/>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p:sp>
        <p:nvSpPr>
          <p:cNvPr id="5" name="Espace réservé du numéro de diapositive 4"/>
          <p:cNvSpPr>
            <a:spLocks noGrp="1"/>
          </p:cNvSpPr>
          <p:nvPr>
            <p:ph type="sldNum" sz="quarter" idx="12"/>
          </p:nvPr>
        </p:nvSpPr>
        <p:spPr/>
        <p:txBody>
          <a:bodyPr/>
          <a:lstStyle/>
          <a:p>
            <a:fld id="{851EF7E6-E725-4BDA-90E5-11DEA34DAC65}" type="slidenum">
              <a:rPr lang="fr-FR" smtClean="0"/>
              <a:t>15</a:t>
            </a:fld>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val="1189717628"/>
              </p:ext>
            </p:extLst>
          </p:nvPr>
        </p:nvGraphicFramePr>
        <p:xfrm>
          <a:off x="177259" y="4005064"/>
          <a:ext cx="8784975" cy="2001520"/>
        </p:xfrm>
        <a:graphic>
          <a:graphicData uri="http://schemas.openxmlformats.org/drawingml/2006/table">
            <a:tbl>
              <a:tblPr firstRow="1" bandRow="1">
                <a:tableStyleId>{5C22544A-7EE6-4342-B048-85BDC9FD1C3A}</a:tableStyleId>
              </a:tblPr>
              <a:tblGrid>
                <a:gridCol w="1198401">
                  <a:extLst>
                    <a:ext uri="{9D8B030D-6E8A-4147-A177-3AD203B41FA5}">
                      <a16:colId xmlns:a16="http://schemas.microsoft.com/office/drawing/2014/main" val="20000"/>
                    </a:ext>
                  </a:extLst>
                </a:gridCol>
                <a:gridCol w="1391534">
                  <a:extLst>
                    <a:ext uri="{9D8B030D-6E8A-4147-A177-3AD203B41FA5}">
                      <a16:colId xmlns:a16="http://schemas.microsoft.com/office/drawing/2014/main" val="20001"/>
                    </a:ext>
                  </a:extLst>
                </a:gridCol>
                <a:gridCol w="1401436">
                  <a:extLst>
                    <a:ext uri="{9D8B030D-6E8A-4147-A177-3AD203B41FA5}">
                      <a16:colId xmlns:a16="http://schemas.microsoft.com/office/drawing/2014/main" val="20002"/>
                    </a:ext>
                  </a:extLst>
                </a:gridCol>
                <a:gridCol w="1267466">
                  <a:extLst>
                    <a:ext uri="{9D8B030D-6E8A-4147-A177-3AD203B41FA5}">
                      <a16:colId xmlns:a16="http://schemas.microsoft.com/office/drawing/2014/main" val="20003"/>
                    </a:ext>
                  </a:extLst>
                </a:gridCol>
                <a:gridCol w="1129336">
                  <a:extLst>
                    <a:ext uri="{9D8B030D-6E8A-4147-A177-3AD203B41FA5}">
                      <a16:colId xmlns:a16="http://schemas.microsoft.com/office/drawing/2014/main" val="20004"/>
                    </a:ext>
                  </a:extLst>
                </a:gridCol>
                <a:gridCol w="1198401">
                  <a:extLst>
                    <a:ext uri="{9D8B030D-6E8A-4147-A177-3AD203B41FA5}">
                      <a16:colId xmlns:a16="http://schemas.microsoft.com/office/drawing/2014/main" val="20005"/>
                    </a:ext>
                  </a:extLst>
                </a:gridCol>
                <a:gridCol w="1198401">
                  <a:extLst>
                    <a:ext uri="{9D8B030D-6E8A-4147-A177-3AD203B41FA5}">
                      <a16:colId xmlns:a16="http://schemas.microsoft.com/office/drawing/2014/main" val="20006"/>
                    </a:ext>
                  </a:extLst>
                </a:gridCol>
              </a:tblGrid>
              <a:tr h="370840">
                <a:tc>
                  <a:txBody>
                    <a:bodyPr/>
                    <a:lstStyle/>
                    <a:p>
                      <a:r>
                        <a:rPr lang="fr-FR" sz="1100" i="1" dirty="0" smtClean="0"/>
                        <a:t>Montants en Milliards d’€</a:t>
                      </a:r>
                      <a:endParaRPr lang="fr-FR" sz="1100" i="1" dirty="0"/>
                    </a:p>
                  </a:txBody>
                  <a:tcPr/>
                </a:tc>
                <a:tc>
                  <a:txBody>
                    <a:bodyPr/>
                    <a:lstStyle/>
                    <a:p>
                      <a:pPr algn="ctr"/>
                      <a:r>
                        <a:rPr lang="fr-FR" sz="1400" dirty="0" smtClean="0"/>
                        <a:t>Redevables (en nombre)</a:t>
                      </a:r>
                      <a:endParaRPr lang="fr-FR" sz="1400" dirty="0"/>
                    </a:p>
                  </a:txBody>
                  <a:tcPr/>
                </a:tc>
                <a:tc>
                  <a:txBody>
                    <a:bodyPr/>
                    <a:lstStyle/>
                    <a:p>
                      <a:pPr algn="ctr"/>
                      <a:r>
                        <a:rPr lang="fr-FR" sz="1400" dirty="0" smtClean="0"/>
                        <a:t>Montant CICE</a:t>
                      </a:r>
                      <a:endParaRPr lang="fr-FR" sz="1400" dirty="0"/>
                    </a:p>
                  </a:txBody>
                  <a:tcPr/>
                </a:tc>
                <a:tc>
                  <a:txBody>
                    <a:bodyPr/>
                    <a:lstStyle/>
                    <a:p>
                      <a:pPr algn="ctr"/>
                      <a:r>
                        <a:rPr lang="fr-FR" sz="1400" dirty="0" smtClean="0">
                          <a:solidFill>
                            <a:schemeClr val="tx1"/>
                          </a:solidFill>
                        </a:rPr>
                        <a:t>Restitutions immédiates</a:t>
                      </a:r>
                      <a:endParaRPr lang="fr-FR" sz="1400" dirty="0">
                        <a:solidFill>
                          <a:schemeClr val="tx1"/>
                        </a:solidFill>
                      </a:endParaRPr>
                    </a:p>
                  </a:txBody>
                  <a:tcPr>
                    <a:solidFill>
                      <a:schemeClr val="accent2">
                        <a:lumMod val="40000"/>
                        <a:lumOff val="60000"/>
                      </a:schemeClr>
                    </a:solidFill>
                  </a:tcPr>
                </a:tc>
                <a:tc>
                  <a:txBody>
                    <a:bodyPr/>
                    <a:lstStyle/>
                    <a:p>
                      <a:pPr algn="ctr"/>
                      <a:r>
                        <a:rPr lang="fr-FR" sz="1400" dirty="0" smtClean="0">
                          <a:solidFill>
                            <a:schemeClr val="tx1"/>
                          </a:solidFill>
                        </a:rPr>
                        <a:t>Imputation sur l’IS dû</a:t>
                      </a:r>
                      <a:endParaRPr lang="fr-FR" sz="1400" dirty="0">
                        <a:solidFill>
                          <a:schemeClr val="tx1"/>
                        </a:solidFill>
                      </a:endParaRPr>
                    </a:p>
                  </a:txBody>
                  <a:tcPr>
                    <a:solidFill>
                      <a:schemeClr val="accent2">
                        <a:lumMod val="40000"/>
                        <a:lumOff val="60000"/>
                      </a:schemeClr>
                    </a:solidFill>
                  </a:tcPr>
                </a:tc>
                <a:tc>
                  <a:txBody>
                    <a:bodyPr/>
                    <a:lstStyle/>
                    <a:p>
                      <a:pPr algn="ctr"/>
                      <a:r>
                        <a:rPr lang="fr-FR" sz="1400" dirty="0" smtClean="0">
                          <a:solidFill>
                            <a:schemeClr val="tx1"/>
                          </a:solidFill>
                        </a:rPr>
                        <a:t>Total restitué</a:t>
                      </a:r>
                      <a:endParaRPr lang="fr-FR" sz="1400" dirty="0">
                        <a:solidFill>
                          <a:schemeClr val="tx1"/>
                        </a:solidFill>
                      </a:endParaRPr>
                    </a:p>
                  </a:txBody>
                  <a:tcPr>
                    <a:solidFill>
                      <a:schemeClr val="accent2">
                        <a:lumMod val="40000"/>
                        <a:lumOff val="60000"/>
                      </a:schemeClr>
                    </a:solidFill>
                  </a:tcPr>
                </a:tc>
                <a:tc>
                  <a:txBody>
                    <a:bodyPr/>
                    <a:lstStyle/>
                    <a:p>
                      <a:pPr algn="ctr"/>
                      <a:r>
                        <a:rPr lang="fr-FR" sz="1400" dirty="0" smtClean="0"/>
                        <a:t>% restitué</a:t>
                      </a:r>
                      <a:endParaRPr lang="fr-FR" sz="1400" dirty="0"/>
                    </a:p>
                  </a:txBody>
                  <a:tcPr/>
                </a:tc>
                <a:extLst>
                  <a:ext uri="{0D108BD9-81ED-4DB2-BD59-A6C34878D82A}">
                    <a16:rowId xmlns:a16="http://schemas.microsoft.com/office/drawing/2014/main" val="10000"/>
                  </a:ext>
                </a:extLst>
              </a:tr>
              <a:tr h="370840">
                <a:tc>
                  <a:txBody>
                    <a:bodyPr/>
                    <a:lstStyle/>
                    <a:p>
                      <a:r>
                        <a:rPr lang="fr-FR" sz="1600" dirty="0" smtClean="0"/>
                        <a:t>2013</a:t>
                      </a:r>
                      <a:endParaRPr lang="fr-FR" sz="1600" dirty="0"/>
                    </a:p>
                  </a:txBody>
                  <a:tcPr/>
                </a:tc>
                <a:tc>
                  <a:txBody>
                    <a:bodyPr/>
                    <a:lstStyle/>
                    <a:p>
                      <a:pPr algn="ctr"/>
                      <a:r>
                        <a:rPr lang="fr-FR" sz="1600" dirty="0" smtClean="0"/>
                        <a:t>779</a:t>
                      </a:r>
                      <a:r>
                        <a:rPr lang="fr-FR" sz="1600" baseline="0" dirty="0" smtClean="0"/>
                        <a:t> K</a:t>
                      </a:r>
                      <a:endParaRPr lang="fr-FR" sz="1600" dirty="0"/>
                    </a:p>
                  </a:txBody>
                  <a:tcPr/>
                </a:tc>
                <a:tc>
                  <a:txBody>
                    <a:bodyPr/>
                    <a:lstStyle/>
                    <a:p>
                      <a:pPr algn="ctr"/>
                      <a:r>
                        <a:rPr lang="fr-FR" sz="1600" b="1" dirty="0" smtClean="0"/>
                        <a:t>11,2</a:t>
                      </a:r>
                      <a:endParaRPr lang="fr-FR" sz="1600" b="1" dirty="0"/>
                    </a:p>
                  </a:txBody>
                  <a:tcPr/>
                </a:tc>
                <a:tc>
                  <a:txBody>
                    <a:bodyPr/>
                    <a:lstStyle/>
                    <a:p>
                      <a:pPr algn="ctr"/>
                      <a:r>
                        <a:rPr lang="fr-FR" sz="1600" dirty="0" smtClean="0"/>
                        <a:t>4,3</a:t>
                      </a:r>
                      <a:endParaRPr lang="fr-FR" sz="1600" dirty="0"/>
                    </a:p>
                  </a:txBody>
                  <a:tcPr/>
                </a:tc>
                <a:tc>
                  <a:txBody>
                    <a:bodyPr/>
                    <a:lstStyle/>
                    <a:p>
                      <a:pPr algn="ctr"/>
                      <a:r>
                        <a:rPr lang="fr-FR" sz="1600" dirty="0" smtClean="0"/>
                        <a:t>5,0</a:t>
                      </a:r>
                      <a:endParaRPr lang="fr-FR" sz="1600" dirty="0"/>
                    </a:p>
                  </a:txBody>
                  <a:tcPr/>
                </a:tc>
                <a:tc>
                  <a:txBody>
                    <a:bodyPr/>
                    <a:lstStyle/>
                    <a:p>
                      <a:pPr algn="ctr"/>
                      <a:r>
                        <a:rPr lang="fr-FR" sz="1600" b="1" dirty="0" smtClean="0"/>
                        <a:t>9,3</a:t>
                      </a:r>
                      <a:endParaRPr lang="fr-FR" sz="1600" b="1" dirty="0"/>
                    </a:p>
                  </a:txBody>
                  <a:tcPr/>
                </a:tc>
                <a:tc>
                  <a:txBody>
                    <a:bodyPr/>
                    <a:lstStyle/>
                    <a:p>
                      <a:pPr algn="ctr"/>
                      <a:r>
                        <a:rPr lang="fr-FR" sz="1600" dirty="0" smtClean="0"/>
                        <a:t>83%</a:t>
                      </a:r>
                      <a:endParaRPr lang="fr-FR" sz="1600" dirty="0"/>
                    </a:p>
                  </a:txBody>
                  <a:tcPr/>
                </a:tc>
                <a:extLst>
                  <a:ext uri="{0D108BD9-81ED-4DB2-BD59-A6C34878D82A}">
                    <a16:rowId xmlns:a16="http://schemas.microsoft.com/office/drawing/2014/main" val="10001"/>
                  </a:ext>
                </a:extLst>
              </a:tr>
              <a:tr h="370840">
                <a:tc>
                  <a:txBody>
                    <a:bodyPr/>
                    <a:lstStyle/>
                    <a:p>
                      <a:r>
                        <a:rPr lang="fr-FR" sz="1600" dirty="0" smtClean="0"/>
                        <a:t>2014</a:t>
                      </a:r>
                      <a:endParaRPr lang="fr-FR" sz="1600" dirty="0"/>
                    </a:p>
                  </a:txBody>
                  <a:tcPr/>
                </a:tc>
                <a:tc>
                  <a:txBody>
                    <a:bodyPr/>
                    <a:lstStyle/>
                    <a:p>
                      <a:pPr algn="ctr"/>
                      <a:r>
                        <a:rPr lang="fr-FR" sz="1600" dirty="0" smtClean="0"/>
                        <a:t>809 K</a:t>
                      </a:r>
                      <a:endParaRPr lang="fr-FR" sz="1600" dirty="0"/>
                    </a:p>
                  </a:txBody>
                  <a:tcPr/>
                </a:tc>
                <a:tc>
                  <a:txBody>
                    <a:bodyPr/>
                    <a:lstStyle/>
                    <a:p>
                      <a:pPr algn="ctr"/>
                      <a:r>
                        <a:rPr lang="fr-FR" sz="1600" b="1" dirty="0" smtClean="0"/>
                        <a:t>16,8</a:t>
                      </a:r>
                      <a:endParaRPr lang="fr-FR" sz="1600" b="1" dirty="0"/>
                    </a:p>
                  </a:txBody>
                  <a:tcPr/>
                </a:tc>
                <a:tc>
                  <a:txBody>
                    <a:bodyPr/>
                    <a:lstStyle/>
                    <a:p>
                      <a:pPr algn="ctr"/>
                      <a:r>
                        <a:rPr lang="fr-FR" sz="1600" dirty="0" smtClean="0"/>
                        <a:t>4,4</a:t>
                      </a:r>
                      <a:endParaRPr lang="fr-FR" sz="1600" dirty="0"/>
                    </a:p>
                  </a:txBody>
                  <a:tcPr/>
                </a:tc>
                <a:tc>
                  <a:txBody>
                    <a:bodyPr/>
                    <a:lstStyle/>
                    <a:p>
                      <a:pPr algn="ctr"/>
                      <a:r>
                        <a:rPr lang="fr-FR" sz="1600" dirty="0" smtClean="0"/>
                        <a:t>7,0</a:t>
                      </a:r>
                      <a:endParaRPr lang="fr-FR" sz="1600" dirty="0"/>
                    </a:p>
                  </a:txBody>
                  <a:tcPr/>
                </a:tc>
                <a:tc>
                  <a:txBody>
                    <a:bodyPr/>
                    <a:lstStyle/>
                    <a:p>
                      <a:pPr algn="ctr"/>
                      <a:r>
                        <a:rPr lang="fr-FR" sz="1600" b="1" dirty="0" smtClean="0"/>
                        <a:t>11,4</a:t>
                      </a:r>
                      <a:endParaRPr lang="fr-FR" sz="1600" b="1" dirty="0"/>
                    </a:p>
                  </a:txBody>
                  <a:tcPr/>
                </a:tc>
                <a:tc>
                  <a:txBody>
                    <a:bodyPr/>
                    <a:lstStyle/>
                    <a:p>
                      <a:pPr algn="ctr"/>
                      <a:r>
                        <a:rPr lang="fr-FR" sz="1600" dirty="0" smtClean="0"/>
                        <a:t>68%</a:t>
                      </a:r>
                      <a:endParaRPr lang="fr-FR" sz="1600" dirty="0"/>
                    </a:p>
                  </a:txBody>
                  <a:tcPr/>
                </a:tc>
                <a:extLst>
                  <a:ext uri="{0D108BD9-81ED-4DB2-BD59-A6C34878D82A}">
                    <a16:rowId xmlns:a16="http://schemas.microsoft.com/office/drawing/2014/main" val="10002"/>
                  </a:ext>
                </a:extLst>
              </a:tr>
              <a:tr h="370840">
                <a:tc>
                  <a:txBody>
                    <a:bodyPr/>
                    <a:lstStyle/>
                    <a:p>
                      <a:r>
                        <a:rPr lang="fr-FR" sz="1600" dirty="0" smtClean="0"/>
                        <a:t>2015</a:t>
                      </a:r>
                      <a:endParaRPr lang="fr-FR" sz="1600" dirty="0"/>
                    </a:p>
                  </a:txBody>
                  <a:tcPr/>
                </a:tc>
                <a:tc>
                  <a:txBody>
                    <a:bodyPr/>
                    <a:lstStyle/>
                    <a:p>
                      <a:pPr algn="ctr"/>
                      <a:r>
                        <a:rPr lang="fr-FR" sz="1600" dirty="0" smtClean="0"/>
                        <a:t>826 K</a:t>
                      </a:r>
                      <a:endParaRPr lang="fr-FR" sz="1600" dirty="0"/>
                    </a:p>
                  </a:txBody>
                  <a:tcPr/>
                </a:tc>
                <a:tc>
                  <a:txBody>
                    <a:bodyPr/>
                    <a:lstStyle/>
                    <a:p>
                      <a:pPr algn="ctr"/>
                      <a:r>
                        <a:rPr lang="fr-FR" sz="1600" b="1" dirty="0" smtClean="0"/>
                        <a:t>16,9</a:t>
                      </a:r>
                      <a:endParaRPr lang="fr-FR" sz="1600" b="1" dirty="0"/>
                    </a:p>
                  </a:txBody>
                  <a:tcPr/>
                </a:tc>
                <a:tc>
                  <a:txBody>
                    <a:bodyPr/>
                    <a:lstStyle/>
                    <a:p>
                      <a:pPr algn="ctr"/>
                      <a:r>
                        <a:rPr lang="fr-FR" sz="1600" dirty="0" smtClean="0"/>
                        <a:t>4,3</a:t>
                      </a:r>
                      <a:endParaRPr lang="fr-FR" sz="1600" dirty="0"/>
                    </a:p>
                  </a:txBody>
                  <a:tcPr/>
                </a:tc>
                <a:tc>
                  <a:txBody>
                    <a:bodyPr/>
                    <a:lstStyle/>
                    <a:p>
                      <a:pPr algn="ctr"/>
                      <a:r>
                        <a:rPr lang="fr-FR" sz="1600" dirty="0" smtClean="0"/>
                        <a:t>6,9</a:t>
                      </a:r>
                      <a:endParaRPr lang="fr-FR" sz="1600" dirty="0"/>
                    </a:p>
                  </a:txBody>
                  <a:tcPr/>
                </a:tc>
                <a:tc>
                  <a:txBody>
                    <a:bodyPr/>
                    <a:lstStyle/>
                    <a:p>
                      <a:pPr algn="ctr"/>
                      <a:r>
                        <a:rPr lang="fr-FR" sz="1600" b="1" dirty="0" smtClean="0"/>
                        <a:t>11,2</a:t>
                      </a:r>
                      <a:endParaRPr lang="fr-FR" sz="1600" b="1" dirty="0"/>
                    </a:p>
                  </a:txBody>
                  <a:tcPr/>
                </a:tc>
                <a:tc>
                  <a:txBody>
                    <a:bodyPr/>
                    <a:lstStyle/>
                    <a:p>
                      <a:pPr algn="ctr"/>
                      <a:r>
                        <a:rPr lang="fr-FR" sz="1600" dirty="0" smtClean="0"/>
                        <a:t>66%</a:t>
                      </a:r>
                      <a:endParaRPr lang="fr-FR" sz="1600" dirty="0"/>
                    </a:p>
                  </a:txBody>
                  <a:tcPr/>
                </a:tc>
                <a:extLst>
                  <a:ext uri="{0D108BD9-81ED-4DB2-BD59-A6C34878D82A}">
                    <a16:rowId xmlns:a16="http://schemas.microsoft.com/office/drawing/2014/main" val="10003"/>
                  </a:ext>
                </a:extLst>
              </a:tr>
              <a:tr h="370840">
                <a:tc>
                  <a:txBody>
                    <a:bodyPr/>
                    <a:lstStyle/>
                    <a:p>
                      <a:r>
                        <a:rPr lang="fr-FR" sz="1600" dirty="0" smtClean="0"/>
                        <a:t>2016</a:t>
                      </a:r>
                      <a:endParaRPr lang="fr-FR" sz="1600" dirty="0"/>
                    </a:p>
                  </a:txBody>
                  <a:tcPr/>
                </a:tc>
                <a:tc>
                  <a:txBody>
                    <a:bodyPr/>
                    <a:lstStyle/>
                    <a:p>
                      <a:pPr algn="ctr"/>
                      <a:r>
                        <a:rPr lang="fr-FR" sz="1600" dirty="0" smtClean="0"/>
                        <a:t>571 K</a:t>
                      </a:r>
                      <a:endParaRPr lang="fr-FR" sz="1600" dirty="0"/>
                    </a:p>
                  </a:txBody>
                  <a:tcPr/>
                </a:tc>
                <a:tc>
                  <a:txBody>
                    <a:bodyPr/>
                    <a:lstStyle/>
                    <a:p>
                      <a:pPr algn="ctr"/>
                      <a:r>
                        <a:rPr lang="fr-FR" sz="1600" b="1" dirty="0" smtClean="0"/>
                        <a:t>14,3</a:t>
                      </a:r>
                      <a:endParaRPr lang="fr-FR" sz="1600" b="1" dirty="0"/>
                    </a:p>
                  </a:txBody>
                  <a:tcPr/>
                </a:tc>
                <a:tc>
                  <a:txBody>
                    <a:bodyPr/>
                    <a:lstStyle/>
                    <a:p>
                      <a:pPr algn="ctr"/>
                      <a:r>
                        <a:rPr lang="fr-FR" sz="1600" dirty="0" smtClean="0"/>
                        <a:t>2,6</a:t>
                      </a:r>
                      <a:endParaRPr lang="fr-FR" sz="1600" dirty="0"/>
                    </a:p>
                  </a:txBody>
                  <a:tcPr/>
                </a:tc>
                <a:tc>
                  <a:txBody>
                    <a:bodyPr/>
                    <a:lstStyle/>
                    <a:p>
                      <a:pPr algn="ctr"/>
                      <a:r>
                        <a:rPr lang="fr-FR" sz="1600" dirty="0" smtClean="0"/>
                        <a:t>5,0</a:t>
                      </a:r>
                      <a:endParaRPr lang="fr-FR" sz="1600" dirty="0"/>
                    </a:p>
                  </a:txBody>
                  <a:tcPr/>
                </a:tc>
                <a:tc>
                  <a:txBody>
                    <a:bodyPr/>
                    <a:lstStyle/>
                    <a:p>
                      <a:pPr algn="ctr"/>
                      <a:r>
                        <a:rPr lang="fr-FR" sz="1600" b="1" dirty="0" smtClean="0"/>
                        <a:t>7,6</a:t>
                      </a:r>
                      <a:endParaRPr lang="fr-FR" sz="1600" b="1" dirty="0"/>
                    </a:p>
                  </a:txBody>
                  <a:tcPr/>
                </a:tc>
                <a:tc>
                  <a:txBody>
                    <a:bodyPr/>
                    <a:lstStyle/>
                    <a:p>
                      <a:pPr algn="ctr"/>
                      <a:r>
                        <a:rPr lang="fr-FR" sz="1600" dirty="0" smtClean="0"/>
                        <a:t>53%</a:t>
                      </a:r>
                      <a:endParaRPr lang="fr-FR" sz="16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315386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 hausse de la CSG</a:t>
            </a:r>
            <a:endParaRPr lang="fr-FR" dirty="0"/>
          </a:p>
        </p:txBody>
      </p:sp>
      <p:sp>
        <p:nvSpPr>
          <p:cNvPr id="3" name="Espace réservé du contenu 2"/>
          <p:cNvSpPr>
            <a:spLocks noGrp="1"/>
          </p:cNvSpPr>
          <p:nvPr>
            <p:ph idx="1"/>
          </p:nvPr>
        </p:nvSpPr>
        <p:spPr/>
        <p:txBody>
          <a:bodyPr>
            <a:normAutofit/>
          </a:bodyPr>
          <a:lstStyle/>
          <a:p>
            <a:pPr algn="just"/>
            <a:r>
              <a:rPr lang="fr-FR" dirty="0" smtClean="0"/>
              <a:t>Entrée en vigueur dès le 1</a:t>
            </a:r>
            <a:r>
              <a:rPr lang="fr-FR" baseline="30000" dirty="0" smtClean="0"/>
              <a:t>er</a:t>
            </a:r>
            <a:r>
              <a:rPr lang="fr-FR" dirty="0" smtClean="0"/>
              <a:t> janvier 2018</a:t>
            </a:r>
          </a:p>
          <a:p>
            <a:pPr algn="just"/>
            <a:endParaRPr lang="fr-FR" sz="1600" dirty="0" smtClean="0"/>
          </a:p>
          <a:p>
            <a:pPr algn="just"/>
            <a:r>
              <a:rPr lang="fr-FR" sz="2000" dirty="0" smtClean="0"/>
              <a:t>Réévaluation du taux de la CSG (Contribution Sociale Généralisée) avec une hausse de 1,7 point : </a:t>
            </a:r>
          </a:p>
          <a:p>
            <a:pPr algn="just"/>
            <a:endParaRPr lang="fr-FR" sz="1600" dirty="0" smtClean="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16</a:t>
            </a:fld>
            <a:endParaRPr lang="fr-FR" dirty="0"/>
          </a:p>
        </p:txBody>
      </p:sp>
      <p:sp>
        <p:nvSpPr>
          <p:cNvPr id="5" name="Espace réservé du contenu 3"/>
          <p:cNvSpPr txBox="1">
            <a:spLocks/>
          </p:cNvSpPr>
          <p:nvPr/>
        </p:nvSpPr>
        <p:spPr>
          <a:xfrm>
            <a:off x="6516216" y="404664"/>
            <a:ext cx="2448272" cy="864096"/>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2000" b="1" i="0" u="none" strike="noStrike" kern="1200" cap="none" spc="0" normalizeH="0" baseline="0" noProof="0" dirty="0" smtClean="0">
                <a:ln>
                  <a:noFill/>
                </a:ln>
                <a:solidFill>
                  <a:schemeClr val="accent3">
                    <a:lumMod val="75000"/>
                  </a:schemeClr>
                </a:solidFill>
                <a:effectLst/>
                <a:uLnTx/>
                <a:uFillTx/>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p:graphicFrame>
        <p:nvGraphicFramePr>
          <p:cNvPr id="6" name="Tableau 5"/>
          <p:cNvGraphicFramePr>
            <a:graphicFrameLocks noGrp="1"/>
          </p:cNvGraphicFramePr>
          <p:nvPr>
            <p:extLst>
              <p:ext uri="{D42A27DB-BD31-4B8C-83A1-F6EECF244321}">
                <p14:modId xmlns:p14="http://schemas.microsoft.com/office/powerpoint/2010/main" val="122475061"/>
              </p:ext>
            </p:extLst>
          </p:nvPr>
        </p:nvGraphicFramePr>
        <p:xfrm>
          <a:off x="1403648" y="3284984"/>
          <a:ext cx="7128792" cy="2062480"/>
        </p:xfrm>
        <a:graphic>
          <a:graphicData uri="http://schemas.openxmlformats.org/drawingml/2006/table">
            <a:tbl>
              <a:tblPr firstRow="1" bandRow="1">
                <a:tableStyleId>{5C22544A-7EE6-4342-B048-85BDC9FD1C3A}</a:tableStyleId>
              </a:tblPr>
              <a:tblGrid>
                <a:gridCol w="3384376">
                  <a:extLst>
                    <a:ext uri="{9D8B030D-6E8A-4147-A177-3AD203B41FA5}">
                      <a16:colId xmlns:a16="http://schemas.microsoft.com/office/drawing/2014/main" val="20000"/>
                    </a:ext>
                  </a:extLst>
                </a:gridCol>
                <a:gridCol w="1296144">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tblGrid>
              <a:tr h="370840">
                <a:tc>
                  <a:txBody>
                    <a:bodyPr/>
                    <a:lstStyle/>
                    <a:p>
                      <a:endParaRPr lang="fr-FR" dirty="0"/>
                    </a:p>
                  </a:txBody>
                  <a:tcPr/>
                </a:tc>
                <a:tc>
                  <a:txBody>
                    <a:bodyPr/>
                    <a:lstStyle/>
                    <a:p>
                      <a:pPr algn="ctr"/>
                      <a:r>
                        <a:rPr lang="fr-FR" dirty="0" smtClean="0"/>
                        <a:t>2017</a:t>
                      </a:r>
                      <a:endParaRPr lang="fr-FR" dirty="0"/>
                    </a:p>
                  </a:txBody>
                  <a:tcPr/>
                </a:tc>
                <a:tc>
                  <a:txBody>
                    <a:bodyPr/>
                    <a:lstStyle/>
                    <a:p>
                      <a:pPr algn="ctr"/>
                      <a:r>
                        <a:rPr lang="fr-FR" dirty="0" smtClean="0"/>
                        <a:t>2018</a:t>
                      </a:r>
                      <a:endParaRPr lang="fr-FR" dirty="0"/>
                    </a:p>
                  </a:txBody>
                  <a:tcPr/>
                </a:tc>
                <a:tc>
                  <a:txBody>
                    <a:bodyPr/>
                    <a:lstStyle/>
                    <a:p>
                      <a:pPr algn="ctr"/>
                      <a:r>
                        <a:rPr lang="fr-FR" dirty="0" smtClean="0"/>
                        <a:t>Hausse</a:t>
                      </a:r>
                      <a:endParaRPr lang="fr-FR" dirty="0"/>
                    </a:p>
                  </a:txBody>
                  <a:tcPr/>
                </a:tc>
                <a:extLst>
                  <a:ext uri="{0D108BD9-81ED-4DB2-BD59-A6C34878D82A}">
                    <a16:rowId xmlns:a16="http://schemas.microsoft.com/office/drawing/2014/main" val="10000"/>
                  </a:ext>
                </a:extLst>
              </a:tr>
              <a:tr h="370840">
                <a:tc>
                  <a:txBody>
                    <a:bodyPr/>
                    <a:lstStyle/>
                    <a:p>
                      <a:r>
                        <a:rPr lang="fr-FR" sz="1600" dirty="0" smtClean="0"/>
                        <a:t>Activités salariées</a:t>
                      </a:r>
                      <a:endParaRPr lang="fr-FR" sz="1600" dirty="0"/>
                    </a:p>
                  </a:txBody>
                  <a:tcPr/>
                </a:tc>
                <a:tc>
                  <a:txBody>
                    <a:bodyPr/>
                    <a:lstStyle/>
                    <a:p>
                      <a:pPr algn="ctr"/>
                      <a:r>
                        <a:rPr lang="fr-FR" sz="1600" dirty="0" smtClean="0"/>
                        <a:t>7,5%</a:t>
                      </a:r>
                      <a:endParaRPr lang="fr-FR" sz="1600" dirty="0"/>
                    </a:p>
                  </a:txBody>
                  <a:tcPr/>
                </a:tc>
                <a:tc>
                  <a:txBody>
                    <a:bodyPr/>
                    <a:lstStyle/>
                    <a:p>
                      <a:pPr algn="ctr"/>
                      <a:r>
                        <a:rPr lang="fr-FR" sz="1600" dirty="0" smtClean="0"/>
                        <a:t>9,2%</a:t>
                      </a:r>
                      <a:endParaRPr lang="fr-FR" sz="1600" dirty="0"/>
                    </a:p>
                  </a:txBody>
                  <a:tcPr/>
                </a:tc>
                <a:tc>
                  <a:txBody>
                    <a:bodyPr/>
                    <a:lstStyle/>
                    <a:p>
                      <a:pPr algn="ctr"/>
                      <a:r>
                        <a:rPr lang="fr-FR" sz="1600" dirty="0" smtClean="0"/>
                        <a:t>+1,7%</a:t>
                      </a:r>
                      <a:endParaRPr lang="fr-FR" sz="1600" dirty="0"/>
                    </a:p>
                  </a:txBody>
                  <a:tcPr/>
                </a:tc>
                <a:extLst>
                  <a:ext uri="{0D108BD9-81ED-4DB2-BD59-A6C34878D82A}">
                    <a16:rowId xmlns:a16="http://schemas.microsoft.com/office/drawing/2014/main" val="10001"/>
                  </a:ext>
                </a:extLst>
              </a:tr>
              <a:tr h="370840">
                <a:tc>
                  <a:txBody>
                    <a:bodyPr/>
                    <a:lstStyle/>
                    <a:p>
                      <a:r>
                        <a:rPr lang="fr-FR" sz="1600" dirty="0" smtClean="0"/>
                        <a:t>Retraites &amp; pré-retraites</a:t>
                      </a:r>
                      <a:endParaRPr lang="fr-FR" sz="1600" dirty="0"/>
                    </a:p>
                  </a:txBody>
                  <a:tcPr/>
                </a:tc>
                <a:tc>
                  <a:txBody>
                    <a:bodyPr/>
                    <a:lstStyle/>
                    <a:p>
                      <a:pPr algn="ctr"/>
                      <a:r>
                        <a:rPr lang="fr-FR" sz="1600" dirty="0" smtClean="0"/>
                        <a:t>6,6%</a:t>
                      </a:r>
                      <a:endParaRPr lang="fr-FR" sz="1600" dirty="0"/>
                    </a:p>
                  </a:txBody>
                  <a:tcPr/>
                </a:tc>
                <a:tc>
                  <a:txBody>
                    <a:bodyPr/>
                    <a:lstStyle/>
                    <a:p>
                      <a:pPr algn="ctr"/>
                      <a:r>
                        <a:rPr lang="fr-FR" sz="1600" dirty="0" smtClean="0"/>
                        <a:t>8,3%</a:t>
                      </a:r>
                      <a:endParaRPr lang="fr-FR" sz="1600" dirty="0"/>
                    </a:p>
                  </a:txBody>
                  <a:tcPr/>
                </a:tc>
                <a:tc>
                  <a:txBody>
                    <a:bodyPr/>
                    <a:lstStyle/>
                    <a:p>
                      <a:pPr algn="ctr"/>
                      <a:r>
                        <a:rPr lang="fr-FR" sz="1600" dirty="0" smtClean="0"/>
                        <a:t>+1,7%</a:t>
                      </a:r>
                      <a:endParaRPr lang="fr-FR" sz="1600" dirty="0"/>
                    </a:p>
                  </a:txBody>
                  <a:tcPr/>
                </a:tc>
                <a:extLst>
                  <a:ext uri="{0D108BD9-81ED-4DB2-BD59-A6C34878D82A}">
                    <a16:rowId xmlns:a16="http://schemas.microsoft.com/office/drawing/2014/main" val="10002"/>
                  </a:ext>
                </a:extLst>
              </a:tr>
              <a:tr h="370840">
                <a:tc>
                  <a:txBody>
                    <a:bodyPr/>
                    <a:lstStyle/>
                    <a:p>
                      <a:r>
                        <a:rPr lang="fr-FR" sz="1600" dirty="0" smtClean="0"/>
                        <a:t>Revenus patrimoine</a:t>
                      </a:r>
                      <a:endParaRPr lang="fr-FR" sz="1600" dirty="0"/>
                    </a:p>
                  </a:txBody>
                  <a:tcPr/>
                </a:tc>
                <a:tc>
                  <a:txBody>
                    <a:bodyPr/>
                    <a:lstStyle/>
                    <a:p>
                      <a:pPr algn="ctr"/>
                      <a:r>
                        <a:rPr lang="fr-FR" sz="1600" dirty="0" smtClean="0"/>
                        <a:t>8,2%</a:t>
                      </a:r>
                      <a:endParaRPr lang="fr-FR" sz="1600" dirty="0"/>
                    </a:p>
                  </a:txBody>
                  <a:tcPr/>
                </a:tc>
                <a:tc>
                  <a:txBody>
                    <a:bodyPr/>
                    <a:lstStyle/>
                    <a:p>
                      <a:pPr algn="ctr"/>
                      <a:r>
                        <a:rPr lang="fr-FR" sz="1600" dirty="0" smtClean="0"/>
                        <a:t>9,9%</a:t>
                      </a:r>
                      <a:endParaRPr lang="fr-FR" sz="1600" dirty="0"/>
                    </a:p>
                  </a:txBody>
                  <a:tcPr/>
                </a:tc>
                <a:tc>
                  <a:txBody>
                    <a:bodyPr/>
                    <a:lstStyle/>
                    <a:p>
                      <a:pPr algn="ctr"/>
                      <a:r>
                        <a:rPr lang="fr-FR" sz="1600" dirty="0" smtClean="0"/>
                        <a:t>+1,7%</a:t>
                      </a:r>
                      <a:endParaRPr lang="fr-FR" sz="16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Allocations chômages &amp; indemnités</a:t>
                      </a:r>
                      <a:r>
                        <a:rPr lang="fr-FR" sz="1600" baseline="0" dirty="0" smtClean="0"/>
                        <a:t> SS</a:t>
                      </a:r>
                      <a:endParaRPr lang="fr-FR" sz="1600" dirty="0" smtClean="0"/>
                    </a:p>
                  </a:txBody>
                  <a:tcPr/>
                </a:tc>
                <a:tc>
                  <a:txBody>
                    <a:bodyPr/>
                    <a:lstStyle/>
                    <a:p>
                      <a:pPr algn="ctr"/>
                      <a:r>
                        <a:rPr lang="fr-FR" sz="1600" dirty="0" smtClean="0"/>
                        <a:t>6,2%</a:t>
                      </a:r>
                      <a:endParaRPr lang="fr-FR" sz="1600" dirty="0"/>
                    </a:p>
                  </a:txBody>
                  <a:tcPr/>
                </a:tc>
                <a:tc>
                  <a:txBody>
                    <a:bodyPr/>
                    <a:lstStyle/>
                    <a:p>
                      <a:pPr algn="ctr"/>
                      <a:r>
                        <a:rPr lang="fr-FR" sz="1600" dirty="0" smtClean="0"/>
                        <a:t>6,2%</a:t>
                      </a:r>
                      <a:endParaRPr lang="fr-FR" sz="1600" dirty="0"/>
                    </a:p>
                  </a:txBody>
                  <a:tcPr/>
                </a:tc>
                <a:tc>
                  <a:txBody>
                    <a:bodyPr/>
                    <a:lstStyle/>
                    <a:p>
                      <a:pPr algn="ctr"/>
                      <a:r>
                        <a:rPr lang="fr-FR" sz="1600" dirty="0" smtClean="0"/>
                        <a:t>- </a:t>
                      </a:r>
                      <a:endParaRPr lang="fr-FR" sz="1600" dirty="0"/>
                    </a:p>
                  </a:txBody>
                  <a:tcPr/>
                </a:tc>
                <a:extLst>
                  <a:ext uri="{0D108BD9-81ED-4DB2-BD59-A6C34878D82A}">
                    <a16:rowId xmlns:a16="http://schemas.microsoft.com/office/drawing/2014/main" val="10004"/>
                  </a:ext>
                </a:extLst>
              </a:tr>
            </a:tbl>
          </a:graphicData>
        </a:graphic>
      </p:graphicFrame>
      <p:sp>
        <p:nvSpPr>
          <p:cNvPr id="7" name="ZoneTexte 6"/>
          <p:cNvSpPr txBox="1"/>
          <p:nvPr/>
        </p:nvSpPr>
        <p:spPr>
          <a:xfrm>
            <a:off x="611560" y="5589240"/>
            <a:ext cx="8208912" cy="646331"/>
          </a:xfrm>
          <a:prstGeom prst="rect">
            <a:avLst/>
          </a:prstGeom>
          <a:noFill/>
        </p:spPr>
        <p:txBody>
          <a:bodyPr wrap="square" rtlCol="0">
            <a:spAutoFit/>
          </a:bodyPr>
          <a:lstStyle/>
          <a:p>
            <a:r>
              <a:rPr lang="fr-FR" dirty="0" smtClean="0"/>
              <a:t>=&gt; Impact sur le calcul de l’intéressement et de la participation versé en 2018 sur les exercices clos en 2017.</a:t>
            </a:r>
            <a:endParaRPr lang="fr-FR" dirty="0"/>
          </a:p>
        </p:txBody>
      </p:sp>
    </p:spTree>
    <p:extLst>
      <p:ext uri="{BB962C8B-B14F-4D97-AF65-F5344CB8AC3E}">
        <p14:creationId xmlns:p14="http://schemas.microsoft.com/office/powerpoint/2010/main" val="1142167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800" dirty="0" smtClean="0"/>
              <a:t>La fiscalité des entreprises </a:t>
            </a:r>
            <a:br>
              <a:rPr lang="fr-FR" sz="2800" dirty="0" smtClean="0"/>
            </a:br>
            <a:r>
              <a:rPr lang="fr-FR" sz="2800" dirty="0" smtClean="0"/>
              <a:t>devient un argument marketing</a:t>
            </a:r>
            <a:endParaRPr lang="fr-FR" sz="2800"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17</a:t>
            </a:fld>
            <a:endParaRPr lang="fr-FR" dirty="0"/>
          </a:p>
        </p:txBody>
      </p:sp>
      <p:sp>
        <p:nvSpPr>
          <p:cNvPr id="3" name="Espace réservé du contenu 2"/>
          <p:cNvSpPr>
            <a:spLocks noGrp="1"/>
          </p:cNvSpPr>
          <p:nvPr>
            <p:ph idx="1"/>
          </p:nvPr>
        </p:nvSpPr>
        <p:spPr>
          <a:xfrm>
            <a:off x="457200" y="1600200"/>
            <a:ext cx="8229600" cy="1612776"/>
          </a:xfrm>
        </p:spPr>
        <p:txBody>
          <a:bodyPr/>
          <a:lstStyle/>
          <a:p>
            <a:r>
              <a:rPr lang="fr-FR" sz="2000" dirty="0" smtClean="0"/>
              <a:t>Les consommateurs sont de plus en plus sensibles au Made In France et à la responsabilité sociétale des entreprises, y compris le paiement des impôts en France</a:t>
            </a:r>
          </a:p>
          <a:p>
            <a:endParaRPr lang="fr-FR"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2688986"/>
            <a:ext cx="5881244" cy="37547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Espace réservé du contenu 3"/>
          <p:cNvSpPr txBox="1">
            <a:spLocks/>
          </p:cNvSpPr>
          <p:nvPr/>
        </p:nvSpPr>
        <p:spPr>
          <a:xfrm>
            <a:off x="6372200" y="548680"/>
            <a:ext cx="2448272" cy="864096"/>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2000" b="1" i="0" u="none" strike="noStrike" kern="1200" cap="none" spc="0" normalizeH="0" baseline="0" noProof="0" dirty="0" smtClean="0">
                <a:ln>
                  <a:noFill/>
                </a:ln>
                <a:solidFill>
                  <a:schemeClr val="accent3">
                    <a:lumMod val="75000"/>
                  </a:schemeClr>
                </a:solidFill>
                <a:effectLst/>
                <a:uLnTx/>
                <a:uFillTx/>
              </a:rPr>
              <a:t>	</a:t>
            </a:r>
            <a:r>
              <a:rPr lang="fr-FR" sz="2000" b="1" dirty="0" smtClean="0">
                <a:solidFill>
                  <a:schemeClr val="accent3">
                    <a:lumMod val="75000"/>
                  </a:schemeClr>
                </a:solidFill>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p:spTree>
    <p:extLst>
      <p:ext uri="{BB962C8B-B14F-4D97-AF65-F5344CB8AC3E}">
        <p14:creationId xmlns:p14="http://schemas.microsoft.com/office/powerpoint/2010/main" val="593677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548680"/>
            <a:ext cx="6336704" cy="990600"/>
          </a:xfrm>
        </p:spPr>
        <p:txBody>
          <a:bodyPr>
            <a:noAutofit/>
          </a:bodyPr>
          <a:lstStyle/>
          <a:p>
            <a:r>
              <a:rPr lang="fr-FR" sz="2800" dirty="0" smtClean="0"/>
              <a:t>Un projet de taxation des géants du Net </a:t>
            </a:r>
            <a:br>
              <a:rPr lang="fr-FR" sz="2800" dirty="0" smtClean="0"/>
            </a:br>
            <a:r>
              <a:rPr lang="fr-FR" sz="2800" dirty="0" smtClean="0"/>
              <a:t>au niveau européen</a:t>
            </a:r>
            <a:endParaRPr lang="fr-FR" sz="2800"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18</a:t>
            </a:fld>
            <a:endParaRPr lang="fr-FR" dirty="0"/>
          </a:p>
        </p:txBody>
      </p:sp>
      <p:sp>
        <p:nvSpPr>
          <p:cNvPr id="3" name="Espace réservé du contenu 2"/>
          <p:cNvSpPr>
            <a:spLocks noGrp="1"/>
          </p:cNvSpPr>
          <p:nvPr>
            <p:ph idx="1"/>
          </p:nvPr>
        </p:nvSpPr>
        <p:spPr>
          <a:xfrm>
            <a:off x="539552" y="2852936"/>
            <a:ext cx="8280920" cy="4565104"/>
          </a:xfrm>
        </p:spPr>
        <p:txBody>
          <a:bodyPr>
            <a:normAutofit/>
          </a:bodyPr>
          <a:lstStyle/>
          <a:p>
            <a:pPr algn="just"/>
            <a:r>
              <a:rPr lang="fr-FR" sz="1600" dirty="0" smtClean="0"/>
              <a:t>Proposition faite le mercredi 21 mars par Bruxelles d’une taxe de 3% sur le CA des groupes du numérique dans l’Union Européenne.</a:t>
            </a:r>
          </a:p>
          <a:p>
            <a:pPr algn="just"/>
            <a:endParaRPr lang="fr-FR" sz="1600" dirty="0" smtClean="0"/>
          </a:p>
          <a:p>
            <a:pPr algn="just"/>
            <a:r>
              <a:rPr lang="fr-FR" sz="1600" dirty="0" smtClean="0"/>
              <a:t>Taxe qui s’appliquerait aux entreprises ayant :</a:t>
            </a:r>
          </a:p>
          <a:p>
            <a:pPr lvl="1" algn="just"/>
            <a:r>
              <a:rPr lang="fr-FR" sz="1200" dirty="0" smtClean="0"/>
              <a:t>un CA &gt; 750 M d’€ au niveau mondial et </a:t>
            </a:r>
          </a:p>
          <a:p>
            <a:pPr lvl="1" algn="just"/>
            <a:r>
              <a:rPr lang="fr-FR" sz="1200" dirty="0" smtClean="0"/>
              <a:t>un CA  &gt; 50 M d’€ dans l’Union européenne.</a:t>
            </a:r>
          </a:p>
          <a:p>
            <a:pPr algn="just"/>
            <a:endParaRPr lang="fr-FR" sz="1600" dirty="0"/>
          </a:p>
          <a:p>
            <a:pPr algn="just"/>
            <a:r>
              <a:rPr lang="fr-FR" sz="1600" dirty="0" smtClean="0"/>
              <a:t>Impôt pouvant rapporter 5 à 8 Mds d’€ par an au niveau de l’Europe</a:t>
            </a:r>
          </a:p>
          <a:p>
            <a:pPr algn="just"/>
            <a:endParaRPr lang="fr-FR" sz="1600" dirty="0"/>
          </a:p>
          <a:p>
            <a:r>
              <a:rPr lang="fr-FR" sz="1600" dirty="0" smtClean="0"/>
              <a:t>Impôt temporaire, en attendant de trouver une solution globale pour la fiscalité des activités numériques.</a:t>
            </a:r>
            <a:br>
              <a:rPr lang="fr-FR" sz="1600" dirty="0" smtClean="0"/>
            </a:br>
            <a:endParaRPr lang="fr-FR" sz="1600" dirty="0" smtClean="0"/>
          </a:p>
          <a:p>
            <a:pPr algn="just"/>
            <a:r>
              <a:rPr lang="fr-FR" sz="1600" dirty="0" smtClean="0"/>
              <a:t>Suscite des divisions entre l’Union Européenne et les États-Unis </a:t>
            </a:r>
          </a:p>
        </p:txBody>
      </p:sp>
      <p:sp>
        <p:nvSpPr>
          <p:cNvPr id="7" name="Espace réservé du contenu 3"/>
          <p:cNvSpPr txBox="1">
            <a:spLocks/>
          </p:cNvSpPr>
          <p:nvPr/>
        </p:nvSpPr>
        <p:spPr>
          <a:xfrm>
            <a:off x="6876256" y="548680"/>
            <a:ext cx="1944216" cy="720080"/>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55000" lnSpcReduction="20000"/>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2000" b="1" i="0" u="none" strike="noStrike" kern="1200" cap="none" spc="0" normalizeH="0" baseline="0" noProof="0" dirty="0" smtClean="0">
                <a:ln>
                  <a:noFill/>
                </a:ln>
                <a:solidFill>
                  <a:schemeClr val="accent3">
                    <a:lumMod val="75000"/>
                  </a:schemeClr>
                </a:solidFill>
                <a:effectLst/>
                <a:uLnTx/>
                <a:uFillTx/>
              </a:rPr>
              <a:t>	</a:t>
            </a:r>
            <a:r>
              <a:rPr lang="fr-FR" sz="2000" b="1" dirty="0" smtClean="0">
                <a:solidFill>
                  <a:schemeClr val="accent3">
                    <a:lumMod val="75000"/>
                  </a:schemeClr>
                </a:solidFill>
              </a:rPr>
              <a:t>Fiscalité européenne</a:t>
            </a:r>
            <a:endParaRPr kumimoji="0" lang="fr-FR" sz="2000" b="0" i="0" u="none" strike="noStrike" kern="1200" cap="none" spc="0" normalizeH="0" baseline="0" noProof="0" dirty="0">
              <a:ln>
                <a:noFill/>
              </a:ln>
              <a:solidFill>
                <a:schemeClr val="accent3">
                  <a:lumMod val="75000"/>
                </a:schemeClr>
              </a:solidFill>
              <a:effectLst/>
              <a:uLnTx/>
              <a:uFillTx/>
            </a:endParaRP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3888" y="1124744"/>
            <a:ext cx="4104456" cy="16120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0563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6347048" cy="990600"/>
          </a:xfrm>
        </p:spPr>
        <p:txBody>
          <a:bodyPr>
            <a:normAutofit fontScale="90000"/>
          </a:bodyPr>
          <a:lstStyle/>
          <a:p>
            <a:r>
              <a:rPr lang="fr-FR" dirty="0" smtClean="0"/>
              <a:t>Recommandations AMF sur l’information RSE </a:t>
            </a:r>
            <a:endParaRPr lang="fr-FR" dirty="0"/>
          </a:p>
        </p:txBody>
      </p:sp>
      <p:sp>
        <p:nvSpPr>
          <p:cNvPr id="3" name="Espace réservé du contenu 2"/>
          <p:cNvSpPr>
            <a:spLocks noGrp="1"/>
          </p:cNvSpPr>
          <p:nvPr>
            <p:ph idx="1"/>
          </p:nvPr>
        </p:nvSpPr>
        <p:spPr/>
        <p:txBody>
          <a:bodyPr>
            <a:normAutofit fontScale="92500"/>
          </a:bodyPr>
          <a:lstStyle/>
          <a:p>
            <a:pPr algn="just"/>
            <a:endParaRPr lang="fr-FR" dirty="0" smtClean="0"/>
          </a:p>
          <a:p>
            <a:pPr algn="just"/>
            <a:r>
              <a:rPr lang="fr-FR" dirty="0" smtClean="0"/>
              <a:t>Nouvelles obligations – décret du 19 août 2016 – applicable à compter du 1</a:t>
            </a:r>
            <a:r>
              <a:rPr lang="fr-FR" baseline="30000" dirty="0" smtClean="0"/>
              <a:t>er</a:t>
            </a:r>
            <a:r>
              <a:rPr lang="fr-FR" dirty="0" smtClean="0"/>
              <a:t> janvier 2017</a:t>
            </a:r>
          </a:p>
          <a:p>
            <a:pPr lvl="1" algn="just"/>
            <a:r>
              <a:rPr lang="fr-FR" dirty="0" smtClean="0"/>
              <a:t>Évaluation des émissions de gaz à effet de serre élargie à la totalité de la chaine de valeur. (chez les fournisseurs ou les clients) </a:t>
            </a:r>
          </a:p>
          <a:p>
            <a:pPr lvl="1" algn="just"/>
            <a:r>
              <a:rPr lang="fr-FR" dirty="0" smtClean="0"/>
              <a:t>Communication de l’impact des accords collectifs sur la performance économique de l’entreprise mais aussi sur les conditions de travail.</a:t>
            </a:r>
          </a:p>
          <a:p>
            <a:pPr lvl="1" algn="just"/>
            <a:endParaRPr lang="fr-FR" dirty="0" smtClean="0"/>
          </a:p>
          <a:p>
            <a:r>
              <a:rPr lang="fr-FR" dirty="0" smtClean="0"/>
              <a:t>Recommandations de l’AMF</a:t>
            </a:r>
          </a:p>
          <a:p>
            <a:pPr lvl="1"/>
            <a:r>
              <a:rPr lang="fr-FR" dirty="0" smtClean="0"/>
              <a:t>Accroitre la pertinence de l’information extra-financière</a:t>
            </a:r>
          </a:p>
          <a:p>
            <a:pPr lvl="1"/>
            <a:r>
              <a:rPr lang="fr-FR" dirty="0" smtClean="0"/>
              <a:t>Mieux décrire le rôle de la RSE dans la stratégie de l’entreprise</a:t>
            </a:r>
          </a:p>
          <a:p>
            <a:pPr lvl="1"/>
            <a:r>
              <a:rPr lang="fr-FR" dirty="0" smtClean="0"/>
              <a:t>S’interroger sur l’articulation des informations financières et extra-financières</a:t>
            </a:r>
          </a:p>
          <a:p>
            <a:pPr lvl="1"/>
            <a:r>
              <a:rPr lang="fr-FR" dirty="0" smtClean="0"/>
              <a:t>Améliorer la communication des émissions de « green bonds »</a:t>
            </a:r>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19</a:t>
            </a:fld>
            <a:endParaRPr lang="fr-FR"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199" y="548680"/>
            <a:ext cx="2619651"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89443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La France championne des green bonds</a:t>
            </a:r>
            <a:endParaRPr lang="fr-FR" dirty="0"/>
          </a:p>
        </p:txBody>
      </p:sp>
      <p:sp>
        <p:nvSpPr>
          <p:cNvPr id="3" name="Espace réservé du contenu 2"/>
          <p:cNvSpPr>
            <a:spLocks noGrp="1"/>
          </p:cNvSpPr>
          <p:nvPr>
            <p:ph idx="1"/>
          </p:nvPr>
        </p:nvSpPr>
        <p:spPr>
          <a:xfrm>
            <a:off x="457200" y="1600200"/>
            <a:ext cx="8229600" cy="2044824"/>
          </a:xfrm>
        </p:spPr>
        <p:txBody>
          <a:bodyPr/>
          <a:lstStyle/>
          <a:p>
            <a:pPr algn="just"/>
            <a:r>
              <a:rPr lang="fr-FR" dirty="0" smtClean="0"/>
              <a:t>Finance verte = enjeu de compétition entre les places financières</a:t>
            </a:r>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20</a:t>
            </a:fld>
            <a:endParaRPr lang="fr-FR"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492896"/>
            <a:ext cx="7010400" cy="412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9955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7355160" cy="990600"/>
          </a:xfrm>
        </p:spPr>
        <p:txBody>
          <a:bodyPr>
            <a:normAutofit fontScale="90000"/>
          </a:bodyPr>
          <a:lstStyle/>
          <a:p>
            <a:r>
              <a:rPr lang="fr-FR" dirty="0" smtClean="0"/>
              <a:t>Nouvelle déclaration : </a:t>
            </a:r>
            <a:br>
              <a:rPr lang="fr-FR" dirty="0" smtClean="0"/>
            </a:br>
            <a:r>
              <a:rPr lang="fr-FR" dirty="0" smtClean="0"/>
              <a:t>le </a:t>
            </a:r>
            <a:r>
              <a:rPr lang="fr-FR" dirty="0" err="1" smtClean="0"/>
              <a:t>reporting</a:t>
            </a:r>
            <a:r>
              <a:rPr lang="fr-FR" dirty="0" smtClean="0"/>
              <a:t> pays par pays</a:t>
            </a:r>
            <a:endParaRPr lang="fr-FR" dirty="0"/>
          </a:p>
        </p:txBody>
      </p:sp>
      <p:sp>
        <p:nvSpPr>
          <p:cNvPr id="3" name="Espace réservé du contenu 2"/>
          <p:cNvSpPr>
            <a:spLocks noGrp="1"/>
          </p:cNvSpPr>
          <p:nvPr>
            <p:ph idx="1"/>
          </p:nvPr>
        </p:nvSpPr>
        <p:spPr>
          <a:xfrm>
            <a:off x="179512" y="1600200"/>
            <a:ext cx="8784976" cy="4876800"/>
          </a:xfrm>
        </p:spPr>
        <p:txBody>
          <a:bodyPr>
            <a:normAutofit fontScale="92500"/>
          </a:bodyPr>
          <a:lstStyle/>
          <a:p>
            <a:pPr algn="just"/>
            <a:endParaRPr lang="fr-FR" dirty="0" smtClean="0"/>
          </a:p>
          <a:p>
            <a:pPr algn="just"/>
            <a:r>
              <a:rPr lang="fr-FR" dirty="0" smtClean="0"/>
              <a:t>Dispositif de l’OCDE : le CBCR (Country By Country Report) qui concernent les entreprises réalisant un CA de plus de 750M€ et devant impacter progressivement celles de plus de 250M€.</a:t>
            </a:r>
          </a:p>
          <a:p>
            <a:pPr marL="0" indent="0">
              <a:buNone/>
            </a:pPr>
            <a:endParaRPr lang="fr-FR" sz="1000" dirty="0" smtClean="0"/>
          </a:p>
          <a:p>
            <a:r>
              <a:rPr lang="fr-FR" dirty="0" smtClean="0"/>
              <a:t>Rapport à l’administration fiscale devant contenir les informations suivantes :</a:t>
            </a:r>
          </a:p>
          <a:p>
            <a:pPr lvl="1"/>
            <a:r>
              <a:rPr lang="fr-FR" dirty="0" smtClean="0"/>
              <a:t>Montant du CA net </a:t>
            </a:r>
          </a:p>
          <a:p>
            <a:pPr lvl="1"/>
            <a:r>
              <a:rPr lang="fr-FR" dirty="0" smtClean="0"/>
              <a:t>Montant du résultat avant impôt sur les bénéfices </a:t>
            </a:r>
          </a:p>
          <a:p>
            <a:pPr lvl="1"/>
            <a:r>
              <a:rPr lang="fr-FR" dirty="0" smtClean="0"/>
              <a:t>Montant de l’impôt sur les bénéfices dû et acquitté </a:t>
            </a:r>
          </a:p>
          <a:p>
            <a:pPr lvl="1"/>
            <a:r>
              <a:rPr lang="fr-FR" dirty="0" smtClean="0"/>
              <a:t>Montant des bénéfices non distribués </a:t>
            </a:r>
          </a:p>
          <a:p>
            <a:pPr marL="274320" lvl="1" indent="0">
              <a:buNone/>
            </a:pPr>
            <a:endParaRPr lang="fr-FR" sz="1000" dirty="0"/>
          </a:p>
          <a:p>
            <a:r>
              <a:rPr lang="fr-FR" dirty="0" smtClean="0"/>
              <a:t>Création de feuillets spécifiques pour les liasses  2017 : n° 2258-SD</a:t>
            </a:r>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21</a:t>
            </a:fld>
            <a:endParaRPr lang="fr-FR" dirty="0"/>
          </a:p>
        </p:txBody>
      </p:sp>
      <p:sp>
        <p:nvSpPr>
          <p:cNvPr id="5" name="Espace réservé du contenu 3"/>
          <p:cNvSpPr txBox="1">
            <a:spLocks/>
          </p:cNvSpPr>
          <p:nvPr/>
        </p:nvSpPr>
        <p:spPr>
          <a:xfrm>
            <a:off x="6372200" y="548680"/>
            <a:ext cx="2448272" cy="864096"/>
          </a:xfrm>
          <a:prstGeom prst="teardrop">
            <a:avLst>
              <a:gd name="adj" fmla="val 97829"/>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2000" b="1" i="0" u="none" strike="noStrike" kern="1200" cap="none" spc="0" normalizeH="0" baseline="0" noProof="0" dirty="0" smtClean="0">
                <a:ln>
                  <a:noFill/>
                </a:ln>
                <a:solidFill>
                  <a:schemeClr val="accent3">
                    <a:lumMod val="75000"/>
                  </a:schemeClr>
                </a:solidFill>
                <a:effectLst/>
                <a:uLnTx/>
                <a:uFillTx/>
              </a:rPr>
              <a:t>	</a:t>
            </a:r>
            <a:r>
              <a:rPr lang="fr-FR" sz="2000" b="1" dirty="0" smtClean="0">
                <a:solidFill>
                  <a:schemeClr val="accent3">
                    <a:lumMod val="75000"/>
                  </a:schemeClr>
                </a:solidFill>
              </a:rPr>
              <a:t>Fiscalité</a:t>
            </a:r>
            <a:endParaRPr kumimoji="0" lang="fr-FR" sz="2000" b="0" i="0" u="none" strike="noStrike" kern="1200" cap="none" spc="0" normalizeH="0" baseline="0" noProof="0" dirty="0">
              <a:ln>
                <a:noFill/>
              </a:ln>
              <a:solidFill>
                <a:schemeClr val="accent3">
                  <a:lumMod val="75000"/>
                </a:schemeClr>
              </a:solidFill>
              <a:effectLst/>
              <a:uLnTx/>
              <a:uFillTx/>
            </a:endParaRPr>
          </a:p>
        </p:txBody>
      </p:sp>
    </p:spTree>
    <p:extLst>
      <p:ext uri="{BB962C8B-B14F-4D97-AF65-F5344CB8AC3E}">
        <p14:creationId xmlns:p14="http://schemas.microsoft.com/office/powerpoint/2010/main" val="2680635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6347048" cy="990600"/>
          </a:xfrm>
        </p:spPr>
        <p:txBody>
          <a:bodyPr>
            <a:normAutofit/>
          </a:bodyPr>
          <a:lstStyle/>
          <a:p>
            <a:r>
              <a:rPr lang="fr-FR" dirty="0" smtClean="0"/>
              <a:t>Nouvelles obligations RSE</a:t>
            </a:r>
            <a:endParaRPr lang="fr-FR" dirty="0"/>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616175143"/>
              </p:ext>
            </p:extLst>
          </p:nvPr>
        </p:nvGraphicFramePr>
        <p:xfrm>
          <a:off x="9872" y="1340768"/>
          <a:ext cx="9144002" cy="5486400"/>
        </p:xfrm>
        <a:graphic>
          <a:graphicData uri="http://schemas.openxmlformats.org/drawingml/2006/table">
            <a:tbl>
              <a:tblPr firstRow="1" bandRow="1">
                <a:tableStyleId>{5C22544A-7EE6-4342-B048-85BDC9FD1C3A}</a:tableStyleId>
              </a:tblPr>
              <a:tblGrid>
                <a:gridCol w="2192822">
                  <a:extLst>
                    <a:ext uri="{9D8B030D-6E8A-4147-A177-3AD203B41FA5}">
                      <a16:colId xmlns:a16="http://schemas.microsoft.com/office/drawing/2014/main" val="20000"/>
                    </a:ext>
                  </a:extLst>
                </a:gridCol>
                <a:gridCol w="2499813">
                  <a:extLst>
                    <a:ext uri="{9D8B030D-6E8A-4147-A177-3AD203B41FA5}">
                      <a16:colId xmlns:a16="http://schemas.microsoft.com/office/drawing/2014/main" val="20001"/>
                    </a:ext>
                  </a:extLst>
                </a:gridCol>
                <a:gridCol w="2327638">
                  <a:extLst>
                    <a:ext uri="{9D8B030D-6E8A-4147-A177-3AD203B41FA5}">
                      <a16:colId xmlns:a16="http://schemas.microsoft.com/office/drawing/2014/main" val="20002"/>
                    </a:ext>
                  </a:extLst>
                </a:gridCol>
                <a:gridCol w="2123729">
                  <a:extLst>
                    <a:ext uri="{9D8B030D-6E8A-4147-A177-3AD203B41FA5}">
                      <a16:colId xmlns:a16="http://schemas.microsoft.com/office/drawing/2014/main" val="20003"/>
                    </a:ext>
                  </a:extLst>
                </a:gridCol>
              </a:tblGrid>
              <a:tr h="370840">
                <a:tc>
                  <a:txBody>
                    <a:bodyPr/>
                    <a:lstStyle/>
                    <a:p>
                      <a:endParaRPr lang="fr-FR" sz="1500" dirty="0"/>
                    </a:p>
                  </a:txBody>
                  <a:tcPr/>
                </a:tc>
                <a:tc>
                  <a:txBody>
                    <a:bodyPr/>
                    <a:lstStyle/>
                    <a:p>
                      <a:pPr algn="ctr"/>
                      <a:r>
                        <a:rPr lang="fr-FR" sz="1500" dirty="0" smtClean="0"/>
                        <a:t>Déclaration de performance</a:t>
                      </a:r>
                      <a:endParaRPr lang="fr-FR" sz="1500" dirty="0"/>
                    </a:p>
                  </a:txBody>
                  <a:tcPr/>
                </a:tc>
                <a:tc>
                  <a:txBody>
                    <a:bodyPr/>
                    <a:lstStyle/>
                    <a:p>
                      <a:pPr algn="ctr"/>
                      <a:r>
                        <a:rPr lang="fr-FR" sz="1500" dirty="0" smtClean="0"/>
                        <a:t>Plan de vigilance</a:t>
                      </a:r>
                      <a:endParaRPr lang="fr-FR" sz="1500" dirty="0"/>
                    </a:p>
                  </a:txBody>
                  <a:tcPr/>
                </a:tc>
                <a:tc>
                  <a:txBody>
                    <a:bodyPr/>
                    <a:lstStyle/>
                    <a:p>
                      <a:pPr algn="ctr"/>
                      <a:r>
                        <a:rPr lang="fr-FR" sz="1500" dirty="0" smtClean="0"/>
                        <a:t>Dispositif anti-corruption</a:t>
                      </a:r>
                      <a:endParaRPr lang="fr-FR" sz="1500" dirty="0"/>
                    </a:p>
                  </a:txBody>
                  <a:tcPr/>
                </a:tc>
                <a:extLst>
                  <a:ext uri="{0D108BD9-81ED-4DB2-BD59-A6C34878D82A}">
                    <a16:rowId xmlns:a16="http://schemas.microsoft.com/office/drawing/2014/main" val="10000"/>
                  </a:ext>
                </a:extLst>
              </a:tr>
              <a:tr h="370840">
                <a:tc>
                  <a:txBody>
                    <a:bodyPr/>
                    <a:lstStyle/>
                    <a:p>
                      <a:pPr algn="ctr"/>
                      <a:r>
                        <a:rPr lang="fr-FR" sz="1500" dirty="0" smtClean="0"/>
                        <a:t>Entités concernées</a:t>
                      </a:r>
                      <a:endParaRPr lang="fr-FR" sz="1500" dirty="0"/>
                    </a:p>
                  </a:txBody>
                  <a:tcPr anchor="ctr"/>
                </a:tc>
                <a:tc>
                  <a:txBody>
                    <a:bodyPr/>
                    <a:lstStyle/>
                    <a:p>
                      <a:pPr marL="0" indent="0">
                        <a:buFontTx/>
                        <a:buNone/>
                      </a:pPr>
                      <a:r>
                        <a:rPr lang="fr-FR" sz="1500" b="1" dirty="0" smtClean="0"/>
                        <a:t>Sociétés cotées :</a:t>
                      </a:r>
                    </a:p>
                    <a:p>
                      <a:pPr marL="0" indent="0">
                        <a:buFontTx/>
                        <a:buNone/>
                      </a:pPr>
                      <a:r>
                        <a:rPr lang="fr-FR" sz="1500" dirty="0" smtClean="0"/>
                        <a:t> - 20 M€ bilan ou 40M€</a:t>
                      </a:r>
                      <a:r>
                        <a:rPr lang="fr-FR" sz="1500" baseline="0" dirty="0" smtClean="0"/>
                        <a:t> de CA</a:t>
                      </a:r>
                    </a:p>
                    <a:p>
                      <a:pPr marL="0" indent="0">
                        <a:buFontTx/>
                        <a:buNone/>
                      </a:pPr>
                      <a:r>
                        <a:rPr lang="fr-FR" sz="1500" baseline="0" dirty="0" smtClean="0"/>
                        <a:t>- Et 500 salariés</a:t>
                      </a:r>
                      <a:endParaRPr lang="fr-FR" sz="1500" dirty="0" smtClean="0"/>
                    </a:p>
                    <a:p>
                      <a:pPr marL="285750" indent="-285750">
                        <a:buFontTx/>
                        <a:buChar char="-"/>
                      </a:pPr>
                      <a:endParaRPr lang="fr-FR" sz="1500" dirty="0" smtClean="0"/>
                    </a:p>
                    <a:p>
                      <a:pPr marL="0" indent="0">
                        <a:buFontTx/>
                        <a:buNone/>
                      </a:pPr>
                      <a:r>
                        <a:rPr lang="fr-FR" sz="1500" b="1" dirty="0" smtClean="0"/>
                        <a:t>Sociétés non cotées :</a:t>
                      </a:r>
                    </a:p>
                    <a:p>
                      <a:pPr marL="285750" indent="-285750">
                        <a:buFontTx/>
                        <a:buChar char="-"/>
                      </a:pPr>
                      <a:r>
                        <a:rPr lang="fr-FR" sz="1500" dirty="0" smtClean="0"/>
                        <a:t>100M</a:t>
                      </a:r>
                      <a:r>
                        <a:rPr lang="fr-FR" sz="1500" baseline="0" dirty="0" smtClean="0"/>
                        <a:t>€ bilan ou CA</a:t>
                      </a:r>
                    </a:p>
                    <a:p>
                      <a:pPr marL="285750" indent="-285750">
                        <a:buFontTx/>
                        <a:buChar char="-"/>
                      </a:pPr>
                      <a:r>
                        <a:rPr lang="fr-FR" sz="1500" baseline="0" dirty="0" smtClean="0"/>
                        <a:t>Et 5000 salariés </a:t>
                      </a:r>
                      <a:endParaRPr lang="fr-FR" sz="1500" dirty="0"/>
                    </a:p>
                  </a:txBody>
                  <a:tcPr/>
                </a:tc>
                <a:tc>
                  <a:txBody>
                    <a:bodyPr/>
                    <a:lstStyle/>
                    <a:p>
                      <a:r>
                        <a:rPr lang="fr-FR" sz="1500" dirty="0" smtClean="0"/>
                        <a:t>Sociétés de plus de :</a:t>
                      </a:r>
                    </a:p>
                    <a:p>
                      <a:pPr marL="285750" indent="-285750">
                        <a:buFontTx/>
                        <a:buChar char="-"/>
                      </a:pPr>
                      <a:r>
                        <a:rPr lang="fr-FR" sz="1500" dirty="0" smtClean="0"/>
                        <a:t>5000 salariés en France</a:t>
                      </a:r>
                    </a:p>
                    <a:p>
                      <a:pPr marL="285750" indent="-285750">
                        <a:buFontTx/>
                        <a:buChar char="-"/>
                      </a:pPr>
                      <a:r>
                        <a:rPr lang="fr-FR" sz="1500" dirty="0" smtClean="0"/>
                        <a:t>Ou 10000 salariés</a:t>
                      </a:r>
                      <a:r>
                        <a:rPr lang="fr-FR" sz="1500" baseline="0" dirty="0" smtClean="0"/>
                        <a:t> dans le monde</a:t>
                      </a:r>
                      <a:endParaRPr lang="fr-FR" sz="1500" dirty="0"/>
                    </a:p>
                  </a:txBody>
                  <a:tcPr/>
                </a:tc>
                <a:tc>
                  <a:txBody>
                    <a:bodyPr/>
                    <a:lstStyle/>
                    <a:p>
                      <a:r>
                        <a:rPr lang="fr-FR" sz="1500" dirty="0" smtClean="0"/>
                        <a:t>Sociétés</a:t>
                      </a:r>
                      <a:r>
                        <a:rPr lang="fr-FR" sz="1500" baseline="0" dirty="0" smtClean="0"/>
                        <a:t> de :</a:t>
                      </a:r>
                    </a:p>
                    <a:p>
                      <a:pPr marL="285750" indent="-285750">
                        <a:buFontTx/>
                        <a:buChar char="-"/>
                      </a:pPr>
                      <a:r>
                        <a:rPr lang="fr-FR" sz="1500" baseline="0" dirty="0" smtClean="0"/>
                        <a:t>Plus de 500 salariés</a:t>
                      </a:r>
                    </a:p>
                    <a:p>
                      <a:pPr marL="285750" indent="-285750">
                        <a:buFontTx/>
                        <a:buChar char="-"/>
                      </a:pPr>
                      <a:r>
                        <a:rPr lang="fr-FR" sz="1500" baseline="0" dirty="0" smtClean="0"/>
                        <a:t>Et CA &gt; 100M€</a:t>
                      </a:r>
                      <a:endParaRPr lang="fr-FR" sz="1500" dirty="0"/>
                    </a:p>
                  </a:txBody>
                  <a:tcPr/>
                </a:tc>
                <a:extLst>
                  <a:ext uri="{0D108BD9-81ED-4DB2-BD59-A6C34878D82A}">
                    <a16:rowId xmlns:a16="http://schemas.microsoft.com/office/drawing/2014/main" val="10001"/>
                  </a:ext>
                </a:extLst>
              </a:tr>
              <a:tr h="370840">
                <a:tc>
                  <a:txBody>
                    <a:bodyPr/>
                    <a:lstStyle/>
                    <a:p>
                      <a:r>
                        <a:rPr lang="fr-FR" sz="1500" dirty="0" smtClean="0"/>
                        <a:t>Périmètre de l’information</a:t>
                      </a:r>
                      <a:endParaRPr lang="fr-FR" sz="1500" dirty="0"/>
                    </a:p>
                  </a:txBody>
                  <a:tcPr/>
                </a:tc>
                <a:tc>
                  <a:txBody>
                    <a:bodyPr/>
                    <a:lstStyle/>
                    <a:p>
                      <a:r>
                        <a:rPr lang="fr-FR" sz="1500" dirty="0" smtClean="0"/>
                        <a:t>Société mère</a:t>
                      </a:r>
                      <a:r>
                        <a:rPr lang="fr-FR" sz="1500" baseline="0" dirty="0" smtClean="0"/>
                        <a:t> et sociétés non contrôlées (si comptes conso)</a:t>
                      </a:r>
                      <a:endParaRPr lang="fr-FR" sz="1500" dirty="0"/>
                    </a:p>
                  </a:txBody>
                  <a:tcPr/>
                </a:tc>
                <a:tc>
                  <a:txBody>
                    <a:bodyPr/>
                    <a:lstStyle/>
                    <a:p>
                      <a:r>
                        <a:rPr lang="fr-FR" sz="1500" dirty="0" smtClean="0"/>
                        <a:t>Société mère, entités contrôlées, fournisseurs, sous-traitants</a:t>
                      </a:r>
                      <a:endParaRPr lang="fr-FR" sz="15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500" dirty="0" smtClean="0"/>
                        <a:t>Société mère, entités contrôlées, clients, fournisseurs de 1</a:t>
                      </a:r>
                      <a:r>
                        <a:rPr lang="fr-FR" sz="1500" baseline="30000" dirty="0" smtClean="0"/>
                        <a:t>er</a:t>
                      </a:r>
                      <a:r>
                        <a:rPr lang="fr-FR" sz="1500" dirty="0" smtClean="0"/>
                        <a:t> rang</a:t>
                      </a:r>
                    </a:p>
                  </a:txBody>
                  <a:tcPr/>
                </a:tc>
                <a:extLst>
                  <a:ext uri="{0D108BD9-81ED-4DB2-BD59-A6C34878D82A}">
                    <a16:rowId xmlns:a16="http://schemas.microsoft.com/office/drawing/2014/main" val="10002"/>
                  </a:ext>
                </a:extLst>
              </a:tr>
              <a:tr h="370840">
                <a:tc>
                  <a:txBody>
                    <a:bodyPr/>
                    <a:lstStyle/>
                    <a:p>
                      <a:r>
                        <a:rPr lang="fr-FR" sz="1500" dirty="0" smtClean="0"/>
                        <a:t>Support de communication</a:t>
                      </a:r>
                      <a:endParaRPr lang="fr-FR" sz="1500" dirty="0"/>
                    </a:p>
                  </a:txBody>
                  <a:tcPr/>
                </a:tc>
                <a:tc>
                  <a:txBody>
                    <a:bodyPr/>
                    <a:lstStyle/>
                    <a:p>
                      <a:r>
                        <a:rPr lang="fr-FR" sz="1500" dirty="0" smtClean="0"/>
                        <a:t>Rapport de gestion sur le site internet (5 ans)</a:t>
                      </a:r>
                      <a:endParaRPr lang="fr-FR" sz="1500" dirty="0"/>
                    </a:p>
                  </a:txBody>
                  <a:tcPr/>
                </a:tc>
                <a:tc>
                  <a:txBody>
                    <a:bodyPr/>
                    <a:lstStyle/>
                    <a:p>
                      <a:r>
                        <a:rPr lang="fr-FR" sz="1500" dirty="0" smtClean="0"/>
                        <a:t>Rapport de gestion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500" dirty="0" smtClean="0"/>
                        <a:t>Publication des risques de corruption dans rapport de gestion pour sociétés cotées</a:t>
                      </a:r>
                    </a:p>
                    <a:p>
                      <a:endParaRPr lang="fr-FR" sz="1500" dirty="0"/>
                    </a:p>
                  </a:txBody>
                  <a:tcPr/>
                </a:tc>
                <a:extLst>
                  <a:ext uri="{0D108BD9-81ED-4DB2-BD59-A6C34878D82A}">
                    <a16:rowId xmlns:a16="http://schemas.microsoft.com/office/drawing/2014/main" val="10003"/>
                  </a:ext>
                </a:extLst>
              </a:tr>
              <a:tr h="370840">
                <a:tc>
                  <a:txBody>
                    <a:bodyPr/>
                    <a:lstStyle/>
                    <a:p>
                      <a:r>
                        <a:rPr lang="fr-FR" sz="1500" dirty="0" smtClean="0"/>
                        <a:t>Application </a:t>
                      </a:r>
                      <a:endParaRPr lang="fr-FR" sz="1500" dirty="0"/>
                    </a:p>
                  </a:txBody>
                  <a:tcPr/>
                </a:tc>
                <a:tc>
                  <a:txBody>
                    <a:bodyPr/>
                    <a:lstStyle/>
                    <a:p>
                      <a:r>
                        <a:rPr lang="fr-FR" sz="1500" b="1" dirty="0" smtClean="0"/>
                        <a:t>Exercices ouverts à compter du 01/09/2017</a:t>
                      </a:r>
                      <a:endParaRPr lang="fr-FR" sz="1500" b="1" dirty="0"/>
                    </a:p>
                  </a:txBody>
                  <a:tcPr/>
                </a:tc>
                <a:tc>
                  <a:txBody>
                    <a:bodyPr/>
                    <a:lstStyle/>
                    <a:p>
                      <a:r>
                        <a:rPr lang="fr-FR" sz="1500" b="1" dirty="0" smtClean="0"/>
                        <a:t>Exercices clos après le 28/03/2017</a:t>
                      </a:r>
                      <a:endParaRPr lang="fr-FR" sz="1500" b="1" dirty="0"/>
                    </a:p>
                  </a:txBody>
                  <a:tcPr/>
                </a:tc>
                <a:tc>
                  <a:txBody>
                    <a:bodyPr/>
                    <a:lstStyle/>
                    <a:p>
                      <a:r>
                        <a:rPr lang="fr-FR" sz="1500" b="1" dirty="0" smtClean="0"/>
                        <a:t>Exercice clos après le 01/06/2017</a:t>
                      </a:r>
                      <a:endParaRPr lang="fr-FR" sz="1500" b="1" dirty="0"/>
                    </a:p>
                  </a:txBody>
                  <a:tcPr/>
                </a:tc>
                <a:extLst>
                  <a:ext uri="{0D108BD9-81ED-4DB2-BD59-A6C34878D82A}">
                    <a16:rowId xmlns:a16="http://schemas.microsoft.com/office/drawing/2014/main" val="10004"/>
                  </a:ext>
                </a:extLst>
              </a:tr>
            </a:tbl>
          </a:graphicData>
        </a:graphic>
      </p:graphicFrame>
      <p:sp>
        <p:nvSpPr>
          <p:cNvPr id="4" name="Espace réservé du numéro de diapositive 3"/>
          <p:cNvSpPr>
            <a:spLocks noGrp="1"/>
          </p:cNvSpPr>
          <p:nvPr>
            <p:ph type="sldNum" sz="quarter" idx="12"/>
          </p:nvPr>
        </p:nvSpPr>
        <p:spPr/>
        <p:txBody>
          <a:bodyPr/>
          <a:lstStyle/>
          <a:p>
            <a:fld id="{851EF7E6-E725-4BDA-90E5-11DEA34DAC65}" type="slidenum">
              <a:rPr lang="fr-FR" smtClean="0"/>
              <a:t>22</a:t>
            </a:fld>
            <a:endParaRPr lang="fr-FR" dirty="0"/>
          </a:p>
        </p:txBody>
      </p:sp>
    </p:spTree>
    <p:extLst>
      <p:ext uri="{BB962C8B-B14F-4D97-AF65-F5344CB8AC3E}">
        <p14:creationId xmlns:p14="http://schemas.microsoft.com/office/powerpoint/2010/main" val="3940189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err="1" smtClean="0"/>
              <a:t>ICOs</a:t>
            </a:r>
            <a:r>
              <a:rPr lang="fr-FR" dirty="0" smtClean="0"/>
              <a:t> : Initial coin </a:t>
            </a:r>
            <a:r>
              <a:rPr lang="fr-FR" dirty="0" err="1" smtClean="0"/>
              <a:t>offerings</a:t>
            </a:r>
            <a:endParaRPr lang="fr-FR" dirty="0"/>
          </a:p>
        </p:txBody>
      </p:sp>
      <p:sp>
        <p:nvSpPr>
          <p:cNvPr id="3" name="Espace réservé du contenu 2"/>
          <p:cNvSpPr>
            <a:spLocks noGrp="1"/>
          </p:cNvSpPr>
          <p:nvPr>
            <p:ph idx="1"/>
          </p:nvPr>
        </p:nvSpPr>
        <p:spPr>
          <a:xfrm>
            <a:off x="395536" y="1844824"/>
            <a:ext cx="8229600" cy="4709120"/>
          </a:xfrm>
        </p:spPr>
        <p:txBody>
          <a:bodyPr>
            <a:normAutofit/>
          </a:bodyPr>
          <a:lstStyle/>
          <a:p>
            <a:pPr algn="just"/>
            <a:r>
              <a:rPr lang="fr-FR" sz="2000" b="1" u="sng" dirty="0" smtClean="0"/>
              <a:t>Levées de fonds en </a:t>
            </a:r>
            <a:r>
              <a:rPr lang="fr-FR" sz="2000" b="1" u="sng" dirty="0" err="1" smtClean="0"/>
              <a:t>cryptomonnaies</a:t>
            </a:r>
            <a:r>
              <a:rPr lang="fr-FR" sz="2000" b="1" u="sng" dirty="0" smtClean="0"/>
              <a:t> </a:t>
            </a:r>
            <a:r>
              <a:rPr lang="fr-FR" dirty="0" smtClean="0"/>
              <a:t>:</a:t>
            </a:r>
          </a:p>
          <a:p>
            <a:pPr lvl="1" algn="just"/>
            <a:r>
              <a:rPr lang="fr-FR" sz="1800" dirty="0" smtClean="0"/>
              <a:t>Aucun cadre règlementaire sur le sujet pour le moment</a:t>
            </a:r>
            <a:endParaRPr lang="fr-FR" sz="1800" dirty="0"/>
          </a:p>
          <a:p>
            <a:pPr lvl="1" algn="just"/>
            <a:r>
              <a:rPr lang="fr-FR" sz="1800" dirty="0" smtClean="0"/>
              <a:t>L’AMF est actuellement sur des pistes de règlementation des </a:t>
            </a:r>
            <a:r>
              <a:rPr lang="fr-FR" sz="1800" dirty="0" err="1" smtClean="0"/>
              <a:t>ICOs</a:t>
            </a:r>
            <a:endParaRPr lang="fr-FR" sz="1800" dirty="0" smtClean="0"/>
          </a:p>
          <a:p>
            <a:pPr lvl="1" algn="just">
              <a:buFont typeface="Symbol"/>
              <a:buChar char="Þ"/>
            </a:pPr>
            <a:r>
              <a:rPr lang="fr-FR" sz="1800" dirty="0" smtClean="0"/>
              <a:t>Refus de certifier les comptes pour les entreprises ayant procédé à ces ICO</a:t>
            </a:r>
          </a:p>
          <a:p>
            <a:pPr lvl="1" algn="just">
              <a:buFont typeface="Symbol"/>
              <a:buChar char="Þ"/>
            </a:pPr>
            <a:endParaRPr lang="fr-FR" dirty="0"/>
          </a:p>
          <a:p>
            <a:pPr algn="just"/>
            <a:r>
              <a:rPr lang="fr-FR" sz="1800" dirty="0" smtClean="0"/>
              <a:t>En 2017, plus de 4 milliards de $ ont été levés via des </a:t>
            </a:r>
            <a:r>
              <a:rPr lang="fr-FR" sz="1800" dirty="0" err="1" smtClean="0"/>
              <a:t>ICOs</a:t>
            </a:r>
            <a:r>
              <a:rPr lang="fr-FR" sz="1800" dirty="0" smtClean="0"/>
              <a:t> dans le monde</a:t>
            </a:r>
          </a:p>
          <a:p>
            <a:pPr algn="just"/>
            <a:endParaRPr lang="fr-FR" sz="1800" dirty="0"/>
          </a:p>
          <a:p>
            <a:pPr algn="just"/>
            <a:r>
              <a:rPr lang="fr-FR" sz="1800" dirty="0" smtClean="0"/>
              <a:t>3 ICO effectuées en France pour le moment : </a:t>
            </a:r>
          </a:p>
          <a:p>
            <a:pPr lvl="1" algn="just"/>
            <a:r>
              <a:rPr lang="fr-FR" sz="1400" dirty="0" smtClean="0"/>
              <a:t>Beyond the </a:t>
            </a:r>
            <a:r>
              <a:rPr lang="fr-FR" sz="1400" dirty="0" err="1" smtClean="0"/>
              <a:t>Void</a:t>
            </a:r>
            <a:r>
              <a:rPr lang="fr-FR" sz="1400" dirty="0"/>
              <a:t> </a:t>
            </a:r>
            <a:r>
              <a:rPr lang="fr-FR" sz="1400" dirty="0" smtClean="0"/>
              <a:t>: 110 K€</a:t>
            </a:r>
          </a:p>
          <a:p>
            <a:pPr lvl="1" algn="just"/>
            <a:r>
              <a:rPr lang="fr-FR" sz="1400" dirty="0" smtClean="0"/>
              <a:t>iEX.ec (</a:t>
            </a:r>
            <a:r>
              <a:rPr lang="fr-FR" sz="1400" dirty="0" err="1" smtClean="0"/>
              <a:t>Inria</a:t>
            </a:r>
            <a:r>
              <a:rPr lang="fr-FR" sz="1400" dirty="0" smtClean="0"/>
              <a:t>) : 12,5 m$</a:t>
            </a:r>
          </a:p>
          <a:p>
            <a:pPr lvl="1" algn="just"/>
            <a:r>
              <a:rPr lang="fr-FR" sz="1400" dirty="0" err="1" smtClean="0"/>
              <a:t>Domraider</a:t>
            </a:r>
            <a:r>
              <a:rPr lang="fr-FR" sz="1400" dirty="0" smtClean="0"/>
              <a:t> : montant inconnu</a:t>
            </a:r>
            <a:endParaRPr lang="fr-FR" sz="2000" dirty="0" smtClean="0"/>
          </a:p>
          <a:p>
            <a:pPr algn="just"/>
            <a:r>
              <a:rPr lang="fr-FR" sz="2000" dirty="0" smtClean="0"/>
              <a:t>Projet de loi sur le sujet dans la Loi Pacte attendue en Avril pour attirer les investisseurs en France</a:t>
            </a:r>
          </a:p>
          <a:p>
            <a:pPr algn="just"/>
            <a:endParaRPr lang="fr-FR" dirty="0"/>
          </a:p>
          <a:p>
            <a:pPr algn="just"/>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23</a:t>
            </a:fld>
            <a:endParaRPr lang="fr-FR"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476672"/>
            <a:ext cx="1769469" cy="18019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99147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6131024" cy="990600"/>
          </a:xfrm>
        </p:spPr>
        <p:txBody>
          <a:bodyPr>
            <a:normAutofit fontScale="90000"/>
          </a:bodyPr>
          <a:lstStyle/>
          <a:p>
            <a:r>
              <a:rPr lang="fr-FR" dirty="0" smtClean="0"/>
              <a:t>Recommandations AMF pour la clôture des comptes 2017</a:t>
            </a:r>
            <a:endParaRPr lang="fr-FR" dirty="0"/>
          </a:p>
        </p:txBody>
      </p:sp>
      <p:sp>
        <p:nvSpPr>
          <p:cNvPr id="3" name="Espace réservé du contenu 2"/>
          <p:cNvSpPr>
            <a:spLocks noGrp="1"/>
          </p:cNvSpPr>
          <p:nvPr>
            <p:ph idx="1"/>
          </p:nvPr>
        </p:nvSpPr>
        <p:spPr>
          <a:xfrm>
            <a:off x="251520" y="1600200"/>
            <a:ext cx="8712968" cy="4876800"/>
          </a:xfrm>
        </p:spPr>
        <p:txBody>
          <a:bodyPr>
            <a:normAutofit fontScale="77500" lnSpcReduction="20000"/>
          </a:bodyPr>
          <a:lstStyle/>
          <a:p>
            <a:pPr algn="just"/>
            <a:r>
              <a:rPr lang="fr-FR" u="sng" dirty="0" smtClean="0"/>
              <a:t>Liste des thèmes retenus par l’AMF </a:t>
            </a:r>
            <a:r>
              <a:rPr lang="fr-FR" dirty="0" smtClean="0"/>
              <a:t>: </a:t>
            </a:r>
          </a:p>
          <a:p>
            <a:pPr algn="just"/>
            <a:endParaRPr lang="fr-FR" sz="1100" dirty="0" smtClean="0"/>
          </a:p>
          <a:p>
            <a:pPr algn="just"/>
            <a:r>
              <a:rPr lang="fr-FR" dirty="0" smtClean="0"/>
              <a:t>Présentation de l’importance d’une information pertinente, cohérente et lisible</a:t>
            </a:r>
          </a:p>
          <a:p>
            <a:pPr lvl="1" algn="just"/>
            <a:r>
              <a:rPr lang="fr-FR" dirty="0" smtClean="0"/>
              <a:t>Priorité de l’IASB dans le cadre de son projet </a:t>
            </a:r>
            <a:r>
              <a:rPr lang="fr-FR" sz="1900" i="1" dirty="0" err="1" smtClean="0"/>
              <a:t>Better</a:t>
            </a:r>
            <a:r>
              <a:rPr lang="fr-FR" sz="1900" i="1" dirty="0" smtClean="0"/>
              <a:t> Communication in Financial </a:t>
            </a:r>
            <a:r>
              <a:rPr lang="fr-FR" sz="1900" i="1" dirty="0" err="1" smtClean="0"/>
              <a:t>reporting</a:t>
            </a:r>
            <a:endParaRPr lang="fr-FR" sz="1900" i="1" dirty="0" smtClean="0"/>
          </a:p>
          <a:p>
            <a:pPr lvl="1" algn="just"/>
            <a:r>
              <a:rPr lang="fr-FR" dirty="0" smtClean="0"/>
              <a:t>Présentation des états financiers (IAS 1)</a:t>
            </a:r>
          </a:p>
          <a:p>
            <a:pPr lvl="1" algn="just"/>
            <a:r>
              <a:rPr lang="fr-FR" dirty="0" smtClean="0"/>
              <a:t>Amendement à la norme IAS 7 – Tableau de flux de trésorerie</a:t>
            </a:r>
          </a:p>
          <a:p>
            <a:pPr lvl="1" algn="just"/>
            <a:endParaRPr lang="fr-FR" dirty="0" smtClean="0"/>
          </a:p>
          <a:p>
            <a:pPr algn="just"/>
            <a:r>
              <a:rPr lang="fr-FR" dirty="0" smtClean="0"/>
              <a:t>Conséquences du </a:t>
            </a:r>
            <a:r>
              <a:rPr lang="fr-FR" dirty="0" err="1" smtClean="0"/>
              <a:t>Brexit</a:t>
            </a:r>
            <a:r>
              <a:rPr lang="fr-FR" dirty="0" smtClean="0"/>
              <a:t> à expliciter en annexe si significatif</a:t>
            </a:r>
          </a:p>
          <a:p>
            <a:pPr lvl="1" algn="just"/>
            <a:r>
              <a:rPr lang="fr-FR" dirty="0" smtClean="0"/>
              <a:t>Impact sur la communication financière, sur les états financiers</a:t>
            </a:r>
          </a:p>
          <a:p>
            <a:pPr lvl="1" algn="just"/>
            <a:r>
              <a:rPr lang="fr-FR" dirty="0" smtClean="0"/>
              <a:t>Interrogation sur les modalités de calcul des écarts de conversion et de change du fait de la forte volatilité de la livre sterling</a:t>
            </a:r>
          </a:p>
          <a:p>
            <a:pPr lvl="1" algn="just"/>
            <a:endParaRPr lang="fr-FR" dirty="0" smtClean="0"/>
          </a:p>
          <a:p>
            <a:pPr algn="just"/>
            <a:r>
              <a:rPr lang="fr-FR" dirty="0" smtClean="0"/>
              <a:t>Impacts des nouvelles normes : IFRS 15, IFRS 9, IFRS 16</a:t>
            </a:r>
          </a:p>
          <a:p>
            <a:pPr algn="just"/>
            <a:endParaRPr lang="fr-FR" dirty="0" smtClean="0"/>
          </a:p>
          <a:p>
            <a:pPr algn="just"/>
            <a:r>
              <a:rPr lang="fr-FR" dirty="0" smtClean="0"/>
              <a:t>Travaux de revue des états financiers par l’AMF :</a:t>
            </a:r>
          </a:p>
          <a:p>
            <a:pPr lvl="1" algn="just"/>
            <a:r>
              <a:rPr lang="fr-FR" dirty="0" smtClean="0"/>
              <a:t>Tests de dépréciation en tête de liste des sujets contrôlés par l’AMF</a:t>
            </a:r>
          </a:p>
          <a:p>
            <a:pPr lvl="1" algn="just"/>
            <a:r>
              <a:rPr lang="fr-FR" dirty="0" smtClean="0"/>
              <a:t>Amélioration des informations concernant les flux de trésorerie, sous-totaux de performance, les instruments financiers</a:t>
            </a:r>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24</a:t>
            </a:fld>
            <a:endParaRPr lang="fr-FR"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199" y="548680"/>
            <a:ext cx="2619651"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7804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contenu 3"/>
          <p:cNvSpPr txBox="1">
            <a:spLocks/>
          </p:cNvSpPr>
          <p:nvPr/>
        </p:nvSpPr>
        <p:spPr>
          <a:xfrm>
            <a:off x="7347736" y="404664"/>
            <a:ext cx="1688760" cy="648072"/>
          </a:xfrm>
          <a:prstGeom prst="teardrop">
            <a:avLst>
              <a:gd name="adj" fmla="val 97829"/>
            </a:avLst>
          </a:prstGeom>
          <a:ln>
            <a:solidFill>
              <a:schemeClr val="accent5"/>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40000" lnSpcReduction="20000"/>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5"/>
                </a:solidFill>
                <a:effectLst/>
                <a:uLnTx/>
                <a:uFillTx/>
                <a:latin typeface="+mn-lt"/>
                <a:ea typeface="+mn-ea"/>
                <a:cs typeface="+mn-cs"/>
              </a:rPr>
              <a:t>	</a:t>
            </a:r>
            <a:r>
              <a:rPr lang="fr-FR" sz="3400" b="1" dirty="0" smtClean="0">
                <a:solidFill>
                  <a:schemeClr val="accent5"/>
                </a:solidFill>
              </a:rPr>
              <a:t>BREXIT</a:t>
            </a:r>
            <a:endParaRPr kumimoji="0" lang="fr-FR" sz="4200" b="0" i="0" u="none" strike="noStrike" kern="1200" cap="none" spc="0" normalizeH="0" baseline="0" noProof="0" dirty="0">
              <a:ln>
                <a:noFill/>
              </a:ln>
              <a:solidFill>
                <a:schemeClr val="accent5"/>
              </a:solidFill>
              <a:effectLst/>
              <a:uLnTx/>
              <a:uFillTx/>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017" y="4077072"/>
            <a:ext cx="2657439"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re 1"/>
          <p:cNvSpPr>
            <a:spLocks noGrp="1"/>
          </p:cNvSpPr>
          <p:nvPr>
            <p:ph type="title"/>
          </p:nvPr>
        </p:nvSpPr>
        <p:spPr>
          <a:xfrm>
            <a:off x="313184" y="430830"/>
            <a:ext cx="7283152" cy="990600"/>
          </a:xfrm>
        </p:spPr>
        <p:txBody>
          <a:bodyPr>
            <a:noAutofit/>
          </a:bodyPr>
          <a:lstStyle/>
          <a:p>
            <a:r>
              <a:rPr lang="fr-FR" sz="2400" b="1" dirty="0" smtClean="0"/>
              <a:t>Conséquences du BREXIT à mentionner au niveau de la Communication financière des groupes</a:t>
            </a:r>
            <a:br>
              <a:rPr lang="fr-FR" sz="2400" b="1" dirty="0" smtClean="0"/>
            </a:br>
            <a:r>
              <a:rPr lang="fr-FR" sz="2000" dirty="0" smtClean="0"/>
              <a:t>(</a:t>
            </a:r>
            <a:r>
              <a:rPr lang="fr-FR" sz="2000" dirty="0" err="1" smtClean="0"/>
              <a:t>Brexit</a:t>
            </a:r>
            <a:r>
              <a:rPr lang="fr-FR" sz="2000" dirty="0" smtClean="0"/>
              <a:t> prévu le 29/3/2019)</a:t>
            </a:r>
            <a:endParaRPr lang="fr-FR" sz="2000" dirty="0"/>
          </a:p>
        </p:txBody>
      </p:sp>
      <p:sp>
        <p:nvSpPr>
          <p:cNvPr id="3" name="Espace réservé du contenu 2"/>
          <p:cNvSpPr>
            <a:spLocks noGrp="1"/>
          </p:cNvSpPr>
          <p:nvPr>
            <p:ph idx="1"/>
          </p:nvPr>
        </p:nvSpPr>
        <p:spPr>
          <a:xfrm>
            <a:off x="457200" y="1600200"/>
            <a:ext cx="8229600" cy="5069160"/>
          </a:xfrm>
        </p:spPr>
        <p:txBody>
          <a:bodyPr>
            <a:normAutofit fontScale="85000" lnSpcReduction="20000"/>
          </a:bodyPr>
          <a:lstStyle/>
          <a:p>
            <a:r>
              <a:rPr lang="fr-FR" dirty="0" smtClean="0"/>
              <a:t>Communication financière </a:t>
            </a:r>
          </a:p>
          <a:p>
            <a:pPr lvl="1"/>
            <a:r>
              <a:rPr lang="fr-FR" sz="1900" dirty="0" smtClean="0"/>
              <a:t>risques potentiels significatifs liés à la sortie du Royaume Uni</a:t>
            </a:r>
          </a:p>
          <a:p>
            <a:pPr marL="274320" lvl="1" indent="0">
              <a:buNone/>
            </a:pPr>
            <a:endParaRPr lang="fr-FR" sz="1300" dirty="0" smtClean="0"/>
          </a:p>
          <a:p>
            <a:r>
              <a:rPr lang="fr-FR" dirty="0" smtClean="0"/>
              <a:t>États financiers </a:t>
            </a:r>
          </a:p>
          <a:p>
            <a:pPr lvl="1"/>
            <a:r>
              <a:rPr lang="fr-FR" sz="1900" dirty="0" smtClean="0"/>
              <a:t>impact du </a:t>
            </a:r>
            <a:r>
              <a:rPr lang="fr-FR" sz="1900" dirty="0" err="1" smtClean="0"/>
              <a:t>Brexit</a:t>
            </a:r>
            <a:r>
              <a:rPr lang="fr-FR" sz="1900" dirty="0" smtClean="0"/>
              <a:t> sur hypothèses retenues dans les évaluations d’actifs et des passifs</a:t>
            </a:r>
          </a:p>
          <a:p>
            <a:pPr lvl="1"/>
            <a:r>
              <a:rPr lang="fr-FR" sz="1900" dirty="0" smtClean="0"/>
              <a:t>analyse de sensibilité relatives à ces évaluations</a:t>
            </a:r>
          </a:p>
          <a:p>
            <a:pPr lvl="1"/>
            <a:endParaRPr lang="fr-FR" sz="1200" dirty="0" smtClean="0"/>
          </a:p>
          <a:p>
            <a:r>
              <a:rPr lang="fr-FR" dirty="0" smtClean="0"/>
              <a:t>Écarts de conversion et de change </a:t>
            </a:r>
          </a:p>
          <a:p>
            <a:endParaRPr lang="fr-FR" sz="1300" dirty="0" smtClean="0"/>
          </a:p>
          <a:p>
            <a:r>
              <a:rPr lang="fr-FR" dirty="0" smtClean="0"/>
              <a:t>Informations à fournir sur les risques et incertitudes </a:t>
            </a:r>
          </a:p>
          <a:p>
            <a:endParaRPr lang="fr-FR" sz="1300" dirty="0" smtClean="0"/>
          </a:p>
          <a:p>
            <a:r>
              <a:rPr lang="fr-FR" dirty="0" smtClean="0"/>
              <a:t>Impôt sur le résultat </a:t>
            </a:r>
          </a:p>
          <a:p>
            <a:pPr lvl="1"/>
            <a:r>
              <a:rPr lang="fr-FR" sz="1900" dirty="0" smtClean="0"/>
              <a:t>Conséquence fiscale de la sortie </a:t>
            </a:r>
          </a:p>
          <a:p>
            <a:pPr lvl="1"/>
            <a:endParaRPr lang="fr-FR" sz="1200" dirty="0" smtClean="0"/>
          </a:p>
          <a:p>
            <a:r>
              <a:rPr lang="fr-FR" dirty="0" smtClean="0"/>
              <a:t>Autres informations à fournir </a:t>
            </a:r>
          </a:p>
          <a:p>
            <a:pPr lvl="1"/>
            <a:r>
              <a:rPr lang="fr-FR" sz="1900" dirty="0" smtClean="0"/>
              <a:t>Conversion (taux de change retenu)</a:t>
            </a:r>
          </a:p>
          <a:p>
            <a:pPr lvl="1"/>
            <a:r>
              <a:rPr lang="fr-FR" sz="1900" dirty="0" smtClean="0"/>
              <a:t>Évaluation à la juste valeur </a:t>
            </a:r>
          </a:p>
          <a:p>
            <a:pPr lvl="1"/>
            <a:r>
              <a:rPr lang="fr-FR" sz="1900" dirty="0" smtClean="0"/>
              <a:t>Retraites</a:t>
            </a:r>
          </a:p>
          <a:p>
            <a:pPr lvl="1"/>
            <a:r>
              <a:rPr lang="fr-FR" sz="1900" dirty="0" smtClean="0"/>
              <a:t>Dépréciations </a:t>
            </a:r>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25</a:t>
            </a:fld>
            <a:endParaRPr lang="fr-FR" dirty="0"/>
          </a:p>
        </p:txBody>
      </p:sp>
    </p:spTree>
    <p:extLst>
      <p:ext uri="{BB962C8B-B14F-4D97-AF65-F5344CB8AC3E}">
        <p14:creationId xmlns:p14="http://schemas.microsoft.com/office/powerpoint/2010/main" val="22570313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5410944" cy="990600"/>
          </a:xfrm>
        </p:spPr>
        <p:txBody>
          <a:bodyPr>
            <a:normAutofit fontScale="90000"/>
          </a:bodyPr>
          <a:lstStyle/>
          <a:p>
            <a:r>
              <a:rPr lang="fr-FR" dirty="0"/>
              <a:t>Conséquences du BREXIT au Royaume-Uni</a:t>
            </a:r>
          </a:p>
        </p:txBody>
      </p:sp>
      <p:sp>
        <p:nvSpPr>
          <p:cNvPr id="3" name="Espace réservé du contenu 2"/>
          <p:cNvSpPr>
            <a:spLocks noGrp="1"/>
          </p:cNvSpPr>
          <p:nvPr>
            <p:ph idx="1"/>
          </p:nvPr>
        </p:nvSpPr>
        <p:spPr>
          <a:xfrm>
            <a:off x="395536" y="1988840"/>
            <a:ext cx="4330824" cy="4997152"/>
          </a:xfrm>
        </p:spPr>
        <p:txBody>
          <a:bodyPr>
            <a:normAutofit/>
          </a:bodyPr>
          <a:lstStyle/>
          <a:p>
            <a:endParaRPr lang="fr-FR" dirty="0" smtClean="0"/>
          </a:p>
          <a:p>
            <a:pPr algn="just"/>
            <a:r>
              <a:rPr lang="fr-FR" sz="2000" dirty="0" smtClean="0"/>
              <a:t>La livre sterling a perdu 13 % par rapport à l’euro depuis le référendum</a:t>
            </a:r>
          </a:p>
          <a:p>
            <a:pPr algn="just"/>
            <a:endParaRPr lang="fr-FR" sz="2000" dirty="0" smtClean="0"/>
          </a:p>
          <a:p>
            <a:pPr algn="just"/>
            <a:r>
              <a:rPr lang="fr-FR" sz="2000" dirty="0" smtClean="0"/>
              <a:t>Enrichissement des biens importés avec l’exemple de </a:t>
            </a:r>
            <a:r>
              <a:rPr lang="fr-FR" sz="2000" dirty="0" err="1" smtClean="0"/>
              <a:t>Toblerone</a:t>
            </a:r>
            <a:r>
              <a:rPr lang="fr-FR" sz="2000" dirty="0" smtClean="0"/>
              <a:t> qui a augmenté l’espace entre ses angles de chocolat du fait de l’augmentation du prix des ingrédients </a:t>
            </a:r>
            <a:endParaRPr lang="fr-FR" sz="2000"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26</a:t>
            </a:fld>
            <a:endParaRPr lang="fr-FR" dirty="0"/>
          </a:p>
        </p:txBody>
      </p:sp>
      <p:sp>
        <p:nvSpPr>
          <p:cNvPr id="5" name="Espace réservé du contenu 3"/>
          <p:cNvSpPr txBox="1">
            <a:spLocks/>
          </p:cNvSpPr>
          <p:nvPr/>
        </p:nvSpPr>
        <p:spPr>
          <a:xfrm>
            <a:off x="6444208" y="404664"/>
            <a:ext cx="2520280" cy="864096"/>
          </a:xfrm>
          <a:prstGeom prst="teardrop">
            <a:avLst>
              <a:gd name="adj" fmla="val 97829"/>
            </a:avLst>
          </a:prstGeom>
          <a:ln>
            <a:solidFill>
              <a:schemeClr val="accent5"/>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77500" lnSpcReduction="20000"/>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5"/>
                </a:solidFill>
                <a:effectLst/>
                <a:uLnTx/>
                <a:uFillTx/>
                <a:latin typeface="+mn-lt"/>
                <a:ea typeface="+mn-ea"/>
                <a:cs typeface="+mn-cs"/>
              </a:rPr>
              <a:t>	</a:t>
            </a:r>
            <a:r>
              <a:rPr lang="fr-FR" sz="3400" b="1" dirty="0" smtClean="0">
                <a:solidFill>
                  <a:schemeClr val="accent5"/>
                </a:solidFill>
              </a:rPr>
              <a:t>BREXIT</a:t>
            </a:r>
            <a:endParaRPr kumimoji="0" lang="fr-FR" sz="4200" b="0" i="0" u="none" strike="noStrike" kern="1200" cap="none" spc="0" normalizeH="0" baseline="0" noProof="0" dirty="0">
              <a:ln>
                <a:noFill/>
              </a:ln>
              <a:solidFill>
                <a:schemeClr val="accent5"/>
              </a:solidFill>
              <a:effectLst/>
              <a:uLnTx/>
              <a:uFillTx/>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6433" y="2132856"/>
            <a:ext cx="4032448"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85730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533400"/>
            <a:ext cx="6336704" cy="990600"/>
          </a:xfrm>
        </p:spPr>
        <p:txBody>
          <a:bodyPr>
            <a:normAutofit/>
          </a:bodyPr>
          <a:lstStyle/>
          <a:p>
            <a:r>
              <a:rPr lang="fr-FR" sz="2800" dirty="0" smtClean="0"/>
              <a:t>Référentiel IFRS applicable au 31/12/17</a:t>
            </a:r>
            <a:br>
              <a:rPr lang="fr-FR" sz="2800" dirty="0" smtClean="0"/>
            </a:br>
            <a:r>
              <a:rPr lang="fr-FR" sz="2800" dirty="0" smtClean="0"/>
              <a:t>Application obligatoire 2017 et post 2017</a:t>
            </a:r>
            <a:endParaRPr lang="fr-FR" sz="2800" dirty="0"/>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009353062"/>
              </p:ext>
            </p:extLst>
          </p:nvPr>
        </p:nvGraphicFramePr>
        <p:xfrm>
          <a:off x="378768" y="2132856"/>
          <a:ext cx="8229600" cy="4663440"/>
        </p:xfrm>
        <a:graphic>
          <a:graphicData uri="http://schemas.openxmlformats.org/drawingml/2006/table">
            <a:tbl>
              <a:tblPr firstRow="1" bandRow="1">
                <a:tableStyleId>{3B4B98B0-60AC-42C2-AFA5-B58CD77FA1E5}</a:tableStyleId>
              </a:tblPr>
              <a:tblGrid>
                <a:gridCol w="1800200">
                  <a:extLst>
                    <a:ext uri="{9D8B030D-6E8A-4147-A177-3AD203B41FA5}">
                      <a16:colId xmlns:a16="http://schemas.microsoft.com/office/drawing/2014/main" val="20000"/>
                    </a:ext>
                  </a:extLst>
                </a:gridCol>
                <a:gridCol w="4248472">
                  <a:extLst>
                    <a:ext uri="{9D8B030D-6E8A-4147-A177-3AD203B41FA5}">
                      <a16:colId xmlns:a16="http://schemas.microsoft.com/office/drawing/2014/main" val="20001"/>
                    </a:ext>
                  </a:extLst>
                </a:gridCol>
                <a:gridCol w="2180928">
                  <a:extLst>
                    <a:ext uri="{9D8B030D-6E8A-4147-A177-3AD203B41FA5}">
                      <a16:colId xmlns:a16="http://schemas.microsoft.com/office/drawing/2014/main" val="20002"/>
                    </a:ext>
                  </a:extLst>
                </a:gridCol>
              </a:tblGrid>
              <a:tr h="627921">
                <a:tc>
                  <a:txBody>
                    <a:bodyPr/>
                    <a:lstStyle/>
                    <a:p>
                      <a:pPr algn="l"/>
                      <a:r>
                        <a:rPr lang="fr-FR" dirty="0" smtClean="0"/>
                        <a:t>N°</a:t>
                      </a:r>
                      <a:r>
                        <a:rPr lang="fr-FR" baseline="0" dirty="0" smtClean="0"/>
                        <a:t> Norme                                                                             </a:t>
                      </a:r>
                      <a:endParaRPr lang="fr-FR" dirty="0"/>
                    </a:p>
                  </a:txBody>
                  <a:tcPr anchor="ctr"/>
                </a:tc>
                <a:tc>
                  <a:txBody>
                    <a:bodyPr/>
                    <a:lstStyle/>
                    <a:p>
                      <a:pPr algn="l"/>
                      <a:r>
                        <a:rPr lang="fr-FR" dirty="0" smtClean="0"/>
                        <a:t>Libellé</a:t>
                      </a:r>
                      <a:endParaRPr lang="fr-FR" dirty="0"/>
                    </a:p>
                  </a:txBody>
                  <a:tcPr anchor="ctr"/>
                </a:tc>
                <a:tc>
                  <a:txBody>
                    <a:bodyPr/>
                    <a:lstStyle/>
                    <a:p>
                      <a:pPr algn="l"/>
                      <a:r>
                        <a:rPr lang="fr-FR" dirty="0" smtClean="0"/>
                        <a:t>Date d’entrée en vigueur en UE</a:t>
                      </a:r>
                      <a:endParaRPr lang="fr-FR" dirty="0"/>
                    </a:p>
                  </a:txBody>
                  <a:tcPr anchor="ctr"/>
                </a:tc>
                <a:extLst>
                  <a:ext uri="{0D108BD9-81ED-4DB2-BD59-A6C34878D82A}">
                    <a16:rowId xmlns:a16="http://schemas.microsoft.com/office/drawing/2014/main" val="10000"/>
                  </a:ext>
                </a:extLst>
              </a:tr>
              <a:tr h="627921">
                <a:tc>
                  <a:txBody>
                    <a:bodyPr/>
                    <a:lstStyle/>
                    <a:p>
                      <a:r>
                        <a:rPr lang="fr-FR" b="0" dirty="0" smtClean="0">
                          <a:solidFill>
                            <a:schemeClr val="tx1"/>
                          </a:solidFill>
                        </a:rPr>
                        <a:t>IAS 7</a:t>
                      </a:r>
                      <a:endParaRPr lang="fr-FR" b="0" dirty="0">
                        <a:solidFill>
                          <a:schemeClr val="tx1"/>
                        </a:solidFill>
                      </a:endParaRPr>
                    </a:p>
                  </a:txBody>
                  <a:tcPr/>
                </a:tc>
                <a:tc>
                  <a:txBody>
                    <a:bodyPr/>
                    <a:lstStyle/>
                    <a:p>
                      <a:r>
                        <a:rPr lang="fr-FR" dirty="0" smtClean="0"/>
                        <a:t>Information liée aux activités de</a:t>
                      </a:r>
                      <a:r>
                        <a:rPr lang="fr-FR" baseline="0" dirty="0" smtClean="0"/>
                        <a:t> financement</a:t>
                      </a:r>
                      <a:endParaRPr lang="fr-FR" dirty="0"/>
                    </a:p>
                  </a:txBody>
                  <a:tcPr/>
                </a:tc>
                <a:tc>
                  <a:txBody>
                    <a:bodyPr/>
                    <a:lstStyle/>
                    <a:p>
                      <a:r>
                        <a:rPr lang="fr-FR" dirty="0" smtClean="0"/>
                        <a:t>01/01/2017</a:t>
                      </a:r>
                      <a:endParaRPr lang="fr-FR" dirty="0"/>
                    </a:p>
                  </a:txBody>
                  <a:tcPr/>
                </a:tc>
                <a:extLst>
                  <a:ext uri="{0D108BD9-81ED-4DB2-BD59-A6C34878D82A}">
                    <a16:rowId xmlns:a16="http://schemas.microsoft.com/office/drawing/2014/main" val="10001"/>
                  </a:ext>
                </a:extLst>
              </a:tr>
              <a:tr h="627921">
                <a:tc>
                  <a:txBody>
                    <a:bodyPr/>
                    <a:lstStyle/>
                    <a:p>
                      <a:r>
                        <a:rPr lang="fr-FR" b="0" dirty="0" smtClean="0">
                          <a:solidFill>
                            <a:schemeClr val="tx1"/>
                          </a:solidFill>
                        </a:rPr>
                        <a:t>IAS 12</a:t>
                      </a:r>
                      <a:endParaRPr lang="fr-FR" b="0" dirty="0">
                        <a:solidFill>
                          <a:schemeClr val="tx1"/>
                        </a:solidFill>
                      </a:endParaRPr>
                    </a:p>
                  </a:txBody>
                  <a:tcPr/>
                </a:tc>
                <a:tc>
                  <a:txBody>
                    <a:bodyPr/>
                    <a:lstStyle/>
                    <a:p>
                      <a:r>
                        <a:rPr lang="fr-FR" dirty="0" smtClean="0"/>
                        <a:t>Comptabilisation d’actifs d’impôts différés au titre de pertes latentes</a:t>
                      </a:r>
                      <a:endParaRPr lang="fr-FR" dirty="0"/>
                    </a:p>
                  </a:txBody>
                  <a:tcPr/>
                </a:tc>
                <a:tc>
                  <a:txBody>
                    <a:bodyPr/>
                    <a:lstStyle/>
                    <a:p>
                      <a:r>
                        <a:rPr lang="fr-FR" dirty="0" smtClean="0"/>
                        <a:t>01/01/2017</a:t>
                      </a:r>
                      <a:endParaRPr lang="fr-FR" dirty="0"/>
                    </a:p>
                  </a:txBody>
                  <a:tcPr/>
                </a:tc>
                <a:extLst>
                  <a:ext uri="{0D108BD9-81ED-4DB2-BD59-A6C34878D82A}">
                    <a16:rowId xmlns:a16="http://schemas.microsoft.com/office/drawing/2014/main" val="10002"/>
                  </a:ext>
                </a:extLst>
              </a:tr>
              <a:tr h="363796">
                <a:tc>
                  <a:txBody>
                    <a:bodyPr/>
                    <a:lstStyle/>
                    <a:p>
                      <a:r>
                        <a:rPr lang="fr-FR" dirty="0" smtClean="0"/>
                        <a:t>IFRS 15</a:t>
                      </a:r>
                      <a:endParaRPr lang="fr-FR" dirty="0"/>
                    </a:p>
                  </a:txBody>
                  <a:tcPr/>
                </a:tc>
                <a:tc>
                  <a:txBody>
                    <a:bodyPr/>
                    <a:lstStyle/>
                    <a:p>
                      <a:r>
                        <a:rPr lang="fr-FR" dirty="0" smtClean="0"/>
                        <a:t>Revenus</a:t>
                      </a:r>
                      <a:endParaRPr lang="fr-FR" dirty="0"/>
                    </a:p>
                  </a:txBody>
                  <a:tcPr/>
                </a:tc>
                <a:tc>
                  <a:txBody>
                    <a:bodyPr/>
                    <a:lstStyle/>
                    <a:p>
                      <a:r>
                        <a:rPr lang="fr-FR" dirty="0" smtClean="0"/>
                        <a:t>01/01/2018</a:t>
                      </a:r>
                      <a:endParaRPr lang="fr-FR" dirty="0"/>
                    </a:p>
                  </a:txBody>
                  <a:tcPr/>
                </a:tc>
                <a:extLst>
                  <a:ext uri="{0D108BD9-81ED-4DB2-BD59-A6C34878D82A}">
                    <a16:rowId xmlns:a16="http://schemas.microsoft.com/office/drawing/2014/main" val="10003"/>
                  </a:ext>
                </a:extLst>
              </a:tr>
              <a:tr h="363796">
                <a:tc>
                  <a:txBody>
                    <a:bodyPr/>
                    <a:lstStyle/>
                    <a:p>
                      <a:r>
                        <a:rPr lang="fr-FR" dirty="0" smtClean="0"/>
                        <a:t>IFRS 9 </a:t>
                      </a:r>
                      <a:endParaRPr lang="fr-FR" dirty="0"/>
                    </a:p>
                  </a:txBody>
                  <a:tcPr/>
                </a:tc>
                <a:tc>
                  <a:txBody>
                    <a:bodyPr/>
                    <a:lstStyle/>
                    <a:p>
                      <a:r>
                        <a:rPr lang="fr-FR" dirty="0" smtClean="0"/>
                        <a:t>Instruments financiers</a:t>
                      </a:r>
                    </a:p>
                    <a:p>
                      <a:r>
                        <a:rPr lang="fr-FR" dirty="0" smtClean="0"/>
                        <a:t>Amendements</a:t>
                      </a:r>
                      <a:r>
                        <a:rPr lang="fr-FR" baseline="0" dirty="0" smtClean="0"/>
                        <a:t> à IFRS 9</a:t>
                      </a:r>
                      <a:endParaRPr lang="fr-FR" dirty="0"/>
                    </a:p>
                  </a:txBody>
                  <a:tcPr/>
                </a:tc>
                <a:tc>
                  <a:txBody>
                    <a:bodyPr/>
                    <a:lstStyle/>
                    <a:p>
                      <a:r>
                        <a:rPr lang="fr-FR" dirty="0" smtClean="0"/>
                        <a:t>01/01/2018</a:t>
                      </a:r>
                    </a:p>
                    <a:p>
                      <a:r>
                        <a:rPr lang="fr-FR" dirty="0" smtClean="0"/>
                        <a:t>01/01/2019</a:t>
                      </a:r>
                      <a:endParaRPr lang="fr-FR" dirty="0"/>
                    </a:p>
                  </a:txBody>
                  <a:tcPr/>
                </a:tc>
                <a:extLst>
                  <a:ext uri="{0D108BD9-81ED-4DB2-BD59-A6C34878D82A}">
                    <a16:rowId xmlns:a16="http://schemas.microsoft.com/office/drawing/2014/main" val="10004"/>
                  </a:ext>
                </a:extLst>
              </a:tr>
              <a:tr h="363796">
                <a:tc>
                  <a:txBody>
                    <a:bodyPr/>
                    <a:lstStyle/>
                    <a:p>
                      <a:r>
                        <a:rPr lang="fr-FR" dirty="0" smtClean="0"/>
                        <a:t>IFRS 16</a:t>
                      </a:r>
                      <a:endParaRPr lang="fr-FR" dirty="0"/>
                    </a:p>
                  </a:txBody>
                  <a:tcPr/>
                </a:tc>
                <a:tc>
                  <a:txBody>
                    <a:bodyPr/>
                    <a:lstStyle/>
                    <a:p>
                      <a:r>
                        <a:rPr lang="fr-FR" dirty="0" smtClean="0"/>
                        <a:t>Contrats</a:t>
                      </a:r>
                      <a:r>
                        <a:rPr lang="fr-FR" baseline="0" dirty="0" smtClean="0"/>
                        <a:t> de location</a:t>
                      </a:r>
                      <a:endParaRPr lang="fr-FR" dirty="0"/>
                    </a:p>
                  </a:txBody>
                  <a:tcPr/>
                </a:tc>
                <a:tc>
                  <a:txBody>
                    <a:bodyPr/>
                    <a:lstStyle/>
                    <a:p>
                      <a:r>
                        <a:rPr lang="fr-FR" dirty="0" smtClean="0"/>
                        <a:t>01/01/2019</a:t>
                      </a:r>
                    </a:p>
                  </a:txBody>
                  <a:tcPr/>
                </a:tc>
                <a:extLst>
                  <a:ext uri="{0D108BD9-81ED-4DB2-BD59-A6C34878D82A}">
                    <a16:rowId xmlns:a16="http://schemas.microsoft.com/office/drawing/2014/main" val="10005"/>
                  </a:ext>
                </a:extLst>
              </a:tr>
              <a:tr h="363796">
                <a:tc>
                  <a:txBody>
                    <a:bodyPr/>
                    <a:lstStyle/>
                    <a:p>
                      <a:r>
                        <a:rPr lang="fr-FR" dirty="0" smtClean="0"/>
                        <a:t>IFRS 17</a:t>
                      </a:r>
                      <a:endParaRPr lang="fr-FR" dirty="0"/>
                    </a:p>
                  </a:txBody>
                  <a:tcPr/>
                </a:tc>
                <a:tc>
                  <a:txBody>
                    <a:bodyPr/>
                    <a:lstStyle/>
                    <a:p>
                      <a:r>
                        <a:rPr lang="fr-FR" dirty="0" smtClean="0"/>
                        <a:t>Contrats d’assurance</a:t>
                      </a:r>
                      <a:endParaRPr lang="fr-FR" dirty="0"/>
                    </a:p>
                  </a:txBody>
                  <a:tcPr/>
                </a:tc>
                <a:tc>
                  <a:txBody>
                    <a:bodyPr/>
                    <a:lstStyle/>
                    <a:p>
                      <a:r>
                        <a:rPr lang="fr-FR" dirty="0" smtClean="0"/>
                        <a:t>01/01/2021</a:t>
                      </a:r>
                    </a:p>
                  </a:txBody>
                  <a:tcPr/>
                </a:tc>
                <a:extLst>
                  <a:ext uri="{0D108BD9-81ED-4DB2-BD59-A6C34878D82A}">
                    <a16:rowId xmlns:a16="http://schemas.microsoft.com/office/drawing/2014/main" val="10006"/>
                  </a:ext>
                </a:extLst>
              </a:tr>
              <a:tr h="363796">
                <a:tc>
                  <a:txBody>
                    <a:bodyPr/>
                    <a:lstStyle/>
                    <a:p>
                      <a:r>
                        <a:rPr lang="fr-FR" dirty="0" smtClean="0"/>
                        <a:t>IFRIC 22</a:t>
                      </a:r>
                      <a:endParaRPr lang="fr-FR" dirty="0"/>
                    </a:p>
                  </a:txBody>
                  <a:tcPr/>
                </a:tc>
                <a:tc>
                  <a:txBody>
                    <a:bodyPr/>
                    <a:lstStyle/>
                    <a:p>
                      <a:r>
                        <a:rPr lang="fr-FR" dirty="0" smtClean="0"/>
                        <a:t>Transactions</a:t>
                      </a:r>
                      <a:r>
                        <a:rPr lang="fr-FR" baseline="0" dirty="0" smtClean="0"/>
                        <a:t> en monnaie étrangère</a:t>
                      </a:r>
                      <a:endParaRPr lang="fr-FR" dirty="0"/>
                    </a:p>
                  </a:txBody>
                  <a:tcPr/>
                </a:tc>
                <a:tc>
                  <a:txBody>
                    <a:bodyPr/>
                    <a:lstStyle/>
                    <a:p>
                      <a:r>
                        <a:rPr lang="fr-FR" dirty="0" smtClean="0"/>
                        <a:t>01/01/2018</a:t>
                      </a:r>
                    </a:p>
                  </a:txBody>
                  <a:tcPr/>
                </a:tc>
                <a:extLst>
                  <a:ext uri="{0D108BD9-81ED-4DB2-BD59-A6C34878D82A}">
                    <a16:rowId xmlns:a16="http://schemas.microsoft.com/office/drawing/2014/main" val="10007"/>
                  </a:ext>
                </a:extLst>
              </a:tr>
              <a:tr h="363796">
                <a:tc>
                  <a:txBody>
                    <a:bodyPr/>
                    <a:lstStyle/>
                    <a:p>
                      <a:r>
                        <a:rPr lang="fr-FR" dirty="0" smtClean="0"/>
                        <a:t>IFRIC 23</a:t>
                      </a:r>
                      <a:endParaRPr lang="fr-FR" dirty="0"/>
                    </a:p>
                  </a:txBody>
                  <a:tcPr/>
                </a:tc>
                <a:tc>
                  <a:txBody>
                    <a:bodyPr/>
                    <a:lstStyle/>
                    <a:p>
                      <a:r>
                        <a:rPr lang="fr-FR" dirty="0" smtClean="0"/>
                        <a:t>Comptabilisation des positions fiscales</a:t>
                      </a:r>
                      <a:r>
                        <a:rPr lang="fr-FR" baseline="0" dirty="0" smtClean="0"/>
                        <a:t> incertaines</a:t>
                      </a:r>
                      <a:endParaRPr lang="fr-FR" dirty="0"/>
                    </a:p>
                  </a:txBody>
                  <a:tcPr/>
                </a:tc>
                <a:tc>
                  <a:txBody>
                    <a:bodyPr/>
                    <a:lstStyle/>
                    <a:p>
                      <a:r>
                        <a:rPr lang="fr-FR" dirty="0" smtClean="0"/>
                        <a:t>01/01/209</a:t>
                      </a:r>
                    </a:p>
                  </a:txBody>
                  <a:tcPr/>
                </a:tc>
                <a:extLst>
                  <a:ext uri="{0D108BD9-81ED-4DB2-BD59-A6C34878D82A}">
                    <a16:rowId xmlns:a16="http://schemas.microsoft.com/office/drawing/2014/main" val="10008"/>
                  </a:ext>
                </a:extLst>
              </a:tr>
            </a:tbl>
          </a:graphicData>
        </a:graphic>
      </p:graphicFrame>
      <p:sp>
        <p:nvSpPr>
          <p:cNvPr id="3" name="Espace réservé du numéro de diapositive 2"/>
          <p:cNvSpPr>
            <a:spLocks noGrp="1"/>
          </p:cNvSpPr>
          <p:nvPr>
            <p:ph type="sldNum" sz="quarter" idx="12"/>
          </p:nvPr>
        </p:nvSpPr>
        <p:spPr/>
        <p:txBody>
          <a:bodyPr/>
          <a:lstStyle/>
          <a:p>
            <a:fld id="{851EF7E6-E725-4BDA-90E5-11DEA34DAC65}" type="slidenum">
              <a:rPr lang="fr-FR" smtClean="0"/>
              <a:t>27</a:t>
            </a:fld>
            <a:endParaRPr lang="fr-FR" dirty="0"/>
          </a:p>
        </p:txBody>
      </p:sp>
      <p:sp>
        <p:nvSpPr>
          <p:cNvPr id="4" name="ZoneTexte 3"/>
          <p:cNvSpPr txBox="1"/>
          <p:nvPr/>
        </p:nvSpPr>
        <p:spPr>
          <a:xfrm>
            <a:off x="354382" y="1628800"/>
            <a:ext cx="8640960" cy="677108"/>
          </a:xfrm>
          <a:prstGeom prst="rect">
            <a:avLst/>
          </a:prstGeom>
          <a:noFill/>
        </p:spPr>
        <p:txBody>
          <a:bodyPr wrap="square" rtlCol="0">
            <a:spAutoFit/>
          </a:bodyPr>
          <a:lstStyle/>
          <a:p>
            <a:r>
              <a:rPr lang="fr-FR" sz="2000" u="sng" dirty="0" smtClean="0"/>
              <a:t>Une accalmie attendue sur les 5 prochaines années</a:t>
            </a:r>
          </a:p>
          <a:p>
            <a:r>
              <a:rPr lang="fr-FR" dirty="0" smtClean="0"/>
              <a:t> </a:t>
            </a:r>
            <a:endParaRPr lang="fr-FR"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548680"/>
            <a:ext cx="2950916" cy="792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98115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857746"/>
            <a:ext cx="7391164" cy="864096"/>
          </a:xfrm>
        </p:spPr>
        <p:txBody>
          <a:bodyPr>
            <a:noAutofit/>
          </a:bodyPr>
          <a:lstStyle/>
          <a:p>
            <a:r>
              <a:rPr lang="fr-FR" sz="2800" b="1" dirty="0"/>
              <a:t>IAS 7 Information liée aux activités de financement</a:t>
            </a:r>
            <a:br>
              <a:rPr lang="fr-FR" sz="2800" b="1" dirty="0"/>
            </a:br>
            <a:r>
              <a:rPr lang="fr-FR" sz="3600" dirty="0"/>
              <a:t> </a:t>
            </a:r>
          </a:p>
        </p:txBody>
      </p:sp>
      <p:sp>
        <p:nvSpPr>
          <p:cNvPr id="3" name="Espace réservé du contenu 2"/>
          <p:cNvSpPr>
            <a:spLocks noGrp="1"/>
          </p:cNvSpPr>
          <p:nvPr>
            <p:ph idx="1"/>
          </p:nvPr>
        </p:nvSpPr>
        <p:spPr>
          <a:xfrm>
            <a:off x="179512" y="1600200"/>
            <a:ext cx="8784976" cy="4876800"/>
          </a:xfrm>
        </p:spPr>
        <p:txBody>
          <a:bodyPr>
            <a:normAutofit/>
          </a:bodyPr>
          <a:lstStyle/>
          <a:p>
            <a:pPr marL="274320" lvl="1" indent="0" algn="just">
              <a:buNone/>
            </a:pPr>
            <a:endParaRPr lang="fr-FR" dirty="0"/>
          </a:p>
          <a:p>
            <a:pPr algn="just"/>
            <a:r>
              <a:rPr lang="fr-FR" dirty="0" smtClean="0"/>
              <a:t>IAS 7 est </a:t>
            </a:r>
            <a:r>
              <a:rPr lang="fr-FR" dirty="0"/>
              <a:t>entrée en vigueur à partir du 1</a:t>
            </a:r>
            <a:r>
              <a:rPr lang="fr-FR" baseline="30000" dirty="0"/>
              <a:t>er</a:t>
            </a:r>
            <a:r>
              <a:rPr lang="fr-FR" dirty="0"/>
              <a:t> Janvier </a:t>
            </a:r>
            <a:r>
              <a:rPr lang="fr-FR" dirty="0" smtClean="0"/>
              <a:t>2017</a:t>
            </a:r>
            <a:endParaRPr lang="fr-FR" dirty="0"/>
          </a:p>
          <a:p>
            <a:pPr marL="0" lvl="0" indent="0" algn="just">
              <a:buNone/>
            </a:pPr>
            <a:endParaRPr lang="fr-FR" sz="1500" dirty="0"/>
          </a:p>
          <a:p>
            <a:pPr lvl="0" algn="just"/>
            <a:r>
              <a:rPr lang="fr-FR" dirty="0"/>
              <a:t>Objectifs :</a:t>
            </a:r>
          </a:p>
          <a:p>
            <a:pPr lvl="1" algn="just"/>
            <a:r>
              <a:rPr lang="fr-FR" dirty="0" smtClean="0"/>
              <a:t>Imposer la fourniture d’une information sur l’historique des évolutions de la trésorerie et des équivalents de trésorerie d’une entité au moyen d’un état des flux de trésorerie classant ces derniers de la période en activités : </a:t>
            </a:r>
            <a:endParaRPr lang="fr-FR" dirty="0"/>
          </a:p>
          <a:p>
            <a:pPr lvl="2" algn="just"/>
            <a:r>
              <a:rPr lang="fr-FR" dirty="0"/>
              <a:t>O</a:t>
            </a:r>
            <a:r>
              <a:rPr lang="fr-FR" dirty="0" smtClean="0"/>
              <a:t>pérationnelles</a:t>
            </a:r>
            <a:endParaRPr lang="fr-FR" dirty="0"/>
          </a:p>
          <a:p>
            <a:pPr lvl="2" algn="just"/>
            <a:r>
              <a:rPr lang="fr-FR" dirty="0" smtClean="0"/>
              <a:t>D’investissement</a:t>
            </a:r>
          </a:p>
          <a:p>
            <a:pPr lvl="2" algn="just"/>
            <a:r>
              <a:rPr lang="fr-FR" dirty="0" smtClean="0"/>
              <a:t>De financement</a:t>
            </a:r>
            <a:endParaRPr lang="fr-FR" dirty="0"/>
          </a:p>
          <a:p>
            <a:pPr lvl="0" algn="just"/>
            <a:endParaRPr lang="fr-FR" sz="1600" dirty="0"/>
          </a:p>
          <a:p>
            <a:endParaRPr lang="fr-FR" dirty="0"/>
          </a:p>
        </p:txBody>
      </p:sp>
      <p:sp>
        <p:nvSpPr>
          <p:cNvPr id="6" name="Espace réservé du numéro de diapositive 5"/>
          <p:cNvSpPr>
            <a:spLocks noGrp="1"/>
          </p:cNvSpPr>
          <p:nvPr>
            <p:ph type="sldNum" sz="quarter" idx="12"/>
          </p:nvPr>
        </p:nvSpPr>
        <p:spPr/>
        <p:txBody>
          <a:bodyPr/>
          <a:lstStyle/>
          <a:p>
            <a:fld id="{851EF7E6-E725-4BDA-90E5-11DEA34DAC65}" type="slidenum">
              <a:rPr lang="fr-FR" smtClean="0"/>
              <a:t>28</a:t>
            </a:fld>
            <a:endParaRPr lang="fr-FR"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548680"/>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767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857746"/>
            <a:ext cx="6480720" cy="699046"/>
          </a:xfrm>
        </p:spPr>
        <p:txBody>
          <a:bodyPr>
            <a:noAutofit/>
          </a:bodyPr>
          <a:lstStyle/>
          <a:p>
            <a:pPr fontAlgn="t"/>
            <a:r>
              <a:rPr lang="fr-FR" sz="3600" dirty="0" smtClean="0"/>
              <a:t/>
            </a:r>
            <a:br>
              <a:rPr lang="fr-FR" sz="3600" dirty="0" smtClean="0"/>
            </a:br>
            <a:r>
              <a:rPr lang="fr-FR" sz="3200" dirty="0" smtClean="0"/>
              <a:t> </a:t>
            </a:r>
            <a:r>
              <a:rPr lang="fr-FR" sz="2800" b="1" dirty="0" smtClean="0"/>
              <a:t>IAS 12 : Comptabilisation </a:t>
            </a:r>
            <a:r>
              <a:rPr lang="fr-FR" sz="2800" b="1" dirty="0"/>
              <a:t>d’actifs d’impôts différés au titre de pertes latentes</a:t>
            </a:r>
            <a:r>
              <a:rPr lang="fr-FR" sz="3200" b="1" dirty="0"/>
              <a:t/>
            </a:r>
            <a:br>
              <a:rPr lang="fr-FR" sz="3200" b="1" dirty="0"/>
            </a:br>
            <a:endParaRPr lang="fr-FR" sz="3600" b="1" dirty="0"/>
          </a:p>
        </p:txBody>
      </p:sp>
      <p:sp>
        <p:nvSpPr>
          <p:cNvPr id="3" name="Espace réservé du contenu 2"/>
          <p:cNvSpPr>
            <a:spLocks noGrp="1"/>
          </p:cNvSpPr>
          <p:nvPr>
            <p:ph idx="1"/>
          </p:nvPr>
        </p:nvSpPr>
        <p:spPr>
          <a:xfrm>
            <a:off x="322116" y="1973982"/>
            <a:ext cx="8784976" cy="4876800"/>
          </a:xfrm>
        </p:spPr>
        <p:txBody>
          <a:bodyPr/>
          <a:lstStyle/>
          <a:p>
            <a:pPr marL="274320" lvl="1" indent="0" algn="just">
              <a:buNone/>
            </a:pPr>
            <a:endParaRPr lang="fr-FR" dirty="0"/>
          </a:p>
          <a:p>
            <a:pPr algn="just"/>
            <a:r>
              <a:rPr lang="fr-FR" dirty="0"/>
              <a:t>IAS </a:t>
            </a:r>
            <a:r>
              <a:rPr lang="fr-FR" dirty="0" smtClean="0"/>
              <a:t>12 </a:t>
            </a:r>
            <a:r>
              <a:rPr lang="fr-FR" dirty="0"/>
              <a:t>est entrée en vigueur à partir du 1</a:t>
            </a:r>
            <a:r>
              <a:rPr lang="fr-FR" baseline="30000" dirty="0"/>
              <a:t>er</a:t>
            </a:r>
            <a:r>
              <a:rPr lang="fr-FR" dirty="0"/>
              <a:t> Janvier 2017</a:t>
            </a:r>
          </a:p>
          <a:p>
            <a:pPr marL="0" lvl="0" indent="0" algn="just">
              <a:buNone/>
            </a:pPr>
            <a:endParaRPr lang="fr-FR" sz="1500" dirty="0"/>
          </a:p>
          <a:p>
            <a:pPr lvl="0" algn="just"/>
            <a:r>
              <a:rPr lang="fr-FR" dirty="0"/>
              <a:t>Objectifs :</a:t>
            </a:r>
          </a:p>
          <a:p>
            <a:pPr lvl="1" algn="just"/>
            <a:r>
              <a:rPr lang="fr-FR" dirty="0" smtClean="0"/>
              <a:t>Cela concerne le traitement comptable des impôts sur le résultat. La question principale en matière de comptabilisation des impôts sur le résultat est de déterminer comment comptabiliser les conséquences fiscales actuelles et futures :</a:t>
            </a:r>
            <a:endParaRPr lang="fr-FR" dirty="0"/>
          </a:p>
          <a:p>
            <a:pPr lvl="2" algn="just"/>
            <a:r>
              <a:rPr lang="fr-FR" dirty="0" smtClean="0"/>
              <a:t>Du recouvrement (ou règlement) futur de la valeur comptable des actifs ou passifs qui sont comptabilisés dans le bilan d’une entité</a:t>
            </a:r>
            <a:endParaRPr lang="fr-FR" dirty="0"/>
          </a:p>
          <a:p>
            <a:pPr lvl="2" algn="just"/>
            <a:r>
              <a:rPr lang="fr-FR" dirty="0" smtClean="0"/>
              <a:t>Des transactions et autres événements de la période qui sont comptabilisés dans les états financiers d’une entité. </a:t>
            </a:r>
            <a:endParaRPr lang="fr-FR" dirty="0"/>
          </a:p>
          <a:p>
            <a:endParaRPr lang="fr-FR" dirty="0"/>
          </a:p>
        </p:txBody>
      </p:sp>
      <p:sp>
        <p:nvSpPr>
          <p:cNvPr id="6" name="Espace réservé du numéro de diapositive 5"/>
          <p:cNvSpPr>
            <a:spLocks noGrp="1"/>
          </p:cNvSpPr>
          <p:nvPr>
            <p:ph type="sldNum" sz="quarter" idx="12"/>
          </p:nvPr>
        </p:nvSpPr>
        <p:spPr/>
        <p:txBody>
          <a:bodyPr/>
          <a:lstStyle/>
          <a:p>
            <a:fld id="{851EF7E6-E725-4BDA-90E5-11DEA34DAC65}" type="slidenum">
              <a:rPr lang="fr-FR" smtClean="0"/>
              <a:t>29</a:t>
            </a:fld>
            <a:endParaRPr lang="fr-FR"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548680"/>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8916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7247148" cy="990600"/>
          </a:xfrm>
        </p:spPr>
        <p:txBody>
          <a:bodyPr>
            <a:noAutofit/>
          </a:bodyPr>
          <a:lstStyle/>
          <a:p>
            <a:r>
              <a:rPr lang="fr-FR" sz="3200" b="1" dirty="0" smtClean="0"/>
              <a:t>IFRS 9 : Instruments financiers</a:t>
            </a:r>
            <a:endParaRPr lang="fr-FR" sz="3200" b="1" dirty="0"/>
          </a:p>
        </p:txBody>
      </p:sp>
      <p:sp>
        <p:nvSpPr>
          <p:cNvPr id="3" name="Espace réservé du contenu 2"/>
          <p:cNvSpPr>
            <a:spLocks noGrp="1"/>
          </p:cNvSpPr>
          <p:nvPr>
            <p:ph idx="1"/>
          </p:nvPr>
        </p:nvSpPr>
        <p:spPr>
          <a:xfrm>
            <a:off x="179512" y="1600200"/>
            <a:ext cx="8784976" cy="5141168"/>
          </a:xfrm>
        </p:spPr>
        <p:txBody>
          <a:bodyPr>
            <a:normAutofit lnSpcReduction="10000"/>
          </a:bodyPr>
          <a:lstStyle/>
          <a:p>
            <a:pPr algn="just"/>
            <a:r>
              <a:rPr lang="fr-FR" dirty="0" smtClean="0"/>
              <a:t>IFRS 9 est entrée en vigueur à partir du 1</a:t>
            </a:r>
            <a:r>
              <a:rPr lang="fr-FR" baseline="30000" dirty="0" smtClean="0"/>
              <a:t>er</a:t>
            </a:r>
            <a:r>
              <a:rPr lang="fr-FR" dirty="0" smtClean="0"/>
              <a:t> Janvier 2018</a:t>
            </a:r>
          </a:p>
          <a:p>
            <a:pPr marL="0" indent="0" algn="just">
              <a:buNone/>
            </a:pPr>
            <a:endParaRPr lang="fr-FR" sz="1500" dirty="0"/>
          </a:p>
          <a:p>
            <a:pPr lvl="0" algn="just"/>
            <a:r>
              <a:rPr lang="fr-FR" dirty="0" smtClean="0"/>
              <a:t>Elle remplace la norme IAS 39 Instruments financiers : comptabilisation et évaluation.</a:t>
            </a:r>
          </a:p>
          <a:p>
            <a:pPr marL="0" lvl="0" indent="0" algn="just">
              <a:buNone/>
            </a:pPr>
            <a:endParaRPr lang="fr-FR" sz="1500" dirty="0" smtClean="0"/>
          </a:p>
          <a:p>
            <a:pPr lvl="0" algn="just"/>
            <a:r>
              <a:rPr lang="fr-FR" dirty="0" smtClean="0"/>
              <a:t>Objectifs :</a:t>
            </a:r>
          </a:p>
          <a:p>
            <a:pPr lvl="1" algn="just"/>
            <a:r>
              <a:rPr lang="fr-FR" dirty="0"/>
              <a:t>Améliorer la comptabilisation et la présentation des instruments financiers en imposant :</a:t>
            </a:r>
          </a:p>
          <a:p>
            <a:pPr lvl="2" algn="just"/>
            <a:r>
              <a:rPr lang="fr-FR" dirty="0"/>
              <a:t>De nouveaux principes de classement et d’évaluation des actifs financiers</a:t>
            </a:r>
          </a:p>
          <a:p>
            <a:pPr lvl="2" algn="just"/>
            <a:r>
              <a:rPr lang="fr-FR" dirty="0"/>
              <a:t>Un nouveau modèle de dépréciation  des actifs financiers et de couverture </a:t>
            </a:r>
          </a:p>
          <a:p>
            <a:pPr lvl="0" algn="just"/>
            <a:endParaRPr lang="fr-FR" sz="1600" dirty="0" smtClean="0"/>
          </a:p>
          <a:p>
            <a:pPr lvl="0" algn="just"/>
            <a:r>
              <a:rPr lang="fr-FR" dirty="0" smtClean="0"/>
              <a:t>Impact étude 80 groupes: </a:t>
            </a:r>
          </a:p>
          <a:p>
            <a:pPr lvl="1" algn="just"/>
            <a:r>
              <a:rPr lang="fr-FR" dirty="0" smtClean="0"/>
              <a:t>Difficile de mesurer les impacts de cette nouvelles norme sur les comptes consolidés des groupes de l’étude, mais ils devraient être peu significatifs sur les groupes non financiers. </a:t>
            </a:r>
          </a:p>
          <a:p>
            <a:pPr lvl="2" algn="just"/>
            <a:endParaRPr lang="fr-FR" dirty="0" smtClean="0"/>
          </a:p>
          <a:p>
            <a:pPr lvl="2" algn="just"/>
            <a:endParaRPr lang="fr-FR" dirty="0"/>
          </a:p>
          <a:p>
            <a:pPr lvl="2" algn="just"/>
            <a:endParaRPr lang="fr-FR" dirty="0" smtClean="0"/>
          </a:p>
          <a:p>
            <a:pPr marL="548640" lvl="2" indent="0">
              <a:buNone/>
            </a:pPr>
            <a:endParaRPr lang="fr-FR" dirty="0" smtClean="0"/>
          </a:p>
          <a:p>
            <a:pPr lvl="2" algn="just"/>
            <a:endParaRPr lang="fr-FR" dirty="0" smtClean="0"/>
          </a:p>
          <a:p>
            <a:pPr lvl="1" algn="just"/>
            <a:endParaRPr lang="fr-FR" dirty="0"/>
          </a:p>
          <a:p>
            <a:endParaRPr lang="fr-FR" dirty="0"/>
          </a:p>
        </p:txBody>
      </p:sp>
      <p:sp>
        <p:nvSpPr>
          <p:cNvPr id="6" name="Espace réservé du numéro de diapositive 5"/>
          <p:cNvSpPr>
            <a:spLocks noGrp="1"/>
          </p:cNvSpPr>
          <p:nvPr>
            <p:ph type="sldNum" sz="quarter" idx="12"/>
          </p:nvPr>
        </p:nvSpPr>
        <p:spPr/>
        <p:txBody>
          <a:bodyPr/>
          <a:lstStyle/>
          <a:p>
            <a:fld id="{851EF7E6-E725-4BDA-90E5-11DEA34DAC65}" type="slidenum">
              <a:rPr lang="fr-FR" smtClean="0"/>
              <a:t>30</a:t>
            </a:fld>
            <a:endParaRPr lang="fr-FR"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548680"/>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46081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b="1" dirty="0" smtClean="0"/>
              <a:t>IFRS 15 : Chiffre d’affaires</a:t>
            </a:r>
            <a:endParaRPr lang="fr-FR" sz="3600" b="1" dirty="0"/>
          </a:p>
        </p:txBody>
      </p:sp>
      <p:sp>
        <p:nvSpPr>
          <p:cNvPr id="3" name="Espace réservé du contenu 2"/>
          <p:cNvSpPr>
            <a:spLocks noGrp="1"/>
          </p:cNvSpPr>
          <p:nvPr>
            <p:ph idx="1"/>
          </p:nvPr>
        </p:nvSpPr>
        <p:spPr>
          <a:xfrm>
            <a:off x="457200" y="1772816"/>
            <a:ext cx="8229600" cy="4704184"/>
          </a:xfrm>
        </p:spPr>
        <p:txBody>
          <a:bodyPr>
            <a:normAutofit fontScale="85000" lnSpcReduction="10000"/>
          </a:bodyPr>
          <a:lstStyle/>
          <a:p>
            <a:r>
              <a:rPr lang="fr-FR" dirty="0" smtClean="0"/>
              <a:t>La norme IFRS 15 porte sur les Produits </a:t>
            </a:r>
            <a:r>
              <a:rPr lang="fr-FR" dirty="0"/>
              <a:t>des activités ordinaires tirés des contrats conclus avec des </a:t>
            </a:r>
            <a:r>
              <a:rPr lang="fr-FR" dirty="0" smtClean="0"/>
              <a:t>clients</a:t>
            </a:r>
          </a:p>
          <a:p>
            <a:pPr marL="0" indent="0">
              <a:buNone/>
            </a:pPr>
            <a:endParaRPr lang="fr-FR" sz="1600" dirty="0" smtClean="0"/>
          </a:p>
          <a:p>
            <a:r>
              <a:rPr lang="fr-FR" dirty="0" smtClean="0"/>
              <a:t>En avril 2016, l’IASB publie un amendement à la norme IFRS 15.</a:t>
            </a:r>
          </a:p>
          <a:p>
            <a:pPr lvl="2" algn="just"/>
            <a:r>
              <a:rPr lang="fr-FR" sz="2000" dirty="0" smtClean="0"/>
              <a:t>Report de la date d’entrée en vigueur au 1</a:t>
            </a:r>
            <a:r>
              <a:rPr lang="fr-FR" sz="2000" baseline="30000" dirty="0" smtClean="0"/>
              <a:t>er</a:t>
            </a:r>
            <a:r>
              <a:rPr lang="fr-FR" sz="2000" dirty="0" smtClean="0"/>
              <a:t> janvier </a:t>
            </a:r>
            <a:r>
              <a:rPr lang="fr-FR" sz="2000" dirty="0"/>
              <a:t>2018 </a:t>
            </a:r>
            <a:r>
              <a:rPr lang="fr-FR" sz="2000" dirty="0" smtClean="0"/>
              <a:t>pour </a:t>
            </a:r>
            <a:r>
              <a:rPr lang="fr-FR" sz="2000" dirty="0"/>
              <a:t>proposer des clarification afin de faciliter la mise en œuvre d’IFRS </a:t>
            </a:r>
            <a:r>
              <a:rPr lang="fr-FR" sz="2000" dirty="0" smtClean="0"/>
              <a:t>15</a:t>
            </a:r>
          </a:p>
          <a:p>
            <a:pPr lvl="2" algn="just"/>
            <a:r>
              <a:rPr lang="fr-FR" sz="2000" dirty="0" smtClean="0"/>
              <a:t>Cependant, </a:t>
            </a:r>
            <a:r>
              <a:rPr lang="fr-FR" sz="2000" dirty="0"/>
              <a:t>possibilité d’appliquer la norme de façon </a:t>
            </a:r>
            <a:r>
              <a:rPr lang="fr-FR" sz="2000" dirty="0" smtClean="0"/>
              <a:t>anticipée pour les sociétés</a:t>
            </a:r>
          </a:p>
          <a:p>
            <a:pPr lvl="1"/>
            <a:endParaRPr lang="fr-FR" sz="1600" dirty="0" smtClean="0"/>
          </a:p>
          <a:p>
            <a:pPr lvl="0" algn="just"/>
            <a:r>
              <a:rPr lang="fr-FR" dirty="0"/>
              <a:t>Impact étude 80 groupes: </a:t>
            </a:r>
          </a:p>
          <a:p>
            <a:pPr lvl="1" algn="just"/>
            <a:r>
              <a:rPr lang="fr-FR" dirty="0" smtClean="0"/>
              <a:t>Norme qui aura des effets sur le marché de la téléphonie mobile et plus spécifiquement sur la comptabilisation des contrats lorsqu’ils associent la vente à prix réduit d’un équipement avec la souscription d’un abonnement : CA du contrat sera identique mais le rythme de reconnaissance et la répartition entre le terminal vendu et la prestation de service seront modifiés (hausse des revenus liés à l’équipement, baisse des revenus liés aux services rendus)</a:t>
            </a:r>
            <a:endParaRPr lang="fr-FR" dirty="0"/>
          </a:p>
          <a:p>
            <a:pPr marL="0" indent="0">
              <a:buNone/>
            </a:pPr>
            <a:endParaRPr lang="fr-FR" dirty="0"/>
          </a:p>
          <a:p>
            <a:endParaRPr lang="fr-FR" dirty="0"/>
          </a:p>
        </p:txBody>
      </p:sp>
      <p:sp>
        <p:nvSpPr>
          <p:cNvPr id="6" name="Espace réservé du numéro de diapositive 5"/>
          <p:cNvSpPr>
            <a:spLocks noGrp="1"/>
          </p:cNvSpPr>
          <p:nvPr>
            <p:ph type="sldNum" sz="quarter" idx="12"/>
          </p:nvPr>
        </p:nvSpPr>
        <p:spPr/>
        <p:txBody>
          <a:bodyPr/>
          <a:lstStyle/>
          <a:p>
            <a:fld id="{851EF7E6-E725-4BDA-90E5-11DEA34DAC65}" type="slidenum">
              <a:rPr lang="fr-FR" smtClean="0"/>
              <a:t>31</a:t>
            </a:fld>
            <a:endParaRPr lang="fr-FR" dirty="0"/>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548680"/>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18020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600" b="1" dirty="0" smtClean="0"/>
              <a:t>IFRS 16 : Contrats de location</a:t>
            </a:r>
            <a:endParaRPr lang="fr-FR" sz="3600" b="1" dirty="0"/>
          </a:p>
        </p:txBody>
      </p:sp>
      <p:sp>
        <p:nvSpPr>
          <p:cNvPr id="3" name="Espace réservé du contenu 2"/>
          <p:cNvSpPr>
            <a:spLocks noGrp="1"/>
          </p:cNvSpPr>
          <p:nvPr>
            <p:ph idx="1"/>
          </p:nvPr>
        </p:nvSpPr>
        <p:spPr>
          <a:xfrm>
            <a:off x="179512" y="1484784"/>
            <a:ext cx="8784976" cy="5112568"/>
          </a:xfrm>
        </p:spPr>
        <p:txBody>
          <a:bodyPr>
            <a:noAutofit/>
          </a:bodyPr>
          <a:lstStyle/>
          <a:p>
            <a:pPr algn="just"/>
            <a:r>
              <a:rPr lang="fr-FR" sz="1700" dirty="0"/>
              <a:t>IFRS 16 remplace la norme </a:t>
            </a:r>
            <a:r>
              <a:rPr lang="fr-FR" sz="1700" dirty="0" smtClean="0"/>
              <a:t>IAS </a:t>
            </a:r>
            <a:r>
              <a:rPr lang="fr-FR" sz="1700" dirty="0"/>
              <a:t>17, ainsi que les interprétations correspondantes </a:t>
            </a:r>
            <a:r>
              <a:rPr lang="fr-FR" sz="1700" dirty="0" smtClean="0"/>
              <a:t>et </a:t>
            </a:r>
            <a:r>
              <a:rPr lang="fr-FR" sz="1700" dirty="0"/>
              <a:t>entre en vigueur le </a:t>
            </a:r>
            <a:r>
              <a:rPr lang="fr-FR" sz="1700" dirty="0" smtClean="0"/>
              <a:t>1</a:t>
            </a:r>
            <a:r>
              <a:rPr lang="fr-FR" sz="1700" baseline="30000" dirty="0" smtClean="0"/>
              <a:t>er</a:t>
            </a:r>
            <a:r>
              <a:rPr lang="fr-FR" sz="1700" dirty="0" smtClean="0"/>
              <a:t> janvier 2019.</a:t>
            </a:r>
          </a:p>
          <a:p>
            <a:pPr marL="0" indent="0" algn="just">
              <a:buNone/>
            </a:pPr>
            <a:endParaRPr lang="fr-FR" sz="1000" b="1" dirty="0" smtClean="0"/>
          </a:p>
          <a:p>
            <a:pPr algn="just">
              <a:lnSpc>
                <a:spcPct val="110000"/>
              </a:lnSpc>
            </a:pPr>
            <a:r>
              <a:rPr lang="fr-FR" sz="1700" dirty="0" smtClean="0"/>
              <a:t>Principales </a:t>
            </a:r>
            <a:r>
              <a:rPr lang="fr-FR" sz="1700" dirty="0"/>
              <a:t>modifications :</a:t>
            </a:r>
          </a:p>
          <a:p>
            <a:pPr lvl="1" algn="just">
              <a:lnSpc>
                <a:spcPct val="110000"/>
              </a:lnSpc>
            </a:pPr>
            <a:r>
              <a:rPr lang="fr-FR" sz="1700" dirty="0" smtClean="0"/>
              <a:t>Tous </a:t>
            </a:r>
            <a:r>
              <a:rPr lang="fr-FR" sz="1700" dirty="0"/>
              <a:t>les contrats de location seront portés au bilan des preneurs, ce qui donnera une meilleure visibilité de leurs actifs et de leurs passifs</a:t>
            </a:r>
            <a:r>
              <a:rPr lang="fr-FR" sz="1700" dirty="0" smtClean="0"/>
              <a:t>.</a:t>
            </a:r>
          </a:p>
          <a:p>
            <a:pPr marL="274320" lvl="1" indent="0" algn="just">
              <a:lnSpc>
                <a:spcPct val="110000"/>
              </a:lnSpc>
              <a:buNone/>
            </a:pPr>
            <a:endParaRPr lang="fr-FR" sz="1000" dirty="0"/>
          </a:p>
          <a:p>
            <a:pPr lvl="1" algn="just">
              <a:lnSpc>
                <a:spcPct val="110000"/>
              </a:lnSpc>
            </a:pPr>
            <a:r>
              <a:rPr lang="fr-FR" sz="1700" dirty="0" smtClean="0"/>
              <a:t>Abandon de </a:t>
            </a:r>
            <a:r>
              <a:rPr lang="fr-FR" sz="1700" dirty="0"/>
              <a:t>la classification </a:t>
            </a:r>
            <a:r>
              <a:rPr lang="fr-FR" sz="1700" dirty="0" smtClean="0"/>
              <a:t>entre </a:t>
            </a:r>
            <a:r>
              <a:rPr lang="fr-FR" sz="1700" dirty="0"/>
              <a:t>contrats de location simple ou contrats de </a:t>
            </a:r>
            <a:r>
              <a:rPr lang="fr-FR" sz="1700" dirty="0" smtClean="0"/>
              <a:t>location-financement (</a:t>
            </a:r>
            <a:r>
              <a:rPr lang="fr-FR" sz="1700" dirty="0"/>
              <a:t>pour les preneurs </a:t>
            </a:r>
            <a:r>
              <a:rPr lang="fr-FR" sz="1700" dirty="0" smtClean="0"/>
              <a:t>),</a:t>
            </a:r>
            <a:r>
              <a:rPr lang="fr-FR" sz="1700" dirty="0"/>
              <a:t> </a:t>
            </a:r>
            <a:r>
              <a:rPr lang="fr-FR" sz="1700" dirty="0" smtClean="0"/>
              <a:t>tous </a:t>
            </a:r>
            <a:r>
              <a:rPr lang="fr-FR" sz="1700" dirty="0"/>
              <a:t>les contrats </a:t>
            </a:r>
            <a:r>
              <a:rPr lang="fr-FR" sz="1700" dirty="0" smtClean="0"/>
              <a:t>sont traités comme </a:t>
            </a:r>
            <a:r>
              <a:rPr lang="fr-FR" sz="1700" dirty="0"/>
              <a:t>des </a:t>
            </a:r>
            <a:r>
              <a:rPr lang="fr-FR" sz="1700" u="sng" dirty="0"/>
              <a:t>contrats de location-financement</a:t>
            </a:r>
            <a:r>
              <a:rPr lang="fr-FR" sz="1700" dirty="0" smtClean="0"/>
              <a:t>.</a:t>
            </a:r>
          </a:p>
          <a:p>
            <a:pPr marL="274320" lvl="1" indent="0" algn="just">
              <a:lnSpc>
                <a:spcPct val="110000"/>
              </a:lnSpc>
              <a:buNone/>
            </a:pPr>
            <a:endParaRPr lang="fr-FR" sz="1000" dirty="0"/>
          </a:p>
          <a:p>
            <a:pPr lvl="1" algn="just">
              <a:lnSpc>
                <a:spcPct val="110000"/>
              </a:lnSpc>
            </a:pPr>
            <a:r>
              <a:rPr lang="fr-FR" sz="1700" dirty="0"/>
              <a:t>Les contrats de location de moins d'un an et les contrats portant sur des actifs de peu de valeur (tels que les ordinateurs personnels) sont exemptés des obligations posées par IFRS 16</a:t>
            </a:r>
            <a:r>
              <a:rPr lang="fr-FR" sz="1700" dirty="0" smtClean="0"/>
              <a:t>.</a:t>
            </a:r>
          </a:p>
          <a:p>
            <a:pPr marL="274320" lvl="1" indent="0" algn="just">
              <a:lnSpc>
                <a:spcPct val="110000"/>
              </a:lnSpc>
              <a:buNone/>
            </a:pPr>
            <a:endParaRPr lang="fr-FR" sz="1000" dirty="0" smtClean="0"/>
          </a:p>
        </p:txBody>
      </p:sp>
      <p:sp>
        <p:nvSpPr>
          <p:cNvPr id="6" name="Espace réservé du numéro de diapositive 5"/>
          <p:cNvSpPr>
            <a:spLocks noGrp="1"/>
          </p:cNvSpPr>
          <p:nvPr>
            <p:ph type="sldNum" sz="quarter" idx="12"/>
          </p:nvPr>
        </p:nvSpPr>
        <p:spPr/>
        <p:txBody>
          <a:bodyPr/>
          <a:lstStyle/>
          <a:p>
            <a:fld id="{851EF7E6-E725-4BDA-90E5-11DEA34DAC65}" type="slidenum">
              <a:rPr lang="fr-FR" smtClean="0"/>
              <a:t>32</a:t>
            </a:fld>
            <a:endParaRPr lang="fr-FR"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548680"/>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4827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7504" y="533400"/>
            <a:ext cx="8229600" cy="990600"/>
          </a:xfrm>
        </p:spPr>
        <p:txBody>
          <a:bodyPr>
            <a:normAutofit/>
          </a:bodyPr>
          <a:lstStyle/>
          <a:p>
            <a:r>
              <a:rPr lang="fr-FR" sz="3600" b="1" dirty="0"/>
              <a:t>IFRS 16 : </a:t>
            </a:r>
            <a:r>
              <a:rPr lang="fr-FR" sz="3600" b="1" dirty="0" smtClean="0"/>
              <a:t>Contrats </a:t>
            </a:r>
            <a:r>
              <a:rPr lang="fr-FR" sz="3600" b="1" dirty="0"/>
              <a:t>de location</a:t>
            </a:r>
          </a:p>
        </p:txBody>
      </p:sp>
      <p:sp>
        <p:nvSpPr>
          <p:cNvPr id="3" name="Espace réservé du contenu 2"/>
          <p:cNvSpPr>
            <a:spLocks noGrp="1"/>
          </p:cNvSpPr>
          <p:nvPr>
            <p:ph idx="1"/>
          </p:nvPr>
        </p:nvSpPr>
        <p:spPr>
          <a:xfrm>
            <a:off x="457200" y="1600200"/>
            <a:ext cx="8229600" cy="2404864"/>
          </a:xfrm>
        </p:spPr>
        <p:txBody>
          <a:bodyPr/>
          <a:lstStyle/>
          <a:p>
            <a:pPr algn="just"/>
            <a:r>
              <a:rPr lang="fr-FR" sz="1800" dirty="0"/>
              <a:t>Dans l’étude sur les 80 groupes à fin décembre 2016, les engagements sur les contrats de location représentaient 82,7 Md€ équivalents à 12,5 % de leurs capitaux propres. </a:t>
            </a:r>
            <a:endParaRPr lang="fr-FR" sz="1800" dirty="0" smtClean="0"/>
          </a:p>
          <a:p>
            <a:pPr algn="just"/>
            <a:r>
              <a:rPr lang="fr-FR" sz="1800" dirty="0" smtClean="0"/>
              <a:t>La </a:t>
            </a:r>
            <a:r>
              <a:rPr lang="fr-FR" sz="1800" dirty="0"/>
              <a:t>norme impacte différemment les grands </a:t>
            </a:r>
            <a:r>
              <a:rPr lang="fr-FR" sz="1800" dirty="0" smtClean="0"/>
              <a:t>groupes</a:t>
            </a:r>
            <a:r>
              <a:rPr lang="fr-FR" sz="1800" dirty="0"/>
              <a:t> </a:t>
            </a:r>
            <a:r>
              <a:rPr lang="fr-FR" sz="1800" dirty="0" smtClean="0"/>
              <a:t>:</a:t>
            </a:r>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33</a:t>
            </a:fld>
            <a:endParaRPr lang="fr-FR"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548680"/>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512" y="2996952"/>
            <a:ext cx="8798649" cy="3528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91625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3200" b="1" dirty="0" smtClean="0"/>
              <a:t>IFRS 17 : Contrats d’assurance</a:t>
            </a:r>
            <a:endParaRPr lang="fr-FR" sz="3200" b="1" dirty="0"/>
          </a:p>
        </p:txBody>
      </p:sp>
      <p:sp>
        <p:nvSpPr>
          <p:cNvPr id="3" name="Espace réservé du contenu 2"/>
          <p:cNvSpPr>
            <a:spLocks noGrp="1"/>
          </p:cNvSpPr>
          <p:nvPr>
            <p:ph idx="1"/>
          </p:nvPr>
        </p:nvSpPr>
        <p:spPr>
          <a:xfrm>
            <a:off x="179512" y="1484784"/>
            <a:ext cx="8784976" cy="5112568"/>
          </a:xfrm>
        </p:spPr>
        <p:txBody>
          <a:bodyPr>
            <a:noAutofit/>
          </a:bodyPr>
          <a:lstStyle/>
          <a:p>
            <a:pPr algn="just"/>
            <a:r>
              <a:rPr lang="fr-FR" sz="1700" dirty="0" smtClean="0"/>
              <a:t>Publiée en mai 2017 mais applicable au 1</a:t>
            </a:r>
            <a:r>
              <a:rPr lang="fr-FR" sz="1700" baseline="30000" dirty="0" smtClean="0"/>
              <a:t>er</a:t>
            </a:r>
            <a:r>
              <a:rPr lang="fr-FR" sz="1700" dirty="0" smtClean="0"/>
              <a:t> janvier 2021 sous réserve d’adoption par l’UE</a:t>
            </a:r>
          </a:p>
          <a:p>
            <a:pPr marL="0" indent="0" algn="just">
              <a:buNone/>
            </a:pPr>
            <a:endParaRPr lang="fr-FR" sz="1700" dirty="0" smtClean="0"/>
          </a:p>
          <a:p>
            <a:pPr algn="just"/>
            <a:r>
              <a:rPr lang="fr-FR" sz="1700" dirty="0" smtClean="0"/>
              <a:t>S’applique aux groupes qui ont </a:t>
            </a:r>
            <a:r>
              <a:rPr lang="fr-FR" sz="1700" b="1" dirty="0" smtClean="0"/>
              <a:t>émis</a:t>
            </a:r>
            <a:r>
              <a:rPr lang="fr-FR" sz="1700" dirty="0" smtClean="0"/>
              <a:t> et non souscrits des contrats d’assurance dans le champ d’IFRS 4</a:t>
            </a:r>
          </a:p>
          <a:p>
            <a:pPr marL="0" indent="0" algn="just">
              <a:buNone/>
            </a:pPr>
            <a:endParaRPr lang="fr-FR" sz="1000" b="1" dirty="0" smtClean="0"/>
          </a:p>
          <a:p>
            <a:pPr algn="just">
              <a:lnSpc>
                <a:spcPct val="110000"/>
              </a:lnSpc>
            </a:pPr>
            <a:r>
              <a:rPr lang="fr-FR" sz="1700" dirty="0" smtClean="0"/>
              <a:t>Principales </a:t>
            </a:r>
            <a:r>
              <a:rPr lang="fr-FR" sz="1700" dirty="0"/>
              <a:t>modifications </a:t>
            </a:r>
            <a:r>
              <a:rPr lang="fr-FR" sz="1700" dirty="0" smtClean="0"/>
              <a:t>:</a:t>
            </a:r>
            <a:endParaRPr lang="fr-FR" sz="1700" dirty="0"/>
          </a:p>
          <a:p>
            <a:pPr lvl="1" algn="just">
              <a:lnSpc>
                <a:spcPct val="110000"/>
              </a:lnSpc>
            </a:pPr>
            <a:r>
              <a:rPr lang="fr-FR" sz="1700" dirty="0" smtClean="0"/>
              <a:t>Changements majeurs pour le calcul des provisions techniques d’assurance</a:t>
            </a:r>
            <a:endParaRPr lang="fr-FR" sz="1000" dirty="0" smtClean="0"/>
          </a:p>
          <a:p>
            <a:pPr lvl="1" algn="just">
              <a:lnSpc>
                <a:spcPct val="110000"/>
              </a:lnSpc>
            </a:pPr>
            <a:r>
              <a:rPr lang="fr-FR" sz="1700" dirty="0" smtClean="0"/>
              <a:t>Bilan essentiellement en valeurs courantes et compte de résultat totalement changé</a:t>
            </a:r>
          </a:p>
          <a:p>
            <a:pPr lvl="1" algn="just">
              <a:lnSpc>
                <a:spcPct val="110000"/>
              </a:lnSpc>
            </a:pPr>
            <a:r>
              <a:rPr lang="fr-FR" sz="1700" dirty="0" smtClean="0"/>
              <a:t>Calculs complexes (taux actuariels mis à jour en continu)3</a:t>
            </a:r>
            <a:endParaRPr lang="fr-FR" sz="1700" dirty="0"/>
          </a:p>
          <a:p>
            <a:pPr lvl="1" algn="just">
              <a:lnSpc>
                <a:spcPct val="110000"/>
              </a:lnSpc>
            </a:pPr>
            <a:r>
              <a:rPr lang="fr-FR" sz="1700" dirty="0" smtClean="0"/>
              <a:t>Différentes approches de comptabilisation selon les contrats</a:t>
            </a:r>
            <a:endParaRPr lang="fr-FR" sz="1700" dirty="0"/>
          </a:p>
          <a:p>
            <a:pPr lvl="1" algn="just">
              <a:lnSpc>
                <a:spcPct val="110000"/>
              </a:lnSpc>
            </a:pPr>
            <a:r>
              <a:rPr lang="fr-FR" sz="1700" dirty="0" smtClean="0"/>
              <a:t>Nouvelle granularité pour effectuer les calculs</a:t>
            </a:r>
          </a:p>
          <a:p>
            <a:pPr marL="274320" lvl="1" indent="0" algn="just">
              <a:lnSpc>
                <a:spcPct val="110000"/>
              </a:lnSpc>
              <a:buNone/>
            </a:pPr>
            <a:endParaRPr lang="fr-FR" sz="1000" dirty="0" smtClean="0"/>
          </a:p>
          <a:p>
            <a:pPr algn="just">
              <a:lnSpc>
                <a:spcPct val="110000"/>
              </a:lnSpc>
            </a:pPr>
            <a:r>
              <a:rPr lang="fr-FR" sz="1700" dirty="0" smtClean="0"/>
              <a:t>Cette norme s’adresse aux sociétés d’assurances : 450 sociétés d’assurances concernées. </a:t>
            </a:r>
            <a:endParaRPr lang="fr-FR" sz="1000" dirty="0"/>
          </a:p>
        </p:txBody>
      </p:sp>
      <p:sp>
        <p:nvSpPr>
          <p:cNvPr id="6" name="Espace réservé du numéro de diapositive 5"/>
          <p:cNvSpPr>
            <a:spLocks noGrp="1"/>
          </p:cNvSpPr>
          <p:nvPr>
            <p:ph type="sldNum" sz="quarter" idx="12"/>
          </p:nvPr>
        </p:nvSpPr>
        <p:spPr/>
        <p:txBody>
          <a:bodyPr/>
          <a:lstStyle/>
          <a:p>
            <a:fld id="{851EF7E6-E725-4BDA-90E5-11DEA34DAC65}" type="slidenum">
              <a:rPr lang="fr-FR" smtClean="0"/>
              <a:t>34</a:t>
            </a:fld>
            <a:endParaRPr lang="fr-FR" dirty="0"/>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548680"/>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879042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6203032" cy="990600"/>
          </a:xfrm>
        </p:spPr>
        <p:txBody>
          <a:bodyPr>
            <a:normAutofit/>
          </a:bodyPr>
          <a:lstStyle/>
          <a:p>
            <a:r>
              <a:rPr lang="fr-FR" b="1" dirty="0" smtClean="0"/>
              <a:t>IFRS 5</a:t>
            </a:r>
            <a:r>
              <a:rPr lang="fr-FR" dirty="0" smtClean="0"/>
              <a:t> </a:t>
            </a:r>
            <a:endParaRPr lang="fr-FR" dirty="0"/>
          </a:p>
        </p:txBody>
      </p:sp>
      <p:sp>
        <p:nvSpPr>
          <p:cNvPr id="3" name="Espace réservé du contenu 2"/>
          <p:cNvSpPr>
            <a:spLocks noGrp="1"/>
          </p:cNvSpPr>
          <p:nvPr>
            <p:ph idx="1"/>
          </p:nvPr>
        </p:nvSpPr>
        <p:spPr>
          <a:xfrm>
            <a:off x="179512" y="1600200"/>
            <a:ext cx="8784976" cy="4876800"/>
          </a:xfrm>
        </p:spPr>
        <p:txBody>
          <a:bodyPr>
            <a:normAutofit fontScale="92500" lnSpcReduction="20000"/>
          </a:bodyPr>
          <a:lstStyle/>
          <a:p>
            <a:pPr algn="just"/>
            <a:endParaRPr lang="fr-FR" dirty="0" smtClean="0"/>
          </a:p>
          <a:p>
            <a:pPr algn="just"/>
            <a:r>
              <a:rPr lang="fr-FR" dirty="0" smtClean="0"/>
              <a:t>IFRS 5 : « Actifs non courants détenus en vue de la vente  et activités abandonnées »</a:t>
            </a:r>
          </a:p>
          <a:p>
            <a:pPr marL="0" indent="0" algn="just">
              <a:buNone/>
            </a:pPr>
            <a:endParaRPr lang="fr-FR" sz="1100" dirty="0" smtClean="0"/>
          </a:p>
          <a:p>
            <a:pPr algn="just"/>
            <a:r>
              <a:rPr lang="fr-FR" dirty="0" smtClean="0"/>
              <a:t>Objectifs :</a:t>
            </a:r>
          </a:p>
          <a:p>
            <a:pPr lvl="1" algn="just"/>
            <a:r>
              <a:rPr lang="fr-FR" dirty="0" smtClean="0"/>
              <a:t>Spécifier la comptabilisation d’actifs détenus en vue de la vente</a:t>
            </a:r>
          </a:p>
          <a:p>
            <a:pPr lvl="1" algn="just"/>
            <a:r>
              <a:rPr lang="fr-FR" dirty="0" smtClean="0"/>
              <a:t>Présenter et informer sur les activités abandonnées</a:t>
            </a:r>
          </a:p>
          <a:p>
            <a:pPr lvl="1" algn="just"/>
            <a:endParaRPr lang="fr-FR" dirty="0"/>
          </a:p>
          <a:p>
            <a:pPr algn="just"/>
            <a:r>
              <a:rPr lang="fr-FR" dirty="0" smtClean="0"/>
              <a:t>Impacts importants à fin 2016 mais à priori moindre pour fin 2017 (aucune entreprise des 80 groupes n’a cédé d’entreprise VS fin 2016, ACCOR (cession du pôle immobilier) et AREVA). </a:t>
            </a:r>
          </a:p>
          <a:p>
            <a:pPr algn="just"/>
            <a:endParaRPr lang="fr-FR" dirty="0" smtClean="0"/>
          </a:p>
          <a:p>
            <a:pPr algn="just"/>
            <a:r>
              <a:rPr lang="fr-FR" dirty="0" smtClean="0"/>
              <a:t>Attention toute particulière à porter sur les chiffres (N-1) qui sont recalculés en fonction de ces changements de présentation : </a:t>
            </a:r>
          </a:p>
          <a:p>
            <a:pPr lvl="1" algn="just"/>
            <a:r>
              <a:rPr lang="fr-FR" dirty="0" smtClean="0"/>
              <a:t>écarts possibles importants entre le (N-1) publié l’an passé et le (N-1) présenté cette année.</a:t>
            </a:r>
          </a:p>
          <a:p>
            <a:pPr marL="274320" lvl="1" indent="0" algn="just">
              <a:buNone/>
            </a:pPr>
            <a:endParaRPr lang="fr-FR" sz="1000" dirty="0" smtClean="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35</a:t>
            </a:fld>
            <a:endParaRPr lang="fr-FR"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240" y="404664"/>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554882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851EF7E6-E725-4BDA-90E5-11DEA34DAC65}" type="slidenum">
              <a:rPr lang="fr-FR" smtClean="0"/>
              <a:t>36</a:t>
            </a:fld>
            <a:endParaRPr lang="fr-FR" dirty="0"/>
          </a:p>
        </p:txBody>
      </p:sp>
      <p:sp>
        <p:nvSpPr>
          <p:cNvPr id="5" name="Titre 4"/>
          <p:cNvSpPr>
            <a:spLocks noGrp="1"/>
          </p:cNvSpPr>
          <p:nvPr>
            <p:ph type="title"/>
          </p:nvPr>
        </p:nvSpPr>
        <p:spPr>
          <a:xfrm>
            <a:off x="107504" y="533400"/>
            <a:ext cx="6516216" cy="1167408"/>
          </a:xfrm>
        </p:spPr>
        <p:txBody>
          <a:bodyPr>
            <a:normAutofit/>
          </a:bodyPr>
          <a:lstStyle/>
          <a:p>
            <a:pPr algn="just"/>
            <a:r>
              <a:rPr lang="fr-FR" sz="3200" b="1" dirty="0" smtClean="0"/>
              <a:t>Les bénéfices des entreprises du CAC 40 en hausse à fin 2017</a:t>
            </a:r>
            <a:endParaRPr lang="fr-FR" sz="3200" b="1" dirty="0"/>
          </a:p>
        </p:txBody>
      </p:sp>
      <p:sp>
        <p:nvSpPr>
          <p:cNvPr id="7" name="ZoneTexte 6"/>
          <p:cNvSpPr txBox="1"/>
          <p:nvPr/>
        </p:nvSpPr>
        <p:spPr>
          <a:xfrm>
            <a:off x="251520" y="1916832"/>
            <a:ext cx="8640960" cy="3785652"/>
          </a:xfrm>
          <a:prstGeom prst="rect">
            <a:avLst/>
          </a:prstGeom>
          <a:noFill/>
        </p:spPr>
        <p:txBody>
          <a:bodyPr wrap="square" rtlCol="0">
            <a:spAutoFit/>
          </a:bodyPr>
          <a:lstStyle/>
          <a:p>
            <a:pPr marL="285750" indent="-285750" algn="just">
              <a:buFont typeface="Arial" panose="020B0604020202020204" pitchFamily="34" charset="0"/>
              <a:buChar char="•"/>
            </a:pPr>
            <a:r>
              <a:rPr lang="fr-FR" sz="2400" dirty="0" smtClean="0"/>
              <a:t>Bénéfices en hausse de 24% en 2017</a:t>
            </a:r>
          </a:p>
          <a:p>
            <a:pPr marL="285750" indent="-285750" algn="just">
              <a:buFont typeface="Arial" panose="020B0604020202020204" pitchFamily="34" charset="0"/>
              <a:buChar char="•"/>
            </a:pPr>
            <a:endParaRPr lang="fr-FR" sz="2400" dirty="0" smtClean="0"/>
          </a:p>
          <a:p>
            <a:pPr marL="285750" indent="-285750" algn="just">
              <a:buFont typeface="Arial" panose="020B0604020202020204" pitchFamily="34" charset="0"/>
              <a:buChar char="•"/>
            </a:pPr>
            <a:r>
              <a:rPr lang="fr-FR" sz="2400" dirty="0" smtClean="0"/>
              <a:t>Secteurs de l’automobile, aéronautique et luxe en forme</a:t>
            </a:r>
          </a:p>
          <a:p>
            <a:pPr marL="285750" indent="-285750" algn="just">
              <a:buFont typeface="Arial" panose="020B0604020202020204" pitchFamily="34" charset="0"/>
              <a:buChar char="•"/>
            </a:pPr>
            <a:endParaRPr lang="fr-FR" sz="2400" dirty="0" smtClean="0"/>
          </a:p>
          <a:p>
            <a:pPr marL="285750" indent="-285750" algn="just">
              <a:buFont typeface="Arial" panose="020B0604020202020204" pitchFamily="34" charset="0"/>
              <a:buChar char="•"/>
            </a:pPr>
            <a:r>
              <a:rPr lang="fr-FR" sz="2400" dirty="0" smtClean="0"/>
              <a:t>Sanofi en tête des bénéfices avec 8,4 milliards d’euros suivi de BNP </a:t>
            </a:r>
            <a:r>
              <a:rPr lang="fr-FR" sz="2400" dirty="0" err="1" smtClean="0"/>
              <a:t>Parivas</a:t>
            </a:r>
            <a:r>
              <a:rPr lang="fr-FR" sz="2400" dirty="0" smtClean="0"/>
              <a:t> (7,9 Mds €), Total (7,7 Mds €), AXA (6,2 Mds €) et LVMH (5,1 Mds €)</a:t>
            </a:r>
          </a:p>
          <a:p>
            <a:pPr marL="285750" indent="-285750">
              <a:buFont typeface="Arial" panose="020B0604020202020204" pitchFamily="34" charset="0"/>
              <a:buChar char="•"/>
            </a:pPr>
            <a:endParaRPr lang="fr-FR" sz="2400" dirty="0"/>
          </a:p>
          <a:p>
            <a:pPr marL="285750" indent="-285750" algn="just">
              <a:buFont typeface="Arial" panose="020B0604020202020204" pitchFamily="34" charset="0"/>
              <a:buChar char="•"/>
            </a:pPr>
            <a:r>
              <a:rPr lang="fr-FR" sz="2400" dirty="0" smtClean="0"/>
              <a:t>Taux de change actuel favorable et endettement « convenable » pour les grandes entreprises françaises</a:t>
            </a:r>
            <a:endParaRPr lang="fr-FR" sz="2400"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240" y="404664"/>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367951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07" y="1916461"/>
            <a:ext cx="6000793" cy="3744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Espace réservé du numéro de diapositive 3"/>
          <p:cNvSpPr>
            <a:spLocks noGrp="1"/>
          </p:cNvSpPr>
          <p:nvPr>
            <p:ph type="sldNum" sz="quarter" idx="12"/>
          </p:nvPr>
        </p:nvSpPr>
        <p:spPr/>
        <p:txBody>
          <a:bodyPr/>
          <a:lstStyle/>
          <a:p>
            <a:fld id="{851EF7E6-E725-4BDA-90E5-11DEA34DAC65}" type="slidenum">
              <a:rPr lang="fr-FR" smtClean="0"/>
              <a:t>37</a:t>
            </a:fld>
            <a:endParaRPr lang="fr-FR" dirty="0"/>
          </a:p>
        </p:txBody>
      </p:sp>
      <p:sp>
        <p:nvSpPr>
          <p:cNvPr id="5" name="Titre 4"/>
          <p:cNvSpPr>
            <a:spLocks noGrp="1"/>
          </p:cNvSpPr>
          <p:nvPr>
            <p:ph type="title"/>
          </p:nvPr>
        </p:nvSpPr>
        <p:spPr>
          <a:xfrm>
            <a:off x="107504" y="533400"/>
            <a:ext cx="6516216" cy="1167408"/>
          </a:xfrm>
        </p:spPr>
        <p:txBody>
          <a:bodyPr>
            <a:normAutofit/>
          </a:bodyPr>
          <a:lstStyle/>
          <a:p>
            <a:pPr algn="just"/>
            <a:r>
              <a:rPr lang="fr-FR" sz="2800" b="1" dirty="0" smtClean="0"/>
              <a:t>Inquiétudes sur le niveau d’endettement des groupes</a:t>
            </a:r>
            <a:endParaRPr lang="fr-FR" sz="2800" b="1" dirty="0"/>
          </a:p>
        </p:txBody>
      </p:sp>
      <p:sp>
        <p:nvSpPr>
          <p:cNvPr id="2" name="ZoneTexte 1"/>
          <p:cNvSpPr txBox="1"/>
          <p:nvPr/>
        </p:nvSpPr>
        <p:spPr>
          <a:xfrm>
            <a:off x="107504" y="1700808"/>
            <a:ext cx="3240360" cy="5109091"/>
          </a:xfrm>
          <a:prstGeom prst="rect">
            <a:avLst/>
          </a:prstGeom>
          <a:noFill/>
        </p:spPr>
        <p:txBody>
          <a:bodyPr wrap="square" rtlCol="0">
            <a:spAutoFit/>
          </a:bodyPr>
          <a:lstStyle/>
          <a:p>
            <a:pPr marL="285750" indent="-285750">
              <a:buFont typeface="Arial" panose="020B0604020202020204" pitchFamily="34" charset="0"/>
              <a:buChar char="•"/>
            </a:pPr>
            <a:r>
              <a:rPr lang="fr-FR" sz="1400" b="1" u="sng" dirty="0" smtClean="0"/>
              <a:t>Le HCSF  </a:t>
            </a:r>
            <a:r>
              <a:rPr lang="fr-FR" sz="1400" dirty="0" smtClean="0"/>
              <a:t>(Haut Conseil de Stabilité Financière) a jugé en décembre 2017 « préoccupante » la dynamique d’endettement des grands groupes, sans citer de nom.</a:t>
            </a:r>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r>
              <a:rPr lang="fr-FR" sz="1400" dirty="0"/>
              <a:t>La dette brute des grandes entreprises françaises a augmenté de de 7% par an en moyenne entre 2011 et 2016 contre 1% seulement pour les PME</a:t>
            </a:r>
            <a:r>
              <a:rPr lang="fr-FR" sz="1400" dirty="0" smtClean="0"/>
              <a:t>.</a:t>
            </a:r>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r>
              <a:rPr lang="fr-FR" sz="1400" dirty="0"/>
              <a:t>Le redémarrage des investissements est très encourageant. Mais on observe aussi un fort rebond des acquisitions des grandes entreprises, financé par l'endettement : </a:t>
            </a:r>
            <a:r>
              <a:rPr lang="fr-FR" sz="1400" dirty="0" smtClean="0"/>
              <a:t>« </a:t>
            </a:r>
            <a:r>
              <a:rPr lang="fr-FR" sz="1400" b="1" dirty="0" smtClean="0"/>
              <a:t>c'est </a:t>
            </a:r>
            <a:r>
              <a:rPr lang="fr-FR" sz="1400" b="1" dirty="0"/>
              <a:t>un des points à </a:t>
            </a:r>
            <a:r>
              <a:rPr lang="fr-FR" sz="1400" b="1" dirty="0" smtClean="0"/>
              <a:t>surveiller</a:t>
            </a:r>
            <a:r>
              <a:rPr lang="fr-FR" sz="1400" dirty="0" smtClean="0"/>
              <a:t> ».</a:t>
            </a:r>
            <a:r>
              <a:rPr lang="fr-FR" sz="1400" dirty="0"/>
              <a:t> </a:t>
            </a:r>
            <a:endParaRPr lang="fr-FR" sz="1400" dirty="0" smtClean="0"/>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endParaRPr lang="fr-FR" dirty="0"/>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2240" y="404664"/>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0070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851EF7E6-E725-4BDA-90E5-11DEA34DAC65}" type="slidenum">
              <a:rPr lang="fr-FR" smtClean="0"/>
              <a:t>38</a:t>
            </a:fld>
            <a:endParaRPr lang="fr-FR" dirty="0"/>
          </a:p>
        </p:txBody>
      </p:sp>
      <p:sp>
        <p:nvSpPr>
          <p:cNvPr id="5" name="Titre 4"/>
          <p:cNvSpPr>
            <a:spLocks noGrp="1"/>
          </p:cNvSpPr>
          <p:nvPr>
            <p:ph type="title"/>
          </p:nvPr>
        </p:nvSpPr>
        <p:spPr>
          <a:xfrm>
            <a:off x="107504" y="533400"/>
            <a:ext cx="6516216" cy="1167408"/>
          </a:xfrm>
        </p:spPr>
        <p:txBody>
          <a:bodyPr>
            <a:normAutofit fontScale="90000"/>
          </a:bodyPr>
          <a:lstStyle/>
          <a:p>
            <a:pPr algn="just"/>
            <a:r>
              <a:rPr lang="fr-FR" dirty="0"/>
              <a:t>Études sur la situation financière des 80 groupes cotés</a:t>
            </a:r>
          </a:p>
        </p:txBody>
      </p:sp>
      <p:sp>
        <p:nvSpPr>
          <p:cNvPr id="8" name="Espace réservé du contenu 3"/>
          <p:cNvSpPr txBox="1">
            <a:spLocks/>
          </p:cNvSpPr>
          <p:nvPr/>
        </p:nvSpPr>
        <p:spPr>
          <a:xfrm>
            <a:off x="7020272" y="404664"/>
            <a:ext cx="2123728" cy="648072"/>
          </a:xfrm>
          <a:prstGeom prst="teardrop">
            <a:avLst>
              <a:gd name="adj" fmla="val 97829"/>
            </a:avLst>
          </a:prstGeom>
          <a:ln>
            <a:solidFill>
              <a:schemeClr val="accent6"/>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62500" lnSpcReduction="20000"/>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6"/>
                </a:solidFill>
                <a:effectLst/>
                <a:uLnTx/>
                <a:uFillTx/>
                <a:latin typeface="+mn-lt"/>
                <a:ea typeface="+mn-ea"/>
                <a:cs typeface="+mn-cs"/>
              </a:rPr>
              <a:t>	</a:t>
            </a:r>
            <a:r>
              <a:rPr lang="fr-FR" sz="2400" b="1" dirty="0" smtClean="0">
                <a:solidFill>
                  <a:schemeClr val="accent6"/>
                </a:solidFill>
              </a:rPr>
              <a:t>Actualités de la DE</a:t>
            </a:r>
            <a:endParaRPr kumimoji="0" lang="fr-FR" sz="4000" b="0" i="0" u="none" strike="noStrike" kern="1200" cap="none" spc="0" normalizeH="0" baseline="0" noProof="0" dirty="0">
              <a:ln>
                <a:noFill/>
              </a:ln>
              <a:solidFill>
                <a:schemeClr val="accent6"/>
              </a:solidFill>
              <a:effectLst/>
              <a:uLnTx/>
              <a:uFillTx/>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657" y="1665288"/>
            <a:ext cx="8089892" cy="51927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39512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89136" y="404664"/>
            <a:ext cx="8229600" cy="720080"/>
          </a:xfrm>
        </p:spPr>
        <p:txBody>
          <a:bodyPr>
            <a:normAutofit/>
          </a:bodyPr>
          <a:lstStyle/>
          <a:p>
            <a:r>
              <a:rPr lang="fr-FR" sz="3200" dirty="0" smtClean="0"/>
              <a:t>Goodwill</a:t>
            </a:r>
            <a:endParaRPr lang="fr-FR" sz="3200" dirty="0"/>
          </a:p>
        </p:txBody>
      </p:sp>
      <p:sp>
        <p:nvSpPr>
          <p:cNvPr id="3" name="Espace réservé du contenu 2"/>
          <p:cNvSpPr>
            <a:spLocks noGrp="1"/>
          </p:cNvSpPr>
          <p:nvPr>
            <p:ph idx="1"/>
          </p:nvPr>
        </p:nvSpPr>
        <p:spPr>
          <a:xfrm>
            <a:off x="389136" y="1268760"/>
            <a:ext cx="8229600" cy="4876800"/>
          </a:xfrm>
        </p:spPr>
        <p:txBody>
          <a:bodyPr/>
          <a:lstStyle/>
          <a:p>
            <a:endParaRPr lang="fr-FR" dirty="0" smtClean="0"/>
          </a:p>
          <a:p>
            <a:endParaRPr lang="fr-FR" dirty="0"/>
          </a:p>
        </p:txBody>
      </p:sp>
      <p:sp>
        <p:nvSpPr>
          <p:cNvPr id="4" name="Espace réservé du numéro de diapositive 3"/>
          <p:cNvSpPr>
            <a:spLocks noGrp="1"/>
          </p:cNvSpPr>
          <p:nvPr>
            <p:ph type="sldNum" sz="quarter" idx="12"/>
          </p:nvPr>
        </p:nvSpPr>
        <p:spPr/>
        <p:txBody>
          <a:bodyPr/>
          <a:lstStyle/>
          <a:p>
            <a:fld id="{851EF7E6-E725-4BDA-90E5-11DEA34DAC65}" type="slidenum">
              <a:rPr lang="fr-FR" smtClean="0"/>
              <a:t>39</a:t>
            </a:fld>
            <a:endParaRPr lang="fr-FR"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240" y="404664"/>
            <a:ext cx="2302844" cy="618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1022796"/>
            <a:ext cx="7704856" cy="5835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70839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851EF7E6-E725-4BDA-90E5-11DEA34DAC65}" type="slidenum">
              <a:rPr lang="fr-FR" smtClean="0"/>
              <a:t>40</a:t>
            </a:fld>
            <a:endParaRPr lang="fr-FR" dirty="0"/>
          </a:p>
        </p:txBody>
      </p:sp>
      <p:sp>
        <p:nvSpPr>
          <p:cNvPr id="5" name="Titre 4"/>
          <p:cNvSpPr>
            <a:spLocks noGrp="1"/>
          </p:cNvSpPr>
          <p:nvPr>
            <p:ph type="title"/>
          </p:nvPr>
        </p:nvSpPr>
        <p:spPr>
          <a:xfrm>
            <a:off x="107504" y="533400"/>
            <a:ext cx="6516216" cy="1167408"/>
          </a:xfrm>
        </p:spPr>
        <p:txBody>
          <a:bodyPr>
            <a:normAutofit fontScale="90000"/>
          </a:bodyPr>
          <a:lstStyle/>
          <a:p>
            <a:pPr algn="just"/>
            <a:r>
              <a:rPr lang="fr-FR" dirty="0" smtClean="0"/>
              <a:t>L’endettement des grands groupes français </a:t>
            </a:r>
            <a:endParaRPr lang="fr-FR" dirty="0"/>
          </a:p>
        </p:txBody>
      </p:sp>
      <p:sp>
        <p:nvSpPr>
          <p:cNvPr id="8" name="Espace réservé du contenu 3"/>
          <p:cNvSpPr txBox="1">
            <a:spLocks/>
          </p:cNvSpPr>
          <p:nvPr/>
        </p:nvSpPr>
        <p:spPr>
          <a:xfrm>
            <a:off x="7020272" y="404664"/>
            <a:ext cx="2123728" cy="648072"/>
          </a:xfrm>
          <a:prstGeom prst="teardrop">
            <a:avLst>
              <a:gd name="adj" fmla="val 97829"/>
            </a:avLst>
          </a:prstGeom>
          <a:ln>
            <a:solidFill>
              <a:schemeClr val="accent6"/>
            </a:solidFill>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fontScale="62500" lnSpcReduction="20000"/>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fr-FR" sz="1000" b="1" i="0" u="none" strike="noStrike" kern="1200" cap="none" spc="0" normalizeH="0" baseline="0" noProof="0" dirty="0" smtClean="0">
                <a:ln>
                  <a:noFill/>
                </a:ln>
                <a:solidFill>
                  <a:schemeClr val="accent6"/>
                </a:solidFill>
                <a:effectLst/>
                <a:uLnTx/>
                <a:uFillTx/>
                <a:latin typeface="+mn-lt"/>
                <a:ea typeface="+mn-ea"/>
                <a:cs typeface="+mn-cs"/>
              </a:rPr>
              <a:t>	</a:t>
            </a:r>
            <a:r>
              <a:rPr lang="fr-FR" sz="2400" b="1" dirty="0" smtClean="0">
                <a:solidFill>
                  <a:schemeClr val="accent6"/>
                </a:solidFill>
              </a:rPr>
              <a:t>Actualités de la DE</a:t>
            </a:r>
            <a:endParaRPr kumimoji="0" lang="fr-FR" sz="4000" b="0" i="0" u="none" strike="noStrike" kern="1200" cap="none" spc="0" normalizeH="0" baseline="0" noProof="0" dirty="0">
              <a:ln>
                <a:noFill/>
              </a:ln>
              <a:solidFill>
                <a:schemeClr val="accent6"/>
              </a:solidFill>
              <a:effectLst/>
              <a:uLnTx/>
              <a:uFillTx/>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772816"/>
            <a:ext cx="7800975" cy="85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2652581"/>
            <a:ext cx="7591425" cy="3933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96887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
          <p:cNvSpPr txBox="1">
            <a:spLocks/>
          </p:cNvSpPr>
          <p:nvPr/>
        </p:nvSpPr>
        <p:spPr>
          <a:xfrm>
            <a:off x="251520" y="548680"/>
            <a:ext cx="8607330" cy="1512168"/>
          </a:xfrm>
          <a:prstGeom prst="rect">
            <a:avLst/>
          </a:prstGeom>
        </p:spPr>
        <p:txBody>
          <a:bodyPr>
            <a:no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pPr>
            <a:r>
              <a:rPr lang="fr-FR" sz="3600" b="1" kern="0" dirty="0" smtClean="0">
                <a:solidFill>
                  <a:srgbClr val="002060"/>
                </a:solidFill>
                <a:latin typeface="Century Gothic" panose="020B0502020202020204" pitchFamily="34" charset="0"/>
              </a:rPr>
              <a:t>Jeu d’analyse financière</a:t>
            </a:r>
          </a:p>
          <a:p>
            <a:pPr algn="ctr" fontAlgn="base">
              <a:spcBef>
                <a:spcPct val="0"/>
              </a:spcBef>
              <a:spcAft>
                <a:spcPct val="0"/>
              </a:spcAft>
            </a:pPr>
            <a:r>
              <a:rPr lang="fr-FR" sz="2000" b="1" i="1" kern="0" dirty="0">
                <a:solidFill>
                  <a:srgbClr val="002060"/>
                </a:solidFill>
                <a:latin typeface="Century Gothic" panose="020B0502020202020204" pitchFamily="34" charset="0"/>
              </a:rPr>
              <a:t>Un </a:t>
            </a:r>
            <a:r>
              <a:rPr lang="fr-FR" sz="2000" b="1" i="1" kern="0" dirty="0" smtClean="0">
                <a:solidFill>
                  <a:srgbClr val="002060"/>
                </a:solidFill>
                <a:latin typeface="Century Gothic" panose="020B0502020202020204" pitchFamily="34" charset="0"/>
              </a:rPr>
              <a:t>outil </a:t>
            </a:r>
            <a:r>
              <a:rPr lang="fr-FR" sz="2000" b="1" i="1" kern="0" dirty="0">
                <a:solidFill>
                  <a:srgbClr val="002060"/>
                </a:solidFill>
                <a:latin typeface="Century Gothic" panose="020B0502020202020204" pitchFamily="34" charset="0"/>
              </a:rPr>
              <a:t>pour mieux faire connaitre nos activités </a:t>
            </a:r>
            <a:endParaRPr lang="fr-FR" sz="2000" b="1" i="1" kern="0" dirty="0" smtClean="0">
              <a:solidFill>
                <a:srgbClr val="002060"/>
              </a:solidFill>
              <a:latin typeface="Century Gothic" panose="020B0502020202020204" pitchFamily="34" charset="0"/>
            </a:endParaRPr>
          </a:p>
          <a:p>
            <a:pPr algn="ctr" fontAlgn="base">
              <a:spcBef>
                <a:spcPct val="0"/>
              </a:spcBef>
              <a:spcAft>
                <a:spcPct val="0"/>
              </a:spcAft>
            </a:pPr>
            <a:r>
              <a:rPr lang="fr-FR" sz="2000" b="1" i="1" kern="0" dirty="0" smtClean="0">
                <a:solidFill>
                  <a:srgbClr val="002060"/>
                </a:solidFill>
                <a:latin typeface="Century Gothic" panose="020B0502020202020204" pitchFamily="34" charset="0"/>
              </a:rPr>
              <a:t>vis-à-vis </a:t>
            </a:r>
            <a:r>
              <a:rPr lang="fr-FR" sz="2000" b="1" i="1" kern="0" dirty="0">
                <a:solidFill>
                  <a:srgbClr val="002060"/>
                </a:solidFill>
                <a:latin typeface="Century Gothic" panose="020B0502020202020204" pitchFamily="34" charset="0"/>
              </a:rPr>
              <a:t>des </a:t>
            </a:r>
            <a:r>
              <a:rPr lang="fr-FR" sz="2000" b="1" i="1" kern="0" dirty="0" smtClean="0">
                <a:solidFill>
                  <a:srgbClr val="002060"/>
                </a:solidFill>
                <a:latin typeface="Century Gothic" panose="020B0502020202020204" pitchFamily="34" charset="0"/>
              </a:rPr>
              <a:t>TPE / PME</a:t>
            </a:r>
          </a:p>
          <a:p>
            <a:pPr fontAlgn="base">
              <a:spcBef>
                <a:spcPct val="0"/>
              </a:spcBef>
              <a:spcAft>
                <a:spcPct val="0"/>
              </a:spcAft>
            </a:pPr>
            <a:r>
              <a:rPr lang="fr-FR" sz="3600" b="1" kern="0" dirty="0" smtClean="0">
                <a:solidFill>
                  <a:srgbClr val="002060"/>
                </a:solidFill>
                <a:latin typeface="Century Gothic" panose="020B0502020202020204" pitchFamily="34" charset="0"/>
              </a:rPr>
              <a:t>		</a:t>
            </a:r>
          </a:p>
          <a:p>
            <a:pPr fontAlgn="base">
              <a:spcBef>
                <a:spcPct val="0"/>
              </a:spcBef>
              <a:spcAft>
                <a:spcPct val="0"/>
              </a:spcAft>
            </a:pPr>
            <a:endParaRPr lang="fr-FR" sz="3600" b="1" kern="0" dirty="0" smtClean="0">
              <a:solidFill>
                <a:srgbClr val="002060"/>
              </a:solidFill>
              <a:latin typeface="Century Gothic" panose="020B0502020202020204" pitchFamily="34" charset="0"/>
            </a:endParaRPr>
          </a:p>
          <a:p>
            <a:pPr fontAlgn="base">
              <a:spcBef>
                <a:spcPct val="0"/>
              </a:spcBef>
              <a:spcAft>
                <a:spcPct val="0"/>
              </a:spcAft>
            </a:pPr>
            <a:r>
              <a:rPr lang="fr-FR" sz="3600" b="1" kern="0" dirty="0" smtClean="0">
                <a:solidFill>
                  <a:srgbClr val="002060"/>
                </a:solidFill>
                <a:latin typeface="Century Gothic" panose="020B0502020202020204" pitchFamily="34" charset="0"/>
              </a:rPr>
              <a:t>			</a:t>
            </a:r>
            <a:endParaRPr lang="fr-FR" sz="3600" b="1" kern="0" dirty="0">
              <a:solidFill>
                <a:srgbClr val="002060"/>
              </a:solidFill>
              <a:latin typeface="Century Gothic" panose="020B0502020202020204" pitchFamily="34" charset="0"/>
            </a:endParaRP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712435">
            <a:off x="750751" y="2487022"/>
            <a:ext cx="2207257" cy="15824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632349">
            <a:off x="1034143" y="3267205"/>
            <a:ext cx="2570131" cy="1851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198494">
            <a:off x="3491068" y="2604868"/>
            <a:ext cx="2000250" cy="2847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0072" y="2636912"/>
            <a:ext cx="3271017"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39966473"/>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476672"/>
            <a:ext cx="3905250" cy="441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5055" y="3356992"/>
            <a:ext cx="4490782" cy="25060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3440216"/>
      </p:ext>
    </p:extLst>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té">
  <a:themeElements>
    <a:clrScheme name="Sillage">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Classique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té">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itresSites xmlns="755388db-013a-4176-916b-ebdb81e93f2b">508</TitresSites>
    <Filtre xmlns="755388db-013a-4176-916b-ebdb81e93f2b">Journées information analyste groupe</Filtre>
    <Filtre01 xmlns="755388db-013a-4176-916b-ebdb81e93f2b">05-Journées d’informations des analystes groupe des 22 et 23 mars 2018 à Paris</Filtre01>
    <Date xmlns="755388db-013a-4176-916b-ebdb81e93f2b" xsi:nil="true"/>
    <FiltreMots xmlns="755388db-013a-4176-916b-ebdb81e93f2b">73</FiltreMots>
    <BDFOrdre xmlns="http://schemas.microsoft.com/sharepoint/v3/fields">05</BDFOrdre>
    <Filtre02 xmlns="755388db-013a-4176-916b-ebdb81e93f2b" xsi:nil="true"/>
    <PublishingExpirationDate xmlns="http://schemas.microsoft.com/sharepoint/v3" xsi:nil="true"/>
    <RoutingRuleDescription xmlns="http://schemas.microsoft.com/sharepoint/v3" xsi:nil="true"/>
    <BDFNouvelleFenetre xmlns="http://schemas.microsoft.com/sharepoint/v3/fields">false</BDFNouvelleFenetr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A7CCAF68BC84246A7E64BBF1F33A3B6" ma:contentTypeVersion="13" ma:contentTypeDescription="Crée un document." ma:contentTypeScope="" ma:versionID="227ef1be31d1a562f5b2e8cd042e1bdb">
  <xsd:schema xmlns:xsd="http://www.w3.org/2001/XMLSchema" xmlns:xs="http://www.w3.org/2001/XMLSchema" xmlns:p="http://schemas.microsoft.com/office/2006/metadata/properties" xmlns:ns1="http://schemas.microsoft.com/sharepoint/v3" xmlns:ns2="755388db-013a-4176-916b-ebdb81e93f2b" xmlns:ns3="http://schemas.microsoft.com/sharepoint/v3/fields" targetNamespace="http://schemas.microsoft.com/office/2006/metadata/properties" ma:root="true" ma:fieldsID="d70cfd3cb245632510b6dac5a63fde83" ns1:_="" ns2:_="" ns3:_="">
    <xsd:import namespace="http://schemas.microsoft.com/sharepoint/v3"/>
    <xsd:import namespace="755388db-013a-4176-916b-ebdb81e93f2b"/>
    <xsd:import namespace="http://schemas.microsoft.com/sharepoint/v3/fields"/>
    <xsd:element name="properties">
      <xsd:complexType>
        <xsd:sequence>
          <xsd:element name="documentManagement">
            <xsd:complexType>
              <xsd:all>
                <xsd:element ref="ns1:PublishingStartDate" minOccurs="0"/>
                <xsd:element ref="ns1:PublishingExpirationDate" minOccurs="0"/>
                <xsd:element ref="ns2:Filtre" minOccurs="0"/>
                <xsd:element ref="ns2:Filtre01" minOccurs="0"/>
                <xsd:element ref="ns2:FiltreMots" minOccurs="0"/>
                <xsd:element ref="ns2:TitresSites" minOccurs="0"/>
                <xsd:element ref="ns3:BDFOrdre" minOccurs="0"/>
                <xsd:element ref="ns3:BDFNouvelleFenetre" minOccurs="0"/>
                <xsd:element ref="ns2:Date" minOccurs="0"/>
                <xsd:element ref="ns1:RoutingRuleDescription" minOccurs="0"/>
                <xsd:element ref="ns2:Filtre02"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internalName="PublishingStartDate">
      <xsd:simpleType>
        <xsd:restriction base="dms:Unknown"/>
      </xsd:simpleType>
    </xsd:element>
    <xsd:element name="PublishingExpirationDate" ma:index="9" nillable="true" ma:displayName="Date de fin de planification" ma:internalName="PublishingExpirationDate">
      <xsd:simpleType>
        <xsd:restriction base="dms:Unknown"/>
      </xsd:simpleType>
    </xsd:element>
    <xsd:element name="RoutingRuleDescription" ma:index="17" nillable="true" ma:displayName="Description" ma: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55388db-013a-4176-916b-ebdb81e93f2b" elementFormDefault="qualified">
    <xsd:import namespace="http://schemas.microsoft.com/office/2006/documentManagement/types"/>
    <xsd:import namespace="http://schemas.microsoft.com/office/infopath/2007/PartnerControls"/>
    <xsd:element name="Filtre" ma:index="10" nillable="true" ma:displayName="Filtre" ma:internalName="Filtre">
      <xsd:simpleType>
        <xsd:restriction base="dms:Text">
          <xsd:maxLength value="255"/>
        </xsd:restriction>
      </xsd:simpleType>
    </xsd:element>
    <xsd:element name="Filtre01" ma:index="11" nillable="true" ma:displayName="Filtre01" ma:internalName="Filtre01">
      <xsd:simpleType>
        <xsd:restriction base="dms:Text">
          <xsd:maxLength value="255"/>
        </xsd:restriction>
      </xsd:simpleType>
    </xsd:element>
    <xsd:element name="FiltreMots" ma:index="12" nillable="true" ma:displayName="FiltreMots" ma:list="{7f01b018-3a71-4073-9495-87fd523d6c55}" ma:internalName="FiltreMots" ma:showField="Title" ma:web="755388db-013a-4176-916b-ebdb81e93f2b">
      <xsd:simpleType>
        <xsd:restriction base="dms:Lookup"/>
      </xsd:simpleType>
    </xsd:element>
    <xsd:element name="TitresSites" ma:index="13" nillable="true" ma:displayName="TitresSites" ma:list="{6d7e9142-1954-4232-8671-ffea25b7e647}" ma:internalName="TitresSites" ma:showField="Title" ma:web="755388db-013a-4176-916b-ebdb81e93f2b">
      <xsd:simpleType>
        <xsd:restriction base="dms:Lookup"/>
      </xsd:simpleType>
    </xsd:element>
    <xsd:element name="Date" ma:index="16" nillable="true" ma:displayName="Date" ma:format="DateOnly" ma:internalName="Date">
      <xsd:simpleType>
        <xsd:restriction base="dms:DateTime"/>
      </xsd:simpleType>
    </xsd:element>
    <xsd:element name="Filtre02" ma:index="18" nillable="true" ma:displayName="Filtre02" ma:internalName="Filtre02">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BDFOrdre" ma:index="14" nillable="true" ma:displayName="Ordre" ma:internalName="BDFOrdre">
      <xsd:simpleType>
        <xsd:restriction base="dms:Text">
          <xsd:maxLength value="255"/>
        </xsd:restriction>
      </xsd:simpleType>
    </xsd:element>
    <xsd:element name="BDFNouvelleFenetre" ma:index="15" nillable="true" ma:displayName="Ouvrir le lien dans une nouvelle fenêtre" ma:internalName="BDFNouvelleFenetr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Question"/>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0F2664-F5CD-46EF-B7E4-CE06FB2FEF47}">
  <ds:schemaRefs>
    <ds:schemaRef ds:uri="http://purl.org/dc/dcmitype/"/>
    <ds:schemaRef ds:uri="http://purl.org/dc/elements/1.1/"/>
    <ds:schemaRef ds:uri="http://schemas.microsoft.com/office/2006/documentManagement/types"/>
    <ds:schemaRef ds:uri="755388db-013a-4176-916b-ebdb81e93f2b"/>
    <ds:schemaRef ds:uri="http://schemas.microsoft.com/sharepoint/v3"/>
    <ds:schemaRef ds:uri="http://schemas.microsoft.com/sharepoint/v3/fields"/>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3181E1A8-0D1B-4ECA-B94B-053AEA5E4566}">
  <ds:schemaRefs>
    <ds:schemaRef ds:uri="http://schemas.microsoft.com/sharepoint/v3/contenttype/forms"/>
  </ds:schemaRefs>
</ds:datastoreItem>
</file>

<file path=customXml/itemProps3.xml><?xml version="1.0" encoding="utf-8"?>
<ds:datastoreItem xmlns:ds="http://schemas.openxmlformats.org/officeDocument/2006/customXml" ds:itemID="{9166CC43-B48F-47FA-AF86-FCACB02BD2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5388db-013a-4176-916b-ebdb81e93f2b"/>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Clarity</Template>
  <TotalTime>8753</TotalTime>
  <Words>5826</Words>
  <Application>Microsoft Office PowerPoint</Application>
  <PresentationFormat>Affichage à l'écran (4:3)</PresentationFormat>
  <Paragraphs>904</Paragraphs>
  <Slides>42</Slides>
  <Notes>42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42</vt:i4>
      </vt:variant>
    </vt:vector>
  </HeadingPairs>
  <TitlesOfParts>
    <vt:vector size="48" baseType="lpstr">
      <vt:lpstr>Arial</vt:lpstr>
      <vt:lpstr>Calibri</vt:lpstr>
      <vt:lpstr>Cambria Math</vt:lpstr>
      <vt:lpstr>Century Gothic</vt:lpstr>
      <vt:lpstr>Symbol</vt:lpstr>
      <vt:lpstr>Clarté</vt:lpstr>
      <vt:lpstr>Présentation PowerPoint</vt:lpstr>
      <vt:lpstr>Sommaire des actualités comptables</vt:lpstr>
      <vt:lpstr>Instruments financiers à terme  et opérations de couverture</vt:lpstr>
      <vt:lpstr>La nouvelle norme sur les instruments de couverture</vt:lpstr>
      <vt:lpstr>Instruments de couverture Impacts sur les créances &amp; dettes en devises</vt:lpstr>
      <vt:lpstr>Le Commissariat aux comptes des  petites structures sur la sellette</vt:lpstr>
      <vt:lpstr> Journée de la recherche comptable Comptabilité et numérique  11 décembre 2017 </vt:lpstr>
      <vt:lpstr>Grandes orientations de l’ANC sur les années à venir</vt:lpstr>
      <vt:lpstr>Nouveaux systèmes de caisse sécurisés</vt:lpstr>
      <vt:lpstr>Taux d’IS applicables</vt:lpstr>
      <vt:lpstr>Grands groupes :  2 nouvelles contributions exceptionnelles</vt:lpstr>
      <vt:lpstr>Un acompte de C3S crée pour les grandes sociétés</vt:lpstr>
      <vt:lpstr>La fin du suramortissement fiscal</vt:lpstr>
      <vt:lpstr>Exemple</vt:lpstr>
      <vt:lpstr>La fin programmée du CICE</vt:lpstr>
      <vt:lpstr>La hausse de la CSG</vt:lpstr>
      <vt:lpstr>La fiscalité des entreprises  devient un argument marketing</vt:lpstr>
      <vt:lpstr>Un projet de taxation des géants du Net  au niveau européen</vt:lpstr>
      <vt:lpstr>Recommandations AMF sur l’information RSE </vt:lpstr>
      <vt:lpstr>La France championne des green bonds</vt:lpstr>
      <vt:lpstr>Nouvelle déclaration :  le reporting pays par pays</vt:lpstr>
      <vt:lpstr>Nouvelles obligations RSE</vt:lpstr>
      <vt:lpstr>ICOs : Initial coin offerings</vt:lpstr>
      <vt:lpstr>Recommandations AMF pour la clôture des comptes 2017</vt:lpstr>
      <vt:lpstr>Conséquences du BREXIT à mentionner au niveau de la Communication financière des groupes (Brexit prévu le 29/3/2019)</vt:lpstr>
      <vt:lpstr>Conséquences du BREXIT au Royaume-Uni</vt:lpstr>
      <vt:lpstr>Référentiel IFRS applicable au 31/12/17 Application obligatoire 2017 et post 2017</vt:lpstr>
      <vt:lpstr>IAS 7 Information liée aux activités de financement  </vt:lpstr>
      <vt:lpstr>  IAS 12 : Comptabilisation d’actifs d’impôts différés au titre de pertes latentes </vt:lpstr>
      <vt:lpstr>IFRS 9 : Instruments financiers</vt:lpstr>
      <vt:lpstr>IFRS 15 : Chiffre d’affaires</vt:lpstr>
      <vt:lpstr>IFRS 16 : Contrats de location</vt:lpstr>
      <vt:lpstr>IFRS 16 : Contrats de location</vt:lpstr>
      <vt:lpstr>IFRS 17 : Contrats d’assurance</vt:lpstr>
      <vt:lpstr>IFRS 5 </vt:lpstr>
      <vt:lpstr>Les bénéfices des entreprises du CAC 40 en hausse à fin 2017</vt:lpstr>
      <vt:lpstr>Inquiétudes sur le niveau d’endettement des groupes</vt:lpstr>
      <vt:lpstr>Études sur la situation financière des 80 groupes cotés</vt:lpstr>
      <vt:lpstr>Goodwill</vt:lpstr>
      <vt:lpstr>L’endettement des grands groupes français </vt:lpstr>
      <vt:lpstr>Présentation PowerPoint</vt:lpstr>
      <vt:lpstr>Présentation PowerPoint</vt:lpstr>
    </vt:vector>
  </TitlesOfParts>
  <Company>Banque de France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actualités comptables</dc:title>
  <dc:creator>Anne-Sophie LAFON</dc:creator>
  <cp:lastModifiedBy>BELAGOUNE Malik (UA 0215)</cp:lastModifiedBy>
  <cp:revision>483</cp:revision>
  <cp:lastPrinted>2018-03-22T17:16:10Z</cp:lastPrinted>
  <dcterms:created xsi:type="dcterms:W3CDTF">2016-01-27T14:49:39Z</dcterms:created>
  <dcterms:modified xsi:type="dcterms:W3CDTF">2019-02-25T07:52:47Z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0x0101002A7CCAF68BC84246A7E64BBF1F33A3B6</vt:lpwstr>
  </property>
  <property fmtid="{D5CDD505-2E9C-101B-9397-08002B2CF9AE}" pid="3" name="Order">
    <vt:r8>63600</vt:r8>
  </property>
  <property fmtid="{D5CDD505-2E9C-101B-9397-08002B2CF9AE}" pid="4" name="URL">
    <vt:lpwstr/>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TemplateUrl">
    <vt:lpwstr/>
  </property>
  <property fmtid="{D5CDD505-2E9C-101B-9397-08002B2CF9AE}" pid="10" name="IconOverlay">
    <vt:lpwstr/>
  </property>
  <property fmtid="{D5CDD505-2E9C-101B-9397-08002B2CF9AE}" pid="11" name="BDFRubrique">
    <vt:lpwstr/>
  </property>
</Properties>
</file>